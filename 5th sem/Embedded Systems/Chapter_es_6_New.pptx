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707" r:id="rId3"/>
    <p:sldId id="798" r:id="rId4"/>
    <p:sldId id="797" r:id="rId5"/>
    <p:sldId id="801" r:id="rId6"/>
    <p:sldId id="802" r:id="rId7"/>
    <p:sldId id="799" r:id="rId8"/>
    <p:sldId id="800" r:id="rId9"/>
    <p:sldId id="772" r:id="rId10"/>
    <p:sldId id="803" r:id="rId11"/>
    <p:sldId id="771" r:id="rId12"/>
    <p:sldId id="804" r:id="rId13"/>
    <p:sldId id="805" r:id="rId14"/>
    <p:sldId id="811" r:id="rId15"/>
    <p:sldId id="806" r:id="rId16"/>
    <p:sldId id="807" r:id="rId17"/>
    <p:sldId id="812" r:id="rId18"/>
    <p:sldId id="808" r:id="rId19"/>
    <p:sldId id="809" r:id="rId20"/>
    <p:sldId id="810" r:id="rId21"/>
    <p:sldId id="813" r:id="rId22"/>
    <p:sldId id="814" r:id="rId23"/>
    <p:sldId id="815" r:id="rId24"/>
    <p:sldId id="816" r:id="rId25"/>
    <p:sldId id="817" r:id="rId26"/>
    <p:sldId id="818" r:id="rId27"/>
    <p:sldId id="819" r:id="rId28"/>
    <p:sldId id="82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A448"/>
    <a:srgbClr val="AFDDE5"/>
    <a:srgbClr val="0FA4AF"/>
    <a:srgbClr val="964734"/>
    <a:srgbClr val="024950"/>
    <a:srgbClr val="003135"/>
    <a:srgbClr val="3E9BB6"/>
    <a:srgbClr val="4472C4"/>
    <a:srgbClr val="FFFFFF"/>
    <a:srgbClr val="DFD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118" autoAdjust="0"/>
  </p:normalViewPr>
  <p:slideViewPr>
    <p:cSldViewPr snapToGrid="0" showGuides="1">
      <p:cViewPr varScale="1">
        <p:scale>
          <a:sx n="46" d="100"/>
          <a:sy n="46" d="100"/>
        </p:scale>
        <p:origin x="29" y="854"/>
      </p:cViewPr>
      <p:guideLst>
        <p:guide orient="horz" pos="2184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40180-84BE-40D1-AD0F-554207F0762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F74AD-8D6C-43B6-B1C6-FE3F682FD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3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BC1E-4C7F-A878-414C-79C5E3E65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5D051-38C1-EA20-F458-44F8204A7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41AE3-7CCF-E5B6-58CC-B0857155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BF166-ADBF-25B2-A049-29815D5B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2CD86-2C0A-BFF2-8732-1F71650F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99A4-F78B-B3DE-78E0-7D6047FD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56C58-2B2E-3F01-853B-1443D6962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F23EC-1AA7-6F81-24FF-B8AA833D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2EC07-152A-921F-2971-6042E134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B6D60-83BC-11A0-D51E-510FD8AE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E153C-B5F3-7513-9B72-5B30918FA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BFE70-4A27-1676-F288-4C28F5E8C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27D07-9061-BE97-7C70-F717B9CA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5AFD5-6612-BF83-471C-84795AF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ED685-21C2-11DB-B8C1-F68F86C60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06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9D37-4A87-64E0-7A79-D807B373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9A7C8-C395-1B55-CC51-0C79B94F9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CBE8F-5789-ED85-1392-3786A5E29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F2DBC-C43D-4768-724D-E2CE51F1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C6FE2-EE2B-058F-2CB6-2D30089E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D2F52-9E7E-8809-0726-50EC48FF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5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8AFA-CDCE-51AB-859D-36F34185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1D6E7-964A-C4FD-0295-4760420FE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F35A7-300A-5FC2-1235-0ACACFF07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20995-71C2-1430-4E57-2C0ACDF8A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FB71D-399D-AB8B-E49E-912455E95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68D760-FE88-FCB3-7649-F651DB59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A5E49-8CF9-F6C9-4985-16181C91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7116F-4113-9328-CE3A-1F1D50B8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2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47F5-B2BC-E1D1-37A2-3D55285A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E16BD2-0039-1449-3305-FFB7A79A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53673-85F6-BD5D-1883-38D897B06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B5289-801F-F3F1-0A71-1A7313DB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14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92EEE-7079-ED29-138A-9D8758A3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E7D5B-4830-8B00-D653-B796633B2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FF190-ACB7-8CB0-C7C8-59F8494A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FC45-2F09-1123-24C6-80A65248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9951-9A5D-CA64-8299-A53E48130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9AD71-A4B9-C25C-00C1-A5C615D3A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34768-C351-0DFD-E670-02367547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DC3EC-E4AE-D04E-4B4A-DF23231A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8B4EA-EE7C-94CF-4E6D-48B200ED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5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2CA1-FA93-8D54-65D2-3C73A038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F967F-2C69-7017-B4CB-EF9405383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DA17B-8376-481D-7360-46F6A8D0B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FB10D-2CD1-BB7E-35C9-F8C76A6C4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0A012-800A-2C98-8922-C119FC12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37343-B329-DABB-CDED-0A050FA8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2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E379-2B99-FA61-CF2A-C4357F4C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0183E-0625-1D69-A288-2CD465626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EF39F-5CF9-2556-9F9A-AAFE681B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2283E-F7E4-B6AD-FFBA-BE311863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C6770-4142-C5B9-D9E0-C6B1F182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1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707E1-FC0C-342B-5E52-ADE06998D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9554A-DC20-BFD0-F9AB-AB4AAC948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0DDE0-B96D-2CC7-4067-57725D4D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BFFBB-806E-8018-91A4-BA029D0E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A1F76-948C-2FEA-64DB-1632CA18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B9098-C80B-66CD-69E8-C5D08097F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FEB8A-2EFB-6553-F313-16E987B15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18A2-D8F9-2B50-6D0D-A1670D0F3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5B32C-7331-4D14-8CE8-DF47C2DB7E1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4E8D3-8D2E-A16D-CA4C-CAEA982AF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0563-605D-7C96-0078-9467F2011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2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E539C5-9975-1037-E086-4BF0AF8A003B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Futura T OT" panose="02000000000000000000" pitchFamily="50" charset="0"/>
              </a:rPr>
              <a:t>Syllabus of Embedded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B2196E-B3A3-2C76-E90D-A9080CBC6C97}"/>
              </a:ext>
            </a:extLst>
          </p:cNvPr>
          <p:cNvSpPr txBox="1"/>
          <p:nvPr/>
        </p:nvSpPr>
        <p:spPr>
          <a:xfrm>
            <a:off x="2019300" y="2413337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Futura T OT" panose="02000000000000000000" pitchFamily="50" charset="0"/>
              </a:rPr>
              <a:t>Unit 6: Peripherals and Interfacing (4 </a:t>
            </a:r>
            <a:r>
              <a:rPr lang="en-US" dirty="0" err="1">
                <a:solidFill>
                  <a:srgbClr val="FF0000"/>
                </a:solidFill>
                <a:latin typeface="Futura T OT" panose="02000000000000000000" pitchFamily="50" charset="0"/>
              </a:rPr>
              <a:t>Hrs</a:t>
            </a:r>
            <a:r>
              <a:rPr lang="en-US" dirty="0">
                <a:solidFill>
                  <a:srgbClr val="FF0000"/>
                </a:solidFill>
                <a:latin typeface="Futura T OT" panose="02000000000000000000" pitchFamily="50" charset="0"/>
              </a:rPr>
              <a:t>)</a:t>
            </a:r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6.1 Sensor Interfacing: Analog and Digital Sensors (</a:t>
            </a:r>
            <a:r>
              <a:rPr lang="en-US" dirty="0" err="1">
                <a:latin typeface="Futura T OT" panose="02000000000000000000" pitchFamily="50" charset="0"/>
              </a:rPr>
              <a:t>eg.</a:t>
            </a:r>
            <a:r>
              <a:rPr lang="en-US" dirty="0">
                <a:latin typeface="Futura T OT" panose="02000000000000000000" pitchFamily="50" charset="0"/>
              </a:rPr>
              <a:t> Temperature, humidity, motion)</a:t>
            </a:r>
          </a:p>
          <a:p>
            <a:r>
              <a:rPr lang="en-US" dirty="0">
                <a:latin typeface="Futura T OT" panose="02000000000000000000" pitchFamily="50" charset="0"/>
              </a:rPr>
              <a:t>6.2 Actuator Interfacing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T OT" panose="02000000000000000000" pitchFamily="50" charset="0"/>
              </a:rPr>
              <a:t>Motor Control (DC, Stepper, Servo)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T OT" panose="02000000000000000000" pitchFamily="50" charset="0"/>
              </a:rPr>
              <a:t>PWM for controlling brightness, speed </a:t>
            </a:r>
            <a:r>
              <a:rPr lang="en-US" dirty="0" err="1">
                <a:latin typeface="Futura T OT" panose="02000000000000000000" pitchFamily="50" charset="0"/>
              </a:rPr>
              <a:t>etc</a:t>
            </a:r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6.3 Display Interfacing: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T OT" panose="02000000000000000000" pitchFamily="50" charset="0"/>
              </a:rPr>
              <a:t>LCD, and Seven Segment Displays</a:t>
            </a:r>
          </a:p>
        </p:txBody>
      </p:sp>
    </p:spTree>
    <p:extLst>
      <p:ext uri="{BB962C8B-B14F-4D97-AF65-F5344CB8AC3E}">
        <p14:creationId xmlns:p14="http://schemas.microsoft.com/office/powerpoint/2010/main" val="2500661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8F8B4-C108-2A77-794A-A63FBC5AB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BF1E08-00F3-2AE4-5A5F-83BDE1DA5E9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Sensor Interfacing: Analog and Digital Sensors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DFA88-96B1-7618-4C82-771F04C75099}"/>
              </a:ext>
            </a:extLst>
          </p:cNvPr>
          <p:cNvSpPr txBox="1"/>
          <p:nvPr/>
        </p:nvSpPr>
        <p:spPr>
          <a:xfrm>
            <a:off x="782756" y="1132316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A device that detects changes in an environment and converts them into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electrical signals</a:t>
            </a:r>
            <a:r>
              <a:rPr lang="en-US" sz="2800" dirty="0">
                <a:latin typeface="Futura T OT" panose="02000000000000000000" pitchFamily="50" charset="0"/>
              </a:rPr>
              <a:t>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D28A3-0F4D-FD9E-CD3A-BD5432391657}"/>
              </a:ext>
            </a:extLst>
          </p:cNvPr>
          <p:cNvSpPr txBox="1"/>
          <p:nvPr/>
        </p:nvSpPr>
        <p:spPr>
          <a:xfrm>
            <a:off x="744656" y="2833660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Analog sensors provide a continuous output signal proportional to measured quantity.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B4025-8A2C-B0F5-32AE-7E554CA8F66E}"/>
              </a:ext>
            </a:extLst>
          </p:cNvPr>
          <p:cNvSpPr txBox="1"/>
          <p:nvPr/>
        </p:nvSpPr>
        <p:spPr>
          <a:xfrm>
            <a:off x="782757" y="4535004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Analog signals requires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signal conditioning</a:t>
            </a:r>
            <a:r>
              <a:rPr lang="en-US" sz="2800" dirty="0">
                <a:latin typeface="Futura T OT" panose="02000000000000000000" pitchFamily="50" charset="0"/>
              </a:rPr>
              <a:t>. They are susceptible to noise and EMI (electromagnetic Interference).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42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966C09-D4CF-4667-8AD9-1A39C4F6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DCCA7B-CC0C-C406-CF4B-241F85E3572D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Sensor Interfacing: Analog and Digital Sensors</a:t>
            </a:r>
          </a:p>
        </p:txBody>
      </p:sp>
      <p:pic>
        <p:nvPicPr>
          <p:cNvPr id="1026" name="Picture 2" descr="analog vs digital signal wave">
            <a:extLst>
              <a:ext uri="{FF2B5EF4-FFF2-40B4-BE49-F238E27FC236}">
                <a16:creationId xmlns:a16="http://schemas.microsoft.com/office/drawing/2014/main" id="{8E4FD129-B5CE-6D8D-CBC5-DDD34AA743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57" b="5454"/>
          <a:stretch>
            <a:fillRect/>
          </a:stretch>
        </p:blipFill>
        <p:spPr bwMode="auto">
          <a:xfrm>
            <a:off x="2538152" y="1442814"/>
            <a:ext cx="7191895" cy="509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10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BA781-F13C-D09A-8B4D-F20D063E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F8EB1A-7B77-F454-66F7-F4979CAC3265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Sensor Interfacing: Analog and Digital Sensors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2E134-E50C-BBFF-74A2-035D1B119A97}"/>
              </a:ext>
            </a:extLst>
          </p:cNvPr>
          <p:cNvSpPr txBox="1"/>
          <p:nvPr/>
        </p:nvSpPr>
        <p:spPr>
          <a:xfrm>
            <a:off x="390671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Analog to Digital Converters 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pic>
        <p:nvPicPr>
          <p:cNvPr id="7" name="Picture 2" descr="Communication Systems: Pulse Code Modulation">
            <a:extLst>
              <a:ext uri="{FF2B5EF4-FFF2-40B4-BE49-F238E27FC236}">
                <a16:creationId xmlns:a16="http://schemas.microsoft.com/office/drawing/2014/main" id="{CE557FC9-3294-66D5-837E-66D7A1157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18" y="1754467"/>
            <a:ext cx="8052766" cy="410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774C2A-1F6F-6CFF-2C13-0FF6B4224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748" y="845669"/>
            <a:ext cx="3194581" cy="593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10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97295-6FE2-93CE-44C4-061A7C91A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DB345E-F492-F8B9-0A78-D65475129FF9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Sensor Interfacing: Analog and Digital Sensors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BB453-2F37-B290-17D3-6C86517FD4A3}"/>
              </a:ext>
            </a:extLst>
          </p:cNvPr>
          <p:cNvSpPr txBox="1"/>
          <p:nvPr/>
        </p:nvSpPr>
        <p:spPr>
          <a:xfrm>
            <a:off x="390671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Analog to Digital Converters </a:t>
            </a:r>
            <a:endParaRPr lang="en-US" sz="4000" dirty="0">
              <a:latin typeface="Futura T OT" panose="02000000000000000000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457E41-237A-0E31-A494-957DB95AACCA}"/>
                  </a:ext>
                </a:extLst>
              </p:cNvPr>
              <p:cNvSpPr txBox="1"/>
              <p:nvPr/>
            </p:nvSpPr>
            <p:spPr>
              <a:xfrm>
                <a:off x="706555" y="2326467"/>
                <a:ext cx="10778887" cy="2954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  <a:latin typeface="Futura T OT" panose="02000000000000000000" pitchFamily="50" charset="0"/>
                  </a:rPr>
                  <a:t>Resolution</a:t>
                </a:r>
                <a:r>
                  <a:rPr lang="en-US" sz="2800" dirty="0">
                    <a:latin typeface="Futura T OT" panose="02000000000000000000" pitchFamily="50" charset="0"/>
                  </a:rPr>
                  <a:t>: Measured in bits. How finely it can divide the input voltage range into discrete digital values.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𝑆𝑡𝑒𝑝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en-US" sz="2800" dirty="0">
                  <a:latin typeface="Futura T OT" panose="02000000000000000000" pitchFamily="50" charset="0"/>
                </a:endParaRPr>
              </a:p>
              <a:p>
                <a:r>
                  <a:rPr lang="en-US" sz="2800" dirty="0">
                    <a:latin typeface="Futura T OT" panose="02000000000000000000" pitchFamily="50" charset="0"/>
                  </a:rPr>
                  <a:t>Where, n is resolution in bits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sz="2800" dirty="0">
                    <a:latin typeface="Futura T OT" panose="02000000000000000000" pitchFamily="50" charset="0"/>
                  </a:rPr>
                  <a:t> is the reference voltage.</a:t>
                </a:r>
              </a:p>
              <a:p>
                <a:endParaRPr lang="en-US" sz="2800" dirty="0">
                  <a:latin typeface="Futura T OT" panose="02000000000000000000" pitchFamily="50" charset="0"/>
                </a:endParaRPr>
              </a:p>
              <a:p>
                <a:r>
                  <a:rPr lang="en-US" sz="2800" dirty="0">
                    <a:latin typeface="Futura T OT" panose="02000000000000000000" pitchFamily="50" charset="0"/>
                  </a:rPr>
                  <a:t>For example, a 10-bit ADC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sz="2800" dirty="0">
                    <a:latin typeface="Futura T OT" panose="02000000000000000000" pitchFamily="50" charset="0"/>
                  </a:rPr>
                  <a:t> of 5V divides the input range into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=1024</m:t>
                    </m:r>
                  </m:oMath>
                </a14:m>
                <a:r>
                  <a:rPr lang="en-US" sz="2800" dirty="0">
                    <a:latin typeface="Futura T OT" panose="02000000000000000000" pitchFamily="50" charset="0"/>
                  </a:rPr>
                  <a:t> steps resulting in a step size of nearly 4.88mV.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457E41-237A-0E31-A494-957DB95AA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55" y="2326467"/>
                <a:ext cx="10778887" cy="2954078"/>
              </a:xfrm>
              <a:prstGeom prst="rect">
                <a:avLst/>
              </a:prstGeom>
              <a:blipFill>
                <a:blip r:embed="rId2"/>
                <a:stretch>
                  <a:fillRect l="-1188" t="-2273" r="-1584" b="-4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835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A9772B-9ED6-D9C8-D1E9-12FBF2CE5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A6129B-D8DA-83D1-9B68-F7B5DFC09EDF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Sensor Interfacing: Analog and Digital Sensors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DB039-09E0-CDCF-B508-105501A622FE}"/>
              </a:ext>
            </a:extLst>
          </p:cNvPr>
          <p:cNvSpPr txBox="1"/>
          <p:nvPr/>
        </p:nvSpPr>
        <p:spPr>
          <a:xfrm>
            <a:off x="390671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Analog to Digital Converters </a:t>
            </a:r>
            <a:endParaRPr lang="en-US" sz="4000" dirty="0">
              <a:latin typeface="Futura T OT" panose="02000000000000000000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775F7F-E0E6-D906-B9D0-6ED089428DE6}"/>
                  </a:ext>
                </a:extLst>
              </p:cNvPr>
              <p:cNvSpPr txBox="1"/>
              <p:nvPr/>
            </p:nvSpPr>
            <p:spPr>
              <a:xfrm>
                <a:off x="706555" y="2326467"/>
                <a:ext cx="10778887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  <a:latin typeface="Futura T OT" panose="02000000000000000000" pitchFamily="50" charset="0"/>
                  </a:rPr>
                  <a:t>Conversion Time: </a:t>
                </a:r>
                <a:r>
                  <a:rPr lang="en-US" sz="2800" dirty="0">
                    <a:solidFill>
                      <a:schemeClr val="tx1"/>
                    </a:solidFill>
                    <a:latin typeface="Futura T OT" panose="02000000000000000000" pitchFamily="50" charset="0"/>
                  </a:rPr>
                  <a:t>Duration the ADC requires to convert an analog signal into its corresponding digital value.</a:t>
                </a:r>
              </a:p>
              <a:p>
                <a:endParaRPr lang="en-US" sz="2800" dirty="0">
                  <a:solidFill>
                    <a:schemeClr val="tx1"/>
                  </a:solidFill>
                  <a:latin typeface="Futura T OT" panose="02000000000000000000" pitchFamily="50" charset="0"/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  <a:latin typeface="Futura T OT" panose="02000000000000000000" pitchFamily="50" charset="0"/>
                  </a:rPr>
                  <a:t>If an ADC operates at a clock frequency of 1 MHz and requires 13 clock cycles per conversion, the conversion time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Futura T OT" panose="02000000000000000000" pitchFamily="50" charset="0"/>
                  </a:rPr>
                  <a:t>, allowing up to 76,923 conversion per second.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775F7F-E0E6-D906-B9D0-6ED089428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55" y="2326467"/>
                <a:ext cx="10778887" cy="2677656"/>
              </a:xfrm>
              <a:prstGeom prst="rect">
                <a:avLst/>
              </a:prstGeom>
              <a:blipFill>
                <a:blip r:embed="rId2"/>
                <a:stretch>
                  <a:fillRect l="-1188" t="-2506" r="-1357" b="-5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96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A14B91-99BA-CA5C-CB2A-B15174A21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0BB540-D317-6A87-A7BB-C466D2808D7F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Sensor Interfacing: Analog and Digital Sensors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27D38-D92C-4F94-63AB-0B21DC4C8CD3}"/>
              </a:ext>
            </a:extLst>
          </p:cNvPr>
          <p:cNvSpPr txBox="1"/>
          <p:nvPr/>
        </p:nvSpPr>
        <p:spPr>
          <a:xfrm>
            <a:off x="390671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Digital Sensors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8DFBF3-B5EE-EC8B-3DA0-CC063C2FAAF9}"/>
              </a:ext>
            </a:extLst>
          </p:cNvPr>
          <p:cNvSpPr txBox="1"/>
          <p:nvPr/>
        </p:nvSpPr>
        <p:spPr>
          <a:xfrm>
            <a:off x="706555" y="1912828"/>
            <a:ext cx="107788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Data are converted to digital format with in sensor itself.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High noise immunity.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Easier to transmit over long distances.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Directly compatible with microcontrollers.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latin typeface="Futura T OT" panose="02000000000000000000" pitchFamily="50" charset="0"/>
              </a:rPr>
              <a:t>MPU6050(Accelerometer)</a:t>
            </a:r>
          </a:p>
        </p:txBody>
      </p:sp>
    </p:spTree>
    <p:extLst>
      <p:ext uri="{BB962C8B-B14F-4D97-AF65-F5344CB8AC3E}">
        <p14:creationId xmlns:p14="http://schemas.microsoft.com/office/powerpoint/2010/main" val="3964325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43827-9EDD-AF2B-E7CA-6202EFF2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FFF685-4D76-18E8-0868-7439D49ACD1F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Sensor Interfacing: Analog and Digital Sensors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1BE7DE-E515-0335-C7F6-42712E1F0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575017"/>
              </p:ext>
            </p:extLst>
          </p:nvPr>
        </p:nvGraphicFramePr>
        <p:xfrm>
          <a:off x="838199" y="2278380"/>
          <a:ext cx="10515600" cy="23774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428021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147202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97329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Analog Sensors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Digital Sensors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005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Output Type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Continuous Voltage/Current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Binary Data/Packets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5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Microcontroller Pin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Analog Input (ADC)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Digital/Communication Pins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581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Noise Sensitivity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61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Complexity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Simple hardware, complex code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Complex hardware, simpler code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630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Cost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Generally Cheaper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Generally, more expensive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783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011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9079F-8B9F-2835-5A99-9BDF7D42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1A16E9-D674-0862-DB04-86C11EB3F418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64D91-1F16-F322-064D-E51144A000CE}"/>
              </a:ext>
            </a:extLst>
          </p:cNvPr>
          <p:cNvSpPr txBox="1"/>
          <p:nvPr/>
        </p:nvSpPr>
        <p:spPr>
          <a:xfrm>
            <a:off x="706554" y="2167474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Unlike sensors, actuators often require high current/voltage that microcontroller cannot provide directly.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902F2-8EF2-B576-590E-980027A3E4D3}"/>
              </a:ext>
            </a:extLst>
          </p:cNvPr>
          <p:cNvSpPr txBox="1"/>
          <p:nvPr/>
        </p:nvSpPr>
        <p:spPr>
          <a:xfrm>
            <a:off x="706554" y="796631"/>
            <a:ext cx="111141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An actuator is a component responsible for moving or controlling a mechanism or system.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FBD86569-2369-9637-C4AC-C9C940D51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359" y="5620783"/>
            <a:ext cx="3886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uses power source (electrical, hydraulic)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4417CD23-A207-813E-BB7B-2ECB9FA13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697" y="5579508"/>
            <a:ext cx="3181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converts it into mechanical work</a:t>
            </a: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7AF701A9-3AD9-7791-8E74-BB315ECFDC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8872" y="4539695"/>
            <a:ext cx="666750" cy="962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A08B6D-0C57-1ED1-C242-6E7ABDF7A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084" y="3736420"/>
            <a:ext cx="7427913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Line 13">
            <a:extLst>
              <a:ext uri="{FF2B5EF4-FFF2-40B4-BE49-F238E27FC236}">
                <a16:creationId xmlns:a16="http://schemas.microsoft.com/office/drawing/2014/main" id="{58652CFD-EC89-951B-B5B0-8E4E400C31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1172" y="4557158"/>
            <a:ext cx="854075" cy="1063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07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CA1EB-954A-8091-3A7A-C39D6C7DC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D9F856-D9AF-F9BF-FF1C-1627F2C568D9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93DC1-3A77-1A0F-552A-F750EEA8E248}"/>
              </a:ext>
            </a:extLst>
          </p:cNvPr>
          <p:cNvSpPr txBox="1"/>
          <p:nvPr/>
        </p:nvSpPr>
        <p:spPr>
          <a:xfrm>
            <a:off x="706552" y="1516492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An electric motor converts electrical energy into mechanical energy.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87841A-1B75-C33B-9C06-8E7845024194}"/>
              </a:ext>
            </a:extLst>
          </p:cNvPr>
          <p:cNvSpPr txBox="1"/>
          <p:nvPr/>
        </p:nvSpPr>
        <p:spPr>
          <a:xfrm>
            <a:off x="706552" y="2631812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DC Motor: </a:t>
            </a:r>
            <a:r>
              <a:rPr lang="en-US" sz="2800" dirty="0">
                <a:latin typeface="Futura T OT" panose="02000000000000000000" pitchFamily="50" charset="0"/>
              </a:rPr>
              <a:t>Operates on direct current and produces continuous rotational motion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353A4-D1F7-917D-2DF8-A32465632912}"/>
              </a:ext>
            </a:extLst>
          </p:cNvPr>
          <p:cNvSpPr txBox="1"/>
          <p:nvPr/>
        </p:nvSpPr>
        <p:spPr>
          <a:xfrm>
            <a:off x="706552" y="3967225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Stepper Motor: </a:t>
            </a:r>
            <a:r>
              <a:rPr lang="en-US" sz="2800" dirty="0">
                <a:latin typeface="Futura T OT" panose="02000000000000000000" pitchFamily="50" charset="0"/>
              </a:rPr>
              <a:t>Rotates in discrete steps and position is controlled without feedback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6437C-CCFA-04CF-F85D-6F92FACE2747}"/>
              </a:ext>
            </a:extLst>
          </p:cNvPr>
          <p:cNvSpPr txBox="1"/>
          <p:nvPr/>
        </p:nvSpPr>
        <p:spPr>
          <a:xfrm>
            <a:off x="706552" y="5513432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Servo Motor: </a:t>
            </a:r>
            <a:r>
              <a:rPr lang="en-US" sz="2800" dirty="0">
                <a:latin typeface="Futura T OT" panose="02000000000000000000" pitchFamily="50" charset="0"/>
              </a:rPr>
              <a:t>Provides precise position control and operates using closed loop system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FE210-C589-3E25-5FF6-7A3BC9CC042F}"/>
              </a:ext>
            </a:extLst>
          </p:cNvPr>
          <p:cNvSpPr txBox="1"/>
          <p:nvPr/>
        </p:nvSpPr>
        <p:spPr>
          <a:xfrm>
            <a:off x="706552" y="796631"/>
            <a:ext cx="11114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MOTOR</a:t>
            </a:r>
            <a:endParaRPr lang="en-US" sz="4000" dirty="0">
              <a:solidFill>
                <a:srgbClr val="FF0000"/>
              </a:solidFill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614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720FD-BE5E-D5C3-FCAC-E5BDAE7F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B4121-4A62-AC98-0A3D-65EF8BB11015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000A1-1C5F-5095-CDB4-C1B8D82CD971}"/>
              </a:ext>
            </a:extLst>
          </p:cNvPr>
          <p:cNvSpPr txBox="1"/>
          <p:nvPr/>
        </p:nvSpPr>
        <p:spPr>
          <a:xfrm>
            <a:off x="507050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DC Motor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7F1A1A-4548-FE9C-606E-4949F5F63F25}"/>
              </a:ext>
            </a:extLst>
          </p:cNvPr>
          <p:cNvSpPr txBox="1"/>
          <p:nvPr/>
        </p:nvSpPr>
        <p:spPr>
          <a:xfrm>
            <a:off x="744656" y="1520786"/>
            <a:ext cx="107788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Converts electrical energy into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rotational motion</a:t>
            </a:r>
            <a:r>
              <a:rPr lang="en-US" sz="2800" dirty="0">
                <a:latin typeface="Futura T OT" panose="02000000000000000000" pitchFamily="50" charset="0"/>
              </a:rPr>
              <a:t>. It operates on a simple principle, when a voltage is applied across its two terminals, the motor produces rotational motion.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8DD5C-4B7C-EDBC-86AA-B97F314739D7}"/>
              </a:ext>
            </a:extLst>
          </p:cNvPr>
          <p:cNvSpPr txBox="1"/>
          <p:nvPr/>
        </p:nvSpPr>
        <p:spPr>
          <a:xfrm>
            <a:off x="744656" y="3303281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By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reversing the polarity </a:t>
            </a:r>
            <a:r>
              <a:rPr lang="en-US" sz="2800" dirty="0">
                <a:latin typeface="Futura T OT" panose="02000000000000000000" pitchFamily="50" charset="0"/>
              </a:rPr>
              <a:t>of the DC voltage the direction of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rotation is reversed</a:t>
            </a:r>
            <a:r>
              <a:rPr lang="en-US" sz="2800" dirty="0">
                <a:latin typeface="Futura T OT" panose="02000000000000000000" pitchFamily="50" charset="0"/>
              </a:rPr>
              <a:t>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F0695-C3D4-CB9D-6F02-A806B352EA1A}"/>
              </a:ext>
            </a:extLst>
          </p:cNvPr>
          <p:cNvSpPr txBox="1"/>
          <p:nvPr/>
        </p:nvSpPr>
        <p:spPr>
          <a:xfrm>
            <a:off x="744656" y="4654887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ysClr val="windowText" lastClr="000000"/>
                </a:solidFill>
                <a:latin typeface="Futura T OT" panose="02000000000000000000" pitchFamily="50" charset="0"/>
              </a:rPr>
              <a:t>Robotics, computer cooling fans, toys </a:t>
            </a:r>
            <a:r>
              <a:rPr lang="en-US" sz="2800" dirty="0" err="1">
                <a:solidFill>
                  <a:sysClr val="windowText" lastClr="000000"/>
                </a:solidFill>
                <a:latin typeface="Futura T OT" panose="02000000000000000000" pitchFamily="50" charset="0"/>
              </a:rPr>
              <a:t>etc</a:t>
            </a:r>
            <a:endParaRPr lang="en-US" sz="4000" dirty="0">
              <a:solidFill>
                <a:sysClr val="windowText" lastClr="000000"/>
              </a:solidFill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47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53599-05DE-ABFF-366E-C4E713858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CBE38C-1769-C3BF-E4BB-3C100ED0E1E0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DA4A9-76D0-BA48-E9D4-504B75FCF201}"/>
              </a:ext>
            </a:extLst>
          </p:cNvPr>
          <p:cNvSpPr txBox="1"/>
          <p:nvPr/>
        </p:nvSpPr>
        <p:spPr>
          <a:xfrm>
            <a:off x="507050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DC Motor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F73985-4B95-E193-5D7C-462925317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9" y="2164231"/>
            <a:ext cx="73152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37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EE510-51CF-BA13-B9DC-3AECFCF06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6A2544-67B0-7265-0861-8EEA261F93BB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D0870-99C0-3527-D7B3-7216CC4DDA6D}"/>
              </a:ext>
            </a:extLst>
          </p:cNvPr>
          <p:cNvSpPr txBox="1"/>
          <p:nvPr/>
        </p:nvSpPr>
        <p:spPr>
          <a:xfrm>
            <a:off x="507050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DC Motor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3C6A4-2FB3-B6E0-C7CD-B1FC7686C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435" y="1368889"/>
            <a:ext cx="4145626" cy="48616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D77CB8-66D6-3BB7-4E64-75EF81D844C1}"/>
              </a:ext>
            </a:extLst>
          </p:cNvPr>
          <p:cNvSpPr txBox="1"/>
          <p:nvPr/>
        </p:nvSpPr>
        <p:spPr>
          <a:xfrm>
            <a:off x="835552" y="2080922"/>
            <a:ext cx="60884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Relays</a:t>
            </a:r>
            <a:r>
              <a:rPr lang="en-US" sz="2800" dirty="0">
                <a:latin typeface="Futura T OT" panose="02000000000000000000" pitchFamily="50" charset="0"/>
              </a:rPr>
              <a:t>: Relays can be used to switch the polarity of the power supply.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CB6CA-2C58-85FD-B569-ACDF2562FB7A}"/>
              </a:ext>
            </a:extLst>
          </p:cNvPr>
          <p:cNvSpPr txBox="1"/>
          <p:nvPr/>
        </p:nvSpPr>
        <p:spPr>
          <a:xfrm>
            <a:off x="835552" y="3799733"/>
            <a:ext cx="60884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H-Bridge Circuit</a:t>
            </a:r>
            <a:r>
              <a:rPr lang="en-US" sz="2800" dirty="0">
                <a:latin typeface="Futura T OT" panose="02000000000000000000" pitchFamily="50" charset="0"/>
              </a:rPr>
              <a:t>: Consists of a combination of transistors or MOSFETs that can reverse the polarity of the voltage applied to the motor.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L293D</a:t>
            </a:r>
            <a:r>
              <a:rPr lang="en-US" sz="2800" dirty="0">
                <a:latin typeface="Futura T OT" panose="02000000000000000000" pitchFamily="50" charset="0"/>
              </a:rPr>
              <a:t> and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L298N</a:t>
            </a:r>
            <a:endParaRPr lang="en-US" sz="4000" dirty="0">
              <a:solidFill>
                <a:srgbClr val="FF0000"/>
              </a:solidFill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021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1F636-7E2F-809D-235B-87FE5002D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1E0B4F-5539-B9DC-54D3-91DE871ECABD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3C664-23FE-7174-F2AE-64ECEF745F90}"/>
              </a:ext>
            </a:extLst>
          </p:cNvPr>
          <p:cNvSpPr txBox="1"/>
          <p:nvPr/>
        </p:nvSpPr>
        <p:spPr>
          <a:xfrm>
            <a:off x="507050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DC Motor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CFC300-E36A-7392-28F8-ABAC6276C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07279"/>
            <a:ext cx="5315989" cy="53159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39D50C-4AC3-0569-18F7-9CD995ACC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11" y="2153003"/>
            <a:ext cx="4797112" cy="383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960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3FB9B-55BB-E70F-57C7-081238DA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E445EF-A9D0-CFC6-A9C6-3128BB7BD6FD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3EC42-0218-0407-CCFB-76DAFAD4A029}"/>
              </a:ext>
            </a:extLst>
          </p:cNvPr>
          <p:cNvSpPr txBox="1"/>
          <p:nvPr/>
        </p:nvSpPr>
        <p:spPr>
          <a:xfrm>
            <a:off x="507050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Stepper Motor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3192F2-CFC7-22A5-BE18-8DF01FC78EE6}"/>
              </a:ext>
            </a:extLst>
          </p:cNvPr>
          <p:cNvSpPr txBox="1"/>
          <p:nvPr/>
        </p:nvSpPr>
        <p:spPr>
          <a:xfrm>
            <a:off x="741167" y="1749080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Converts electrical energy into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rotational motion</a:t>
            </a:r>
            <a:r>
              <a:rPr lang="en-US" sz="2800" dirty="0">
                <a:latin typeface="Futura T OT" panose="02000000000000000000" pitchFamily="50" charset="0"/>
              </a:rPr>
              <a:t>. It is specifically designed to perform precise movements, known as steps, to achieve accurate positioning. 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FAB0C-C62E-3263-0B71-3BB3A206C58D}"/>
              </a:ext>
            </a:extLst>
          </p:cNvPr>
          <p:cNvSpPr txBox="1"/>
          <p:nvPr/>
        </p:nvSpPr>
        <p:spPr>
          <a:xfrm>
            <a:off x="741167" y="3440409"/>
            <a:ext cx="1077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A magnetic field is generated by current flowing in the coil and rotor aligns with this field.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484CFA-8374-1210-3E7D-6C26C54CDC8B}"/>
              </a:ext>
            </a:extLst>
          </p:cNvPr>
          <p:cNvSpPr txBox="1"/>
          <p:nvPr/>
        </p:nvSpPr>
        <p:spPr>
          <a:xfrm>
            <a:off x="741167" y="5085776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ysClr val="windowText" lastClr="000000"/>
                </a:solidFill>
                <a:latin typeface="Futura T OT" panose="02000000000000000000" pitchFamily="50" charset="0"/>
              </a:rPr>
              <a:t>3D printers, CNC machines, robotics</a:t>
            </a:r>
            <a:endParaRPr lang="en-US" sz="4000" dirty="0">
              <a:solidFill>
                <a:sysClr val="windowText" lastClr="000000"/>
              </a:solidFill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752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2311-A780-FEC1-6896-321D8CDD9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573606-DD87-773B-EEC7-3356E7102014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652CF-06D8-83D0-42A1-72FBB3A393BD}"/>
              </a:ext>
            </a:extLst>
          </p:cNvPr>
          <p:cNvSpPr txBox="1"/>
          <p:nvPr/>
        </p:nvSpPr>
        <p:spPr>
          <a:xfrm>
            <a:off x="457173" y="678564"/>
            <a:ext cx="10778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Stepper Motor</a:t>
            </a:r>
          </a:p>
        </p:txBody>
      </p:sp>
      <p:pic>
        <p:nvPicPr>
          <p:cNvPr id="4100" name="Picture 4" descr="Stepper Motor Steps">
            <a:extLst>
              <a:ext uri="{FF2B5EF4-FFF2-40B4-BE49-F238E27FC236}">
                <a16:creationId xmlns:a16="http://schemas.microsoft.com/office/drawing/2014/main" id="{BC014BEC-3897-7605-9062-7602A6013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357129"/>
            <a:ext cx="12192000" cy="315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36F5D0-AEDA-38F6-2EA0-A9A99FEBE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177" y="4441351"/>
            <a:ext cx="5676601" cy="248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15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B1ED4-4172-6421-2D4F-08926C58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21358E-37BB-6B4E-C4FC-F3C4BA417477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CDE0F-631F-57D5-EC6A-823DD3D44A3B}"/>
              </a:ext>
            </a:extLst>
          </p:cNvPr>
          <p:cNvSpPr txBox="1"/>
          <p:nvPr/>
        </p:nvSpPr>
        <p:spPr>
          <a:xfrm>
            <a:off x="457173" y="678564"/>
            <a:ext cx="10778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Futura T OT" panose="02000000000000000000" pitchFamily="50" charset="0"/>
              </a:rPr>
              <a:t>Stepper Motor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1DCD32-A661-DCDE-0431-6345680B6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7738"/>
            <a:ext cx="4581698" cy="45816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43EA18-35D3-645E-6540-D293C6394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263339"/>
            <a:ext cx="574357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74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9F2749-7C71-7EA0-8F59-B74A15829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7B10E9-141E-EB37-288C-79C8CE3A546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C879D-ABF0-FB53-54B4-9145F0F5AA44}"/>
              </a:ext>
            </a:extLst>
          </p:cNvPr>
          <p:cNvSpPr txBox="1"/>
          <p:nvPr/>
        </p:nvSpPr>
        <p:spPr>
          <a:xfrm>
            <a:off x="507050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Servo Motor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354CCB-C524-982F-86F9-668948F56ABA}"/>
              </a:ext>
            </a:extLst>
          </p:cNvPr>
          <p:cNvSpPr txBox="1"/>
          <p:nvPr/>
        </p:nvSpPr>
        <p:spPr>
          <a:xfrm>
            <a:off x="835552" y="1629783"/>
            <a:ext cx="1098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A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rotary actuator </a:t>
            </a:r>
            <a:r>
              <a:rPr lang="en-US" sz="2800" dirty="0">
                <a:latin typeface="Futura T OT" panose="02000000000000000000" pitchFamily="50" charset="0"/>
              </a:rPr>
              <a:t>used for precise control of angular position, speed and acceleration.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F9F57-2763-635E-73DE-C60FD03A20B4}"/>
              </a:ext>
            </a:extLst>
          </p:cNvPr>
          <p:cNvSpPr txBox="1"/>
          <p:nvPr/>
        </p:nvSpPr>
        <p:spPr>
          <a:xfrm>
            <a:off x="835552" y="2844784"/>
            <a:ext cx="1098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They have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feedback control mechanism </a:t>
            </a:r>
            <a:r>
              <a:rPr lang="en-US" sz="2800" dirty="0">
                <a:latin typeface="Futura T OT" panose="02000000000000000000" pitchFamily="50" charset="0"/>
              </a:rPr>
              <a:t>that allow them to precisely control position within a closed loop system.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4B932-4645-10CD-6014-FA3B9AED971E}"/>
              </a:ext>
            </a:extLst>
          </p:cNvPr>
          <p:cNvSpPr txBox="1"/>
          <p:nvPr/>
        </p:nvSpPr>
        <p:spPr>
          <a:xfrm>
            <a:off x="835552" y="4059785"/>
            <a:ext cx="109851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It consists of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motor</a:t>
            </a:r>
            <a:r>
              <a:rPr lang="en-US" sz="2800" dirty="0">
                <a:latin typeface="Futura T OT" panose="02000000000000000000" pitchFamily="50" charset="0"/>
              </a:rPr>
              <a:t> for rotary motion,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encoder</a:t>
            </a:r>
            <a:r>
              <a:rPr lang="en-US" sz="2800" dirty="0">
                <a:latin typeface="Futura T OT" panose="02000000000000000000" pitchFamily="50" charset="0"/>
              </a:rPr>
              <a:t> for signaling angle or displacement of motor,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driver</a:t>
            </a:r>
            <a:r>
              <a:rPr lang="en-US" sz="2800" dirty="0">
                <a:latin typeface="Futura T OT" panose="02000000000000000000" pitchFamily="50" charset="0"/>
              </a:rPr>
              <a:t> for powering the motor with feedback and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gears</a:t>
            </a:r>
            <a:r>
              <a:rPr lang="en-US" sz="2800" dirty="0">
                <a:latin typeface="Futura T OT" panose="02000000000000000000" pitchFamily="50" charset="0"/>
              </a:rPr>
              <a:t> for additional torque. 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188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16EA4-C27F-74E0-03D9-A21CAD8B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D69481-9551-EE90-3F86-FD546B985D0F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6A228-03C3-20DE-6313-FBB7C117E654}"/>
              </a:ext>
            </a:extLst>
          </p:cNvPr>
          <p:cNvSpPr txBox="1"/>
          <p:nvPr/>
        </p:nvSpPr>
        <p:spPr>
          <a:xfrm>
            <a:off x="507050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Servo Motor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0E133B-47F9-C604-EA2E-0E20ADDDB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9" y="904875"/>
            <a:ext cx="9144000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20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9A834-590E-765D-9BB9-6CCAD5DC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CC0D46-6F62-3136-9E4B-62A94CABEB68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B4040-3F5D-868A-17A6-730FB904F7CB}"/>
              </a:ext>
            </a:extLst>
          </p:cNvPr>
          <p:cNvSpPr txBox="1"/>
          <p:nvPr/>
        </p:nvSpPr>
        <p:spPr>
          <a:xfrm>
            <a:off x="507050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Operating modes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D41742-4F9F-F2BF-B3EA-F9B7E48EE52B}"/>
              </a:ext>
            </a:extLst>
          </p:cNvPr>
          <p:cNvSpPr txBox="1"/>
          <p:nvPr/>
        </p:nvSpPr>
        <p:spPr>
          <a:xfrm>
            <a:off x="835552" y="1629783"/>
            <a:ext cx="1098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Speed Control</a:t>
            </a:r>
            <a:r>
              <a:rPr lang="en-US" sz="2800" dirty="0">
                <a:latin typeface="Futura T OT" panose="02000000000000000000" pitchFamily="50" charset="0"/>
              </a:rPr>
              <a:t>: Maintain a set speed despite changing load circumstances. Eg: conveyor belts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07C9B8-A5BC-F98E-AE80-6D96BCF6B7F3}"/>
              </a:ext>
            </a:extLst>
          </p:cNvPr>
          <p:cNvSpPr txBox="1"/>
          <p:nvPr/>
        </p:nvSpPr>
        <p:spPr>
          <a:xfrm>
            <a:off x="835552" y="3429000"/>
            <a:ext cx="1098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Torque Control</a:t>
            </a:r>
            <a:r>
              <a:rPr lang="en-US" sz="2800" dirty="0">
                <a:latin typeface="Futura T OT" panose="02000000000000000000" pitchFamily="50" charset="0"/>
              </a:rPr>
              <a:t>: Maintain steady torque when continuous force is required. Eg: pressing or winding application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6C440E-037F-1B00-2E3B-CA93362CF265}"/>
              </a:ext>
            </a:extLst>
          </p:cNvPr>
          <p:cNvSpPr txBox="1"/>
          <p:nvPr/>
        </p:nvSpPr>
        <p:spPr>
          <a:xfrm>
            <a:off x="835552" y="5228217"/>
            <a:ext cx="1098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Position Control</a:t>
            </a:r>
            <a:r>
              <a:rPr lang="en-US" sz="2800" dirty="0">
                <a:latin typeface="Futura T OT" panose="02000000000000000000" pitchFamily="50" charset="0"/>
              </a:rPr>
              <a:t>: Precisely regulate position is their most prevalent and distinctive characteristic. Eg: CNC machines, Robotics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918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7CE205-7925-5B89-3D24-476EE420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7E15CE-64D3-8AC4-2817-B03F5086C4EC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A60953-1B65-D03F-B6C7-ECD682DB61C4}"/>
              </a:ext>
            </a:extLst>
          </p:cNvPr>
          <p:cNvSpPr txBox="1"/>
          <p:nvPr/>
        </p:nvSpPr>
        <p:spPr>
          <a:xfrm>
            <a:off x="507050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Servo Motors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6EBE26-FCED-B48A-887F-0A74E2973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50" y="1629783"/>
            <a:ext cx="4315691" cy="43156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F7806F-FBD5-D4A3-F97F-D3A7F66E5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610" y="1629783"/>
            <a:ext cx="5854340" cy="449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928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F3D35-93AD-23F3-7812-282AF9A4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E9B357-8A88-8F4F-3AC4-1D87E38AE7DC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158ED-5EF4-90D5-1584-370635CA874B}"/>
              </a:ext>
            </a:extLst>
          </p:cNvPr>
          <p:cNvSpPr txBox="1"/>
          <p:nvPr/>
        </p:nvSpPr>
        <p:spPr>
          <a:xfrm>
            <a:off x="507050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PWM (Pulse Width Modulation)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CF61A-C379-A3FF-A735-D1510228718A}"/>
              </a:ext>
            </a:extLst>
          </p:cNvPr>
          <p:cNvSpPr txBox="1"/>
          <p:nvPr/>
        </p:nvSpPr>
        <p:spPr>
          <a:xfrm>
            <a:off x="835552" y="1629783"/>
            <a:ext cx="1098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PWM is a technique for getting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analog results with digital means</a:t>
            </a:r>
            <a:r>
              <a:rPr lang="en-US" sz="2800" dirty="0">
                <a:latin typeface="Futura T OT" panose="02000000000000000000" pitchFamily="50" charset="0"/>
              </a:rPr>
              <a:t>. The duration of “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on time</a:t>
            </a:r>
            <a:r>
              <a:rPr lang="en-US" sz="2800" dirty="0">
                <a:latin typeface="Futura T OT" panose="02000000000000000000" pitchFamily="50" charset="0"/>
              </a:rPr>
              <a:t>” is called the pulse width. 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A2D348-D9EB-3849-0BC3-91E9E6E8835A}"/>
              </a:ext>
            </a:extLst>
          </p:cNvPr>
          <p:cNvSpPr txBox="1"/>
          <p:nvPr/>
        </p:nvSpPr>
        <p:spPr>
          <a:xfrm>
            <a:off x="835552" y="3429000"/>
            <a:ext cx="1098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Digital control is used to create square wave, a signal switched between on and off. 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C1BC7-736B-56EE-784C-7BFEFB510363}"/>
              </a:ext>
            </a:extLst>
          </p:cNvPr>
          <p:cNvSpPr txBox="1"/>
          <p:nvPr/>
        </p:nvSpPr>
        <p:spPr>
          <a:xfrm>
            <a:off x="835552" y="5228217"/>
            <a:ext cx="1098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By changing the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on-off pattern</a:t>
            </a:r>
            <a:r>
              <a:rPr lang="en-US" sz="2800" dirty="0">
                <a:latin typeface="Futura T OT" panose="02000000000000000000" pitchFamily="50" charset="0"/>
              </a:rPr>
              <a:t>, we can simulate voltages in between the full </a:t>
            </a:r>
            <a:r>
              <a:rPr lang="en-US" sz="2800" dirty="0" err="1">
                <a:latin typeface="Futura T OT" panose="02000000000000000000" pitchFamily="50" charset="0"/>
              </a:rPr>
              <a:t>Vcc</a:t>
            </a:r>
            <a:r>
              <a:rPr lang="en-US" sz="2800" dirty="0">
                <a:latin typeface="Futura T OT" panose="02000000000000000000" pitchFamily="50" charset="0"/>
              </a:rPr>
              <a:t> of the board.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549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E856D9-C363-572B-D6CC-643C0EC32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66AFAC-197A-C723-725E-B0D860DBBF8A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Actuator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AEFE2-0563-88B6-1103-A7BF5E255352}"/>
              </a:ext>
            </a:extLst>
          </p:cNvPr>
          <p:cNvSpPr txBox="1"/>
          <p:nvPr/>
        </p:nvSpPr>
        <p:spPr>
          <a:xfrm>
            <a:off x="507050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PWM (Pulse Width Modulation)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pic>
        <p:nvPicPr>
          <p:cNvPr id="1026" name="Picture 2" descr="Pulse-width modulation - Wikipedia">
            <a:extLst>
              <a:ext uri="{FF2B5EF4-FFF2-40B4-BE49-F238E27FC236}">
                <a16:creationId xmlns:a16="http://schemas.microsoft.com/office/drawing/2014/main" id="{659110DD-0D9D-CC1F-D9EB-AB3E8FDF6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588" y="1629783"/>
            <a:ext cx="7019224" cy="442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416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2C0AC-D024-B5D7-635B-D2C8BB171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A2E8C6-66C1-E57D-E1B7-F4972CB3807A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Display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A948B-BD74-8800-4723-CC74F40EF5B5}"/>
              </a:ext>
            </a:extLst>
          </p:cNvPr>
          <p:cNvSpPr txBox="1"/>
          <p:nvPr/>
        </p:nvSpPr>
        <p:spPr>
          <a:xfrm>
            <a:off x="507050" y="845669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Seven Segment Display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E0AEC-4A6C-E331-3854-0F1C3723D5C7}"/>
              </a:ext>
            </a:extLst>
          </p:cNvPr>
          <p:cNvSpPr txBox="1"/>
          <p:nvPr/>
        </p:nvSpPr>
        <p:spPr>
          <a:xfrm>
            <a:off x="835552" y="1629783"/>
            <a:ext cx="1098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The display consists of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seven LED segments </a:t>
            </a:r>
            <a:r>
              <a:rPr lang="en-US" sz="2800" dirty="0">
                <a:latin typeface="Futura T OT" panose="02000000000000000000" pitchFamily="50" charset="0"/>
              </a:rPr>
              <a:t>arranged in a rectangular pattern, with an additional dot segment.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D0520F-E63A-1CEA-797C-5B9FE88902D9}"/>
              </a:ext>
            </a:extLst>
          </p:cNvPr>
          <p:cNvSpPr txBox="1"/>
          <p:nvPr/>
        </p:nvSpPr>
        <p:spPr>
          <a:xfrm>
            <a:off x="835552" y="3429000"/>
            <a:ext cx="109851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Common Cathode</a:t>
            </a:r>
            <a:r>
              <a:rPr lang="en-US" sz="2800" dirty="0">
                <a:latin typeface="Futura T OT" panose="02000000000000000000" pitchFamily="50" charset="0"/>
              </a:rPr>
              <a:t>: All the cathode terminals of the LEDs are connected together to a common ground. The individual segment is lit up by supplying high voltage.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CC624-CDC7-C9AC-6708-E785ACE21EA2}"/>
              </a:ext>
            </a:extLst>
          </p:cNvPr>
          <p:cNvSpPr txBox="1"/>
          <p:nvPr/>
        </p:nvSpPr>
        <p:spPr>
          <a:xfrm>
            <a:off x="835552" y="5228217"/>
            <a:ext cx="1098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Common Anode</a:t>
            </a:r>
            <a:r>
              <a:rPr lang="en-US" sz="2800" dirty="0">
                <a:latin typeface="Futura T OT" panose="02000000000000000000" pitchFamily="50" charset="0"/>
              </a:rPr>
              <a:t>: All the anode terminals of the LEDs are connected together to a high voltage. The individual segment is lit up by supplying ground. 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593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194114-E533-A715-9533-F7BC59008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5C8C31-6FB9-DC1C-456F-D7C873925652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Display Interfacing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A165E-6998-695E-C840-A50066A3E4DC}"/>
              </a:ext>
            </a:extLst>
          </p:cNvPr>
          <p:cNvSpPr txBox="1"/>
          <p:nvPr/>
        </p:nvSpPr>
        <p:spPr>
          <a:xfrm>
            <a:off x="576381" y="539298"/>
            <a:ext cx="10778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Seven Segment Display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6059E2-24E6-7BB9-4129-8806E16745C3}"/>
              </a:ext>
            </a:extLst>
          </p:cNvPr>
          <p:cNvGrpSpPr/>
          <p:nvPr/>
        </p:nvGrpSpPr>
        <p:grpSpPr>
          <a:xfrm>
            <a:off x="536128" y="1321134"/>
            <a:ext cx="1371600" cy="2286000"/>
            <a:chOff x="5589017" y="-19086"/>
            <a:chExt cx="1998450" cy="334520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68B0986-E55F-30C5-5545-3AA9953632DC}"/>
                </a:ext>
              </a:extLst>
            </p:cNvPr>
            <p:cNvGrpSpPr/>
            <p:nvPr/>
          </p:nvGrpSpPr>
          <p:grpSpPr>
            <a:xfrm>
              <a:off x="5674781" y="-19086"/>
              <a:ext cx="1610686" cy="616927"/>
              <a:chOff x="5743326" y="1442779"/>
              <a:chExt cx="1610686" cy="616927"/>
            </a:xfrm>
          </p:grpSpPr>
          <p:sp>
            <p:nvSpPr>
              <p:cNvPr id="33" name="Minus 3">
                <a:extLst>
                  <a:ext uri="{FF2B5EF4-FFF2-40B4-BE49-F238E27FC236}">
                    <a16:creationId xmlns:a16="http://schemas.microsoft.com/office/drawing/2014/main" id="{C35AB7B6-4C0D-B366-0C06-05A236477076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0B9D874-F777-57DA-B16C-F4DF1E2E70C7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a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188717E-3F6D-583B-CEC6-A7F5E3824BC2}"/>
                </a:ext>
              </a:extLst>
            </p:cNvPr>
            <p:cNvGrpSpPr/>
            <p:nvPr/>
          </p:nvGrpSpPr>
          <p:grpSpPr>
            <a:xfrm rot="5400000">
              <a:off x="6469984" y="630889"/>
              <a:ext cx="1610686" cy="620887"/>
              <a:chOff x="5743326" y="1438819"/>
              <a:chExt cx="1610686" cy="620887"/>
            </a:xfrm>
          </p:grpSpPr>
          <p:sp>
            <p:nvSpPr>
              <p:cNvPr id="31" name="Minus 41">
                <a:extLst>
                  <a:ext uri="{FF2B5EF4-FFF2-40B4-BE49-F238E27FC236}">
                    <a16:creationId xmlns:a16="http://schemas.microsoft.com/office/drawing/2014/main" id="{149CBC07-04CC-55E0-E5C8-2DCAF2947268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18257C2-C0DC-163D-D1EB-2A42C42DE6D9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b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697951A-88F2-3CCB-FFDF-E78D3704E134}"/>
                </a:ext>
              </a:extLst>
            </p:cNvPr>
            <p:cNvGrpSpPr/>
            <p:nvPr/>
          </p:nvGrpSpPr>
          <p:grpSpPr>
            <a:xfrm rot="5400000">
              <a:off x="6471681" y="1875187"/>
              <a:ext cx="1610686" cy="620887"/>
              <a:chOff x="5743326" y="1438819"/>
              <a:chExt cx="1610686" cy="620887"/>
            </a:xfrm>
          </p:grpSpPr>
          <p:sp>
            <p:nvSpPr>
              <p:cNvPr id="29" name="Minus 53">
                <a:extLst>
                  <a:ext uri="{FF2B5EF4-FFF2-40B4-BE49-F238E27FC236}">
                    <a16:creationId xmlns:a16="http://schemas.microsoft.com/office/drawing/2014/main" id="{84B8AC01-F783-4B78-78B4-5CA6E08EF4B0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8457E8-092A-9782-4E15-FC11A9972F3D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c</a:t>
                </a:r>
              </a:p>
            </p:txBody>
          </p:sp>
        </p:grpSp>
        <p:sp>
          <p:nvSpPr>
            <p:cNvPr id="27" name="Minus 56">
              <a:extLst>
                <a:ext uri="{FF2B5EF4-FFF2-40B4-BE49-F238E27FC236}">
                  <a16:creationId xmlns:a16="http://schemas.microsoft.com/office/drawing/2014/main" id="{3477FF4D-B076-9E18-7884-197EA0E50B94}"/>
                </a:ext>
              </a:extLst>
            </p:cNvPr>
            <p:cNvSpPr/>
            <p:nvPr/>
          </p:nvSpPr>
          <p:spPr>
            <a:xfrm rot="5400000">
              <a:off x="6360877" y="739997"/>
              <a:ext cx="1610685" cy="402673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Minus 59">
              <a:extLst>
                <a:ext uri="{FF2B5EF4-FFF2-40B4-BE49-F238E27FC236}">
                  <a16:creationId xmlns:a16="http://schemas.microsoft.com/office/drawing/2014/main" id="{E73B43D4-F606-C74D-9380-AF8BDDD2C5AC}"/>
                </a:ext>
              </a:extLst>
            </p:cNvPr>
            <p:cNvSpPr/>
            <p:nvPr/>
          </p:nvSpPr>
          <p:spPr>
            <a:xfrm rot="5400000">
              <a:off x="6362574" y="1984296"/>
              <a:ext cx="1610686" cy="402672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1226C94-7A6B-19B5-FA60-C5F2025EFFCC}"/>
                </a:ext>
              </a:extLst>
            </p:cNvPr>
            <p:cNvGrpSpPr/>
            <p:nvPr/>
          </p:nvGrpSpPr>
          <p:grpSpPr>
            <a:xfrm rot="5400000">
              <a:off x="5095815" y="1875188"/>
              <a:ext cx="1610686" cy="620887"/>
              <a:chOff x="5743326" y="1438819"/>
              <a:chExt cx="1610686" cy="620887"/>
            </a:xfrm>
          </p:grpSpPr>
          <p:sp>
            <p:nvSpPr>
              <p:cNvPr id="25" name="Minus 62">
                <a:extLst>
                  <a:ext uri="{FF2B5EF4-FFF2-40B4-BE49-F238E27FC236}">
                    <a16:creationId xmlns:a16="http://schemas.microsoft.com/office/drawing/2014/main" id="{0CEF7096-3CE5-177F-41B6-1FBC7124BBAA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3E116C4-418C-D673-8651-BFBEC7683A2F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417CEB-890B-9B14-601C-B51C3A5B4DB9}"/>
                </a:ext>
              </a:extLst>
            </p:cNvPr>
            <p:cNvGrpSpPr/>
            <p:nvPr/>
          </p:nvGrpSpPr>
          <p:grpSpPr>
            <a:xfrm rot="5400000">
              <a:off x="5094118" y="630891"/>
              <a:ext cx="1610686" cy="620887"/>
              <a:chOff x="5743326" y="1438819"/>
              <a:chExt cx="1610686" cy="620887"/>
            </a:xfrm>
          </p:grpSpPr>
          <p:sp>
            <p:nvSpPr>
              <p:cNvPr id="23" name="Minus 65">
                <a:extLst>
                  <a:ext uri="{FF2B5EF4-FFF2-40B4-BE49-F238E27FC236}">
                    <a16:creationId xmlns:a16="http://schemas.microsoft.com/office/drawing/2014/main" id="{82456AE5-C9A0-3AD3-8C4B-E9EFE0699C17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6365CD6-B1E5-414F-E4A4-76B2E72E936C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f</a:t>
                </a:r>
              </a:p>
            </p:txBody>
          </p:sp>
        </p:grpSp>
        <p:sp>
          <p:nvSpPr>
            <p:cNvPr id="15" name="Minus 68">
              <a:extLst>
                <a:ext uri="{FF2B5EF4-FFF2-40B4-BE49-F238E27FC236}">
                  <a16:creationId xmlns:a16="http://schemas.microsoft.com/office/drawing/2014/main" id="{51AA58D0-5579-3A4E-8C1C-B4C09CD12CA6}"/>
                </a:ext>
              </a:extLst>
            </p:cNvPr>
            <p:cNvSpPr/>
            <p:nvPr/>
          </p:nvSpPr>
          <p:spPr>
            <a:xfrm rot="5400000">
              <a:off x="4986708" y="1984297"/>
              <a:ext cx="1610686" cy="402672"/>
            </a:xfrm>
            <a:prstGeom prst="mathMin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72E77B0-8BF3-442A-4100-3D7888B2482C}"/>
                </a:ext>
              </a:extLst>
            </p:cNvPr>
            <p:cNvGrpSpPr/>
            <p:nvPr/>
          </p:nvGrpSpPr>
          <p:grpSpPr>
            <a:xfrm>
              <a:off x="5674781" y="1162275"/>
              <a:ext cx="1610686" cy="616927"/>
              <a:chOff x="5743326" y="1442779"/>
              <a:chExt cx="1610686" cy="616927"/>
            </a:xfrm>
          </p:grpSpPr>
          <p:sp>
            <p:nvSpPr>
              <p:cNvPr id="21" name="Minus 71">
                <a:extLst>
                  <a:ext uri="{FF2B5EF4-FFF2-40B4-BE49-F238E27FC236}">
                    <a16:creationId xmlns:a16="http://schemas.microsoft.com/office/drawing/2014/main" id="{0E77C98F-E430-00C7-6ECD-1D0B4F08E32E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3E14E7-89E9-57AC-7F66-06187D15A6F8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g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7E6517-9071-F334-CCFD-21C393BBF3D6}"/>
                </a:ext>
              </a:extLst>
            </p:cNvPr>
            <p:cNvGrpSpPr/>
            <p:nvPr/>
          </p:nvGrpSpPr>
          <p:grpSpPr>
            <a:xfrm>
              <a:off x="5674781" y="2339863"/>
              <a:ext cx="1610686" cy="616927"/>
              <a:chOff x="5743326" y="1442779"/>
              <a:chExt cx="1610686" cy="616927"/>
            </a:xfrm>
          </p:grpSpPr>
          <p:sp>
            <p:nvSpPr>
              <p:cNvPr id="19" name="Minus 74">
                <a:extLst>
                  <a:ext uri="{FF2B5EF4-FFF2-40B4-BE49-F238E27FC236}">
                    <a16:creationId xmlns:a16="http://schemas.microsoft.com/office/drawing/2014/main" id="{CAFF66BF-2F63-F54F-D9CA-5920E92939AE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35EE84-1B4E-4447-F715-CBEA5E3937B0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d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8E25269-C151-B8D1-D546-C405E9E40878}"/>
                </a:ext>
              </a:extLst>
            </p:cNvPr>
            <p:cNvSpPr txBox="1"/>
            <p:nvPr/>
          </p:nvSpPr>
          <p:spPr>
            <a:xfrm>
              <a:off x="6107290" y="2956790"/>
              <a:ext cx="659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Futura T OT" panose="02000000000000000000" pitchFamily="50" charset="0"/>
                </a:rPr>
                <a:t>For 0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7EE4B45-D2EA-54FB-DDAA-4D0A325FBAD1}"/>
              </a:ext>
            </a:extLst>
          </p:cNvPr>
          <p:cNvGrpSpPr/>
          <p:nvPr/>
        </p:nvGrpSpPr>
        <p:grpSpPr>
          <a:xfrm>
            <a:off x="2914289" y="1321134"/>
            <a:ext cx="1371600" cy="2286000"/>
            <a:chOff x="7626261" y="-19086"/>
            <a:chExt cx="1998450" cy="334520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45BDEE4-CCB4-AA31-F8D8-52286B9A1039}"/>
                </a:ext>
              </a:extLst>
            </p:cNvPr>
            <p:cNvGrpSpPr/>
            <p:nvPr/>
          </p:nvGrpSpPr>
          <p:grpSpPr>
            <a:xfrm>
              <a:off x="7712025" y="-19086"/>
              <a:ext cx="1610686" cy="616927"/>
              <a:chOff x="5743326" y="1442779"/>
              <a:chExt cx="1610686" cy="616927"/>
            </a:xfrm>
          </p:grpSpPr>
          <p:sp>
            <p:nvSpPr>
              <p:cNvPr id="61" name="Minus 101">
                <a:extLst>
                  <a:ext uri="{FF2B5EF4-FFF2-40B4-BE49-F238E27FC236}">
                    <a16:creationId xmlns:a16="http://schemas.microsoft.com/office/drawing/2014/main" id="{C53E2375-E9C3-77B9-8F66-C3EA420B96AE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79CA984-13BF-2A41-84DD-7CAA004CC616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a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A53647B-C0FD-E0C2-9EC5-439E29814ADA}"/>
                </a:ext>
              </a:extLst>
            </p:cNvPr>
            <p:cNvGrpSpPr/>
            <p:nvPr/>
          </p:nvGrpSpPr>
          <p:grpSpPr>
            <a:xfrm rot="5400000">
              <a:off x="8507228" y="630889"/>
              <a:ext cx="1610686" cy="620887"/>
              <a:chOff x="5743326" y="1438819"/>
              <a:chExt cx="1610686" cy="620887"/>
            </a:xfrm>
          </p:grpSpPr>
          <p:sp>
            <p:nvSpPr>
              <p:cNvPr id="59" name="Minus 104">
                <a:extLst>
                  <a:ext uri="{FF2B5EF4-FFF2-40B4-BE49-F238E27FC236}">
                    <a16:creationId xmlns:a16="http://schemas.microsoft.com/office/drawing/2014/main" id="{FF4DB524-D674-63D8-3831-E12855B995C3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ACE5196-12D8-090F-E8C5-78874EF792FB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b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DAA6E4E-50FE-F817-8219-9E468A679ACF}"/>
                </a:ext>
              </a:extLst>
            </p:cNvPr>
            <p:cNvGrpSpPr/>
            <p:nvPr/>
          </p:nvGrpSpPr>
          <p:grpSpPr>
            <a:xfrm rot="5400000">
              <a:off x="8508925" y="1875187"/>
              <a:ext cx="1610686" cy="620887"/>
              <a:chOff x="5743326" y="1438819"/>
              <a:chExt cx="1610686" cy="620887"/>
            </a:xfrm>
          </p:grpSpPr>
          <p:sp>
            <p:nvSpPr>
              <p:cNvPr id="57" name="Minus 107">
                <a:extLst>
                  <a:ext uri="{FF2B5EF4-FFF2-40B4-BE49-F238E27FC236}">
                    <a16:creationId xmlns:a16="http://schemas.microsoft.com/office/drawing/2014/main" id="{1C236DB8-7CB6-5D69-E975-1D139C36C854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7F9CC48-F69A-BD1F-ECEA-D2C2D2FBB960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c</a:t>
                </a:r>
              </a:p>
            </p:txBody>
          </p:sp>
        </p:grpSp>
        <p:sp>
          <p:nvSpPr>
            <p:cNvPr id="55" name="Minus 110">
              <a:extLst>
                <a:ext uri="{FF2B5EF4-FFF2-40B4-BE49-F238E27FC236}">
                  <a16:creationId xmlns:a16="http://schemas.microsoft.com/office/drawing/2014/main" id="{C614E316-2A35-F256-8B9B-FD96E5A1C484}"/>
                </a:ext>
              </a:extLst>
            </p:cNvPr>
            <p:cNvSpPr/>
            <p:nvPr/>
          </p:nvSpPr>
          <p:spPr>
            <a:xfrm rot="5400000">
              <a:off x="8398121" y="739997"/>
              <a:ext cx="1610685" cy="402673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Minus 112">
              <a:extLst>
                <a:ext uri="{FF2B5EF4-FFF2-40B4-BE49-F238E27FC236}">
                  <a16:creationId xmlns:a16="http://schemas.microsoft.com/office/drawing/2014/main" id="{BC466005-6EAC-988C-A5F9-843F2E662C14}"/>
                </a:ext>
              </a:extLst>
            </p:cNvPr>
            <p:cNvSpPr/>
            <p:nvPr/>
          </p:nvSpPr>
          <p:spPr>
            <a:xfrm rot="5400000">
              <a:off x="8399818" y="1984296"/>
              <a:ext cx="1610686" cy="402672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C83D063-BFEB-E8FF-8339-04C163D762BD}"/>
                </a:ext>
              </a:extLst>
            </p:cNvPr>
            <p:cNvGrpSpPr/>
            <p:nvPr/>
          </p:nvGrpSpPr>
          <p:grpSpPr>
            <a:xfrm rot="5400000">
              <a:off x="7133059" y="1875188"/>
              <a:ext cx="1610686" cy="620887"/>
              <a:chOff x="5743326" y="1438819"/>
              <a:chExt cx="1610686" cy="620887"/>
            </a:xfrm>
          </p:grpSpPr>
          <p:sp>
            <p:nvSpPr>
              <p:cNvPr id="53" name="Minus 114">
                <a:extLst>
                  <a:ext uri="{FF2B5EF4-FFF2-40B4-BE49-F238E27FC236}">
                    <a16:creationId xmlns:a16="http://schemas.microsoft.com/office/drawing/2014/main" id="{353200F8-5444-C89E-EEED-2F677F390C98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9FE3004-D3D1-C5FF-6557-C9BA669A31B2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e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DE1A0EA-F1B7-A2AD-3B34-D5A50BE44E28}"/>
                </a:ext>
              </a:extLst>
            </p:cNvPr>
            <p:cNvGrpSpPr/>
            <p:nvPr/>
          </p:nvGrpSpPr>
          <p:grpSpPr>
            <a:xfrm rot="5400000">
              <a:off x="7131362" y="630891"/>
              <a:ext cx="1610686" cy="620887"/>
              <a:chOff x="5743326" y="1438819"/>
              <a:chExt cx="1610686" cy="620887"/>
            </a:xfrm>
          </p:grpSpPr>
          <p:sp>
            <p:nvSpPr>
              <p:cNvPr id="51" name="Minus 117">
                <a:extLst>
                  <a:ext uri="{FF2B5EF4-FFF2-40B4-BE49-F238E27FC236}">
                    <a16:creationId xmlns:a16="http://schemas.microsoft.com/office/drawing/2014/main" id="{82498A8D-5C39-BD66-1C4C-21F646D4403E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D9527E8-9BDA-2199-1555-E9185892A42F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f</a:t>
                </a:r>
              </a:p>
            </p:txBody>
          </p:sp>
        </p:grpSp>
        <p:sp>
          <p:nvSpPr>
            <p:cNvPr id="43" name="Minus 119">
              <a:extLst>
                <a:ext uri="{FF2B5EF4-FFF2-40B4-BE49-F238E27FC236}">
                  <a16:creationId xmlns:a16="http://schemas.microsoft.com/office/drawing/2014/main" id="{D283CEEC-27C8-5971-95B8-B7D73C9696B6}"/>
                </a:ext>
              </a:extLst>
            </p:cNvPr>
            <p:cNvSpPr/>
            <p:nvPr/>
          </p:nvSpPr>
          <p:spPr>
            <a:xfrm rot="5400000">
              <a:off x="7023952" y="1984297"/>
              <a:ext cx="1610686" cy="402672"/>
            </a:xfrm>
            <a:prstGeom prst="mathMinu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2ACF0CC-AF86-F08D-AD1C-4B3F67E6A35E}"/>
                </a:ext>
              </a:extLst>
            </p:cNvPr>
            <p:cNvGrpSpPr/>
            <p:nvPr/>
          </p:nvGrpSpPr>
          <p:grpSpPr>
            <a:xfrm>
              <a:off x="7712025" y="1162275"/>
              <a:ext cx="1610686" cy="616927"/>
              <a:chOff x="5743326" y="1442779"/>
              <a:chExt cx="1610686" cy="616927"/>
            </a:xfrm>
          </p:grpSpPr>
          <p:sp>
            <p:nvSpPr>
              <p:cNvPr id="49" name="Minus 121">
                <a:extLst>
                  <a:ext uri="{FF2B5EF4-FFF2-40B4-BE49-F238E27FC236}">
                    <a16:creationId xmlns:a16="http://schemas.microsoft.com/office/drawing/2014/main" id="{6EBB7B21-6461-FA1E-3F3C-F962C46EBE08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D117EC8-7945-A1CF-721D-8976544E64FB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g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4F5DA16-CBCA-64FE-974A-B1388F3802FF}"/>
                </a:ext>
              </a:extLst>
            </p:cNvPr>
            <p:cNvGrpSpPr/>
            <p:nvPr/>
          </p:nvGrpSpPr>
          <p:grpSpPr>
            <a:xfrm>
              <a:off x="7712025" y="2339863"/>
              <a:ext cx="1610686" cy="616927"/>
              <a:chOff x="5743326" y="1442779"/>
              <a:chExt cx="1610686" cy="616927"/>
            </a:xfrm>
          </p:grpSpPr>
          <p:sp>
            <p:nvSpPr>
              <p:cNvPr id="47" name="Minus 124">
                <a:extLst>
                  <a:ext uri="{FF2B5EF4-FFF2-40B4-BE49-F238E27FC236}">
                    <a16:creationId xmlns:a16="http://schemas.microsoft.com/office/drawing/2014/main" id="{BAF66EA7-DB06-40A4-46EE-876679627CF6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A8FE9C-BAED-0D8B-A578-946D677E3CB4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d</a:t>
                </a: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8031602-6041-21D9-D841-A081E58EC17E}"/>
                </a:ext>
              </a:extLst>
            </p:cNvPr>
            <p:cNvSpPr txBox="1"/>
            <p:nvPr/>
          </p:nvSpPr>
          <p:spPr>
            <a:xfrm>
              <a:off x="8145720" y="2956790"/>
              <a:ext cx="656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Futura T OT" panose="02000000000000000000" pitchFamily="50" charset="0"/>
                </a:rPr>
                <a:t>For 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9EC84C8-6D89-F234-7087-19B8F99F9A8C}"/>
              </a:ext>
            </a:extLst>
          </p:cNvPr>
          <p:cNvGrpSpPr/>
          <p:nvPr/>
        </p:nvGrpSpPr>
        <p:grpSpPr>
          <a:xfrm>
            <a:off x="5292450" y="1321134"/>
            <a:ext cx="1371600" cy="2286000"/>
            <a:chOff x="9663505" y="-19086"/>
            <a:chExt cx="1998450" cy="3345208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4DDEEB1-E649-8E81-15C5-83EC1CF74EDA}"/>
                </a:ext>
              </a:extLst>
            </p:cNvPr>
            <p:cNvGrpSpPr/>
            <p:nvPr/>
          </p:nvGrpSpPr>
          <p:grpSpPr>
            <a:xfrm>
              <a:off x="9749269" y="-19086"/>
              <a:ext cx="1610686" cy="616927"/>
              <a:chOff x="5743326" y="1442779"/>
              <a:chExt cx="1610686" cy="616927"/>
            </a:xfrm>
          </p:grpSpPr>
          <p:sp>
            <p:nvSpPr>
              <p:cNvPr id="89" name="Minus 128">
                <a:extLst>
                  <a:ext uri="{FF2B5EF4-FFF2-40B4-BE49-F238E27FC236}">
                    <a16:creationId xmlns:a16="http://schemas.microsoft.com/office/drawing/2014/main" id="{4B5B72D5-0D27-5AC0-7349-3E539952F282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6E086EC-B0A1-C1B4-6AAD-DAD25CD72D77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a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7B0B143-B559-3B52-181A-51F5FE4C4933}"/>
                </a:ext>
              </a:extLst>
            </p:cNvPr>
            <p:cNvGrpSpPr/>
            <p:nvPr/>
          </p:nvGrpSpPr>
          <p:grpSpPr>
            <a:xfrm rot="5400000">
              <a:off x="10544472" y="630889"/>
              <a:ext cx="1610686" cy="620887"/>
              <a:chOff x="5743326" y="1438819"/>
              <a:chExt cx="1610686" cy="620887"/>
            </a:xfrm>
          </p:grpSpPr>
          <p:sp>
            <p:nvSpPr>
              <p:cNvPr id="87" name="Minus 131">
                <a:extLst>
                  <a:ext uri="{FF2B5EF4-FFF2-40B4-BE49-F238E27FC236}">
                    <a16:creationId xmlns:a16="http://schemas.microsoft.com/office/drawing/2014/main" id="{6003D8DB-9DEB-23EC-5310-42B888881136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843086F-D33F-7D93-5F40-58927D704151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b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8327882-8DF9-6D21-C5B3-619E0893F110}"/>
                </a:ext>
              </a:extLst>
            </p:cNvPr>
            <p:cNvGrpSpPr/>
            <p:nvPr/>
          </p:nvGrpSpPr>
          <p:grpSpPr>
            <a:xfrm rot="5400000">
              <a:off x="10546169" y="1875187"/>
              <a:ext cx="1610686" cy="620887"/>
              <a:chOff x="5743326" y="1438819"/>
              <a:chExt cx="1610686" cy="620887"/>
            </a:xfrm>
          </p:grpSpPr>
          <p:sp>
            <p:nvSpPr>
              <p:cNvPr id="85" name="Minus 134">
                <a:extLst>
                  <a:ext uri="{FF2B5EF4-FFF2-40B4-BE49-F238E27FC236}">
                    <a16:creationId xmlns:a16="http://schemas.microsoft.com/office/drawing/2014/main" id="{20A21119-32B9-3917-AF1C-48959AAEF74F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2E2D4C5-29F2-F36C-0025-8012C2BD48AA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c</a:t>
                </a:r>
              </a:p>
            </p:txBody>
          </p:sp>
        </p:grpSp>
        <p:sp>
          <p:nvSpPr>
            <p:cNvPr id="83" name="Minus 137">
              <a:extLst>
                <a:ext uri="{FF2B5EF4-FFF2-40B4-BE49-F238E27FC236}">
                  <a16:creationId xmlns:a16="http://schemas.microsoft.com/office/drawing/2014/main" id="{26446CAB-88F9-920D-99AD-909CB7A7E4F5}"/>
                </a:ext>
              </a:extLst>
            </p:cNvPr>
            <p:cNvSpPr/>
            <p:nvPr/>
          </p:nvSpPr>
          <p:spPr>
            <a:xfrm rot="5400000">
              <a:off x="10435365" y="739997"/>
              <a:ext cx="1610685" cy="402673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inus 139">
              <a:extLst>
                <a:ext uri="{FF2B5EF4-FFF2-40B4-BE49-F238E27FC236}">
                  <a16:creationId xmlns:a16="http://schemas.microsoft.com/office/drawing/2014/main" id="{387BE919-5347-301D-9854-BF2B4C4CFABC}"/>
                </a:ext>
              </a:extLst>
            </p:cNvPr>
            <p:cNvSpPr/>
            <p:nvPr/>
          </p:nvSpPr>
          <p:spPr>
            <a:xfrm rot="5400000">
              <a:off x="10437062" y="1984296"/>
              <a:ext cx="1610686" cy="402672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B817F551-D543-FAD7-A907-CE1A70E5EF81}"/>
                </a:ext>
              </a:extLst>
            </p:cNvPr>
            <p:cNvGrpSpPr/>
            <p:nvPr/>
          </p:nvGrpSpPr>
          <p:grpSpPr>
            <a:xfrm rot="5400000">
              <a:off x="9170303" y="1875188"/>
              <a:ext cx="1610686" cy="620887"/>
              <a:chOff x="5743326" y="1438819"/>
              <a:chExt cx="1610686" cy="620887"/>
            </a:xfrm>
          </p:grpSpPr>
          <p:sp>
            <p:nvSpPr>
              <p:cNvPr id="81" name="Minus 141">
                <a:extLst>
                  <a:ext uri="{FF2B5EF4-FFF2-40B4-BE49-F238E27FC236}">
                    <a16:creationId xmlns:a16="http://schemas.microsoft.com/office/drawing/2014/main" id="{B87CF71B-4346-33F0-2645-3A6DD0726F6B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DB7766B-6E3F-74E1-55C5-40AB0350F2C2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e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B897B09-BFF5-0F32-820B-FA597FF68E42}"/>
                </a:ext>
              </a:extLst>
            </p:cNvPr>
            <p:cNvGrpSpPr/>
            <p:nvPr/>
          </p:nvGrpSpPr>
          <p:grpSpPr>
            <a:xfrm rot="5400000">
              <a:off x="9168606" y="630891"/>
              <a:ext cx="1610686" cy="620887"/>
              <a:chOff x="5743326" y="1438819"/>
              <a:chExt cx="1610686" cy="620887"/>
            </a:xfrm>
          </p:grpSpPr>
          <p:sp>
            <p:nvSpPr>
              <p:cNvPr id="79" name="Minus 144">
                <a:extLst>
                  <a:ext uri="{FF2B5EF4-FFF2-40B4-BE49-F238E27FC236}">
                    <a16:creationId xmlns:a16="http://schemas.microsoft.com/office/drawing/2014/main" id="{2B70F042-2C9D-48AF-59DF-DF4DECB82691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E488957-393E-8255-5F9A-30EAF729E0D4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f</a:t>
                </a:r>
              </a:p>
            </p:txBody>
          </p:sp>
        </p:grpSp>
        <p:sp>
          <p:nvSpPr>
            <p:cNvPr id="71" name="Minus 146">
              <a:extLst>
                <a:ext uri="{FF2B5EF4-FFF2-40B4-BE49-F238E27FC236}">
                  <a16:creationId xmlns:a16="http://schemas.microsoft.com/office/drawing/2014/main" id="{5DD34D09-88E6-0BF1-EF7B-E9D02A6119C7}"/>
                </a:ext>
              </a:extLst>
            </p:cNvPr>
            <p:cNvSpPr/>
            <p:nvPr/>
          </p:nvSpPr>
          <p:spPr>
            <a:xfrm rot="5400000">
              <a:off x="9061196" y="1984297"/>
              <a:ext cx="1610686" cy="402672"/>
            </a:xfrm>
            <a:prstGeom prst="mathMin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5CDEECE-7B8A-B292-D62B-782056C1095D}"/>
                </a:ext>
              </a:extLst>
            </p:cNvPr>
            <p:cNvGrpSpPr/>
            <p:nvPr/>
          </p:nvGrpSpPr>
          <p:grpSpPr>
            <a:xfrm>
              <a:off x="9749269" y="1162275"/>
              <a:ext cx="1610686" cy="616927"/>
              <a:chOff x="5743326" y="1442779"/>
              <a:chExt cx="1610686" cy="616927"/>
            </a:xfrm>
          </p:grpSpPr>
          <p:sp>
            <p:nvSpPr>
              <p:cNvPr id="77" name="Minus 148">
                <a:extLst>
                  <a:ext uri="{FF2B5EF4-FFF2-40B4-BE49-F238E27FC236}">
                    <a16:creationId xmlns:a16="http://schemas.microsoft.com/office/drawing/2014/main" id="{43D9FEE9-0ED7-A2F6-5369-1371E96A8676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C3A53EF-6BEF-9CDD-9264-C7ABC5F8291D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g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1FA0E3D-D38F-DB49-49F6-FDE0DEE6E807}"/>
                </a:ext>
              </a:extLst>
            </p:cNvPr>
            <p:cNvGrpSpPr/>
            <p:nvPr/>
          </p:nvGrpSpPr>
          <p:grpSpPr>
            <a:xfrm>
              <a:off x="9749269" y="2339863"/>
              <a:ext cx="1610686" cy="616927"/>
              <a:chOff x="5743326" y="1442779"/>
              <a:chExt cx="1610686" cy="616927"/>
            </a:xfrm>
          </p:grpSpPr>
          <p:sp>
            <p:nvSpPr>
              <p:cNvPr id="75" name="Minus 151">
                <a:extLst>
                  <a:ext uri="{FF2B5EF4-FFF2-40B4-BE49-F238E27FC236}">
                    <a16:creationId xmlns:a16="http://schemas.microsoft.com/office/drawing/2014/main" id="{9F44FF41-281A-B7C5-4EC4-9BCFBF557608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12537BB-EAB2-49A0-7FBF-35005E1D4B83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d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6B58F14-D34A-A2D2-2AFA-E682111A091A}"/>
                </a:ext>
              </a:extLst>
            </p:cNvPr>
            <p:cNvSpPr txBox="1"/>
            <p:nvPr/>
          </p:nvSpPr>
          <p:spPr>
            <a:xfrm>
              <a:off x="10182964" y="2956790"/>
              <a:ext cx="656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Futura T OT" panose="02000000000000000000" pitchFamily="50" charset="0"/>
                </a:rPr>
                <a:t>For 2</a:t>
              </a: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FCB1D448-08DC-7C77-7FA8-B87203D36D6E}"/>
              </a:ext>
            </a:extLst>
          </p:cNvPr>
          <p:cNvGrpSpPr/>
          <p:nvPr/>
        </p:nvGrpSpPr>
        <p:grpSpPr>
          <a:xfrm>
            <a:off x="7670611" y="1321134"/>
            <a:ext cx="1605936" cy="2286000"/>
            <a:chOff x="6476789" y="1321134"/>
            <a:chExt cx="1605936" cy="228600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41A2DC0-7140-13B4-E2E2-695C4FB41E9D}"/>
                </a:ext>
              </a:extLst>
            </p:cNvPr>
            <p:cNvSpPr txBox="1"/>
            <p:nvPr/>
          </p:nvSpPr>
          <p:spPr>
            <a:xfrm>
              <a:off x="7673316" y="1781577"/>
              <a:ext cx="3942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Futura T OT" panose="02000000000000000000" pitchFamily="50" charset="0"/>
                </a:rPr>
                <a:t>b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C62E500-34D9-61A9-FFBC-FD8D32D07C5A}"/>
                </a:ext>
              </a:extLst>
            </p:cNvPr>
            <p:cNvSpPr txBox="1"/>
            <p:nvPr/>
          </p:nvSpPr>
          <p:spPr>
            <a:xfrm>
              <a:off x="7688442" y="2676110"/>
              <a:ext cx="3942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Futura T OT" panose="02000000000000000000" pitchFamily="50" charset="0"/>
                </a:rPr>
                <a:t>c</a:t>
              </a:r>
            </a:p>
          </p:txBody>
        </p:sp>
        <p:sp>
          <p:nvSpPr>
            <p:cNvPr id="95" name="Minus 166">
              <a:extLst>
                <a:ext uri="{FF2B5EF4-FFF2-40B4-BE49-F238E27FC236}">
                  <a16:creationId xmlns:a16="http://schemas.microsoft.com/office/drawing/2014/main" id="{3289BA2F-5D3E-6199-3488-A606DEC6FE3E}"/>
                </a:ext>
              </a:extLst>
            </p:cNvPr>
            <p:cNvSpPr/>
            <p:nvPr/>
          </p:nvSpPr>
          <p:spPr>
            <a:xfrm rot="5400000">
              <a:off x="7142924" y="2672641"/>
              <a:ext cx="1100687" cy="310243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Minus 173">
              <a:extLst>
                <a:ext uri="{FF2B5EF4-FFF2-40B4-BE49-F238E27FC236}">
                  <a16:creationId xmlns:a16="http://schemas.microsoft.com/office/drawing/2014/main" id="{C7F1DC40-3FC7-47E8-EEFD-ECB57FF2B233}"/>
                </a:ext>
              </a:extLst>
            </p:cNvPr>
            <p:cNvSpPr/>
            <p:nvPr/>
          </p:nvSpPr>
          <p:spPr>
            <a:xfrm rot="5400000">
              <a:off x="6082874" y="2672642"/>
              <a:ext cx="1100687" cy="310243"/>
            </a:xfrm>
            <a:prstGeom prst="mathMinu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Minus 158">
              <a:extLst>
                <a:ext uri="{FF2B5EF4-FFF2-40B4-BE49-F238E27FC236}">
                  <a16:creationId xmlns:a16="http://schemas.microsoft.com/office/drawing/2014/main" id="{4E4D809F-2CA2-E17F-8707-A07C32EDFBB4}"/>
                </a:ext>
              </a:extLst>
            </p:cNvPr>
            <p:cNvSpPr/>
            <p:nvPr/>
          </p:nvSpPr>
          <p:spPr>
            <a:xfrm rot="5400000">
              <a:off x="7141616" y="1822330"/>
              <a:ext cx="1100687" cy="310243"/>
            </a:xfrm>
            <a:prstGeom prst="mathMin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Minus 161">
              <a:extLst>
                <a:ext uri="{FF2B5EF4-FFF2-40B4-BE49-F238E27FC236}">
                  <a16:creationId xmlns:a16="http://schemas.microsoft.com/office/drawing/2014/main" id="{E3F07230-D7B8-A772-505D-75A0EEFA9ACC}"/>
                </a:ext>
              </a:extLst>
            </p:cNvPr>
            <p:cNvSpPr/>
            <p:nvPr/>
          </p:nvSpPr>
          <p:spPr>
            <a:xfrm rot="5400000">
              <a:off x="7142924" y="2672640"/>
              <a:ext cx="1100687" cy="310243"/>
            </a:xfrm>
            <a:prstGeom prst="mathMin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Minus 164">
              <a:extLst>
                <a:ext uri="{FF2B5EF4-FFF2-40B4-BE49-F238E27FC236}">
                  <a16:creationId xmlns:a16="http://schemas.microsoft.com/office/drawing/2014/main" id="{2E9F0B2A-83FA-9B6E-793D-31D21B874184}"/>
                </a:ext>
              </a:extLst>
            </p:cNvPr>
            <p:cNvSpPr/>
            <p:nvPr/>
          </p:nvSpPr>
          <p:spPr>
            <a:xfrm rot="5400000">
              <a:off x="7141616" y="1822331"/>
              <a:ext cx="1100687" cy="310243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Minus 155">
              <a:extLst>
                <a:ext uri="{FF2B5EF4-FFF2-40B4-BE49-F238E27FC236}">
                  <a16:creationId xmlns:a16="http://schemas.microsoft.com/office/drawing/2014/main" id="{46C3D17E-D147-FCA4-0783-72D35D834D12}"/>
                </a:ext>
              </a:extLst>
            </p:cNvPr>
            <p:cNvSpPr/>
            <p:nvPr/>
          </p:nvSpPr>
          <p:spPr>
            <a:xfrm>
              <a:off x="6542866" y="1467548"/>
              <a:ext cx="1240969" cy="275172"/>
            </a:xfrm>
            <a:prstGeom prst="mathMin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B003742-1C90-A357-1EB4-9995B0779194}"/>
                </a:ext>
              </a:extLst>
            </p:cNvPr>
            <p:cNvSpPr txBox="1"/>
            <p:nvPr/>
          </p:nvSpPr>
          <p:spPr>
            <a:xfrm>
              <a:off x="6978159" y="1321134"/>
              <a:ext cx="303779" cy="252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Futura T OT" panose="02000000000000000000" pitchFamily="50" charset="0"/>
                </a:rPr>
                <a:t>a</a:t>
              </a:r>
            </a:p>
          </p:txBody>
        </p:sp>
        <p:sp>
          <p:nvSpPr>
            <p:cNvPr id="102" name="Minus 168">
              <a:extLst>
                <a:ext uri="{FF2B5EF4-FFF2-40B4-BE49-F238E27FC236}">
                  <a16:creationId xmlns:a16="http://schemas.microsoft.com/office/drawing/2014/main" id="{B540C59C-52E7-DAA5-F0F5-D264B79D2F10}"/>
                </a:ext>
              </a:extLst>
            </p:cNvPr>
            <p:cNvSpPr/>
            <p:nvPr/>
          </p:nvSpPr>
          <p:spPr>
            <a:xfrm rot="5400000">
              <a:off x="6082874" y="2672641"/>
              <a:ext cx="1100687" cy="310243"/>
            </a:xfrm>
            <a:prstGeom prst="mathMinu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FE125C2-0DF8-9A83-A71D-82655D666780}"/>
                </a:ext>
              </a:extLst>
            </p:cNvPr>
            <p:cNvSpPr txBox="1"/>
            <p:nvPr/>
          </p:nvSpPr>
          <p:spPr>
            <a:xfrm>
              <a:off x="6652685" y="2649247"/>
              <a:ext cx="303779" cy="252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Futura T OT" panose="02000000000000000000" pitchFamily="50" charset="0"/>
                </a:rPr>
                <a:t>e</a:t>
              </a:r>
            </a:p>
          </p:txBody>
        </p:sp>
        <p:sp>
          <p:nvSpPr>
            <p:cNvPr id="104" name="Minus 171">
              <a:extLst>
                <a:ext uri="{FF2B5EF4-FFF2-40B4-BE49-F238E27FC236}">
                  <a16:creationId xmlns:a16="http://schemas.microsoft.com/office/drawing/2014/main" id="{C04BE2F7-5AB0-B47B-7B29-C66DECA473E9}"/>
                </a:ext>
              </a:extLst>
            </p:cNvPr>
            <p:cNvSpPr/>
            <p:nvPr/>
          </p:nvSpPr>
          <p:spPr>
            <a:xfrm rot="5400000">
              <a:off x="6081567" y="1822331"/>
              <a:ext cx="1100687" cy="310243"/>
            </a:xfrm>
            <a:prstGeom prst="mathMinu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2470F8AD-E84D-754D-7142-6C0565836BD0}"/>
                </a:ext>
              </a:extLst>
            </p:cNvPr>
            <p:cNvSpPr txBox="1"/>
            <p:nvPr/>
          </p:nvSpPr>
          <p:spPr>
            <a:xfrm>
              <a:off x="6651378" y="1798938"/>
              <a:ext cx="303779" cy="252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Futura T OT" panose="02000000000000000000" pitchFamily="50" charset="0"/>
                </a:rPr>
                <a:t>f</a:t>
              </a:r>
            </a:p>
          </p:txBody>
        </p:sp>
        <p:sp>
          <p:nvSpPr>
            <p:cNvPr id="106" name="Minus 175">
              <a:extLst>
                <a:ext uri="{FF2B5EF4-FFF2-40B4-BE49-F238E27FC236}">
                  <a16:creationId xmlns:a16="http://schemas.microsoft.com/office/drawing/2014/main" id="{01DFA31E-EC3E-A3B4-6683-12535A47CB53}"/>
                </a:ext>
              </a:extLst>
            </p:cNvPr>
            <p:cNvSpPr/>
            <p:nvPr/>
          </p:nvSpPr>
          <p:spPr>
            <a:xfrm>
              <a:off x="6542866" y="2274850"/>
              <a:ext cx="1240969" cy="275172"/>
            </a:xfrm>
            <a:prstGeom prst="mathMin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81376AD-FA12-94F0-5AF0-0959F963F798}"/>
                </a:ext>
              </a:extLst>
            </p:cNvPr>
            <p:cNvSpPr txBox="1"/>
            <p:nvPr/>
          </p:nvSpPr>
          <p:spPr>
            <a:xfrm>
              <a:off x="6978159" y="2128435"/>
              <a:ext cx="303779" cy="252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Futura T OT" panose="02000000000000000000" pitchFamily="50" charset="0"/>
                </a:rPr>
                <a:t>g</a:t>
              </a:r>
            </a:p>
          </p:txBody>
        </p:sp>
        <p:sp>
          <p:nvSpPr>
            <p:cNvPr id="108" name="Minus 178">
              <a:extLst>
                <a:ext uri="{FF2B5EF4-FFF2-40B4-BE49-F238E27FC236}">
                  <a16:creationId xmlns:a16="http://schemas.microsoft.com/office/drawing/2014/main" id="{0ED88E9C-1B3A-ECFB-02CE-A150A58E86C6}"/>
                </a:ext>
              </a:extLst>
            </p:cNvPr>
            <p:cNvSpPr/>
            <p:nvPr/>
          </p:nvSpPr>
          <p:spPr>
            <a:xfrm>
              <a:off x="6542866" y="3079573"/>
              <a:ext cx="1240969" cy="275172"/>
            </a:xfrm>
            <a:prstGeom prst="mathMin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6B03F49-7B7C-98BE-3CBE-6C6E57250864}"/>
                </a:ext>
              </a:extLst>
            </p:cNvPr>
            <p:cNvSpPr txBox="1"/>
            <p:nvPr/>
          </p:nvSpPr>
          <p:spPr>
            <a:xfrm>
              <a:off x="6978159" y="2933159"/>
              <a:ext cx="303779" cy="252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Futura T OT" panose="02000000000000000000" pitchFamily="50" charset="0"/>
                </a:rPr>
                <a:t>d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620CE21-451B-7B46-86B8-F68FD7C8FEED}"/>
                </a:ext>
              </a:extLst>
            </p:cNvPr>
            <p:cNvSpPr txBox="1"/>
            <p:nvPr/>
          </p:nvSpPr>
          <p:spPr>
            <a:xfrm>
              <a:off x="6877011" y="3354745"/>
              <a:ext cx="506074" cy="252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Futura T OT" panose="02000000000000000000" pitchFamily="50" charset="0"/>
                </a:rPr>
                <a:t>For 3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AF3FA93-B669-67CF-572F-58D3C7346DCC}"/>
              </a:ext>
            </a:extLst>
          </p:cNvPr>
          <p:cNvGrpSpPr/>
          <p:nvPr/>
        </p:nvGrpSpPr>
        <p:grpSpPr>
          <a:xfrm>
            <a:off x="10283107" y="1321134"/>
            <a:ext cx="1371600" cy="2286000"/>
            <a:chOff x="7712024" y="3506968"/>
            <a:chExt cx="1998450" cy="3345208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B7C67F40-3713-F20D-A689-667643981392}"/>
                </a:ext>
              </a:extLst>
            </p:cNvPr>
            <p:cNvGrpSpPr/>
            <p:nvPr/>
          </p:nvGrpSpPr>
          <p:grpSpPr>
            <a:xfrm>
              <a:off x="7797788" y="3506968"/>
              <a:ext cx="1610686" cy="616927"/>
              <a:chOff x="5743326" y="1442779"/>
              <a:chExt cx="1610686" cy="616927"/>
            </a:xfrm>
          </p:grpSpPr>
          <p:sp>
            <p:nvSpPr>
              <p:cNvPr id="137" name="Minus 182">
                <a:extLst>
                  <a:ext uri="{FF2B5EF4-FFF2-40B4-BE49-F238E27FC236}">
                    <a16:creationId xmlns:a16="http://schemas.microsoft.com/office/drawing/2014/main" id="{3AD83CB3-9489-970B-37FA-E5CBFBFB6365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EDAB766-41F1-F826-F7DF-6079BC767A54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a</a:t>
                </a: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0D58D388-414D-E7CD-A333-E5D72ABAD449}"/>
                </a:ext>
              </a:extLst>
            </p:cNvPr>
            <p:cNvGrpSpPr/>
            <p:nvPr/>
          </p:nvGrpSpPr>
          <p:grpSpPr>
            <a:xfrm rot="5400000">
              <a:off x="8592991" y="4156943"/>
              <a:ext cx="1610686" cy="620887"/>
              <a:chOff x="5743326" y="1438819"/>
              <a:chExt cx="1610686" cy="620887"/>
            </a:xfrm>
          </p:grpSpPr>
          <p:sp>
            <p:nvSpPr>
              <p:cNvPr id="135" name="Minus 185">
                <a:extLst>
                  <a:ext uri="{FF2B5EF4-FFF2-40B4-BE49-F238E27FC236}">
                    <a16:creationId xmlns:a16="http://schemas.microsoft.com/office/drawing/2014/main" id="{B6E85E1C-5FA3-1BA4-40C8-A7F4EC40C32E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E59EA1CB-7C56-D1FE-2458-3E1B23044EE2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b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955645F-ADD5-245C-708A-0A799760CDD8}"/>
                </a:ext>
              </a:extLst>
            </p:cNvPr>
            <p:cNvGrpSpPr/>
            <p:nvPr/>
          </p:nvGrpSpPr>
          <p:grpSpPr>
            <a:xfrm rot="5400000">
              <a:off x="8594688" y="5401241"/>
              <a:ext cx="1610686" cy="620887"/>
              <a:chOff x="5743326" y="1438819"/>
              <a:chExt cx="1610686" cy="620887"/>
            </a:xfrm>
          </p:grpSpPr>
          <p:sp>
            <p:nvSpPr>
              <p:cNvPr id="133" name="Minus 188">
                <a:extLst>
                  <a:ext uri="{FF2B5EF4-FFF2-40B4-BE49-F238E27FC236}">
                    <a16:creationId xmlns:a16="http://schemas.microsoft.com/office/drawing/2014/main" id="{1025E114-44C3-0BC6-F2FF-DD9333C29202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49AB3BDD-EFFD-DC9E-E1D8-D251BE7F1D9D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c</a:t>
                </a:r>
              </a:p>
            </p:txBody>
          </p:sp>
        </p:grpSp>
        <p:sp>
          <p:nvSpPr>
            <p:cNvPr id="131" name="Minus 191">
              <a:extLst>
                <a:ext uri="{FF2B5EF4-FFF2-40B4-BE49-F238E27FC236}">
                  <a16:creationId xmlns:a16="http://schemas.microsoft.com/office/drawing/2014/main" id="{4C6F4D52-E674-0A94-3C77-C3A1EB5AC212}"/>
                </a:ext>
              </a:extLst>
            </p:cNvPr>
            <p:cNvSpPr/>
            <p:nvPr/>
          </p:nvSpPr>
          <p:spPr>
            <a:xfrm rot="5400000">
              <a:off x="8483884" y="4266053"/>
              <a:ext cx="1610685" cy="402673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Minus 193">
              <a:extLst>
                <a:ext uri="{FF2B5EF4-FFF2-40B4-BE49-F238E27FC236}">
                  <a16:creationId xmlns:a16="http://schemas.microsoft.com/office/drawing/2014/main" id="{ECB13E92-7C1E-AE7B-AB27-EEE88D94CAC2}"/>
                </a:ext>
              </a:extLst>
            </p:cNvPr>
            <p:cNvSpPr/>
            <p:nvPr/>
          </p:nvSpPr>
          <p:spPr>
            <a:xfrm rot="5400000">
              <a:off x="8485581" y="5510350"/>
              <a:ext cx="1610686" cy="402672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90E79325-34EA-BE1A-F575-C6E622A71A21}"/>
                </a:ext>
              </a:extLst>
            </p:cNvPr>
            <p:cNvGrpSpPr/>
            <p:nvPr/>
          </p:nvGrpSpPr>
          <p:grpSpPr>
            <a:xfrm rot="5400000">
              <a:off x="7218822" y="5401242"/>
              <a:ext cx="1610686" cy="620887"/>
              <a:chOff x="5743326" y="1438819"/>
              <a:chExt cx="1610686" cy="620887"/>
            </a:xfrm>
          </p:grpSpPr>
          <p:sp>
            <p:nvSpPr>
              <p:cNvPr id="129" name="Minus 195">
                <a:extLst>
                  <a:ext uri="{FF2B5EF4-FFF2-40B4-BE49-F238E27FC236}">
                    <a16:creationId xmlns:a16="http://schemas.microsoft.com/office/drawing/2014/main" id="{19AF749D-6A3A-E5E2-0CB1-13865C17B13E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EA107BBF-4563-2B60-0EA7-3B6FEB160BA2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e</a:t>
                </a:r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D65EDB3E-A3FE-3E58-75C9-BA65BB5D549E}"/>
                </a:ext>
              </a:extLst>
            </p:cNvPr>
            <p:cNvGrpSpPr/>
            <p:nvPr/>
          </p:nvGrpSpPr>
          <p:grpSpPr>
            <a:xfrm rot="5400000">
              <a:off x="7217125" y="4156945"/>
              <a:ext cx="1610686" cy="620887"/>
              <a:chOff x="5743326" y="1438819"/>
              <a:chExt cx="1610686" cy="620887"/>
            </a:xfrm>
          </p:grpSpPr>
          <p:sp>
            <p:nvSpPr>
              <p:cNvPr id="127" name="Minus 198">
                <a:extLst>
                  <a:ext uri="{FF2B5EF4-FFF2-40B4-BE49-F238E27FC236}">
                    <a16:creationId xmlns:a16="http://schemas.microsoft.com/office/drawing/2014/main" id="{485BBA6A-14A1-3D73-0123-6284AF657BA8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CB11147-13C8-A441-1000-D069B1AD3E1A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f</a:t>
                </a:r>
              </a:p>
            </p:txBody>
          </p:sp>
        </p:grpSp>
        <p:sp>
          <p:nvSpPr>
            <p:cNvPr id="119" name="Minus 200">
              <a:extLst>
                <a:ext uri="{FF2B5EF4-FFF2-40B4-BE49-F238E27FC236}">
                  <a16:creationId xmlns:a16="http://schemas.microsoft.com/office/drawing/2014/main" id="{2D7FA025-1D91-C77F-7F4D-4AFD2807FEC4}"/>
                </a:ext>
              </a:extLst>
            </p:cNvPr>
            <p:cNvSpPr/>
            <p:nvPr/>
          </p:nvSpPr>
          <p:spPr>
            <a:xfrm rot="5400000">
              <a:off x="7109715" y="5510351"/>
              <a:ext cx="1610686" cy="402672"/>
            </a:xfrm>
            <a:prstGeom prst="mathMinu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32E24999-99F9-476E-51E3-610E4AF83572}"/>
                </a:ext>
              </a:extLst>
            </p:cNvPr>
            <p:cNvGrpSpPr/>
            <p:nvPr/>
          </p:nvGrpSpPr>
          <p:grpSpPr>
            <a:xfrm>
              <a:off x="7797788" y="4688329"/>
              <a:ext cx="1610686" cy="616927"/>
              <a:chOff x="5743326" y="1442779"/>
              <a:chExt cx="1610686" cy="616927"/>
            </a:xfrm>
          </p:grpSpPr>
          <p:sp>
            <p:nvSpPr>
              <p:cNvPr id="125" name="Minus 202">
                <a:extLst>
                  <a:ext uri="{FF2B5EF4-FFF2-40B4-BE49-F238E27FC236}">
                    <a16:creationId xmlns:a16="http://schemas.microsoft.com/office/drawing/2014/main" id="{384995A1-3B8E-AC00-1035-D85078977D2C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D1B891DA-6770-84A3-2DDD-A1BA32D7A423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g</a:t>
                </a: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804CCA87-2A83-15B9-C923-817EB9C3EC14}"/>
                </a:ext>
              </a:extLst>
            </p:cNvPr>
            <p:cNvGrpSpPr/>
            <p:nvPr/>
          </p:nvGrpSpPr>
          <p:grpSpPr>
            <a:xfrm>
              <a:off x="7797788" y="5865917"/>
              <a:ext cx="1610686" cy="616927"/>
              <a:chOff x="5743326" y="1442779"/>
              <a:chExt cx="1610686" cy="616927"/>
            </a:xfrm>
          </p:grpSpPr>
          <p:sp>
            <p:nvSpPr>
              <p:cNvPr id="123" name="Minus 205">
                <a:extLst>
                  <a:ext uri="{FF2B5EF4-FFF2-40B4-BE49-F238E27FC236}">
                    <a16:creationId xmlns:a16="http://schemas.microsoft.com/office/drawing/2014/main" id="{CE5B7A98-8263-BEE0-6F9F-206619AC3F0C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9702C653-46E2-B8D6-ED95-473E4046136E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d</a:t>
                </a:r>
              </a:p>
            </p:txBody>
          </p:sp>
        </p:grp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D2C6B96-CFFB-0512-3497-25BF6A16329F}"/>
                </a:ext>
              </a:extLst>
            </p:cNvPr>
            <p:cNvSpPr txBox="1"/>
            <p:nvPr/>
          </p:nvSpPr>
          <p:spPr>
            <a:xfrm>
              <a:off x="8231483" y="6482844"/>
              <a:ext cx="656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Futura T OT" panose="02000000000000000000" pitchFamily="50" charset="0"/>
                </a:rPr>
                <a:t>For 4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B0BD517-52BE-1E4A-D5EB-C9D7FE4DA2C2}"/>
              </a:ext>
            </a:extLst>
          </p:cNvPr>
          <p:cNvGrpSpPr/>
          <p:nvPr/>
        </p:nvGrpSpPr>
        <p:grpSpPr>
          <a:xfrm>
            <a:off x="507050" y="4206158"/>
            <a:ext cx="1371600" cy="2286000"/>
            <a:chOff x="9749268" y="3506968"/>
            <a:chExt cx="1998450" cy="3345208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3A07565E-D6FD-CB42-75F2-1B8106FC83CE}"/>
                </a:ext>
              </a:extLst>
            </p:cNvPr>
            <p:cNvGrpSpPr/>
            <p:nvPr/>
          </p:nvGrpSpPr>
          <p:grpSpPr>
            <a:xfrm>
              <a:off x="9835032" y="3506968"/>
              <a:ext cx="1610686" cy="616927"/>
              <a:chOff x="5743326" y="1442779"/>
              <a:chExt cx="1610686" cy="616927"/>
            </a:xfrm>
          </p:grpSpPr>
          <p:sp>
            <p:nvSpPr>
              <p:cNvPr id="165" name="Minus 209">
                <a:extLst>
                  <a:ext uri="{FF2B5EF4-FFF2-40B4-BE49-F238E27FC236}">
                    <a16:creationId xmlns:a16="http://schemas.microsoft.com/office/drawing/2014/main" id="{45716DA6-5B1B-9297-365C-23F5B8E15C21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70AF08AB-2938-186C-1D30-96175699DC02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a</a:t>
                </a: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B5C9ECA4-0DC2-A7E8-434B-3355CDC9CBF2}"/>
                </a:ext>
              </a:extLst>
            </p:cNvPr>
            <p:cNvGrpSpPr/>
            <p:nvPr/>
          </p:nvGrpSpPr>
          <p:grpSpPr>
            <a:xfrm rot="5400000">
              <a:off x="10630235" y="4156943"/>
              <a:ext cx="1610686" cy="620887"/>
              <a:chOff x="5743326" y="1438819"/>
              <a:chExt cx="1610686" cy="620887"/>
            </a:xfrm>
          </p:grpSpPr>
          <p:sp>
            <p:nvSpPr>
              <p:cNvPr id="163" name="Minus 212">
                <a:extLst>
                  <a:ext uri="{FF2B5EF4-FFF2-40B4-BE49-F238E27FC236}">
                    <a16:creationId xmlns:a16="http://schemas.microsoft.com/office/drawing/2014/main" id="{DFB95AE9-0F9C-5B98-5C5C-A5CBB1B22883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0762A0AB-8E8B-B1E6-F0FB-BA3E70C15305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b</a:t>
                </a:r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FF25ED3-31B7-8E29-9ABA-EEBAF223E195}"/>
                </a:ext>
              </a:extLst>
            </p:cNvPr>
            <p:cNvGrpSpPr/>
            <p:nvPr/>
          </p:nvGrpSpPr>
          <p:grpSpPr>
            <a:xfrm rot="5400000">
              <a:off x="10631932" y="5401241"/>
              <a:ext cx="1610686" cy="620887"/>
              <a:chOff x="5743326" y="1438819"/>
              <a:chExt cx="1610686" cy="620887"/>
            </a:xfrm>
          </p:grpSpPr>
          <p:sp>
            <p:nvSpPr>
              <p:cNvPr id="161" name="Minus 215">
                <a:extLst>
                  <a:ext uri="{FF2B5EF4-FFF2-40B4-BE49-F238E27FC236}">
                    <a16:creationId xmlns:a16="http://schemas.microsoft.com/office/drawing/2014/main" id="{5A0E488A-CF76-EC50-79B8-B2E0C88E813C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D0833EA-7D74-2630-6AA5-9E6C15396E37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c</a:t>
                </a: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F4849967-AF68-F601-108D-D4AAF1560475}"/>
                </a:ext>
              </a:extLst>
            </p:cNvPr>
            <p:cNvGrpSpPr/>
            <p:nvPr/>
          </p:nvGrpSpPr>
          <p:grpSpPr>
            <a:xfrm rot="5400000">
              <a:off x="10630235" y="4156944"/>
              <a:ext cx="1610686" cy="620887"/>
              <a:chOff x="5743326" y="1438819"/>
              <a:chExt cx="1610686" cy="620887"/>
            </a:xfrm>
          </p:grpSpPr>
          <p:sp>
            <p:nvSpPr>
              <p:cNvPr id="159" name="Minus 218">
                <a:extLst>
                  <a:ext uri="{FF2B5EF4-FFF2-40B4-BE49-F238E27FC236}">
                    <a16:creationId xmlns:a16="http://schemas.microsoft.com/office/drawing/2014/main" id="{C0FFC752-DE7C-2A2E-6B91-789652EA82A7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29825513-5118-4053-6F39-E154A705B2AA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b</a:t>
                </a:r>
              </a:p>
            </p:txBody>
          </p:sp>
        </p:grpSp>
        <p:sp>
          <p:nvSpPr>
            <p:cNvPr id="144" name="Minus 220">
              <a:extLst>
                <a:ext uri="{FF2B5EF4-FFF2-40B4-BE49-F238E27FC236}">
                  <a16:creationId xmlns:a16="http://schemas.microsoft.com/office/drawing/2014/main" id="{9919334D-DB7C-9DEF-1995-EA246F0541CF}"/>
                </a:ext>
              </a:extLst>
            </p:cNvPr>
            <p:cNvSpPr/>
            <p:nvPr/>
          </p:nvSpPr>
          <p:spPr>
            <a:xfrm rot="5400000">
              <a:off x="10522825" y="5510350"/>
              <a:ext cx="1610686" cy="402672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69E4512E-A34B-71BB-200B-0255D3D355D6}"/>
                </a:ext>
              </a:extLst>
            </p:cNvPr>
            <p:cNvGrpSpPr/>
            <p:nvPr/>
          </p:nvGrpSpPr>
          <p:grpSpPr>
            <a:xfrm rot="5400000">
              <a:off x="9256066" y="5401242"/>
              <a:ext cx="1610686" cy="620887"/>
              <a:chOff x="5743326" y="1438819"/>
              <a:chExt cx="1610686" cy="620887"/>
            </a:xfrm>
          </p:grpSpPr>
          <p:sp>
            <p:nvSpPr>
              <p:cNvPr id="157" name="Minus 222">
                <a:extLst>
                  <a:ext uri="{FF2B5EF4-FFF2-40B4-BE49-F238E27FC236}">
                    <a16:creationId xmlns:a16="http://schemas.microsoft.com/office/drawing/2014/main" id="{754679E5-0F93-5901-AC10-A2B9184B8A97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275511B1-F674-962B-23F4-3F36CC5F029B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e</a:t>
                </a:r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A6D09C77-B4A4-BE68-4D33-105443C309E3}"/>
                </a:ext>
              </a:extLst>
            </p:cNvPr>
            <p:cNvGrpSpPr/>
            <p:nvPr/>
          </p:nvGrpSpPr>
          <p:grpSpPr>
            <a:xfrm rot="5400000">
              <a:off x="9254369" y="4156945"/>
              <a:ext cx="1610686" cy="620887"/>
              <a:chOff x="5743326" y="1438819"/>
              <a:chExt cx="1610686" cy="620887"/>
            </a:xfrm>
          </p:grpSpPr>
          <p:sp>
            <p:nvSpPr>
              <p:cNvPr id="155" name="Minus 225">
                <a:extLst>
                  <a:ext uri="{FF2B5EF4-FFF2-40B4-BE49-F238E27FC236}">
                    <a16:creationId xmlns:a16="http://schemas.microsoft.com/office/drawing/2014/main" id="{69114603-5155-BC6B-BF6C-A31D983A9382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6FFE9888-BB1E-0102-56E8-1484ECB29A05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f</a:t>
                </a:r>
              </a:p>
            </p:txBody>
          </p:sp>
        </p:grpSp>
        <p:sp>
          <p:nvSpPr>
            <p:cNvPr id="147" name="Minus 227">
              <a:extLst>
                <a:ext uri="{FF2B5EF4-FFF2-40B4-BE49-F238E27FC236}">
                  <a16:creationId xmlns:a16="http://schemas.microsoft.com/office/drawing/2014/main" id="{5AA0596E-776A-05F7-3388-A83DDF3FF635}"/>
                </a:ext>
              </a:extLst>
            </p:cNvPr>
            <p:cNvSpPr/>
            <p:nvPr/>
          </p:nvSpPr>
          <p:spPr>
            <a:xfrm rot="5400000">
              <a:off x="9146959" y="5510351"/>
              <a:ext cx="1610686" cy="402672"/>
            </a:xfrm>
            <a:prstGeom prst="mathMinu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B39CEB07-76EF-5526-A1ED-3AA5E65FEA8F}"/>
                </a:ext>
              </a:extLst>
            </p:cNvPr>
            <p:cNvGrpSpPr/>
            <p:nvPr/>
          </p:nvGrpSpPr>
          <p:grpSpPr>
            <a:xfrm>
              <a:off x="9835032" y="4688329"/>
              <a:ext cx="1610686" cy="616927"/>
              <a:chOff x="5743326" y="1442779"/>
              <a:chExt cx="1610686" cy="616927"/>
            </a:xfrm>
          </p:grpSpPr>
          <p:sp>
            <p:nvSpPr>
              <p:cNvPr id="153" name="Minus 229">
                <a:extLst>
                  <a:ext uri="{FF2B5EF4-FFF2-40B4-BE49-F238E27FC236}">
                    <a16:creationId xmlns:a16="http://schemas.microsoft.com/office/drawing/2014/main" id="{6C64AAD6-AF40-AC09-130A-98151518D657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E4F6ABA-31EF-96AA-A846-B3AF3BA91AD2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g</a:t>
                </a:r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70999819-FB41-6AA6-63A5-B253A8C2DA5C}"/>
                </a:ext>
              </a:extLst>
            </p:cNvPr>
            <p:cNvGrpSpPr/>
            <p:nvPr/>
          </p:nvGrpSpPr>
          <p:grpSpPr>
            <a:xfrm>
              <a:off x="9835032" y="5865917"/>
              <a:ext cx="1610686" cy="616927"/>
              <a:chOff x="5743326" y="1442779"/>
              <a:chExt cx="1610686" cy="616927"/>
            </a:xfrm>
          </p:grpSpPr>
          <p:sp>
            <p:nvSpPr>
              <p:cNvPr id="151" name="Minus 232">
                <a:extLst>
                  <a:ext uri="{FF2B5EF4-FFF2-40B4-BE49-F238E27FC236}">
                    <a16:creationId xmlns:a16="http://schemas.microsoft.com/office/drawing/2014/main" id="{3B4B4E77-EE64-4892-2EE4-8BB35E8A4A5A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9ACBC523-68F4-5A1A-B58F-E63B9E1B8645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d</a:t>
                </a:r>
              </a:p>
            </p:txBody>
          </p: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6274291-D772-CE3F-1A27-581B8DCF099B}"/>
                </a:ext>
              </a:extLst>
            </p:cNvPr>
            <p:cNvSpPr txBox="1"/>
            <p:nvPr/>
          </p:nvSpPr>
          <p:spPr>
            <a:xfrm>
              <a:off x="10268727" y="6482844"/>
              <a:ext cx="656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Futura T OT" panose="02000000000000000000" pitchFamily="50" charset="0"/>
                </a:rPr>
                <a:t>For 5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F663407-C782-31F1-E2C0-91353D09B8D5}"/>
              </a:ext>
            </a:extLst>
          </p:cNvPr>
          <p:cNvGrpSpPr/>
          <p:nvPr/>
        </p:nvGrpSpPr>
        <p:grpSpPr>
          <a:xfrm>
            <a:off x="7842599" y="4206158"/>
            <a:ext cx="1371600" cy="2286000"/>
            <a:chOff x="5589017" y="-19086"/>
            <a:chExt cx="1998450" cy="3345208"/>
          </a:xfrm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E088310C-3CF6-68A5-001B-51B1E1DBFA7F}"/>
                </a:ext>
              </a:extLst>
            </p:cNvPr>
            <p:cNvGrpSpPr/>
            <p:nvPr/>
          </p:nvGrpSpPr>
          <p:grpSpPr>
            <a:xfrm>
              <a:off x="5674781" y="-19086"/>
              <a:ext cx="1610686" cy="616927"/>
              <a:chOff x="5743326" y="1442779"/>
              <a:chExt cx="1610686" cy="616927"/>
            </a:xfrm>
          </p:grpSpPr>
          <p:sp>
            <p:nvSpPr>
              <p:cNvPr id="193" name="Minus 3">
                <a:extLst>
                  <a:ext uri="{FF2B5EF4-FFF2-40B4-BE49-F238E27FC236}">
                    <a16:creationId xmlns:a16="http://schemas.microsoft.com/office/drawing/2014/main" id="{29AFBACA-A583-E132-1843-68C8FA01BEC9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B5BEBD77-C127-E9E4-01FD-2573FCFCE622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a</a:t>
                </a: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69213852-2E87-746E-F31F-AE66E0BF4551}"/>
                </a:ext>
              </a:extLst>
            </p:cNvPr>
            <p:cNvGrpSpPr/>
            <p:nvPr/>
          </p:nvGrpSpPr>
          <p:grpSpPr>
            <a:xfrm rot="5400000">
              <a:off x="6469984" y="630889"/>
              <a:ext cx="1610686" cy="620887"/>
              <a:chOff x="5743326" y="1438819"/>
              <a:chExt cx="1610686" cy="620887"/>
            </a:xfrm>
          </p:grpSpPr>
          <p:sp>
            <p:nvSpPr>
              <p:cNvPr id="191" name="Minus 41">
                <a:extLst>
                  <a:ext uri="{FF2B5EF4-FFF2-40B4-BE49-F238E27FC236}">
                    <a16:creationId xmlns:a16="http://schemas.microsoft.com/office/drawing/2014/main" id="{B517EB2B-127E-02D0-0DF8-70BCFA0C53DA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0611A02-8983-542F-C7EC-ED95D35FB6C6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b</a:t>
                </a: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1C47729B-A293-D765-72E1-93BBE2D2E436}"/>
                </a:ext>
              </a:extLst>
            </p:cNvPr>
            <p:cNvGrpSpPr/>
            <p:nvPr/>
          </p:nvGrpSpPr>
          <p:grpSpPr>
            <a:xfrm rot="5400000">
              <a:off x="6471681" y="1875187"/>
              <a:ext cx="1610686" cy="620887"/>
              <a:chOff x="5743326" y="1438819"/>
              <a:chExt cx="1610686" cy="620887"/>
            </a:xfrm>
          </p:grpSpPr>
          <p:sp>
            <p:nvSpPr>
              <p:cNvPr id="189" name="Minus 53">
                <a:extLst>
                  <a:ext uri="{FF2B5EF4-FFF2-40B4-BE49-F238E27FC236}">
                    <a16:creationId xmlns:a16="http://schemas.microsoft.com/office/drawing/2014/main" id="{F0FDAE89-156A-90E8-2133-DB39AB9641C2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65F9325-3133-618A-E841-18DFD08AEDE9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c</a:t>
                </a:r>
              </a:p>
            </p:txBody>
          </p:sp>
        </p:grpSp>
        <p:sp>
          <p:nvSpPr>
            <p:cNvPr id="187" name="Minus 56">
              <a:extLst>
                <a:ext uri="{FF2B5EF4-FFF2-40B4-BE49-F238E27FC236}">
                  <a16:creationId xmlns:a16="http://schemas.microsoft.com/office/drawing/2014/main" id="{BEF64446-A49E-65E9-745A-06B77B1E70C9}"/>
                </a:ext>
              </a:extLst>
            </p:cNvPr>
            <p:cNvSpPr/>
            <p:nvPr/>
          </p:nvSpPr>
          <p:spPr>
            <a:xfrm rot="5400000">
              <a:off x="6360877" y="739998"/>
              <a:ext cx="1610686" cy="402673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Minus 59">
              <a:extLst>
                <a:ext uri="{FF2B5EF4-FFF2-40B4-BE49-F238E27FC236}">
                  <a16:creationId xmlns:a16="http://schemas.microsoft.com/office/drawing/2014/main" id="{A6612A41-C009-BBB8-ABF0-6419DDAC0F40}"/>
                </a:ext>
              </a:extLst>
            </p:cNvPr>
            <p:cNvSpPr/>
            <p:nvPr/>
          </p:nvSpPr>
          <p:spPr>
            <a:xfrm rot="5400000">
              <a:off x="6362574" y="1984296"/>
              <a:ext cx="1610686" cy="402672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7055CBA9-F15E-6557-90B5-3F4B7DF91F7B}"/>
                </a:ext>
              </a:extLst>
            </p:cNvPr>
            <p:cNvGrpSpPr/>
            <p:nvPr/>
          </p:nvGrpSpPr>
          <p:grpSpPr>
            <a:xfrm rot="5400000">
              <a:off x="5095815" y="1875188"/>
              <a:ext cx="1610686" cy="620887"/>
              <a:chOff x="5743326" y="1438819"/>
              <a:chExt cx="1610686" cy="620887"/>
            </a:xfrm>
          </p:grpSpPr>
          <p:sp>
            <p:nvSpPr>
              <p:cNvPr id="185" name="Minus 62">
                <a:extLst>
                  <a:ext uri="{FF2B5EF4-FFF2-40B4-BE49-F238E27FC236}">
                    <a16:creationId xmlns:a16="http://schemas.microsoft.com/office/drawing/2014/main" id="{CA36538F-9095-8FFE-8923-83DB0C6A8E29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AB3C153C-5FC9-4178-8B9A-FB62BD74880A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e</a:t>
                </a:r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55BBD3F6-E9FA-4C6B-4CE0-A214AC3CBBB6}"/>
                </a:ext>
              </a:extLst>
            </p:cNvPr>
            <p:cNvGrpSpPr/>
            <p:nvPr/>
          </p:nvGrpSpPr>
          <p:grpSpPr>
            <a:xfrm rot="5400000">
              <a:off x="5094118" y="630891"/>
              <a:ext cx="1610686" cy="620887"/>
              <a:chOff x="5743326" y="1438819"/>
              <a:chExt cx="1610686" cy="620887"/>
            </a:xfrm>
          </p:grpSpPr>
          <p:sp>
            <p:nvSpPr>
              <p:cNvPr id="183" name="Minus 65">
                <a:extLst>
                  <a:ext uri="{FF2B5EF4-FFF2-40B4-BE49-F238E27FC236}">
                    <a16:creationId xmlns:a16="http://schemas.microsoft.com/office/drawing/2014/main" id="{35193836-0277-4EA6-2CA1-CA4A28EC4F41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AB288EF-05F7-F0F2-38E9-F1286CBBA553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f</a:t>
                </a:r>
              </a:p>
            </p:txBody>
          </p:sp>
        </p:grpSp>
        <p:sp>
          <p:nvSpPr>
            <p:cNvPr id="175" name="Minus 68">
              <a:extLst>
                <a:ext uri="{FF2B5EF4-FFF2-40B4-BE49-F238E27FC236}">
                  <a16:creationId xmlns:a16="http://schemas.microsoft.com/office/drawing/2014/main" id="{127F85CF-E1F0-E4FE-556B-7ECDB968A6F9}"/>
                </a:ext>
              </a:extLst>
            </p:cNvPr>
            <p:cNvSpPr/>
            <p:nvPr/>
          </p:nvSpPr>
          <p:spPr>
            <a:xfrm rot="5400000">
              <a:off x="4986708" y="1984297"/>
              <a:ext cx="1610686" cy="402672"/>
            </a:xfrm>
            <a:prstGeom prst="mathMin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878C1173-7E23-52ED-8CE8-DF467C48BA0A}"/>
                </a:ext>
              </a:extLst>
            </p:cNvPr>
            <p:cNvGrpSpPr/>
            <p:nvPr/>
          </p:nvGrpSpPr>
          <p:grpSpPr>
            <a:xfrm>
              <a:off x="5674781" y="1162275"/>
              <a:ext cx="1610686" cy="616927"/>
              <a:chOff x="5743326" y="1442779"/>
              <a:chExt cx="1610686" cy="616927"/>
            </a:xfrm>
          </p:grpSpPr>
          <p:sp>
            <p:nvSpPr>
              <p:cNvPr id="181" name="Minus 71">
                <a:extLst>
                  <a:ext uri="{FF2B5EF4-FFF2-40B4-BE49-F238E27FC236}">
                    <a16:creationId xmlns:a16="http://schemas.microsoft.com/office/drawing/2014/main" id="{AB6BD73B-9710-5D21-A894-586A17E7FC2B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954E792-5F64-F254-312B-E7C0364C5685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g</a:t>
                </a:r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8828181D-80FB-18EE-8BCB-201E1AB7F7A0}"/>
                </a:ext>
              </a:extLst>
            </p:cNvPr>
            <p:cNvGrpSpPr/>
            <p:nvPr/>
          </p:nvGrpSpPr>
          <p:grpSpPr>
            <a:xfrm>
              <a:off x="5674781" y="2339863"/>
              <a:ext cx="1610686" cy="616927"/>
              <a:chOff x="5743326" y="1442779"/>
              <a:chExt cx="1610686" cy="616927"/>
            </a:xfrm>
          </p:grpSpPr>
          <p:sp>
            <p:nvSpPr>
              <p:cNvPr id="179" name="Minus 74">
                <a:extLst>
                  <a:ext uri="{FF2B5EF4-FFF2-40B4-BE49-F238E27FC236}">
                    <a16:creationId xmlns:a16="http://schemas.microsoft.com/office/drawing/2014/main" id="{7DA26A0E-CFAB-A8B5-5E5B-B550543A89AF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36E27222-1504-5EF2-A6D8-2F9523FF35AA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d</a:t>
                </a: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61181338-E355-AF85-DF7B-53D726374462}"/>
                </a:ext>
              </a:extLst>
            </p:cNvPr>
            <p:cNvSpPr txBox="1"/>
            <p:nvPr/>
          </p:nvSpPr>
          <p:spPr>
            <a:xfrm>
              <a:off x="6108476" y="2956790"/>
              <a:ext cx="656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Futura T OT" panose="02000000000000000000" pitchFamily="50" charset="0"/>
                </a:rPr>
                <a:t>For 8</a:t>
              </a: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8AA87847-DE1F-4BD9-CDD0-343FD3676AC5}"/>
              </a:ext>
            </a:extLst>
          </p:cNvPr>
          <p:cNvGrpSpPr/>
          <p:nvPr/>
        </p:nvGrpSpPr>
        <p:grpSpPr>
          <a:xfrm>
            <a:off x="10287782" y="4206158"/>
            <a:ext cx="1371600" cy="2286000"/>
            <a:chOff x="5674780" y="3506968"/>
            <a:chExt cx="1998450" cy="3345208"/>
          </a:xfrm>
        </p:grpSpPr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5433A9BD-2410-F60E-FE11-2BC2E27CF3D2}"/>
                </a:ext>
              </a:extLst>
            </p:cNvPr>
            <p:cNvGrpSpPr/>
            <p:nvPr/>
          </p:nvGrpSpPr>
          <p:grpSpPr>
            <a:xfrm rot="5400000">
              <a:off x="6555747" y="4156943"/>
              <a:ext cx="1610686" cy="620887"/>
              <a:chOff x="5743326" y="1438819"/>
              <a:chExt cx="1610686" cy="620887"/>
            </a:xfrm>
          </p:grpSpPr>
          <p:sp>
            <p:nvSpPr>
              <p:cNvPr id="221" name="Minus 158">
                <a:extLst>
                  <a:ext uri="{FF2B5EF4-FFF2-40B4-BE49-F238E27FC236}">
                    <a16:creationId xmlns:a16="http://schemas.microsoft.com/office/drawing/2014/main" id="{86D6CF58-4BFF-95F4-AD60-863258A42705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315AAF3-FCD6-735B-FAF0-DBAC9C89BF4F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b</a:t>
                </a:r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950EBB63-2010-BFC4-7DBD-18BEEEE58A2D}"/>
                </a:ext>
              </a:extLst>
            </p:cNvPr>
            <p:cNvGrpSpPr/>
            <p:nvPr/>
          </p:nvGrpSpPr>
          <p:grpSpPr>
            <a:xfrm rot="5400000">
              <a:off x="6557444" y="5401241"/>
              <a:ext cx="1610686" cy="620887"/>
              <a:chOff x="5743326" y="1438819"/>
              <a:chExt cx="1610686" cy="620887"/>
            </a:xfrm>
          </p:grpSpPr>
          <p:sp>
            <p:nvSpPr>
              <p:cNvPr id="219" name="Minus 161">
                <a:extLst>
                  <a:ext uri="{FF2B5EF4-FFF2-40B4-BE49-F238E27FC236}">
                    <a16:creationId xmlns:a16="http://schemas.microsoft.com/office/drawing/2014/main" id="{95BEDBA0-514F-1113-E146-7899177A126F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A810C0CC-6FB7-C0B9-FCB9-8159AEFFBFE3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c</a:t>
                </a:r>
              </a:p>
            </p:txBody>
          </p:sp>
        </p:grpSp>
        <p:sp>
          <p:nvSpPr>
            <p:cNvPr id="217" name="Minus 164">
              <a:extLst>
                <a:ext uri="{FF2B5EF4-FFF2-40B4-BE49-F238E27FC236}">
                  <a16:creationId xmlns:a16="http://schemas.microsoft.com/office/drawing/2014/main" id="{C087CEB4-94C4-EF78-D834-B2E600CF2F8B}"/>
                </a:ext>
              </a:extLst>
            </p:cNvPr>
            <p:cNvSpPr/>
            <p:nvPr/>
          </p:nvSpPr>
          <p:spPr>
            <a:xfrm rot="5400000">
              <a:off x="6446640" y="4266051"/>
              <a:ext cx="1610685" cy="402673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740034D5-4E58-C682-9AD3-6C60A403512D}"/>
                </a:ext>
              </a:extLst>
            </p:cNvPr>
            <p:cNvGrpSpPr/>
            <p:nvPr/>
          </p:nvGrpSpPr>
          <p:grpSpPr>
            <a:xfrm>
              <a:off x="5760544" y="3506968"/>
              <a:ext cx="1610686" cy="616927"/>
              <a:chOff x="5743326" y="1442779"/>
              <a:chExt cx="1610686" cy="616927"/>
            </a:xfrm>
          </p:grpSpPr>
          <p:sp>
            <p:nvSpPr>
              <p:cNvPr id="215" name="Minus 155">
                <a:extLst>
                  <a:ext uri="{FF2B5EF4-FFF2-40B4-BE49-F238E27FC236}">
                    <a16:creationId xmlns:a16="http://schemas.microsoft.com/office/drawing/2014/main" id="{5B7BAC3D-1B61-17AA-6F4A-ED7C14387027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B3877A1-40CB-15BB-0235-2A516932DFAD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a</a:t>
                </a:r>
              </a:p>
            </p:txBody>
          </p:sp>
        </p:grpSp>
        <p:sp>
          <p:nvSpPr>
            <p:cNvPr id="200" name="Minus 166">
              <a:extLst>
                <a:ext uri="{FF2B5EF4-FFF2-40B4-BE49-F238E27FC236}">
                  <a16:creationId xmlns:a16="http://schemas.microsoft.com/office/drawing/2014/main" id="{8DB4EC71-D666-12E6-1E91-446777A652E7}"/>
                </a:ext>
              </a:extLst>
            </p:cNvPr>
            <p:cNvSpPr/>
            <p:nvPr/>
          </p:nvSpPr>
          <p:spPr>
            <a:xfrm rot="5400000">
              <a:off x="6448337" y="5510350"/>
              <a:ext cx="1610686" cy="402672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A692E845-657E-86DC-1A6D-774BD628977E}"/>
                </a:ext>
              </a:extLst>
            </p:cNvPr>
            <p:cNvGrpSpPr/>
            <p:nvPr/>
          </p:nvGrpSpPr>
          <p:grpSpPr>
            <a:xfrm rot="5400000">
              <a:off x="5181578" y="5401242"/>
              <a:ext cx="1610686" cy="620887"/>
              <a:chOff x="5743326" y="1438819"/>
              <a:chExt cx="1610686" cy="620887"/>
            </a:xfrm>
          </p:grpSpPr>
          <p:sp>
            <p:nvSpPr>
              <p:cNvPr id="213" name="Minus 168">
                <a:extLst>
                  <a:ext uri="{FF2B5EF4-FFF2-40B4-BE49-F238E27FC236}">
                    <a16:creationId xmlns:a16="http://schemas.microsoft.com/office/drawing/2014/main" id="{F157E9F7-DC92-9037-D18E-AB4539C465D9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8B2BACE1-D4AF-AF72-D08A-6C0E1F930F86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e</a:t>
                </a:r>
              </a:p>
            </p:txBody>
          </p:sp>
        </p:grp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FB8213EC-1781-2A2F-A016-22A0C22D6A2F}"/>
                </a:ext>
              </a:extLst>
            </p:cNvPr>
            <p:cNvGrpSpPr/>
            <p:nvPr/>
          </p:nvGrpSpPr>
          <p:grpSpPr>
            <a:xfrm rot="5400000">
              <a:off x="5179881" y="4156945"/>
              <a:ext cx="1610686" cy="620887"/>
              <a:chOff x="5743326" y="1438819"/>
              <a:chExt cx="1610686" cy="620887"/>
            </a:xfrm>
          </p:grpSpPr>
          <p:sp>
            <p:nvSpPr>
              <p:cNvPr id="211" name="Minus 171">
                <a:extLst>
                  <a:ext uri="{FF2B5EF4-FFF2-40B4-BE49-F238E27FC236}">
                    <a16:creationId xmlns:a16="http://schemas.microsoft.com/office/drawing/2014/main" id="{662A8BF3-E797-4688-20A6-976E13014A92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D3467161-3456-612A-45D2-3564E6967EC0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f</a:t>
                </a:r>
              </a:p>
            </p:txBody>
          </p:sp>
        </p:grpSp>
        <p:sp>
          <p:nvSpPr>
            <p:cNvPr id="203" name="Minus 173">
              <a:extLst>
                <a:ext uri="{FF2B5EF4-FFF2-40B4-BE49-F238E27FC236}">
                  <a16:creationId xmlns:a16="http://schemas.microsoft.com/office/drawing/2014/main" id="{85FAF218-BDAB-00A4-85F2-6810840A2A3B}"/>
                </a:ext>
              </a:extLst>
            </p:cNvPr>
            <p:cNvSpPr/>
            <p:nvPr/>
          </p:nvSpPr>
          <p:spPr>
            <a:xfrm rot="5400000">
              <a:off x="5072471" y="5510351"/>
              <a:ext cx="1610686" cy="402672"/>
            </a:xfrm>
            <a:prstGeom prst="mathMinu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551A952B-8584-46CE-5607-B610652345D4}"/>
                </a:ext>
              </a:extLst>
            </p:cNvPr>
            <p:cNvGrpSpPr/>
            <p:nvPr/>
          </p:nvGrpSpPr>
          <p:grpSpPr>
            <a:xfrm>
              <a:off x="5760544" y="4688329"/>
              <a:ext cx="1610686" cy="616927"/>
              <a:chOff x="5743326" y="1442779"/>
              <a:chExt cx="1610686" cy="616927"/>
            </a:xfrm>
          </p:grpSpPr>
          <p:sp>
            <p:nvSpPr>
              <p:cNvPr id="209" name="Minus 175">
                <a:extLst>
                  <a:ext uri="{FF2B5EF4-FFF2-40B4-BE49-F238E27FC236}">
                    <a16:creationId xmlns:a16="http://schemas.microsoft.com/office/drawing/2014/main" id="{D55A914D-CB0B-D939-F0A0-C52C286CB83E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20F5ADD8-FA21-3B3F-4BA1-F91866BF5028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g</a:t>
                </a:r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A65129F7-7529-496A-3753-2F4CFF1CCD5E}"/>
                </a:ext>
              </a:extLst>
            </p:cNvPr>
            <p:cNvGrpSpPr/>
            <p:nvPr/>
          </p:nvGrpSpPr>
          <p:grpSpPr>
            <a:xfrm>
              <a:off x="5760544" y="5865917"/>
              <a:ext cx="1610686" cy="616927"/>
              <a:chOff x="5743326" y="1442779"/>
              <a:chExt cx="1610686" cy="616927"/>
            </a:xfrm>
          </p:grpSpPr>
          <p:sp>
            <p:nvSpPr>
              <p:cNvPr id="207" name="Minus 178">
                <a:extLst>
                  <a:ext uri="{FF2B5EF4-FFF2-40B4-BE49-F238E27FC236}">
                    <a16:creationId xmlns:a16="http://schemas.microsoft.com/office/drawing/2014/main" id="{70B1F11F-3D68-DC90-EB6A-A278EB8F6A4F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A526787F-9290-34F5-880A-18559C832DE3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d</a:t>
                </a:r>
              </a:p>
            </p:txBody>
          </p:sp>
        </p:grp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5954AD37-1BD7-79DF-8F36-FAB232BE2089}"/>
                </a:ext>
              </a:extLst>
            </p:cNvPr>
            <p:cNvSpPr txBox="1"/>
            <p:nvPr/>
          </p:nvSpPr>
          <p:spPr>
            <a:xfrm>
              <a:off x="6194239" y="6482844"/>
              <a:ext cx="656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Futura T OT" panose="02000000000000000000" pitchFamily="50" charset="0"/>
                </a:rPr>
                <a:t>For 9</a:t>
              </a:r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A621F03D-CDF6-FA47-7FFA-6914380B8E13}"/>
              </a:ext>
            </a:extLst>
          </p:cNvPr>
          <p:cNvGrpSpPr/>
          <p:nvPr/>
        </p:nvGrpSpPr>
        <p:grpSpPr>
          <a:xfrm>
            <a:off x="5397416" y="4206158"/>
            <a:ext cx="1371600" cy="2286000"/>
            <a:chOff x="7712024" y="3506968"/>
            <a:chExt cx="1998450" cy="3345208"/>
          </a:xfrm>
        </p:grpSpPr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019E7F1F-0446-AB71-DCE4-5793F9796696}"/>
                </a:ext>
              </a:extLst>
            </p:cNvPr>
            <p:cNvGrpSpPr/>
            <p:nvPr/>
          </p:nvGrpSpPr>
          <p:grpSpPr>
            <a:xfrm>
              <a:off x="7797788" y="3506968"/>
              <a:ext cx="1610686" cy="616927"/>
              <a:chOff x="5743326" y="1442779"/>
              <a:chExt cx="1610686" cy="616927"/>
            </a:xfrm>
          </p:grpSpPr>
          <p:sp>
            <p:nvSpPr>
              <p:cNvPr id="249" name="Minus 182">
                <a:extLst>
                  <a:ext uri="{FF2B5EF4-FFF2-40B4-BE49-F238E27FC236}">
                    <a16:creationId xmlns:a16="http://schemas.microsoft.com/office/drawing/2014/main" id="{DD4914B0-E0AF-0F3C-A948-0DA709044B92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FBDAAFA2-20BA-71AD-DFEC-266AB39936F7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a</a:t>
                </a:r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61CDB64-8842-5C0C-F889-2DCAA097DA77}"/>
                </a:ext>
              </a:extLst>
            </p:cNvPr>
            <p:cNvGrpSpPr/>
            <p:nvPr/>
          </p:nvGrpSpPr>
          <p:grpSpPr>
            <a:xfrm rot="5400000">
              <a:off x="8592991" y="4156943"/>
              <a:ext cx="1610686" cy="620887"/>
              <a:chOff x="5743326" y="1438819"/>
              <a:chExt cx="1610686" cy="620887"/>
            </a:xfrm>
          </p:grpSpPr>
          <p:sp>
            <p:nvSpPr>
              <p:cNvPr id="247" name="Minus 185">
                <a:extLst>
                  <a:ext uri="{FF2B5EF4-FFF2-40B4-BE49-F238E27FC236}">
                    <a16:creationId xmlns:a16="http://schemas.microsoft.com/office/drawing/2014/main" id="{26B31EAF-6675-F1D6-F6DA-05514CEBED8F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786E6CCD-7A7A-A057-AE5D-E195F6124900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b</a:t>
                </a:r>
              </a:p>
            </p:txBody>
          </p:sp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D5A19928-4D19-ADFB-8156-2AB2A67A6B67}"/>
                </a:ext>
              </a:extLst>
            </p:cNvPr>
            <p:cNvGrpSpPr/>
            <p:nvPr/>
          </p:nvGrpSpPr>
          <p:grpSpPr>
            <a:xfrm rot="5400000">
              <a:off x="8594688" y="5401241"/>
              <a:ext cx="1610686" cy="620887"/>
              <a:chOff x="5743326" y="1438819"/>
              <a:chExt cx="1610686" cy="620887"/>
            </a:xfrm>
          </p:grpSpPr>
          <p:sp>
            <p:nvSpPr>
              <p:cNvPr id="245" name="Minus 188">
                <a:extLst>
                  <a:ext uri="{FF2B5EF4-FFF2-40B4-BE49-F238E27FC236}">
                    <a16:creationId xmlns:a16="http://schemas.microsoft.com/office/drawing/2014/main" id="{840C8B01-3F3A-A84F-C41D-180519D0D3FD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0362905A-7FA4-84BA-EA5B-AA5AF76E460F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c</a:t>
                </a:r>
              </a:p>
            </p:txBody>
          </p: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DAACF535-9E42-2B69-5475-35119EA077F7}"/>
                </a:ext>
              </a:extLst>
            </p:cNvPr>
            <p:cNvGrpSpPr/>
            <p:nvPr/>
          </p:nvGrpSpPr>
          <p:grpSpPr>
            <a:xfrm rot="5400000">
              <a:off x="8592991" y="4156944"/>
              <a:ext cx="1610686" cy="620887"/>
              <a:chOff x="5743326" y="1438819"/>
              <a:chExt cx="1610686" cy="620887"/>
            </a:xfrm>
          </p:grpSpPr>
          <p:sp>
            <p:nvSpPr>
              <p:cNvPr id="243" name="Minus 191">
                <a:extLst>
                  <a:ext uri="{FF2B5EF4-FFF2-40B4-BE49-F238E27FC236}">
                    <a16:creationId xmlns:a16="http://schemas.microsoft.com/office/drawing/2014/main" id="{74F88AFA-38C2-1B72-C92C-3E182E9B35A8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7ABBF095-B77B-7A85-F5C9-52F4E5F7B14B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b</a:t>
                </a:r>
              </a:p>
            </p:txBody>
          </p:sp>
        </p:grpSp>
        <p:sp>
          <p:nvSpPr>
            <p:cNvPr id="228" name="Minus 193">
              <a:extLst>
                <a:ext uri="{FF2B5EF4-FFF2-40B4-BE49-F238E27FC236}">
                  <a16:creationId xmlns:a16="http://schemas.microsoft.com/office/drawing/2014/main" id="{6D90A6CD-3C87-0482-8115-12F8B50B8EEF}"/>
                </a:ext>
              </a:extLst>
            </p:cNvPr>
            <p:cNvSpPr/>
            <p:nvPr/>
          </p:nvSpPr>
          <p:spPr>
            <a:xfrm rot="5400000">
              <a:off x="8485581" y="5510350"/>
              <a:ext cx="1610686" cy="402672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A0B75DB9-6D7F-6761-0987-DAE757C44807}"/>
                </a:ext>
              </a:extLst>
            </p:cNvPr>
            <p:cNvGrpSpPr/>
            <p:nvPr/>
          </p:nvGrpSpPr>
          <p:grpSpPr>
            <a:xfrm rot="5400000">
              <a:off x="7218822" y="5401242"/>
              <a:ext cx="1610686" cy="620887"/>
              <a:chOff x="5743326" y="1438819"/>
              <a:chExt cx="1610686" cy="620887"/>
            </a:xfrm>
          </p:grpSpPr>
          <p:sp>
            <p:nvSpPr>
              <p:cNvPr id="241" name="Minus 195">
                <a:extLst>
                  <a:ext uri="{FF2B5EF4-FFF2-40B4-BE49-F238E27FC236}">
                    <a16:creationId xmlns:a16="http://schemas.microsoft.com/office/drawing/2014/main" id="{EC71A3E1-0A0B-D4F7-3734-B0B18D81EED5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9B4241EC-5397-AF5D-F12E-635F3C973B34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e</a:t>
                </a:r>
              </a:p>
            </p:txBody>
          </p: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531C349F-AC1D-6EBB-5DCB-D29A9708D5FF}"/>
                </a:ext>
              </a:extLst>
            </p:cNvPr>
            <p:cNvGrpSpPr/>
            <p:nvPr/>
          </p:nvGrpSpPr>
          <p:grpSpPr>
            <a:xfrm rot="5400000">
              <a:off x="7217125" y="4156945"/>
              <a:ext cx="1610686" cy="620887"/>
              <a:chOff x="5743326" y="1438819"/>
              <a:chExt cx="1610686" cy="620887"/>
            </a:xfrm>
          </p:grpSpPr>
          <p:sp>
            <p:nvSpPr>
              <p:cNvPr id="239" name="Minus 198">
                <a:extLst>
                  <a:ext uri="{FF2B5EF4-FFF2-40B4-BE49-F238E27FC236}">
                    <a16:creationId xmlns:a16="http://schemas.microsoft.com/office/drawing/2014/main" id="{B96BABB3-7EC6-4250-4E0E-5CCFEE049174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838309B8-6260-1FB6-D0E5-A32B2A5D9C7B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f</a:t>
                </a:r>
              </a:p>
            </p:txBody>
          </p:sp>
        </p:grpSp>
        <p:sp>
          <p:nvSpPr>
            <p:cNvPr id="231" name="Minus 200">
              <a:extLst>
                <a:ext uri="{FF2B5EF4-FFF2-40B4-BE49-F238E27FC236}">
                  <a16:creationId xmlns:a16="http://schemas.microsoft.com/office/drawing/2014/main" id="{E2E01146-7EFC-E9F7-C0D3-37E808DA3E13}"/>
                </a:ext>
              </a:extLst>
            </p:cNvPr>
            <p:cNvSpPr/>
            <p:nvPr/>
          </p:nvSpPr>
          <p:spPr>
            <a:xfrm rot="5400000">
              <a:off x="7109715" y="5510351"/>
              <a:ext cx="1610686" cy="402672"/>
            </a:xfrm>
            <a:prstGeom prst="mathMinu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B8676908-E98F-4C8B-0EEC-2DA809B9530C}"/>
                </a:ext>
              </a:extLst>
            </p:cNvPr>
            <p:cNvGrpSpPr/>
            <p:nvPr/>
          </p:nvGrpSpPr>
          <p:grpSpPr>
            <a:xfrm>
              <a:off x="7797788" y="4688329"/>
              <a:ext cx="1610686" cy="616927"/>
              <a:chOff x="5743326" y="1442779"/>
              <a:chExt cx="1610686" cy="616927"/>
            </a:xfrm>
          </p:grpSpPr>
          <p:sp>
            <p:nvSpPr>
              <p:cNvPr id="237" name="Minus 202">
                <a:extLst>
                  <a:ext uri="{FF2B5EF4-FFF2-40B4-BE49-F238E27FC236}">
                    <a16:creationId xmlns:a16="http://schemas.microsoft.com/office/drawing/2014/main" id="{416340DE-3E0A-E4C0-A3AD-A3F25F84C007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EB0881CD-07B1-A2BB-4682-8856BABD55F5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g</a:t>
                </a:r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4ED52F35-7247-FA63-9512-F5BBC81B34F9}"/>
                </a:ext>
              </a:extLst>
            </p:cNvPr>
            <p:cNvGrpSpPr/>
            <p:nvPr/>
          </p:nvGrpSpPr>
          <p:grpSpPr>
            <a:xfrm>
              <a:off x="7797788" y="5865917"/>
              <a:ext cx="1610686" cy="616927"/>
              <a:chOff x="5743326" y="1442779"/>
              <a:chExt cx="1610686" cy="616927"/>
            </a:xfrm>
          </p:grpSpPr>
          <p:sp>
            <p:nvSpPr>
              <p:cNvPr id="235" name="Minus 205">
                <a:extLst>
                  <a:ext uri="{FF2B5EF4-FFF2-40B4-BE49-F238E27FC236}">
                    <a16:creationId xmlns:a16="http://schemas.microsoft.com/office/drawing/2014/main" id="{16E370C4-0D37-B753-E3D0-80A39BC7A838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986775B0-FA81-A519-A509-9F73D081B01A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d</a:t>
                </a:r>
              </a:p>
            </p:txBody>
          </p:sp>
        </p:grp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9E60C550-56B4-0CE9-BD35-5AB3253143A0}"/>
                </a:ext>
              </a:extLst>
            </p:cNvPr>
            <p:cNvSpPr txBox="1"/>
            <p:nvPr/>
          </p:nvSpPr>
          <p:spPr>
            <a:xfrm>
              <a:off x="8231483" y="6482844"/>
              <a:ext cx="656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Futura T OT" panose="02000000000000000000" pitchFamily="50" charset="0"/>
                </a:rPr>
                <a:t>For 7</a:t>
              </a:r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A9D0866E-E34B-82D2-3A98-A0077408D478}"/>
              </a:ext>
            </a:extLst>
          </p:cNvPr>
          <p:cNvGrpSpPr/>
          <p:nvPr/>
        </p:nvGrpSpPr>
        <p:grpSpPr>
          <a:xfrm>
            <a:off x="2952233" y="4206158"/>
            <a:ext cx="1371600" cy="2286000"/>
            <a:chOff x="9749268" y="3506968"/>
            <a:chExt cx="1998450" cy="3345208"/>
          </a:xfrm>
        </p:grpSpPr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2E6DAF10-752C-F5F7-A299-A9E8DBB1C7DB}"/>
                </a:ext>
              </a:extLst>
            </p:cNvPr>
            <p:cNvGrpSpPr/>
            <p:nvPr/>
          </p:nvGrpSpPr>
          <p:grpSpPr>
            <a:xfrm>
              <a:off x="9835032" y="3506968"/>
              <a:ext cx="1610686" cy="616927"/>
              <a:chOff x="5743326" y="1442779"/>
              <a:chExt cx="1610686" cy="616927"/>
            </a:xfrm>
          </p:grpSpPr>
          <p:sp>
            <p:nvSpPr>
              <p:cNvPr id="277" name="Minus 209">
                <a:extLst>
                  <a:ext uri="{FF2B5EF4-FFF2-40B4-BE49-F238E27FC236}">
                    <a16:creationId xmlns:a16="http://schemas.microsoft.com/office/drawing/2014/main" id="{D7DD43E5-3F82-9B35-F30B-FD642C72464D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C6C5E78B-F7FE-143D-F3CE-8D9526C77EE2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a</a:t>
                </a:r>
              </a:p>
            </p:txBody>
          </p:sp>
        </p:grp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78B69E71-BB8B-5A94-EE1B-6E09213D4497}"/>
                </a:ext>
              </a:extLst>
            </p:cNvPr>
            <p:cNvGrpSpPr/>
            <p:nvPr/>
          </p:nvGrpSpPr>
          <p:grpSpPr>
            <a:xfrm rot="5400000">
              <a:off x="10630235" y="4156943"/>
              <a:ext cx="1610686" cy="620887"/>
              <a:chOff x="5743326" y="1438819"/>
              <a:chExt cx="1610686" cy="620887"/>
            </a:xfrm>
          </p:grpSpPr>
          <p:sp>
            <p:nvSpPr>
              <p:cNvPr id="275" name="Minus 212">
                <a:extLst>
                  <a:ext uri="{FF2B5EF4-FFF2-40B4-BE49-F238E27FC236}">
                    <a16:creationId xmlns:a16="http://schemas.microsoft.com/office/drawing/2014/main" id="{60EA0617-35B4-8577-E4B5-2ACFD168B4AD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7787AF5A-D288-5225-F69D-909B3F994428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b</a:t>
                </a:r>
              </a:p>
            </p:txBody>
          </p:sp>
        </p:grp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373BFD25-20CF-CDEE-23AF-4DDA2F98B55E}"/>
                </a:ext>
              </a:extLst>
            </p:cNvPr>
            <p:cNvGrpSpPr/>
            <p:nvPr/>
          </p:nvGrpSpPr>
          <p:grpSpPr>
            <a:xfrm rot="5400000">
              <a:off x="10631932" y="5401241"/>
              <a:ext cx="1610686" cy="620887"/>
              <a:chOff x="5743326" y="1438819"/>
              <a:chExt cx="1610686" cy="620887"/>
            </a:xfrm>
          </p:grpSpPr>
          <p:sp>
            <p:nvSpPr>
              <p:cNvPr id="273" name="Minus 215">
                <a:extLst>
                  <a:ext uri="{FF2B5EF4-FFF2-40B4-BE49-F238E27FC236}">
                    <a16:creationId xmlns:a16="http://schemas.microsoft.com/office/drawing/2014/main" id="{5AB7BA03-237C-038C-A15C-2825F63209F5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06A442B2-AB01-3390-33DE-D0F38BEB2C3D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c</a:t>
                </a:r>
              </a:p>
            </p:txBody>
          </p: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E4A8F44F-ABD6-6D75-FC8E-F84D8FC0AEBB}"/>
                </a:ext>
              </a:extLst>
            </p:cNvPr>
            <p:cNvGrpSpPr/>
            <p:nvPr/>
          </p:nvGrpSpPr>
          <p:grpSpPr>
            <a:xfrm rot="5400000">
              <a:off x="10630235" y="4156944"/>
              <a:ext cx="1610686" cy="620887"/>
              <a:chOff x="5743326" y="1438819"/>
              <a:chExt cx="1610686" cy="620887"/>
            </a:xfrm>
          </p:grpSpPr>
          <p:sp>
            <p:nvSpPr>
              <p:cNvPr id="271" name="Minus 218">
                <a:extLst>
                  <a:ext uri="{FF2B5EF4-FFF2-40B4-BE49-F238E27FC236}">
                    <a16:creationId xmlns:a16="http://schemas.microsoft.com/office/drawing/2014/main" id="{690FE13A-639C-5248-D425-32319088783F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7D51D91D-0ECA-3517-370B-E905C0581696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b</a:t>
                </a:r>
              </a:p>
            </p:txBody>
          </p:sp>
        </p:grpSp>
        <p:sp>
          <p:nvSpPr>
            <p:cNvPr id="256" name="Minus 220">
              <a:extLst>
                <a:ext uri="{FF2B5EF4-FFF2-40B4-BE49-F238E27FC236}">
                  <a16:creationId xmlns:a16="http://schemas.microsoft.com/office/drawing/2014/main" id="{91AB7060-D2F5-01A8-C6DB-E94F034DD3EA}"/>
                </a:ext>
              </a:extLst>
            </p:cNvPr>
            <p:cNvSpPr/>
            <p:nvPr/>
          </p:nvSpPr>
          <p:spPr>
            <a:xfrm rot="5400000">
              <a:off x="10522825" y="5510350"/>
              <a:ext cx="1610686" cy="402672"/>
            </a:xfrm>
            <a:prstGeom prst="mathMinu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3D4707E0-9C66-DD47-9097-675E901F4164}"/>
                </a:ext>
              </a:extLst>
            </p:cNvPr>
            <p:cNvGrpSpPr/>
            <p:nvPr/>
          </p:nvGrpSpPr>
          <p:grpSpPr>
            <a:xfrm rot="5400000">
              <a:off x="9256066" y="5401242"/>
              <a:ext cx="1610686" cy="620887"/>
              <a:chOff x="5743326" y="1438819"/>
              <a:chExt cx="1610686" cy="620887"/>
            </a:xfrm>
          </p:grpSpPr>
          <p:sp>
            <p:nvSpPr>
              <p:cNvPr id="269" name="Minus 222">
                <a:extLst>
                  <a:ext uri="{FF2B5EF4-FFF2-40B4-BE49-F238E27FC236}">
                    <a16:creationId xmlns:a16="http://schemas.microsoft.com/office/drawing/2014/main" id="{5A7D1A70-7C40-02DF-EECB-58CE1BACDB9B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D1EBD565-E5EA-9852-B4AC-2E3E76157A04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e</a:t>
                </a:r>
              </a:p>
            </p:txBody>
          </p:sp>
        </p:grp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B586376D-6864-2613-8727-10990F42E2D3}"/>
                </a:ext>
              </a:extLst>
            </p:cNvPr>
            <p:cNvGrpSpPr/>
            <p:nvPr/>
          </p:nvGrpSpPr>
          <p:grpSpPr>
            <a:xfrm rot="5400000">
              <a:off x="9254369" y="4156945"/>
              <a:ext cx="1610686" cy="620887"/>
              <a:chOff x="5743326" y="1438819"/>
              <a:chExt cx="1610686" cy="620887"/>
            </a:xfrm>
          </p:grpSpPr>
          <p:sp>
            <p:nvSpPr>
              <p:cNvPr id="267" name="Minus 225">
                <a:extLst>
                  <a:ext uri="{FF2B5EF4-FFF2-40B4-BE49-F238E27FC236}">
                    <a16:creationId xmlns:a16="http://schemas.microsoft.com/office/drawing/2014/main" id="{FD0EEA2D-73AA-5893-E975-947E8A0C84E5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D4195D57-AA59-DEE3-5817-6E9F7AAC16F0}"/>
                  </a:ext>
                </a:extLst>
              </p:cNvPr>
              <p:cNvSpPr txBox="1"/>
              <p:nvPr/>
            </p:nvSpPr>
            <p:spPr>
              <a:xfrm rot="16200000">
                <a:off x="6274965" y="1451295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f</a:t>
                </a:r>
              </a:p>
            </p:txBody>
          </p:sp>
        </p:grpSp>
        <p:sp>
          <p:nvSpPr>
            <p:cNvPr id="259" name="Minus 227">
              <a:extLst>
                <a:ext uri="{FF2B5EF4-FFF2-40B4-BE49-F238E27FC236}">
                  <a16:creationId xmlns:a16="http://schemas.microsoft.com/office/drawing/2014/main" id="{C6403C22-1AFD-C8FA-70E4-46CD0AC6EC0F}"/>
                </a:ext>
              </a:extLst>
            </p:cNvPr>
            <p:cNvSpPr/>
            <p:nvPr/>
          </p:nvSpPr>
          <p:spPr>
            <a:xfrm rot="5400000">
              <a:off x="9146959" y="5510351"/>
              <a:ext cx="1610686" cy="402672"/>
            </a:xfrm>
            <a:prstGeom prst="mathMinus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0CEE52DE-8C0B-440F-0731-30CB2610EEA8}"/>
                </a:ext>
              </a:extLst>
            </p:cNvPr>
            <p:cNvGrpSpPr/>
            <p:nvPr/>
          </p:nvGrpSpPr>
          <p:grpSpPr>
            <a:xfrm>
              <a:off x="9835032" y="4688329"/>
              <a:ext cx="1610686" cy="616927"/>
              <a:chOff x="5743326" y="1442779"/>
              <a:chExt cx="1610686" cy="616927"/>
            </a:xfrm>
          </p:grpSpPr>
          <p:sp>
            <p:nvSpPr>
              <p:cNvPr id="265" name="Minus 229">
                <a:extLst>
                  <a:ext uri="{FF2B5EF4-FFF2-40B4-BE49-F238E27FC236}">
                    <a16:creationId xmlns:a16="http://schemas.microsoft.com/office/drawing/2014/main" id="{A1847210-47C2-600B-0C28-CFF3A434C715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C104EEEC-A93C-8C56-AB80-2CE1F182BA5D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g</a:t>
                </a:r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9DB62940-94DB-1A16-50F0-80908689C7FD}"/>
                </a:ext>
              </a:extLst>
            </p:cNvPr>
            <p:cNvGrpSpPr/>
            <p:nvPr/>
          </p:nvGrpSpPr>
          <p:grpSpPr>
            <a:xfrm>
              <a:off x="9835032" y="5865917"/>
              <a:ext cx="1610686" cy="616927"/>
              <a:chOff x="5743326" y="1442779"/>
              <a:chExt cx="1610686" cy="616927"/>
            </a:xfrm>
          </p:grpSpPr>
          <p:sp>
            <p:nvSpPr>
              <p:cNvPr id="263" name="Minus 232">
                <a:extLst>
                  <a:ext uri="{FF2B5EF4-FFF2-40B4-BE49-F238E27FC236}">
                    <a16:creationId xmlns:a16="http://schemas.microsoft.com/office/drawing/2014/main" id="{9228A9A7-D4A7-C9F5-D588-EFCD371AFA48}"/>
                  </a:ext>
                </a:extLst>
              </p:cNvPr>
              <p:cNvSpPr/>
              <p:nvPr/>
            </p:nvSpPr>
            <p:spPr>
              <a:xfrm>
                <a:off x="5743326" y="1657034"/>
                <a:ext cx="1610686" cy="402672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7DFF5BCF-B76A-59AD-84B3-EF6005856526}"/>
                  </a:ext>
                </a:extLst>
              </p:cNvPr>
              <p:cNvSpPr txBox="1"/>
              <p:nvPr/>
            </p:nvSpPr>
            <p:spPr>
              <a:xfrm>
                <a:off x="6308304" y="1442779"/>
                <a:ext cx="3942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Futura T OT" panose="02000000000000000000" pitchFamily="50" charset="0"/>
                  </a:rPr>
                  <a:t>d</a:t>
                </a:r>
              </a:p>
            </p:txBody>
          </p:sp>
        </p:grp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05161E83-63E6-0644-EB5F-8611924EFF65}"/>
                </a:ext>
              </a:extLst>
            </p:cNvPr>
            <p:cNvSpPr txBox="1"/>
            <p:nvPr/>
          </p:nvSpPr>
          <p:spPr>
            <a:xfrm>
              <a:off x="10268727" y="6482844"/>
              <a:ext cx="656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Futura T OT" panose="02000000000000000000" pitchFamily="50" charset="0"/>
                </a:rPr>
                <a:t>For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733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7455B-1F43-8E77-AF11-E38B2F553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BB8B61-1614-F3C7-E9E6-B44178A3F234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Display Interfacing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D20B3A-F8F5-38CD-E042-BF00A3DA8431}"/>
                  </a:ext>
                </a:extLst>
              </p:cNvPr>
              <p:cNvSpPr txBox="1"/>
              <p:nvPr/>
            </p:nvSpPr>
            <p:spPr>
              <a:xfrm>
                <a:off x="507050" y="845669"/>
                <a:ext cx="1077888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  <a:latin typeface="Futura T OT" panose="02000000000000000000" pitchFamily="50" charset="0"/>
                  </a:rPr>
                  <a:t>LCD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16×2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Futura T OT" panose="02000000000000000000" pitchFamily="50" charset="0"/>
                  </a:rPr>
                  <a:t> Display </a:t>
                </a:r>
                <a:endParaRPr lang="en-US" sz="4000" dirty="0">
                  <a:latin typeface="Futura T OT" panose="02000000000000000000" pitchFamily="50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D20B3A-F8F5-38CD-E042-BF00A3DA8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50" y="845669"/>
                <a:ext cx="10778887" cy="523220"/>
              </a:xfrm>
              <a:prstGeom prst="rect">
                <a:avLst/>
              </a:prstGeom>
              <a:blipFill>
                <a:blip r:embed="rId2"/>
                <a:stretch>
                  <a:fillRect l="-1131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2DA4DB2-7F01-D607-0E59-D88ECDAFA3AC}"/>
              </a:ext>
            </a:extLst>
          </p:cNvPr>
          <p:cNvSpPr txBox="1"/>
          <p:nvPr/>
        </p:nvSpPr>
        <p:spPr>
          <a:xfrm>
            <a:off x="835552" y="1629783"/>
            <a:ext cx="70781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Dot-matrix character LCDs are particularly popular in embedded systems due to their simplicity and functionality.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4D1D94-C467-3B42-BC65-1609F0350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977062" y="1652299"/>
            <a:ext cx="6391275" cy="4038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7C35ED-A449-8D4F-7AF6-5481A93B7E97}"/>
              </a:ext>
            </a:extLst>
          </p:cNvPr>
          <p:cNvSpPr txBox="1"/>
          <p:nvPr/>
        </p:nvSpPr>
        <p:spPr>
          <a:xfrm>
            <a:off x="835552" y="3314494"/>
            <a:ext cx="7078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PIN 1(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GND</a:t>
            </a:r>
            <a:r>
              <a:rPr lang="en-US" sz="2800" dirty="0">
                <a:latin typeface="Futura T OT" panose="02000000000000000000" pitchFamily="50" charset="0"/>
              </a:rPr>
              <a:t>)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 </a:t>
            </a:r>
            <a:r>
              <a:rPr lang="en-US" sz="2800" dirty="0">
                <a:latin typeface="Futura T OT" panose="02000000000000000000" pitchFamily="50" charset="0"/>
              </a:rPr>
              <a:t>and PIN 2 (</a:t>
            </a:r>
            <a:r>
              <a:rPr lang="en-US" sz="2800" dirty="0" err="1">
                <a:solidFill>
                  <a:srgbClr val="FF0000"/>
                </a:solidFill>
                <a:latin typeface="Futura T OT" panose="02000000000000000000" pitchFamily="50" charset="0"/>
              </a:rPr>
              <a:t>Vcc</a:t>
            </a:r>
            <a:r>
              <a:rPr lang="en-US" sz="2800" dirty="0">
                <a:latin typeface="Futura T OT" panose="02000000000000000000" pitchFamily="50" charset="0"/>
              </a:rPr>
              <a:t>): These are for power supply connections. 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1798F-2611-B144-9CD4-BEBE3285C544}"/>
              </a:ext>
            </a:extLst>
          </p:cNvPr>
          <p:cNvSpPr txBox="1"/>
          <p:nvPr/>
        </p:nvSpPr>
        <p:spPr>
          <a:xfrm>
            <a:off x="835552" y="4568317"/>
            <a:ext cx="74570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PIN 3(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Vee</a:t>
            </a:r>
            <a:r>
              <a:rPr lang="en-US" sz="2800" dirty="0">
                <a:latin typeface="Futura T OT" panose="02000000000000000000" pitchFamily="50" charset="0"/>
              </a:rPr>
              <a:t>): This pin adjusts the display contrast. Connecting it to GND provides maximum contrast.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49DDF-2DB0-C3E3-0CD7-A5A4ED64BD3E}"/>
              </a:ext>
            </a:extLst>
          </p:cNvPr>
          <p:cNvSpPr txBox="1"/>
          <p:nvPr/>
        </p:nvSpPr>
        <p:spPr>
          <a:xfrm>
            <a:off x="835552" y="5822140"/>
            <a:ext cx="7078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PIN 4 (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RS</a:t>
            </a:r>
            <a:r>
              <a:rPr lang="en-US" sz="2800" dirty="0">
                <a:latin typeface="Futura T OT" panose="02000000000000000000" pitchFamily="50" charset="0"/>
              </a:rPr>
              <a:t>): Register select must be 0 for command and 1 for data to be displayed.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1925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A0CC9-9048-77F6-F38B-B3347CF8E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0C93AE-254F-ACA0-1246-19A983B40E3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Display Interfacing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C81D74-E775-D142-1C1E-3A779DD5029A}"/>
                  </a:ext>
                </a:extLst>
              </p:cNvPr>
              <p:cNvSpPr txBox="1"/>
              <p:nvPr/>
            </p:nvSpPr>
            <p:spPr>
              <a:xfrm>
                <a:off x="507050" y="845669"/>
                <a:ext cx="1077888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  <a:latin typeface="Futura T OT" panose="02000000000000000000" pitchFamily="50" charset="0"/>
                  </a:rPr>
                  <a:t>LCD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16×2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Futura T OT" panose="02000000000000000000" pitchFamily="50" charset="0"/>
                  </a:rPr>
                  <a:t> Display </a:t>
                </a:r>
                <a:endParaRPr lang="en-US" sz="4000" dirty="0">
                  <a:latin typeface="Futura T OT" panose="02000000000000000000" pitchFamily="50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C81D74-E775-D142-1C1E-3A779DD50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50" y="845669"/>
                <a:ext cx="10778887" cy="523220"/>
              </a:xfrm>
              <a:prstGeom prst="rect">
                <a:avLst/>
              </a:prstGeom>
              <a:blipFill>
                <a:blip r:embed="rId2"/>
                <a:stretch>
                  <a:fillRect l="-1131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58F4E4D-7D53-9B52-4D10-8390897FA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116301" y="1643062"/>
            <a:ext cx="6391275" cy="4038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80FF77-AF3F-9DED-88DD-22A0C92A8ACD}"/>
              </a:ext>
            </a:extLst>
          </p:cNvPr>
          <p:cNvSpPr txBox="1"/>
          <p:nvPr/>
        </p:nvSpPr>
        <p:spPr>
          <a:xfrm>
            <a:off x="835552" y="1598454"/>
            <a:ext cx="7078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PIN 5 (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RW</a:t>
            </a:r>
            <a:r>
              <a:rPr lang="en-US" sz="2800" dirty="0">
                <a:latin typeface="Futura T OT" panose="02000000000000000000" pitchFamily="50" charset="0"/>
              </a:rPr>
              <a:t>): 0 is used to write data to LCD and 1 for reading data from LCD.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81378A-DF3C-F5CB-876C-D019F2D867C9}"/>
              </a:ext>
            </a:extLst>
          </p:cNvPr>
          <p:cNvSpPr txBox="1"/>
          <p:nvPr/>
        </p:nvSpPr>
        <p:spPr>
          <a:xfrm>
            <a:off x="835552" y="2852277"/>
            <a:ext cx="74570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PIN 6(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E</a:t>
            </a:r>
            <a:r>
              <a:rPr lang="en-US" sz="2800" dirty="0">
                <a:latin typeface="Futura T OT" panose="02000000000000000000" pitchFamily="50" charset="0"/>
              </a:rPr>
              <a:t>): The high to low pulse is required to register data.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A2E71E-8597-C7CA-4EE3-E0D2C4C5CA9F}"/>
              </a:ext>
            </a:extLst>
          </p:cNvPr>
          <p:cNvSpPr txBox="1"/>
          <p:nvPr/>
        </p:nvSpPr>
        <p:spPr>
          <a:xfrm>
            <a:off x="835552" y="4106100"/>
            <a:ext cx="7078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PIN 7 to 14 (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D0 to D7</a:t>
            </a:r>
            <a:r>
              <a:rPr lang="en-US" sz="2800" dirty="0">
                <a:latin typeface="Futura T OT" panose="02000000000000000000" pitchFamily="50" charset="0"/>
              </a:rPr>
              <a:t>): These pins serve as the parallel data/command interface.</a:t>
            </a:r>
            <a:endParaRPr lang="en-US" sz="4000" dirty="0">
              <a:latin typeface="Futura T OT" panose="020000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4F79F-191A-FBC4-E42C-A70022A00B6A}"/>
              </a:ext>
            </a:extLst>
          </p:cNvPr>
          <p:cNvSpPr txBox="1"/>
          <p:nvPr/>
        </p:nvSpPr>
        <p:spPr>
          <a:xfrm>
            <a:off x="835552" y="5359923"/>
            <a:ext cx="7078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PIN 15 and 16 (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LED+ and LED-</a:t>
            </a:r>
            <a:r>
              <a:rPr lang="en-US" sz="2800" dirty="0">
                <a:latin typeface="Futura T OT" panose="02000000000000000000" pitchFamily="50" charset="0"/>
              </a:rPr>
              <a:t>): These provide power to the backlight.</a:t>
            </a:r>
            <a:endParaRPr lang="en-US" sz="4000" dirty="0">
              <a:latin typeface="Futura T O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616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009AC0-F83F-95E0-5BAE-F759DD09A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66288F-52D9-9BAC-E221-34FD44B5EC7E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Display Interfacing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937385-DB15-4B1A-65D7-4301EACE515D}"/>
                  </a:ext>
                </a:extLst>
              </p:cNvPr>
              <p:cNvSpPr txBox="1"/>
              <p:nvPr/>
            </p:nvSpPr>
            <p:spPr>
              <a:xfrm>
                <a:off x="507050" y="845669"/>
                <a:ext cx="1077888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  <a:latin typeface="Futura T OT" panose="02000000000000000000" pitchFamily="50" charset="0"/>
                  </a:rPr>
                  <a:t>LCD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16×2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Futura T OT" panose="02000000000000000000" pitchFamily="50" charset="0"/>
                  </a:rPr>
                  <a:t> Display </a:t>
                </a:r>
                <a:endParaRPr lang="en-US" sz="4000" dirty="0">
                  <a:latin typeface="Futura T OT" panose="02000000000000000000" pitchFamily="50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937385-DB15-4B1A-65D7-4301EACE5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50" y="845669"/>
                <a:ext cx="10778887" cy="523220"/>
              </a:xfrm>
              <a:prstGeom prst="rect">
                <a:avLst/>
              </a:prstGeom>
              <a:blipFill>
                <a:blip r:embed="rId2"/>
                <a:stretch>
                  <a:fillRect l="-1131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E85AF6A-235E-CD67-A33B-7D8450B61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116301" y="1643062"/>
            <a:ext cx="6391275" cy="40386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3253C16-AAB8-8114-0047-E03EA840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838943"/>
              </p:ext>
            </p:extLst>
          </p:nvPr>
        </p:nvGraphicFramePr>
        <p:xfrm>
          <a:off x="405450" y="1368889"/>
          <a:ext cx="7676368" cy="5141348"/>
        </p:xfrm>
        <a:graphic>
          <a:graphicData uri="http://schemas.openxmlformats.org/drawingml/2006/table">
            <a:tbl>
              <a:tblPr/>
              <a:tblGrid>
                <a:gridCol w="1195254">
                  <a:extLst>
                    <a:ext uri="{9D8B030D-6E8A-4147-A177-3AD203B41FA5}">
                      <a16:colId xmlns:a16="http://schemas.microsoft.com/office/drawing/2014/main" val="2190364729"/>
                    </a:ext>
                  </a:extLst>
                </a:gridCol>
                <a:gridCol w="2245510">
                  <a:extLst>
                    <a:ext uri="{9D8B030D-6E8A-4147-A177-3AD203B41FA5}">
                      <a16:colId xmlns:a16="http://schemas.microsoft.com/office/drawing/2014/main" val="3629197896"/>
                    </a:ext>
                  </a:extLst>
                </a:gridCol>
                <a:gridCol w="4235604">
                  <a:extLst>
                    <a:ext uri="{9D8B030D-6E8A-4147-A177-3AD203B41FA5}">
                      <a16:colId xmlns:a16="http://schemas.microsoft.com/office/drawing/2014/main" val="969343025"/>
                    </a:ext>
                  </a:extLst>
                </a:gridCol>
              </a:tblGrid>
              <a:tr h="16936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Command (Hex)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Action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Description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480454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0x01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Clear Display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Clears the entire screen and returns cursor to home (top left).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495162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0x02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Return Home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Returns cursor to (0,0) without clearing the display contents.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778628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0x04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Decrement Cursor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Cursor moves left after each character (Shift Off).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507046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0x06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Increment Cursor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Cursor moves right after each character (Standard Entry Mode).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044752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0x0C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Display ON, Cursor OFF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Shows text but hides the underline/blinking cursor.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663877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0x0E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Display ON, Cursor 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Shows text and an underline cursor.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105026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0x0F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Display ON, Blinking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Shows text with a blinking block cursor.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230644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0x10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Shift Cursor Left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Moves the cursor position one step to the left.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785333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0x14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Shift Cursor Right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Moves the cursor position one step to the right.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551465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0x18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Shift Entire Display Left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Scrolls all text on the screen one step to the left.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08810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0x1C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Shift Entire Display Right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Scrolls all text on the screen one step to the right.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62227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0x80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Force Cursor to Line 1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Moves cursor to the start of the first row.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289662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0xC0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Force Cursor to Line 2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Moves cursor to the start of the second row.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687851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0x28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4-bit / 2-line Mode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Initializes the LCD in 4-bit mode with 5x8 pixel font.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563757"/>
                  </a:ext>
                </a:extLst>
              </a:tr>
              <a:tr h="286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0x38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8-bit / 2-line Mode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Futura T OT" panose="02000000000000000000" pitchFamily="50" charset="0"/>
                      </a:endParaRP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Futura T OT" panose="02000000000000000000" pitchFamily="50" charset="0"/>
                        </a:rPr>
                        <a:t>Initializes the LCD in 8-bit mode with 5x8 pixel font.</a:t>
                      </a:r>
                    </a:p>
                  </a:txBody>
                  <a:tcPr marL="39084" marR="39084" marT="26056" marB="26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490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48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19895</TotalTime>
  <Words>1418</Words>
  <Application>Microsoft Office PowerPoint</Application>
  <PresentationFormat>Widescreen</PresentationFormat>
  <Paragraphs>260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Futura T OT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Krishtein Einsna</dc:creator>
  <cp:lastModifiedBy>Krishtein Einsna</cp:lastModifiedBy>
  <cp:revision>425</cp:revision>
  <dcterms:created xsi:type="dcterms:W3CDTF">2025-09-16T01:34:55Z</dcterms:created>
  <dcterms:modified xsi:type="dcterms:W3CDTF">2026-01-29T07:12:37Z</dcterms:modified>
</cp:coreProperties>
</file>