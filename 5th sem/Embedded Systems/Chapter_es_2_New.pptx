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57" r:id="rId2"/>
    <p:sldId id="600" r:id="rId3"/>
    <p:sldId id="677" r:id="rId4"/>
    <p:sldId id="666" r:id="rId5"/>
    <p:sldId id="667" r:id="rId6"/>
    <p:sldId id="672" r:id="rId7"/>
    <p:sldId id="678" r:id="rId8"/>
    <p:sldId id="679" r:id="rId9"/>
    <p:sldId id="668" r:id="rId10"/>
    <p:sldId id="675" r:id="rId11"/>
    <p:sldId id="670" r:id="rId12"/>
    <p:sldId id="671" r:id="rId13"/>
    <p:sldId id="674" r:id="rId14"/>
    <p:sldId id="673" r:id="rId15"/>
    <p:sldId id="681" r:id="rId16"/>
    <p:sldId id="682" r:id="rId17"/>
    <p:sldId id="684" r:id="rId18"/>
    <p:sldId id="690" r:id="rId19"/>
    <p:sldId id="686" r:id="rId20"/>
    <p:sldId id="687" r:id="rId21"/>
    <p:sldId id="688" r:id="rId22"/>
    <p:sldId id="689" r:id="rId23"/>
    <p:sldId id="683" r:id="rId24"/>
    <p:sldId id="691" r:id="rId25"/>
    <p:sldId id="685" r:id="rId26"/>
    <p:sldId id="692" r:id="rId27"/>
    <p:sldId id="693" r:id="rId28"/>
    <p:sldId id="695" r:id="rId29"/>
    <p:sldId id="696" r:id="rId30"/>
    <p:sldId id="704" r:id="rId31"/>
    <p:sldId id="705" r:id="rId32"/>
    <p:sldId id="706" r:id="rId33"/>
    <p:sldId id="703" r:id="rId34"/>
    <p:sldId id="700" r:id="rId35"/>
    <p:sldId id="701" r:id="rId36"/>
    <p:sldId id="699" r:id="rId37"/>
    <p:sldId id="702" r:id="rId38"/>
    <p:sldId id="708" r:id="rId39"/>
    <p:sldId id="709" r:id="rId40"/>
    <p:sldId id="707" r:id="rId41"/>
    <p:sldId id="710" r:id="rId42"/>
    <p:sldId id="711" r:id="rId43"/>
    <p:sldId id="712" r:id="rId44"/>
    <p:sldId id="713" r:id="rId45"/>
    <p:sldId id="714" r:id="rId46"/>
    <p:sldId id="715" r:id="rId47"/>
    <p:sldId id="716" r:id="rId48"/>
    <p:sldId id="717" r:id="rId49"/>
    <p:sldId id="719" r:id="rId50"/>
    <p:sldId id="718" r:id="rId51"/>
    <p:sldId id="721" r:id="rId52"/>
    <p:sldId id="720" r:id="rId53"/>
    <p:sldId id="722" r:id="rId54"/>
    <p:sldId id="724" r:id="rId55"/>
    <p:sldId id="723" r:id="rId56"/>
    <p:sldId id="725" r:id="rId57"/>
    <p:sldId id="727" r:id="rId58"/>
    <p:sldId id="729" r:id="rId59"/>
    <p:sldId id="728" r:id="rId60"/>
    <p:sldId id="726" r:id="rId61"/>
    <p:sldId id="730" r:id="rId62"/>
    <p:sldId id="731" r:id="rId63"/>
    <p:sldId id="733" r:id="rId64"/>
    <p:sldId id="732" r:id="rId65"/>
    <p:sldId id="734" r:id="rId66"/>
    <p:sldId id="735" r:id="rId67"/>
    <p:sldId id="736" r:id="rId68"/>
    <p:sldId id="737" r:id="rId69"/>
    <p:sldId id="738" r:id="rId70"/>
    <p:sldId id="698" r:id="rId71"/>
    <p:sldId id="739" r:id="rId72"/>
    <p:sldId id="740" r:id="rId73"/>
    <p:sldId id="741" r:id="rId74"/>
    <p:sldId id="742" r:id="rId75"/>
    <p:sldId id="743" r:id="rId76"/>
    <p:sldId id="744" r:id="rId77"/>
    <p:sldId id="745" r:id="rId78"/>
    <p:sldId id="746" r:id="rId79"/>
    <p:sldId id="747" r:id="rId80"/>
    <p:sldId id="748" r:id="rId81"/>
    <p:sldId id="749" r:id="rId82"/>
    <p:sldId id="750" r:id="rId83"/>
    <p:sldId id="751"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A448"/>
    <a:srgbClr val="3E9BB6"/>
    <a:srgbClr val="4472C4"/>
    <a:srgbClr val="FFFFFF"/>
    <a:srgbClr val="DFDFDF"/>
    <a:srgbClr val="9A470E"/>
    <a:srgbClr val="254275"/>
    <a:srgbClr val="ED7D31"/>
    <a:srgbClr val="276399"/>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118" autoAdjust="0"/>
  </p:normalViewPr>
  <p:slideViewPr>
    <p:cSldViewPr snapToGrid="0" showGuides="1">
      <p:cViewPr varScale="1">
        <p:scale>
          <a:sx n="83" d="100"/>
          <a:sy n="83" d="100"/>
        </p:scale>
        <p:origin x="566" y="77"/>
      </p:cViewPr>
      <p:guideLst>
        <p:guide orient="horz" pos="2184"/>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040180-84BE-40D1-AD0F-554207F0762F}"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1F74AD-8D6C-43B6-B1C6-FE3F682FD626}" type="slidenum">
              <a:rPr lang="en-US" smtClean="0"/>
              <a:t>‹#›</a:t>
            </a:fld>
            <a:endParaRPr lang="en-US"/>
          </a:p>
        </p:txBody>
      </p:sp>
    </p:spTree>
    <p:extLst>
      <p:ext uri="{BB962C8B-B14F-4D97-AF65-F5344CB8AC3E}">
        <p14:creationId xmlns:p14="http://schemas.microsoft.com/office/powerpoint/2010/main" val="2339133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4BC1E-4C7F-A878-414C-79C5E3E659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15D051-38C1-EA20-F458-44F8204A7C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941AE3-7CCF-E5B6-58CC-B085715581F4}"/>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5" name="Footer Placeholder 4">
            <a:extLst>
              <a:ext uri="{FF2B5EF4-FFF2-40B4-BE49-F238E27FC236}">
                <a16:creationId xmlns:a16="http://schemas.microsoft.com/office/drawing/2014/main" id="{81BBF166-ADBF-25B2-A049-29815D5B9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2CD86-2C0A-BFF2-8732-1F71650F856D}"/>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373819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C99A4-F78B-B3DE-78E0-7D6047FD04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456C58-2B2E-3F01-853B-1443D69626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F23EC-1AA7-6F81-24FF-B8AA833DB379}"/>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5" name="Footer Placeholder 4">
            <a:extLst>
              <a:ext uri="{FF2B5EF4-FFF2-40B4-BE49-F238E27FC236}">
                <a16:creationId xmlns:a16="http://schemas.microsoft.com/office/drawing/2014/main" id="{8862EC07-152A-921F-2971-6042E1340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7B6D60-83BC-11A0-D51E-510FD8AE5F82}"/>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3406048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E153C-B5F3-7513-9B72-5B30918FA8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0BFE70-4A27-1676-F288-4C28F5E8C7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27D07-9061-BE97-7C70-F717B9CA7CB5}"/>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5" name="Footer Placeholder 4">
            <a:extLst>
              <a:ext uri="{FF2B5EF4-FFF2-40B4-BE49-F238E27FC236}">
                <a16:creationId xmlns:a16="http://schemas.microsoft.com/office/drawing/2014/main" id="{E705AFD5-6612-BF83-471C-84795AFCCC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ED685-21C2-11DB-B8C1-F68F86C60B16}"/>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1403606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9D37-4A87-64E0-7A79-D807B3730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79A7C8-C395-1B55-CC51-0C79B94F9C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5CBE8F-5789-ED85-1392-3786A5E29F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6F2DBC-C43D-4768-724D-E2CE51F1F289}"/>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6" name="Footer Placeholder 5">
            <a:extLst>
              <a:ext uri="{FF2B5EF4-FFF2-40B4-BE49-F238E27FC236}">
                <a16:creationId xmlns:a16="http://schemas.microsoft.com/office/drawing/2014/main" id="{668C6FE2-EE2B-058F-2CB6-2D30089E35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3D2F52-9E7E-8809-0726-50EC48FFC0DC}"/>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1072256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78AFA-CDCE-51AB-859D-36F3418541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D1D6E7-964A-C4FD-0295-4760420FE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2F35A7-300A-5FC2-1235-0ACACFF076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120995-71C2-1430-4E57-2C0ACDF8A1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2FB71D-399D-AB8B-E49E-912455E95E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68D760-FE88-FCB3-7649-F651DB59E89E}"/>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8" name="Footer Placeholder 7">
            <a:extLst>
              <a:ext uri="{FF2B5EF4-FFF2-40B4-BE49-F238E27FC236}">
                <a16:creationId xmlns:a16="http://schemas.microsoft.com/office/drawing/2014/main" id="{288A5E49-8CF9-F6C9-4985-16181C915D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47116F-4113-9328-CE3A-1F1D50B8C539}"/>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931827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047F5-B2BC-E1D1-37A2-3D55285A3A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E16BD2-0039-1449-3305-FFB7A79AE66F}"/>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4" name="Footer Placeholder 3">
            <a:extLst>
              <a:ext uri="{FF2B5EF4-FFF2-40B4-BE49-F238E27FC236}">
                <a16:creationId xmlns:a16="http://schemas.microsoft.com/office/drawing/2014/main" id="{33E53673-85F6-BD5D-1883-38D897B06F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6B5289-801F-F3F1-0A71-1A7313DBF42B}"/>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4008714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A92EEE-7079-ED29-138A-9D8758A3B6DC}"/>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3" name="Footer Placeholder 2">
            <a:extLst>
              <a:ext uri="{FF2B5EF4-FFF2-40B4-BE49-F238E27FC236}">
                <a16:creationId xmlns:a16="http://schemas.microsoft.com/office/drawing/2014/main" id="{227E7D5B-4830-8B00-D653-B796633B28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6FF190-ACB7-8CB0-C7C8-59F8494AACD9}"/>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363809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1FC45-2F09-1123-24C6-80A652483A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A39951-9A5D-CA64-8299-A53E481301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29AD71-A4B9-C25C-00C1-A5C615D3A9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234768-C351-0DFD-E670-0236754746CE}"/>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6" name="Footer Placeholder 5">
            <a:extLst>
              <a:ext uri="{FF2B5EF4-FFF2-40B4-BE49-F238E27FC236}">
                <a16:creationId xmlns:a16="http://schemas.microsoft.com/office/drawing/2014/main" id="{66ADC3EC-E4AE-D04E-4B4A-DF23231A1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B8B4EA-EE7C-94CF-4E6D-48B200ED6694}"/>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1405257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B2CA1-FA93-8D54-65D2-3C73A0382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EF967F-2C69-7017-B4CB-EF9405383A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3DA17B-8376-481D-7360-46F6A8D0B6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2FB10D-2CD1-BB7E-35C9-F8C76A6C4F04}"/>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6" name="Footer Placeholder 5">
            <a:extLst>
              <a:ext uri="{FF2B5EF4-FFF2-40B4-BE49-F238E27FC236}">
                <a16:creationId xmlns:a16="http://schemas.microsoft.com/office/drawing/2014/main" id="{0070A012-800A-2C98-8922-C119FC127A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A37343-B329-DABB-CDED-0A050FA84091}"/>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146472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E379-2B99-FA61-CF2A-C4357F4C2F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B0183E-0625-1D69-A288-2CD465626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EEF39F-5CF9-2556-9F9A-AAFE681B17E9}"/>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5" name="Footer Placeholder 4">
            <a:extLst>
              <a:ext uri="{FF2B5EF4-FFF2-40B4-BE49-F238E27FC236}">
                <a16:creationId xmlns:a16="http://schemas.microsoft.com/office/drawing/2014/main" id="{1992283E-F7E4-B6AD-FFBA-BE311863E6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C6770-4142-C5B9-D9E0-C6B1F182207C}"/>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3751616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D707E1-FC0C-342B-5E52-ADE06998D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79554A-DC20-BFD0-F9AB-AB4AAC948B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0DDE0-B96D-2CC7-4067-57725D4D4577}"/>
              </a:ext>
            </a:extLst>
          </p:cNvPr>
          <p:cNvSpPr>
            <a:spLocks noGrp="1"/>
          </p:cNvSpPr>
          <p:nvPr>
            <p:ph type="dt" sz="half" idx="10"/>
          </p:nvPr>
        </p:nvSpPr>
        <p:spPr/>
        <p:txBody>
          <a:bodyPr/>
          <a:lstStyle/>
          <a:p>
            <a:fld id="{D265B32C-7331-4D14-8CE8-DF47C2DB7E1E}" type="datetimeFigureOut">
              <a:rPr lang="en-US" smtClean="0"/>
              <a:t>1/29/2026</a:t>
            </a:fld>
            <a:endParaRPr lang="en-US"/>
          </a:p>
        </p:txBody>
      </p:sp>
      <p:sp>
        <p:nvSpPr>
          <p:cNvPr id="5" name="Footer Placeholder 4">
            <a:extLst>
              <a:ext uri="{FF2B5EF4-FFF2-40B4-BE49-F238E27FC236}">
                <a16:creationId xmlns:a16="http://schemas.microsoft.com/office/drawing/2014/main" id="{E49BFFBB-806E-8018-91A4-BA029D0EF2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A1F76-948C-2FEA-64DB-1632CA184748}"/>
              </a:ext>
            </a:extLst>
          </p:cNvPr>
          <p:cNvSpPr>
            <a:spLocks noGrp="1"/>
          </p:cNvSpPr>
          <p:nvPr>
            <p:ph type="sldNum" sz="quarter" idx="12"/>
          </p:nvPr>
        </p:nvSpPr>
        <p:spPr/>
        <p:txBody>
          <a:bodyPr/>
          <a:lstStyle/>
          <a:p>
            <a:fld id="{7E6189A3-A408-4459-97D9-B069249C7406}" type="slidenum">
              <a:rPr lang="en-US" smtClean="0"/>
              <a:t>‹#›</a:t>
            </a:fld>
            <a:endParaRPr lang="en-US"/>
          </a:p>
        </p:txBody>
      </p:sp>
    </p:spTree>
    <p:extLst>
      <p:ext uri="{BB962C8B-B14F-4D97-AF65-F5344CB8AC3E}">
        <p14:creationId xmlns:p14="http://schemas.microsoft.com/office/powerpoint/2010/main" val="353521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6B9098-C80B-66CD-69E8-C5D08097F5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5FEB8A-2EFB-6553-F313-16E987B150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5E18A2-D8F9-2B50-6D0D-A1670D0F33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65B32C-7331-4D14-8CE8-DF47C2DB7E1E}" type="datetimeFigureOut">
              <a:rPr lang="en-US" smtClean="0"/>
              <a:t>1/29/2026</a:t>
            </a:fld>
            <a:endParaRPr lang="en-US"/>
          </a:p>
        </p:txBody>
      </p:sp>
      <p:sp>
        <p:nvSpPr>
          <p:cNvPr id="5" name="Footer Placeholder 4">
            <a:extLst>
              <a:ext uri="{FF2B5EF4-FFF2-40B4-BE49-F238E27FC236}">
                <a16:creationId xmlns:a16="http://schemas.microsoft.com/office/drawing/2014/main" id="{07C4E8D3-8D2E-A16D-CA4C-CAEA982AF2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400563-605D-7C96-0078-9467F2011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6189A3-A408-4459-97D9-B069249C7406}" type="slidenum">
              <a:rPr lang="en-US" smtClean="0"/>
              <a:t>‹#›</a:t>
            </a:fld>
            <a:endParaRPr lang="en-US"/>
          </a:p>
        </p:txBody>
      </p:sp>
    </p:spTree>
    <p:extLst>
      <p:ext uri="{BB962C8B-B14F-4D97-AF65-F5344CB8AC3E}">
        <p14:creationId xmlns:p14="http://schemas.microsoft.com/office/powerpoint/2010/main" val="724622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E539C5-9975-1037-E086-4BF0AF8A003B}"/>
              </a:ext>
            </a:extLst>
          </p:cNvPr>
          <p:cNvSpPr txBox="1"/>
          <p:nvPr/>
        </p:nvSpPr>
        <p:spPr>
          <a:xfrm>
            <a:off x="0" y="0"/>
            <a:ext cx="12191999" cy="461665"/>
          </a:xfrm>
          <a:prstGeom prst="rect">
            <a:avLst/>
          </a:prstGeom>
          <a:noFill/>
        </p:spPr>
        <p:txBody>
          <a:bodyPr wrap="square" rtlCol="0">
            <a:spAutoFit/>
          </a:bodyPr>
          <a:lstStyle/>
          <a:p>
            <a:pPr algn="ctr"/>
            <a:r>
              <a:rPr lang="en-US" sz="2400" dirty="0">
                <a:solidFill>
                  <a:srgbClr val="002060"/>
                </a:solidFill>
                <a:latin typeface="Futura T OT" panose="02000000000000000000" pitchFamily="50" charset="0"/>
              </a:rPr>
              <a:t>Syllabus of Embedded System</a:t>
            </a:r>
          </a:p>
        </p:txBody>
      </p:sp>
      <p:sp>
        <p:nvSpPr>
          <p:cNvPr id="2" name="TextBox 1">
            <a:extLst>
              <a:ext uri="{FF2B5EF4-FFF2-40B4-BE49-F238E27FC236}">
                <a16:creationId xmlns:a16="http://schemas.microsoft.com/office/drawing/2014/main" id="{3BB2196E-B3A3-2C76-E90D-A9080CBC6C97}"/>
              </a:ext>
            </a:extLst>
          </p:cNvPr>
          <p:cNvSpPr txBox="1"/>
          <p:nvPr/>
        </p:nvSpPr>
        <p:spPr>
          <a:xfrm>
            <a:off x="2147455" y="1897439"/>
            <a:ext cx="8229600" cy="3139321"/>
          </a:xfrm>
          <a:prstGeom prst="rect">
            <a:avLst/>
          </a:prstGeom>
          <a:noFill/>
        </p:spPr>
        <p:txBody>
          <a:bodyPr wrap="square">
            <a:spAutoFit/>
          </a:bodyPr>
          <a:lstStyle/>
          <a:p>
            <a:r>
              <a:rPr lang="en-US" dirty="0">
                <a:solidFill>
                  <a:srgbClr val="FF0000"/>
                </a:solidFill>
                <a:latin typeface="Futura T OT" panose="02000000000000000000" pitchFamily="50" charset="0"/>
              </a:rPr>
              <a:t>Unit 2: Programming for Embedded Systems (5 Hours)</a:t>
            </a:r>
          </a:p>
          <a:p>
            <a:endParaRPr lang="en-US" dirty="0">
              <a:latin typeface="Futura T OT" panose="02000000000000000000" pitchFamily="50" charset="0"/>
            </a:endParaRPr>
          </a:p>
          <a:p>
            <a:r>
              <a:rPr lang="en-US" dirty="0">
                <a:latin typeface="Futura T OT" panose="02000000000000000000" pitchFamily="50" charset="0"/>
              </a:rPr>
              <a:t>2.1 Overview of AVR Architecture</a:t>
            </a:r>
          </a:p>
          <a:p>
            <a:r>
              <a:rPr lang="en-US" dirty="0">
                <a:latin typeface="Futura T OT" panose="02000000000000000000" pitchFamily="50" charset="0"/>
              </a:rPr>
              <a:t>2.2 Embedded C Programming for Microcontroller</a:t>
            </a:r>
          </a:p>
          <a:p>
            <a:pPr marL="742950" lvl="1" indent="-285750">
              <a:buFont typeface="Arial" panose="020B0604020202020204" pitchFamily="34" charset="0"/>
              <a:buChar char="•"/>
            </a:pPr>
            <a:r>
              <a:rPr lang="en-US" dirty="0">
                <a:latin typeface="Futura T OT" panose="02000000000000000000" pitchFamily="50" charset="0"/>
              </a:rPr>
              <a:t>Introduction to C for Embedded Systems</a:t>
            </a:r>
          </a:p>
          <a:p>
            <a:pPr marL="742950" lvl="1" indent="-285750">
              <a:buFont typeface="Arial" panose="020B0604020202020204" pitchFamily="34" charset="0"/>
              <a:buChar char="•"/>
            </a:pPr>
            <a:r>
              <a:rPr lang="en-US" dirty="0">
                <a:latin typeface="Futura T OT" panose="02000000000000000000" pitchFamily="50" charset="0"/>
              </a:rPr>
              <a:t>Data Types, Control Structures, and pointers</a:t>
            </a:r>
          </a:p>
          <a:p>
            <a:pPr marL="742950" lvl="1" indent="-285750">
              <a:buFont typeface="Arial" panose="020B0604020202020204" pitchFamily="34" charset="0"/>
              <a:buChar char="•"/>
            </a:pPr>
            <a:r>
              <a:rPr lang="en-US" dirty="0">
                <a:latin typeface="Futura T OT" panose="02000000000000000000" pitchFamily="50" charset="0"/>
              </a:rPr>
              <a:t>Memory Management</a:t>
            </a:r>
          </a:p>
          <a:p>
            <a:pPr marL="742950" lvl="1" indent="-285750">
              <a:buFont typeface="Arial" panose="020B0604020202020204" pitchFamily="34" charset="0"/>
              <a:buChar char="•"/>
            </a:pPr>
            <a:r>
              <a:rPr lang="en-US" dirty="0">
                <a:latin typeface="Futura T OT" panose="02000000000000000000" pitchFamily="50" charset="0"/>
              </a:rPr>
              <a:t>AVR Interrupt handling </a:t>
            </a:r>
          </a:p>
          <a:p>
            <a:pPr marL="742950" lvl="1" indent="-285750">
              <a:buFont typeface="Arial" panose="020B0604020202020204" pitchFamily="34" charset="0"/>
              <a:buChar char="•"/>
            </a:pPr>
            <a:r>
              <a:rPr lang="en-US" dirty="0">
                <a:latin typeface="Futura T OT" panose="02000000000000000000" pitchFamily="50" charset="0"/>
              </a:rPr>
              <a:t>Input and output ports interfacing on AVR</a:t>
            </a:r>
          </a:p>
          <a:p>
            <a:pPr marL="742950" lvl="1" indent="-285750">
              <a:buFont typeface="Arial" panose="020B0604020202020204" pitchFamily="34" charset="0"/>
              <a:buChar char="•"/>
            </a:pPr>
            <a:r>
              <a:rPr lang="en-US" dirty="0">
                <a:latin typeface="Futura T OT" panose="02000000000000000000" pitchFamily="50" charset="0"/>
              </a:rPr>
              <a:t>Timers and Counters in AVR</a:t>
            </a:r>
          </a:p>
          <a:p>
            <a:pPr marL="742950" lvl="1" indent="-285750">
              <a:buFont typeface="Arial" panose="020B0604020202020204" pitchFamily="34" charset="0"/>
              <a:buChar char="•"/>
            </a:pPr>
            <a:r>
              <a:rPr lang="en-US" dirty="0">
                <a:latin typeface="Futura T OT" panose="02000000000000000000" pitchFamily="50" charset="0"/>
              </a:rPr>
              <a:t>Serial Communication in AVR</a:t>
            </a:r>
          </a:p>
        </p:txBody>
      </p:sp>
    </p:spTree>
    <p:extLst>
      <p:ext uri="{BB962C8B-B14F-4D97-AF65-F5344CB8AC3E}">
        <p14:creationId xmlns:p14="http://schemas.microsoft.com/office/powerpoint/2010/main" val="2500661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28B55-9B1F-9513-2F0A-EA5979DE6F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10FA4E-95E8-0360-8660-9A9E357E4C6F}"/>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8" name="Google Shape;95;p14">
            <a:extLst>
              <a:ext uri="{FF2B5EF4-FFF2-40B4-BE49-F238E27FC236}">
                <a16:creationId xmlns:a16="http://schemas.microsoft.com/office/drawing/2014/main" id="{63DFF22E-1DB9-DE4E-4AD6-7F384CC4FE25}"/>
              </a:ext>
            </a:extLst>
          </p:cNvPr>
          <p:cNvSpPr txBox="1"/>
          <p:nvPr/>
        </p:nvSpPr>
        <p:spPr>
          <a:xfrm>
            <a:off x="186400" y="1361758"/>
            <a:ext cx="5048250" cy="830997"/>
          </a:xfrm>
          <a:prstGeom prst="rect">
            <a:avLst/>
          </a:prstGeom>
          <a:noFill/>
          <a:ln>
            <a:noFill/>
          </a:ln>
        </p:spPr>
        <p:txBody>
          <a:bodyPr spcFirstLastPara="1" wrap="square" lIns="95250" tIns="0" rIns="0" bIns="0" anchor="t" anchorCtr="0">
            <a:spAutoFit/>
          </a:bodyPr>
          <a:lstStyle/>
          <a:p>
            <a:pPr marL="0" marR="0" lvl="0" indent="0" algn="ctr" rtl="0">
              <a:lnSpc>
                <a:spcPct val="150000"/>
              </a:lnSpc>
              <a:spcBef>
                <a:spcPts val="0"/>
              </a:spcBef>
              <a:spcAft>
                <a:spcPts val="0"/>
              </a:spcAft>
              <a:buNone/>
            </a:pPr>
            <a:r>
              <a:rPr lang="en-US" b="0" i="0" u="none" strike="noStrike" cap="none" dirty="0">
                <a:latin typeface="Futura T OT" panose="02000000000000000000" pitchFamily="50" charset="0"/>
                <a:ea typeface="Lato"/>
                <a:cs typeface="Lato"/>
                <a:sym typeface="Lato"/>
              </a:rPr>
              <a:t>AVR is a family of </a:t>
            </a:r>
            <a:r>
              <a:rPr lang="en-US" b="0" i="0" u="none" strike="noStrike" cap="none" dirty="0">
                <a:solidFill>
                  <a:srgbClr val="FF0000"/>
                </a:solidFill>
                <a:latin typeface="Futura T OT" panose="02000000000000000000" pitchFamily="50" charset="0"/>
                <a:ea typeface="Lato"/>
                <a:cs typeface="Lato"/>
                <a:sym typeface="Lato"/>
              </a:rPr>
              <a:t>8-bit RISC</a:t>
            </a:r>
            <a:r>
              <a:rPr lang="en-US" b="0" i="0" u="none" strike="noStrike" cap="none" dirty="0">
                <a:latin typeface="Futura T OT" panose="02000000000000000000" pitchFamily="50" charset="0"/>
                <a:ea typeface="Lato"/>
                <a:cs typeface="Lato"/>
                <a:sym typeface="Lato"/>
              </a:rPr>
              <a:t> microcontrollers developed by Atmel (now Microchip).</a:t>
            </a:r>
            <a:endParaRPr sz="2800" dirty="0">
              <a:latin typeface="Futura T OT" panose="02000000000000000000" pitchFamily="50" charset="0"/>
            </a:endParaRPr>
          </a:p>
        </p:txBody>
      </p:sp>
      <p:sp>
        <p:nvSpPr>
          <p:cNvPr id="10" name="Google Shape;97;p14">
            <a:extLst>
              <a:ext uri="{FF2B5EF4-FFF2-40B4-BE49-F238E27FC236}">
                <a16:creationId xmlns:a16="http://schemas.microsoft.com/office/drawing/2014/main" id="{7068D6E5-5C38-D1BA-BF9F-34343E71D2F3}"/>
              </a:ext>
            </a:extLst>
          </p:cNvPr>
          <p:cNvSpPr txBox="1"/>
          <p:nvPr/>
        </p:nvSpPr>
        <p:spPr>
          <a:xfrm>
            <a:off x="186400" y="2683234"/>
            <a:ext cx="5048250" cy="830997"/>
          </a:xfrm>
          <a:prstGeom prst="rect">
            <a:avLst/>
          </a:prstGeom>
          <a:noFill/>
          <a:ln>
            <a:noFill/>
          </a:ln>
        </p:spPr>
        <p:txBody>
          <a:bodyPr spcFirstLastPara="1" wrap="square" lIns="95250" tIns="0" rIns="0" bIns="0" anchor="t" anchorCtr="0">
            <a:spAutoFit/>
          </a:bodyPr>
          <a:lstStyle/>
          <a:p>
            <a:pPr marL="0" marR="0" lvl="0" indent="0" algn="ctr" rtl="0">
              <a:lnSpc>
                <a:spcPct val="150000"/>
              </a:lnSpc>
              <a:spcBef>
                <a:spcPts val="0"/>
              </a:spcBef>
              <a:spcAft>
                <a:spcPts val="0"/>
              </a:spcAft>
              <a:buNone/>
            </a:pPr>
            <a:r>
              <a:rPr lang="en-US" b="0" i="0" u="none" strike="noStrike" cap="none" dirty="0">
                <a:latin typeface="Futura T OT" panose="02000000000000000000" pitchFamily="50" charset="0"/>
                <a:ea typeface="Lato"/>
                <a:cs typeface="Lato"/>
                <a:sym typeface="Lato"/>
              </a:rPr>
              <a:t>It was one of the first microcontroller families to use on-chip Flash memory for program storage.</a:t>
            </a:r>
            <a:endParaRPr sz="2800" dirty="0">
              <a:latin typeface="Futura T OT" panose="02000000000000000000" pitchFamily="50" charset="0"/>
            </a:endParaRPr>
          </a:p>
        </p:txBody>
      </p:sp>
      <p:sp>
        <p:nvSpPr>
          <p:cNvPr id="12" name="Google Shape;99;p14">
            <a:extLst>
              <a:ext uri="{FF2B5EF4-FFF2-40B4-BE49-F238E27FC236}">
                <a16:creationId xmlns:a16="http://schemas.microsoft.com/office/drawing/2014/main" id="{38B7B580-07B5-4827-D3C1-34B15040AD16}"/>
              </a:ext>
            </a:extLst>
          </p:cNvPr>
          <p:cNvSpPr txBox="1"/>
          <p:nvPr/>
        </p:nvSpPr>
        <p:spPr>
          <a:xfrm>
            <a:off x="186400" y="4004710"/>
            <a:ext cx="5048250" cy="830997"/>
          </a:xfrm>
          <a:prstGeom prst="rect">
            <a:avLst/>
          </a:prstGeom>
          <a:noFill/>
          <a:ln>
            <a:noFill/>
          </a:ln>
        </p:spPr>
        <p:txBody>
          <a:bodyPr spcFirstLastPara="1" wrap="square" lIns="95250" tIns="0" rIns="0" bIns="0" anchor="t" anchorCtr="0">
            <a:spAutoFit/>
          </a:bodyPr>
          <a:lstStyle/>
          <a:p>
            <a:pPr marL="0" marR="0" lvl="0" indent="0" algn="ctr" rtl="0">
              <a:lnSpc>
                <a:spcPct val="150000"/>
              </a:lnSpc>
              <a:spcBef>
                <a:spcPts val="0"/>
              </a:spcBef>
              <a:spcAft>
                <a:spcPts val="0"/>
              </a:spcAft>
              <a:buNone/>
            </a:pPr>
            <a:r>
              <a:rPr lang="en-US" b="0" i="0" u="none" strike="noStrike" cap="none" dirty="0">
                <a:latin typeface="Futura T OT" panose="02000000000000000000" pitchFamily="50" charset="0"/>
                <a:ea typeface="Lato"/>
                <a:cs typeface="Lato"/>
                <a:sym typeface="Lato"/>
              </a:rPr>
              <a:t>The name AVR stands for </a:t>
            </a:r>
            <a:r>
              <a:rPr lang="en-US" b="1" i="0" u="none" strike="noStrike" cap="none" dirty="0">
                <a:solidFill>
                  <a:srgbClr val="FF0000"/>
                </a:solidFill>
                <a:latin typeface="Futura T OT" panose="02000000000000000000" pitchFamily="50" charset="0"/>
                <a:ea typeface="Lato"/>
                <a:cs typeface="Lato"/>
                <a:sym typeface="Lato"/>
              </a:rPr>
              <a:t>A</a:t>
            </a:r>
            <a:r>
              <a:rPr lang="en-US" b="0" i="0" u="none" strike="noStrike" cap="none" dirty="0">
                <a:solidFill>
                  <a:srgbClr val="FF0000"/>
                </a:solidFill>
                <a:latin typeface="Futura T OT" panose="02000000000000000000" pitchFamily="50" charset="0"/>
                <a:ea typeface="Lato"/>
                <a:cs typeface="Lato"/>
                <a:sym typeface="Lato"/>
              </a:rPr>
              <a:t>lf-Egil Bogen and </a:t>
            </a:r>
            <a:r>
              <a:rPr lang="en-US" b="1" i="0" u="none" strike="noStrike" cap="none" dirty="0">
                <a:solidFill>
                  <a:srgbClr val="FF0000"/>
                </a:solidFill>
                <a:latin typeface="Futura T OT" panose="02000000000000000000" pitchFamily="50" charset="0"/>
                <a:ea typeface="Lato"/>
                <a:cs typeface="Lato"/>
                <a:sym typeface="Lato"/>
              </a:rPr>
              <a:t>V</a:t>
            </a:r>
            <a:r>
              <a:rPr lang="en-US" b="0" i="0" u="none" strike="noStrike" cap="none" dirty="0">
                <a:solidFill>
                  <a:srgbClr val="FF0000"/>
                </a:solidFill>
                <a:latin typeface="Futura T OT" panose="02000000000000000000" pitchFamily="50" charset="0"/>
                <a:ea typeface="Lato"/>
                <a:cs typeface="Lato"/>
                <a:sym typeface="Lato"/>
              </a:rPr>
              <a:t>egard Wollan's </a:t>
            </a:r>
            <a:r>
              <a:rPr lang="en-US" b="1" i="0" u="none" strike="noStrike" cap="none" dirty="0">
                <a:solidFill>
                  <a:srgbClr val="FF0000"/>
                </a:solidFill>
                <a:latin typeface="Futura T OT" panose="02000000000000000000" pitchFamily="50" charset="0"/>
                <a:ea typeface="Lato"/>
                <a:cs typeface="Lato"/>
                <a:sym typeface="Lato"/>
              </a:rPr>
              <a:t>R</a:t>
            </a:r>
            <a:r>
              <a:rPr lang="en-US" b="0" i="0" u="none" strike="noStrike" cap="none" dirty="0">
                <a:solidFill>
                  <a:srgbClr val="FF0000"/>
                </a:solidFill>
                <a:latin typeface="Futura T OT" panose="02000000000000000000" pitchFamily="50" charset="0"/>
                <a:ea typeface="Lato"/>
                <a:cs typeface="Lato"/>
                <a:sym typeface="Lato"/>
              </a:rPr>
              <a:t>ISC processor.</a:t>
            </a:r>
            <a:endParaRPr sz="2800" dirty="0">
              <a:solidFill>
                <a:srgbClr val="FF0000"/>
              </a:solidFill>
              <a:latin typeface="Futura T OT" panose="02000000000000000000" pitchFamily="50" charset="0"/>
            </a:endParaRPr>
          </a:p>
        </p:txBody>
      </p:sp>
      <p:sp>
        <p:nvSpPr>
          <p:cNvPr id="14" name="Google Shape;101;p14">
            <a:extLst>
              <a:ext uri="{FF2B5EF4-FFF2-40B4-BE49-F238E27FC236}">
                <a16:creationId xmlns:a16="http://schemas.microsoft.com/office/drawing/2014/main" id="{2C0A766A-7119-9FE1-EF02-46E61DE263D3}"/>
              </a:ext>
            </a:extLst>
          </p:cNvPr>
          <p:cNvSpPr txBox="1"/>
          <p:nvPr/>
        </p:nvSpPr>
        <p:spPr>
          <a:xfrm>
            <a:off x="186400" y="5326186"/>
            <a:ext cx="5048250" cy="830997"/>
          </a:xfrm>
          <a:prstGeom prst="rect">
            <a:avLst/>
          </a:prstGeom>
          <a:noFill/>
          <a:ln>
            <a:noFill/>
          </a:ln>
        </p:spPr>
        <p:txBody>
          <a:bodyPr spcFirstLastPara="1" wrap="square" lIns="95250" tIns="0" rIns="0" bIns="0" anchor="t" anchorCtr="0">
            <a:spAutoFit/>
          </a:bodyPr>
          <a:lstStyle/>
          <a:p>
            <a:pPr marL="0" marR="0" lvl="0" indent="0" algn="ctr" rtl="0">
              <a:lnSpc>
                <a:spcPct val="150000"/>
              </a:lnSpc>
              <a:spcBef>
                <a:spcPts val="0"/>
              </a:spcBef>
              <a:spcAft>
                <a:spcPts val="0"/>
              </a:spcAft>
              <a:buNone/>
            </a:pPr>
            <a:r>
              <a:rPr lang="en-US" b="0" i="0" u="none" strike="noStrike" cap="none" dirty="0">
                <a:latin typeface="Futura T OT" panose="02000000000000000000" pitchFamily="50" charset="0"/>
                <a:ea typeface="Lato"/>
                <a:cs typeface="Lato"/>
                <a:sym typeface="Lato"/>
              </a:rPr>
              <a:t>It is based on a </a:t>
            </a:r>
            <a:r>
              <a:rPr lang="en-US" b="1" i="0" u="none" strike="noStrike" cap="none" dirty="0">
                <a:solidFill>
                  <a:srgbClr val="FF0000"/>
                </a:solidFill>
                <a:latin typeface="Futura T OT" panose="02000000000000000000" pitchFamily="50" charset="0"/>
                <a:ea typeface="Lato"/>
                <a:cs typeface="Lato"/>
                <a:sym typeface="Lato"/>
              </a:rPr>
              <a:t>Harvard architecture</a:t>
            </a:r>
            <a:r>
              <a:rPr lang="en-US" b="0" i="0" u="none" strike="noStrike" cap="none" dirty="0">
                <a:latin typeface="Futura T OT" panose="02000000000000000000" pitchFamily="50" charset="0"/>
                <a:ea typeface="Lato"/>
                <a:cs typeface="Lato"/>
                <a:sym typeface="Lato"/>
              </a:rPr>
              <a:t>, which separates program and data memory.</a:t>
            </a:r>
            <a:endParaRPr sz="2800" dirty="0">
              <a:latin typeface="Futura T OT" panose="02000000000000000000" pitchFamily="50" charset="0"/>
            </a:endParaRPr>
          </a:p>
        </p:txBody>
      </p:sp>
      <p:pic>
        <p:nvPicPr>
          <p:cNvPr id="18" name="Picture 17">
            <a:extLst>
              <a:ext uri="{FF2B5EF4-FFF2-40B4-BE49-F238E27FC236}">
                <a16:creationId xmlns:a16="http://schemas.microsoft.com/office/drawing/2014/main" id="{4EBA1C73-6BBD-72C1-0BFD-3EC5B5A245F7}"/>
              </a:ext>
            </a:extLst>
          </p:cNvPr>
          <p:cNvPicPr>
            <a:picLocks noChangeAspect="1"/>
          </p:cNvPicPr>
          <p:nvPr/>
        </p:nvPicPr>
        <p:blipFill>
          <a:blip r:embed="rId2">
            <a:duotone>
              <a:prstClr val="black"/>
              <a:schemeClr val="bg1">
                <a:lumMod val="50000"/>
                <a:tint val="45000"/>
                <a:satMod val="400000"/>
              </a:schemeClr>
            </a:duotone>
          </a:blip>
          <a:stretch>
            <a:fillRect/>
          </a:stretch>
        </p:blipFill>
        <p:spPr>
          <a:xfrm>
            <a:off x="5661370" y="717306"/>
            <a:ext cx="6344230" cy="5940026"/>
          </a:xfrm>
          <a:prstGeom prst="rect">
            <a:avLst/>
          </a:prstGeom>
        </p:spPr>
      </p:pic>
    </p:spTree>
    <p:extLst>
      <p:ext uri="{BB962C8B-B14F-4D97-AF65-F5344CB8AC3E}">
        <p14:creationId xmlns:p14="http://schemas.microsoft.com/office/powerpoint/2010/main" val="397173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281D-A6ED-2947-4B23-175CBA8936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EB9189-ABEF-6080-B06C-891D23A1A59F}"/>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pic>
        <p:nvPicPr>
          <p:cNvPr id="2050" name="Picture 2">
            <a:extLst>
              <a:ext uri="{FF2B5EF4-FFF2-40B4-BE49-F238E27FC236}">
                <a16:creationId xmlns:a16="http://schemas.microsoft.com/office/drawing/2014/main" id="{CCABEB7D-FFBA-3C72-4B56-07F618A6C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4" y="818630"/>
            <a:ext cx="9048750"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450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05EE3AF-73FA-77E6-7D94-AC2290060C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FDBEFD-E981-A32D-B806-2DC69D31A49A}"/>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pic>
        <p:nvPicPr>
          <p:cNvPr id="15" name="Picture 14">
            <a:extLst>
              <a:ext uri="{FF2B5EF4-FFF2-40B4-BE49-F238E27FC236}">
                <a16:creationId xmlns:a16="http://schemas.microsoft.com/office/drawing/2014/main" id="{5D9F1C37-0F43-0D6E-B3CD-52347BA54C6A}"/>
              </a:ext>
            </a:extLst>
          </p:cNvPr>
          <p:cNvPicPr>
            <a:picLocks noChangeAspect="1"/>
          </p:cNvPicPr>
          <p:nvPr/>
        </p:nvPicPr>
        <p:blipFill>
          <a:blip r:embed="rId2">
            <a:duotone>
              <a:prstClr val="black"/>
              <a:schemeClr val="bg1">
                <a:lumMod val="85000"/>
                <a:tint val="45000"/>
                <a:satMod val="400000"/>
              </a:schemeClr>
            </a:duotone>
          </a:blip>
          <a:srcRect t="25783" b="18794"/>
          <a:stretch>
            <a:fillRect/>
          </a:stretch>
        </p:blipFill>
        <p:spPr>
          <a:xfrm>
            <a:off x="3986796" y="702850"/>
            <a:ext cx="4193816" cy="2324335"/>
          </a:xfrm>
          <a:prstGeom prst="rect">
            <a:avLst/>
          </a:prstGeom>
        </p:spPr>
      </p:pic>
      <p:sp>
        <p:nvSpPr>
          <p:cNvPr id="3" name="Google Shape;109;p15">
            <a:extLst>
              <a:ext uri="{FF2B5EF4-FFF2-40B4-BE49-F238E27FC236}">
                <a16:creationId xmlns:a16="http://schemas.microsoft.com/office/drawing/2014/main" id="{F0E373D0-E2B8-7159-076A-4BA6763F81AE}"/>
              </a:ext>
            </a:extLst>
          </p:cNvPr>
          <p:cNvSpPr txBox="1"/>
          <p:nvPr/>
        </p:nvSpPr>
        <p:spPr>
          <a:xfrm>
            <a:off x="533516" y="2871476"/>
            <a:ext cx="11100377"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1" i="0" u="none" strike="noStrike" cap="none" dirty="0">
                <a:latin typeface="Futura T OT" panose="02000000000000000000" pitchFamily="50" charset="0"/>
                <a:ea typeface="Lato"/>
                <a:cs typeface="Lato"/>
                <a:sym typeface="Lato"/>
              </a:rPr>
              <a:t>RISC Architecture:</a:t>
            </a:r>
            <a:r>
              <a:rPr lang="en-US" b="0" i="0" u="none" strike="noStrike" cap="none" dirty="0">
                <a:latin typeface="Futura T OT" panose="02000000000000000000" pitchFamily="50" charset="0"/>
                <a:ea typeface="Lato"/>
                <a:cs typeface="Lato"/>
                <a:sym typeface="Lato"/>
              </a:rPr>
              <a:t> (Reduced Instruction Set Computer). Features a rich instruction set where most instructions execute in a single clock cycle.</a:t>
            </a:r>
            <a:endParaRPr sz="2800" dirty="0">
              <a:latin typeface="Futura T OT" panose="02000000000000000000" pitchFamily="50" charset="0"/>
            </a:endParaRPr>
          </a:p>
        </p:txBody>
      </p:sp>
      <p:sp>
        <p:nvSpPr>
          <p:cNvPr id="4" name="Google Shape;110;p15">
            <a:extLst>
              <a:ext uri="{FF2B5EF4-FFF2-40B4-BE49-F238E27FC236}">
                <a16:creationId xmlns:a16="http://schemas.microsoft.com/office/drawing/2014/main" id="{0F0D349E-F953-0027-5C6E-498B70C70290}"/>
              </a:ext>
            </a:extLst>
          </p:cNvPr>
          <p:cNvSpPr txBox="1"/>
          <p:nvPr/>
        </p:nvSpPr>
        <p:spPr>
          <a:xfrm>
            <a:off x="545811" y="4030980"/>
            <a:ext cx="11100377"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1" i="0" u="none" strike="noStrike" cap="none" dirty="0">
                <a:latin typeface="Futura T OT" panose="02000000000000000000" pitchFamily="50" charset="0"/>
                <a:ea typeface="Lato"/>
                <a:cs typeface="Lato"/>
                <a:sym typeface="Lato"/>
              </a:rPr>
              <a:t>High Performance:</a:t>
            </a:r>
            <a:r>
              <a:rPr lang="en-US" b="0" i="0" u="none" strike="noStrike" cap="none" dirty="0">
                <a:latin typeface="Futura T OT" panose="02000000000000000000" pitchFamily="50" charset="0"/>
                <a:ea typeface="Lato"/>
                <a:cs typeface="Lato"/>
                <a:sym typeface="Lato"/>
              </a:rPr>
              <a:t> Achieves high throughput (approaching 1 MIPS per MHz) by executing instructions quickly and efficiently.</a:t>
            </a:r>
            <a:endParaRPr sz="2800" dirty="0">
              <a:latin typeface="Futura T OT" panose="02000000000000000000" pitchFamily="50" charset="0"/>
            </a:endParaRPr>
          </a:p>
        </p:txBody>
      </p:sp>
      <p:sp>
        <p:nvSpPr>
          <p:cNvPr id="5" name="Google Shape;111;p15">
            <a:extLst>
              <a:ext uri="{FF2B5EF4-FFF2-40B4-BE49-F238E27FC236}">
                <a16:creationId xmlns:a16="http://schemas.microsoft.com/office/drawing/2014/main" id="{77064B52-8A54-D092-8FA5-B4BFD119FBB3}"/>
              </a:ext>
            </a:extLst>
          </p:cNvPr>
          <p:cNvSpPr txBox="1"/>
          <p:nvPr/>
        </p:nvSpPr>
        <p:spPr>
          <a:xfrm>
            <a:off x="545811" y="5184696"/>
            <a:ext cx="11100377"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1" i="0" u="none" strike="noStrike" cap="none">
                <a:latin typeface="Futura T OT" panose="02000000000000000000" pitchFamily="50" charset="0"/>
                <a:ea typeface="Lato"/>
                <a:cs typeface="Lato"/>
                <a:sym typeface="Lato"/>
              </a:rPr>
              <a:t>Modified Harvard Architecture:</a:t>
            </a:r>
            <a:r>
              <a:rPr lang="en-US" b="0" i="0" u="none" strike="noStrike" cap="none">
                <a:latin typeface="Futura T OT" panose="02000000000000000000" pitchFamily="50" charset="0"/>
                <a:ea typeface="Lato"/>
                <a:cs typeface="Lato"/>
                <a:sym typeface="Lato"/>
              </a:rPr>
              <a:t> Uses separate buses and memories for Program (Flash) and Data (SRAM), allowing simultaneous access and improving speed.</a:t>
            </a:r>
            <a:endParaRPr sz="2800">
              <a:latin typeface="Futura T OT" panose="02000000000000000000" pitchFamily="50" charset="0"/>
            </a:endParaRPr>
          </a:p>
        </p:txBody>
      </p:sp>
      <p:sp>
        <p:nvSpPr>
          <p:cNvPr id="6" name="Google Shape;112;p15">
            <a:extLst>
              <a:ext uri="{FF2B5EF4-FFF2-40B4-BE49-F238E27FC236}">
                <a16:creationId xmlns:a16="http://schemas.microsoft.com/office/drawing/2014/main" id="{7687BAC5-DCF3-322F-BF6F-76456864A669}"/>
              </a:ext>
            </a:extLst>
          </p:cNvPr>
          <p:cNvSpPr txBox="1"/>
          <p:nvPr/>
        </p:nvSpPr>
        <p:spPr>
          <a:xfrm>
            <a:off x="545811" y="6287125"/>
            <a:ext cx="11100377" cy="4154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1" i="0" u="none" strike="noStrike" cap="none">
                <a:latin typeface="Futura T OT" panose="02000000000000000000" pitchFamily="50" charset="0"/>
                <a:ea typeface="Lato"/>
                <a:cs typeface="Lato"/>
                <a:sym typeface="Lato"/>
              </a:rPr>
              <a:t>32 General-Purpose Registers:</a:t>
            </a:r>
            <a:r>
              <a:rPr lang="en-US" b="0" i="0" u="none" strike="noStrike" cap="none">
                <a:latin typeface="Futura T OT" panose="02000000000000000000" pitchFamily="50" charset="0"/>
                <a:ea typeface="Lato"/>
                <a:cs typeface="Lato"/>
                <a:sym typeface="Lato"/>
              </a:rPr>
              <a:t> A large register file, with all registers directly connected to the ALU (Arithmetic Logic Unit).</a:t>
            </a:r>
            <a:endParaRPr sz="2800">
              <a:latin typeface="Futura T OT" panose="02000000000000000000" pitchFamily="50" charset="0"/>
            </a:endParaRPr>
          </a:p>
        </p:txBody>
      </p:sp>
      <p:pic>
        <p:nvPicPr>
          <p:cNvPr id="7" name="Google Shape;113;p15" descr="image.png">
            <a:extLst>
              <a:ext uri="{FF2B5EF4-FFF2-40B4-BE49-F238E27FC236}">
                <a16:creationId xmlns:a16="http://schemas.microsoft.com/office/drawing/2014/main" id="{E321F6B7-DD3D-BA94-71FB-5034C36C0559}"/>
              </a:ext>
            </a:extLst>
          </p:cNvPr>
          <p:cNvPicPr preferRelativeResize="0"/>
          <p:nvPr/>
        </p:nvPicPr>
        <p:blipFill rotWithShape="1">
          <a:blip r:embed="rId3">
            <a:alphaModFix/>
          </a:blip>
          <a:srcRect/>
          <a:stretch/>
        </p:blipFill>
        <p:spPr>
          <a:xfrm>
            <a:off x="113795" y="3145261"/>
            <a:ext cx="309778" cy="228600"/>
          </a:xfrm>
          <a:prstGeom prst="rect">
            <a:avLst/>
          </a:prstGeom>
          <a:noFill/>
          <a:ln>
            <a:noFill/>
          </a:ln>
        </p:spPr>
      </p:pic>
      <p:pic>
        <p:nvPicPr>
          <p:cNvPr id="9" name="Google Shape;114;p15" descr="image.png">
            <a:extLst>
              <a:ext uri="{FF2B5EF4-FFF2-40B4-BE49-F238E27FC236}">
                <a16:creationId xmlns:a16="http://schemas.microsoft.com/office/drawing/2014/main" id="{FCE67E49-A145-0783-A479-5ED3A48033ED}"/>
              </a:ext>
            </a:extLst>
          </p:cNvPr>
          <p:cNvPicPr preferRelativeResize="0"/>
          <p:nvPr/>
        </p:nvPicPr>
        <p:blipFill rotWithShape="1">
          <a:blip r:embed="rId4">
            <a:alphaModFix/>
          </a:blip>
          <a:srcRect/>
          <a:stretch/>
        </p:blipFill>
        <p:spPr>
          <a:xfrm>
            <a:off x="100736" y="4332178"/>
            <a:ext cx="271056" cy="228600"/>
          </a:xfrm>
          <a:prstGeom prst="rect">
            <a:avLst/>
          </a:prstGeom>
          <a:noFill/>
          <a:ln>
            <a:noFill/>
          </a:ln>
        </p:spPr>
      </p:pic>
      <p:pic>
        <p:nvPicPr>
          <p:cNvPr id="11" name="Google Shape;115;p15" descr="image.png">
            <a:extLst>
              <a:ext uri="{FF2B5EF4-FFF2-40B4-BE49-F238E27FC236}">
                <a16:creationId xmlns:a16="http://schemas.microsoft.com/office/drawing/2014/main" id="{59815158-BB71-5655-C11E-5EEF7EF75DFE}"/>
              </a:ext>
            </a:extLst>
          </p:cNvPr>
          <p:cNvPicPr preferRelativeResize="0"/>
          <p:nvPr/>
        </p:nvPicPr>
        <p:blipFill rotWithShape="1">
          <a:blip r:embed="rId5">
            <a:alphaModFix/>
          </a:blip>
          <a:srcRect/>
          <a:stretch/>
        </p:blipFill>
        <p:spPr>
          <a:xfrm>
            <a:off x="75073" y="5485894"/>
            <a:ext cx="348500" cy="228600"/>
          </a:xfrm>
          <a:prstGeom prst="rect">
            <a:avLst/>
          </a:prstGeom>
          <a:noFill/>
          <a:ln>
            <a:noFill/>
          </a:ln>
        </p:spPr>
      </p:pic>
      <p:pic>
        <p:nvPicPr>
          <p:cNvPr id="13" name="Google Shape;116;p15" descr="image.png">
            <a:extLst>
              <a:ext uri="{FF2B5EF4-FFF2-40B4-BE49-F238E27FC236}">
                <a16:creationId xmlns:a16="http://schemas.microsoft.com/office/drawing/2014/main" id="{CF98819A-2F8F-D458-5C29-76BE4651ACA0}"/>
              </a:ext>
            </a:extLst>
          </p:cNvPr>
          <p:cNvPicPr preferRelativeResize="0"/>
          <p:nvPr/>
        </p:nvPicPr>
        <p:blipFill rotWithShape="1">
          <a:blip r:embed="rId6">
            <a:alphaModFix/>
          </a:blip>
          <a:srcRect/>
          <a:stretch/>
        </p:blipFill>
        <p:spPr>
          <a:xfrm>
            <a:off x="113795" y="6410363"/>
            <a:ext cx="348500" cy="228600"/>
          </a:xfrm>
          <a:prstGeom prst="rect">
            <a:avLst/>
          </a:prstGeom>
          <a:noFill/>
          <a:ln>
            <a:noFill/>
          </a:ln>
        </p:spPr>
      </p:pic>
    </p:spTree>
    <p:extLst>
      <p:ext uri="{BB962C8B-B14F-4D97-AF65-F5344CB8AC3E}">
        <p14:creationId xmlns:p14="http://schemas.microsoft.com/office/powerpoint/2010/main" val="4259251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B6DEB-3F55-30BF-0AB3-4D0068A22C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23AA58-8316-2E8D-6097-B006E8D6F533}"/>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pic>
        <p:nvPicPr>
          <p:cNvPr id="8" name="Google Shape;136;p17" descr="image.png">
            <a:extLst>
              <a:ext uri="{FF2B5EF4-FFF2-40B4-BE49-F238E27FC236}">
                <a16:creationId xmlns:a16="http://schemas.microsoft.com/office/drawing/2014/main" id="{EEF8969B-BEA9-FBB5-6D76-417964991BE1}"/>
              </a:ext>
            </a:extLst>
          </p:cNvPr>
          <p:cNvPicPr preferRelativeResize="0"/>
          <p:nvPr/>
        </p:nvPicPr>
        <p:blipFill rotWithShape="1">
          <a:blip r:embed="rId2">
            <a:alphaModFix/>
          </a:blip>
          <a:srcRect/>
          <a:stretch/>
        </p:blipFill>
        <p:spPr>
          <a:xfrm>
            <a:off x="571500" y="2133600"/>
            <a:ext cx="3429000" cy="3714750"/>
          </a:xfrm>
          <a:prstGeom prst="rect">
            <a:avLst/>
          </a:prstGeom>
          <a:noFill/>
          <a:ln>
            <a:noFill/>
          </a:ln>
        </p:spPr>
      </p:pic>
      <p:pic>
        <p:nvPicPr>
          <p:cNvPr id="10" name="Google Shape;137;p17" descr="image.png">
            <a:extLst>
              <a:ext uri="{FF2B5EF4-FFF2-40B4-BE49-F238E27FC236}">
                <a16:creationId xmlns:a16="http://schemas.microsoft.com/office/drawing/2014/main" id="{00AF398F-BE75-700F-0F5B-911E2290A754}"/>
              </a:ext>
            </a:extLst>
          </p:cNvPr>
          <p:cNvPicPr preferRelativeResize="0"/>
          <p:nvPr/>
        </p:nvPicPr>
        <p:blipFill rotWithShape="1">
          <a:blip r:embed="rId3">
            <a:alphaModFix/>
          </a:blip>
          <a:srcRect/>
          <a:stretch/>
        </p:blipFill>
        <p:spPr>
          <a:xfrm>
            <a:off x="4381500" y="2133600"/>
            <a:ext cx="3429000" cy="3714750"/>
          </a:xfrm>
          <a:prstGeom prst="rect">
            <a:avLst/>
          </a:prstGeom>
          <a:noFill/>
          <a:ln>
            <a:noFill/>
          </a:ln>
        </p:spPr>
      </p:pic>
      <p:pic>
        <p:nvPicPr>
          <p:cNvPr id="12" name="Google Shape;138;p17" descr="image.png">
            <a:extLst>
              <a:ext uri="{FF2B5EF4-FFF2-40B4-BE49-F238E27FC236}">
                <a16:creationId xmlns:a16="http://schemas.microsoft.com/office/drawing/2014/main" id="{27EAB954-1A78-91EA-37B0-6FCE359C21FC}"/>
              </a:ext>
            </a:extLst>
          </p:cNvPr>
          <p:cNvPicPr preferRelativeResize="0"/>
          <p:nvPr/>
        </p:nvPicPr>
        <p:blipFill rotWithShape="1">
          <a:blip r:embed="rId3">
            <a:alphaModFix/>
          </a:blip>
          <a:srcRect/>
          <a:stretch/>
        </p:blipFill>
        <p:spPr>
          <a:xfrm>
            <a:off x="8191500" y="2133600"/>
            <a:ext cx="3429000" cy="3714750"/>
          </a:xfrm>
          <a:prstGeom prst="rect">
            <a:avLst/>
          </a:prstGeom>
          <a:noFill/>
          <a:ln>
            <a:noFill/>
          </a:ln>
        </p:spPr>
      </p:pic>
      <p:sp>
        <p:nvSpPr>
          <p:cNvPr id="14" name="Google Shape;139;p17">
            <a:extLst>
              <a:ext uri="{FF2B5EF4-FFF2-40B4-BE49-F238E27FC236}">
                <a16:creationId xmlns:a16="http://schemas.microsoft.com/office/drawing/2014/main" id="{C760A07F-434E-6898-796A-094538226AD1}"/>
              </a:ext>
            </a:extLst>
          </p:cNvPr>
          <p:cNvSpPr txBox="1"/>
          <p:nvPr/>
        </p:nvSpPr>
        <p:spPr>
          <a:xfrm>
            <a:off x="785812" y="3133725"/>
            <a:ext cx="3000375"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Futura T OT" panose="02000000000000000000" pitchFamily="50" charset="0"/>
                <a:ea typeface="Poppins"/>
                <a:cs typeface="Poppins"/>
                <a:sym typeface="Poppins"/>
              </a:rPr>
              <a:t>32KB Flash (Program)</a:t>
            </a:r>
            <a:endParaRPr>
              <a:latin typeface="Futura T OT" panose="02000000000000000000" pitchFamily="50" charset="0"/>
            </a:endParaRPr>
          </a:p>
        </p:txBody>
      </p:sp>
      <p:sp>
        <p:nvSpPr>
          <p:cNvPr id="15" name="Google Shape;140;p17">
            <a:extLst>
              <a:ext uri="{FF2B5EF4-FFF2-40B4-BE49-F238E27FC236}">
                <a16:creationId xmlns:a16="http://schemas.microsoft.com/office/drawing/2014/main" id="{E57CAA79-5D0C-52DE-BDD6-FDDD66CAB6EA}"/>
              </a:ext>
            </a:extLst>
          </p:cNvPr>
          <p:cNvSpPr txBox="1"/>
          <p:nvPr/>
        </p:nvSpPr>
        <p:spPr>
          <a:xfrm>
            <a:off x="857250" y="3933411"/>
            <a:ext cx="2857500"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CBD5E1"/>
                </a:solidFill>
                <a:latin typeface="Futura T OT" panose="02000000000000000000" pitchFamily="50" charset="0"/>
                <a:ea typeface="Lato"/>
                <a:cs typeface="Lato"/>
                <a:sym typeface="Lato"/>
              </a:rPr>
              <a:t>In-System Programmable (ISP) non-volatile memory used for storing the program code. It can be reprogrammed thousands of times.</a:t>
            </a:r>
            <a:endParaRPr dirty="0">
              <a:latin typeface="Futura T OT" panose="02000000000000000000" pitchFamily="50" charset="0"/>
            </a:endParaRPr>
          </a:p>
        </p:txBody>
      </p:sp>
      <p:sp>
        <p:nvSpPr>
          <p:cNvPr id="16" name="Google Shape;141;p17">
            <a:extLst>
              <a:ext uri="{FF2B5EF4-FFF2-40B4-BE49-F238E27FC236}">
                <a16:creationId xmlns:a16="http://schemas.microsoft.com/office/drawing/2014/main" id="{F06D9099-5684-56A9-C19B-174B5D0F038F}"/>
              </a:ext>
            </a:extLst>
          </p:cNvPr>
          <p:cNvSpPr txBox="1"/>
          <p:nvPr/>
        </p:nvSpPr>
        <p:spPr>
          <a:xfrm>
            <a:off x="4765833" y="3133725"/>
            <a:ext cx="2660332"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Futura T OT" panose="02000000000000000000" pitchFamily="50" charset="0"/>
                <a:ea typeface="Poppins"/>
                <a:cs typeface="Poppins"/>
                <a:sym typeface="Poppins"/>
              </a:rPr>
              <a:t>2KB SRAM (Data)</a:t>
            </a:r>
            <a:endParaRPr>
              <a:latin typeface="Futura T OT" panose="02000000000000000000" pitchFamily="50" charset="0"/>
            </a:endParaRPr>
          </a:p>
        </p:txBody>
      </p:sp>
      <p:sp>
        <p:nvSpPr>
          <p:cNvPr id="17" name="Google Shape;142;p17">
            <a:extLst>
              <a:ext uri="{FF2B5EF4-FFF2-40B4-BE49-F238E27FC236}">
                <a16:creationId xmlns:a16="http://schemas.microsoft.com/office/drawing/2014/main" id="{2119DF59-05E6-1CA8-B7BC-36E518FC92FD}"/>
              </a:ext>
            </a:extLst>
          </p:cNvPr>
          <p:cNvSpPr txBox="1"/>
          <p:nvPr/>
        </p:nvSpPr>
        <p:spPr>
          <a:xfrm>
            <a:off x="4667250" y="3933411"/>
            <a:ext cx="2857500"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CBD5E1"/>
                </a:solidFill>
                <a:latin typeface="Futura T OT" panose="02000000000000000000" pitchFamily="50" charset="0"/>
                <a:ea typeface="Lato"/>
                <a:cs typeface="Lato"/>
                <a:sym typeface="Lato"/>
              </a:rPr>
              <a:t>Static RAM. This is volatile memory used for storing variables, stack, and data during runtime. All data is lost when power is off.</a:t>
            </a:r>
            <a:endParaRPr dirty="0">
              <a:latin typeface="Futura T OT" panose="02000000000000000000" pitchFamily="50" charset="0"/>
            </a:endParaRPr>
          </a:p>
        </p:txBody>
      </p:sp>
      <p:sp>
        <p:nvSpPr>
          <p:cNvPr id="18" name="Google Shape;143;p17">
            <a:extLst>
              <a:ext uri="{FF2B5EF4-FFF2-40B4-BE49-F238E27FC236}">
                <a16:creationId xmlns:a16="http://schemas.microsoft.com/office/drawing/2014/main" id="{01C85613-1CAC-778E-0794-7BA5B0B2DDCD}"/>
              </a:ext>
            </a:extLst>
          </p:cNvPr>
          <p:cNvSpPr txBox="1"/>
          <p:nvPr/>
        </p:nvSpPr>
        <p:spPr>
          <a:xfrm>
            <a:off x="8450818" y="3133725"/>
            <a:ext cx="2910363"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Futura T OT" panose="02000000000000000000" pitchFamily="50" charset="0"/>
                <a:ea typeface="Poppins"/>
                <a:cs typeface="Poppins"/>
                <a:sym typeface="Poppins"/>
              </a:rPr>
              <a:t>1KB EEPROM (Data)</a:t>
            </a:r>
            <a:endParaRPr>
              <a:latin typeface="Futura T OT" panose="02000000000000000000" pitchFamily="50" charset="0"/>
            </a:endParaRPr>
          </a:p>
        </p:txBody>
      </p:sp>
      <p:sp>
        <p:nvSpPr>
          <p:cNvPr id="19" name="Google Shape;144;p17">
            <a:extLst>
              <a:ext uri="{FF2B5EF4-FFF2-40B4-BE49-F238E27FC236}">
                <a16:creationId xmlns:a16="http://schemas.microsoft.com/office/drawing/2014/main" id="{E95DAC6E-A40D-89B2-3976-D69CFD721E96}"/>
              </a:ext>
            </a:extLst>
          </p:cNvPr>
          <p:cNvSpPr txBox="1"/>
          <p:nvPr/>
        </p:nvSpPr>
        <p:spPr>
          <a:xfrm>
            <a:off x="8477250" y="3933411"/>
            <a:ext cx="2857500"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CBD5E1"/>
                </a:solidFill>
                <a:latin typeface="Futura T OT" panose="02000000000000000000" pitchFamily="50" charset="0"/>
                <a:ea typeface="Lato"/>
                <a:cs typeface="Lato"/>
                <a:sym typeface="Lato"/>
              </a:rPr>
              <a:t>Non-volatile memory used for storing data that must be saved when power is off, such as configuration settings or calibration data.</a:t>
            </a:r>
            <a:endParaRPr dirty="0">
              <a:latin typeface="Futura T OT" panose="02000000000000000000" pitchFamily="50" charset="0"/>
            </a:endParaRPr>
          </a:p>
        </p:txBody>
      </p:sp>
      <p:pic>
        <p:nvPicPr>
          <p:cNvPr id="20" name="Google Shape;145;p17" descr="image.png">
            <a:extLst>
              <a:ext uri="{FF2B5EF4-FFF2-40B4-BE49-F238E27FC236}">
                <a16:creationId xmlns:a16="http://schemas.microsoft.com/office/drawing/2014/main" id="{31E4767E-4FE7-A393-0E4F-53411B219885}"/>
              </a:ext>
            </a:extLst>
          </p:cNvPr>
          <p:cNvPicPr preferRelativeResize="0"/>
          <p:nvPr/>
        </p:nvPicPr>
        <p:blipFill rotWithShape="1">
          <a:blip r:embed="rId4">
            <a:alphaModFix/>
          </a:blip>
          <a:srcRect/>
          <a:stretch/>
        </p:blipFill>
        <p:spPr>
          <a:xfrm>
            <a:off x="2085975" y="2438400"/>
            <a:ext cx="400050" cy="457200"/>
          </a:xfrm>
          <a:prstGeom prst="rect">
            <a:avLst/>
          </a:prstGeom>
          <a:noFill/>
          <a:ln>
            <a:noFill/>
          </a:ln>
        </p:spPr>
      </p:pic>
      <p:pic>
        <p:nvPicPr>
          <p:cNvPr id="21" name="Google Shape;146;p17" descr="image.png">
            <a:extLst>
              <a:ext uri="{FF2B5EF4-FFF2-40B4-BE49-F238E27FC236}">
                <a16:creationId xmlns:a16="http://schemas.microsoft.com/office/drawing/2014/main" id="{FC0C958E-28D8-3805-CC94-CA5EFCFADABC}"/>
              </a:ext>
            </a:extLst>
          </p:cNvPr>
          <p:cNvPicPr preferRelativeResize="0"/>
          <p:nvPr/>
        </p:nvPicPr>
        <p:blipFill rotWithShape="1">
          <a:blip r:embed="rId5">
            <a:alphaModFix/>
          </a:blip>
          <a:srcRect/>
          <a:stretch/>
        </p:blipFill>
        <p:spPr>
          <a:xfrm>
            <a:off x="5924550" y="2438400"/>
            <a:ext cx="342900" cy="457200"/>
          </a:xfrm>
          <a:prstGeom prst="rect">
            <a:avLst/>
          </a:prstGeom>
          <a:noFill/>
          <a:ln>
            <a:noFill/>
          </a:ln>
        </p:spPr>
      </p:pic>
      <p:pic>
        <p:nvPicPr>
          <p:cNvPr id="22" name="Google Shape;147;p17" descr="image.png">
            <a:extLst>
              <a:ext uri="{FF2B5EF4-FFF2-40B4-BE49-F238E27FC236}">
                <a16:creationId xmlns:a16="http://schemas.microsoft.com/office/drawing/2014/main" id="{CD6B024F-277C-DC45-6B23-0912CF7B2A47}"/>
              </a:ext>
            </a:extLst>
          </p:cNvPr>
          <p:cNvPicPr preferRelativeResize="0"/>
          <p:nvPr/>
        </p:nvPicPr>
        <p:blipFill rotWithShape="1">
          <a:blip r:embed="rId6">
            <a:alphaModFix/>
          </a:blip>
          <a:srcRect/>
          <a:stretch/>
        </p:blipFill>
        <p:spPr>
          <a:xfrm>
            <a:off x="9705975" y="2438400"/>
            <a:ext cx="400050" cy="457200"/>
          </a:xfrm>
          <a:prstGeom prst="rect">
            <a:avLst/>
          </a:prstGeom>
          <a:noFill/>
          <a:ln>
            <a:noFill/>
          </a:ln>
        </p:spPr>
      </p:pic>
      <p:sp>
        <p:nvSpPr>
          <p:cNvPr id="23" name="TextBox 22">
            <a:extLst>
              <a:ext uri="{FF2B5EF4-FFF2-40B4-BE49-F238E27FC236}">
                <a16:creationId xmlns:a16="http://schemas.microsoft.com/office/drawing/2014/main" id="{A520995C-0B79-C819-731C-8BF41D2E31AA}"/>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Memory Architecture</a:t>
            </a:r>
          </a:p>
        </p:txBody>
      </p:sp>
    </p:spTree>
    <p:extLst>
      <p:ext uri="{BB962C8B-B14F-4D97-AF65-F5344CB8AC3E}">
        <p14:creationId xmlns:p14="http://schemas.microsoft.com/office/powerpoint/2010/main" val="260469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BBC93-3992-0B57-32DC-3ADA2C8307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47DCDE-46CF-6357-4EDE-7020EAA4D5E0}"/>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13" name="TextBox 12">
            <a:extLst>
              <a:ext uri="{FF2B5EF4-FFF2-40B4-BE49-F238E27FC236}">
                <a16:creationId xmlns:a16="http://schemas.microsoft.com/office/drawing/2014/main" id="{E7F2911A-9334-9EB2-6944-34017BD89459}"/>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Memory Architecture</a:t>
            </a:r>
          </a:p>
        </p:txBody>
      </p:sp>
      <p:pic>
        <p:nvPicPr>
          <p:cNvPr id="15" name="Picture 14">
            <a:extLst>
              <a:ext uri="{FF2B5EF4-FFF2-40B4-BE49-F238E27FC236}">
                <a16:creationId xmlns:a16="http://schemas.microsoft.com/office/drawing/2014/main" id="{47542E91-8B46-46EE-750C-2F40742D1BFD}"/>
              </a:ext>
            </a:extLst>
          </p:cNvPr>
          <p:cNvPicPr>
            <a:picLocks noChangeAspect="1"/>
          </p:cNvPicPr>
          <p:nvPr/>
        </p:nvPicPr>
        <p:blipFill>
          <a:blip r:embed="rId2"/>
          <a:stretch>
            <a:fillRect/>
          </a:stretch>
        </p:blipFill>
        <p:spPr>
          <a:xfrm>
            <a:off x="3021063" y="1311652"/>
            <a:ext cx="6149873" cy="5197290"/>
          </a:xfrm>
          <a:prstGeom prst="rect">
            <a:avLst/>
          </a:prstGeom>
        </p:spPr>
      </p:pic>
      <p:sp>
        <p:nvSpPr>
          <p:cNvPr id="3" name="TextBox 2">
            <a:extLst>
              <a:ext uri="{FF2B5EF4-FFF2-40B4-BE49-F238E27FC236}">
                <a16:creationId xmlns:a16="http://schemas.microsoft.com/office/drawing/2014/main" id="{60CD64C5-C8E6-6D91-B3F1-FD32391B4D7A}"/>
              </a:ext>
            </a:extLst>
          </p:cNvPr>
          <p:cNvSpPr txBox="1"/>
          <p:nvPr/>
        </p:nvSpPr>
        <p:spPr>
          <a:xfrm>
            <a:off x="4027055" y="6508942"/>
            <a:ext cx="1732718" cy="369332"/>
          </a:xfrm>
          <a:prstGeom prst="rect">
            <a:avLst/>
          </a:prstGeom>
          <a:noFill/>
        </p:spPr>
        <p:txBody>
          <a:bodyPr wrap="none" rtlCol="0">
            <a:spAutoFit/>
          </a:bodyPr>
          <a:lstStyle/>
          <a:p>
            <a:r>
              <a:rPr lang="en-US" dirty="0">
                <a:latin typeface="Futura T OT" panose="02000000000000000000" pitchFamily="50" charset="0"/>
              </a:rPr>
              <a:t>fig: 32x8 register</a:t>
            </a:r>
          </a:p>
        </p:txBody>
      </p:sp>
    </p:spTree>
    <p:extLst>
      <p:ext uri="{BB962C8B-B14F-4D97-AF65-F5344CB8AC3E}">
        <p14:creationId xmlns:p14="http://schemas.microsoft.com/office/powerpoint/2010/main" val="984603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9E03A-8382-3F5B-E322-85B6F5E0D6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D56F416-FE89-0905-CE74-0BFA6ACCCDC4}"/>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13" name="TextBox 12">
            <a:extLst>
              <a:ext uri="{FF2B5EF4-FFF2-40B4-BE49-F238E27FC236}">
                <a16:creationId xmlns:a16="http://schemas.microsoft.com/office/drawing/2014/main" id="{419515BE-C015-6153-B2DE-5AF188DFE875}"/>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Memory Architecture</a:t>
            </a:r>
          </a:p>
        </p:txBody>
      </p:sp>
      <p:pic>
        <p:nvPicPr>
          <p:cNvPr id="14" name="Picture 13">
            <a:extLst>
              <a:ext uri="{FF2B5EF4-FFF2-40B4-BE49-F238E27FC236}">
                <a16:creationId xmlns:a16="http://schemas.microsoft.com/office/drawing/2014/main" id="{976F157A-08E0-B763-4E92-737BF0BC2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099" y="1751706"/>
            <a:ext cx="7543800"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1297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5F1FD-0CD1-50D9-C7E2-A0F954A915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33CB1A-38C3-8CBA-76E2-5B4CD8187FD9}"/>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13" name="TextBox 12">
            <a:extLst>
              <a:ext uri="{FF2B5EF4-FFF2-40B4-BE49-F238E27FC236}">
                <a16:creationId xmlns:a16="http://schemas.microsoft.com/office/drawing/2014/main" id="{94F5DAEB-5F39-26DE-45B4-32DCCA72D497}"/>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Memory Architecture</a:t>
            </a:r>
          </a:p>
        </p:txBody>
      </p:sp>
      <p:pic>
        <p:nvPicPr>
          <p:cNvPr id="4" name="Picture 3">
            <a:extLst>
              <a:ext uri="{FF2B5EF4-FFF2-40B4-BE49-F238E27FC236}">
                <a16:creationId xmlns:a16="http://schemas.microsoft.com/office/drawing/2014/main" id="{12E21D72-3F8F-6A6E-55F5-E84E05112987}"/>
              </a:ext>
            </a:extLst>
          </p:cNvPr>
          <p:cNvPicPr>
            <a:picLocks noChangeAspect="1"/>
          </p:cNvPicPr>
          <p:nvPr/>
        </p:nvPicPr>
        <p:blipFill>
          <a:blip r:embed="rId2"/>
          <a:stretch>
            <a:fillRect/>
          </a:stretch>
        </p:blipFill>
        <p:spPr>
          <a:xfrm>
            <a:off x="142421" y="2328324"/>
            <a:ext cx="12049578" cy="3375717"/>
          </a:xfrm>
          <a:prstGeom prst="rect">
            <a:avLst/>
          </a:prstGeom>
        </p:spPr>
      </p:pic>
    </p:spTree>
    <p:extLst>
      <p:ext uri="{BB962C8B-B14F-4D97-AF65-F5344CB8AC3E}">
        <p14:creationId xmlns:p14="http://schemas.microsoft.com/office/powerpoint/2010/main" val="1227063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2363-9C11-1706-1EF4-BD52BA554A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06B208-7F50-3B82-EA60-6B06BCFFBFA5}"/>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pic>
        <p:nvPicPr>
          <p:cNvPr id="3" name="Google Shape;155;p18" descr="image.png">
            <a:extLst>
              <a:ext uri="{FF2B5EF4-FFF2-40B4-BE49-F238E27FC236}">
                <a16:creationId xmlns:a16="http://schemas.microsoft.com/office/drawing/2014/main" id="{EDE319B0-EE8C-AA24-4595-5C6A386C630C}"/>
              </a:ext>
            </a:extLst>
          </p:cNvPr>
          <p:cNvPicPr preferRelativeResize="0"/>
          <p:nvPr/>
        </p:nvPicPr>
        <p:blipFill rotWithShape="1">
          <a:blip r:embed="rId2">
            <a:alphaModFix/>
          </a:blip>
          <a:srcRect/>
          <a:stretch/>
        </p:blipFill>
        <p:spPr>
          <a:xfrm>
            <a:off x="571500" y="2695575"/>
            <a:ext cx="5286375" cy="2590800"/>
          </a:xfrm>
          <a:prstGeom prst="rect">
            <a:avLst/>
          </a:prstGeom>
          <a:noFill/>
          <a:ln>
            <a:noFill/>
          </a:ln>
        </p:spPr>
      </p:pic>
      <p:pic>
        <p:nvPicPr>
          <p:cNvPr id="4" name="Google Shape;156;p18" descr="image.png">
            <a:extLst>
              <a:ext uri="{FF2B5EF4-FFF2-40B4-BE49-F238E27FC236}">
                <a16:creationId xmlns:a16="http://schemas.microsoft.com/office/drawing/2014/main" id="{32F39B3B-9F4B-CB2B-0D96-DB9D881CD4CB}"/>
              </a:ext>
            </a:extLst>
          </p:cNvPr>
          <p:cNvPicPr preferRelativeResize="0"/>
          <p:nvPr/>
        </p:nvPicPr>
        <p:blipFill rotWithShape="1">
          <a:blip r:embed="rId3">
            <a:alphaModFix/>
          </a:blip>
          <a:srcRect/>
          <a:stretch/>
        </p:blipFill>
        <p:spPr>
          <a:xfrm>
            <a:off x="6334125" y="2695575"/>
            <a:ext cx="5286375" cy="2590800"/>
          </a:xfrm>
          <a:prstGeom prst="rect">
            <a:avLst/>
          </a:prstGeom>
          <a:noFill/>
          <a:ln>
            <a:noFill/>
          </a:ln>
        </p:spPr>
      </p:pic>
      <p:sp>
        <p:nvSpPr>
          <p:cNvPr id="5" name="Google Shape;157;p18">
            <a:extLst>
              <a:ext uri="{FF2B5EF4-FFF2-40B4-BE49-F238E27FC236}">
                <a16:creationId xmlns:a16="http://schemas.microsoft.com/office/drawing/2014/main" id="{F35FACFA-1E5A-E46C-650C-652CD1007AD4}"/>
              </a:ext>
            </a:extLst>
          </p:cNvPr>
          <p:cNvSpPr txBox="1"/>
          <p:nvPr/>
        </p:nvSpPr>
        <p:spPr>
          <a:xfrm>
            <a:off x="839390" y="3076575"/>
            <a:ext cx="4750593"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3B82F6"/>
                </a:solidFill>
                <a:latin typeface="Futura T OT" panose="02000000000000000000" pitchFamily="50" charset="0"/>
                <a:ea typeface="Poppins"/>
                <a:cs typeface="Poppins"/>
                <a:sym typeface="Poppins"/>
              </a:rPr>
              <a:t>Arithmetic Logic Unit (ALU)</a:t>
            </a:r>
            <a:endParaRPr>
              <a:latin typeface="Futura T OT" panose="02000000000000000000" pitchFamily="50" charset="0"/>
            </a:endParaRPr>
          </a:p>
        </p:txBody>
      </p:sp>
      <p:sp>
        <p:nvSpPr>
          <p:cNvPr id="6" name="Google Shape;158;p18">
            <a:extLst>
              <a:ext uri="{FF2B5EF4-FFF2-40B4-BE49-F238E27FC236}">
                <a16:creationId xmlns:a16="http://schemas.microsoft.com/office/drawing/2014/main" id="{02D416C0-3AB6-2A1E-908A-F3603DBC5799}"/>
              </a:ext>
            </a:extLst>
          </p:cNvPr>
          <p:cNvSpPr txBox="1"/>
          <p:nvPr/>
        </p:nvSpPr>
        <p:spPr>
          <a:xfrm>
            <a:off x="952500" y="3705225"/>
            <a:ext cx="4524375"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Futura T OT" panose="02000000000000000000" pitchFamily="50" charset="0"/>
                <a:ea typeface="Lato"/>
                <a:cs typeface="Lato"/>
                <a:sym typeface="Lato"/>
              </a:rPr>
              <a:t>The high-performance ALU is directly connected to all 32 general-purpose registers. This allows it to access two independent registers, perform an operation, and write the result back in a single clock cycle.</a:t>
            </a:r>
            <a:endParaRPr>
              <a:latin typeface="Futura T OT" panose="02000000000000000000" pitchFamily="50" charset="0"/>
            </a:endParaRPr>
          </a:p>
        </p:txBody>
      </p:sp>
      <p:sp>
        <p:nvSpPr>
          <p:cNvPr id="7" name="Google Shape;159;p18">
            <a:extLst>
              <a:ext uri="{FF2B5EF4-FFF2-40B4-BE49-F238E27FC236}">
                <a16:creationId xmlns:a16="http://schemas.microsoft.com/office/drawing/2014/main" id="{0087C487-FC0F-8498-D3D8-980DF7B457C0}"/>
              </a:ext>
            </a:extLst>
          </p:cNvPr>
          <p:cNvSpPr txBox="1"/>
          <p:nvPr/>
        </p:nvSpPr>
        <p:spPr>
          <a:xfrm>
            <a:off x="6602015" y="3076575"/>
            <a:ext cx="4750593"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3B82F6"/>
                </a:solidFill>
                <a:latin typeface="Futura T OT" panose="02000000000000000000" pitchFamily="50" charset="0"/>
                <a:ea typeface="Poppins"/>
                <a:cs typeface="Poppins"/>
                <a:sym typeface="Poppins"/>
              </a:rPr>
              <a:t>General Purpose Registers</a:t>
            </a:r>
            <a:endParaRPr>
              <a:latin typeface="Futura T OT" panose="02000000000000000000" pitchFamily="50" charset="0"/>
            </a:endParaRPr>
          </a:p>
        </p:txBody>
      </p:sp>
      <p:sp>
        <p:nvSpPr>
          <p:cNvPr id="9" name="Google Shape;160;p18">
            <a:extLst>
              <a:ext uri="{FF2B5EF4-FFF2-40B4-BE49-F238E27FC236}">
                <a16:creationId xmlns:a16="http://schemas.microsoft.com/office/drawing/2014/main" id="{D490895F-E230-1066-19C8-FCC3DE70CFEB}"/>
              </a:ext>
            </a:extLst>
          </p:cNvPr>
          <p:cNvSpPr txBox="1"/>
          <p:nvPr/>
        </p:nvSpPr>
        <p:spPr>
          <a:xfrm>
            <a:off x="6715125" y="3705225"/>
            <a:ext cx="4524375" cy="93487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Futura T OT" panose="02000000000000000000" pitchFamily="50" charset="0"/>
                <a:ea typeface="Lato"/>
                <a:cs typeface="Lato"/>
                <a:sym typeface="Lato"/>
              </a:rPr>
              <a:t>The 32 x 8-bit registers (R0-R31) are the heart of the AVR core. This fast-access register file is the heart of the CPU's operation, reducing the need to access the slower data SRAM.</a:t>
            </a:r>
            <a:endParaRPr>
              <a:latin typeface="Futura T OT" panose="02000000000000000000" pitchFamily="50" charset="0"/>
            </a:endParaRPr>
          </a:p>
        </p:txBody>
      </p:sp>
      <p:sp>
        <p:nvSpPr>
          <p:cNvPr id="11" name="TextBox 10">
            <a:extLst>
              <a:ext uri="{FF2B5EF4-FFF2-40B4-BE49-F238E27FC236}">
                <a16:creationId xmlns:a16="http://schemas.microsoft.com/office/drawing/2014/main" id="{41FA13F2-32C1-4B91-A606-510871659B5A}"/>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CPU and Register File</a:t>
            </a:r>
          </a:p>
        </p:txBody>
      </p:sp>
    </p:spTree>
    <p:extLst>
      <p:ext uri="{BB962C8B-B14F-4D97-AF65-F5344CB8AC3E}">
        <p14:creationId xmlns:p14="http://schemas.microsoft.com/office/powerpoint/2010/main" val="1534419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0979-D501-7521-7525-5005510FB8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ED6C31-5807-12CE-6C5E-5D608841F004}"/>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8" name="Google Shape;171;p19">
            <a:extLst>
              <a:ext uri="{FF2B5EF4-FFF2-40B4-BE49-F238E27FC236}">
                <a16:creationId xmlns:a16="http://schemas.microsoft.com/office/drawing/2014/main" id="{7F45F151-57F9-C582-34E9-CC3DD26B4892}"/>
              </a:ext>
            </a:extLst>
          </p:cNvPr>
          <p:cNvSpPr txBox="1"/>
          <p:nvPr/>
        </p:nvSpPr>
        <p:spPr>
          <a:xfrm>
            <a:off x="469900" y="2116282"/>
            <a:ext cx="528637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latin typeface="Futura T OT" panose="02000000000000000000" pitchFamily="50" charset="0"/>
                <a:ea typeface="Lato"/>
                <a:cs typeface="Lato"/>
                <a:sym typeface="Lato"/>
              </a:rPr>
              <a:t>The ATmega32 features four 8-bit I/O ports: </a:t>
            </a:r>
            <a:r>
              <a:rPr lang="en-US" b="1" i="0" u="none" strike="noStrike" cap="none" dirty="0">
                <a:latin typeface="Futura T OT" panose="02000000000000000000" pitchFamily="50" charset="0"/>
                <a:ea typeface="Lato"/>
                <a:cs typeface="Lato"/>
                <a:sym typeface="Lato"/>
              </a:rPr>
              <a:t>PORTA, PORTB, PORTC, and PORTD</a:t>
            </a:r>
            <a:r>
              <a:rPr lang="en-US" b="0" i="0" u="none" strike="noStrike" cap="none" dirty="0">
                <a:latin typeface="Futura T OT" panose="02000000000000000000" pitchFamily="50" charset="0"/>
                <a:ea typeface="Lato"/>
                <a:cs typeface="Lato"/>
                <a:sym typeface="Lato"/>
              </a:rPr>
              <a:t> (totaling 32 I/O lines).</a:t>
            </a:r>
            <a:endParaRPr sz="2800" dirty="0">
              <a:latin typeface="Futura T OT" panose="02000000000000000000" pitchFamily="50" charset="0"/>
            </a:endParaRPr>
          </a:p>
        </p:txBody>
      </p:sp>
      <p:sp>
        <p:nvSpPr>
          <p:cNvPr id="10" name="Google Shape;172;p19">
            <a:extLst>
              <a:ext uri="{FF2B5EF4-FFF2-40B4-BE49-F238E27FC236}">
                <a16:creationId xmlns:a16="http://schemas.microsoft.com/office/drawing/2014/main" id="{F5E6A245-D8F8-59F8-732B-501E577A1B5F}"/>
              </a:ext>
            </a:extLst>
          </p:cNvPr>
          <p:cNvSpPr txBox="1"/>
          <p:nvPr/>
        </p:nvSpPr>
        <p:spPr>
          <a:xfrm>
            <a:off x="469900" y="2988712"/>
            <a:ext cx="528637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a:latin typeface="Futura T OT" panose="02000000000000000000" pitchFamily="50" charset="0"/>
                <a:ea typeface="Lato"/>
                <a:cs typeface="Lato"/>
                <a:sym typeface="Lato"/>
              </a:rPr>
              <a:t>Each pin is bi-directional and can be configured as either an input or an output using three key registers:</a:t>
            </a:r>
            <a:endParaRPr sz="2800">
              <a:latin typeface="Futura T OT" panose="02000000000000000000" pitchFamily="50" charset="0"/>
            </a:endParaRPr>
          </a:p>
        </p:txBody>
      </p:sp>
      <p:sp>
        <p:nvSpPr>
          <p:cNvPr id="14" name="Google Shape;174;p19">
            <a:extLst>
              <a:ext uri="{FF2B5EF4-FFF2-40B4-BE49-F238E27FC236}">
                <a16:creationId xmlns:a16="http://schemas.microsoft.com/office/drawing/2014/main" id="{7537005E-DF4E-9571-9FA3-1684BB4C9478}"/>
              </a:ext>
            </a:extLst>
          </p:cNvPr>
          <p:cNvSpPr txBox="1"/>
          <p:nvPr/>
        </p:nvSpPr>
        <p:spPr>
          <a:xfrm>
            <a:off x="850900" y="3842092"/>
            <a:ext cx="4905375" cy="246221"/>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600" b="1" i="0" u="none" strike="noStrike" cap="none">
                <a:latin typeface="Futura T OT" panose="02000000000000000000" pitchFamily="50" charset="0"/>
                <a:ea typeface="Lato"/>
                <a:cs typeface="Lato"/>
                <a:sym typeface="Lato"/>
              </a:rPr>
              <a:t>DDRx:</a:t>
            </a:r>
            <a:r>
              <a:rPr lang="en-US" sz="1600" b="0" i="0" u="none" strike="noStrike" cap="none">
                <a:latin typeface="Futura T OT" panose="02000000000000000000" pitchFamily="50" charset="0"/>
                <a:ea typeface="Lato"/>
                <a:cs typeface="Lato"/>
                <a:sym typeface="Lato"/>
              </a:rPr>
              <a:t> Data Direction Register (sets pin as input/output).</a:t>
            </a:r>
            <a:endParaRPr sz="2400">
              <a:latin typeface="Futura T OT" panose="02000000000000000000" pitchFamily="50" charset="0"/>
            </a:endParaRPr>
          </a:p>
        </p:txBody>
      </p:sp>
      <p:sp>
        <p:nvSpPr>
          <p:cNvPr id="16" name="Google Shape;176;p19">
            <a:extLst>
              <a:ext uri="{FF2B5EF4-FFF2-40B4-BE49-F238E27FC236}">
                <a16:creationId xmlns:a16="http://schemas.microsoft.com/office/drawing/2014/main" id="{E630895D-CBA8-2880-2D5E-A7611E2F79AE}"/>
              </a:ext>
            </a:extLst>
          </p:cNvPr>
          <p:cNvSpPr txBox="1"/>
          <p:nvPr/>
        </p:nvSpPr>
        <p:spPr>
          <a:xfrm>
            <a:off x="850899" y="4177777"/>
            <a:ext cx="4905375" cy="246221"/>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600" b="1" i="0" u="none" strike="noStrike" cap="none">
                <a:latin typeface="Futura T OT" panose="02000000000000000000" pitchFamily="50" charset="0"/>
                <a:ea typeface="Lato"/>
                <a:cs typeface="Lato"/>
                <a:sym typeface="Lato"/>
              </a:rPr>
              <a:t>PORTx:</a:t>
            </a:r>
            <a:r>
              <a:rPr lang="en-US" sz="1600" b="0" i="0" u="none" strike="noStrike" cap="none">
                <a:latin typeface="Futura T OT" panose="02000000000000000000" pitchFamily="50" charset="0"/>
                <a:ea typeface="Lato"/>
                <a:cs typeface="Lato"/>
                <a:sym typeface="Lato"/>
              </a:rPr>
              <a:t> Data Register (writes output data or enables pull-up).</a:t>
            </a:r>
            <a:endParaRPr sz="2400">
              <a:latin typeface="Futura T OT" panose="02000000000000000000" pitchFamily="50" charset="0"/>
            </a:endParaRPr>
          </a:p>
        </p:txBody>
      </p:sp>
      <p:sp>
        <p:nvSpPr>
          <p:cNvPr id="18" name="Google Shape;178;p19">
            <a:extLst>
              <a:ext uri="{FF2B5EF4-FFF2-40B4-BE49-F238E27FC236}">
                <a16:creationId xmlns:a16="http://schemas.microsoft.com/office/drawing/2014/main" id="{AAE12079-2D6D-3219-D502-551813538A86}"/>
              </a:ext>
            </a:extLst>
          </p:cNvPr>
          <p:cNvSpPr txBox="1"/>
          <p:nvPr/>
        </p:nvSpPr>
        <p:spPr>
          <a:xfrm>
            <a:off x="850900" y="4513461"/>
            <a:ext cx="4905375" cy="246221"/>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600" b="1" i="0" u="none" strike="noStrike" cap="none" dirty="0" err="1">
                <a:latin typeface="Futura T OT" panose="02000000000000000000" pitchFamily="50" charset="0"/>
                <a:ea typeface="Lato"/>
                <a:cs typeface="Lato"/>
                <a:sym typeface="Lato"/>
              </a:rPr>
              <a:t>PINx</a:t>
            </a:r>
            <a:r>
              <a:rPr lang="en-US" sz="1600" b="1" i="0" u="none" strike="noStrike" cap="none" dirty="0">
                <a:latin typeface="Futura T OT" panose="02000000000000000000" pitchFamily="50" charset="0"/>
                <a:ea typeface="Lato"/>
                <a:cs typeface="Lato"/>
                <a:sym typeface="Lato"/>
              </a:rPr>
              <a:t>:</a:t>
            </a:r>
            <a:r>
              <a:rPr lang="en-US" sz="1600" b="0" i="0" u="none" strike="noStrike" cap="none" dirty="0">
                <a:latin typeface="Futura T OT" panose="02000000000000000000" pitchFamily="50" charset="0"/>
                <a:ea typeface="Lato"/>
                <a:cs typeface="Lato"/>
                <a:sym typeface="Lato"/>
              </a:rPr>
              <a:t> Input Pins Address (reads the logic level from the pin).</a:t>
            </a:r>
            <a:endParaRPr sz="2400" dirty="0">
              <a:latin typeface="Futura T OT" panose="02000000000000000000" pitchFamily="50" charset="0"/>
            </a:endParaRPr>
          </a:p>
        </p:txBody>
      </p:sp>
      <p:sp>
        <p:nvSpPr>
          <p:cNvPr id="19" name="TextBox 18">
            <a:extLst>
              <a:ext uri="{FF2B5EF4-FFF2-40B4-BE49-F238E27FC236}">
                <a16:creationId xmlns:a16="http://schemas.microsoft.com/office/drawing/2014/main" id="{5BE45D6F-239B-03D6-0D35-8E048AB71C89}"/>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I/O ports</a:t>
            </a:r>
          </a:p>
        </p:txBody>
      </p:sp>
      <p:pic>
        <p:nvPicPr>
          <p:cNvPr id="4" name="Picture 3">
            <a:extLst>
              <a:ext uri="{FF2B5EF4-FFF2-40B4-BE49-F238E27FC236}">
                <a16:creationId xmlns:a16="http://schemas.microsoft.com/office/drawing/2014/main" id="{3FAA1AAB-C3CA-BBCB-4650-5F8E4A3D7890}"/>
              </a:ext>
            </a:extLst>
          </p:cNvPr>
          <p:cNvPicPr>
            <a:picLocks noChangeAspect="1"/>
          </p:cNvPicPr>
          <p:nvPr/>
        </p:nvPicPr>
        <p:blipFill>
          <a:blip r:embed="rId2"/>
          <a:stretch>
            <a:fillRect/>
          </a:stretch>
        </p:blipFill>
        <p:spPr>
          <a:xfrm>
            <a:off x="5842753" y="584775"/>
            <a:ext cx="6349247" cy="6219112"/>
          </a:xfrm>
          <a:prstGeom prst="rect">
            <a:avLst/>
          </a:prstGeom>
        </p:spPr>
      </p:pic>
    </p:spTree>
    <p:extLst>
      <p:ext uri="{BB962C8B-B14F-4D97-AF65-F5344CB8AC3E}">
        <p14:creationId xmlns:p14="http://schemas.microsoft.com/office/powerpoint/2010/main" val="750239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C663-01B2-CC89-1EEA-38B71FDE3B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50D112-15A9-513C-9230-9CF5F164DEB9}"/>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3" name="Google Shape;184;p20">
            <a:extLst>
              <a:ext uri="{FF2B5EF4-FFF2-40B4-BE49-F238E27FC236}">
                <a16:creationId xmlns:a16="http://schemas.microsoft.com/office/drawing/2014/main" id="{D337C67D-F6B9-1C15-057F-ED7D670EC5A1}"/>
              </a:ext>
            </a:extLst>
          </p:cNvPr>
          <p:cNvSpPr txBox="1"/>
          <p:nvPr/>
        </p:nvSpPr>
        <p:spPr>
          <a:xfrm>
            <a:off x="571500" y="4686300"/>
            <a:ext cx="5334000" cy="93487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1" i="0" u="none" strike="noStrike" cap="none">
                <a:latin typeface="Futura T OT" panose="02000000000000000000" pitchFamily="50" charset="0"/>
                <a:ea typeface="Lato"/>
                <a:cs typeface="Lato"/>
                <a:sym typeface="Lato"/>
              </a:rPr>
              <a:t>Timers/Counters:</a:t>
            </a:r>
            <a:r>
              <a:rPr lang="en-US" sz="1350" b="0" i="0" u="none" strike="noStrike" cap="none">
                <a:latin typeface="Futura T OT" panose="02000000000000000000" pitchFamily="50" charset="0"/>
                <a:ea typeface="Lato"/>
                <a:cs typeface="Lato"/>
                <a:sym typeface="Lato"/>
              </a:rPr>
              <a:t> Features three timers (two 8-bit, one 16-bit). Used for timing events, generating PWM (Pulse Width Modulation), and counting external events.</a:t>
            </a:r>
            <a:endParaRPr>
              <a:latin typeface="Futura T OT" panose="02000000000000000000" pitchFamily="50" charset="0"/>
            </a:endParaRPr>
          </a:p>
        </p:txBody>
      </p:sp>
      <p:sp>
        <p:nvSpPr>
          <p:cNvPr id="4" name="Google Shape;185;p20">
            <a:extLst>
              <a:ext uri="{FF2B5EF4-FFF2-40B4-BE49-F238E27FC236}">
                <a16:creationId xmlns:a16="http://schemas.microsoft.com/office/drawing/2014/main" id="{85547FC6-848C-B51B-9447-D629124CC344}"/>
              </a:ext>
            </a:extLst>
          </p:cNvPr>
          <p:cNvSpPr txBox="1"/>
          <p:nvPr/>
        </p:nvSpPr>
        <p:spPr>
          <a:xfrm>
            <a:off x="6286500" y="4686300"/>
            <a:ext cx="5334000" cy="93487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1" i="0" u="none" strike="noStrike" cap="none">
                <a:latin typeface="Futura T OT" panose="02000000000000000000" pitchFamily="50" charset="0"/>
                <a:ea typeface="Lato"/>
                <a:cs typeface="Lato"/>
                <a:sym typeface="Lato"/>
              </a:rPr>
              <a:t>Analog-to-Digital Converter (ADC):</a:t>
            </a:r>
            <a:r>
              <a:rPr lang="en-US" sz="1350" b="0" i="0" u="none" strike="noStrike" cap="none">
                <a:latin typeface="Futura T OT" panose="02000000000000000000" pitchFamily="50" charset="0"/>
                <a:ea typeface="Lato"/>
                <a:cs typeface="Lato"/>
                <a:sym typeface="Lato"/>
              </a:rPr>
              <a:t> A 10-bit, 8-channel ADC. This converts real-world analog signals (like from sensors) into digital values the MCU can understand.</a:t>
            </a:r>
            <a:endParaRPr>
              <a:latin typeface="Futura T OT" panose="02000000000000000000" pitchFamily="50" charset="0"/>
            </a:endParaRPr>
          </a:p>
        </p:txBody>
      </p:sp>
      <p:pic>
        <p:nvPicPr>
          <p:cNvPr id="5" name="Google Shape;186;p20" descr="image.png">
            <a:extLst>
              <a:ext uri="{FF2B5EF4-FFF2-40B4-BE49-F238E27FC236}">
                <a16:creationId xmlns:a16="http://schemas.microsoft.com/office/drawing/2014/main" id="{F2CE2CCB-18B5-FCB5-B2E9-A3894FE24E5D}"/>
              </a:ext>
            </a:extLst>
          </p:cNvPr>
          <p:cNvPicPr preferRelativeResize="0"/>
          <p:nvPr/>
        </p:nvPicPr>
        <p:blipFill rotWithShape="1">
          <a:blip r:embed="rId2">
            <a:alphaModFix/>
          </a:blip>
          <a:srcRect/>
          <a:stretch/>
        </p:blipFill>
        <p:spPr>
          <a:xfrm>
            <a:off x="571500" y="2352675"/>
            <a:ext cx="5334000" cy="2143125"/>
          </a:xfrm>
          <a:prstGeom prst="rect">
            <a:avLst/>
          </a:prstGeom>
          <a:noFill/>
          <a:ln>
            <a:noFill/>
          </a:ln>
        </p:spPr>
      </p:pic>
      <p:pic>
        <p:nvPicPr>
          <p:cNvPr id="6" name="Google Shape;187;p20" descr="image.png">
            <a:extLst>
              <a:ext uri="{FF2B5EF4-FFF2-40B4-BE49-F238E27FC236}">
                <a16:creationId xmlns:a16="http://schemas.microsoft.com/office/drawing/2014/main" id="{5312860C-5893-8CDC-7487-FC972EBBB0F5}"/>
              </a:ext>
            </a:extLst>
          </p:cNvPr>
          <p:cNvPicPr preferRelativeResize="0"/>
          <p:nvPr/>
        </p:nvPicPr>
        <p:blipFill rotWithShape="1">
          <a:blip r:embed="rId3">
            <a:alphaModFix/>
          </a:blip>
          <a:srcRect/>
          <a:stretch/>
        </p:blipFill>
        <p:spPr>
          <a:xfrm>
            <a:off x="6286500" y="2352675"/>
            <a:ext cx="5334000" cy="2143125"/>
          </a:xfrm>
          <a:prstGeom prst="rect">
            <a:avLst/>
          </a:prstGeom>
          <a:noFill/>
          <a:ln>
            <a:noFill/>
          </a:ln>
        </p:spPr>
      </p:pic>
      <p:sp>
        <p:nvSpPr>
          <p:cNvPr id="7" name="TextBox 6">
            <a:extLst>
              <a:ext uri="{FF2B5EF4-FFF2-40B4-BE49-F238E27FC236}">
                <a16:creationId xmlns:a16="http://schemas.microsoft.com/office/drawing/2014/main" id="{B7250CA2-BFBB-8705-5B4D-C88D4028AFE9}"/>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Timers and ADC</a:t>
            </a:r>
          </a:p>
        </p:txBody>
      </p:sp>
    </p:spTree>
    <p:extLst>
      <p:ext uri="{BB962C8B-B14F-4D97-AF65-F5344CB8AC3E}">
        <p14:creationId xmlns:p14="http://schemas.microsoft.com/office/powerpoint/2010/main" val="1435310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16ED5-A606-AEB0-B625-938FD26BE3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3906AB-337E-651B-B00C-959837E7DA05}"/>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pic>
        <p:nvPicPr>
          <p:cNvPr id="3" name="Google Shape;195;p21" descr="image.png">
            <a:extLst>
              <a:ext uri="{FF2B5EF4-FFF2-40B4-BE49-F238E27FC236}">
                <a16:creationId xmlns:a16="http://schemas.microsoft.com/office/drawing/2014/main" id="{F575D227-06F6-7950-2BFB-1B08C72C9046}"/>
              </a:ext>
            </a:extLst>
          </p:cNvPr>
          <p:cNvPicPr preferRelativeResize="0"/>
          <p:nvPr/>
        </p:nvPicPr>
        <p:blipFill rotWithShape="1">
          <a:blip r:embed="rId2">
            <a:alphaModFix/>
          </a:blip>
          <a:srcRect/>
          <a:stretch/>
        </p:blipFill>
        <p:spPr>
          <a:xfrm>
            <a:off x="571500" y="2233612"/>
            <a:ext cx="3429000" cy="3514725"/>
          </a:xfrm>
          <a:prstGeom prst="rect">
            <a:avLst/>
          </a:prstGeom>
          <a:noFill/>
          <a:ln>
            <a:noFill/>
          </a:ln>
        </p:spPr>
      </p:pic>
      <p:pic>
        <p:nvPicPr>
          <p:cNvPr id="4" name="Google Shape;196;p21" descr="image.png">
            <a:extLst>
              <a:ext uri="{FF2B5EF4-FFF2-40B4-BE49-F238E27FC236}">
                <a16:creationId xmlns:a16="http://schemas.microsoft.com/office/drawing/2014/main" id="{9005DF9E-F224-757F-AF53-AAB252FA05C3}"/>
              </a:ext>
            </a:extLst>
          </p:cNvPr>
          <p:cNvPicPr preferRelativeResize="0"/>
          <p:nvPr/>
        </p:nvPicPr>
        <p:blipFill rotWithShape="1">
          <a:blip r:embed="rId3">
            <a:alphaModFix/>
          </a:blip>
          <a:srcRect/>
          <a:stretch/>
        </p:blipFill>
        <p:spPr>
          <a:xfrm>
            <a:off x="4381500" y="2233612"/>
            <a:ext cx="3429000" cy="3514725"/>
          </a:xfrm>
          <a:prstGeom prst="rect">
            <a:avLst/>
          </a:prstGeom>
          <a:noFill/>
          <a:ln>
            <a:noFill/>
          </a:ln>
        </p:spPr>
      </p:pic>
      <p:pic>
        <p:nvPicPr>
          <p:cNvPr id="5" name="Google Shape;197;p21" descr="image.png">
            <a:extLst>
              <a:ext uri="{FF2B5EF4-FFF2-40B4-BE49-F238E27FC236}">
                <a16:creationId xmlns:a16="http://schemas.microsoft.com/office/drawing/2014/main" id="{49D9AE25-3270-229B-AD6C-721144956273}"/>
              </a:ext>
            </a:extLst>
          </p:cNvPr>
          <p:cNvPicPr preferRelativeResize="0"/>
          <p:nvPr/>
        </p:nvPicPr>
        <p:blipFill rotWithShape="1">
          <a:blip r:embed="rId3">
            <a:alphaModFix/>
          </a:blip>
          <a:srcRect/>
          <a:stretch/>
        </p:blipFill>
        <p:spPr>
          <a:xfrm>
            <a:off x="8191500" y="2233612"/>
            <a:ext cx="3429000" cy="3514725"/>
          </a:xfrm>
          <a:prstGeom prst="rect">
            <a:avLst/>
          </a:prstGeom>
          <a:noFill/>
          <a:ln>
            <a:noFill/>
          </a:ln>
        </p:spPr>
      </p:pic>
      <p:sp>
        <p:nvSpPr>
          <p:cNvPr id="6" name="Google Shape;198;p21">
            <a:extLst>
              <a:ext uri="{FF2B5EF4-FFF2-40B4-BE49-F238E27FC236}">
                <a16:creationId xmlns:a16="http://schemas.microsoft.com/office/drawing/2014/main" id="{7ABF506E-1C07-EB0D-780D-12BE77BE6E69}"/>
              </a:ext>
            </a:extLst>
          </p:cNvPr>
          <p:cNvSpPr txBox="1"/>
          <p:nvPr/>
        </p:nvSpPr>
        <p:spPr>
          <a:xfrm>
            <a:off x="1795938" y="3233737"/>
            <a:ext cx="980122"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Futura T OT" panose="02000000000000000000" pitchFamily="50" charset="0"/>
                <a:ea typeface="Poppins"/>
                <a:cs typeface="Poppins"/>
                <a:sym typeface="Poppins"/>
              </a:rPr>
              <a:t>USART</a:t>
            </a:r>
            <a:endParaRPr>
              <a:latin typeface="Futura T OT" panose="02000000000000000000" pitchFamily="50" charset="0"/>
            </a:endParaRPr>
          </a:p>
        </p:txBody>
      </p:sp>
      <p:sp>
        <p:nvSpPr>
          <p:cNvPr id="7" name="Google Shape;199;p21">
            <a:extLst>
              <a:ext uri="{FF2B5EF4-FFF2-40B4-BE49-F238E27FC236}">
                <a16:creationId xmlns:a16="http://schemas.microsoft.com/office/drawing/2014/main" id="{C2858604-CDD8-BEC4-7F38-839A5422C8DC}"/>
              </a:ext>
            </a:extLst>
          </p:cNvPr>
          <p:cNvSpPr txBox="1"/>
          <p:nvPr/>
        </p:nvSpPr>
        <p:spPr>
          <a:xfrm>
            <a:off x="857250" y="4005262"/>
            <a:ext cx="28575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Futura T OT" panose="02000000000000000000" pitchFamily="50" charset="0"/>
                <a:ea typeface="Lato"/>
                <a:cs typeface="Lato"/>
                <a:sym typeface="Lato"/>
              </a:rPr>
              <a:t>(Universal Synchronous/Asynchronous Receiver/Transmitter) For serial communication with PCs or other devices (e.g., RS-232).</a:t>
            </a:r>
            <a:endParaRPr>
              <a:latin typeface="Futura T OT" panose="02000000000000000000" pitchFamily="50" charset="0"/>
            </a:endParaRPr>
          </a:p>
        </p:txBody>
      </p:sp>
      <p:sp>
        <p:nvSpPr>
          <p:cNvPr id="8" name="Google Shape;200;p21">
            <a:extLst>
              <a:ext uri="{FF2B5EF4-FFF2-40B4-BE49-F238E27FC236}">
                <a16:creationId xmlns:a16="http://schemas.microsoft.com/office/drawing/2014/main" id="{B72B7BDF-B166-F1B1-F028-761A24FE97B4}"/>
              </a:ext>
            </a:extLst>
          </p:cNvPr>
          <p:cNvSpPr txBox="1"/>
          <p:nvPr/>
        </p:nvSpPr>
        <p:spPr>
          <a:xfrm>
            <a:off x="5875972" y="3233737"/>
            <a:ext cx="440055"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Futura T OT" panose="02000000000000000000" pitchFamily="50" charset="0"/>
                <a:ea typeface="Poppins"/>
                <a:cs typeface="Poppins"/>
                <a:sym typeface="Poppins"/>
              </a:rPr>
              <a:t>SPI</a:t>
            </a:r>
            <a:endParaRPr>
              <a:latin typeface="Futura T OT" panose="02000000000000000000" pitchFamily="50" charset="0"/>
            </a:endParaRPr>
          </a:p>
        </p:txBody>
      </p:sp>
      <p:sp>
        <p:nvSpPr>
          <p:cNvPr id="9" name="Google Shape;201;p21">
            <a:extLst>
              <a:ext uri="{FF2B5EF4-FFF2-40B4-BE49-F238E27FC236}">
                <a16:creationId xmlns:a16="http://schemas.microsoft.com/office/drawing/2014/main" id="{100C350D-5BD9-538C-4BA6-1A315CA811E2}"/>
              </a:ext>
            </a:extLst>
          </p:cNvPr>
          <p:cNvSpPr txBox="1"/>
          <p:nvPr/>
        </p:nvSpPr>
        <p:spPr>
          <a:xfrm>
            <a:off x="4667250" y="4005262"/>
            <a:ext cx="28575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Futura T OT" panose="02000000000000000000" pitchFamily="50" charset="0"/>
                <a:ea typeface="Lato"/>
                <a:cs typeface="Lato"/>
                <a:sym typeface="Lato"/>
              </a:rPr>
              <a:t>(Serial Peripheral Interface) A fast, synchronous, full-duplex communication protocol often used for high-speed peripherals like SD cards.</a:t>
            </a:r>
            <a:endParaRPr>
              <a:latin typeface="Futura T OT" panose="02000000000000000000" pitchFamily="50" charset="0"/>
            </a:endParaRPr>
          </a:p>
        </p:txBody>
      </p:sp>
      <p:sp>
        <p:nvSpPr>
          <p:cNvPr id="10" name="Google Shape;202;p21">
            <a:extLst>
              <a:ext uri="{FF2B5EF4-FFF2-40B4-BE49-F238E27FC236}">
                <a16:creationId xmlns:a16="http://schemas.microsoft.com/office/drawing/2014/main" id="{AD1AE43E-6706-CBE6-B4E4-5BDF04B30C8E}"/>
              </a:ext>
            </a:extLst>
          </p:cNvPr>
          <p:cNvSpPr txBox="1"/>
          <p:nvPr/>
        </p:nvSpPr>
        <p:spPr>
          <a:xfrm>
            <a:off x="9235916" y="3233737"/>
            <a:ext cx="1340167"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Futura T OT" panose="02000000000000000000" pitchFamily="50" charset="0"/>
                <a:ea typeface="Poppins"/>
                <a:cs typeface="Poppins"/>
                <a:sym typeface="Poppins"/>
              </a:rPr>
              <a:t>TWI (I²C)</a:t>
            </a:r>
            <a:endParaRPr>
              <a:latin typeface="Futura T OT" panose="02000000000000000000" pitchFamily="50" charset="0"/>
            </a:endParaRPr>
          </a:p>
        </p:txBody>
      </p:sp>
      <p:sp>
        <p:nvSpPr>
          <p:cNvPr id="11" name="Google Shape;203;p21">
            <a:extLst>
              <a:ext uri="{FF2B5EF4-FFF2-40B4-BE49-F238E27FC236}">
                <a16:creationId xmlns:a16="http://schemas.microsoft.com/office/drawing/2014/main" id="{0B736607-7D50-9D5B-E9FF-5C7453B72C50}"/>
              </a:ext>
            </a:extLst>
          </p:cNvPr>
          <p:cNvSpPr txBox="1"/>
          <p:nvPr/>
        </p:nvSpPr>
        <p:spPr>
          <a:xfrm>
            <a:off x="8477250" y="4005262"/>
            <a:ext cx="2857500"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Futura T OT" panose="02000000000000000000" pitchFamily="50" charset="0"/>
                <a:ea typeface="Lato"/>
                <a:cs typeface="Lato"/>
                <a:sym typeface="Lato"/>
              </a:rPr>
              <a:t>(Two-Wire Interface) A multi-master, multi-slave serial bus (identical to I²C) commonly used for connecting sensors and peripherals.</a:t>
            </a:r>
            <a:endParaRPr>
              <a:latin typeface="Futura T OT" panose="02000000000000000000" pitchFamily="50" charset="0"/>
            </a:endParaRPr>
          </a:p>
        </p:txBody>
      </p:sp>
      <p:pic>
        <p:nvPicPr>
          <p:cNvPr id="12" name="Google Shape;204;p21" descr="image.png">
            <a:extLst>
              <a:ext uri="{FF2B5EF4-FFF2-40B4-BE49-F238E27FC236}">
                <a16:creationId xmlns:a16="http://schemas.microsoft.com/office/drawing/2014/main" id="{65908863-D027-F155-FE6B-CBC7C9901183}"/>
              </a:ext>
            </a:extLst>
          </p:cNvPr>
          <p:cNvPicPr preferRelativeResize="0"/>
          <p:nvPr/>
        </p:nvPicPr>
        <p:blipFill rotWithShape="1">
          <a:blip r:embed="rId4">
            <a:alphaModFix/>
          </a:blip>
          <a:srcRect/>
          <a:stretch/>
        </p:blipFill>
        <p:spPr>
          <a:xfrm>
            <a:off x="2057400" y="2538412"/>
            <a:ext cx="457200" cy="457200"/>
          </a:xfrm>
          <a:prstGeom prst="rect">
            <a:avLst/>
          </a:prstGeom>
          <a:noFill/>
          <a:ln>
            <a:noFill/>
          </a:ln>
        </p:spPr>
      </p:pic>
      <p:pic>
        <p:nvPicPr>
          <p:cNvPr id="13" name="Google Shape;205;p21" descr="image.png">
            <a:extLst>
              <a:ext uri="{FF2B5EF4-FFF2-40B4-BE49-F238E27FC236}">
                <a16:creationId xmlns:a16="http://schemas.microsoft.com/office/drawing/2014/main" id="{208CC320-7F15-F7F6-4ADB-8193397E4E51}"/>
              </a:ext>
            </a:extLst>
          </p:cNvPr>
          <p:cNvPicPr preferRelativeResize="0"/>
          <p:nvPr/>
        </p:nvPicPr>
        <p:blipFill rotWithShape="1">
          <a:blip r:embed="rId5">
            <a:alphaModFix/>
          </a:blip>
          <a:srcRect/>
          <a:stretch/>
        </p:blipFill>
        <p:spPr>
          <a:xfrm>
            <a:off x="5838825" y="2538412"/>
            <a:ext cx="514350" cy="457200"/>
          </a:xfrm>
          <a:prstGeom prst="rect">
            <a:avLst/>
          </a:prstGeom>
          <a:noFill/>
          <a:ln>
            <a:noFill/>
          </a:ln>
        </p:spPr>
      </p:pic>
      <p:pic>
        <p:nvPicPr>
          <p:cNvPr id="14" name="Google Shape;206;p21" descr="image.png">
            <a:extLst>
              <a:ext uri="{FF2B5EF4-FFF2-40B4-BE49-F238E27FC236}">
                <a16:creationId xmlns:a16="http://schemas.microsoft.com/office/drawing/2014/main" id="{4B49DA98-15AB-41D1-E913-26CA1EFFCD19}"/>
              </a:ext>
            </a:extLst>
          </p:cNvPr>
          <p:cNvPicPr preferRelativeResize="0"/>
          <p:nvPr/>
        </p:nvPicPr>
        <p:blipFill rotWithShape="1">
          <a:blip r:embed="rId6">
            <a:alphaModFix/>
          </a:blip>
          <a:srcRect/>
          <a:stretch/>
        </p:blipFill>
        <p:spPr>
          <a:xfrm>
            <a:off x="9620250" y="2538412"/>
            <a:ext cx="571500" cy="457200"/>
          </a:xfrm>
          <a:prstGeom prst="rect">
            <a:avLst/>
          </a:prstGeom>
          <a:noFill/>
          <a:ln>
            <a:noFill/>
          </a:ln>
        </p:spPr>
      </p:pic>
      <p:sp>
        <p:nvSpPr>
          <p:cNvPr id="15" name="TextBox 14">
            <a:extLst>
              <a:ext uri="{FF2B5EF4-FFF2-40B4-BE49-F238E27FC236}">
                <a16:creationId xmlns:a16="http://schemas.microsoft.com/office/drawing/2014/main" id="{E333DE43-EEBB-CDAA-2452-029A066E1EBC}"/>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Communication System</a:t>
            </a:r>
          </a:p>
        </p:txBody>
      </p:sp>
    </p:spTree>
    <p:extLst>
      <p:ext uri="{BB962C8B-B14F-4D97-AF65-F5344CB8AC3E}">
        <p14:creationId xmlns:p14="http://schemas.microsoft.com/office/powerpoint/2010/main" val="3155260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928E4-0A47-7D1A-7C09-B45EE20201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391D39-5D2A-BB44-4A09-2C10BB052EEE}"/>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Overview of AVR Architecture </a:t>
            </a:r>
          </a:p>
        </p:txBody>
      </p:sp>
      <p:sp>
        <p:nvSpPr>
          <p:cNvPr id="3" name="Google Shape;215;p22">
            <a:extLst>
              <a:ext uri="{FF2B5EF4-FFF2-40B4-BE49-F238E27FC236}">
                <a16:creationId xmlns:a16="http://schemas.microsoft.com/office/drawing/2014/main" id="{B8A309BD-82AD-4331-A373-D408A13C8EC8}"/>
              </a:ext>
            </a:extLst>
          </p:cNvPr>
          <p:cNvSpPr txBox="1"/>
          <p:nvPr/>
        </p:nvSpPr>
        <p:spPr>
          <a:xfrm>
            <a:off x="278189" y="2362546"/>
            <a:ext cx="5286375"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latin typeface="Futura T OT" panose="02000000000000000000" pitchFamily="50" charset="0"/>
                <a:ea typeface="Lato"/>
                <a:cs typeface="Lato"/>
                <a:sym typeface="Lato"/>
              </a:rPr>
              <a:t>Interrupts allow the MCU to respond to critical events (like a button press or data arrival) without halting the main program.</a:t>
            </a:r>
            <a:endParaRPr sz="2400">
              <a:latin typeface="Futura T OT" panose="02000000000000000000" pitchFamily="50" charset="0"/>
            </a:endParaRPr>
          </a:p>
        </p:txBody>
      </p:sp>
      <p:sp>
        <p:nvSpPr>
          <p:cNvPr id="4" name="Google Shape;216;p22">
            <a:extLst>
              <a:ext uri="{FF2B5EF4-FFF2-40B4-BE49-F238E27FC236}">
                <a16:creationId xmlns:a16="http://schemas.microsoft.com/office/drawing/2014/main" id="{976839DD-12F3-B349-9142-58A9A8AF1F09}"/>
              </a:ext>
            </a:extLst>
          </p:cNvPr>
          <p:cNvSpPr txBox="1"/>
          <p:nvPr/>
        </p:nvSpPr>
        <p:spPr>
          <a:xfrm>
            <a:off x="278189" y="3048346"/>
            <a:ext cx="5286375"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dirty="0">
                <a:latin typeface="Futura T OT" panose="02000000000000000000" pitchFamily="50" charset="0"/>
                <a:ea typeface="Lato"/>
                <a:cs typeface="Lato"/>
                <a:sym typeface="Lato"/>
              </a:rPr>
              <a:t>The ATmega32 has a powerful interrupt structure with multiple sources, including:</a:t>
            </a:r>
            <a:endParaRPr sz="2400" dirty="0">
              <a:latin typeface="Futura T OT" panose="02000000000000000000" pitchFamily="50" charset="0"/>
            </a:endParaRPr>
          </a:p>
        </p:txBody>
      </p:sp>
      <p:sp>
        <p:nvSpPr>
          <p:cNvPr id="5" name="Google Shape;218;p22">
            <a:extLst>
              <a:ext uri="{FF2B5EF4-FFF2-40B4-BE49-F238E27FC236}">
                <a16:creationId xmlns:a16="http://schemas.microsoft.com/office/drawing/2014/main" id="{E06A414C-6DC0-3C44-2E36-8B58B9914171}"/>
              </a:ext>
            </a:extLst>
          </p:cNvPr>
          <p:cNvSpPr txBox="1"/>
          <p:nvPr/>
        </p:nvSpPr>
        <p:spPr>
          <a:xfrm>
            <a:off x="421064" y="3734146"/>
            <a:ext cx="952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latin typeface="Futura T OT" panose="02000000000000000000" pitchFamily="50" charset="0"/>
                <a:ea typeface="Lato"/>
                <a:cs typeface="Lato"/>
                <a:sym typeface="Lato"/>
              </a:rPr>
              <a:t>•</a:t>
            </a:r>
            <a:endParaRPr sz="2400">
              <a:latin typeface="Futura T OT" panose="02000000000000000000" pitchFamily="50" charset="0"/>
            </a:endParaRPr>
          </a:p>
        </p:txBody>
      </p:sp>
      <p:sp>
        <p:nvSpPr>
          <p:cNvPr id="6" name="Google Shape;219;p22">
            <a:extLst>
              <a:ext uri="{FF2B5EF4-FFF2-40B4-BE49-F238E27FC236}">
                <a16:creationId xmlns:a16="http://schemas.microsoft.com/office/drawing/2014/main" id="{4FB80E53-7CC2-A6D5-1CA2-A0AF1C1E70FF}"/>
              </a:ext>
            </a:extLst>
          </p:cNvPr>
          <p:cNvSpPr txBox="1"/>
          <p:nvPr/>
        </p:nvSpPr>
        <p:spPr>
          <a:xfrm>
            <a:off x="516314" y="3734146"/>
            <a:ext cx="5048250" cy="369332"/>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600" b="0" i="0" u="none" strike="noStrike" cap="none">
                <a:latin typeface="Futura T OT" panose="02000000000000000000" pitchFamily="50" charset="0"/>
                <a:ea typeface="Lato"/>
                <a:cs typeface="Lato"/>
                <a:sym typeface="Lato"/>
              </a:rPr>
              <a:t>External Interrupts (INT0, INT1, INT2)</a:t>
            </a:r>
            <a:endParaRPr sz="2400">
              <a:latin typeface="Futura T OT" panose="02000000000000000000" pitchFamily="50" charset="0"/>
            </a:endParaRPr>
          </a:p>
        </p:txBody>
      </p:sp>
      <p:sp>
        <p:nvSpPr>
          <p:cNvPr id="7" name="Google Shape;220;p22">
            <a:extLst>
              <a:ext uri="{FF2B5EF4-FFF2-40B4-BE49-F238E27FC236}">
                <a16:creationId xmlns:a16="http://schemas.microsoft.com/office/drawing/2014/main" id="{688B96C5-B322-D47F-5727-FF5813C633C3}"/>
              </a:ext>
            </a:extLst>
          </p:cNvPr>
          <p:cNvSpPr txBox="1"/>
          <p:nvPr/>
        </p:nvSpPr>
        <p:spPr>
          <a:xfrm>
            <a:off x="421064" y="4134196"/>
            <a:ext cx="952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latin typeface="Futura T OT" panose="02000000000000000000" pitchFamily="50" charset="0"/>
                <a:ea typeface="Lato"/>
                <a:cs typeface="Lato"/>
                <a:sym typeface="Lato"/>
              </a:rPr>
              <a:t>•</a:t>
            </a:r>
            <a:endParaRPr sz="2400">
              <a:latin typeface="Futura T OT" panose="02000000000000000000" pitchFamily="50" charset="0"/>
            </a:endParaRPr>
          </a:p>
        </p:txBody>
      </p:sp>
      <p:sp>
        <p:nvSpPr>
          <p:cNvPr id="8" name="Google Shape;221;p22">
            <a:extLst>
              <a:ext uri="{FF2B5EF4-FFF2-40B4-BE49-F238E27FC236}">
                <a16:creationId xmlns:a16="http://schemas.microsoft.com/office/drawing/2014/main" id="{8D8F035B-094F-420A-31D5-DE3B44D39FA4}"/>
              </a:ext>
            </a:extLst>
          </p:cNvPr>
          <p:cNvSpPr txBox="1"/>
          <p:nvPr/>
        </p:nvSpPr>
        <p:spPr>
          <a:xfrm>
            <a:off x="516314" y="4134196"/>
            <a:ext cx="5048250" cy="369332"/>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600" b="0" i="0" u="none" strike="noStrike" cap="none">
                <a:latin typeface="Futura T OT" panose="02000000000000000000" pitchFamily="50" charset="0"/>
                <a:ea typeface="Lato"/>
                <a:cs typeface="Lato"/>
                <a:sym typeface="Lato"/>
              </a:rPr>
              <a:t>Timer Overflows/Compares</a:t>
            </a:r>
            <a:endParaRPr sz="2400">
              <a:latin typeface="Futura T OT" panose="02000000000000000000" pitchFamily="50" charset="0"/>
            </a:endParaRPr>
          </a:p>
        </p:txBody>
      </p:sp>
      <p:sp>
        <p:nvSpPr>
          <p:cNvPr id="9" name="Google Shape;222;p22">
            <a:extLst>
              <a:ext uri="{FF2B5EF4-FFF2-40B4-BE49-F238E27FC236}">
                <a16:creationId xmlns:a16="http://schemas.microsoft.com/office/drawing/2014/main" id="{04A91836-CBFD-BB02-9F57-6CC74AEA069B}"/>
              </a:ext>
            </a:extLst>
          </p:cNvPr>
          <p:cNvSpPr txBox="1"/>
          <p:nvPr/>
        </p:nvSpPr>
        <p:spPr>
          <a:xfrm>
            <a:off x="421064" y="4534246"/>
            <a:ext cx="952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latin typeface="Futura T OT" panose="02000000000000000000" pitchFamily="50" charset="0"/>
                <a:ea typeface="Lato"/>
                <a:cs typeface="Lato"/>
                <a:sym typeface="Lato"/>
              </a:rPr>
              <a:t>•</a:t>
            </a:r>
            <a:endParaRPr sz="2400">
              <a:latin typeface="Futura T OT" panose="02000000000000000000" pitchFamily="50" charset="0"/>
            </a:endParaRPr>
          </a:p>
        </p:txBody>
      </p:sp>
      <p:sp>
        <p:nvSpPr>
          <p:cNvPr id="10" name="Google Shape;223;p22">
            <a:extLst>
              <a:ext uri="{FF2B5EF4-FFF2-40B4-BE49-F238E27FC236}">
                <a16:creationId xmlns:a16="http://schemas.microsoft.com/office/drawing/2014/main" id="{D93E2B35-29C3-DA5B-553A-0A9ED60D11D8}"/>
              </a:ext>
            </a:extLst>
          </p:cNvPr>
          <p:cNvSpPr txBox="1"/>
          <p:nvPr/>
        </p:nvSpPr>
        <p:spPr>
          <a:xfrm>
            <a:off x="516314" y="4534246"/>
            <a:ext cx="5048250" cy="369332"/>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600" b="0" i="0" u="none" strike="noStrike" cap="none">
                <a:latin typeface="Futura T OT" panose="02000000000000000000" pitchFamily="50" charset="0"/>
                <a:ea typeface="Lato"/>
                <a:cs typeface="Lato"/>
                <a:sym typeface="Lato"/>
              </a:rPr>
              <a:t>ADC Conversion Complete</a:t>
            </a:r>
            <a:endParaRPr sz="2400">
              <a:latin typeface="Futura T OT" panose="02000000000000000000" pitchFamily="50" charset="0"/>
            </a:endParaRPr>
          </a:p>
        </p:txBody>
      </p:sp>
      <p:sp>
        <p:nvSpPr>
          <p:cNvPr id="11" name="Google Shape;224;p22">
            <a:extLst>
              <a:ext uri="{FF2B5EF4-FFF2-40B4-BE49-F238E27FC236}">
                <a16:creationId xmlns:a16="http://schemas.microsoft.com/office/drawing/2014/main" id="{339A2870-C51B-C8DB-194C-FB0571B1C6AE}"/>
              </a:ext>
            </a:extLst>
          </p:cNvPr>
          <p:cNvSpPr txBox="1"/>
          <p:nvPr/>
        </p:nvSpPr>
        <p:spPr>
          <a:xfrm>
            <a:off x="421064" y="4934296"/>
            <a:ext cx="952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latin typeface="Futura T OT" panose="02000000000000000000" pitchFamily="50" charset="0"/>
                <a:ea typeface="Lato"/>
                <a:cs typeface="Lato"/>
                <a:sym typeface="Lato"/>
              </a:rPr>
              <a:t>•</a:t>
            </a:r>
            <a:endParaRPr sz="2400">
              <a:latin typeface="Futura T OT" panose="02000000000000000000" pitchFamily="50" charset="0"/>
            </a:endParaRPr>
          </a:p>
        </p:txBody>
      </p:sp>
      <p:sp>
        <p:nvSpPr>
          <p:cNvPr id="12" name="Google Shape;225;p22">
            <a:extLst>
              <a:ext uri="{FF2B5EF4-FFF2-40B4-BE49-F238E27FC236}">
                <a16:creationId xmlns:a16="http://schemas.microsoft.com/office/drawing/2014/main" id="{97269FF0-42C9-E2CD-2C6B-F87541D3E1EA}"/>
              </a:ext>
            </a:extLst>
          </p:cNvPr>
          <p:cNvSpPr txBox="1"/>
          <p:nvPr/>
        </p:nvSpPr>
        <p:spPr>
          <a:xfrm>
            <a:off x="516314" y="4934296"/>
            <a:ext cx="5048250" cy="369332"/>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600" b="0" i="0" u="none" strike="noStrike" cap="none">
                <a:latin typeface="Futura T OT" panose="02000000000000000000" pitchFamily="50" charset="0"/>
                <a:ea typeface="Lato"/>
                <a:cs typeface="Lato"/>
                <a:sym typeface="Lato"/>
              </a:rPr>
              <a:t>USART, SPI, and TWI events</a:t>
            </a:r>
            <a:endParaRPr sz="2400">
              <a:latin typeface="Futura T OT" panose="02000000000000000000" pitchFamily="50" charset="0"/>
            </a:endParaRPr>
          </a:p>
        </p:txBody>
      </p:sp>
      <p:sp>
        <p:nvSpPr>
          <p:cNvPr id="13" name="TextBox 12">
            <a:extLst>
              <a:ext uri="{FF2B5EF4-FFF2-40B4-BE49-F238E27FC236}">
                <a16:creationId xmlns:a16="http://schemas.microsoft.com/office/drawing/2014/main" id="{747DE4F2-723A-70D8-2DE6-88C5C8741113}"/>
              </a:ext>
            </a:extLst>
          </p:cNvPr>
          <p:cNvSpPr txBox="1"/>
          <p:nvPr/>
        </p:nvSpPr>
        <p:spPr>
          <a:xfrm>
            <a:off x="571499" y="788432"/>
            <a:ext cx="7419975"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Interrupt System</a:t>
            </a:r>
          </a:p>
        </p:txBody>
      </p:sp>
      <p:pic>
        <p:nvPicPr>
          <p:cNvPr id="14" name="Picture 13">
            <a:extLst>
              <a:ext uri="{FF2B5EF4-FFF2-40B4-BE49-F238E27FC236}">
                <a16:creationId xmlns:a16="http://schemas.microsoft.com/office/drawing/2014/main" id="{0601D277-7F27-1E97-E66C-3B9CB7F26EBA}"/>
              </a:ext>
            </a:extLst>
          </p:cNvPr>
          <p:cNvPicPr>
            <a:picLocks noChangeAspect="1"/>
          </p:cNvPicPr>
          <p:nvPr/>
        </p:nvPicPr>
        <p:blipFill>
          <a:blip r:embed="rId2"/>
          <a:stretch>
            <a:fillRect/>
          </a:stretch>
        </p:blipFill>
        <p:spPr>
          <a:xfrm>
            <a:off x="5842753" y="584775"/>
            <a:ext cx="6349247" cy="6219112"/>
          </a:xfrm>
          <a:prstGeom prst="rect">
            <a:avLst/>
          </a:prstGeom>
        </p:spPr>
      </p:pic>
    </p:spTree>
    <p:extLst>
      <p:ext uri="{BB962C8B-B14F-4D97-AF65-F5344CB8AC3E}">
        <p14:creationId xmlns:p14="http://schemas.microsoft.com/office/powerpoint/2010/main" val="3781053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8DD30-0A7D-1A33-7EC3-BB6008ED1A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2A12A-8B44-A26D-C13F-06FB97FE759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Introduction to C for embedded system</a:t>
            </a:r>
          </a:p>
        </p:txBody>
      </p:sp>
      <p:sp>
        <p:nvSpPr>
          <p:cNvPr id="3" name="Google Shape;171;p19">
            <a:extLst>
              <a:ext uri="{FF2B5EF4-FFF2-40B4-BE49-F238E27FC236}">
                <a16:creationId xmlns:a16="http://schemas.microsoft.com/office/drawing/2014/main" id="{A65853D3-FB0D-3E45-C28F-18B2F94C3EFA}"/>
              </a:ext>
            </a:extLst>
          </p:cNvPr>
          <p:cNvSpPr txBox="1"/>
          <p:nvPr/>
        </p:nvSpPr>
        <p:spPr>
          <a:xfrm>
            <a:off x="587432" y="1484064"/>
            <a:ext cx="528637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rgbClr val="FF0000"/>
                </a:solidFill>
                <a:latin typeface="Futura T OT" panose="02000000000000000000" pitchFamily="50" charset="0"/>
                <a:ea typeface="Lato"/>
                <a:cs typeface="Lato"/>
                <a:sym typeface="Lato"/>
              </a:rPr>
              <a:t>Why C for embedded systems?</a:t>
            </a:r>
            <a:endParaRPr sz="3600" dirty="0">
              <a:solidFill>
                <a:srgbClr val="FF0000"/>
              </a:solidFill>
              <a:latin typeface="Futura T OT" panose="02000000000000000000" pitchFamily="50" charset="0"/>
            </a:endParaRPr>
          </a:p>
        </p:txBody>
      </p:sp>
      <p:sp>
        <p:nvSpPr>
          <p:cNvPr id="5" name="Google Shape;174;p19">
            <a:extLst>
              <a:ext uri="{FF2B5EF4-FFF2-40B4-BE49-F238E27FC236}">
                <a16:creationId xmlns:a16="http://schemas.microsoft.com/office/drawing/2014/main" id="{EFCBD916-D76F-A12F-E1BB-4944B7B5D7E9}"/>
              </a:ext>
            </a:extLst>
          </p:cNvPr>
          <p:cNvSpPr txBox="1"/>
          <p:nvPr/>
        </p:nvSpPr>
        <p:spPr>
          <a:xfrm>
            <a:off x="587432" y="2166616"/>
            <a:ext cx="6379788" cy="369332"/>
          </a:xfrm>
          <a:prstGeom prst="rect">
            <a:avLst/>
          </a:prstGeom>
          <a:noFill/>
          <a:ln>
            <a:noFill/>
          </a:ln>
        </p:spPr>
        <p:txBody>
          <a:bodyPr spcFirstLastPara="1" wrap="square" lIns="95250" tIns="0" rIns="0" bIns="0" anchor="t" anchorCtr="0">
            <a:spAutoFit/>
          </a:bodyPr>
          <a:lstStyle/>
          <a:p>
            <a:pPr marL="0" marR="0" lvl="0" indent="0" rtl="0">
              <a:spcBef>
                <a:spcPts val="0"/>
              </a:spcBef>
              <a:spcAft>
                <a:spcPts val="0"/>
              </a:spcAft>
              <a:buNone/>
            </a:pPr>
            <a:r>
              <a:rPr lang="en-US" sz="2400" i="0" u="none" strike="noStrike" cap="none" dirty="0">
                <a:latin typeface="Futura T OT" panose="02000000000000000000" pitchFamily="50" charset="0"/>
                <a:ea typeface="Lato"/>
                <a:cs typeface="Lato"/>
                <a:sym typeface="Lato"/>
              </a:rPr>
              <a:t>Close to hardware but still high-level</a:t>
            </a:r>
            <a:endParaRPr sz="3600" dirty="0">
              <a:latin typeface="Futura T OT" panose="02000000000000000000" pitchFamily="50" charset="0"/>
            </a:endParaRPr>
          </a:p>
        </p:txBody>
      </p:sp>
      <p:sp>
        <p:nvSpPr>
          <p:cNvPr id="6" name="Google Shape;176;p19">
            <a:extLst>
              <a:ext uri="{FF2B5EF4-FFF2-40B4-BE49-F238E27FC236}">
                <a16:creationId xmlns:a16="http://schemas.microsoft.com/office/drawing/2014/main" id="{32256C10-62C1-5B75-4908-2233BEF9A4BD}"/>
              </a:ext>
            </a:extLst>
          </p:cNvPr>
          <p:cNvSpPr txBox="1"/>
          <p:nvPr/>
        </p:nvSpPr>
        <p:spPr>
          <a:xfrm>
            <a:off x="587432" y="3032106"/>
            <a:ext cx="6379788" cy="369332"/>
          </a:xfrm>
          <a:prstGeom prst="rect">
            <a:avLst/>
          </a:prstGeom>
          <a:noFill/>
          <a:ln>
            <a:noFill/>
          </a:ln>
        </p:spPr>
        <p:txBody>
          <a:bodyPr spcFirstLastPara="1" wrap="square" lIns="95250" tIns="0" rIns="0" bIns="0" anchor="t" anchorCtr="0">
            <a:spAutoFit/>
          </a:bodyPr>
          <a:lstStyle/>
          <a:p>
            <a:pPr marL="0" marR="0" lvl="0" indent="0" rtl="0">
              <a:spcBef>
                <a:spcPts val="0"/>
              </a:spcBef>
              <a:spcAft>
                <a:spcPts val="0"/>
              </a:spcAft>
              <a:buNone/>
            </a:pPr>
            <a:r>
              <a:rPr lang="en-US" sz="2400" i="0" u="none" strike="noStrike" cap="none" dirty="0">
                <a:latin typeface="Futura T OT" panose="02000000000000000000" pitchFamily="50" charset="0"/>
                <a:ea typeface="Lato"/>
                <a:cs typeface="Lato"/>
                <a:sym typeface="Lato"/>
              </a:rPr>
              <a:t>Efficient and generates small, fast machine code</a:t>
            </a:r>
            <a:endParaRPr sz="3600" dirty="0">
              <a:latin typeface="Futura T OT" panose="02000000000000000000" pitchFamily="50" charset="0"/>
            </a:endParaRPr>
          </a:p>
        </p:txBody>
      </p:sp>
      <p:sp>
        <p:nvSpPr>
          <p:cNvPr id="7" name="Google Shape;178;p19">
            <a:extLst>
              <a:ext uri="{FF2B5EF4-FFF2-40B4-BE49-F238E27FC236}">
                <a16:creationId xmlns:a16="http://schemas.microsoft.com/office/drawing/2014/main" id="{4DA384C8-750E-9B1F-7B5C-84A209C05023}"/>
              </a:ext>
            </a:extLst>
          </p:cNvPr>
          <p:cNvSpPr txBox="1"/>
          <p:nvPr/>
        </p:nvSpPr>
        <p:spPr>
          <a:xfrm>
            <a:off x="587432" y="3897596"/>
            <a:ext cx="6379788" cy="369332"/>
          </a:xfrm>
          <a:prstGeom prst="rect">
            <a:avLst/>
          </a:prstGeom>
          <a:noFill/>
          <a:ln>
            <a:noFill/>
          </a:ln>
        </p:spPr>
        <p:txBody>
          <a:bodyPr spcFirstLastPara="1" wrap="square" lIns="95250" tIns="0" rIns="0" bIns="0" anchor="t" anchorCtr="0">
            <a:spAutoFit/>
          </a:bodyPr>
          <a:lstStyle/>
          <a:p>
            <a:pPr marL="0" marR="0" lvl="0" indent="0" rtl="0">
              <a:spcBef>
                <a:spcPts val="0"/>
              </a:spcBef>
              <a:spcAft>
                <a:spcPts val="0"/>
              </a:spcAft>
              <a:buNone/>
            </a:pPr>
            <a:r>
              <a:rPr lang="en-US" sz="2400" i="0" u="none" strike="noStrike" cap="none" dirty="0">
                <a:latin typeface="Futura T OT" panose="02000000000000000000" pitchFamily="50" charset="0"/>
                <a:ea typeface="Lato"/>
                <a:cs typeface="Lato"/>
                <a:sym typeface="Lato"/>
              </a:rPr>
              <a:t>Full control over memory</a:t>
            </a:r>
            <a:endParaRPr sz="3600" dirty="0">
              <a:latin typeface="Futura T OT" panose="02000000000000000000" pitchFamily="50" charset="0"/>
            </a:endParaRPr>
          </a:p>
        </p:txBody>
      </p:sp>
      <p:sp>
        <p:nvSpPr>
          <p:cNvPr id="8" name="Google Shape;178;p19">
            <a:extLst>
              <a:ext uri="{FF2B5EF4-FFF2-40B4-BE49-F238E27FC236}">
                <a16:creationId xmlns:a16="http://schemas.microsoft.com/office/drawing/2014/main" id="{B7F636E1-C6D2-B108-99B5-56177A02C621}"/>
              </a:ext>
            </a:extLst>
          </p:cNvPr>
          <p:cNvSpPr txBox="1"/>
          <p:nvPr/>
        </p:nvSpPr>
        <p:spPr>
          <a:xfrm>
            <a:off x="587432" y="4763085"/>
            <a:ext cx="6379788" cy="369332"/>
          </a:xfrm>
          <a:prstGeom prst="rect">
            <a:avLst/>
          </a:prstGeom>
          <a:noFill/>
          <a:ln>
            <a:noFill/>
          </a:ln>
        </p:spPr>
        <p:txBody>
          <a:bodyPr spcFirstLastPara="1" wrap="square" lIns="95250" tIns="0" rIns="0" bIns="0" anchor="t" anchorCtr="0">
            <a:spAutoFit/>
          </a:bodyPr>
          <a:lstStyle/>
          <a:p>
            <a:pPr marL="0" marR="0" lvl="0" indent="0" rtl="0">
              <a:spcBef>
                <a:spcPts val="0"/>
              </a:spcBef>
              <a:spcAft>
                <a:spcPts val="0"/>
              </a:spcAft>
              <a:buNone/>
            </a:pPr>
            <a:r>
              <a:rPr lang="en-US" sz="2400" i="0" u="none" strike="noStrike" cap="none" dirty="0">
                <a:latin typeface="Futura T OT" panose="02000000000000000000" pitchFamily="50" charset="0"/>
                <a:ea typeface="Lato"/>
                <a:cs typeface="Lato"/>
                <a:sym typeface="Lato"/>
              </a:rPr>
              <a:t>Direct access to registers</a:t>
            </a:r>
            <a:endParaRPr sz="3600" dirty="0">
              <a:latin typeface="Futura T OT" panose="02000000000000000000" pitchFamily="50" charset="0"/>
            </a:endParaRPr>
          </a:p>
        </p:txBody>
      </p:sp>
      <p:pic>
        <p:nvPicPr>
          <p:cNvPr id="1026" name="Picture 2" descr="Edutech Learning |">
            <a:extLst>
              <a:ext uri="{FF2B5EF4-FFF2-40B4-BE49-F238E27FC236}">
                <a16:creationId xmlns:a16="http://schemas.microsoft.com/office/drawing/2014/main" id="{43332107-34E3-C2DD-09AA-2AFB18C8E8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409" r="43818"/>
          <a:stretch>
            <a:fillRect/>
          </a:stretch>
        </p:blipFill>
        <p:spPr bwMode="auto">
          <a:xfrm>
            <a:off x="7398328" y="1035176"/>
            <a:ext cx="4206240" cy="4749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4014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DF6E3-804F-FCE5-A544-2E4A9434D8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1EE5B1-8786-4237-70CF-3E3B9FED8160}"/>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Introduction to C for embedded system</a:t>
            </a:r>
          </a:p>
        </p:txBody>
      </p:sp>
      <p:sp>
        <p:nvSpPr>
          <p:cNvPr id="3" name="Google Shape;171;p19">
            <a:extLst>
              <a:ext uri="{FF2B5EF4-FFF2-40B4-BE49-F238E27FC236}">
                <a16:creationId xmlns:a16="http://schemas.microsoft.com/office/drawing/2014/main" id="{513B394B-33B1-A699-992E-6512397C79C9}"/>
              </a:ext>
            </a:extLst>
          </p:cNvPr>
          <p:cNvSpPr txBox="1"/>
          <p:nvPr/>
        </p:nvSpPr>
        <p:spPr>
          <a:xfrm>
            <a:off x="587432" y="1035176"/>
            <a:ext cx="6810896" cy="4739759"/>
          </a:xfrm>
          <a:prstGeom prst="rect">
            <a:avLst/>
          </a:prstGeom>
          <a:noFill/>
          <a:ln>
            <a:noFill/>
          </a:ln>
        </p:spPr>
        <p:txBody>
          <a:bodyPr spcFirstLastPara="1" wrap="square" lIns="0" tIns="0" rIns="0" bIns="0" anchor="t" anchorCtr="0">
            <a:spAutoFit/>
          </a:bodyPr>
          <a:lstStyle/>
          <a:p>
            <a:r>
              <a:rPr lang="en-US" sz="2800" dirty="0">
                <a:solidFill>
                  <a:srgbClr val="FF0000"/>
                </a:solidFill>
                <a:latin typeface="Futura T OT" panose="02000000000000000000" pitchFamily="50" charset="0"/>
              </a:rPr>
              <a:t>No </a:t>
            </a:r>
            <a:r>
              <a:rPr lang="en-US" sz="2800" dirty="0" err="1">
                <a:solidFill>
                  <a:srgbClr val="FF0000"/>
                </a:solidFill>
                <a:latin typeface="Futura T OT" panose="02000000000000000000" pitchFamily="50" charset="0"/>
              </a:rPr>
              <a:t>printf</a:t>
            </a:r>
            <a:r>
              <a:rPr lang="en-US" sz="2800" dirty="0">
                <a:solidFill>
                  <a:srgbClr val="FF0000"/>
                </a:solidFill>
                <a:latin typeface="Futura T OT" panose="02000000000000000000" pitchFamily="50" charset="0"/>
              </a:rPr>
              <a:t>(), </a:t>
            </a:r>
            <a:r>
              <a:rPr lang="en-US" sz="2800" dirty="0">
                <a:latin typeface="Futura T OT" panose="02000000000000000000" pitchFamily="50" charset="0"/>
              </a:rPr>
              <a:t>no screen, no keyboard</a:t>
            </a:r>
          </a:p>
          <a:p>
            <a:r>
              <a:rPr lang="en-US" sz="2800" dirty="0">
                <a:latin typeface="Futura T OT" panose="02000000000000000000" pitchFamily="50" charset="0"/>
              </a:rPr>
              <a:t>Everything is done through:</a:t>
            </a:r>
          </a:p>
          <a:p>
            <a:pPr marL="457200" indent="-457200">
              <a:buFont typeface="Arial" panose="020B0604020202020204" pitchFamily="34" charset="0"/>
              <a:buChar char="•"/>
            </a:pPr>
            <a:r>
              <a:rPr lang="en-US" sz="2800" dirty="0">
                <a:latin typeface="Futura T OT" panose="02000000000000000000" pitchFamily="50" charset="0"/>
              </a:rPr>
              <a:t>Registers</a:t>
            </a:r>
          </a:p>
          <a:p>
            <a:pPr marL="457200" indent="-457200">
              <a:buFont typeface="Arial" panose="020B0604020202020204" pitchFamily="34" charset="0"/>
              <a:buChar char="•"/>
            </a:pPr>
            <a:r>
              <a:rPr lang="en-US" sz="2800" dirty="0">
                <a:latin typeface="Futura T OT" panose="02000000000000000000" pitchFamily="50" charset="0"/>
              </a:rPr>
              <a:t>Peripherals</a:t>
            </a:r>
          </a:p>
          <a:p>
            <a:pPr marL="457200" indent="-457200">
              <a:buFont typeface="Arial" panose="020B0604020202020204" pitchFamily="34" charset="0"/>
              <a:buChar char="•"/>
            </a:pPr>
            <a:r>
              <a:rPr lang="en-US" sz="2800" dirty="0">
                <a:latin typeface="Futura T OT" panose="02000000000000000000" pitchFamily="50" charset="0"/>
              </a:rPr>
              <a:t>External interfaces (LEDs, sensors, serial)</a:t>
            </a:r>
          </a:p>
          <a:p>
            <a:r>
              <a:rPr lang="en-US" sz="2800" dirty="0">
                <a:latin typeface="Futura T OT" panose="02000000000000000000" pitchFamily="50" charset="0"/>
              </a:rPr>
              <a:t>No dynamic memory (avoid malloc, free)</a:t>
            </a:r>
          </a:p>
          <a:p>
            <a:pPr marL="457200" indent="-457200">
              <a:buFont typeface="Arial" panose="020B0604020202020204" pitchFamily="34" charset="0"/>
              <a:buChar char="•"/>
            </a:pPr>
            <a:r>
              <a:rPr lang="en-US" sz="2800" dirty="0">
                <a:latin typeface="Futura T OT" panose="02000000000000000000" pitchFamily="50" charset="0"/>
              </a:rPr>
              <a:t>Bad for small RAM microcontrollers.</a:t>
            </a:r>
          </a:p>
          <a:p>
            <a:r>
              <a:rPr lang="en-US" sz="2800" dirty="0">
                <a:solidFill>
                  <a:srgbClr val="FF0000"/>
                </a:solidFill>
                <a:latin typeface="Futura T OT" panose="02000000000000000000" pitchFamily="50" charset="0"/>
              </a:rPr>
              <a:t>main() </a:t>
            </a:r>
            <a:r>
              <a:rPr lang="en-US" sz="2800" dirty="0">
                <a:latin typeface="Futura T OT" panose="02000000000000000000" pitchFamily="50" charset="0"/>
              </a:rPr>
              <a:t>never ends</a:t>
            </a:r>
          </a:p>
          <a:p>
            <a:pPr marL="457200" indent="-457200">
              <a:buFont typeface="Arial" panose="020B0604020202020204" pitchFamily="34" charset="0"/>
              <a:buChar char="•"/>
            </a:pPr>
            <a:r>
              <a:rPr lang="en-US" sz="2800" dirty="0">
                <a:latin typeface="Futura T OT" panose="02000000000000000000" pitchFamily="50" charset="0"/>
              </a:rPr>
              <a:t>There is no operating system to return to.</a:t>
            </a:r>
          </a:p>
          <a:p>
            <a:r>
              <a:rPr lang="en-US" sz="2800" dirty="0">
                <a:latin typeface="Futura T OT" panose="02000000000000000000" pitchFamily="50" charset="0"/>
              </a:rPr>
              <a:t>Timing is critical</a:t>
            </a:r>
          </a:p>
          <a:p>
            <a:pPr marL="457200" indent="-457200">
              <a:buFont typeface="Arial" panose="020B0604020202020204" pitchFamily="34" charset="0"/>
              <a:buChar char="•"/>
            </a:pPr>
            <a:r>
              <a:rPr lang="en-US" sz="2800" dirty="0">
                <a:latin typeface="Futura T OT" panose="02000000000000000000" pitchFamily="50" charset="0"/>
              </a:rPr>
              <a:t>Delays, timers, interrupts are essential.</a:t>
            </a:r>
          </a:p>
        </p:txBody>
      </p:sp>
      <p:pic>
        <p:nvPicPr>
          <p:cNvPr id="1026" name="Picture 2" descr="Edutech Learning |">
            <a:extLst>
              <a:ext uri="{FF2B5EF4-FFF2-40B4-BE49-F238E27FC236}">
                <a16:creationId xmlns:a16="http://schemas.microsoft.com/office/drawing/2014/main" id="{FA2F66BB-BF19-84F5-57C2-1E71F00F84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409" r="43818"/>
          <a:stretch>
            <a:fillRect/>
          </a:stretch>
        </p:blipFill>
        <p:spPr bwMode="auto">
          <a:xfrm>
            <a:off x="7398328" y="1035176"/>
            <a:ext cx="4206240" cy="4749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4022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C8B8F4B-11EC-DA58-781D-6B6F09F6AC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11D782-F4C7-0AEF-9284-8A3FDF44AC8A}"/>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graphicFrame>
        <p:nvGraphicFramePr>
          <p:cNvPr id="4" name="Table 3">
            <a:extLst>
              <a:ext uri="{FF2B5EF4-FFF2-40B4-BE49-F238E27FC236}">
                <a16:creationId xmlns:a16="http://schemas.microsoft.com/office/drawing/2014/main" id="{C34ED44E-7D38-F08A-05D7-17DED86E7B05}"/>
              </a:ext>
            </a:extLst>
          </p:cNvPr>
          <p:cNvGraphicFramePr>
            <a:graphicFrameLocks noGrp="1"/>
          </p:cNvGraphicFramePr>
          <p:nvPr>
            <p:extLst>
              <p:ext uri="{D42A27DB-BD31-4B8C-83A1-F6EECF244321}">
                <p14:modId xmlns:p14="http://schemas.microsoft.com/office/powerpoint/2010/main" val="1878345984"/>
              </p:ext>
            </p:extLst>
          </p:nvPr>
        </p:nvGraphicFramePr>
        <p:xfrm>
          <a:off x="838199" y="1775460"/>
          <a:ext cx="10515600" cy="3383280"/>
        </p:xfrm>
        <a:graphic>
          <a:graphicData uri="http://schemas.openxmlformats.org/drawingml/2006/table">
            <a:tbl>
              <a:tblPr>
                <a:tableStyleId>{22838BEF-8BB2-4498-84A7-C5851F593DF1}</a:tableStyleId>
              </a:tblPr>
              <a:tblGrid>
                <a:gridCol w="2628900">
                  <a:extLst>
                    <a:ext uri="{9D8B030D-6E8A-4147-A177-3AD203B41FA5}">
                      <a16:colId xmlns:a16="http://schemas.microsoft.com/office/drawing/2014/main" val="534843565"/>
                    </a:ext>
                  </a:extLst>
                </a:gridCol>
                <a:gridCol w="2628900">
                  <a:extLst>
                    <a:ext uri="{9D8B030D-6E8A-4147-A177-3AD203B41FA5}">
                      <a16:colId xmlns:a16="http://schemas.microsoft.com/office/drawing/2014/main" val="1974570746"/>
                    </a:ext>
                  </a:extLst>
                </a:gridCol>
                <a:gridCol w="2628900">
                  <a:extLst>
                    <a:ext uri="{9D8B030D-6E8A-4147-A177-3AD203B41FA5}">
                      <a16:colId xmlns:a16="http://schemas.microsoft.com/office/drawing/2014/main" val="3342238538"/>
                    </a:ext>
                  </a:extLst>
                </a:gridCol>
                <a:gridCol w="2628900">
                  <a:extLst>
                    <a:ext uri="{9D8B030D-6E8A-4147-A177-3AD203B41FA5}">
                      <a16:colId xmlns:a16="http://schemas.microsoft.com/office/drawing/2014/main" val="158637889"/>
                    </a:ext>
                  </a:extLst>
                </a:gridCol>
              </a:tblGrid>
              <a:tr h="0">
                <a:tc>
                  <a:txBody>
                    <a:bodyPr/>
                    <a:lstStyle/>
                    <a:p>
                      <a:pPr algn="ctr">
                        <a:buNone/>
                      </a:pPr>
                      <a:r>
                        <a:rPr lang="en-US" dirty="0">
                          <a:solidFill>
                            <a:srgbClr val="FF0000"/>
                          </a:solidFill>
                          <a:latin typeface="Futura T OT" panose="02000000000000000000" pitchFamily="50" charset="0"/>
                        </a:rPr>
                        <a:t>C Type</a:t>
                      </a:r>
                    </a:p>
                  </a:txBody>
                  <a:tcPr anchor="ctr"/>
                </a:tc>
                <a:tc>
                  <a:txBody>
                    <a:bodyPr/>
                    <a:lstStyle/>
                    <a:p>
                      <a:pPr algn="ctr">
                        <a:buNone/>
                      </a:pPr>
                      <a:r>
                        <a:rPr lang="en-US" dirty="0">
                          <a:solidFill>
                            <a:srgbClr val="FF0000"/>
                          </a:solidFill>
                          <a:latin typeface="Futura T OT" panose="02000000000000000000" pitchFamily="50" charset="0"/>
                        </a:rPr>
                        <a:t>Size on ATmega32</a:t>
                      </a:r>
                    </a:p>
                  </a:txBody>
                  <a:tcPr anchor="ctr"/>
                </a:tc>
                <a:tc>
                  <a:txBody>
                    <a:bodyPr/>
                    <a:lstStyle/>
                    <a:p>
                      <a:pPr algn="ctr">
                        <a:buNone/>
                      </a:pPr>
                      <a:r>
                        <a:rPr lang="en-US" dirty="0">
                          <a:solidFill>
                            <a:srgbClr val="FF0000"/>
                          </a:solidFill>
                          <a:latin typeface="Futura T OT" panose="02000000000000000000" pitchFamily="50" charset="0"/>
                        </a:rPr>
                        <a:t>Range</a:t>
                      </a:r>
                    </a:p>
                  </a:txBody>
                  <a:tcPr anchor="ctr"/>
                </a:tc>
                <a:tc>
                  <a:txBody>
                    <a:bodyPr/>
                    <a:lstStyle/>
                    <a:p>
                      <a:pPr algn="ctr">
                        <a:buNone/>
                      </a:pPr>
                      <a:r>
                        <a:rPr lang="en-US" dirty="0">
                          <a:solidFill>
                            <a:srgbClr val="FF0000"/>
                          </a:solidFill>
                          <a:latin typeface="Futura T OT" panose="02000000000000000000" pitchFamily="50" charset="0"/>
                        </a:rPr>
                        <a:t>Notes</a:t>
                      </a:r>
                    </a:p>
                  </a:txBody>
                  <a:tcPr anchor="ctr"/>
                </a:tc>
                <a:extLst>
                  <a:ext uri="{0D108BD9-81ED-4DB2-BD59-A6C34878D82A}">
                    <a16:rowId xmlns:a16="http://schemas.microsoft.com/office/drawing/2014/main" val="3765069322"/>
                  </a:ext>
                </a:extLst>
              </a:tr>
              <a:tr h="0">
                <a:tc>
                  <a:txBody>
                    <a:bodyPr/>
                    <a:lstStyle/>
                    <a:p>
                      <a:pPr algn="ctr">
                        <a:buNone/>
                      </a:pPr>
                      <a:r>
                        <a:rPr lang="en-US" dirty="0">
                          <a:latin typeface="Futura T OT" panose="02000000000000000000" pitchFamily="50" charset="0"/>
                        </a:rPr>
                        <a:t>char</a:t>
                      </a:r>
                    </a:p>
                  </a:txBody>
                  <a:tcPr anchor="ctr"/>
                </a:tc>
                <a:tc>
                  <a:txBody>
                    <a:bodyPr/>
                    <a:lstStyle/>
                    <a:p>
                      <a:pPr algn="ctr">
                        <a:buNone/>
                      </a:pPr>
                      <a:r>
                        <a:rPr lang="en-US">
                          <a:latin typeface="Futura T OT" panose="02000000000000000000" pitchFamily="50" charset="0"/>
                        </a:rPr>
                        <a:t>1 byte (8-bit)</a:t>
                      </a:r>
                    </a:p>
                  </a:txBody>
                  <a:tcPr anchor="ctr"/>
                </a:tc>
                <a:tc>
                  <a:txBody>
                    <a:bodyPr/>
                    <a:lstStyle/>
                    <a:p>
                      <a:pPr algn="ctr">
                        <a:buNone/>
                      </a:pPr>
                      <a:r>
                        <a:rPr lang="en-US">
                          <a:latin typeface="Futura T OT" panose="02000000000000000000" pitchFamily="50" charset="0"/>
                        </a:rPr>
                        <a:t>–128 to 127</a:t>
                      </a:r>
                    </a:p>
                  </a:txBody>
                  <a:tcPr anchor="ctr"/>
                </a:tc>
                <a:tc>
                  <a:txBody>
                    <a:bodyPr/>
                    <a:lstStyle/>
                    <a:p>
                      <a:pPr algn="ctr">
                        <a:buNone/>
                      </a:pPr>
                      <a:r>
                        <a:rPr lang="en-US">
                          <a:latin typeface="Futura T OT" panose="02000000000000000000" pitchFamily="50" charset="0"/>
                        </a:rPr>
                        <a:t>Most operations are 8-bit, very fast</a:t>
                      </a:r>
                    </a:p>
                  </a:txBody>
                  <a:tcPr anchor="ctr"/>
                </a:tc>
                <a:extLst>
                  <a:ext uri="{0D108BD9-81ED-4DB2-BD59-A6C34878D82A}">
                    <a16:rowId xmlns:a16="http://schemas.microsoft.com/office/drawing/2014/main" val="843401269"/>
                  </a:ext>
                </a:extLst>
              </a:tr>
              <a:tr h="0">
                <a:tc>
                  <a:txBody>
                    <a:bodyPr/>
                    <a:lstStyle/>
                    <a:p>
                      <a:pPr algn="ctr">
                        <a:buNone/>
                      </a:pPr>
                      <a:r>
                        <a:rPr lang="en-US">
                          <a:latin typeface="Futura T OT" panose="02000000000000000000" pitchFamily="50" charset="0"/>
                        </a:rPr>
                        <a:t>unsigned char / uint8_t</a:t>
                      </a:r>
                    </a:p>
                  </a:txBody>
                  <a:tcPr anchor="ctr"/>
                </a:tc>
                <a:tc>
                  <a:txBody>
                    <a:bodyPr/>
                    <a:lstStyle/>
                    <a:p>
                      <a:pPr algn="ctr">
                        <a:buNone/>
                      </a:pPr>
                      <a:r>
                        <a:rPr lang="en-US">
                          <a:latin typeface="Futura T OT" panose="02000000000000000000" pitchFamily="50" charset="0"/>
                        </a:rPr>
                        <a:t>1 byte</a:t>
                      </a:r>
                    </a:p>
                  </a:txBody>
                  <a:tcPr anchor="ctr"/>
                </a:tc>
                <a:tc>
                  <a:txBody>
                    <a:bodyPr/>
                    <a:lstStyle/>
                    <a:p>
                      <a:pPr algn="ctr">
                        <a:buNone/>
                      </a:pPr>
                      <a:r>
                        <a:rPr lang="en-US">
                          <a:latin typeface="Futura T OT" panose="02000000000000000000" pitchFamily="50" charset="0"/>
                        </a:rPr>
                        <a:t>0 to 255</a:t>
                      </a:r>
                    </a:p>
                  </a:txBody>
                  <a:tcPr anchor="ctr"/>
                </a:tc>
                <a:tc>
                  <a:txBody>
                    <a:bodyPr/>
                    <a:lstStyle/>
                    <a:p>
                      <a:pPr algn="ctr">
                        <a:buNone/>
                      </a:pPr>
                      <a:r>
                        <a:rPr lang="en-US">
                          <a:latin typeface="Futura T OT" panose="02000000000000000000" pitchFamily="50" charset="0"/>
                        </a:rPr>
                        <a:t>Most common for registers</a:t>
                      </a:r>
                    </a:p>
                  </a:txBody>
                  <a:tcPr anchor="ctr"/>
                </a:tc>
                <a:extLst>
                  <a:ext uri="{0D108BD9-81ED-4DB2-BD59-A6C34878D82A}">
                    <a16:rowId xmlns:a16="http://schemas.microsoft.com/office/drawing/2014/main" val="853395806"/>
                  </a:ext>
                </a:extLst>
              </a:tr>
              <a:tr h="0">
                <a:tc>
                  <a:txBody>
                    <a:bodyPr/>
                    <a:lstStyle/>
                    <a:p>
                      <a:pPr algn="ctr">
                        <a:buNone/>
                      </a:pPr>
                      <a:r>
                        <a:rPr lang="en-US">
                          <a:latin typeface="Futura T OT" panose="02000000000000000000" pitchFamily="50" charset="0"/>
                        </a:rPr>
                        <a:t>int / signed int</a:t>
                      </a:r>
                    </a:p>
                  </a:txBody>
                  <a:tcPr anchor="ctr"/>
                </a:tc>
                <a:tc>
                  <a:txBody>
                    <a:bodyPr/>
                    <a:lstStyle/>
                    <a:p>
                      <a:pPr algn="ctr">
                        <a:buNone/>
                      </a:pPr>
                      <a:r>
                        <a:rPr lang="en-US">
                          <a:latin typeface="Futura T OT" panose="02000000000000000000" pitchFamily="50" charset="0"/>
                        </a:rPr>
                        <a:t>2 bytes (16-bit)</a:t>
                      </a:r>
                    </a:p>
                  </a:txBody>
                  <a:tcPr anchor="ctr"/>
                </a:tc>
                <a:tc>
                  <a:txBody>
                    <a:bodyPr/>
                    <a:lstStyle/>
                    <a:p>
                      <a:pPr algn="ctr">
                        <a:buNone/>
                      </a:pPr>
                      <a:r>
                        <a:rPr lang="en-US">
                          <a:latin typeface="Futura T OT" panose="02000000000000000000" pitchFamily="50" charset="0"/>
                        </a:rPr>
                        <a:t>–32768 to 32767</a:t>
                      </a:r>
                    </a:p>
                  </a:txBody>
                  <a:tcPr anchor="ctr"/>
                </a:tc>
                <a:tc>
                  <a:txBody>
                    <a:bodyPr/>
                    <a:lstStyle/>
                    <a:p>
                      <a:pPr algn="ctr">
                        <a:buNone/>
                      </a:pPr>
                      <a:r>
                        <a:rPr lang="en-US">
                          <a:latin typeface="Futura T OT" panose="02000000000000000000" pitchFamily="50" charset="0"/>
                        </a:rPr>
                        <a:t>Default integer type</a:t>
                      </a:r>
                    </a:p>
                  </a:txBody>
                  <a:tcPr anchor="ctr"/>
                </a:tc>
                <a:extLst>
                  <a:ext uri="{0D108BD9-81ED-4DB2-BD59-A6C34878D82A}">
                    <a16:rowId xmlns:a16="http://schemas.microsoft.com/office/drawing/2014/main" val="3749955845"/>
                  </a:ext>
                </a:extLst>
              </a:tr>
              <a:tr h="0">
                <a:tc>
                  <a:txBody>
                    <a:bodyPr/>
                    <a:lstStyle/>
                    <a:p>
                      <a:pPr algn="ctr">
                        <a:buNone/>
                      </a:pPr>
                      <a:r>
                        <a:rPr lang="en-US">
                          <a:latin typeface="Futura T OT" panose="02000000000000000000" pitchFamily="50" charset="0"/>
                        </a:rPr>
                        <a:t>unsigned int</a:t>
                      </a:r>
                    </a:p>
                  </a:txBody>
                  <a:tcPr anchor="ctr"/>
                </a:tc>
                <a:tc>
                  <a:txBody>
                    <a:bodyPr/>
                    <a:lstStyle/>
                    <a:p>
                      <a:pPr algn="ctr">
                        <a:buNone/>
                      </a:pPr>
                      <a:r>
                        <a:rPr lang="en-US">
                          <a:latin typeface="Futura T OT" panose="02000000000000000000" pitchFamily="50" charset="0"/>
                        </a:rPr>
                        <a:t>2 bytes</a:t>
                      </a:r>
                    </a:p>
                  </a:txBody>
                  <a:tcPr anchor="ctr"/>
                </a:tc>
                <a:tc>
                  <a:txBody>
                    <a:bodyPr/>
                    <a:lstStyle/>
                    <a:p>
                      <a:pPr algn="ctr">
                        <a:buNone/>
                      </a:pPr>
                      <a:r>
                        <a:rPr lang="en-US">
                          <a:latin typeface="Futura T OT" panose="02000000000000000000" pitchFamily="50" charset="0"/>
                        </a:rPr>
                        <a:t>0 to 65535</a:t>
                      </a:r>
                    </a:p>
                  </a:txBody>
                  <a:tcPr anchor="ctr"/>
                </a:tc>
                <a:tc>
                  <a:txBody>
                    <a:bodyPr/>
                    <a:lstStyle/>
                    <a:p>
                      <a:pPr algn="ctr">
                        <a:buNone/>
                      </a:pPr>
                      <a:r>
                        <a:rPr lang="en-US">
                          <a:latin typeface="Futura T OT" panose="02000000000000000000" pitchFamily="50" charset="0"/>
                        </a:rPr>
                        <a:t>Good for timer values</a:t>
                      </a:r>
                    </a:p>
                  </a:txBody>
                  <a:tcPr anchor="ctr"/>
                </a:tc>
                <a:extLst>
                  <a:ext uri="{0D108BD9-81ED-4DB2-BD59-A6C34878D82A}">
                    <a16:rowId xmlns:a16="http://schemas.microsoft.com/office/drawing/2014/main" val="2221672407"/>
                  </a:ext>
                </a:extLst>
              </a:tr>
              <a:tr h="0">
                <a:tc>
                  <a:txBody>
                    <a:bodyPr/>
                    <a:lstStyle/>
                    <a:p>
                      <a:pPr algn="ctr">
                        <a:buNone/>
                      </a:pPr>
                      <a:r>
                        <a:rPr lang="en-US">
                          <a:latin typeface="Futura T OT" panose="02000000000000000000" pitchFamily="50" charset="0"/>
                        </a:rPr>
                        <a:t>long</a:t>
                      </a:r>
                    </a:p>
                  </a:txBody>
                  <a:tcPr anchor="ctr"/>
                </a:tc>
                <a:tc>
                  <a:txBody>
                    <a:bodyPr/>
                    <a:lstStyle/>
                    <a:p>
                      <a:pPr algn="ctr">
                        <a:buNone/>
                      </a:pPr>
                      <a:r>
                        <a:rPr lang="en-US">
                          <a:latin typeface="Futura T OT" panose="02000000000000000000" pitchFamily="50" charset="0"/>
                        </a:rPr>
                        <a:t>4 bytes</a:t>
                      </a:r>
                    </a:p>
                  </a:txBody>
                  <a:tcPr anchor="ctr"/>
                </a:tc>
                <a:tc>
                  <a:txBody>
                    <a:bodyPr/>
                    <a:lstStyle/>
                    <a:p>
                      <a:pPr algn="ctr">
                        <a:buNone/>
                      </a:pPr>
                      <a:endParaRPr lang="en-US">
                        <a:latin typeface="Futura T OT" panose="02000000000000000000" pitchFamily="50" charset="0"/>
                      </a:endParaRPr>
                    </a:p>
                  </a:txBody>
                  <a:tcPr anchor="ctr"/>
                </a:tc>
                <a:tc>
                  <a:txBody>
                    <a:bodyPr/>
                    <a:lstStyle/>
                    <a:p>
                      <a:pPr algn="ctr">
                        <a:buNone/>
                      </a:pPr>
                      <a:r>
                        <a:rPr lang="en-US">
                          <a:latin typeface="Futura T OT" panose="02000000000000000000" pitchFamily="50" charset="0"/>
                        </a:rPr>
                        <a:t>Slower—avoid unless needed</a:t>
                      </a:r>
                    </a:p>
                  </a:txBody>
                  <a:tcPr anchor="ctr"/>
                </a:tc>
                <a:extLst>
                  <a:ext uri="{0D108BD9-81ED-4DB2-BD59-A6C34878D82A}">
                    <a16:rowId xmlns:a16="http://schemas.microsoft.com/office/drawing/2014/main" val="600791777"/>
                  </a:ext>
                </a:extLst>
              </a:tr>
              <a:tr h="0">
                <a:tc>
                  <a:txBody>
                    <a:bodyPr/>
                    <a:lstStyle/>
                    <a:p>
                      <a:pPr algn="ctr">
                        <a:buNone/>
                      </a:pPr>
                      <a:r>
                        <a:rPr lang="en-US">
                          <a:latin typeface="Futura T OT" panose="02000000000000000000" pitchFamily="50" charset="0"/>
                        </a:rPr>
                        <a:t>float</a:t>
                      </a:r>
                    </a:p>
                  </a:txBody>
                  <a:tcPr anchor="ctr"/>
                </a:tc>
                <a:tc>
                  <a:txBody>
                    <a:bodyPr/>
                    <a:lstStyle/>
                    <a:p>
                      <a:pPr algn="ctr">
                        <a:buNone/>
                      </a:pPr>
                      <a:r>
                        <a:rPr lang="en-US">
                          <a:latin typeface="Futura T OT" panose="02000000000000000000" pitchFamily="50" charset="0"/>
                        </a:rPr>
                        <a:t>4 bytes</a:t>
                      </a:r>
                    </a:p>
                  </a:txBody>
                  <a:tcPr anchor="ctr"/>
                </a:tc>
                <a:tc>
                  <a:txBody>
                    <a:bodyPr/>
                    <a:lstStyle/>
                    <a:p>
                      <a:pPr algn="ctr">
                        <a:buNone/>
                      </a:pPr>
                      <a:endParaRPr lang="en-US">
                        <a:latin typeface="Futura T OT" panose="02000000000000000000" pitchFamily="50" charset="0"/>
                      </a:endParaRPr>
                    </a:p>
                  </a:txBody>
                  <a:tcPr anchor="ctr"/>
                </a:tc>
                <a:tc>
                  <a:txBody>
                    <a:bodyPr/>
                    <a:lstStyle/>
                    <a:p>
                      <a:pPr algn="ctr">
                        <a:buNone/>
                      </a:pPr>
                      <a:r>
                        <a:rPr lang="en-US" dirty="0">
                          <a:latin typeface="Futura T OT" panose="02000000000000000000" pitchFamily="50" charset="0"/>
                        </a:rPr>
                        <a:t>VERY slow on AVR, avoid in ISR &amp; tight loops</a:t>
                      </a:r>
                    </a:p>
                  </a:txBody>
                  <a:tcPr anchor="ctr"/>
                </a:tc>
                <a:extLst>
                  <a:ext uri="{0D108BD9-81ED-4DB2-BD59-A6C34878D82A}">
                    <a16:rowId xmlns:a16="http://schemas.microsoft.com/office/drawing/2014/main" val="3135111384"/>
                  </a:ext>
                </a:extLst>
              </a:tr>
            </a:tbl>
          </a:graphicData>
        </a:graphic>
      </p:graphicFrame>
      <p:sp>
        <p:nvSpPr>
          <p:cNvPr id="3" name="TextBox 2">
            <a:extLst>
              <a:ext uri="{FF2B5EF4-FFF2-40B4-BE49-F238E27FC236}">
                <a16:creationId xmlns:a16="http://schemas.microsoft.com/office/drawing/2014/main" id="{B567FE32-10B8-0A0C-BA24-B2477C4D624A}"/>
              </a:ext>
            </a:extLst>
          </p:cNvPr>
          <p:cNvSpPr txBox="1"/>
          <p:nvPr/>
        </p:nvSpPr>
        <p:spPr>
          <a:xfrm>
            <a:off x="608889" y="5691709"/>
            <a:ext cx="10974219" cy="461665"/>
          </a:xfrm>
          <a:prstGeom prst="rect">
            <a:avLst/>
          </a:prstGeom>
          <a:noFill/>
        </p:spPr>
        <p:txBody>
          <a:bodyPr wrap="square" rtlCol="0">
            <a:spAutoFit/>
          </a:bodyPr>
          <a:lstStyle/>
          <a:p>
            <a:pPr algn="ctr"/>
            <a:r>
              <a:rPr lang="en-US" sz="2400" dirty="0">
                <a:latin typeface="Futura T OT" panose="02000000000000000000" pitchFamily="50" charset="0"/>
              </a:rPr>
              <a:t>Preferred types are </a:t>
            </a:r>
            <a:r>
              <a:rPr lang="en-US" sz="2400" dirty="0">
                <a:solidFill>
                  <a:srgbClr val="FF0000"/>
                </a:solidFill>
                <a:latin typeface="Futura T OT" panose="02000000000000000000" pitchFamily="50" charset="0"/>
              </a:rPr>
              <a:t>uint8_t</a:t>
            </a:r>
            <a:r>
              <a:rPr lang="en-US" sz="2400" dirty="0">
                <a:latin typeface="Futura T OT" panose="02000000000000000000" pitchFamily="50" charset="0"/>
              </a:rPr>
              <a:t>, </a:t>
            </a:r>
            <a:r>
              <a:rPr lang="en-US" sz="2400" dirty="0">
                <a:solidFill>
                  <a:srgbClr val="FF0000"/>
                </a:solidFill>
                <a:latin typeface="Futura T OT" panose="02000000000000000000" pitchFamily="50" charset="0"/>
              </a:rPr>
              <a:t>uint16_t</a:t>
            </a:r>
            <a:r>
              <a:rPr lang="en-US" sz="2400" dirty="0">
                <a:latin typeface="Futura T OT" panose="02000000000000000000" pitchFamily="50" charset="0"/>
              </a:rPr>
              <a:t>, </a:t>
            </a:r>
            <a:r>
              <a:rPr lang="en-US" sz="2400" dirty="0">
                <a:solidFill>
                  <a:srgbClr val="FF0000"/>
                </a:solidFill>
                <a:latin typeface="Futura T OT" panose="02000000000000000000" pitchFamily="50" charset="0"/>
              </a:rPr>
              <a:t>uint32_t</a:t>
            </a:r>
          </a:p>
        </p:txBody>
      </p:sp>
    </p:spTree>
    <p:extLst>
      <p:ext uri="{BB962C8B-B14F-4D97-AF65-F5344CB8AC3E}">
        <p14:creationId xmlns:p14="http://schemas.microsoft.com/office/powerpoint/2010/main" val="4021533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4567EF-48A5-05BE-5752-3393536E08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876FF8-67B2-5A65-B9A1-A6CF0CA7B55E}"/>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CFF2C845-6FF6-F022-2E3B-1F6327B803DD}"/>
              </a:ext>
            </a:extLst>
          </p:cNvPr>
          <p:cNvSpPr txBox="1"/>
          <p:nvPr/>
        </p:nvSpPr>
        <p:spPr>
          <a:xfrm>
            <a:off x="5381104" y="2389882"/>
            <a:ext cx="6810896" cy="2154436"/>
          </a:xfrm>
          <a:prstGeom prst="rect">
            <a:avLst/>
          </a:prstGeom>
          <a:noFill/>
          <a:ln>
            <a:noFill/>
          </a:ln>
        </p:spPr>
        <p:txBody>
          <a:bodyPr spcFirstLastPara="1" wrap="square" lIns="0" tIns="0" rIns="0" bIns="0" anchor="t" anchorCtr="0">
            <a:spAutoFit/>
          </a:bodyPr>
          <a:lstStyle/>
          <a:p>
            <a:r>
              <a:rPr lang="en-US" sz="2800" dirty="0">
                <a:latin typeface="Futura T OT" panose="02000000000000000000" pitchFamily="50" charset="0"/>
              </a:rPr>
              <a:t>if (PINB &amp; (1 &lt;&lt; PB0)) {</a:t>
            </a:r>
          </a:p>
          <a:p>
            <a:r>
              <a:rPr lang="en-US" sz="2800" dirty="0">
                <a:latin typeface="Futura T OT" panose="02000000000000000000" pitchFamily="50" charset="0"/>
              </a:rPr>
              <a:t>    PORTC |= (1 &lt;&lt; PC0);</a:t>
            </a:r>
          </a:p>
          <a:p>
            <a:r>
              <a:rPr lang="en-US" sz="2800" dirty="0">
                <a:latin typeface="Futura T OT" panose="02000000000000000000" pitchFamily="50" charset="0"/>
              </a:rPr>
              <a:t>} else {</a:t>
            </a:r>
          </a:p>
          <a:p>
            <a:r>
              <a:rPr lang="en-US" sz="2800" dirty="0">
                <a:latin typeface="Futura T OT" panose="02000000000000000000" pitchFamily="50" charset="0"/>
              </a:rPr>
              <a:t>    PORTC &amp;= ~(1 &lt;&lt; PC0);</a:t>
            </a:r>
          </a:p>
          <a:p>
            <a:r>
              <a:rPr lang="en-US" sz="2800" dirty="0">
                <a:latin typeface="Futura T OT" panose="02000000000000000000" pitchFamily="50" charset="0"/>
              </a:rPr>
              <a:t>}</a:t>
            </a:r>
          </a:p>
        </p:txBody>
      </p:sp>
      <p:sp>
        <p:nvSpPr>
          <p:cNvPr id="7" name="TextBox 6">
            <a:extLst>
              <a:ext uri="{FF2B5EF4-FFF2-40B4-BE49-F238E27FC236}">
                <a16:creationId xmlns:a16="http://schemas.microsoft.com/office/drawing/2014/main" id="{A7BEDA57-00AE-4599-B93C-BB24E783CE01}"/>
              </a:ext>
            </a:extLst>
          </p:cNvPr>
          <p:cNvSpPr txBox="1"/>
          <p:nvPr/>
        </p:nvSpPr>
        <p:spPr>
          <a:xfrm>
            <a:off x="260004" y="2477193"/>
            <a:ext cx="4525356" cy="461665"/>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&amp;</a:t>
            </a:r>
            <a:r>
              <a:rPr lang="en-US" sz="2400" dirty="0">
                <a:latin typeface="Futura T OT" panose="02000000000000000000" pitchFamily="50" charset="0"/>
              </a:rPr>
              <a:t> is ANDing and </a:t>
            </a:r>
            <a:r>
              <a:rPr lang="en-US" sz="2400" dirty="0">
                <a:solidFill>
                  <a:srgbClr val="FF0000"/>
                </a:solidFill>
                <a:latin typeface="Futura T OT" panose="02000000000000000000" pitchFamily="50" charset="0"/>
              </a:rPr>
              <a:t>&lt;&lt;</a:t>
            </a:r>
            <a:r>
              <a:rPr lang="en-US" sz="2400" dirty="0">
                <a:latin typeface="Futura T OT" panose="02000000000000000000" pitchFamily="50" charset="0"/>
              </a:rPr>
              <a:t> is </a:t>
            </a:r>
            <a:r>
              <a:rPr lang="en-US" sz="2400" dirty="0" err="1">
                <a:latin typeface="Futura T OT" panose="02000000000000000000" pitchFamily="50" charset="0"/>
              </a:rPr>
              <a:t>SHIFTing</a:t>
            </a:r>
            <a:r>
              <a:rPr lang="en-US" sz="2400" dirty="0">
                <a:latin typeface="Futura T OT" panose="02000000000000000000" pitchFamily="50" charset="0"/>
              </a:rPr>
              <a:t>.</a:t>
            </a:r>
          </a:p>
        </p:txBody>
      </p:sp>
      <p:sp>
        <p:nvSpPr>
          <p:cNvPr id="8" name="TextBox 7">
            <a:extLst>
              <a:ext uri="{FF2B5EF4-FFF2-40B4-BE49-F238E27FC236}">
                <a16:creationId xmlns:a16="http://schemas.microsoft.com/office/drawing/2014/main" id="{A36ED299-89E6-C0B5-7BBB-E903522BE9D1}"/>
              </a:ext>
            </a:extLst>
          </p:cNvPr>
          <p:cNvSpPr txBox="1"/>
          <p:nvPr/>
        </p:nvSpPr>
        <p:spPr>
          <a:xfrm>
            <a:off x="260004" y="3556200"/>
            <a:ext cx="4525356" cy="461665"/>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a:t>
            </a:r>
            <a:r>
              <a:rPr lang="en-US" sz="2400" dirty="0">
                <a:latin typeface="Futura T OT" panose="02000000000000000000" pitchFamily="50" charset="0"/>
              </a:rPr>
              <a:t> is ORing</a:t>
            </a:r>
          </a:p>
        </p:txBody>
      </p:sp>
      <p:sp>
        <p:nvSpPr>
          <p:cNvPr id="4" name="TextBox 3">
            <a:extLst>
              <a:ext uri="{FF2B5EF4-FFF2-40B4-BE49-F238E27FC236}">
                <a16:creationId xmlns:a16="http://schemas.microsoft.com/office/drawing/2014/main" id="{F857575C-B16D-29DD-0FF5-F36A73BA00F0}"/>
              </a:ext>
            </a:extLst>
          </p:cNvPr>
          <p:cNvSpPr txBox="1"/>
          <p:nvPr/>
        </p:nvSpPr>
        <p:spPr>
          <a:xfrm>
            <a:off x="260004" y="1100991"/>
            <a:ext cx="1196161" cy="646331"/>
          </a:xfrm>
          <a:prstGeom prst="rect">
            <a:avLst/>
          </a:prstGeom>
          <a:noFill/>
        </p:spPr>
        <p:txBody>
          <a:bodyPr wrap="none" rtlCol="0">
            <a:spAutoFit/>
          </a:bodyPr>
          <a:lstStyle/>
          <a:p>
            <a:r>
              <a:rPr lang="en-US" sz="3600" dirty="0">
                <a:solidFill>
                  <a:srgbClr val="4472C4"/>
                </a:solidFill>
                <a:latin typeface="Futura T OT" panose="02000000000000000000" pitchFamily="50" charset="0"/>
              </a:rPr>
              <a:t>If-else</a:t>
            </a:r>
          </a:p>
        </p:txBody>
      </p:sp>
    </p:spTree>
    <p:extLst>
      <p:ext uri="{BB962C8B-B14F-4D97-AF65-F5344CB8AC3E}">
        <p14:creationId xmlns:p14="http://schemas.microsoft.com/office/powerpoint/2010/main" val="2513353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BF6571B-2128-D46D-621C-BC3D711688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BDFC97-FBC8-98C7-C268-878D70A0F35D}"/>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8D35D2AA-67FF-5AA3-323A-F791C98A747E}"/>
              </a:ext>
            </a:extLst>
          </p:cNvPr>
          <p:cNvSpPr txBox="1"/>
          <p:nvPr/>
        </p:nvSpPr>
        <p:spPr>
          <a:xfrm>
            <a:off x="5381104" y="2389882"/>
            <a:ext cx="6810896" cy="2154436"/>
          </a:xfrm>
          <a:prstGeom prst="rect">
            <a:avLst/>
          </a:prstGeom>
          <a:noFill/>
          <a:ln>
            <a:noFill/>
          </a:ln>
        </p:spPr>
        <p:txBody>
          <a:bodyPr spcFirstLastPara="1" wrap="square" lIns="0" tIns="0" rIns="0" bIns="0" anchor="t" anchorCtr="0">
            <a:spAutoFit/>
          </a:bodyPr>
          <a:lstStyle/>
          <a:p>
            <a:r>
              <a:rPr lang="en-US" sz="2800" dirty="0">
                <a:latin typeface="Futura T OT" panose="02000000000000000000" pitchFamily="50" charset="0"/>
              </a:rPr>
              <a:t>switch(</a:t>
            </a:r>
            <a:r>
              <a:rPr lang="en-US" sz="2800" dirty="0">
                <a:solidFill>
                  <a:srgbClr val="FF0000"/>
                </a:solidFill>
                <a:latin typeface="Futura T OT" panose="02000000000000000000" pitchFamily="50" charset="0"/>
              </a:rPr>
              <a:t>mode</a:t>
            </a:r>
            <a:r>
              <a:rPr lang="en-US" sz="2800" dirty="0">
                <a:latin typeface="Futura T OT" panose="02000000000000000000" pitchFamily="50" charset="0"/>
              </a:rPr>
              <a:t>) {</a:t>
            </a:r>
          </a:p>
          <a:p>
            <a:r>
              <a:rPr lang="en-US" sz="2800" dirty="0">
                <a:latin typeface="Futura T OT" panose="02000000000000000000" pitchFamily="50" charset="0"/>
              </a:rPr>
              <a:t>    case </a:t>
            </a:r>
            <a:r>
              <a:rPr lang="en-US" sz="2800" dirty="0">
                <a:solidFill>
                  <a:srgbClr val="FF0000"/>
                </a:solidFill>
                <a:latin typeface="Futura T OT" panose="02000000000000000000" pitchFamily="50" charset="0"/>
              </a:rPr>
              <a:t>0</a:t>
            </a:r>
            <a:r>
              <a:rPr lang="en-US" sz="2800" dirty="0">
                <a:latin typeface="Futura T OT" panose="02000000000000000000" pitchFamily="50" charset="0"/>
              </a:rPr>
              <a:t>: </a:t>
            </a:r>
            <a:r>
              <a:rPr lang="en-US" sz="2800" dirty="0" err="1">
                <a:latin typeface="Futura T OT" panose="02000000000000000000" pitchFamily="50" charset="0"/>
              </a:rPr>
              <a:t>run_motor</a:t>
            </a:r>
            <a:r>
              <a:rPr lang="en-US" sz="2800" dirty="0">
                <a:latin typeface="Futura T OT" panose="02000000000000000000" pitchFamily="50" charset="0"/>
              </a:rPr>
              <a:t>(); break;</a:t>
            </a:r>
          </a:p>
          <a:p>
            <a:r>
              <a:rPr lang="en-US" sz="2800" dirty="0">
                <a:latin typeface="Futura T OT" panose="02000000000000000000" pitchFamily="50" charset="0"/>
              </a:rPr>
              <a:t>    case </a:t>
            </a:r>
            <a:r>
              <a:rPr lang="en-US" sz="2800" dirty="0">
                <a:solidFill>
                  <a:srgbClr val="FF0000"/>
                </a:solidFill>
                <a:latin typeface="Futura T OT" panose="02000000000000000000" pitchFamily="50" charset="0"/>
              </a:rPr>
              <a:t>1</a:t>
            </a:r>
            <a:r>
              <a:rPr lang="en-US" sz="2800" dirty="0">
                <a:latin typeface="Futura T OT" panose="02000000000000000000" pitchFamily="50" charset="0"/>
              </a:rPr>
              <a:t>: </a:t>
            </a:r>
            <a:r>
              <a:rPr lang="en-US" sz="2800" dirty="0" err="1">
                <a:latin typeface="Futura T OT" panose="02000000000000000000" pitchFamily="50" charset="0"/>
              </a:rPr>
              <a:t>stop_motor</a:t>
            </a:r>
            <a:r>
              <a:rPr lang="en-US" sz="2800" dirty="0">
                <a:latin typeface="Futura T OT" panose="02000000000000000000" pitchFamily="50" charset="0"/>
              </a:rPr>
              <a:t>(); break;</a:t>
            </a:r>
          </a:p>
          <a:p>
            <a:r>
              <a:rPr lang="en-US" sz="2800" dirty="0">
                <a:latin typeface="Futura T OT" panose="02000000000000000000" pitchFamily="50" charset="0"/>
              </a:rPr>
              <a:t>    case </a:t>
            </a:r>
            <a:r>
              <a:rPr lang="en-US" sz="2800" dirty="0">
                <a:solidFill>
                  <a:srgbClr val="FF0000"/>
                </a:solidFill>
                <a:latin typeface="Futura T OT" panose="02000000000000000000" pitchFamily="50" charset="0"/>
              </a:rPr>
              <a:t>2</a:t>
            </a:r>
            <a:r>
              <a:rPr lang="en-US" sz="2800" dirty="0">
                <a:latin typeface="Futura T OT" panose="02000000000000000000" pitchFamily="50" charset="0"/>
              </a:rPr>
              <a:t>: </a:t>
            </a:r>
            <a:r>
              <a:rPr lang="en-US" sz="2800" dirty="0" err="1">
                <a:latin typeface="Futura T OT" panose="02000000000000000000" pitchFamily="50" charset="0"/>
              </a:rPr>
              <a:t>reverse_motor</a:t>
            </a:r>
            <a:r>
              <a:rPr lang="en-US" sz="2800" dirty="0">
                <a:latin typeface="Futura T OT" panose="02000000000000000000" pitchFamily="50" charset="0"/>
              </a:rPr>
              <a:t>(); break;</a:t>
            </a:r>
          </a:p>
          <a:p>
            <a:r>
              <a:rPr lang="en-US" sz="2800" dirty="0">
                <a:latin typeface="Futura T OT" panose="02000000000000000000" pitchFamily="50" charset="0"/>
              </a:rPr>
              <a:t>}</a:t>
            </a:r>
          </a:p>
        </p:txBody>
      </p:sp>
      <p:sp>
        <p:nvSpPr>
          <p:cNvPr id="7" name="TextBox 6">
            <a:extLst>
              <a:ext uri="{FF2B5EF4-FFF2-40B4-BE49-F238E27FC236}">
                <a16:creationId xmlns:a16="http://schemas.microsoft.com/office/drawing/2014/main" id="{E723E1C3-85FA-C9BE-D81B-82AB2FE7F5B0}"/>
              </a:ext>
            </a:extLst>
          </p:cNvPr>
          <p:cNvSpPr txBox="1"/>
          <p:nvPr/>
        </p:nvSpPr>
        <p:spPr>
          <a:xfrm>
            <a:off x="260004" y="2828835"/>
            <a:ext cx="4525356" cy="1200329"/>
          </a:xfrm>
          <a:prstGeom prst="rect">
            <a:avLst/>
          </a:prstGeom>
          <a:noFill/>
        </p:spPr>
        <p:txBody>
          <a:bodyPr wrap="square" rtlCol="0">
            <a:spAutoFit/>
          </a:bodyPr>
          <a:lstStyle/>
          <a:p>
            <a:r>
              <a:rPr lang="en-US" sz="2400" dirty="0">
                <a:latin typeface="Futura T OT" panose="02000000000000000000" pitchFamily="50" charset="0"/>
              </a:rPr>
              <a:t>Used in </a:t>
            </a:r>
          </a:p>
          <a:p>
            <a:pPr marL="342900" indent="-342900">
              <a:buFont typeface="Arial" panose="020B0604020202020204" pitchFamily="34" charset="0"/>
              <a:buChar char="•"/>
            </a:pPr>
            <a:r>
              <a:rPr lang="en-US" sz="2400" dirty="0">
                <a:latin typeface="Futura T OT" panose="02000000000000000000" pitchFamily="50" charset="0"/>
              </a:rPr>
              <a:t>Finite state machine</a:t>
            </a:r>
          </a:p>
          <a:p>
            <a:pPr marL="342900" indent="-342900">
              <a:buFont typeface="Arial" panose="020B0604020202020204" pitchFamily="34" charset="0"/>
              <a:buChar char="•"/>
            </a:pPr>
            <a:r>
              <a:rPr lang="en-US" sz="2400" dirty="0">
                <a:latin typeface="Futura T OT" panose="02000000000000000000" pitchFamily="50" charset="0"/>
              </a:rPr>
              <a:t>Menu systems</a:t>
            </a:r>
          </a:p>
        </p:txBody>
      </p:sp>
      <p:sp>
        <p:nvSpPr>
          <p:cNvPr id="4" name="TextBox 3">
            <a:extLst>
              <a:ext uri="{FF2B5EF4-FFF2-40B4-BE49-F238E27FC236}">
                <a16:creationId xmlns:a16="http://schemas.microsoft.com/office/drawing/2014/main" id="{8384210F-A0F9-0A06-7E8F-B039BE12F240}"/>
              </a:ext>
            </a:extLst>
          </p:cNvPr>
          <p:cNvSpPr txBox="1"/>
          <p:nvPr/>
        </p:nvSpPr>
        <p:spPr>
          <a:xfrm>
            <a:off x="260004" y="1100991"/>
            <a:ext cx="2183611" cy="646331"/>
          </a:xfrm>
          <a:prstGeom prst="rect">
            <a:avLst/>
          </a:prstGeom>
          <a:noFill/>
        </p:spPr>
        <p:txBody>
          <a:bodyPr wrap="none" rtlCol="0">
            <a:spAutoFit/>
          </a:bodyPr>
          <a:lstStyle/>
          <a:p>
            <a:r>
              <a:rPr lang="en-US" sz="3600" dirty="0">
                <a:solidFill>
                  <a:srgbClr val="4472C4"/>
                </a:solidFill>
                <a:latin typeface="Futura T OT" panose="02000000000000000000" pitchFamily="50" charset="0"/>
              </a:rPr>
              <a:t>switch-case</a:t>
            </a:r>
          </a:p>
        </p:txBody>
      </p:sp>
    </p:spTree>
    <p:extLst>
      <p:ext uri="{BB962C8B-B14F-4D97-AF65-F5344CB8AC3E}">
        <p14:creationId xmlns:p14="http://schemas.microsoft.com/office/powerpoint/2010/main" val="1875539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6341BC2-AC99-69D7-B73C-50CBA39935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97397F-2AD4-8ACC-F062-1464A705AE73}"/>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04FF8B0B-8E00-27B7-F7EB-1898F521A706}"/>
              </a:ext>
            </a:extLst>
          </p:cNvPr>
          <p:cNvSpPr txBox="1"/>
          <p:nvPr/>
        </p:nvSpPr>
        <p:spPr>
          <a:xfrm>
            <a:off x="5381104" y="2389882"/>
            <a:ext cx="6810896" cy="1723549"/>
          </a:xfrm>
          <a:prstGeom prst="rect">
            <a:avLst/>
          </a:prstGeom>
          <a:noFill/>
          <a:ln>
            <a:noFill/>
          </a:ln>
        </p:spPr>
        <p:txBody>
          <a:bodyPr spcFirstLastPara="1" wrap="square" lIns="0" tIns="0" rIns="0" bIns="0" anchor="t" anchorCtr="0">
            <a:spAutoFit/>
          </a:bodyPr>
          <a:lstStyle/>
          <a:p>
            <a:r>
              <a:rPr lang="en-US" sz="2800" dirty="0">
                <a:latin typeface="Futura T OT" panose="02000000000000000000" pitchFamily="50" charset="0"/>
              </a:rPr>
              <a:t>while (</a:t>
            </a:r>
            <a:r>
              <a:rPr lang="en-US" sz="2800" dirty="0">
                <a:solidFill>
                  <a:srgbClr val="FF0000"/>
                </a:solidFill>
                <a:latin typeface="Futura T OT" panose="02000000000000000000" pitchFamily="50" charset="0"/>
              </a:rPr>
              <a:t>1</a:t>
            </a:r>
            <a:r>
              <a:rPr lang="en-US" sz="2800" dirty="0">
                <a:latin typeface="Futura T OT" panose="02000000000000000000" pitchFamily="50" charset="0"/>
              </a:rPr>
              <a:t>) {</a:t>
            </a:r>
          </a:p>
          <a:p>
            <a:r>
              <a:rPr lang="en-US" sz="2800" dirty="0">
                <a:latin typeface="Futura T OT" panose="02000000000000000000" pitchFamily="50" charset="0"/>
              </a:rPr>
              <a:t>    </a:t>
            </a:r>
            <a:r>
              <a:rPr lang="en-US" sz="2800" dirty="0" err="1">
                <a:latin typeface="Futura T OT" panose="02000000000000000000" pitchFamily="50" charset="0"/>
              </a:rPr>
              <a:t>read_sensor</a:t>
            </a:r>
            <a:r>
              <a:rPr lang="en-US" sz="2800" dirty="0">
                <a:latin typeface="Futura T OT" panose="02000000000000000000" pitchFamily="50" charset="0"/>
              </a:rPr>
              <a:t>();</a:t>
            </a:r>
          </a:p>
          <a:p>
            <a:r>
              <a:rPr lang="en-US" sz="2800" dirty="0">
                <a:latin typeface="Futura T OT" panose="02000000000000000000" pitchFamily="50" charset="0"/>
              </a:rPr>
              <a:t>    </a:t>
            </a:r>
            <a:r>
              <a:rPr lang="en-US" sz="2800" dirty="0" err="1">
                <a:latin typeface="Futura T OT" panose="02000000000000000000" pitchFamily="50" charset="0"/>
              </a:rPr>
              <a:t>update_output</a:t>
            </a:r>
            <a:r>
              <a:rPr lang="en-US" sz="2800" dirty="0">
                <a:latin typeface="Futura T OT" panose="02000000000000000000" pitchFamily="50" charset="0"/>
              </a:rPr>
              <a:t>();</a:t>
            </a:r>
          </a:p>
          <a:p>
            <a:r>
              <a:rPr lang="en-US" sz="2800" dirty="0">
                <a:latin typeface="Futura T OT" panose="02000000000000000000" pitchFamily="50" charset="0"/>
              </a:rPr>
              <a:t>}</a:t>
            </a:r>
          </a:p>
        </p:txBody>
      </p:sp>
      <p:sp>
        <p:nvSpPr>
          <p:cNvPr id="7" name="TextBox 6">
            <a:extLst>
              <a:ext uri="{FF2B5EF4-FFF2-40B4-BE49-F238E27FC236}">
                <a16:creationId xmlns:a16="http://schemas.microsoft.com/office/drawing/2014/main" id="{7FE7BE80-55BD-70CF-1461-E5AE8DF20FD8}"/>
              </a:ext>
            </a:extLst>
          </p:cNvPr>
          <p:cNvSpPr txBox="1"/>
          <p:nvPr/>
        </p:nvSpPr>
        <p:spPr>
          <a:xfrm>
            <a:off x="260004" y="2913102"/>
            <a:ext cx="4525356" cy="461665"/>
          </a:xfrm>
          <a:prstGeom prst="rect">
            <a:avLst/>
          </a:prstGeom>
          <a:noFill/>
        </p:spPr>
        <p:txBody>
          <a:bodyPr wrap="square" rtlCol="0">
            <a:spAutoFit/>
          </a:bodyPr>
          <a:lstStyle/>
          <a:p>
            <a:r>
              <a:rPr lang="en-US" sz="2400" dirty="0">
                <a:latin typeface="Futura T OT" panose="02000000000000000000" pitchFamily="50" charset="0"/>
              </a:rPr>
              <a:t>while(1) is the backbone of main()</a:t>
            </a:r>
          </a:p>
        </p:txBody>
      </p:sp>
      <p:sp>
        <p:nvSpPr>
          <p:cNvPr id="4" name="TextBox 3">
            <a:extLst>
              <a:ext uri="{FF2B5EF4-FFF2-40B4-BE49-F238E27FC236}">
                <a16:creationId xmlns:a16="http://schemas.microsoft.com/office/drawing/2014/main" id="{0F16B022-ADE1-96F6-BB79-E9FB1E02C1FC}"/>
              </a:ext>
            </a:extLst>
          </p:cNvPr>
          <p:cNvSpPr txBox="1"/>
          <p:nvPr/>
        </p:nvSpPr>
        <p:spPr>
          <a:xfrm>
            <a:off x="260004" y="1100991"/>
            <a:ext cx="1664238" cy="646331"/>
          </a:xfrm>
          <a:prstGeom prst="rect">
            <a:avLst/>
          </a:prstGeom>
          <a:noFill/>
        </p:spPr>
        <p:txBody>
          <a:bodyPr wrap="none" rtlCol="0">
            <a:spAutoFit/>
          </a:bodyPr>
          <a:lstStyle/>
          <a:p>
            <a:r>
              <a:rPr lang="en-US" sz="3600" dirty="0">
                <a:solidFill>
                  <a:srgbClr val="4472C4"/>
                </a:solidFill>
                <a:latin typeface="Futura T OT" panose="02000000000000000000" pitchFamily="50" charset="0"/>
              </a:rPr>
              <a:t>while(1)</a:t>
            </a:r>
          </a:p>
        </p:txBody>
      </p:sp>
    </p:spTree>
    <p:extLst>
      <p:ext uri="{BB962C8B-B14F-4D97-AF65-F5344CB8AC3E}">
        <p14:creationId xmlns:p14="http://schemas.microsoft.com/office/powerpoint/2010/main" val="1037298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8622FDC-F1FF-47F5-F357-49E8A5030D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637D8D-77FF-5863-9B05-2C2DA5B9B21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0B8C7971-05EC-D0B3-7097-8F89D20170F7}"/>
              </a:ext>
            </a:extLst>
          </p:cNvPr>
          <p:cNvSpPr txBox="1"/>
          <p:nvPr/>
        </p:nvSpPr>
        <p:spPr>
          <a:xfrm>
            <a:off x="5381104" y="2389882"/>
            <a:ext cx="6810896" cy="1723549"/>
          </a:xfrm>
          <a:prstGeom prst="rect">
            <a:avLst/>
          </a:prstGeom>
          <a:noFill/>
          <a:ln>
            <a:noFill/>
          </a:ln>
        </p:spPr>
        <p:txBody>
          <a:bodyPr spcFirstLastPara="1" wrap="square" lIns="0" tIns="0" rIns="0" bIns="0" anchor="t" anchorCtr="0">
            <a:spAutoFit/>
          </a:bodyPr>
          <a:lstStyle/>
          <a:p>
            <a:r>
              <a:rPr lang="nn-NO" sz="2800" dirty="0">
                <a:latin typeface="Futura T OT" panose="02000000000000000000" pitchFamily="50" charset="0"/>
              </a:rPr>
              <a:t>for (uint8_t i = 0; i &lt; 8; i++) {</a:t>
            </a:r>
          </a:p>
          <a:p>
            <a:r>
              <a:rPr lang="nn-NO" sz="2800" dirty="0">
                <a:latin typeface="Futura T OT" panose="02000000000000000000" pitchFamily="50" charset="0"/>
              </a:rPr>
              <a:t>    PORTA = (1 &lt;&lt; i);</a:t>
            </a:r>
          </a:p>
          <a:p>
            <a:r>
              <a:rPr lang="nn-NO" sz="2800" dirty="0">
                <a:latin typeface="Futura T OT" panose="02000000000000000000" pitchFamily="50" charset="0"/>
              </a:rPr>
              <a:t>    _delay_ms(200);</a:t>
            </a:r>
          </a:p>
          <a:p>
            <a:r>
              <a:rPr lang="nn-NO" sz="2800" dirty="0">
                <a:latin typeface="Futura T OT" panose="02000000000000000000" pitchFamily="50" charset="0"/>
              </a:rPr>
              <a:t>}</a:t>
            </a:r>
          </a:p>
        </p:txBody>
      </p:sp>
      <p:sp>
        <p:nvSpPr>
          <p:cNvPr id="7" name="TextBox 6">
            <a:extLst>
              <a:ext uri="{FF2B5EF4-FFF2-40B4-BE49-F238E27FC236}">
                <a16:creationId xmlns:a16="http://schemas.microsoft.com/office/drawing/2014/main" id="{FF670840-3D22-D3A6-28FF-60C9E414AD55}"/>
              </a:ext>
            </a:extLst>
          </p:cNvPr>
          <p:cNvSpPr txBox="1"/>
          <p:nvPr/>
        </p:nvSpPr>
        <p:spPr>
          <a:xfrm>
            <a:off x="260004" y="2913102"/>
            <a:ext cx="4525356" cy="1200329"/>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Used for </a:t>
            </a:r>
          </a:p>
          <a:p>
            <a:pPr marL="342900" indent="-342900">
              <a:buFont typeface="Arial" panose="020B0604020202020204" pitchFamily="34" charset="0"/>
              <a:buChar char="•"/>
            </a:pPr>
            <a:r>
              <a:rPr lang="en-US" sz="2400" dirty="0">
                <a:solidFill>
                  <a:srgbClr val="FF0000"/>
                </a:solidFill>
                <a:latin typeface="Futura T OT" panose="02000000000000000000" pitchFamily="50" charset="0"/>
              </a:rPr>
              <a:t>Short delays</a:t>
            </a:r>
          </a:p>
          <a:p>
            <a:pPr marL="342900" indent="-342900">
              <a:buFont typeface="Arial" panose="020B0604020202020204" pitchFamily="34" charset="0"/>
              <a:buChar char="•"/>
            </a:pPr>
            <a:r>
              <a:rPr lang="en-US" sz="2400" dirty="0">
                <a:solidFill>
                  <a:srgbClr val="FF0000"/>
                </a:solidFill>
                <a:latin typeface="Futura T OT" panose="02000000000000000000" pitchFamily="50" charset="0"/>
              </a:rPr>
              <a:t>Repetitive GPIO patterns</a:t>
            </a:r>
            <a:endParaRPr lang="en-US" sz="2400" dirty="0">
              <a:latin typeface="Futura T OT" panose="02000000000000000000" pitchFamily="50" charset="0"/>
            </a:endParaRPr>
          </a:p>
        </p:txBody>
      </p:sp>
      <p:sp>
        <p:nvSpPr>
          <p:cNvPr id="4" name="TextBox 3">
            <a:extLst>
              <a:ext uri="{FF2B5EF4-FFF2-40B4-BE49-F238E27FC236}">
                <a16:creationId xmlns:a16="http://schemas.microsoft.com/office/drawing/2014/main" id="{75A47B8F-E91F-BE2F-1ED5-99BCCAF44690}"/>
              </a:ext>
            </a:extLst>
          </p:cNvPr>
          <p:cNvSpPr txBox="1"/>
          <p:nvPr/>
        </p:nvSpPr>
        <p:spPr>
          <a:xfrm>
            <a:off x="260004" y="1100991"/>
            <a:ext cx="1767984" cy="646331"/>
          </a:xfrm>
          <a:prstGeom prst="rect">
            <a:avLst/>
          </a:prstGeom>
          <a:noFill/>
        </p:spPr>
        <p:txBody>
          <a:bodyPr wrap="none" rtlCol="0">
            <a:spAutoFit/>
          </a:bodyPr>
          <a:lstStyle/>
          <a:p>
            <a:r>
              <a:rPr lang="en-US" sz="3600" dirty="0">
                <a:solidFill>
                  <a:srgbClr val="4472C4"/>
                </a:solidFill>
                <a:latin typeface="Futura T OT" panose="02000000000000000000" pitchFamily="50" charset="0"/>
              </a:rPr>
              <a:t>for loops</a:t>
            </a:r>
          </a:p>
        </p:txBody>
      </p:sp>
    </p:spTree>
    <p:extLst>
      <p:ext uri="{BB962C8B-B14F-4D97-AF65-F5344CB8AC3E}">
        <p14:creationId xmlns:p14="http://schemas.microsoft.com/office/powerpoint/2010/main" val="677541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ECC703-592E-E1A3-6702-50601EF356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4377DB-078D-07FF-2547-D5AE449ACBAF}"/>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7" name="TextBox 6">
            <a:extLst>
              <a:ext uri="{FF2B5EF4-FFF2-40B4-BE49-F238E27FC236}">
                <a16:creationId xmlns:a16="http://schemas.microsoft.com/office/drawing/2014/main" id="{6CEB49D8-FCB8-2964-531E-1DD9B144D763}"/>
              </a:ext>
            </a:extLst>
          </p:cNvPr>
          <p:cNvSpPr txBox="1"/>
          <p:nvPr/>
        </p:nvSpPr>
        <p:spPr>
          <a:xfrm>
            <a:off x="260004" y="2913102"/>
            <a:ext cx="4525356" cy="1200329"/>
          </a:xfrm>
          <a:prstGeom prst="rect">
            <a:avLst/>
          </a:prstGeom>
          <a:noFill/>
        </p:spPr>
        <p:txBody>
          <a:bodyPr wrap="square" rtlCol="0">
            <a:spAutoFit/>
          </a:bodyPr>
          <a:lstStyle/>
          <a:p>
            <a:r>
              <a:rPr lang="en-US" sz="2400" dirty="0">
                <a:latin typeface="Futura T OT" panose="02000000000000000000" pitchFamily="50" charset="0"/>
              </a:rPr>
              <a:t>A pointer in C is a variable that stores the </a:t>
            </a:r>
            <a:r>
              <a:rPr lang="en-US" sz="2400" dirty="0">
                <a:solidFill>
                  <a:srgbClr val="FF0000"/>
                </a:solidFill>
                <a:latin typeface="Futura T OT" panose="02000000000000000000" pitchFamily="50" charset="0"/>
              </a:rPr>
              <a:t>address</a:t>
            </a:r>
            <a:r>
              <a:rPr lang="en-US" sz="2400" dirty="0">
                <a:latin typeface="Futura T OT" panose="02000000000000000000" pitchFamily="50" charset="0"/>
              </a:rPr>
              <a:t> of another variable.</a:t>
            </a:r>
          </a:p>
        </p:txBody>
      </p:sp>
      <p:sp>
        <p:nvSpPr>
          <p:cNvPr id="4" name="TextBox 3">
            <a:extLst>
              <a:ext uri="{FF2B5EF4-FFF2-40B4-BE49-F238E27FC236}">
                <a16:creationId xmlns:a16="http://schemas.microsoft.com/office/drawing/2014/main" id="{A76D11F4-B86D-9DA2-3169-05BC298CF3B5}"/>
              </a:ext>
            </a:extLst>
          </p:cNvPr>
          <p:cNvSpPr txBox="1"/>
          <p:nvPr/>
        </p:nvSpPr>
        <p:spPr>
          <a:xfrm>
            <a:off x="260004" y="1100991"/>
            <a:ext cx="1599220" cy="646331"/>
          </a:xfrm>
          <a:prstGeom prst="rect">
            <a:avLst/>
          </a:prstGeom>
          <a:noFill/>
        </p:spPr>
        <p:txBody>
          <a:bodyPr wrap="none" rtlCol="0">
            <a:spAutoFit/>
          </a:bodyPr>
          <a:lstStyle/>
          <a:p>
            <a:r>
              <a:rPr lang="en-US" sz="3600" dirty="0">
                <a:solidFill>
                  <a:srgbClr val="FF0000"/>
                </a:solidFill>
                <a:latin typeface="Futura T OT" panose="02000000000000000000" pitchFamily="50" charset="0"/>
              </a:rPr>
              <a:t>pointers</a:t>
            </a:r>
          </a:p>
        </p:txBody>
      </p:sp>
      <p:pic>
        <p:nvPicPr>
          <p:cNvPr id="8" name="Picture 7">
            <a:extLst>
              <a:ext uri="{FF2B5EF4-FFF2-40B4-BE49-F238E27FC236}">
                <a16:creationId xmlns:a16="http://schemas.microsoft.com/office/drawing/2014/main" id="{C3AFD0FA-2456-0ED3-1635-CF83BC8620F7}"/>
              </a:ext>
            </a:extLst>
          </p:cNvPr>
          <p:cNvPicPr>
            <a:picLocks noChangeAspect="1"/>
          </p:cNvPicPr>
          <p:nvPr/>
        </p:nvPicPr>
        <p:blipFill>
          <a:blip r:embed="rId2">
            <a:extLst>
              <a:ext uri="{28A0092B-C50C-407E-A947-70E740481C1C}">
                <a14:useLocalDpi xmlns:a14="http://schemas.microsoft.com/office/drawing/2010/main" val="0"/>
              </a:ext>
            </a:extLst>
          </a:blip>
          <a:srcRect l="9439" t="28971" r="10270" b="9855"/>
          <a:stretch>
            <a:fillRect/>
          </a:stretch>
        </p:blipFill>
        <p:spPr>
          <a:xfrm>
            <a:off x="4842193" y="1487608"/>
            <a:ext cx="7089803" cy="4051316"/>
          </a:xfrm>
          <a:prstGeom prst="rect">
            <a:avLst/>
          </a:prstGeom>
        </p:spPr>
      </p:pic>
    </p:spTree>
    <p:extLst>
      <p:ext uri="{BB962C8B-B14F-4D97-AF65-F5344CB8AC3E}">
        <p14:creationId xmlns:p14="http://schemas.microsoft.com/office/powerpoint/2010/main" val="663377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1B6781-B053-EFA2-2951-0D3F0CAA48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FAAFC4-E6E3-23D9-A29E-983F52757A5C}"/>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D77D07B7-E887-48B4-D768-0D72DB562ED4}"/>
              </a:ext>
            </a:extLst>
          </p:cNvPr>
          <p:cNvSpPr txBox="1"/>
          <p:nvPr/>
        </p:nvSpPr>
        <p:spPr>
          <a:xfrm>
            <a:off x="6855691" y="3036213"/>
            <a:ext cx="5076305" cy="861774"/>
          </a:xfrm>
          <a:prstGeom prst="rect">
            <a:avLst/>
          </a:prstGeom>
          <a:noFill/>
          <a:ln>
            <a:noFill/>
          </a:ln>
        </p:spPr>
        <p:txBody>
          <a:bodyPr spcFirstLastPara="1" wrap="square" lIns="0" tIns="0" rIns="0" bIns="0" anchor="t" anchorCtr="0">
            <a:spAutoFit/>
          </a:bodyPr>
          <a:lstStyle/>
          <a:p>
            <a:r>
              <a:rPr lang="fr-FR" sz="2800" dirty="0">
                <a:latin typeface="Futura T OT" panose="02000000000000000000" pitchFamily="50" charset="0"/>
              </a:rPr>
              <a:t>uint8_t x = 10;</a:t>
            </a:r>
          </a:p>
          <a:p>
            <a:r>
              <a:rPr lang="fr-FR" sz="2800" dirty="0">
                <a:latin typeface="Futura T OT" panose="02000000000000000000" pitchFamily="50" charset="0"/>
              </a:rPr>
              <a:t>uint8_t *</a:t>
            </a:r>
            <a:r>
              <a:rPr lang="fr-FR" sz="2800" dirty="0" err="1">
                <a:latin typeface="Futura T OT" panose="02000000000000000000" pitchFamily="50" charset="0"/>
              </a:rPr>
              <a:t>ptr</a:t>
            </a:r>
            <a:r>
              <a:rPr lang="fr-FR" sz="2800" dirty="0">
                <a:latin typeface="Futura T OT" panose="02000000000000000000" pitchFamily="50" charset="0"/>
              </a:rPr>
              <a:t> = &amp;x;</a:t>
            </a:r>
          </a:p>
        </p:txBody>
      </p:sp>
      <p:sp>
        <p:nvSpPr>
          <p:cNvPr id="7" name="TextBox 6">
            <a:extLst>
              <a:ext uri="{FF2B5EF4-FFF2-40B4-BE49-F238E27FC236}">
                <a16:creationId xmlns:a16="http://schemas.microsoft.com/office/drawing/2014/main" id="{3B94538F-8E9E-062B-7B18-2AFF409B6568}"/>
              </a:ext>
            </a:extLst>
          </p:cNvPr>
          <p:cNvSpPr txBox="1"/>
          <p:nvPr/>
        </p:nvSpPr>
        <p:spPr>
          <a:xfrm>
            <a:off x="260004" y="2682270"/>
            <a:ext cx="5492403" cy="1569660"/>
          </a:xfrm>
          <a:prstGeom prst="rect">
            <a:avLst/>
          </a:prstGeom>
          <a:noFill/>
        </p:spPr>
        <p:txBody>
          <a:bodyPr wrap="square" rtlCol="0">
            <a:spAutoFit/>
          </a:bodyPr>
          <a:lstStyle/>
          <a:p>
            <a:r>
              <a:rPr lang="en-US" sz="2400" dirty="0">
                <a:latin typeface="Futura T OT" panose="02000000000000000000" pitchFamily="50" charset="0"/>
              </a:rPr>
              <a:t>Use of pointers</a:t>
            </a:r>
          </a:p>
          <a:p>
            <a:pPr marL="342900" indent="-342900">
              <a:buFont typeface="Arial" panose="020B0604020202020204" pitchFamily="34" charset="0"/>
              <a:buChar char="•"/>
            </a:pPr>
            <a:r>
              <a:rPr lang="en-US" sz="2400" dirty="0">
                <a:latin typeface="Futura T OT" panose="02000000000000000000" pitchFamily="50" charset="0"/>
              </a:rPr>
              <a:t>Access hardware registers directly</a:t>
            </a:r>
          </a:p>
          <a:p>
            <a:pPr marL="342900" indent="-342900">
              <a:buFont typeface="Arial" panose="020B0604020202020204" pitchFamily="34" charset="0"/>
              <a:buChar char="•"/>
            </a:pPr>
            <a:r>
              <a:rPr lang="en-US" sz="2400" dirty="0">
                <a:latin typeface="Futura T OT" panose="02000000000000000000" pitchFamily="50" charset="0"/>
              </a:rPr>
              <a:t>Manipulate port registers dynamically</a:t>
            </a:r>
          </a:p>
          <a:p>
            <a:pPr marL="342900" indent="-342900">
              <a:buFont typeface="Arial" panose="020B0604020202020204" pitchFamily="34" charset="0"/>
              <a:buChar char="•"/>
            </a:pPr>
            <a:r>
              <a:rPr lang="en-US" sz="2400" dirty="0">
                <a:latin typeface="Futura T OT" panose="02000000000000000000" pitchFamily="50" charset="0"/>
              </a:rPr>
              <a:t>Pass variables to functions by reference</a:t>
            </a:r>
          </a:p>
        </p:txBody>
      </p:sp>
      <p:sp>
        <p:nvSpPr>
          <p:cNvPr id="4" name="TextBox 3">
            <a:extLst>
              <a:ext uri="{FF2B5EF4-FFF2-40B4-BE49-F238E27FC236}">
                <a16:creationId xmlns:a16="http://schemas.microsoft.com/office/drawing/2014/main" id="{498A94A9-3B93-3710-5E58-127F5543C3DB}"/>
              </a:ext>
            </a:extLst>
          </p:cNvPr>
          <p:cNvSpPr txBox="1"/>
          <p:nvPr/>
        </p:nvSpPr>
        <p:spPr>
          <a:xfrm>
            <a:off x="260004" y="1100991"/>
            <a:ext cx="1599220" cy="646331"/>
          </a:xfrm>
          <a:prstGeom prst="rect">
            <a:avLst/>
          </a:prstGeom>
          <a:noFill/>
        </p:spPr>
        <p:txBody>
          <a:bodyPr wrap="none" rtlCol="0">
            <a:spAutoFit/>
          </a:bodyPr>
          <a:lstStyle/>
          <a:p>
            <a:r>
              <a:rPr lang="en-US" sz="3600" dirty="0">
                <a:solidFill>
                  <a:srgbClr val="FF0000"/>
                </a:solidFill>
                <a:latin typeface="Futura T OT" panose="02000000000000000000" pitchFamily="50" charset="0"/>
              </a:rPr>
              <a:t>pointers</a:t>
            </a:r>
          </a:p>
        </p:txBody>
      </p:sp>
    </p:spTree>
    <p:extLst>
      <p:ext uri="{BB962C8B-B14F-4D97-AF65-F5344CB8AC3E}">
        <p14:creationId xmlns:p14="http://schemas.microsoft.com/office/powerpoint/2010/main" val="1854854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9284A4-AAF8-61FB-13F8-D96AB6A336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35C668-995A-C685-B95A-BEF5C2A3B325}"/>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4863C659-CCC3-5101-0224-4436D364BEC4}"/>
              </a:ext>
            </a:extLst>
          </p:cNvPr>
          <p:cNvSpPr txBox="1"/>
          <p:nvPr/>
        </p:nvSpPr>
        <p:spPr>
          <a:xfrm>
            <a:off x="5000104" y="3036213"/>
            <a:ext cx="6810896" cy="861774"/>
          </a:xfrm>
          <a:prstGeom prst="rect">
            <a:avLst/>
          </a:prstGeom>
          <a:noFill/>
          <a:ln>
            <a:noFill/>
          </a:ln>
        </p:spPr>
        <p:txBody>
          <a:bodyPr spcFirstLastPara="1" wrap="square" lIns="0" tIns="0" rIns="0" bIns="0" anchor="t" anchorCtr="0">
            <a:spAutoFit/>
          </a:bodyPr>
          <a:lstStyle/>
          <a:p>
            <a:r>
              <a:rPr lang="en-US" sz="2800" dirty="0">
                <a:latin typeface="Futura T OT" panose="02000000000000000000" pitchFamily="50" charset="0"/>
              </a:rPr>
              <a:t>DDRC |= (1 &lt;&lt; PC0);  // Set PC0 as output</a:t>
            </a:r>
          </a:p>
          <a:p>
            <a:r>
              <a:rPr lang="en-US" sz="2800" dirty="0">
                <a:latin typeface="Futura T OT" panose="02000000000000000000" pitchFamily="50" charset="0"/>
              </a:rPr>
              <a:t>PORTC &amp;= ~(1 &lt;&lt; PC0); // Set PC0 LOW</a:t>
            </a:r>
          </a:p>
        </p:txBody>
      </p:sp>
      <p:sp>
        <p:nvSpPr>
          <p:cNvPr id="7" name="TextBox 6">
            <a:extLst>
              <a:ext uri="{FF2B5EF4-FFF2-40B4-BE49-F238E27FC236}">
                <a16:creationId xmlns:a16="http://schemas.microsoft.com/office/drawing/2014/main" id="{C1D91D1B-4BD7-971C-68E5-50204BA21DBF}"/>
              </a:ext>
            </a:extLst>
          </p:cNvPr>
          <p:cNvSpPr txBox="1"/>
          <p:nvPr/>
        </p:nvSpPr>
        <p:spPr>
          <a:xfrm>
            <a:off x="260004" y="2477193"/>
            <a:ext cx="4525356" cy="830997"/>
          </a:xfrm>
          <a:prstGeom prst="rect">
            <a:avLst/>
          </a:prstGeom>
          <a:noFill/>
        </p:spPr>
        <p:txBody>
          <a:bodyPr wrap="square" rtlCol="0">
            <a:spAutoFit/>
          </a:bodyPr>
          <a:lstStyle/>
          <a:p>
            <a:r>
              <a:rPr lang="en-US" sz="2400" dirty="0">
                <a:latin typeface="Futura T OT" panose="02000000000000000000" pitchFamily="50" charset="0"/>
              </a:rPr>
              <a:t>Registers are memory addresses that control hardware.</a:t>
            </a:r>
          </a:p>
        </p:txBody>
      </p:sp>
      <p:sp>
        <p:nvSpPr>
          <p:cNvPr id="8" name="TextBox 7">
            <a:extLst>
              <a:ext uri="{FF2B5EF4-FFF2-40B4-BE49-F238E27FC236}">
                <a16:creationId xmlns:a16="http://schemas.microsoft.com/office/drawing/2014/main" id="{0E7B8479-1DBE-DA84-0F4B-E1C9F5BC22BB}"/>
              </a:ext>
            </a:extLst>
          </p:cNvPr>
          <p:cNvSpPr txBox="1"/>
          <p:nvPr/>
        </p:nvSpPr>
        <p:spPr>
          <a:xfrm>
            <a:off x="260004" y="3308190"/>
            <a:ext cx="4525356" cy="830997"/>
          </a:xfrm>
          <a:prstGeom prst="rect">
            <a:avLst/>
          </a:prstGeom>
          <a:noFill/>
        </p:spPr>
        <p:txBody>
          <a:bodyPr wrap="square" rtlCol="0">
            <a:spAutoFit/>
          </a:bodyPr>
          <a:lstStyle/>
          <a:p>
            <a:r>
              <a:rPr lang="en-US" sz="2400" dirty="0" err="1">
                <a:latin typeface="Futura T OT" panose="02000000000000000000" pitchFamily="50" charset="0"/>
              </a:rPr>
              <a:t>avr</a:t>
            </a:r>
            <a:r>
              <a:rPr lang="en-US" sz="2400" dirty="0">
                <a:latin typeface="Futura T OT" panose="02000000000000000000" pitchFamily="50" charset="0"/>
              </a:rPr>
              <a:t>/</a:t>
            </a:r>
            <a:r>
              <a:rPr lang="en-US" sz="2400" dirty="0" err="1">
                <a:latin typeface="Futura T OT" panose="02000000000000000000" pitchFamily="50" charset="0"/>
              </a:rPr>
              <a:t>io.h</a:t>
            </a:r>
            <a:r>
              <a:rPr lang="en-US" sz="2400" dirty="0">
                <a:latin typeface="Futura T OT" panose="02000000000000000000" pitchFamily="50" charset="0"/>
              </a:rPr>
              <a:t> defines all register name like </a:t>
            </a:r>
            <a:r>
              <a:rPr lang="en-US" sz="2400" dirty="0">
                <a:solidFill>
                  <a:srgbClr val="FF0000"/>
                </a:solidFill>
                <a:latin typeface="Futura T OT" panose="02000000000000000000" pitchFamily="50" charset="0"/>
              </a:rPr>
              <a:t>PORTA</a:t>
            </a:r>
            <a:r>
              <a:rPr lang="en-US" sz="2400" dirty="0">
                <a:latin typeface="Futura T OT" panose="02000000000000000000" pitchFamily="50" charset="0"/>
              </a:rPr>
              <a:t>, </a:t>
            </a:r>
            <a:r>
              <a:rPr lang="en-US" sz="2400" dirty="0">
                <a:solidFill>
                  <a:srgbClr val="FF0000"/>
                </a:solidFill>
                <a:latin typeface="Futura T OT" panose="02000000000000000000" pitchFamily="50" charset="0"/>
              </a:rPr>
              <a:t>DDRA</a:t>
            </a:r>
            <a:r>
              <a:rPr lang="en-US" sz="2400" dirty="0">
                <a:latin typeface="Futura T OT" panose="02000000000000000000" pitchFamily="50" charset="0"/>
              </a:rPr>
              <a:t>, </a:t>
            </a:r>
            <a:r>
              <a:rPr lang="en-US" sz="2400" dirty="0">
                <a:solidFill>
                  <a:srgbClr val="FF0000"/>
                </a:solidFill>
                <a:latin typeface="Futura T OT" panose="02000000000000000000" pitchFamily="50" charset="0"/>
              </a:rPr>
              <a:t>PINA</a:t>
            </a:r>
            <a:r>
              <a:rPr lang="en-US" sz="2400" dirty="0">
                <a:latin typeface="Futura T OT" panose="02000000000000000000" pitchFamily="50" charset="0"/>
              </a:rPr>
              <a:t>, </a:t>
            </a:r>
            <a:r>
              <a:rPr lang="en-US" sz="2400" dirty="0" err="1">
                <a:latin typeface="Futura T OT" panose="02000000000000000000" pitchFamily="50" charset="0"/>
              </a:rPr>
              <a:t>etc</a:t>
            </a:r>
            <a:endParaRPr lang="en-US" sz="2400" dirty="0">
              <a:latin typeface="Futura T OT" panose="02000000000000000000" pitchFamily="50" charset="0"/>
            </a:endParaRPr>
          </a:p>
        </p:txBody>
      </p:sp>
      <p:sp>
        <p:nvSpPr>
          <p:cNvPr id="9" name="TextBox 8">
            <a:extLst>
              <a:ext uri="{FF2B5EF4-FFF2-40B4-BE49-F238E27FC236}">
                <a16:creationId xmlns:a16="http://schemas.microsoft.com/office/drawing/2014/main" id="{9C142911-6570-0FB3-A5B4-B349C33D3DA2}"/>
              </a:ext>
            </a:extLst>
          </p:cNvPr>
          <p:cNvSpPr txBox="1"/>
          <p:nvPr/>
        </p:nvSpPr>
        <p:spPr>
          <a:xfrm>
            <a:off x="260004" y="4265875"/>
            <a:ext cx="4525356" cy="461665"/>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a:t>
            </a:r>
            <a:r>
              <a:rPr lang="en-US" sz="2400" dirty="0">
                <a:latin typeface="Futura T OT" panose="02000000000000000000" pitchFamily="50" charset="0"/>
              </a:rPr>
              <a:t> , </a:t>
            </a:r>
            <a:r>
              <a:rPr lang="en-US" sz="2400" dirty="0">
                <a:solidFill>
                  <a:srgbClr val="FF0000"/>
                </a:solidFill>
                <a:latin typeface="Futura T OT" panose="02000000000000000000" pitchFamily="50" charset="0"/>
              </a:rPr>
              <a:t>&amp;=~</a:t>
            </a:r>
            <a:r>
              <a:rPr lang="en-US" sz="2400" dirty="0">
                <a:latin typeface="Futura T OT" panose="02000000000000000000" pitchFamily="50" charset="0"/>
              </a:rPr>
              <a:t> are used to set/clear bits.</a:t>
            </a:r>
          </a:p>
        </p:txBody>
      </p:sp>
    </p:spTree>
    <p:extLst>
      <p:ext uri="{BB962C8B-B14F-4D97-AF65-F5344CB8AC3E}">
        <p14:creationId xmlns:p14="http://schemas.microsoft.com/office/powerpoint/2010/main" val="4251998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521B57-ED25-7ED7-D6AE-0BB68D7E22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910F35E-1288-91FA-CF43-119A142A87C0}"/>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30594E49-07E6-E204-32AB-6ED3A91136DE}"/>
              </a:ext>
            </a:extLst>
          </p:cNvPr>
          <p:cNvSpPr txBox="1"/>
          <p:nvPr/>
        </p:nvSpPr>
        <p:spPr>
          <a:xfrm>
            <a:off x="6096001" y="3036213"/>
            <a:ext cx="5835996" cy="861774"/>
          </a:xfrm>
          <a:prstGeom prst="rect">
            <a:avLst/>
          </a:prstGeom>
          <a:noFill/>
          <a:ln>
            <a:noFill/>
          </a:ln>
        </p:spPr>
        <p:txBody>
          <a:bodyPr spcFirstLastPara="1" wrap="square" lIns="0" tIns="0" rIns="0" bIns="0" anchor="t" anchorCtr="0">
            <a:spAutoFit/>
          </a:bodyPr>
          <a:lstStyle/>
          <a:p>
            <a:r>
              <a:rPr lang="fr-FR" sz="2800" dirty="0">
                <a:latin typeface="Futura T OT" panose="02000000000000000000" pitchFamily="50" charset="0"/>
              </a:rPr>
              <a:t>volatile uint8_t *</a:t>
            </a:r>
            <a:r>
              <a:rPr lang="fr-FR" sz="2800" dirty="0" err="1">
                <a:latin typeface="Futura T OT" panose="02000000000000000000" pitchFamily="50" charset="0"/>
              </a:rPr>
              <a:t>portA</a:t>
            </a:r>
            <a:r>
              <a:rPr lang="fr-FR" sz="2800" dirty="0">
                <a:latin typeface="Futura T OT" panose="02000000000000000000" pitchFamily="50" charset="0"/>
              </a:rPr>
              <a:t> = (uint8_t*)0x1B; </a:t>
            </a:r>
          </a:p>
          <a:p>
            <a:r>
              <a:rPr lang="fr-FR" sz="2800" dirty="0">
                <a:latin typeface="Futura T OT" panose="02000000000000000000" pitchFamily="50" charset="0"/>
              </a:rPr>
              <a:t>*</a:t>
            </a:r>
            <a:r>
              <a:rPr lang="fr-FR" sz="2800" dirty="0" err="1">
                <a:latin typeface="Futura T OT" panose="02000000000000000000" pitchFamily="50" charset="0"/>
              </a:rPr>
              <a:t>portA</a:t>
            </a:r>
            <a:r>
              <a:rPr lang="fr-FR" sz="2800" dirty="0">
                <a:latin typeface="Futura T OT" panose="02000000000000000000" pitchFamily="50" charset="0"/>
              </a:rPr>
              <a:t> = 0xFF;  // Write to PORTA</a:t>
            </a:r>
          </a:p>
        </p:txBody>
      </p:sp>
      <p:sp>
        <p:nvSpPr>
          <p:cNvPr id="7" name="TextBox 6">
            <a:extLst>
              <a:ext uri="{FF2B5EF4-FFF2-40B4-BE49-F238E27FC236}">
                <a16:creationId xmlns:a16="http://schemas.microsoft.com/office/drawing/2014/main" id="{56B31317-6B26-DFD5-1AD5-191CF5402FAC}"/>
              </a:ext>
            </a:extLst>
          </p:cNvPr>
          <p:cNvSpPr txBox="1"/>
          <p:nvPr/>
        </p:nvSpPr>
        <p:spPr>
          <a:xfrm>
            <a:off x="260003" y="2067128"/>
            <a:ext cx="5492403" cy="3416320"/>
          </a:xfrm>
          <a:prstGeom prst="rect">
            <a:avLst/>
          </a:prstGeom>
          <a:noFill/>
        </p:spPr>
        <p:txBody>
          <a:bodyPr wrap="square" rtlCol="0">
            <a:spAutoFit/>
          </a:bodyPr>
          <a:lstStyle/>
          <a:p>
            <a:r>
              <a:rPr lang="en-US" sz="2400" dirty="0">
                <a:latin typeface="Futura T OT" panose="02000000000000000000" pitchFamily="50" charset="0"/>
              </a:rPr>
              <a:t>Use volatile when:</a:t>
            </a:r>
          </a:p>
          <a:p>
            <a:pPr marL="342900" indent="-342900">
              <a:buFont typeface="Arial" panose="020B0604020202020204" pitchFamily="34" charset="0"/>
              <a:buChar char="•"/>
            </a:pPr>
            <a:r>
              <a:rPr lang="en-US" sz="2400" dirty="0">
                <a:latin typeface="Futura T OT" panose="02000000000000000000" pitchFamily="50" charset="0"/>
              </a:rPr>
              <a:t>Variable is a hardware register</a:t>
            </a:r>
          </a:p>
          <a:p>
            <a:pPr marL="342900" indent="-342900">
              <a:buFont typeface="Arial" panose="020B0604020202020204" pitchFamily="34" charset="0"/>
              <a:buChar char="•"/>
            </a:pPr>
            <a:r>
              <a:rPr lang="en-US" sz="2400" dirty="0">
                <a:latin typeface="Futura T OT" panose="02000000000000000000" pitchFamily="50" charset="0"/>
              </a:rPr>
              <a:t>Variable is modified by an interrupt</a:t>
            </a:r>
          </a:p>
          <a:p>
            <a:pPr marL="342900" indent="-342900">
              <a:buFont typeface="Arial" panose="020B0604020202020204" pitchFamily="34" charset="0"/>
              <a:buChar char="•"/>
            </a:pPr>
            <a:r>
              <a:rPr lang="en-US" sz="2400" dirty="0">
                <a:latin typeface="Futura T OT" panose="02000000000000000000" pitchFamily="50" charset="0"/>
              </a:rPr>
              <a:t>Variable is changed by hardware (ADC, Timer, UART)</a:t>
            </a:r>
          </a:p>
          <a:p>
            <a:pPr marL="342900" indent="-342900">
              <a:buFont typeface="Arial" panose="020B0604020202020204" pitchFamily="34" charset="0"/>
              <a:buChar char="•"/>
            </a:pPr>
            <a:r>
              <a:rPr lang="en-US" sz="2400" dirty="0">
                <a:latin typeface="Futura T OT" panose="02000000000000000000" pitchFamily="50" charset="0"/>
              </a:rPr>
              <a:t>Variable is shared between main code and ISR</a:t>
            </a:r>
          </a:p>
          <a:p>
            <a:pPr marL="342900" indent="-342900">
              <a:buFont typeface="Arial" panose="020B0604020202020204" pitchFamily="34" charset="0"/>
              <a:buChar char="•"/>
            </a:pPr>
            <a:r>
              <a:rPr lang="en-US" sz="2400" dirty="0">
                <a:latin typeface="Futura T OT" panose="02000000000000000000" pitchFamily="50" charset="0"/>
              </a:rPr>
              <a:t>Variable might change without your program writing to it</a:t>
            </a:r>
          </a:p>
        </p:txBody>
      </p:sp>
      <p:sp>
        <p:nvSpPr>
          <p:cNvPr id="4" name="TextBox 3">
            <a:extLst>
              <a:ext uri="{FF2B5EF4-FFF2-40B4-BE49-F238E27FC236}">
                <a16:creationId xmlns:a16="http://schemas.microsoft.com/office/drawing/2014/main" id="{92ACB253-8B35-075B-6744-771AA419DD15}"/>
              </a:ext>
            </a:extLst>
          </p:cNvPr>
          <p:cNvSpPr txBox="1"/>
          <p:nvPr/>
        </p:nvSpPr>
        <p:spPr>
          <a:xfrm>
            <a:off x="260004" y="1100991"/>
            <a:ext cx="1466555" cy="646331"/>
          </a:xfrm>
          <a:prstGeom prst="rect">
            <a:avLst/>
          </a:prstGeom>
          <a:noFill/>
        </p:spPr>
        <p:txBody>
          <a:bodyPr wrap="none" rtlCol="0">
            <a:spAutoFit/>
          </a:bodyPr>
          <a:lstStyle/>
          <a:p>
            <a:r>
              <a:rPr lang="en-US" sz="3600" dirty="0">
                <a:solidFill>
                  <a:srgbClr val="FF0000"/>
                </a:solidFill>
                <a:latin typeface="Futura T OT" panose="02000000000000000000" pitchFamily="50" charset="0"/>
              </a:rPr>
              <a:t>volatile</a:t>
            </a:r>
          </a:p>
        </p:txBody>
      </p:sp>
    </p:spTree>
    <p:extLst>
      <p:ext uri="{BB962C8B-B14F-4D97-AF65-F5344CB8AC3E}">
        <p14:creationId xmlns:p14="http://schemas.microsoft.com/office/powerpoint/2010/main" val="3858229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4D60F66-583B-4959-C1B7-6618471BBD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1022E1-2113-62F4-116A-BDEDEFBB317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Data types, Control structures and Pointers</a:t>
            </a:r>
          </a:p>
        </p:txBody>
      </p:sp>
      <p:sp>
        <p:nvSpPr>
          <p:cNvPr id="3" name="Google Shape;171;p19">
            <a:extLst>
              <a:ext uri="{FF2B5EF4-FFF2-40B4-BE49-F238E27FC236}">
                <a16:creationId xmlns:a16="http://schemas.microsoft.com/office/drawing/2014/main" id="{02D0CBAB-912B-F0D6-99C5-646211430FB4}"/>
              </a:ext>
            </a:extLst>
          </p:cNvPr>
          <p:cNvSpPr txBox="1"/>
          <p:nvPr/>
        </p:nvSpPr>
        <p:spPr>
          <a:xfrm>
            <a:off x="5381104" y="1789953"/>
            <a:ext cx="6810896" cy="4308872"/>
          </a:xfrm>
          <a:prstGeom prst="rect">
            <a:avLst/>
          </a:prstGeom>
          <a:noFill/>
          <a:ln>
            <a:noFill/>
          </a:ln>
        </p:spPr>
        <p:txBody>
          <a:bodyPr spcFirstLastPara="1" wrap="square" lIns="0" tIns="0" rIns="0" bIns="0" anchor="t" anchorCtr="0">
            <a:spAutoFit/>
          </a:bodyPr>
          <a:lstStyle/>
          <a:p>
            <a:r>
              <a:rPr lang="en-US" sz="2800" dirty="0">
                <a:latin typeface="Futura T OT" panose="02000000000000000000" pitchFamily="50" charset="0"/>
              </a:rPr>
              <a:t>#include &lt;</a:t>
            </a:r>
            <a:r>
              <a:rPr lang="en-US" sz="2800" dirty="0" err="1">
                <a:latin typeface="Futura T OT" panose="02000000000000000000" pitchFamily="50" charset="0"/>
              </a:rPr>
              <a:t>avr</a:t>
            </a:r>
            <a:r>
              <a:rPr lang="en-US" sz="2800" dirty="0">
                <a:latin typeface="Futura T OT" panose="02000000000000000000" pitchFamily="50" charset="0"/>
              </a:rPr>
              <a:t>/</a:t>
            </a:r>
            <a:r>
              <a:rPr lang="en-US" sz="2800" dirty="0" err="1">
                <a:latin typeface="Futura T OT" panose="02000000000000000000" pitchFamily="50" charset="0"/>
              </a:rPr>
              <a:t>io.h</a:t>
            </a:r>
            <a:r>
              <a:rPr lang="en-US" sz="2800" dirty="0">
                <a:latin typeface="Futura T OT" panose="02000000000000000000" pitchFamily="50" charset="0"/>
              </a:rPr>
              <a:t>&gt;</a:t>
            </a:r>
          </a:p>
          <a:p>
            <a:endParaRPr lang="en-US" sz="2800" dirty="0">
              <a:latin typeface="Futura T OT" panose="02000000000000000000" pitchFamily="50" charset="0"/>
            </a:endParaRPr>
          </a:p>
          <a:p>
            <a:r>
              <a:rPr lang="en-US" sz="2800" dirty="0">
                <a:latin typeface="Futura T OT" panose="02000000000000000000" pitchFamily="50" charset="0"/>
              </a:rPr>
              <a:t>int main(void) {</a:t>
            </a:r>
          </a:p>
          <a:p>
            <a:r>
              <a:rPr lang="en-US" sz="2800" dirty="0">
                <a:latin typeface="Futura T OT" panose="02000000000000000000" pitchFamily="50" charset="0"/>
              </a:rPr>
              <a:t>    DDRA = 0xFF;        // Configure PORTA as output</a:t>
            </a:r>
          </a:p>
          <a:p>
            <a:r>
              <a:rPr lang="en-US" sz="2800" dirty="0">
                <a:latin typeface="Futura T OT" panose="02000000000000000000" pitchFamily="50" charset="0"/>
              </a:rPr>
              <a:t>    PORTA = 0b10101010; // Output pattern</a:t>
            </a:r>
          </a:p>
          <a:p>
            <a:r>
              <a:rPr lang="en-US" sz="2800" dirty="0">
                <a:latin typeface="Futura T OT" panose="02000000000000000000" pitchFamily="50" charset="0"/>
              </a:rPr>
              <a:t>    while (1) {</a:t>
            </a:r>
          </a:p>
          <a:p>
            <a:r>
              <a:rPr lang="en-US" sz="2800" dirty="0">
                <a:latin typeface="Futura T OT" panose="02000000000000000000" pitchFamily="50" charset="0"/>
              </a:rPr>
              <a:t>        // Endless loop</a:t>
            </a:r>
          </a:p>
          <a:p>
            <a:r>
              <a:rPr lang="en-US" sz="2800" dirty="0">
                <a:latin typeface="Futura T OT" panose="02000000000000000000" pitchFamily="50" charset="0"/>
              </a:rPr>
              <a:t>    }</a:t>
            </a:r>
          </a:p>
          <a:p>
            <a:r>
              <a:rPr lang="en-US" sz="2800" dirty="0">
                <a:latin typeface="Futura T OT" panose="02000000000000000000" pitchFamily="50" charset="0"/>
              </a:rPr>
              <a:t>}</a:t>
            </a:r>
          </a:p>
        </p:txBody>
      </p:sp>
      <p:sp>
        <p:nvSpPr>
          <p:cNvPr id="7" name="TextBox 6">
            <a:extLst>
              <a:ext uri="{FF2B5EF4-FFF2-40B4-BE49-F238E27FC236}">
                <a16:creationId xmlns:a16="http://schemas.microsoft.com/office/drawing/2014/main" id="{3D7B1AC7-93D5-FB33-ADF8-37A6BB70BD9F}"/>
              </a:ext>
            </a:extLst>
          </p:cNvPr>
          <p:cNvSpPr txBox="1"/>
          <p:nvPr/>
        </p:nvSpPr>
        <p:spPr>
          <a:xfrm>
            <a:off x="260004" y="2477193"/>
            <a:ext cx="4525356" cy="830997"/>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#include &lt;</a:t>
            </a:r>
            <a:r>
              <a:rPr lang="en-US" sz="2400" dirty="0" err="1">
                <a:solidFill>
                  <a:srgbClr val="FF0000"/>
                </a:solidFill>
                <a:latin typeface="Futura T OT" panose="02000000000000000000" pitchFamily="50" charset="0"/>
              </a:rPr>
              <a:t>avr</a:t>
            </a:r>
            <a:r>
              <a:rPr lang="en-US" sz="2400" dirty="0">
                <a:solidFill>
                  <a:srgbClr val="FF0000"/>
                </a:solidFill>
                <a:latin typeface="Futura T OT" panose="02000000000000000000" pitchFamily="50" charset="0"/>
              </a:rPr>
              <a:t>/</a:t>
            </a:r>
            <a:r>
              <a:rPr lang="en-US" sz="2400" dirty="0" err="1">
                <a:solidFill>
                  <a:srgbClr val="FF0000"/>
                </a:solidFill>
                <a:latin typeface="Futura T OT" panose="02000000000000000000" pitchFamily="50" charset="0"/>
              </a:rPr>
              <a:t>io.h</a:t>
            </a:r>
            <a:r>
              <a:rPr lang="en-US" sz="2400" dirty="0">
                <a:solidFill>
                  <a:srgbClr val="FF0000"/>
                </a:solidFill>
                <a:latin typeface="Futura T OT" panose="02000000000000000000" pitchFamily="50" charset="0"/>
              </a:rPr>
              <a:t>&gt; : </a:t>
            </a:r>
            <a:r>
              <a:rPr lang="en-US" sz="2400" dirty="0">
                <a:latin typeface="Futura T OT" panose="02000000000000000000" pitchFamily="50" charset="0"/>
              </a:rPr>
              <a:t>Gives access to all </a:t>
            </a:r>
            <a:r>
              <a:rPr lang="en-US" sz="2400" dirty="0" err="1">
                <a:latin typeface="Futura T OT" panose="02000000000000000000" pitchFamily="50" charset="0"/>
              </a:rPr>
              <a:t>Atmega</a:t>
            </a:r>
            <a:r>
              <a:rPr lang="en-US" sz="2400" dirty="0">
                <a:latin typeface="Futura T OT" panose="02000000000000000000" pitchFamily="50" charset="0"/>
              </a:rPr>
              <a:t> registers</a:t>
            </a:r>
          </a:p>
        </p:txBody>
      </p:sp>
      <p:sp>
        <p:nvSpPr>
          <p:cNvPr id="8" name="TextBox 7">
            <a:extLst>
              <a:ext uri="{FF2B5EF4-FFF2-40B4-BE49-F238E27FC236}">
                <a16:creationId xmlns:a16="http://schemas.microsoft.com/office/drawing/2014/main" id="{290E50EF-90B7-49DE-3282-22F405150026}"/>
              </a:ext>
            </a:extLst>
          </p:cNvPr>
          <p:cNvSpPr txBox="1"/>
          <p:nvPr/>
        </p:nvSpPr>
        <p:spPr>
          <a:xfrm>
            <a:off x="260004" y="3556200"/>
            <a:ext cx="4525356" cy="461665"/>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main(): </a:t>
            </a:r>
            <a:r>
              <a:rPr lang="en-US" sz="2400" dirty="0">
                <a:latin typeface="Futura T OT" panose="02000000000000000000" pitchFamily="50" charset="0"/>
              </a:rPr>
              <a:t>program starts here</a:t>
            </a:r>
          </a:p>
        </p:txBody>
      </p:sp>
      <p:sp>
        <p:nvSpPr>
          <p:cNvPr id="9" name="TextBox 8">
            <a:extLst>
              <a:ext uri="{FF2B5EF4-FFF2-40B4-BE49-F238E27FC236}">
                <a16:creationId xmlns:a16="http://schemas.microsoft.com/office/drawing/2014/main" id="{8833D744-6140-4B12-FC87-6632C177C870}"/>
              </a:ext>
            </a:extLst>
          </p:cNvPr>
          <p:cNvSpPr txBox="1"/>
          <p:nvPr/>
        </p:nvSpPr>
        <p:spPr>
          <a:xfrm>
            <a:off x="260004" y="4265875"/>
            <a:ext cx="4525356" cy="461665"/>
          </a:xfrm>
          <a:prstGeom prst="rect">
            <a:avLst/>
          </a:prstGeom>
          <a:noFill/>
        </p:spPr>
        <p:txBody>
          <a:bodyPr wrap="square" rtlCol="0">
            <a:spAutoFit/>
          </a:bodyPr>
          <a:lstStyle/>
          <a:p>
            <a:r>
              <a:rPr lang="en-US" sz="2400" dirty="0">
                <a:solidFill>
                  <a:srgbClr val="FF0000"/>
                </a:solidFill>
                <a:latin typeface="Futura T OT" panose="02000000000000000000" pitchFamily="50" charset="0"/>
              </a:rPr>
              <a:t>while(1): </a:t>
            </a:r>
            <a:r>
              <a:rPr lang="en-US" sz="2400" dirty="0">
                <a:latin typeface="Futura T OT" panose="02000000000000000000" pitchFamily="50" charset="0"/>
              </a:rPr>
              <a:t>program starts here</a:t>
            </a:r>
          </a:p>
        </p:txBody>
      </p:sp>
    </p:spTree>
    <p:extLst>
      <p:ext uri="{BB962C8B-B14F-4D97-AF65-F5344CB8AC3E}">
        <p14:creationId xmlns:p14="http://schemas.microsoft.com/office/powerpoint/2010/main" val="571374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33C58F-8A01-54C0-03F5-A8194453B2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A8AF6F-16EF-9933-D08F-61BF6D4BB773}"/>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Memory management</a:t>
            </a:r>
          </a:p>
        </p:txBody>
      </p:sp>
      <p:sp>
        <p:nvSpPr>
          <p:cNvPr id="3" name="Google Shape;171;p19">
            <a:extLst>
              <a:ext uri="{FF2B5EF4-FFF2-40B4-BE49-F238E27FC236}">
                <a16:creationId xmlns:a16="http://schemas.microsoft.com/office/drawing/2014/main" id="{F1F5004E-BD78-FC8C-A919-9F65353B87F4}"/>
              </a:ext>
            </a:extLst>
          </p:cNvPr>
          <p:cNvSpPr txBox="1"/>
          <p:nvPr/>
        </p:nvSpPr>
        <p:spPr>
          <a:xfrm>
            <a:off x="260004" y="1813624"/>
            <a:ext cx="5974541" cy="4431983"/>
          </a:xfrm>
          <a:prstGeom prst="rect">
            <a:avLst/>
          </a:prstGeom>
          <a:noFill/>
          <a:ln>
            <a:noFill/>
          </a:ln>
        </p:spPr>
        <p:txBody>
          <a:bodyPr spcFirstLastPara="1" wrap="square" lIns="0" tIns="0" rIns="0" bIns="0" anchor="t" anchorCtr="0">
            <a:spAutoFit/>
          </a:bodyPr>
          <a:lstStyle/>
          <a:p>
            <a:r>
              <a:rPr lang="en-US" sz="2400" dirty="0">
                <a:latin typeface="Futura T OT" panose="02000000000000000000" pitchFamily="50" charset="0"/>
              </a:rPr>
              <a:t>Flash memory is read-only during normal operation and is used to store the program code.</a:t>
            </a:r>
          </a:p>
          <a:p>
            <a:pPr marL="342900" lvl="0" indent="-342900">
              <a:buFont typeface="Arial" panose="020B0604020202020204" pitchFamily="34" charset="0"/>
              <a:buChar char="•"/>
            </a:pPr>
            <a:r>
              <a:rPr lang="en-US" sz="2400" dirty="0">
                <a:latin typeface="Futura T OT" panose="02000000000000000000" pitchFamily="50" charset="0"/>
              </a:rPr>
              <a:t>Use </a:t>
            </a:r>
            <a:r>
              <a:rPr lang="en-US" sz="2400" b="1" dirty="0">
                <a:latin typeface="Futura T OT" panose="02000000000000000000" pitchFamily="50" charset="0"/>
              </a:rPr>
              <a:t>compiler optimization</a:t>
            </a:r>
            <a:r>
              <a:rPr lang="en-US" sz="2400" dirty="0">
                <a:latin typeface="Futura T OT" panose="02000000000000000000" pitchFamily="50" charset="0"/>
              </a:rPr>
              <a:t> settings (e.g., -</a:t>
            </a:r>
            <a:r>
              <a:rPr lang="en-US" sz="2400" dirty="0" err="1">
                <a:latin typeface="Futura T OT" panose="02000000000000000000" pitchFamily="50" charset="0"/>
              </a:rPr>
              <a:t>Os</a:t>
            </a:r>
            <a:r>
              <a:rPr lang="en-US" sz="2400" dirty="0">
                <a:latin typeface="Futura T OT" panose="02000000000000000000" pitchFamily="50" charset="0"/>
              </a:rPr>
              <a:t> in GCC) to reduce code size.</a:t>
            </a:r>
          </a:p>
          <a:p>
            <a:pPr marL="342900" lvl="0" indent="-342900">
              <a:buFont typeface="Arial" panose="020B0604020202020204" pitchFamily="34" charset="0"/>
              <a:buChar char="•"/>
            </a:pPr>
            <a:r>
              <a:rPr lang="en-US" sz="2400" dirty="0">
                <a:latin typeface="Futura T OT" panose="02000000000000000000" pitchFamily="50" charset="0"/>
              </a:rPr>
              <a:t>Store constant data (e.g., lookup tables, strings) in flash using the PROGMEM directive.</a:t>
            </a:r>
          </a:p>
          <a:p>
            <a:pPr marL="342900" lvl="0" indent="-342900">
              <a:buFont typeface="Arial" panose="020B0604020202020204" pitchFamily="34" charset="0"/>
              <a:buChar char="•"/>
            </a:pPr>
            <a:r>
              <a:rPr lang="en-US" sz="2400" dirty="0">
                <a:latin typeface="Futura T OT" panose="02000000000000000000" pitchFamily="50" charset="0"/>
              </a:rPr>
              <a:t>Avoid frequent flash rewrites as they have limited write cycles.</a:t>
            </a:r>
          </a:p>
          <a:p>
            <a:pPr marL="342900" lvl="0" indent="-342900">
              <a:buFont typeface="Arial" panose="020B0604020202020204" pitchFamily="34" charset="0"/>
              <a:buChar char="•"/>
            </a:pPr>
            <a:r>
              <a:rPr lang="en-US" sz="2400" dirty="0">
                <a:latin typeface="Futura T OT" panose="02000000000000000000" pitchFamily="50" charset="0"/>
              </a:rPr>
              <a:t>Use bootloaders to simplify firmware updates without external programming tools.</a:t>
            </a:r>
          </a:p>
          <a:p>
            <a:pPr marL="342900" lvl="0" indent="-342900">
              <a:buFont typeface="Arial" panose="020B0604020202020204" pitchFamily="34" charset="0"/>
              <a:buChar char="•"/>
            </a:pPr>
            <a:r>
              <a:rPr lang="en-US" sz="2400" dirty="0">
                <a:latin typeface="Futura T OT" panose="02000000000000000000" pitchFamily="50" charset="0"/>
              </a:rPr>
              <a:t>Utilize segment analysis tools to track flash usage.</a:t>
            </a:r>
          </a:p>
        </p:txBody>
      </p:sp>
      <p:sp>
        <p:nvSpPr>
          <p:cNvPr id="4" name="TextBox 3">
            <a:extLst>
              <a:ext uri="{FF2B5EF4-FFF2-40B4-BE49-F238E27FC236}">
                <a16:creationId xmlns:a16="http://schemas.microsoft.com/office/drawing/2014/main" id="{42B012FD-C1B4-562A-3647-BA1C45D62356}"/>
              </a:ext>
            </a:extLst>
          </p:cNvPr>
          <p:cNvSpPr txBox="1"/>
          <p:nvPr/>
        </p:nvSpPr>
        <p:spPr>
          <a:xfrm>
            <a:off x="260004" y="612393"/>
            <a:ext cx="5289461" cy="646331"/>
          </a:xfrm>
          <a:prstGeom prst="rect">
            <a:avLst/>
          </a:prstGeom>
          <a:noFill/>
        </p:spPr>
        <p:txBody>
          <a:bodyPr wrap="none" rtlCol="0">
            <a:spAutoFit/>
          </a:bodyPr>
          <a:lstStyle/>
          <a:p>
            <a:r>
              <a:rPr lang="en-US" sz="3600" dirty="0">
                <a:solidFill>
                  <a:srgbClr val="FF0000"/>
                </a:solidFill>
                <a:latin typeface="Futura T OT" panose="02000000000000000000" pitchFamily="50" charset="0"/>
              </a:rPr>
              <a:t>Flash Memory Management</a:t>
            </a:r>
          </a:p>
        </p:txBody>
      </p:sp>
      <p:pic>
        <p:nvPicPr>
          <p:cNvPr id="5" name="Picture 2" descr="Memory | Digital Circuits 7: MCUs... how do they work? | Adafruit Learning  System">
            <a:extLst>
              <a:ext uri="{FF2B5EF4-FFF2-40B4-BE49-F238E27FC236}">
                <a16:creationId xmlns:a16="http://schemas.microsoft.com/office/drawing/2014/main" id="{BDE5D73A-6C3E-CF0E-D30A-9DA2088EA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230" y="935558"/>
            <a:ext cx="5117638" cy="5137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332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687BA7-EBB9-8D4A-98D3-D7720197D6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6F2CC4-67DA-863E-CFA9-750EDF7D9FC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Memory management</a:t>
            </a:r>
          </a:p>
        </p:txBody>
      </p:sp>
      <p:sp>
        <p:nvSpPr>
          <p:cNvPr id="3" name="Google Shape;171;p19">
            <a:extLst>
              <a:ext uri="{FF2B5EF4-FFF2-40B4-BE49-F238E27FC236}">
                <a16:creationId xmlns:a16="http://schemas.microsoft.com/office/drawing/2014/main" id="{EA3B35D0-1C87-EF03-415C-1CF370407437}"/>
              </a:ext>
            </a:extLst>
          </p:cNvPr>
          <p:cNvSpPr txBox="1"/>
          <p:nvPr/>
        </p:nvSpPr>
        <p:spPr>
          <a:xfrm>
            <a:off x="260004" y="1813624"/>
            <a:ext cx="5974541" cy="4801314"/>
          </a:xfrm>
          <a:prstGeom prst="rect">
            <a:avLst/>
          </a:prstGeom>
          <a:noFill/>
          <a:ln>
            <a:noFill/>
          </a:ln>
        </p:spPr>
        <p:txBody>
          <a:bodyPr spcFirstLastPara="1" wrap="square" lIns="0" tIns="0" rIns="0" bIns="0" anchor="t" anchorCtr="0">
            <a:spAutoFit/>
          </a:bodyPr>
          <a:lstStyle/>
          <a:p>
            <a:r>
              <a:rPr lang="en-US" sz="2400" dirty="0">
                <a:latin typeface="Futura T OT" panose="02000000000000000000" pitchFamily="50" charset="0"/>
              </a:rPr>
              <a:t>SRAM is used for runtime data, including global and local variables, stacks, and buffers.</a:t>
            </a:r>
          </a:p>
          <a:p>
            <a:pPr marL="342900" lvl="0" indent="-342900">
              <a:buFont typeface="Arial" panose="020B0604020202020204" pitchFamily="34" charset="0"/>
              <a:buChar char="•"/>
            </a:pPr>
            <a:r>
              <a:rPr lang="en-US" sz="2400" dirty="0">
                <a:latin typeface="Futura T OT" panose="02000000000000000000" pitchFamily="50" charset="0"/>
              </a:rPr>
              <a:t>Minimize global variables to reduce memory overhead.</a:t>
            </a:r>
          </a:p>
          <a:p>
            <a:pPr marL="342900" lvl="0" indent="-342900">
              <a:buFont typeface="Arial" panose="020B0604020202020204" pitchFamily="34" charset="0"/>
              <a:buChar char="•"/>
            </a:pPr>
            <a:r>
              <a:rPr lang="en-US" sz="2400" dirty="0">
                <a:latin typeface="Futura T OT" panose="02000000000000000000" pitchFamily="50" charset="0"/>
              </a:rPr>
              <a:t>Use </a:t>
            </a:r>
            <a:r>
              <a:rPr lang="en-US" sz="2400" b="1" dirty="0">
                <a:latin typeface="Futura T OT" panose="02000000000000000000" pitchFamily="50" charset="0"/>
              </a:rPr>
              <a:t>stack-efficient coding practices</a:t>
            </a:r>
            <a:r>
              <a:rPr lang="en-US" sz="2400" dirty="0">
                <a:latin typeface="Futura T OT" panose="02000000000000000000" pitchFamily="50" charset="0"/>
              </a:rPr>
              <a:t>, such as reusing local variables.</a:t>
            </a:r>
          </a:p>
          <a:p>
            <a:pPr marL="342900" lvl="0" indent="-342900">
              <a:buFont typeface="Arial" panose="020B0604020202020204" pitchFamily="34" charset="0"/>
              <a:buChar char="•"/>
            </a:pPr>
            <a:r>
              <a:rPr lang="en-US" sz="2400" dirty="0">
                <a:latin typeface="Futura T OT" panose="02000000000000000000" pitchFamily="50" charset="0"/>
              </a:rPr>
              <a:t>Avoid dynamic memory allocation (malloc/free) unless necessary, as it can lead to fragmentation.</a:t>
            </a:r>
          </a:p>
          <a:p>
            <a:pPr marL="342900" lvl="0" indent="-342900">
              <a:buFont typeface="Arial" panose="020B0604020202020204" pitchFamily="34" charset="0"/>
              <a:buChar char="•"/>
            </a:pPr>
            <a:r>
              <a:rPr lang="en-US" sz="2400" dirty="0">
                <a:latin typeface="Futura T OT" panose="02000000000000000000" pitchFamily="50" charset="0"/>
              </a:rPr>
              <a:t>Leverage </a:t>
            </a:r>
            <a:r>
              <a:rPr lang="en-US" sz="2400" b="1" dirty="0">
                <a:latin typeface="Futura T OT" panose="02000000000000000000" pitchFamily="50" charset="0"/>
              </a:rPr>
              <a:t>data packing</a:t>
            </a:r>
            <a:r>
              <a:rPr lang="en-US" sz="2400" dirty="0">
                <a:latin typeface="Futura T OT" panose="02000000000000000000" pitchFamily="50" charset="0"/>
              </a:rPr>
              <a:t> techniques, like using smaller data types or bit-fields.</a:t>
            </a:r>
          </a:p>
          <a:p>
            <a:pPr marL="342900" lvl="0" indent="-342900">
              <a:buFont typeface="Arial" panose="020B0604020202020204" pitchFamily="34" charset="0"/>
              <a:buChar char="•"/>
            </a:pPr>
            <a:r>
              <a:rPr lang="en-US" sz="2400" dirty="0">
                <a:latin typeface="Futura T OT" panose="02000000000000000000" pitchFamily="50" charset="0"/>
              </a:rPr>
              <a:t>Use static code analysis tools to detect potential SRAM overflows.</a:t>
            </a:r>
          </a:p>
        </p:txBody>
      </p:sp>
      <p:sp>
        <p:nvSpPr>
          <p:cNvPr id="4" name="TextBox 3">
            <a:extLst>
              <a:ext uri="{FF2B5EF4-FFF2-40B4-BE49-F238E27FC236}">
                <a16:creationId xmlns:a16="http://schemas.microsoft.com/office/drawing/2014/main" id="{F7F3EDC3-8053-46D5-5DE9-4790BE58D9D8}"/>
              </a:ext>
            </a:extLst>
          </p:cNvPr>
          <p:cNvSpPr txBox="1"/>
          <p:nvPr/>
        </p:nvSpPr>
        <p:spPr>
          <a:xfrm>
            <a:off x="260004" y="612393"/>
            <a:ext cx="3874779" cy="646331"/>
          </a:xfrm>
          <a:prstGeom prst="rect">
            <a:avLst/>
          </a:prstGeom>
          <a:noFill/>
        </p:spPr>
        <p:txBody>
          <a:bodyPr wrap="none" rtlCol="0">
            <a:spAutoFit/>
          </a:bodyPr>
          <a:lstStyle/>
          <a:p>
            <a:r>
              <a:rPr lang="en-US" sz="3600" dirty="0">
                <a:solidFill>
                  <a:srgbClr val="FF0000"/>
                </a:solidFill>
                <a:latin typeface="Futura T OT" panose="02000000000000000000" pitchFamily="50" charset="0"/>
              </a:rPr>
              <a:t>SRAM Management</a:t>
            </a:r>
          </a:p>
        </p:txBody>
      </p:sp>
      <p:pic>
        <p:nvPicPr>
          <p:cNvPr id="2050" name="Picture 2">
            <a:extLst>
              <a:ext uri="{FF2B5EF4-FFF2-40B4-BE49-F238E27FC236}">
                <a16:creationId xmlns:a16="http://schemas.microsoft.com/office/drawing/2014/main" id="{7A03D8B9-FEE9-B980-EC4C-6DA4BF98A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2133" y="865596"/>
            <a:ext cx="5139863" cy="5126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251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A1DAB3-5B80-D22E-8714-C4970DFC67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A5396B-BB29-EB7B-FD65-52F2E791F87C}"/>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Memory management</a:t>
            </a:r>
          </a:p>
        </p:txBody>
      </p:sp>
      <p:sp>
        <p:nvSpPr>
          <p:cNvPr id="3" name="Google Shape;171;p19">
            <a:extLst>
              <a:ext uri="{FF2B5EF4-FFF2-40B4-BE49-F238E27FC236}">
                <a16:creationId xmlns:a16="http://schemas.microsoft.com/office/drawing/2014/main" id="{2267C545-2901-4D06-6E4D-0C91BBB54F87}"/>
              </a:ext>
            </a:extLst>
          </p:cNvPr>
          <p:cNvSpPr txBox="1"/>
          <p:nvPr/>
        </p:nvSpPr>
        <p:spPr>
          <a:xfrm>
            <a:off x="260004" y="1464489"/>
            <a:ext cx="5974541" cy="5170646"/>
          </a:xfrm>
          <a:prstGeom prst="rect">
            <a:avLst/>
          </a:prstGeom>
          <a:noFill/>
          <a:ln>
            <a:noFill/>
          </a:ln>
        </p:spPr>
        <p:txBody>
          <a:bodyPr spcFirstLastPara="1" wrap="square" lIns="0" tIns="0" rIns="0" bIns="0" anchor="t" anchorCtr="0">
            <a:spAutoFit/>
          </a:bodyPr>
          <a:lstStyle/>
          <a:p>
            <a:r>
              <a:rPr lang="en-US" sz="2400" dirty="0">
                <a:latin typeface="Futura T OT" panose="02000000000000000000" pitchFamily="50" charset="0"/>
              </a:rPr>
              <a:t>EEPROM provides non-volatile storage for configuration or data that must persist after a reset or power loss.</a:t>
            </a:r>
          </a:p>
          <a:p>
            <a:pPr marL="342900" lvl="0" indent="-342900">
              <a:buFont typeface="Arial" panose="020B0604020202020204" pitchFamily="34" charset="0"/>
              <a:buChar char="•"/>
            </a:pPr>
            <a:r>
              <a:rPr lang="en-US" sz="2400" dirty="0">
                <a:latin typeface="Futura T OT" panose="02000000000000000000" pitchFamily="50" charset="0"/>
              </a:rPr>
              <a:t>Use the EEPROM library functions (</a:t>
            </a:r>
            <a:r>
              <a:rPr lang="en-US" sz="2400" dirty="0" err="1">
                <a:latin typeface="Futura T OT" panose="02000000000000000000" pitchFamily="50" charset="0"/>
              </a:rPr>
              <a:t>eeprom_read_byte</a:t>
            </a:r>
            <a:r>
              <a:rPr lang="en-US" sz="2400" dirty="0">
                <a:latin typeface="Futura T OT" panose="02000000000000000000" pitchFamily="50" charset="0"/>
              </a:rPr>
              <a:t>, </a:t>
            </a:r>
            <a:r>
              <a:rPr lang="en-US" sz="2400" dirty="0" err="1">
                <a:latin typeface="Futura T OT" panose="02000000000000000000" pitchFamily="50" charset="0"/>
              </a:rPr>
              <a:t>eeprom_write_byte</a:t>
            </a:r>
            <a:r>
              <a:rPr lang="en-US" sz="2400" dirty="0">
                <a:latin typeface="Futura T OT" panose="02000000000000000000" pitchFamily="50" charset="0"/>
              </a:rPr>
              <a:t>) for safe access.</a:t>
            </a:r>
          </a:p>
          <a:p>
            <a:pPr marL="342900" lvl="0" indent="-342900">
              <a:buFont typeface="Arial" panose="020B0604020202020204" pitchFamily="34" charset="0"/>
              <a:buChar char="•"/>
            </a:pPr>
            <a:r>
              <a:rPr lang="en-US" sz="2400" dirty="0">
                <a:latin typeface="Futura T OT" panose="02000000000000000000" pitchFamily="50" charset="0"/>
              </a:rPr>
              <a:t>Implement wear leveling to extend EEPROM lifespan.</a:t>
            </a:r>
          </a:p>
          <a:p>
            <a:pPr marL="342900" lvl="0" indent="-342900">
              <a:buFont typeface="Arial" panose="020B0604020202020204" pitchFamily="34" charset="0"/>
              <a:buChar char="•"/>
            </a:pPr>
            <a:r>
              <a:rPr lang="en-US" sz="2400" dirty="0">
                <a:latin typeface="Futura T OT" panose="02000000000000000000" pitchFamily="50" charset="0"/>
              </a:rPr>
              <a:t>Store frequently updated data in RAM and write it to EEPROM periodically.</a:t>
            </a:r>
          </a:p>
          <a:p>
            <a:pPr marL="342900" lvl="0" indent="-342900">
              <a:buFont typeface="Arial" panose="020B0604020202020204" pitchFamily="34" charset="0"/>
              <a:buChar char="•"/>
            </a:pPr>
            <a:r>
              <a:rPr lang="en-US" sz="2400" dirty="0">
                <a:latin typeface="Futura T OT" panose="02000000000000000000" pitchFamily="50" charset="0"/>
              </a:rPr>
              <a:t>Perform read-after-write operations to ensure data integrity.</a:t>
            </a:r>
          </a:p>
          <a:p>
            <a:pPr marL="342900" lvl="0" indent="-342900">
              <a:buFont typeface="Arial" panose="020B0604020202020204" pitchFamily="34" charset="0"/>
              <a:buChar char="•"/>
            </a:pPr>
            <a:r>
              <a:rPr lang="en-US" sz="2400" dirty="0">
                <a:latin typeface="Futura T OT" panose="02000000000000000000" pitchFamily="50" charset="0"/>
              </a:rPr>
              <a:t>Avoid writing to EEPROM in performance-critical sections due to slow write speeds.</a:t>
            </a:r>
          </a:p>
        </p:txBody>
      </p:sp>
      <p:sp>
        <p:nvSpPr>
          <p:cNvPr id="4" name="TextBox 3">
            <a:extLst>
              <a:ext uri="{FF2B5EF4-FFF2-40B4-BE49-F238E27FC236}">
                <a16:creationId xmlns:a16="http://schemas.microsoft.com/office/drawing/2014/main" id="{C994AA95-17D3-7D55-CD30-273C377F44B7}"/>
              </a:ext>
            </a:extLst>
          </p:cNvPr>
          <p:cNvSpPr txBox="1"/>
          <p:nvPr/>
        </p:nvSpPr>
        <p:spPr>
          <a:xfrm>
            <a:off x="260004" y="612393"/>
            <a:ext cx="4366836" cy="646331"/>
          </a:xfrm>
          <a:prstGeom prst="rect">
            <a:avLst/>
          </a:prstGeom>
          <a:noFill/>
        </p:spPr>
        <p:txBody>
          <a:bodyPr wrap="none" rtlCol="0">
            <a:spAutoFit/>
          </a:bodyPr>
          <a:lstStyle/>
          <a:p>
            <a:r>
              <a:rPr lang="en-US" sz="3600" dirty="0">
                <a:solidFill>
                  <a:srgbClr val="FF0000"/>
                </a:solidFill>
                <a:latin typeface="Futura T OT" panose="02000000000000000000" pitchFamily="50" charset="0"/>
              </a:rPr>
              <a:t>EEPROM Management</a:t>
            </a:r>
          </a:p>
        </p:txBody>
      </p:sp>
      <p:pic>
        <p:nvPicPr>
          <p:cNvPr id="1028" name="Picture 4">
            <a:extLst>
              <a:ext uri="{FF2B5EF4-FFF2-40B4-BE49-F238E27FC236}">
                <a16:creationId xmlns:a16="http://schemas.microsoft.com/office/drawing/2014/main" id="{6E15E817-7061-1B9E-4597-61FE3D025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8203" y="647307"/>
            <a:ext cx="5655252" cy="5639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820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73C320-460A-F1F4-F32C-B2575374BF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42AF68-4871-434D-5886-2A1FE951FA3F}"/>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AVR Interrupt Handling</a:t>
            </a:r>
          </a:p>
        </p:txBody>
      </p:sp>
      <p:sp>
        <p:nvSpPr>
          <p:cNvPr id="4" name="TextBox 3">
            <a:extLst>
              <a:ext uri="{FF2B5EF4-FFF2-40B4-BE49-F238E27FC236}">
                <a16:creationId xmlns:a16="http://schemas.microsoft.com/office/drawing/2014/main" id="{9393E753-AAC8-D588-70F8-366866B8EC86}"/>
              </a:ext>
            </a:extLst>
          </p:cNvPr>
          <p:cNvSpPr txBox="1"/>
          <p:nvPr/>
        </p:nvSpPr>
        <p:spPr>
          <a:xfrm>
            <a:off x="706555" y="584775"/>
            <a:ext cx="2766335"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Interrupt </a:t>
            </a:r>
            <a:r>
              <a:rPr lang="en-US" sz="2800" dirty="0">
                <a:latin typeface="Futura T OT" panose="02000000000000000000" pitchFamily="50" charset="0"/>
              </a:rPr>
              <a:t>Vs</a:t>
            </a:r>
            <a:r>
              <a:rPr lang="en-US" sz="2800" dirty="0">
                <a:solidFill>
                  <a:srgbClr val="FF0000"/>
                </a:solidFill>
                <a:latin typeface="Futura T OT" panose="02000000000000000000" pitchFamily="50" charset="0"/>
              </a:rPr>
              <a:t> </a:t>
            </a:r>
            <a:r>
              <a:rPr lang="en-US" sz="2800" dirty="0">
                <a:solidFill>
                  <a:srgbClr val="4472C4"/>
                </a:solidFill>
                <a:latin typeface="Futura T OT" panose="02000000000000000000" pitchFamily="50" charset="0"/>
              </a:rPr>
              <a:t>Polling</a:t>
            </a:r>
          </a:p>
        </p:txBody>
      </p:sp>
      <p:sp>
        <p:nvSpPr>
          <p:cNvPr id="5" name="TextBox 4">
            <a:extLst>
              <a:ext uri="{FF2B5EF4-FFF2-40B4-BE49-F238E27FC236}">
                <a16:creationId xmlns:a16="http://schemas.microsoft.com/office/drawing/2014/main" id="{D4B4F6BA-CE3B-0B98-BC8E-B8E094EBD9A7}"/>
              </a:ext>
            </a:extLst>
          </p:cNvPr>
          <p:cNvSpPr txBox="1"/>
          <p:nvPr/>
        </p:nvSpPr>
        <p:spPr>
          <a:xfrm>
            <a:off x="706556" y="1481941"/>
            <a:ext cx="10778887" cy="3970318"/>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Whenever any device need the microcontroller, the device notifies it by sending an interrupt signal.</a:t>
            </a:r>
          </a:p>
          <a:p>
            <a:r>
              <a:rPr lang="en-US" sz="2800" dirty="0">
                <a:solidFill>
                  <a:srgbClr val="4472C4"/>
                </a:solidFill>
                <a:latin typeface="Futura T OT" panose="02000000000000000000" pitchFamily="50" charset="0"/>
              </a:rPr>
              <a:t>Microcontroller continuously monitors the status of the device in polling method. When status is met, it performs the service.</a:t>
            </a:r>
          </a:p>
          <a:p>
            <a:r>
              <a:rPr lang="en-US" sz="2800" dirty="0">
                <a:solidFill>
                  <a:srgbClr val="FF0000"/>
                </a:solidFill>
                <a:latin typeface="Futura T OT" panose="02000000000000000000" pitchFamily="50" charset="0"/>
              </a:rPr>
              <a:t>We can assign priority to different interrupt differently.</a:t>
            </a:r>
          </a:p>
          <a:p>
            <a:r>
              <a:rPr lang="en-US" sz="2800" dirty="0">
                <a:solidFill>
                  <a:srgbClr val="4472C4"/>
                </a:solidFill>
                <a:latin typeface="Futura T OT" panose="02000000000000000000" pitchFamily="50" charset="0"/>
              </a:rPr>
              <a:t>The polling methods checks all devices in a round robin fashion.</a:t>
            </a:r>
          </a:p>
          <a:p>
            <a:r>
              <a:rPr lang="en-US" sz="2800" dirty="0">
                <a:solidFill>
                  <a:srgbClr val="FF0000"/>
                </a:solidFill>
                <a:latin typeface="Futura T OT" panose="02000000000000000000" pitchFamily="50" charset="0"/>
              </a:rPr>
              <a:t>Interrupt method can mask a device request for service.</a:t>
            </a:r>
          </a:p>
          <a:p>
            <a:r>
              <a:rPr lang="en-US" sz="2800" dirty="0">
                <a:solidFill>
                  <a:srgbClr val="4472C4"/>
                </a:solidFill>
                <a:latin typeface="Futura T OT" panose="02000000000000000000" pitchFamily="50" charset="0"/>
              </a:rPr>
              <a:t>Polling method wastes much of microcontroller‘s time by polling devices that do not need service.</a:t>
            </a:r>
          </a:p>
        </p:txBody>
      </p:sp>
    </p:spTree>
    <p:extLst>
      <p:ext uri="{BB962C8B-B14F-4D97-AF65-F5344CB8AC3E}">
        <p14:creationId xmlns:p14="http://schemas.microsoft.com/office/powerpoint/2010/main" val="274669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F71675-1846-EF0A-E6A1-1E037254FD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CCFB00-070F-F9A1-4FCE-DE9DD54D1F0D}"/>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AVR Interrupt Handling</a:t>
            </a:r>
          </a:p>
        </p:txBody>
      </p:sp>
      <p:sp>
        <p:nvSpPr>
          <p:cNvPr id="4" name="TextBox 3">
            <a:extLst>
              <a:ext uri="{FF2B5EF4-FFF2-40B4-BE49-F238E27FC236}">
                <a16:creationId xmlns:a16="http://schemas.microsoft.com/office/drawing/2014/main" id="{D35F3775-398C-89CC-F5E9-7BF00A69B296}"/>
              </a:ext>
            </a:extLst>
          </p:cNvPr>
          <p:cNvSpPr txBox="1"/>
          <p:nvPr/>
        </p:nvSpPr>
        <p:spPr>
          <a:xfrm>
            <a:off x="706556" y="771748"/>
            <a:ext cx="4369081"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Steps in executing an interrupt</a:t>
            </a:r>
            <a:endParaRPr lang="en-US" sz="2800" dirty="0">
              <a:solidFill>
                <a:srgbClr val="4472C4"/>
              </a:solidFill>
              <a:latin typeface="Futura T OT" panose="02000000000000000000" pitchFamily="50" charset="0"/>
            </a:endParaRPr>
          </a:p>
        </p:txBody>
      </p:sp>
      <p:sp>
        <p:nvSpPr>
          <p:cNvPr id="5" name="TextBox 4">
            <a:extLst>
              <a:ext uri="{FF2B5EF4-FFF2-40B4-BE49-F238E27FC236}">
                <a16:creationId xmlns:a16="http://schemas.microsoft.com/office/drawing/2014/main" id="{D27DA343-4E62-12F2-7CD3-A35D21A162DF}"/>
              </a:ext>
            </a:extLst>
          </p:cNvPr>
          <p:cNvSpPr txBox="1"/>
          <p:nvPr/>
        </p:nvSpPr>
        <p:spPr>
          <a:xfrm>
            <a:off x="706556" y="1481941"/>
            <a:ext cx="10778887" cy="5262979"/>
          </a:xfrm>
          <a:prstGeom prst="rect">
            <a:avLst/>
          </a:prstGeom>
          <a:noFill/>
        </p:spPr>
        <p:txBody>
          <a:bodyPr wrap="square" rtlCol="0">
            <a:spAutoFit/>
          </a:bodyPr>
          <a:lstStyle/>
          <a:p>
            <a:r>
              <a:rPr lang="en-US" sz="2800" dirty="0">
                <a:latin typeface="Futura T OT" panose="02000000000000000000" pitchFamily="50" charset="0"/>
              </a:rPr>
              <a:t>It </a:t>
            </a:r>
            <a:r>
              <a:rPr lang="en-US" sz="2800" dirty="0">
                <a:solidFill>
                  <a:srgbClr val="FF0000"/>
                </a:solidFill>
                <a:latin typeface="Futura T OT" panose="02000000000000000000" pitchFamily="50" charset="0"/>
              </a:rPr>
              <a:t>finishes the instruction </a:t>
            </a:r>
            <a:r>
              <a:rPr lang="en-US" sz="2800" dirty="0">
                <a:latin typeface="Futura T OT" panose="02000000000000000000" pitchFamily="50" charset="0"/>
              </a:rPr>
              <a:t>it is currently executing and </a:t>
            </a:r>
            <a:r>
              <a:rPr lang="en-US" sz="2800" dirty="0">
                <a:solidFill>
                  <a:srgbClr val="FF0000"/>
                </a:solidFill>
                <a:latin typeface="Futura T OT" panose="02000000000000000000" pitchFamily="50" charset="0"/>
              </a:rPr>
              <a:t>saves the address </a:t>
            </a:r>
            <a:r>
              <a:rPr lang="en-US" sz="2800" dirty="0">
                <a:latin typeface="Futura T OT" panose="02000000000000000000" pitchFamily="50" charset="0"/>
              </a:rPr>
              <a:t>of the</a:t>
            </a:r>
          </a:p>
          <a:p>
            <a:r>
              <a:rPr lang="en-US" sz="2800" dirty="0">
                <a:latin typeface="Futura T OT" panose="02000000000000000000" pitchFamily="50" charset="0"/>
              </a:rPr>
              <a:t>next instruction (program counter) on the stack.</a:t>
            </a:r>
          </a:p>
          <a:p>
            <a:r>
              <a:rPr lang="en-US" sz="2800" dirty="0">
                <a:latin typeface="Futura T OT" panose="02000000000000000000" pitchFamily="50" charset="0"/>
              </a:rPr>
              <a:t>It jumps to a fixed location in memory called the </a:t>
            </a:r>
            <a:r>
              <a:rPr lang="en-US" sz="2800" i="1" dirty="0">
                <a:solidFill>
                  <a:srgbClr val="FF0000"/>
                </a:solidFill>
                <a:latin typeface="Futura T OT" panose="02000000000000000000" pitchFamily="50" charset="0"/>
              </a:rPr>
              <a:t>interrupt vector table</a:t>
            </a:r>
            <a:r>
              <a:rPr lang="en-US" sz="2800" dirty="0">
                <a:latin typeface="Futura T OT" panose="02000000000000000000" pitchFamily="50" charset="0"/>
              </a:rPr>
              <a:t>. The</a:t>
            </a:r>
          </a:p>
          <a:p>
            <a:r>
              <a:rPr lang="en-US" sz="2800" dirty="0">
                <a:latin typeface="Futura T OT" panose="02000000000000000000" pitchFamily="50" charset="0"/>
              </a:rPr>
              <a:t>interrupt vector table directs the microcontroller to the address of the </a:t>
            </a:r>
            <a:r>
              <a:rPr lang="en-US" sz="2800" dirty="0">
                <a:solidFill>
                  <a:srgbClr val="FF0000"/>
                </a:solidFill>
                <a:latin typeface="Futura T OT" panose="02000000000000000000" pitchFamily="50" charset="0"/>
              </a:rPr>
              <a:t>interrupt</a:t>
            </a:r>
          </a:p>
          <a:p>
            <a:r>
              <a:rPr lang="en-US" sz="2800" dirty="0">
                <a:solidFill>
                  <a:srgbClr val="FF0000"/>
                </a:solidFill>
                <a:latin typeface="Futura T OT" panose="02000000000000000000" pitchFamily="50" charset="0"/>
              </a:rPr>
              <a:t>service routine (ISR)</a:t>
            </a:r>
            <a:r>
              <a:rPr lang="en-US" sz="2800" dirty="0">
                <a:latin typeface="Futura T OT" panose="02000000000000000000" pitchFamily="50" charset="0"/>
              </a:rPr>
              <a:t>.</a:t>
            </a:r>
          </a:p>
          <a:p>
            <a:r>
              <a:rPr lang="en-US" sz="2800" dirty="0">
                <a:latin typeface="Futura T OT" panose="02000000000000000000" pitchFamily="50" charset="0"/>
              </a:rPr>
              <a:t>The microcontroller starts to </a:t>
            </a:r>
            <a:r>
              <a:rPr lang="en-US" sz="2800" dirty="0">
                <a:solidFill>
                  <a:srgbClr val="FF0000"/>
                </a:solidFill>
                <a:latin typeface="Futura T OT" panose="02000000000000000000" pitchFamily="50" charset="0"/>
              </a:rPr>
              <a:t>execute the interrupt service subroutine</a:t>
            </a:r>
            <a:r>
              <a:rPr lang="en-US" sz="2800" dirty="0">
                <a:latin typeface="Futura T OT" panose="02000000000000000000" pitchFamily="50" charset="0"/>
              </a:rPr>
              <a:t> until it</a:t>
            </a:r>
          </a:p>
          <a:p>
            <a:r>
              <a:rPr lang="en-US" sz="2800" dirty="0">
                <a:latin typeface="Futura T OT" panose="02000000000000000000" pitchFamily="50" charset="0"/>
              </a:rPr>
              <a:t>reaches the last instruction of the subroutine, which is </a:t>
            </a:r>
            <a:r>
              <a:rPr lang="en-US" sz="2800" dirty="0">
                <a:solidFill>
                  <a:srgbClr val="FF0000"/>
                </a:solidFill>
                <a:latin typeface="Futura T OT" panose="02000000000000000000" pitchFamily="50" charset="0"/>
              </a:rPr>
              <a:t>RETI</a:t>
            </a:r>
            <a:r>
              <a:rPr lang="en-US" sz="2800" dirty="0">
                <a:latin typeface="Futura T OT" panose="02000000000000000000" pitchFamily="50" charset="0"/>
              </a:rPr>
              <a:t> (return from interrupt).</a:t>
            </a:r>
          </a:p>
          <a:p>
            <a:r>
              <a:rPr lang="en-US" sz="2800" dirty="0">
                <a:latin typeface="Futura T OT" panose="02000000000000000000" pitchFamily="50" charset="0"/>
              </a:rPr>
              <a:t>Upon executing the RETI instruction, the </a:t>
            </a:r>
            <a:r>
              <a:rPr lang="en-US" sz="2800" dirty="0">
                <a:solidFill>
                  <a:srgbClr val="FF0000"/>
                </a:solidFill>
                <a:latin typeface="Futura T OT" panose="02000000000000000000" pitchFamily="50" charset="0"/>
              </a:rPr>
              <a:t>microcontroller returns </a:t>
            </a:r>
            <a:r>
              <a:rPr lang="en-US" sz="2800" dirty="0">
                <a:latin typeface="Futura T OT" panose="02000000000000000000" pitchFamily="50" charset="0"/>
              </a:rPr>
              <a:t>to the place</a:t>
            </a:r>
          </a:p>
          <a:p>
            <a:r>
              <a:rPr lang="en-US" sz="2800" dirty="0">
                <a:latin typeface="Futura T OT" panose="02000000000000000000" pitchFamily="50" charset="0"/>
              </a:rPr>
              <a:t>where it was interrupted. First, it gets the program counter (PC) address from</a:t>
            </a:r>
          </a:p>
          <a:p>
            <a:r>
              <a:rPr lang="en-US" sz="2800" dirty="0">
                <a:latin typeface="Futura T OT" panose="02000000000000000000" pitchFamily="50" charset="0"/>
              </a:rPr>
              <a:t>the stack by popping the top bytes of the stack into the PC. Then it starts to</a:t>
            </a:r>
          </a:p>
          <a:p>
            <a:r>
              <a:rPr lang="en-US" sz="2800" dirty="0">
                <a:latin typeface="Futura T OT" panose="02000000000000000000" pitchFamily="50" charset="0"/>
              </a:rPr>
              <a:t>execute from that address.</a:t>
            </a:r>
            <a:endParaRPr lang="en-US" sz="4000" dirty="0">
              <a:solidFill>
                <a:srgbClr val="4472C4"/>
              </a:solidFill>
              <a:latin typeface="Futura T OT" panose="02000000000000000000" pitchFamily="50" charset="0"/>
            </a:endParaRPr>
          </a:p>
        </p:txBody>
      </p:sp>
    </p:spTree>
    <p:extLst>
      <p:ext uri="{BB962C8B-B14F-4D97-AF65-F5344CB8AC3E}">
        <p14:creationId xmlns:p14="http://schemas.microsoft.com/office/powerpoint/2010/main" val="3362181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29459F9-6C3B-EBD9-B3DC-1CDCB0A999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FD2EBC-5397-F0F5-F055-768BAC1ACD5E}"/>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AVR Interrupt Handling</a:t>
            </a:r>
          </a:p>
        </p:txBody>
      </p:sp>
      <p:sp>
        <p:nvSpPr>
          <p:cNvPr id="4" name="TextBox 3">
            <a:extLst>
              <a:ext uri="{FF2B5EF4-FFF2-40B4-BE49-F238E27FC236}">
                <a16:creationId xmlns:a16="http://schemas.microsoft.com/office/drawing/2014/main" id="{7A25C50D-C43C-1EFD-35BD-ADCD96C7CAF9}"/>
              </a:ext>
            </a:extLst>
          </p:cNvPr>
          <p:cNvSpPr txBox="1"/>
          <p:nvPr/>
        </p:nvSpPr>
        <p:spPr>
          <a:xfrm>
            <a:off x="706556" y="771748"/>
            <a:ext cx="3090333"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Sources of interrupts</a:t>
            </a:r>
            <a:endParaRPr lang="en-US" sz="2800" dirty="0">
              <a:solidFill>
                <a:srgbClr val="4472C4"/>
              </a:solidFill>
              <a:latin typeface="Futura T OT" panose="02000000000000000000" pitchFamily="50" charset="0"/>
            </a:endParaRPr>
          </a:p>
        </p:txBody>
      </p:sp>
      <p:sp>
        <p:nvSpPr>
          <p:cNvPr id="5" name="TextBox 4">
            <a:extLst>
              <a:ext uri="{FF2B5EF4-FFF2-40B4-BE49-F238E27FC236}">
                <a16:creationId xmlns:a16="http://schemas.microsoft.com/office/drawing/2014/main" id="{865D508B-C068-0421-95A5-8A45496656F6}"/>
              </a:ext>
            </a:extLst>
          </p:cNvPr>
          <p:cNvSpPr txBox="1"/>
          <p:nvPr/>
        </p:nvSpPr>
        <p:spPr>
          <a:xfrm>
            <a:off x="706556" y="1481941"/>
            <a:ext cx="10778887"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Futura T OT" panose="02000000000000000000" pitchFamily="50" charset="0"/>
              </a:rPr>
              <a:t>There are at least </a:t>
            </a:r>
            <a:r>
              <a:rPr lang="en-US" sz="2800" dirty="0">
                <a:solidFill>
                  <a:srgbClr val="FF0000"/>
                </a:solidFill>
                <a:latin typeface="Futura T OT" panose="02000000000000000000" pitchFamily="50" charset="0"/>
              </a:rPr>
              <a:t>two interrupts </a:t>
            </a:r>
            <a:r>
              <a:rPr lang="en-US" sz="2800" dirty="0">
                <a:latin typeface="Futura T OT" panose="02000000000000000000" pitchFamily="50" charset="0"/>
              </a:rPr>
              <a:t>set aside for </a:t>
            </a:r>
            <a:r>
              <a:rPr lang="en-US" sz="2800" dirty="0">
                <a:solidFill>
                  <a:srgbClr val="FF0000"/>
                </a:solidFill>
                <a:latin typeface="Futura T OT" panose="02000000000000000000" pitchFamily="50" charset="0"/>
              </a:rPr>
              <a:t>each of the timers</a:t>
            </a:r>
            <a:r>
              <a:rPr lang="en-US" sz="2800" dirty="0">
                <a:latin typeface="Futura T OT" panose="02000000000000000000" pitchFamily="50" charset="0"/>
              </a:rPr>
              <a:t>, one for overflow and another for compare match.</a:t>
            </a:r>
          </a:p>
          <a:p>
            <a:pPr marL="457200" indent="-457200">
              <a:buFont typeface="Arial" panose="020B0604020202020204" pitchFamily="34" charset="0"/>
              <a:buChar char="•"/>
            </a:pPr>
            <a:r>
              <a:rPr lang="en-US" sz="2800" dirty="0">
                <a:latin typeface="Futura T OT" panose="02000000000000000000" pitchFamily="50" charset="0"/>
              </a:rPr>
              <a:t>Three interrupts are set aside for external hardware interrupts. </a:t>
            </a:r>
            <a:r>
              <a:rPr lang="en-US" sz="2800" dirty="0">
                <a:solidFill>
                  <a:srgbClr val="FF0000"/>
                </a:solidFill>
                <a:latin typeface="Futura T OT" panose="02000000000000000000" pitchFamily="50" charset="0"/>
              </a:rPr>
              <a:t>INT0, INT1 and INT2.</a:t>
            </a:r>
          </a:p>
          <a:p>
            <a:pPr marL="457200" indent="-457200">
              <a:buFont typeface="Arial" panose="020B0604020202020204" pitchFamily="34" charset="0"/>
              <a:buChar char="•"/>
            </a:pPr>
            <a:r>
              <a:rPr lang="en-US" sz="2800" dirty="0">
                <a:latin typeface="Futura T OT" panose="02000000000000000000" pitchFamily="50" charset="0"/>
              </a:rPr>
              <a:t>Serial communication’s </a:t>
            </a:r>
            <a:r>
              <a:rPr lang="en-US" sz="2800" dirty="0">
                <a:solidFill>
                  <a:srgbClr val="FF0000"/>
                </a:solidFill>
                <a:latin typeface="Futura T OT" panose="02000000000000000000" pitchFamily="50" charset="0"/>
              </a:rPr>
              <a:t>USART has three interrupts</a:t>
            </a:r>
            <a:r>
              <a:rPr lang="en-US" sz="2800" dirty="0">
                <a:latin typeface="Futura T OT" panose="02000000000000000000" pitchFamily="50" charset="0"/>
              </a:rPr>
              <a:t>, one for receive and two interrupts for transmit.</a:t>
            </a:r>
          </a:p>
          <a:p>
            <a:pPr marL="457200" indent="-457200">
              <a:buFont typeface="Arial" panose="020B0604020202020204" pitchFamily="34" charset="0"/>
              <a:buChar char="•"/>
            </a:pPr>
            <a:r>
              <a:rPr lang="en-US" sz="2800" dirty="0">
                <a:latin typeface="Futura T OT" panose="02000000000000000000" pitchFamily="50" charset="0"/>
              </a:rPr>
              <a:t>The </a:t>
            </a:r>
            <a:r>
              <a:rPr lang="en-US" sz="2800" dirty="0">
                <a:solidFill>
                  <a:srgbClr val="FF0000"/>
                </a:solidFill>
                <a:latin typeface="Futura T OT" panose="02000000000000000000" pitchFamily="50" charset="0"/>
              </a:rPr>
              <a:t>SPI interrupts</a:t>
            </a:r>
            <a:r>
              <a:rPr lang="en-US" sz="2800" dirty="0">
                <a:latin typeface="Futura T OT" panose="02000000000000000000" pitchFamily="50" charset="0"/>
              </a:rPr>
              <a:t>.</a:t>
            </a:r>
          </a:p>
          <a:p>
            <a:pPr marL="457200" indent="-457200">
              <a:buFont typeface="Arial" panose="020B0604020202020204" pitchFamily="34" charset="0"/>
              <a:buChar char="•"/>
            </a:pPr>
            <a:r>
              <a:rPr lang="en-US" sz="2800" dirty="0">
                <a:latin typeface="Futura T OT" panose="02000000000000000000" pitchFamily="50" charset="0"/>
              </a:rPr>
              <a:t>The </a:t>
            </a:r>
            <a:r>
              <a:rPr lang="en-US" sz="2800" dirty="0">
                <a:solidFill>
                  <a:srgbClr val="FF0000"/>
                </a:solidFill>
                <a:latin typeface="Futura T OT" panose="02000000000000000000" pitchFamily="50" charset="0"/>
              </a:rPr>
              <a:t>ADC</a:t>
            </a:r>
            <a:r>
              <a:rPr lang="en-US" sz="2800" dirty="0">
                <a:latin typeface="Futura T OT" panose="02000000000000000000" pitchFamily="50" charset="0"/>
              </a:rPr>
              <a:t>.</a:t>
            </a:r>
            <a:endParaRPr lang="en-US" sz="4000" dirty="0">
              <a:latin typeface="Futura T OT" panose="02000000000000000000" pitchFamily="50" charset="0"/>
            </a:endParaRPr>
          </a:p>
        </p:txBody>
      </p:sp>
    </p:spTree>
    <p:extLst>
      <p:ext uri="{BB962C8B-B14F-4D97-AF65-F5344CB8AC3E}">
        <p14:creationId xmlns:p14="http://schemas.microsoft.com/office/powerpoint/2010/main" val="957321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DADF87-B005-AF32-9A1E-FC77C7FE2F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7B8881-AAD3-1912-2BDA-028EB28C6D79}"/>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AVR Interrupt Handling</a:t>
            </a:r>
          </a:p>
        </p:txBody>
      </p:sp>
      <p:sp>
        <p:nvSpPr>
          <p:cNvPr id="4" name="TextBox 3">
            <a:extLst>
              <a:ext uri="{FF2B5EF4-FFF2-40B4-BE49-F238E27FC236}">
                <a16:creationId xmlns:a16="http://schemas.microsoft.com/office/drawing/2014/main" id="{8ED68D50-6D0C-C7F3-A61C-C2DBE533B9C6}"/>
              </a:ext>
            </a:extLst>
          </p:cNvPr>
          <p:cNvSpPr txBox="1"/>
          <p:nvPr/>
        </p:nvSpPr>
        <p:spPr>
          <a:xfrm>
            <a:off x="706556" y="771748"/>
            <a:ext cx="4227696"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Bits of Status Register (SREG)</a:t>
            </a:r>
            <a:endParaRPr lang="en-US" sz="2800" dirty="0">
              <a:solidFill>
                <a:srgbClr val="4472C4"/>
              </a:solidFill>
              <a:latin typeface="Futura T OT" panose="02000000000000000000" pitchFamily="50" charset="0"/>
            </a:endParaRPr>
          </a:p>
        </p:txBody>
      </p:sp>
      <p:pic>
        <p:nvPicPr>
          <p:cNvPr id="6" name="Picture 5">
            <a:extLst>
              <a:ext uri="{FF2B5EF4-FFF2-40B4-BE49-F238E27FC236}">
                <a16:creationId xmlns:a16="http://schemas.microsoft.com/office/drawing/2014/main" id="{B66E0572-E445-F3FE-FF50-B223E745BFD9}"/>
              </a:ext>
            </a:extLst>
          </p:cNvPr>
          <p:cNvPicPr>
            <a:picLocks noChangeAspect="1"/>
          </p:cNvPicPr>
          <p:nvPr/>
        </p:nvPicPr>
        <p:blipFill>
          <a:blip r:embed="rId2"/>
          <a:stretch>
            <a:fillRect/>
          </a:stretch>
        </p:blipFill>
        <p:spPr>
          <a:xfrm>
            <a:off x="706556" y="1781771"/>
            <a:ext cx="10832658" cy="2652560"/>
          </a:xfrm>
          <a:prstGeom prst="rect">
            <a:avLst/>
          </a:prstGeom>
        </p:spPr>
      </p:pic>
      <p:sp>
        <p:nvSpPr>
          <p:cNvPr id="7" name="TextBox 6">
            <a:extLst>
              <a:ext uri="{FF2B5EF4-FFF2-40B4-BE49-F238E27FC236}">
                <a16:creationId xmlns:a16="http://schemas.microsoft.com/office/drawing/2014/main" id="{60153757-291A-6563-2F80-81ABEBCEEDB7}"/>
              </a:ext>
            </a:extLst>
          </p:cNvPr>
          <p:cNvSpPr txBox="1"/>
          <p:nvPr/>
        </p:nvSpPr>
        <p:spPr>
          <a:xfrm>
            <a:off x="706556" y="4723386"/>
            <a:ext cx="10832658" cy="1815882"/>
          </a:xfrm>
          <a:prstGeom prst="rect">
            <a:avLst/>
          </a:prstGeom>
          <a:noFill/>
        </p:spPr>
        <p:txBody>
          <a:bodyPr wrap="square" rtlCol="0">
            <a:spAutoFit/>
          </a:bodyPr>
          <a:lstStyle/>
          <a:p>
            <a:pPr algn="ctr"/>
            <a:r>
              <a:rPr lang="en-US" sz="2800" dirty="0">
                <a:solidFill>
                  <a:srgbClr val="FF0000"/>
                </a:solidFill>
                <a:latin typeface="Futura T OT" panose="02000000000000000000" pitchFamily="50" charset="0"/>
              </a:rPr>
              <a:t>Bit D7 (I) </a:t>
            </a:r>
            <a:r>
              <a:rPr lang="en-US" sz="2800" dirty="0">
                <a:latin typeface="Futura T OT" panose="02000000000000000000" pitchFamily="50" charset="0"/>
              </a:rPr>
              <a:t>of the SREG register must be </a:t>
            </a:r>
            <a:r>
              <a:rPr lang="en-US" sz="2800" dirty="0">
                <a:solidFill>
                  <a:srgbClr val="FF0000"/>
                </a:solidFill>
                <a:latin typeface="Futura T OT" panose="02000000000000000000" pitchFamily="50" charset="0"/>
              </a:rPr>
              <a:t>set to HIGH </a:t>
            </a:r>
            <a:r>
              <a:rPr lang="en-US" sz="2800" dirty="0">
                <a:latin typeface="Futura T OT" panose="02000000000000000000" pitchFamily="50" charset="0"/>
              </a:rPr>
              <a:t>to allow the interrupt to happen.</a:t>
            </a:r>
          </a:p>
          <a:p>
            <a:pPr algn="ctr"/>
            <a:r>
              <a:rPr lang="en-US" sz="2800" dirty="0">
                <a:solidFill>
                  <a:srgbClr val="FF0000"/>
                </a:solidFill>
                <a:latin typeface="Futura T OT" panose="02000000000000000000" pitchFamily="50" charset="0"/>
              </a:rPr>
              <a:t>If I=1</a:t>
            </a:r>
            <a:r>
              <a:rPr lang="en-US" sz="2800" dirty="0">
                <a:latin typeface="Futura T OT" panose="02000000000000000000" pitchFamily="50" charset="0"/>
              </a:rPr>
              <a:t>, each interrupt is enabled by setting to </a:t>
            </a:r>
            <a:r>
              <a:rPr lang="en-US" sz="2800" dirty="0">
                <a:solidFill>
                  <a:srgbClr val="FF0000"/>
                </a:solidFill>
                <a:latin typeface="Futura T OT" panose="02000000000000000000" pitchFamily="50" charset="0"/>
              </a:rPr>
              <a:t>HIGH the interrupt enable flag </a:t>
            </a:r>
            <a:r>
              <a:rPr lang="en-US" sz="2800" dirty="0">
                <a:latin typeface="Futura T OT" panose="02000000000000000000" pitchFamily="50" charset="0"/>
              </a:rPr>
              <a:t>bit for that interrupt.</a:t>
            </a:r>
          </a:p>
        </p:txBody>
      </p:sp>
    </p:spTree>
    <p:extLst>
      <p:ext uri="{BB962C8B-B14F-4D97-AF65-F5344CB8AC3E}">
        <p14:creationId xmlns:p14="http://schemas.microsoft.com/office/powerpoint/2010/main" val="679832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FBF9269-D565-9B77-4FE4-855FFA79EB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18EA08-AAD2-7F87-9578-EE36E339D404}"/>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Input and Output ports interfacing on AVR</a:t>
            </a:r>
          </a:p>
        </p:txBody>
      </p:sp>
      <p:sp>
        <p:nvSpPr>
          <p:cNvPr id="4" name="TextBox 3">
            <a:extLst>
              <a:ext uri="{FF2B5EF4-FFF2-40B4-BE49-F238E27FC236}">
                <a16:creationId xmlns:a16="http://schemas.microsoft.com/office/drawing/2014/main" id="{ABAFD635-FDB0-E832-1820-37BCDC920CC0}"/>
              </a:ext>
            </a:extLst>
          </p:cNvPr>
          <p:cNvSpPr txBox="1"/>
          <p:nvPr/>
        </p:nvSpPr>
        <p:spPr>
          <a:xfrm>
            <a:off x="747387" y="884034"/>
            <a:ext cx="2309415" cy="461665"/>
          </a:xfrm>
          <a:prstGeom prst="rect">
            <a:avLst/>
          </a:prstGeom>
          <a:noFill/>
        </p:spPr>
        <p:txBody>
          <a:bodyPr wrap="none" rtlCol="0">
            <a:spAutoFit/>
          </a:bodyPr>
          <a:lstStyle/>
          <a:p>
            <a:r>
              <a:rPr lang="en-US" sz="2400" dirty="0">
                <a:solidFill>
                  <a:srgbClr val="FF0000"/>
                </a:solidFill>
                <a:latin typeface="Futura T OT" panose="02000000000000000000" pitchFamily="50" charset="0"/>
              </a:rPr>
              <a:t>I/O Port Registers</a:t>
            </a:r>
          </a:p>
        </p:txBody>
      </p:sp>
      <p:sp>
        <p:nvSpPr>
          <p:cNvPr id="5" name="TextBox 4">
            <a:extLst>
              <a:ext uri="{FF2B5EF4-FFF2-40B4-BE49-F238E27FC236}">
                <a16:creationId xmlns:a16="http://schemas.microsoft.com/office/drawing/2014/main" id="{2BAB7C83-6B71-BF84-45AB-6803D0ABCF44}"/>
              </a:ext>
            </a:extLst>
          </p:cNvPr>
          <p:cNvSpPr txBox="1"/>
          <p:nvPr/>
        </p:nvSpPr>
        <p:spPr>
          <a:xfrm>
            <a:off x="1468932" y="2090172"/>
            <a:ext cx="9254136" cy="2677656"/>
          </a:xfrm>
          <a:prstGeom prst="rect">
            <a:avLst/>
          </a:prstGeom>
          <a:noFill/>
        </p:spPr>
        <p:txBody>
          <a:bodyPr wrap="none" rtlCol="0">
            <a:spAutoFit/>
          </a:bodyPr>
          <a:lstStyle/>
          <a:p>
            <a:r>
              <a:rPr lang="en-US" sz="2400" b="1" dirty="0" err="1">
                <a:latin typeface="Futura T OT" panose="02000000000000000000" pitchFamily="50" charset="0"/>
              </a:rPr>
              <a:t>DDRx</a:t>
            </a:r>
            <a:r>
              <a:rPr lang="en-US" sz="2400" dirty="0">
                <a:latin typeface="Futura T OT" panose="02000000000000000000" pitchFamily="50" charset="0"/>
              </a:rPr>
              <a:t>: Data Direction Registers</a:t>
            </a:r>
          </a:p>
          <a:p>
            <a:r>
              <a:rPr lang="en-US" sz="2400" dirty="0">
                <a:latin typeface="Futura T OT" panose="02000000000000000000" pitchFamily="50" charset="0"/>
              </a:rPr>
              <a:t>These are 8-bit registers.</a:t>
            </a:r>
          </a:p>
          <a:p>
            <a:r>
              <a:rPr lang="en-US" sz="2400" dirty="0">
                <a:latin typeface="Futura T OT" panose="02000000000000000000" pitchFamily="50" charset="0"/>
              </a:rPr>
              <a:t>These are used to configure the pins of the ports as input or output.</a:t>
            </a:r>
          </a:p>
          <a:p>
            <a:r>
              <a:rPr lang="en-US" sz="2400" dirty="0">
                <a:latin typeface="Futura T OT" panose="02000000000000000000" pitchFamily="50" charset="0"/>
              </a:rPr>
              <a:t>Writing a one to the bits in this register sets those specific pins as output pins.</a:t>
            </a:r>
          </a:p>
          <a:p>
            <a:r>
              <a:rPr lang="en-US" sz="2400" dirty="0">
                <a:latin typeface="Futura T OT" panose="02000000000000000000" pitchFamily="50" charset="0"/>
              </a:rPr>
              <a:t>Writing a zero to the bits in this register sets those specific pins as input pins.</a:t>
            </a:r>
          </a:p>
          <a:p>
            <a:r>
              <a:rPr lang="en-US" sz="2400" dirty="0">
                <a:latin typeface="Futura T OT" panose="02000000000000000000" pitchFamily="50" charset="0"/>
              </a:rPr>
              <a:t>All bits in these registers can be read as well as written to.</a:t>
            </a:r>
          </a:p>
          <a:p>
            <a:r>
              <a:rPr lang="en-US" sz="2400" dirty="0">
                <a:latin typeface="Futura T OT" panose="02000000000000000000" pitchFamily="50" charset="0"/>
              </a:rPr>
              <a:t>The initial value of these bits is zero.</a:t>
            </a:r>
          </a:p>
        </p:txBody>
      </p:sp>
    </p:spTree>
    <p:extLst>
      <p:ext uri="{BB962C8B-B14F-4D97-AF65-F5344CB8AC3E}">
        <p14:creationId xmlns:p14="http://schemas.microsoft.com/office/powerpoint/2010/main" val="1112680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619994-4A04-1BC3-443B-B80D6C4372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141941-4BB0-604C-51ED-CB207A8A849B}"/>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Input and Output ports interfacing on AVR</a:t>
            </a:r>
          </a:p>
        </p:txBody>
      </p:sp>
      <p:sp>
        <p:nvSpPr>
          <p:cNvPr id="4" name="TextBox 3">
            <a:extLst>
              <a:ext uri="{FF2B5EF4-FFF2-40B4-BE49-F238E27FC236}">
                <a16:creationId xmlns:a16="http://schemas.microsoft.com/office/drawing/2014/main" id="{D13E86A6-36D1-55DD-7A2E-58997A443E5B}"/>
              </a:ext>
            </a:extLst>
          </p:cNvPr>
          <p:cNvSpPr txBox="1"/>
          <p:nvPr/>
        </p:nvSpPr>
        <p:spPr>
          <a:xfrm>
            <a:off x="747387" y="884034"/>
            <a:ext cx="2309415" cy="461665"/>
          </a:xfrm>
          <a:prstGeom prst="rect">
            <a:avLst/>
          </a:prstGeom>
          <a:noFill/>
        </p:spPr>
        <p:txBody>
          <a:bodyPr wrap="none" rtlCol="0">
            <a:spAutoFit/>
          </a:bodyPr>
          <a:lstStyle/>
          <a:p>
            <a:r>
              <a:rPr lang="en-US" sz="2400" dirty="0">
                <a:solidFill>
                  <a:srgbClr val="FF0000"/>
                </a:solidFill>
                <a:latin typeface="Futura T OT" panose="02000000000000000000" pitchFamily="50" charset="0"/>
              </a:rPr>
              <a:t>I/O Port Registers</a:t>
            </a:r>
          </a:p>
        </p:txBody>
      </p:sp>
      <p:sp>
        <p:nvSpPr>
          <p:cNvPr id="5" name="TextBox 4">
            <a:extLst>
              <a:ext uri="{FF2B5EF4-FFF2-40B4-BE49-F238E27FC236}">
                <a16:creationId xmlns:a16="http://schemas.microsoft.com/office/drawing/2014/main" id="{81C989A7-B11E-DA86-BB91-F95301885BB3}"/>
              </a:ext>
            </a:extLst>
          </p:cNvPr>
          <p:cNvSpPr txBox="1"/>
          <p:nvPr/>
        </p:nvSpPr>
        <p:spPr>
          <a:xfrm>
            <a:off x="904674" y="2090172"/>
            <a:ext cx="10382650" cy="2677656"/>
          </a:xfrm>
          <a:prstGeom prst="rect">
            <a:avLst/>
          </a:prstGeom>
          <a:noFill/>
        </p:spPr>
        <p:txBody>
          <a:bodyPr wrap="none" rtlCol="0">
            <a:spAutoFit/>
          </a:bodyPr>
          <a:lstStyle/>
          <a:p>
            <a:r>
              <a:rPr lang="en-US" sz="2400" b="1" dirty="0" err="1">
                <a:latin typeface="Futura T OT" panose="02000000000000000000" pitchFamily="50" charset="0"/>
              </a:rPr>
              <a:t>PORTx</a:t>
            </a:r>
            <a:r>
              <a:rPr lang="en-US" sz="2400" dirty="0">
                <a:latin typeface="Futura T OT" panose="02000000000000000000" pitchFamily="50" charset="0"/>
              </a:rPr>
              <a:t>: Data Registers</a:t>
            </a:r>
          </a:p>
          <a:p>
            <a:r>
              <a:rPr lang="en-US" sz="2400" dirty="0">
                <a:latin typeface="Futura T OT" panose="02000000000000000000" pitchFamily="50" charset="0"/>
              </a:rPr>
              <a:t>These are 8-bit registers.</a:t>
            </a:r>
          </a:p>
          <a:p>
            <a:r>
              <a:rPr lang="en-US" sz="2400" dirty="0">
                <a:latin typeface="Futura T OT" panose="02000000000000000000" pitchFamily="50" charset="0"/>
              </a:rPr>
              <a:t>These are used to put the pins of the ports in a logic HIGH or logic LOW state.</a:t>
            </a:r>
          </a:p>
          <a:p>
            <a:r>
              <a:rPr lang="en-US" sz="2400" dirty="0">
                <a:latin typeface="Futura T OT" panose="02000000000000000000" pitchFamily="50" charset="0"/>
              </a:rPr>
              <a:t>Writing a one to the bits in this register puts a HIGH logic (5V) on those pins.</a:t>
            </a:r>
          </a:p>
          <a:p>
            <a:r>
              <a:rPr lang="en-US" sz="2400" dirty="0">
                <a:latin typeface="Futura T OT" panose="02000000000000000000" pitchFamily="50" charset="0"/>
              </a:rPr>
              <a:t>Whereas writing a zero to the bits in this register puts a LOW logic (0V) on those pins.</a:t>
            </a:r>
          </a:p>
          <a:p>
            <a:r>
              <a:rPr lang="en-US" sz="2400" dirty="0">
                <a:latin typeface="Futura T OT" panose="02000000000000000000" pitchFamily="50" charset="0"/>
              </a:rPr>
              <a:t>All bits in these registers can be read as well as written to.</a:t>
            </a:r>
          </a:p>
          <a:p>
            <a:r>
              <a:rPr lang="en-US" sz="2400" dirty="0">
                <a:latin typeface="Futura T OT" panose="02000000000000000000" pitchFamily="50" charset="0"/>
              </a:rPr>
              <a:t>The initial value of these bits is zero.</a:t>
            </a:r>
          </a:p>
        </p:txBody>
      </p:sp>
    </p:spTree>
    <p:extLst>
      <p:ext uri="{BB962C8B-B14F-4D97-AF65-F5344CB8AC3E}">
        <p14:creationId xmlns:p14="http://schemas.microsoft.com/office/powerpoint/2010/main" val="598653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417A56-55DF-7189-8DCD-DE7BC45036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78FEF0-3812-25BB-9F1D-6340A3CC5DAA}"/>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Input and Output ports interfacing on AVR</a:t>
            </a:r>
          </a:p>
        </p:txBody>
      </p:sp>
      <p:sp>
        <p:nvSpPr>
          <p:cNvPr id="4" name="TextBox 3">
            <a:extLst>
              <a:ext uri="{FF2B5EF4-FFF2-40B4-BE49-F238E27FC236}">
                <a16:creationId xmlns:a16="http://schemas.microsoft.com/office/drawing/2014/main" id="{BBD7B08B-AE40-701D-1880-53A21B3AFCE2}"/>
              </a:ext>
            </a:extLst>
          </p:cNvPr>
          <p:cNvSpPr txBox="1"/>
          <p:nvPr/>
        </p:nvSpPr>
        <p:spPr>
          <a:xfrm>
            <a:off x="747387" y="884034"/>
            <a:ext cx="2309415" cy="461665"/>
          </a:xfrm>
          <a:prstGeom prst="rect">
            <a:avLst/>
          </a:prstGeom>
          <a:noFill/>
        </p:spPr>
        <p:txBody>
          <a:bodyPr wrap="none" rtlCol="0">
            <a:spAutoFit/>
          </a:bodyPr>
          <a:lstStyle/>
          <a:p>
            <a:r>
              <a:rPr lang="en-US" sz="2400" dirty="0">
                <a:solidFill>
                  <a:srgbClr val="FF0000"/>
                </a:solidFill>
                <a:latin typeface="Futura T OT" panose="02000000000000000000" pitchFamily="50" charset="0"/>
              </a:rPr>
              <a:t>I/O Port Registers</a:t>
            </a:r>
          </a:p>
        </p:txBody>
      </p:sp>
      <p:sp>
        <p:nvSpPr>
          <p:cNvPr id="5" name="TextBox 4">
            <a:extLst>
              <a:ext uri="{FF2B5EF4-FFF2-40B4-BE49-F238E27FC236}">
                <a16:creationId xmlns:a16="http://schemas.microsoft.com/office/drawing/2014/main" id="{946B272E-C74C-4876-DF77-ED9E51C26FC4}"/>
              </a:ext>
            </a:extLst>
          </p:cNvPr>
          <p:cNvSpPr txBox="1"/>
          <p:nvPr/>
        </p:nvSpPr>
        <p:spPr>
          <a:xfrm>
            <a:off x="2150048" y="2682270"/>
            <a:ext cx="7891904" cy="1569660"/>
          </a:xfrm>
          <a:prstGeom prst="rect">
            <a:avLst/>
          </a:prstGeom>
          <a:noFill/>
        </p:spPr>
        <p:txBody>
          <a:bodyPr wrap="none" rtlCol="0">
            <a:spAutoFit/>
          </a:bodyPr>
          <a:lstStyle/>
          <a:p>
            <a:r>
              <a:rPr lang="en-US" sz="2400" b="1" dirty="0" err="1">
                <a:latin typeface="Futura T OT" panose="02000000000000000000" pitchFamily="50" charset="0"/>
              </a:rPr>
              <a:t>PINx</a:t>
            </a:r>
            <a:r>
              <a:rPr lang="en-US" sz="2400" b="1" dirty="0">
                <a:latin typeface="Futura T OT" panose="02000000000000000000" pitchFamily="50" charset="0"/>
              </a:rPr>
              <a:t>: Input </a:t>
            </a:r>
            <a:r>
              <a:rPr lang="en-US" sz="2400" dirty="0">
                <a:latin typeface="Futura T OT" panose="02000000000000000000" pitchFamily="50" charset="0"/>
              </a:rPr>
              <a:t>Pins Address Registers</a:t>
            </a:r>
          </a:p>
          <a:p>
            <a:r>
              <a:rPr lang="en-US" sz="2400" dirty="0">
                <a:latin typeface="Futura T OT" panose="02000000000000000000" pitchFamily="50" charset="0"/>
              </a:rPr>
              <a:t>These are 8-bit registers.</a:t>
            </a:r>
          </a:p>
          <a:p>
            <a:r>
              <a:rPr lang="en-US" sz="2400" dirty="0">
                <a:latin typeface="Futura T OT" panose="02000000000000000000" pitchFamily="50" charset="0"/>
              </a:rPr>
              <a:t>These are used to read the values on the specific pins of the port.</a:t>
            </a:r>
          </a:p>
          <a:p>
            <a:r>
              <a:rPr lang="en-US" sz="2400" dirty="0">
                <a:latin typeface="Futura T OT" panose="02000000000000000000" pitchFamily="50" charset="0"/>
              </a:rPr>
              <a:t>These bits are read-only bits and cannot be written to.</a:t>
            </a:r>
          </a:p>
        </p:txBody>
      </p:sp>
    </p:spTree>
    <p:extLst>
      <p:ext uri="{BB962C8B-B14F-4D97-AF65-F5344CB8AC3E}">
        <p14:creationId xmlns:p14="http://schemas.microsoft.com/office/powerpoint/2010/main" val="365175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375BF9-D3BB-A456-D22C-86C26DB2A8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571454-0D6C-1F22-7ED0-CB414394AA62}"/>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Input and Output ports interfacing on AVR</a:t>
            </a:r>
          </a:p>
        </p:txBody>
      </p:sp>
      <p:sp>
        <p:nvSpPr>
          <p:cNvPr id="4" name="TextBox 3">
            <a:extLst>
              <a:ext uri="{FF2B5EF4-FFF2-40B4-BE49-F238E27FC236}">
                <a16:creationId xmlns:a16="http://schemas.microsoft.com/office/drawing/2014/main" id="{3989A482-E767-8E3D-8BE8-638D610CC18C}"/>
              </a:ext>
            </a:extLst>
          </p:cNvPr>
          <p:cNvSpPr txBox="1"/>
          <p:nvPr/>
        </p:nvSpPr>
        <p:spPr>
          <a:xfrm>
            <a:off x="747388" y="867408"/>
            <a:ext cx="9602950" cy="6370975"/>
          </a:xfrm>
          <a:prstGeom prst="rect">
            <a:avLst/>
          </a:prstGeom>
          <a:noFill/>
        </p:spPr>
        <p:txBody>
          <a:bodyPr wrap="none" rtlCol="0">
            <a:spAutoFit/>
          </a:bodyPr>
          <a:lstStyle/>
          <a:p>
            <a:r>
              <a:rPr lang="en-US" sz="2400" dirty="0">
                <a:latin typeface="Futura T OT" panose="02000000000000000000" pitchFamily="50" charset="0"/>
              </a:rPr>
              <a:t>//Seven segment display</a:t>
            </a:r>
          </a:p>
          <a:p>
            <a:r>
              <a:rPr lang="en-US" sz="2400" dirty="0">
                <a:latin typeface="Futura T OT" panose="02000000000000000000" pitchFamily="50" charset="0"/>
              </a:rPr>
              <a:t>#include &lt;</a:t>
            </a:r>
            <a:r>
              <a:rPr lang="en-US" sz="2400" dirty="0" err="1">
                <a:latin typeface="Futura T OT" panose="02000000000000000000" pitchFamily="50" charset="0"/>
              </a:rPr>
              <a:t>avr</a:t>
            </a:r>
            <a:r>
              <a:rPr lang="en-US" sz="2400" dirty="0">
                <a:latin typeface="Futura T OT" panose="02000000000000000000" pitchFamily="50" charset="0"/>
              </a:rPr>
              <a:t>/</a:t>
            </a:r>
            <a:r>
              <a:rPr lang="en-US" sz="2400" dirty="0" err="1">
                <a:latin typeface="Futura T OT" panose="02000000000000000000" pitchFamily="50" charset="0"/>
              </a:rPr>
              <a:t>io.h</a:t>
            </a:r>
            <a:r>
              <a:rPr lang="en-US" sz="2400" dirty="0">
                <a:latin typeface="Futura T OT" panose="02000000000000000000" pitchFamily="50" charset="0"/>
              </a:rPr>
              <a:t>&gt;</a:t>
            </a:r>
          </a:p>
          <a:p>
            <a:r>
              <a:rPr lang="en-US" sz="2400" dirty="0">
                <a:latin typeface="Futura T OT" panose="02000000000000000000" pitchFamily="50" charset="0"/>
              </a:rPr>
              <a:t>#include &lt;util/</a:t>
            </a:r>
            <a:r>
              <a:rPr lang="en-US" sz="2400" dirty="0" err="1">
                <a:latin typeface="Futura T OT" panose="02000000000000000000" pitchFamily="50" charset="0"/>
              </a:rPr>
              <a:t>delay.h</a:t>
            </a:r>
            <a:r>
              <a:rPr lang="en-US" sz="2400" dirty="0">
                <a:latin typeface="Futura T OT" panose="02000000000000000000" pitchFamily="50" charset="0"/>
              </a:rPr>
              <a:t>&gt;</a:t>
            </a:r>
          </a:p>
          <a:p>
            <a:r>
              <a:rPr lang="en-US" sz="2400" dirty="0">
                <a:latin typeface="Futura T OT" panose="02000000000000000000" pitchFamily="50" charset="0"/>
              </a:rPr>
              <a:t> </a:t>
            </a:r>
          </a:p>
          <a:p>
            <a:r>
              <a:rPr lang="en-US" sz="2400" dirty="0">
                <a:latin typeface="Futura T OT" panose="02000000000000000000" pitchFamily="50" charset="0"/>
              </a:rPr>
              <a:t>uint8_t digits[10] = {0x3f,0x06,0x5b,0x4f,0x66,0x6d,0x7d,0x07,0x7f,0x6f};</a:t>
            </a:r>
          </a:p>
          <a:p>
            <a:r>
              <a:rPr lang="en-US" sz="2400" dirty="0">
                <a:latin typeface="Futura T OT" panose="02000000000000000000" pitchFamily="50" charset="0"/>
              </a:rPr>
              <a:t> </a:t>
            </a:r>
          </a:p>
          <a:p>
            <a:r>
              <a:rPr lang="en-US" sz="2400" dirty="0">
                <a:latin typeface="Futura T OT" panose="02000000000000000000" pitchFamily="50" charset="0"/>
              </a:rPr>
              <a:t>int main(void) {</a:t>
            </a:r>
          </a:p>
          <a:p>
            <a:r>
              <a:rPr lang="en-US" sz="2400" dirty="0">
                <a:latin typeface="Futura T OT" panose="02000000000000000000" pitchFamily="50" charset="0"/>
              </a:rPr>
              <a:t>DDRD = 0xFF;</a:t>
            </a:r>
          </a:p>
          <a:p>
            <a:r>
              <a:rPr lang="en-US" sz="2400" dirty="0">
                <a:latin typeface="Futura T OT" panose="02000000000000000000" pitchFamily="50" charset="0"/>
              </a:rPr>
              <a:t> </a:t>
            </a:r>
          </a:p>
          <a:p>
            <a:r>
              <a:rPr lang="en-US" sz="2400" dirty="0">
                <a:latin typeface="Futura T OT" panose="02000000000000000000" pitchFamily="50" charset="0"/>
              </a:rPr>
              <a:t>    while (1) {</a:t>
            </a:r>
          </a:p>
          <a:p>
            <a:r>
              <a:rPr lang="en-US" sz="2400" dirty="0">
                <a:latin typeface="Futura T OT" panose="02000000000000000000" pitchFamily="50" charset="0"/>
              </a:rPr>
              <a:t>        for (uint8_t </a:t>
            </a:r>
            <a:r>
              <a:rPr lang="en-US" sz="2400" dirty="0" err="1">
                <a:latin typeface="Futura T OT" panose="02000000000000000000" pitchFamily="50" charset="0"/>
              </a:rPr>
              <a:t>i</a:t>
            </a:r>
            <a:r>
              <a:rPr lang="en-US" sz="2400" dirty="0">
                <a:latin typeface="Futura T OT" panose="02000000000000000000" pitchFamily="50" charset="0"/>
              </a:rPr>
              <a:t> = 0; </a:t>
            </a:r>
            <a:r>
              <a:rPr lang="en-US" sz="2400" dirty="0" err="1">
                <a:latin typeface="Futura T OT" panose="02000000000000000000" pitchFamily="50" charset="0"/>
              </a:rPr>
              <a:t>i</a:t>
            </a:r>
            <a:r>
              <a:rPr lang="en-US" sz="2400" dirty="0">
                <a:latin typeface="Futura T OT" panose="02000000000000000000" pitchFamily="50" charset="0"/>
              </a:rPr>
              <a:t> &lt; 10; </a:t>
            </a:r>
            <a:r>
              <a:rPr lang="en-US" sz="2400" dirty="0" err="1">
                <a:latin typeface="Futura T OT" panose="02000000000000000000" pitchFamily="50" charset="0"/>
              </a:rPr>
              <a:t>i</a:t>
            </a:r>
            <a:r>
              <a:rPr lang="en-US" sz="2400" dirty="0">
                <a:latin typeface="Futura T OT" panose="02000000000000000000" pitchFamily="50" charset="0"/>
              </a:rPr>
              <a:t>++) {</a:t>
            </a:r>
          </a:p>
          <a:p>
            <a:r>
              <a:rPr lang="en-US" sz="2400" dirty="0">
                <a:latin typeface="Futura T OT" panose="02000000000000000000" pitchFamily="50" charset="0"/>
              </a:rPr>
              <a:t>            PORTD = digits[</a:t>
            </a:r>
            <a:r>
              <a:rPr lang="en-US" sz="2400" dirty="0" err="1">
                <a:latin typeface="Futura T OT" panose="02000000000000000000" pitchFamily="50" charset="0"/>
              </a:rPr>
              <a:t>i</a:t>
            </a:r>
            <a:r>
              <a:rPr lang="en-US" sz="2400" dirty="0">
                <a:latin typeface="Futura T OT" panose="02000000000000000000" pitchFamily="50" charset="0"/>
              </a:rPr>
              <a:t>];</a:t>
            </a:r>
          </a:p>
          <a:p>
            <a:r>
              <a:rPr lang="en-US" sz="2400" dirty="0">
                <a:latin typeface="Futura T OT" panose="02000000000000000000" pitchFamily="50" charset="0"/>
              </a:rPr>
              <a:t>            _</a:t>
            </a:r>
            <a:r>
              <a:rPr lang="en-US" sz="2400" dirty="0" err="1">
                <a:latin typeface="Futura T OT" panose="02000000000000000000" pitchFamily="50" charset="0"/>
              </a:rPr>
              <a:t>delay_ms</a:t>
            </a:r>
            <a:r>
              <a:rPr lang="en-US" sz="2400" dirty="0">
                <a:latin typeface="Futura T OT" panose="02000000000000000000" pitchFamily="50" charset="0"/>
              </a:rPr>
              <a:t>(1000);</a:t>
            </a:r>
          </a:p>
          <a:p>
            <a:r>
              <a:rPr lang="en-US" sz="2400" dirty="0">
                <a:latin typeface="Futura T OT" panose="02000000000000000000" pitchFamily="50" charset="0"/>
              </a:rPr>
              <a:t>        }</a:t>
            </a:r>
          </a:p>
          <a:p>
            <a:r>
              <a:rPr lang="en-US" sz="2400" dirty="0">
                <a:latin typeface="Futura T OT" panose="02000000000000000000" pitchFamily="50" charset="0"/>
              </a:rPr>
              <a:t>    }</a:t>
            </a:r>
          </a:p>
          <a:p>
            <a:r>
              <a:rPr lang="en-US" sz="2400" dirty="0">
                <a:latin typeface="Futura T OT" panose="02000000000000000000" pitchFamily="50" charset="0"/>
              </a:rPr>
              <a:t>}</a:t>
            </a:r>
          </a:p>
          <a:p>
            <a:endParaRPr lang="en-US" sz="2400" dirty="0">
              <a:latin typeface="Futura T OT" panose="02000000000000000000" pitchFamily="50" charset="0"/>
            </a:endParaRPr>
          </a:p>
        </p:txBody>
      </p:sp>
    </p:spTree>
    <p:extLst>
      <p:ext uri="{BB962C8B-B14F-4D97-AF65-F5344CB8AC3E}">
        <p14:creationId xmlns:p14="http://schemas.microsoft.com/office/powerpoint/2010/main" val="4207554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60133F8-5993-FBA2-5875-2702BEF256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E1B56-1276-29B5-86A4-54BD69862F2C}"/>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Input and Output ports interfacing on AVR</a:t>
            </a:r>
          </a:p>
        </p:txBody>
      </p:sp>
      <p:sp>
        <p:nvSpPr>
          <p:cNvPr id="4" name="TextBox 3">
            <a:extLst>
              <a:ext uri="{FF2B5EF4-FFF2-40B4-BE49-F238E27FC236}">
                <a16:creationId xmlns:a16="http://schemas.microsoft.com/office/drawing/2014/main" id="{167A0D5E-7329-7B1F-7CEF-BEABC7573206}"/>
              </a:ext>
            </a:extLst>
          </p:cNvPr>
          <p:cNvSpPr txBox="1"/>
          <p:nvPr/>
        </p:nvSpPr>
        <p:spPr>
          <a:xfrm>
            <a:off x="1809857" y="2866935"/>
            <a:ext cx="8572283" cy="1200329"/>
          </a:xfrm>
          <a:prstGeom prst="rect">
            <a:avLst/>
          </a:prstGeom>
          <a:noFill/>
        </p:spPr>
        <p:txBody>
          <a:bodyPr wrap="none" rtlCol="0">
            <a:spAutoFit/>
          </a:bodyPr>
          <a:lstStyle/>
          <a:p>
            <a:r>
              <a:rPr lang="en-US" sz="2400" dirty="0">
                <a:latin typeface="Futura T OT" panose="02000000000000000000" pitchFamily="50" charset="0"/>
              </a:rPr>
              <a:t>Create a program that reads an 8-bit value from PORTA and performs:</a:t>
            </a:r>
          </a:p>
          <a:p>
            <a:pPr marL="342900" indent="-342900">
              <a:buFont typeface="Arial" panose="020B0604020202020204" pitchFamily="34" charset="0"/>
              <a:buChar char="•"/>
            </a:pPr>
            <a:r>
              <a:rPr lang="en-US" sz="2400" dirty="0">
                <a:latin typeface="Futura T OT" panose="02000000000000000000" pitchFamily="50" charset="0"/>
              </a:rPr>
              <a:t>Extract bits 2-5 and display on PORTB</a:t>
            </a:r>
          </a:p>
          <a:p>
            <a:pPr marL="342900" indent="-342900">
              <a:buFont typeface="Arial" panose="020B0604020202020204" pitchFamily="34" charset="0"/>
              <a:buChar char="•"/>
            </a:pPr>
            <a:r>
              <a:rPr lang="en-US" sz="2400" dirty="0">
                <a:latin typeface="Futura T OT" panose="02000000000000000000" pitchFamily="50" charset="0"/>
              </a:rPr>
              <a:t>Count number of set bits in PORTA and show on PORTC (0-8)</a:t>
            </a:r>
          </a:p>
        </p:txBody>
      </p:sp>
    </p:spTree>
    <p:extLst>
      <p:ext uri="{BB962C8B-B14F-4D97-AF65-F5344CB8AC3E}">
        <p14:creationId xmlns:p14="http://schemas.microsoft.com/office/powerpoint/2010/main" val="2860312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6CFB08-01FE-A13D-32C5-C64EA4F1EF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5BF334-12B4-3E6D-EC22-F84FECDFE72D}"/>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4" name="TextBox 3">
            <a:extLst>
              <a:ext uri="{FF2B5EF4-FFF2-40B4-BE49-F238E27FC236}">
                <a16:creationId xmlns:a16="http://schemas.microsoft.com/office/drawing/2014/main" id="{975CDF89-B89D-D65E-C8A8-39401FF80005}"/>
              </a:ext>
            </a:extLst>
          </p:cNvPr>
          <p:cNvSpPr txBox="1"/>
          <p:nvPr/>
        </p:nvSpPr>
        <p:spPr>
          <a:xfrm>
            <a:off x="706556" y="771748"/>
            <a:ext cx="5399170"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General view of Counters and Timers</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5E7F69CC-A9BF-287F-B35D-6632D15B5990}"/>
              </a:ext>
            </a:extLst>
          </p:cNvPr>
          <p:cNvSpPr txBox="1"/>
          <p:nvPr/>
        </p:nvSpPr>
        <p:spPr>
          <a:xfrm>
            <a:off x="706556" y="4723386"/>
            <a:ext cx="10832658" cy="1815882"/>
          </a:xfrm>
          <a:prstGeom prst="rect">
            <a:avLst/>
          </a:prstGeom>
          <a:noFill/>
        </p:spPr>
        <p:txBody>
          <a:bodyPr wrap="square" rtlCol="0">
            <a:spAutoFit/>
          </a:bodyPr>
          <a:lstStyle/>
          <a:p>
            <a:pPr algn="ctr"/>
            <a:r>
              <a:rPr lang="en-US" sz="2800" dirty="0">
                <a:latin typeface="Futura T OT" panose="02000000000000000000" pitchFamily="50" charset="0"/>
              </a:rPr>
              <a:t>When we want to </a:t>
            </a:r>
            <a:r>
              <a:rPr lang="en-US" sz="2800" dirty="0">
                <a:solidFill>
                  <a:srgbClr val="FF0000"/>
                </a:solidFill>
                <a:latin typeface="Futura T OT" panose="02000000000000000000" pitchFamily="50" charset="0"/>
              </a:rPr>
              <a:t>count an event</a:t>
            </a:r>
            <a:r>
              <a:rPr lang="en-US" sz="2800" dirty="0">
                <a:latin typeface="Futura T OT" panose="02000000000000000000" pitchFamily="50" charset="0"/>
              </a:rPr>
              <a:t>, we connect the external </a:t>
            </a:r>
            <a:r>
              <a:rPr lang="en-US" sz="2800" dirty="0">
                <a:solidFill>
                  <a:srgbClr val="FF0000"/>
                </a:solidFill>
                <a:latin typeface="Futura T OT" panose="02000000000000000000" pitchFamily="50" charset="0"/>
              </a:rPr>
              <a:t>event source to the clock pin</a:t>
            </a:r>
            <a:r>
              <a:rPr lang="en-US" sz="2800" dirty="0">
                <a:latin typeface="Futura T OT" panose="02000000000000000000" pitchFamily="50" charset="0"/>
              </a:rPr>
              <a:t> of the counter register.</a:t>
            </a:r>
          </a:p>
          <a:p>
            <a:pPr algn="ctr"/>
            <a:r>
              <a:rPr lang="en-US" sz="2800" dirty="0">
                <a:latin typeface="Futura T OT" panose="02000000000000000000" pitchFamily="50" charset="0"/>
              </a:rPr>
              <a:t>When we want to </a:t>
            </a:r>
            <a:r>
              <a:rPr lang="en-US" sz="2800" dirty="0">
                <a:solidFill>
                  <a:srgbClr val="FF0000"/>
                </a:solidFill>
                <a:latin typeface="Futura T OT" panose="02000000000000000000" pitchFamily="50" charset="0"/>
              </a:rPr>
              <a:t>generate time delays</a:t>
            </a:r>
            <a:r>
              <a:rPr lang="en-US" sz="2800" dirty="0">
                <a:latin typeface="Futura T OT" panose="02000000000000000000" pitchFamily="50" charset="0"/>
              </a:rPr>
              <a:t>, we connect the </a:t>
            </a:r>
            <a:r>
              <a:rPr lang="en-US" sz="2800" dirty="0">
                <a:solidFill>
                  <a:srgbClr val="FF0000"/>
                </a:solidFill>
                <a:latin typeface="Futura T OT" panose="02000000000000000000" pitchFamily="50" charset="0"/>
              </a:rPr>
              <a:t>oscillator to the clock pin</a:t>
            </a:r>
            <a:r>
              <a:rPr lang="en-US" sz="2800" dirty="0">
                <a:latin typeface="Futura T OT" panose="02000000000000000000" pitchFamily="50" charset="0"/>
              </a:rPr>
              <a:t> of the counter.</a:t>
            </a:r>
          </a:p>
        </p:txBody>
      </p:sp>
      <p:pic>
        <p:nvPicPr>
          <p:cNvPr id="5" name="Picture 4">
            <a:extLst>
              <a:ext uri="{FF2B5EF4-FFF2-40B4-BE49-F238E27FC236}">
                <a16:creationId xmlns:a16="http://schemas.microsoft.com/office/drawing/2014/main" id="{627C6BD8-AAD1-431E-8520-777418523120}"/>
              </a:ext>
            </a:extLst>
          </p:cNvPr>
          <p:cNvPicPr>
            <a:picLocks noChangeAspect="1"/>
          </p:cNvPicPr>
          <p:nvPr/>
        </p:nvPicPr>
        <p:blipFill>
          <a:blip r:embed="rId2"/>
          <a:stretch>
            <a:fillRect/>
          </a:stretch>
        </p:blipFill>
        <p:spPr>
          <a:xfrm>
            <a:off x="794983" y="1667854"/>
            <a:ext cx="10655804" cy="2682646"/>
          </a:xfrm>
          <a:prstGeom prst="rect">
            <a:avLst/>
          </a:prstGeom>
        </p:spPr>
      </p:pic>
    </p:spTree>
    <p:extLst>
      <p:ext uri="{BB962C8B-B14F-4D97-AF65-F5344CB8AC3E}">
        <p14:creationId xmlns:p14="http://schemas.microsoft.com/office/powerpoint/2010/main" val="10503535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85EB26-468E-0669-E2BB-D74A4C97EF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519123-5BA6-88CC-1581-52F57184FE98}"/>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4" name="TextBox 3">
            <a:extLst>
              <a:ext uri="{FF2B5EF4-FFF2-40B4-BE49-F238E27FC236}">
                <a16:creationId xmlns:a16="http://schemas.microsoft.com/office/drawing/2014/main" id="{A8CE78D9-C7C1-6339-71C9-4EDC7B898C3B}"/>
              </a:ext>
            </a:extLst>
          </p:cNvPr>
          <p:cNvSpPr txBox="1"/>
          <p:nvPr/>
        </p:nvSpPr>
        <p:spPr>
          <a:xfrm>
            <a:off x="706556" y="771748"/>
            <a:ext cx="4329647"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Ways to generate time delays</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6332BFF6-F6E5-14F0-3638-8671A2AB6829}"/>
              </a:ext>
            </a:extLst>
          </p:cNvPr>
          <p:cNvSpPr txBox="1"/>
          <p:nvPr/>
        </p:nvSpPr>
        <p:spPr>
          <a:xfrm>
            <a:off x="706556" y="4723386"/>
            <a:ext cx="10832658" cy="1815882"/>
          </a:xfrm>
          <a:prstGeom prst="rect">
            <a:avLst/>
          </a:prstGeom>
          <a:noFill/>
        </p:spPr>
        <p:txBody>
          <a:bodyPr wrap="square" rtlCol="0">
            <a:spAutoFit/>
          </a:bodyPr>
          <a:lstStyle/>
          <a:p>
            <a:pPr marL="514350" indent="-514350" algn="ctr">
              <a:buFont typeface="+mj-lt"/>
              <a:buAutoNum type="arabicPeriod"/>
            </a:pPr>
            <a:r>
              <a:rPr lang="en-US" sz="2800" dirty="0">
                <a:solidFill>
                  <a:srgbClr val="FF0000"/>
                </a:solidFill>
                <a:latin typeface="Futura T OT" panose="02000000000000000000" pitchFamily="50" charset="0"/>
              </a:rPr>
              <a:t>Clear the counter</a:t>
            </a:r>
            <a:r>
              <a:rPr lang="en-US" sz="2800" dirty="0">
                <a:latin typeface="Futura T OT" panose="02000000000000000000" pitchFamily="50" charset="0"/>
              </a:rPr>
              <a:t> at the start time and </a:t>
            </a:r>
            <a:r>
              <a:rPr lang="en-US" sz="2800" dirty="0">
                <a:solidFill>
                  <a:srgbClr val="FF0000"/>
                </a:solidFill>
                <a:latin typeface="Futura T OT" panose="02000000000000000000" pitchFamily="50" charset="0"/>
              </a:rPr>
              <a:t>wait until the counter reaches a certain number</a:t>
            </a:r>
            <a:r>
              <a:rPr lang="en-US" sz="2800" dirty="0">
                <a:latin typeface="Futura T OT" panose="02000000000000000000" pitchFamily="50" charset="0"/>
              </a:rPr>
              <a:t>.</a:t>
            </a:r>
          </a:p>
          <a:p>
            <a:pPr marL="514350" indent="-514350" algn="ctr">
              <a:buFont typeface="+mj-lt"/>
              <a:buAutoNum type="arabicPeriod"/>
            </a:pPr>
            <a:r>
              <a:rPr lang="en-US" sz="2800" dirty="0">
                <a:solidFill>
                  <a:srgbClr val="FF0000"/>
                </a:solidFill>
                <a:latin typeface="Futura T OT" panose="02000000000000000000" pitchFamily="50" charset="0"/>
              </a:rPr>
              <a:t>Load the counter</a:t>
            </a:r>
            <a:r>
              <a:rPr lang="en-US" sz="2800" dirty="0">
                <a:latin typeface="Futura T OT" panose="02000000000000000000" pitchFamily="50" charset="0"/>
              </a:rPr>
              <a:t> register and </a:t>
            </a:r>
            <a:r>
              <a:rPr lang="en-US" sz="2800" dirty="0">
                <a:solidFill>
                  <a:srgbClr val="FF0000"/>
                </a:solidFill>
                <a:latin typeface="Futura T OT" panose="02000000000000000000" pitchFamily="50" charset="0"/>
              </a:rPr>
              <a:t>wait until the counter overflows </a:t>
            </a:r>
            <a:r>
              <a:rPr lang="en-US" sz="2800" dirty="0">
                <a:latin typeface="Futura T OT" panose="02000000000000000000" pitchFamily="50" charset="0"/>
              </a:rPr>
              <a:t>and the flag is set.</a:t>
            </a:r>
          </a:p>
        </p:txBody>
      </p:sp>
      <p:pic>
        <p:nvPicPr>
          <p:cNvPr id="5" name="Picture 4">
            <a:extLst>
              <a:ext uri="{FF2B5EF4-FFF2-40B4-BE49-F238E27FC236}">
                <a16:creationId xmlns:a16="http://schemas.microsoft.com/office/drawing/2014/main" id="{23A9A3F5-E8CC-E07E-1C07-6FB8E0868033}"/>
              </a:ext>
            </a:extLst>
          </p:cNvPr>
          <p:cNvPicPr>
            <a:picLocks noChangeAspect="1"/>
          </p:cNvPicPr>
          <p:nvPr/>
        </p:nvPicPr>
        <p:blipFill>
          <a:blip r:embed="rId2"/>
          <a:stretch>
            <a:fillRect/>
          </a:stretch>
        </p:blipFill>
        <p:spPr>
          <a:xfrm>
            <a:off x="794983" y="1667854"/>
            <a:ext cx="10655804" cy="2682646"/>
          </a:xfrm>
          <a:prstGeom prst="rect">
            <a:avLst/>
          </a:prstGeom>
        </p:spPr>
      </p:pic>
    </p:spTree>
    <p:extLst>
      <p:ext uri="{BB962C8B-B14F-4D97-AF65-F5344CB8AC3E}">
        <p14:creationId xmlns:p14="http://schemas.microsoft.com/office/powerpoint/2010/main" val="30630615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788F8B4-C108-2A77-794A-A63FBC5ABB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BF1E08-00F3-2AE4-5A5F-83BDE1DA5E9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D3FDFA88-96B1-7618-4C82-771F04C75099}"/>
              </a:ext>
            </a:extLst>
          </p:cNvPr>
          <p:cNvSpPr txBox="1"/>
          <p:nvPr/>
        </p:nvSpPr>
        <p:spPr>
          <a:xfrm>
            <a:off x="706555" y="1531708"/>
            <a:ext cx="10778887" cy="4401205"/>
          </a:xfrm>
          <a:prstGeom prst="rect">
            <a:avLst/>
          </a:prstGeom>
          <a:noFill/>
        </p:spPr>
        <p:txBody>
          <a:bodyPr wrap="square" rtlCol="0">
            <a:spAutoFit/>
          </a:bodyPr>
          <a:lstStyle/>
          <a:p>
            <a:r>
              <a:rPr lang="en-US" sz="2800" dirty="0">
                <a:latin typeface="Futura T OT" panose="02000000000000000000" pitchFamily="50" charset="0"/>
              </a:rPr>
              <a:t>The AVR has one to </a:t>
            </a:r>
            <a:r>
              <a:rPr lang="en-US" sz="2800" dirty="0">
                <a:solidFill>
                  <a:srgbClr val="FF0000"/>
                </a:solidFill>
                <a:latin typeface="Futura T OT" panose="02000000000000000000" pitchFamily="50" charset="0"/>
              </a:rPr>
              <a:t>six timers/counters </a:t>
            </a:r>
            <a:r>
              <a:rPr lang="en-US" sz="2800" dirty="0">
                <a:latin typeface="Futura T OT" panose="02000000000000000000" pitchFamily="50" charset="0"/>
              </a:rPr>
              <a:t>named as Timers 0, 1, 2, 3, 4 and 5 </a:t>
            </a:r>
            <a:r>
              <a:rPr lang="en-US" sz="2800" dirty="0">
                <a:solidFill>
                  <a:srgbClr val="FF0000"/>
                </a:solidFill>
                <a:latin typeface="Futura T OT" panose="02000000000000000000" pitchFamily="50" charset="0"/>
              </a:rPr>
              <a:t>depending on the family member</a:t>
            </a:r>
            <a:r>
              <a:rPr lang="en-US" sz="2800" dirty="0">
                <a:latin typeface="Futura T OT" panose="02000000000000000000" pitchFamily="50" charset="0"/>
              </a:rPr>
              <a:t>.</a:t>
            </a:r>
          </a:p>
          <a:p>
            <a:endParaRPr lang="en-US" sz="2800" dirty="0">
              <a:latin typeface="Futura T OT" panose="02000000000000000000" pitchFamily="50" charset="0"/>
            </a:endParaRPr>
          </a:p>
          <a:p>
            <a:r>
              <a:rPr lang="en-US" sz="2800" dirty="0">
                <a:latin typeface="Futura T OT" panose="02000000000000000000" pitchFamily="50" charset="0"/>
              </a:rPr>
              <a:t>In AVR some of the </a:t>
            </a:r>
            <a:r>
              <a:rPr lang="en-US" sz="2800" dirty="0">
                <a:solidFill>
                  <a:srgbClr val="FF0000"/>
                </a:solidFill>
                <a:latin typeface="Futura T OT" panose="02000000000000000000" pitchFamily="50" charset="0"/>
              </a:rPr>
              <a:t>timers/counters </a:t>
            </a:r>
            <a:r>
              <a:rPr lang="en-US" sz="2800" dirty="0">
                <a:latin typeface="Futura T OT" panose="02000000000000000000" pitchFamily="50" charset="0"/>
              </a:rPr>
              <a:t>are </a:t>
            </a:r>
            <a:r>
              <a:rPr lang="en-US" sz="2800" dirty="0">
                <a:solidFill>
                  <a:srgbClr val="FF0000"/>
                </a:solidFill>
                <a:latin typeface="Futura T OT" panose="02000000000000000000" pitchFamily="50" charset="0"/>
              </a:rPr>
              <a:t>8-bit</a:t>
            </a:r>
            <a:r>
              <a:rPr lang="en-US" sz="2800" dirty="0">
                <a:latin typeface="Futura T OT" panose="02000000000000000000" pitchFamily="50" charset="0"/>
              </a:rPr>
              <a:t> and some are </a:t>
            </a:r>
            <a:r>
              <a:rPr lang="en-US" sz="2800" dirty="0">
                <a:solidFill>
                  <a:srgbClr val="FF0000"/>
                </a:solidFill>
                <a:latin typeface="Futura T OT" panose="02000000000000000000" pitchFamily="50" charset="0"/>
              </a:rPr>
              <a:t>16-bit</a:t>
            </a:r>
            <a:r>
              <a:rPr lang="en-US" sz="2800" dirty="0">
                <a:latin typeface="Futura T OT" panose="02000000000000000000" pitchFamily="50" charset="0"/>
              </a:rPr>
              <a:t>.</a:t>
            </a:r>
          </a:p>
          <a:p>
            <a:endParaRPr lang="en-US" sz="2800" dirty="0">
              <a:latin typeface="Futura T OT" panose="02000000000000000000" pitchFamily="50" charset="0"/>
            </a:endParaRPr>
          </a:p>
          <a:p>
            <a:r>
              <a:rPr lang="en-US" sz="2800" dirty="0">
                <a:solidFill>
                  <a:srgbClr val="FF0000"/>
                </a:solidFill>
                <a:latin typeface="Futura T OT" panose="02000000000000000000" pitchFamily="50" charset="0"/>
              </a:rPr>
              <a:t>ATmega32</a:t>
            </a:r>
            <a:r>
              <a:rPr lang="en-US" sz="2800" dirty="0">
                <a:latin typeface="Futura T OT" panose="02000000000000000000" pitchFamily="50" charset="0"/>
              </a:rPr>
              <a:t>, there are three timers: </a:t>
            </a:r>
            <a:r>
              <a:rPr lang="en-US" sz="2800" dirty="0">
                <a:solidFill>
                  <a:srgbClr val="FF0000"/>
                </a:solidFill>
                <a:latin typeface="Futura T OT" panose="02000000000000000000" pitchFamily="50" charset="0"/>
              </a:rPr>
              <a:t>Timer0(8-bit), Timer1(16-bit) and Timer2(8-bit)</a:t>
            </a:r>
            <a:r>
              <a:rPr lang="en-US" sz="2800" dirty="0">
                <a:latin typeface="Futura T OT" panose="02000000000000000000" pitchFamily="50" charset="0"/>
              </a:rPr>
              <a:t>.</a:t>
            </a:r>
          </a:p>
          <a:p>
            <a:endParaRPr lang="en-US" sz="2800" dirty="0">
              <a:solidFill>
                <a:srgbClr val="FF0000"/>
              </a:solidFill>
              <a:latin typeface="Futura T OT" panose="02000000000000000000" pitchFamily="50" charset="0"/>
            </a:endParaRPr>
          </a:p>
          <a:p>
            <a:r>
              <a:rPr lang="en-US" sz="2800" dirty="0">
                <a:latin typeface="Futura T OT" panose="02000000000000000000" pitchFamily="50" charset="0"/>
              </a:rPr>
              <a:t>Every timer needs a </a:t>
            </a:r>
            <a:r>
              <a:rPr lang="en-US" sz="2800" dirty="0">
                <a:solidFill>
                  <a:srgbClr val="FF0000"/>
                </a:solidFill>
                <a:latin typeface="Futura T OT" panose="02000000000000000000" pitchFamily="50" charset="0"/>
              </a:rPr>
              <a:t>clock pulse to tick</a:t>
            </a:r>
            <a:r>
              <a:rPr lang="en-US" sz="2800" dirty="0">
                <a:latin typeface="Futura T OT" panose="02000000000000000000" pitchFamily="50" charset="0"/>
              </a:rPr>
              <a:t>. The clock source can be </a:t>
            </a:r>
            <a:r>
              <a:rPr lang="en-US" sz="2800" dirty="0">
                <a:solidFill>
                  <a:srgbClr val="FF0000"/>
                </a:solidFill>
                <a:latin typeface="Futura T OT" panose="02000000000000000000" pitchFamily="50" charset="0"/>
              </a:rPr>
              <a:t>internal(for timers)</a:t>
            </a:r>
            <a:r>
              <a:rPr lang="en-US" sz="2800" dirty="0">
                <a:latin typeface="Futura T OT" panose="02000000000000000000" pitchFamily="50" charset="0"/>
              </a:rPr>
              <a:t> or </a:t>
            </a:r>
            <a:r>
              <a:rPr lang="en-US" sz="2800" dirty="0">
                <a:solidFill>
                  <a:srgbClr val="FF0000"/>
                </a:solidFill>
                <a:latin typeface="Futura T OT" panose="02000000000000000000" pitchFamily="50" charset="0"/>
              </a:rPr>
              <a:t>external(for counters)</a:t>
            </a:r>
            <a:r>
              <a:rPr lang="en-US" sz="2800" dirty="0">
                <a:latin typeface="Futura T OT" panose="02000000000000000000" pitchFamily="50" charset="0"/>
              </a:rPr>
              <a:t>.</a:t>
            </a:r>
            <a:endParaRPr lang="en-US" sz="2800" dirty="0">
              <a:solidFill>
                <a:srgbClr val="FF0000"/>
              </a:solidFill>
              <a:latin typeface="Futura T OT" panose="02000000000000000000" pitchFamily="50" charset="0"/>
            </a:endParaRPr>
          </a:p>
        </p:txBody>
      </p:sp>
    </p:spTree>
    <p:extLst>
      <p:ext uri="{BB962C8B-B14F-4D97-AF65-F5344CB8AC3E}">
        <p14:creationId xmlns:p14="http://schemas.microsoft.com/office/powerpoint/2010/main" val="337242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01F007-6EF6-14F9-4F4A-F0F4E227D8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851B33-D906-4175-DACE-016D258DC3DD}"/>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88C2F0CF-24C8-4ECC-4F40-0D0ABAD183CD}"/>
              </a:ext>
            </a:extLst>
          </p:cNvPr>
          <p:cNvSpPr txBox="1"/>
          <p:nvPr/>
        </p:nvSpPr>
        <p:spPr>
          <a:xfrm>
            <a:off x="497793" y="1733414"/>
            <a:ext cx="6708398" cy="523220"/>
          </a:xfrm>
          <a:prstGeom prst="rect">
            <a:avLst/>
          </a:prstGeom>
          <a:noFill/>
        </p:spPr>
        <p:txBody>
          <a:bodyPr wrap="square" rtlCol="0">
            <a:spAutoFit/>
          </a:bodyPr>
          <a:lstStyle/>
          <a:p>
            <a:r>
              <a:rPr lang="en-US" sz="2800" dirty="0" err="1">
                <a:latin typeface="Futura T OT" panose="02000000000000000000" pitchFamily="50" charset="0"/>
              </a:rPr>
              <a:t>TCNTn</a:t>
            </a:r>
            <a:r>
              <a:rPr lang="en-US" sz="2800" dirty="0">
                <a:latin typeface="Futura T OT" panose="02000000000000000000" pitchFamily="50" charset="0"/>
              </a:rPr>
              <a:t>: Timer/Counter Register</a:t>
            </a:r>
            <a:endParaRPr lang="en-US" sz="2800" dirty="0">
              <a:solidFill>
                <a:srgbClr val="FF0000"/>
              </a:solidFill>
              <a:latin typeface="Futura T OT" panose="02000000000000000000" pitchFamily="50" charset="0"/>
            </a:endParaRPr>
          </a:p>
        </p:txBody>
      </p:sp>
      <p:pic>
        <p:nvPicPr>
          <p:cNvPr id="4" name="Picture 3">
            <a:extLst>
              <a:ext uri="{FF2B5EF4-FFF2-40B4-BE49-F238E27FC236}">
                <a16:creationId xmlns:a16="http://schemas.microsoft.com/office/drawing/2014/main" id="{64B9071C-065B-99A0-5B6C-9E0AC58FE95C}"/>
              </a:ext>
            </a:extLst>
          </p:cNvPr>
          <p:cNvPicPr>
            <a:picLocks noChangeAspect="1"/>
          </p:cNvPicPr>
          <p:nvPr/>
        </p:nvPicPr>
        <p:blipFill>
          <a:blip r:embed="rId2"/>
          <a:stretch>
            <a:fillRect/>
          </a:stretch>
        </p:blipFill>
        <p:spPr>
          <a:xfrm>
            <a:off x="7703984" y="584775"/>
            <a:ext cx="4198984" cy="6195597"/>
          </a:xfrm>
          <a:prstGeom prst="rect">
            <a:avLst/>
          </a:prstGeom>
        </p:spPr>
      </p:pic>
      <p:sp>
        <p:nvSpPr>
          <p:cNvPr id="6" name="TextBox 5">
            <a:extLst>
              <a:ext uri="{FF2B5EF4-FFF2-40B4-BE49-F238E27FC236}">
                <a16:creationId xmlns:a16="http://schemas.microsoft.com/office/drawing/2014/main" id="{20C77100-25B5-44C1-BBF9-1886C437631F}"/>
              </a:ext>
            </a:extLst>
          </p:cNvPr>
          <p:cNvSpPr txBox="1"/>
          <p:nvPr/>
        </p:nvSpPr>
        <p:spPr>
          <a:xfrm>
            <a:off x="497793" y="2550832"/>
            <a:ext cx="6708398" cy="523220"/>
          </a:xfrm>
          <a:prstGeom prst="rect">
            <a:avLst/>
          </a:prstGeom>
          <a:noFill/>
        </p:spPr>
        <p:txBody>
          <a:bodyPr wrap="square" rtlCol="0">
            <a:spAutoFit/>
          </a:bodyPr>
          <a:lstStyle/>
          <a:p>
            <a:r>
              <a:rPr lang="en-US" sz="2800" dirty="0" err="1">
                <a:latin typeface="Futura T OT" panose="02000000000000000000" pitchFamily="50" charset="0"/>
              </a:rPr>
              <a:t>TOVn</a:t>
            </a:r>
            <a:r>
              <a:rPr lang="en-US" sz="2800" dirty="0">
                <a:latin typeface="Futura T OT" panose="02000000000000000000" pitchFamily="50" charset="0"/>
              </a:rPr>
              <a:t>: Timer Overflow </a:t>
            </a:r>
            <a:endParaRPr lang="en-US" sz="2800" dirty="0">
              <a:solidFill>
                <a:srgbClr val="FF0000"/>
              </a:solidFill>
              <a:latin typeface="Futura T OT" panose="02000000000000000000" pitchFamily="50" charset="0"/>
            </a:endParaRPr>
          </a:p>
        </p:txBody>
      </p:sp>
      <p:sp>
        <p:nvSpPr>
          <p:cNvPr id="7" name="TextBox 6">
            <a:extLst>
              <a:ext uri="{FF2B5EF4-FFF2-40B4-BE49-F238E27FC236}">
                <a16:creationId xmlns:a16="http://schemas.microsoft.com/office/drawing/2014/main" id="{01B27590-AEBA-C418-2ABE-AB2AAA732CDD}"/>
              </a:ext>
            </a:extLst>
          </p:cNvPr>
          <p:cNvSpPr txBox="1"/>
          <p:nvPr/>
        </p:nvSpPr>
        <p:spPr>
          <a:xfrm>
            <a:off x="497793" y="3368250"/>
            <a:ext cx="6708398" cy="523220"/>
          </a:xfrm>
          <a:prstGeom prst="rect">
            <a:avLst/>
          </a:prstGeom>
          <a:noFill/>
        </p:spPr>
        <p:txBody>
          <a:bodyPr wrap="square" rtlCol="0">
            <a:spAutoFit/>
          </a:bodyPr>
          <a:lstStyle/>
          <a:p>
            <a:r>
              <a:rPr lang="en-US" sz="2800" dirty="0" err="1">
                <a:latin typeface="Futura T OT" panose="02000000000000000000" pitchFamily="50" charset="0"/>
              </a:rPr>
              <a:t>TCCRn</a:t>
            </a:r>
            <a:r>
              <a:rPr lang="en-US" sz="2800" dirty="0">
                <a:latin typeface="Futura T OT" panose="02000000000000000000" pitchFamily="50" charset="0"/>
              </a:rPr>
              <a:t>: Timer/Counter control register</a:t>
            </a:r>
            <a:endParaRPr lang="en-US" sz="2800" dirty="0">
              <a:solidFill>
                <a:srgbClr val="FF0000"/>
              </a:solidFill>
              <a:latin typeface="Futura T OT" panose="02000000000000000000" pitchFamily="50" charset="0"/>
            </a:endParaRPr>
          </a:p>
        </p:txBody>
      </p:sp>
      <p:sp>
        <p:nvSpPr>
          <p:cNvPr id="8" name="TextBox 7">
            <a:extLst>
              <a:ext uri="{FF2B5EF4-FFF2-40B4-BE49-F238E27FC236}">
                <a16:creationId xmlns:a16="http://schemas.microsoft.com/office/drawing/2014/main" id="{4C9FC9BE-6507-EBCF-D4EE-51F7640534B6}"/>
              </a:ext>
            </a:extLst>
          </p:cNvPr>
          <p:cNvSpPr txBox="1"/>
          <p:nvPr/>
        </p:nvSpPr>
        <p:spPr>
          <a:xfrm>
            <a:off x="497793" y="4185668"/>
            <a:ext cx="6708398" cy="523220"/>
          </a:xfrm>
          <a:prstGeom prst="rect">
            <a:avLst/>
          </a:prstGeom>
          <a:noFill/>
        </p:spPr>
        <p:txBody>
          <a:bodyPr wrap="square" rtlCol="0">
            <a:spAutoFit/>
          </a:bodyPr>
          <a:lstStyle/>
          <a:p>
            <a:r>
              <a:rPr lang="en-US" sz="2800" dirty="0" err="1">
                <a:latin typeface="Futura T OT" panose="02000000000000000000" pitchFamily="50" charset="0"/>
              </a:rPr>
              <a:t>OCRn</a:t>
            </a:r>
            <a:r>
              <a:rPr lang="en-US" sz="2800" dirty="0">
                <a:latin typeface="Futura T OT" panose="02000000000000000000" pitchFamily="50" charset="0"/>
              </a:rPr>
              <a:t>: Output Compare Register</a:t>
            </a:r>
            <a:endParaRPr lang="en-US" sz="2800" dirty="0">
              <a:solidFill>
                <a:srgbClr val="FF0000"/>
              </a:solidFill>
              <a:latin typeface="Futura T OT" panose="02000000000000000000" pitchFamily="50" charset="0"/>
            </a:endParaRPr>
          </a:p>
        </p:txBody>
      </p:sp>
      <p:sp>
        <p:nvSpPr>
          <p:cNvPr id="9" name="TextBox 8">
            <a:extLst>
              <a:ext uri="{FF2B5EF4-FFF2-40B4-BE49-F238E27FC236}">
                <a16:creationId xmlns:a16="http://schemas.microsoft.com/office/drawing/2014/main" id="{00DEF64F-4A0E-2F91-E0C4-040847799961}"/>
              </a:ext>
            </a:extLst>
          </p:cNvPr>
          <p:cNvSpPr txBox="1"/>
          <p:nvPr/>
        </p:nvSpPr>
        <p:spPr>
          <a:xfrm>
            <a:off x="497793" y="5003086"/>
            <a:ext cx="6708398" cy="523220"/>
          </a:xfrm>
          <a:prstGeom prst="rect">
            <a:avLst/>
          </a:prstGeom>
          <a:noFill/>
        </p:spPr>
        <p:txBody>
          <a:bodyPr wrap="square" rtlCol="0">
            <a:spAutoFit/>
          </a:bodyPr>
          <a:lstStyle/>
          <a:p>
            <a:r>
              <a:rPr lang="en-US" sz="2800" dirty="0" err="1">
                <a:latin typeface="Futura T OT" panose="02000000000000000000" pitchFamily="50" charset="0"/>
              </a:rPr>
              <a:t>OCFn</a:t>
            </a:r>
            <a:r>
              <a:rPr lang="en-US" sz="2800" dirty="0">
                <a:latin typeface="Futura T OT" panose="02000000000000000000" pitchFamily="50" charset="0"/>
              </a:rPr>
              <a:t>: Output Compare Flag</a:t>
            </a:r>
            <a:endParaRPr lang="en-US" sz="2800" dirty="0">
              <a:solidFill>
                <a:srgbClr val="FF0000"/>
              </a:solidFill>
              <a:latin typeface="Futura T OT" panose="02000000000000000000" pitchFamily="50" charset="0"/>
            </a:endParaRPr>
          </a:p>
        </p:txBody>
      </p:sp>
    </p:spTree>
    <p:extLst>
      <p:ext uri="{BB962C8B-B14F-4D97-AF65-F5344CB8AC3E}">
        <p14:creationId xmlns:p14="http://schemas.microsoft.com/office/powerpoint/2010/main" val="26998741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704992-4B46-A129-F0FD-FC91015ADE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CF7DAA-E282-50CC-0841-93A9F2C2FCFF}"/>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F4EF2599-FF01-6588-FE8B-7B9959D5CC41}"/>
              </a:ext>
            </a:extLst>
          </p:cNvPr>
          <p:cNvSpPr txBox="1"/>
          <p:nvPr/>
        </p:nvSpPr>
        <p:spPr>
          <a:xfrm>
            <a:off x="497793" y="1733414"/>
            <a:ext cx="6708398" cy="523220"/>
          </a:xfrm>
          <a:prstGeom prst="rect">
            <a:avLst/>
          </a:prstGeom>
          <a:noFill/>
        </p:spPr>
        <p:txBody>
          <a:bodyPr wrap="square" rtlCol="0">
            <a:spAutoFit/>
          </a:bodyPr>
          <a:lstStyle/>
          <a:p>
            <a:r>
              <a:rPr lang="en-US" sz="2800" dirty="0" err="1">
                <a:latin typeface="Futura T OT" panose="02000000000000000000" pitchFamily="50" charset="0"/>
              </a:rPr>
              <a:t>TCNTn</a:t>
            </a:r>
            <a:r>
              <a:rPr lang="en-US" sz="2800" dirty="0">
                <a:latin typeface="Futura T OT" panose="02000000000000000000" pitchFamily="50" charset="0"/>
              </a:rPr>
              <a:t>: Timer/Counter Register</a:t>
            </a:r>
            <a:endParaRPr lang="en-US" sz="2800" dirty="0">
              <a:solidFill>
                <a:srgbClr val="FF0000"/>
              </a:solidFill>
              <a:latin typeface="Futura T OT" panose="02000000000000000000" pitchFamily="50" charset="0"/>
            </a:endParaRPr>
          </a:p>
        </p:txBody>
      </p:sp>
      <p:sp>
        <p:nvSpPr>
          <p:cNvPr id="6" name="TextBox 5">
            <a:extLst>
              <a:ext uri="{FF2B5EF4-FFF2-40B4-BE49-F238E27FC236}">
                <a16:creationId xmlns:a16="http://schemas.microsoft.com/office/drawing/2014/main" id="{5EF980FF-7D37-2933-2428-BA2C2DAB26AF}"/>
              </a:ext>
            </a:extLst>
          </p:cNvPr>
          <p:cNvSpPr txBox="1"/>
          <p:nvPr/>
        </p:nvSpPr>
        <p:spPr>
          <a:xfrm>
            <a:off x="497793" y="2550832"/>
            <a:ext cx="6708398" cy="523220"/>
          </a:xfrm>
          <a:prstGeom prst="rect">
            <a:avLst/>
          </a:prstGeom>
          <a:noFill/>
        </p:spPr>
        <p:txBody>
          <a:bodyPr wrap="square" rtlCol="0">
            <a:spAutoFit/>
          </a:bodyPr>
          <a:lstStyle/>
          <a:p>
            <a:r>
              <a:rPr lang="en-US" sz="2800" dirty="0" err="1">
                <a:latin typeface="Futura T OT" panose="02000000000000000000" pitchFamily="50" charset="0"/>
              </a:rPr>
              <a:t>TOVn</a:t>
            </a:r>
            <a:r>
              <a:rPr lang="en-US" sz="2800" dirty="0">
                <a:latin typeface="Futura T OT" panose="02000000000000000000" pitchFamily="50" charset="0"/>
              </a:rPr>
              <a:t>: Timer Overflow </a:t>
            </a:r>
            <a:endParaRPr lang="en-US" sz="2800" dirty="0">
              <a:solidFill>
                <a:srgbClr val="FF0000"/>
              </a:solidFill>
              <a:latin typeface="Futura T OT" panose="02000000000000000000" pitchFamily="50" charset="0"/>
            </a:endParaRPr>
          </a:p>
        </p:txBody>
      </p:sp>
      <p:sp>
        <p:nvSpPr>
          <p:cNvPr id="7" name="TextBox 6">
            <a:extLst>
              <a:ext uri="{FF2B5EF4-FFF2-40B4-BE49-F238E27FC236}">
                <a16:creationId xmlns:a16="http://schemas.microsoft.com/office/drawing/2014/main" id="{778539CF-C126-B19A-6A70-9BA8FEB46381}"/>
              </a:ext>
            </a:extLst>
          </p:cNvPr>
          <p:cNvSpPr txBox="1"/>
          <p:nvPr/>
        </p:nvSpPr>
        <p:spPr>
          <a:xfrm>
            <a:off x="497793" y="3368250"/>
            <a:ext cx="6708398" cy="523220"/>
          </a:xfrm>
          <a:prstGeom prst="rect">
            <a:avLst/>
          </a:prstGeom>
          <a:noFill/>
        </p:spPr>
        <p:txBody>
          <a:bodyPr wrap="square" rtlCol="0">
            <a:spAutoFit/>
          </a:bodyPr>
          <a:lstStyle/>
          <a:p>
            <a:r>
              <a:rPr lang="en-US" sz="2800" dirty="0" err="1">
                <a:latin typeface="Futura T OT" panose="02000000000000000000" pitchFamily="50" charset="0"/>
              </a:rPr>
              <a:t>TCCRn</a:t>
            </a:r>
            <a:r>
              <a:rPr lang="en-US" sz="2800" dirty="0">
                <a:latin typeface="Futura T OT" panose="02000000000000000000" pitchFamily="50" charset="0"/>
              </a:rPr>
              <a:t>: Timer/Counter control register</a:t>
            </a:r>
            <a:endParaRPr lang="en-US" sz="2800" dirty="0">
              <a:solidFill>
                <a:srgbClr val="FF0000"/>
              </a:solidFill>
              <a:latin typeface="Futura T OT" panose="02000000000000000000" pitchFamily="50" charset="0"/>
            </a:endParaRPr>
          </a:p>
        </p:txBody>
      </p:sp>
      <p:sp>
        <p:nvSpPr>
          <p:cNvPr id="8" name="TextBox 7">
            <a:extLst>
              <a:ext uri="{FF2B5EF4-FFF2-40B4-BE49-F238E27FC236}">
                <a16:creationId xmlns:a16="http://schemas.microsoft.com/office/drawing/2014/main" id="{681BFB5A-DE1A-BF76-7054-2AE0CF85EEA9}"/>
              </a:ext>
            </a:extLst>
          </p:cNvPr>
          <p:cNvSpPr txBox="1"/>
          <p:nvPr/>
        </p:nvSpPr>
        <p:spPr>
          <a:xfrm>
            <a:off x="497793" y="4185668"/>
            <a:ext cx="6708398" cy="523220"/>
          </a:xfrm>
          <a:prstGeom prst="rect">
            <a:avLst/>
          </a:prstGeom>
          <a:noFill/>
        </p:spPr>
        <p:txBody>
          <a:bodyPr wrap="square" rtlCol="0">
            <a:spAutoFit/>
          </a:bodyPr>
          <a:lstStyle/>
          <a:p>
            <a:r>
              <a:rPr lang="en-US" sz="2800" dirty="0" err="1">
                <a:latin typeface="Futura T OT" panose="02000000000000000000" pitchFamily="50" charset="0"/>
              </a:rPr>
              <a:t>OCRn</a:t>
            </a:r>
            <a:r>
              <a:rPr lang="en-US" sz="2800" dirty="0">
                <a:latin typeface="Futura T OT" panose="02000000000000000000" pitchFamily="50" charset="0"/>
              </a:rPr>
              <a:t>: Output Compare Register</a:t>
            </a:r>
            <a:endParaRPr lang="en-US" sz="2800" dirty="0">
              <a:solidFill>
                <a:srgbClr val="FF0000"/>
              </a:solidFill>
              <a:latin typeface="Futura T OT" panose="02000000000000000000" pitchFamily="50" charset="0"/>
            </a:endParaRPr>
          </a:p>
        </p:txBody>
      </p:sp>
      <p:sp>
        <p:nvSpPr>
          <p:cNvPr id="9" name="TextBox 8">
            <a:extLst>
              <a:ext uri="{FF2B5EF4-FFF2-40B4-BE49-F238E27FC236}">
                <a16:creationId xmlns:a16="http://schemas.microsoft.com/office/drawing/2014/main" id="{7E9D6FF5-A3ED-50B7-FBEE-5EA52B1F2398}"/>
              </a:ext>
            </a:extLst>
          </p:cNvPr>
          <p:cNvSpPr txBox="1"/>
          <p:nvPr/>
        </p:nvSpPr>
        <p:spPr>
          <a:xfrm>
            <a:off x="497793" y="5003086"/>
            <a:ext cx="6708398" cy="523220"/>
          </a:xfrm>
          <a:prstGeom prst="rect">
            <a:avLst/>
          </a:prstGeom>
          <a:noFill/>
        </p:spPr>
        <p:txBody>
          <a:bodyPr wrap="square" rtlCol="0">
            <a:spAutoFit/>
          </a:bodyPr>
          <a:lstStyle/>
          <a:p>
            <a:r>
              <a:rPr lang="en-US" sz="2800" dirty="0" err="1">
                <a:latin typeface="Futura T OT" panose="02000000000000000000" pitchFamily="50" charset="0"/>
              </a:rPr>
              <a:t>OCFn</a:t>
            </a:r>
            <a:r>
              <a:rPr lang="en-US" sz="2800" dirty="0">
                <a:latin typeface="Futura T OT" panose="02000000000000000000" pitchFamily="50" charset="0"/>
              </a:rPr>
              <a:t>: Output Compare Flag</a:t>
            </a:r>
            <a:endParaRPr lang="en-US" sz="2800" dirty="0">
              <a:solidFill>
                <a:srgbClr val="FF0000"/>
              </a:solidFill>
              <a:latin typeface="Futura T OT" panose="02000000000000000000" pitchFamily="50" charset="0"/>
            </a:endParaRPr>
          </a:p>
        </p:txBody>
      </p:sp>
      <p:pic>
        <p:nvPicPr>
          <p:cNvPr id="10" name="Picture 9">
            <a:extLst>
              <a:ext uri="{FF2B5EF4-FFF2-40B4-BE49-F238E27FC236}">
                <a16:creationId xmlns:a16="http://schemas.microsoft.com/office/drawing/2014/main" id="{915DA79E-710F-6824-DC84-CF402659C12A}"/>
              </a:ext>
            </a:extLst>
          </p:cNvPr>
          <p:cNvPicPr>
            <a:picLocks noChangeAspect="1"/>
          </p:cNvPicPr>
          <p:nvPr/>
        </p:nvPicPr>
        <p:blipFill>
          <a:blip r:embed="rId2"/>
          <a:stretch>
            <a:fillRect/>
          </a:stretch>
        </p:blipFill>
        <p:spPr>
          <a:xfrm>
            <a:off x="0" y="1331694"/>
            <a:ext cx="12192000" cy="5436358"/>
          </a:xfrm>
          <a:prstGeom prst="rect">
            <a:avLst/>
          </a:prstGeom>
        </p:spPr>
      </p:pic>
      <p:sp>
        <p:nvSpPr>
          <p:cNvPr id="11" name="TextBox 10">
            <a:extLst>
              <a:ext uri="{FF2B5EF4-FFF2-40B4-BE49-F238E27FC236}">
                <a16:creationId xmlns:a16="http://schemas.microsoft.com/office/drawing/2014/main" id="{CD84A161-DECE-EEF8-8BA6-8FFDE101A88A}"/>
              </a:ext>
            </a:extLst>
          </p:cNvPr>
          <p:cNvSpPr txBox="1"/>
          <p:nvPr/>
        </p:nvSpPr>
        <p:spPr>
          <a:xfrm>
            <a:off x="706556" y="771748"/>
            <a:ext cx="3103863"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programming</a:t>
            </a:r>
            <a:endParaRPr lang="en-US" sz="2800" dirty="0">
              <a:solidFill>
                <a:srgbClr val="4472C4"/>
              </a:solidFill>
              <a:latin typeface="Futura T OT" panose="02000000000000000000" pitchFamily="50" charset="0"/>
            </a:endParaRPr>
          </a:p>
        </p:txBody>
      </p:sp>
    </p:spTree>
    <p:extLst>
      <p:ext uri="{BB962C8B-B14F-4D97-AF65-F5344CB8AC3E}">
        <p14:creationId xmlns:p14="http://schemas.microsoft.com/office/powerpoint/2010/main" val="2951726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17630C4-8FE4-F97E-C6BC-3E223B5544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F15153-1385-2307-1DA1-49FF33B7401B}"/>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0B0168BE-AE2E-EE9D-8D4D-91AF5F1F9679}"/>
              </a:ext>
            </a:extLst>
          </p:cNvPr>
          <p:cNvSpPr txBox="1"/>
          <p:nvPr/>
        </p:nvSpPr>
        <p:spPr>
          <a:xfrm>
            <a:off x="706556" y="1296059"/>
            <a:ext cx="764868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TCNT0</a:t>
            </a:r>
            <a:r>
              <a:rPr lang="en-US" sz="2800" dirty="0">
                <a:latin typeface="Futura T OT" panose="02000000000000000000" pitchFamily="50" charset="0"/>
              </a:rPr>
              <a:t>: Timer/Counter Register0 is 8-bit register</a:t>
            </a:r>
            <a:endParaRPr lang="en-US" sz="2800" dirty="0">
              <a:solidFill>
                <a:srgbClr val="FF0000"/>
              </a:solidFill>
              <a:latin typeface="Futura T OT" panose="02000000000000000000" pitchFamily="50" charset="0"/>
            </a:endParaRPr>
          </a:p>
        </p:txBody>
      </p:sp>
      <p:sp>
        <p:nvSpPr>
          <p:cNvPr id="8" name="TextBox 7">
            <a:extLst>
              <a:ext uri="{FF2B5EF4-FFF2-40B4-BE49-F238E27FC236}">
                <a16:creationId xmlns:a16="http://schemas.microsoft.com/office/drawing/2014/main" id="{CF321281-EB08-B4F8-707C-13DB95D1E55E}"/>
              </a:ext>
            </a:extLst>
          </p:cNvPr>
          <p:cNvSpPr txBox="1"/>
          <p:nvPr/>
        </p:nvSpPr>
        <p:spPr>
          <a:xfrm>
            <a:off x="706556" y="3093374"/>
            <a:ext cx="6708398"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TCCR0</a:t>
            </a:r>
            <a:r>
              <a:rPr lang="en-US" sz="2800" dirty="0">
                <a:latin typeface="Futura T OT" panose="02000000000000000000" pitchFamily="50" charset="0"/>
              </a:rPr>
              <a:t>: Timer/Counter Control Register</a:t>
            </a:r>
            <a:endParaRPr lang="en-US" sz="2800" dirty="0">
              <a:solidFill>
                <a:srgbClr val="FF0000"/>
              </a:solidFill>
              <a:latin typeface="Futura T OT" panose="02000000000000000000" pitchFamily="50" charset="0"/>
            </a:endParaRPr>
          </a:p>
        </p:txBody>
      </p:sp>
      <p:sp>
        <p:nvSpPr>
          <p:cNvPr id="3" name="TextBox 2">
            <a:extLst>
              <a:ext uri="{FF2B5EF4-FFF2-40B4-BE49-F238E27FC236}">
                <a16:creationId xmlns:a16="http://schemas.microsoft.com/office/drawing/2014/main" id="{9805A59E-5454-5358-E7F3-6EBBD43DA23C}"/>
              </a:ext>
            </a:extLst>
          </p:cNvPr>
          <p:cNvSpPr txBox="1"/>
          <p:nvPr/>
        </p:nvSpPr>
        <p:spPr>
          <a:xfrm>
            <a:off x="706556" y="771748"/>
            <a:ext cx="3103863"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programming</a:t>
            </a:r>
            <a:endParaRPr lang="en-US" sz="2800" dirty="0">
              <a:solidFill>
                <a:srgbClr val="4472C4"/>
              </a:solidFill>
              <a:latin typeface="Futura T OT" panose="02000000000000000000" pitchFamily="50" charset="0"/>
            </a:endParaRPr>
          </a:p>
        </p:txBody>
      </p:sp>
      <p:pic>
        <p:nvPicPr>
          <p:cNvPr id="11" name="Picture 10">
            <a:extLst>
              <a:ext uri="{FF2B5EF4-FFF2-40B4-BE49-F238E27FC236}">
                <a16:creationId xmlns:a16="http://schemas.microsoft.com/office/drawing/2014/main" id="{79ACD546-F030-724E-F3CD-65327F3FA09A}"/>
              </a:ext>
            </a:extLst>
          </p:cNvPr>
          <p:cNvPicPr>
            <a:picLocks noChangeAspect="1"/>
          </p:cNvPicPr>
          <p:nvPr/>
        </p:nvPicPr>
        <p:blipFill>
          <a:blip r:embed="rId2"/>
          <a:stretch>
            <a:fillRect/>
          </a:stretch>
        </p:blipFill>
        <p:spPr>
          <a:xfrm>
            <a:off x="2023749" y="1851477"/>
            <a:ext cx="8144502" cy="1209699"/>
          </a:xfrm>
          <a:prstGeom prst="rect">
            <a:avLst/>
          </a:prstGeom>
        </p:spPr>
      </p:pic>
      <p:pic>
        <p:nvPicPr>
          <p:cNvPr id="13" name="Picture 12">
            <a:extLst>
              <a:ext uri="{FF2B5EF4-FFF2-40B4-BE49-F238E27FC236}">
                <a16:creationId xmlns:a16="http://schemas.microsoft.com/office/drawing/2014/main" id="{13AF21D5-D3D9-CF05-2F06-4EB5215BFFF5}"/>
              </a:ext>
            </a:extLst>
          </p:cNvPr>
          <p:cNvPicPr>
            <a:picLocks noChangeAspect="1"/>
          </p:cNvPicPr>
          <p:nvPr/>
        </p:nvPicPr>
        <p:blipFill>
          <a:blip r:embed="rId3"/>
          <a:stretch>
            <a:fillRect/>
          </a:stretch>
        </p:blipFill>
        <p:spPr>
          <a:xfrm>
            <a:off x="1085415" y="3796825"/>
            <a:ext cx="10021168" cy="853514"/>
          </a:xfrm>
          <a:prstGeom prst="rect">
            <a:avLst/>
          </a:prstGeom>
        </p:spPr>
      </p:pic>
      <p:sp>
        <p:nvSpPr>
          <p:cNvPr id="14" name="TextBox 13">
            <a:extLst>
              <a:ext uri="{FF2B5EF4-FFF2-40B4-BE49-F238E27FC236}">
                <a16:creationId xmlns:a16="http://schemas.microsoft.com/office/drawing/2014/main" id="{B6BF652A-7FD8-64F2-9918-6F418ED66883}"/>
              </a:ext>
            </a:extLst>
          </p:cNvPr>
          <p:cNvSpPr txBox="1"/>
          <p:nvPr/>
        </p:nvSpPr>
        <p:spPr>
          <a:xfrm>
            <a:off x="706556" y="4890689"/>
            <a:ext cx="1060879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FOC0</a:t>
            </a:r>
            <a:r>
              <a:rPr lang="en-US" sz="2800" dirty="0">
                <a:latin typeface="Futura T OT" panose="02000000000000000000" pitchFamily="50" charset="0"/>
              </a:rPr>
              <a:t>: Force compare match: This is a </a:t>
            </a:r>
            <a:r>
              <a:rPr lang="en-US" sz="2800" dirty="0">
                <a:solidFill>
                  <a:srgbClr val="FF0000"/>
                </a:solidFill>
                <a:latin typeface="Futura T OT" panose="02000000000000000000" pitchFamily="50" charset="0"/>
              </a:rPr>
              <a:t>write-only bit</a:t>
            </a:r>
            <a:r>
              <a:rPr lang="en-US" sz="2800" dirty="0">
                <a:latin typeface="Futura T OT" panose="02000000000000000000" pitchFamily="50" charset="0"/>
              </a:rPr>
              <a:t>, which can be used while generating a wave. Writing 1 to it causes the wave generator to act </a:t>
            </a:r>
            <a:r>
              <a:rPr lang="en-US" sz="2800" dirty="0">
                <a:solidFill>
                  <a:srgbClr val="FF0000"/>
                </a:solidFill>
                <a:latin typeface="Futura T OT" panose="02000000000000000000" pitchFamily="50" charset="0"/>
              </a:rPr>
              <a:t>as if a compare match</a:t>
            </a:r>
            <a:r>
              <a:rPr lang="en-US" sz="2800" dirty="0">
                <a:latin typeface="Futura T OT" panose="02000000000000000000" pitchFamily="50" charset="0"/>
              </a:rPr>
              <a:t> had occurred.</a:t>
            </a:r>
            <a:endParaRPr lang="en-US" sz="2800" dirty="0">
              <a:solidFill>
                <a:srgbClr val="FF0000"/>
              </a:solidFill>
              <a:latin typeface="Futura T OT" panose="02000000000000000000" pitchFamily="50" charset="0"/>
            </a:endParaRPr>
          </a:p>
        </p:txBody>
      </p:sp>
    </p:spTree>
    <p:extLst>
      <p:ext uri="{BB962C8B-B14F-4D97-AF65-F5344CB8AC3E}">
        <p14:creationId xmlns:p14="http://schemas.microsoft.com/office/powerpoint/2010/main" val="31228801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C4C6EFB-E910-D781-6B3F-5DA76FE81A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224F71-1795-329A-4971-DAD565DD74DF}"/>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3" name="TextBox 2">
            <a:extLst>
              <a:ext uri="{FF2B5EF4-FFF2-40B4-BE49-F238E27FC236}">
                <a16:creationId xmlns:a16="http://schemas.microsoft.com/office/drawing/2014/main" id="{17A6D20D-A4CC-5D33-10BB-3962A0AA8A87}"/>
              </a:ext>
            </a:extLst>
          </p:cNvPr>
          <p:cNvSpPr txBox="1"/>
          <p:nvPr/>
        </p:nvSpPr>
        <p:spPr>
          <a:xfrm>
            <a:off x="706556" y="771748"/>
            <a:ext cx="3103863"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programming</a:t>
            </a:r>
          </a:p>
        </p:txBody>
      </p:sp>
      <p:pic>
        <p:nvPicPr>
          <p:cNvPr id="13" name="Picture 12">
            <a:extLst>
              <a:ext uri="{FF2B5EF4-FFF2-40B4-BE49-F238E27FC236}">
                <a16:creationId xmlns:a16="http://schemas.microsoft.com/office/drawing/2014/main" id="{80BB2D84-52F3-910E-D22A-AFB029494605}"/>
              </a:ext>
            </a:extLst>
          </p:cNvPr>
          <p:cNvPicPr>
            <a:picLocks noChangeAspect="1"/>
          </p:cNvPicPr>
          <p:nvPr/>
        </p:nvPicPr>
        <p:blipFill>
          <a:blip r:embed="rId2"/>
          <a:stretch>
            <a:fillRect/>
          </a:stretch>
        </p:blipFill>
        <p:spPr>
          <a:xfrm>
            <a:off x="1085416" y="1455036"/>
            <a:ext cx="10021168" cy="853514"/>
          </a:xfrm>
          <a:prstGeom prst="rect">
            <a:avLst/>
          </a:prstGeom>
        </p:spPr>
      </p:pic>
      <p:sp>
        <p:nvSpPr>
          <p:cNvPr id="14" name="TextBox 13">
            <a:extLst>
              <a:ext uri="{FF2B5EF4-FFF2-40B4-BE49-F238E27FC236}">
                <a16:creationId xmlns:a16="http://schemas.microsoft.com/office/drawing/2014/main" id="{D58EDFC1-AD96-903B-C9B8-D8E816E8D2E0}"/>
              </a:ext>
            </a:extLst>
          </p:cNvPr>
          <p:cNvSpPr txBox="1"/>
          <p:nvPr/>
        </p:nvSpPr>
        <p:spPr>
          <a:xfrm>
            <a:off x="706556" y="2468618"/>
            <a:ext cx="1060879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WGM00, WGM01</a:t>
            </a:r>
          </a:p>
        </p:txBody>
      </p:sp>
      <p:graphicFrame>
        <p:nvGraphicFramePr>
          <p:cNvPr id="4" name="Table 3">
            <a:extLst>
              <a:ext uri="{FF2B5EF4-FFF2-40B4-BE49-F238E27FC236}">
                <a16:creationId xmlns:a16="http://schemas.microsoft.com/office/drawing/2014/main" id="{E6DF7149-05BA-CF83-D8A2-4715E1E32BE4}"/>
              </a:ext>
            </a:extLst>
          </p:cNvPr>
          <p:cNvGraphicFramePr>
            <a:graphicFrameLocks noGrp="1"/>
          </p:cNvGraphicFramePr>
          <p:nvPr>
            <p:extLst>
              <p:ext uri="{D42A27DB-BD31-4B8C-83A1-F6EECF244321}">
                <p14:modId xmlns:p14="http://schemas.microsoft.com/office/powerpoint/2010/main" val="367663327"/>
              </p:ext>
            </p:extLst>
          </p:nvPr>
        </p:nvGraphicFramePr>
        <p:xfrm>
          <a:off x="3042918" y="3238388"/>
          <a:ext cx="6106161" cy="1854200"/>
        </p:xfrm>
        <a:graphic>
          <a:graphicData uri="http://schemas.openxmlformats.org/drawingml/2006/table">
            <a:tbl>
              <a:tblPr firstRow="1" bandRow="1">
                <a:tableStyleId>{5C22544A-7EE6-4342-B048-85BDC9FD1C3A}</a:tableStyleId>
              </a:tblPr>
              <a:tblGrid>
                <a:gridCol w="1122681">
                  <a:extLst>
                    <a:ext uri="{9D8B030D-6E8A-4147-A177-3AD203B41FA5}">
                      <a16:colId xmlns:a16="http://schemas.microsoft.com/office/drawing/2014/main" val="3459031170"/>
                    </a:ext>
                  </a:extLst>
                </a:gridCol>
                <a:gridCol w="1188720">
                  <a:extLst>
                    <a:ext uri="{9D8B030D-6E8A-4147-A177-3AD203B41FA5}">
                      <a16:colId xmlns:a16="http://schemas.microsoft.com/office/drawing/2014/main" val="712042315"/>
                    </a:ext>
                  </a:extLst>
                </a:gridCol>
                <a:gridCol w="3794760">
                  <a:extLst>
                    <a:ext uri="{9D8B030D-6E8A-4147-A177-3AD203B41FA5}">
                      <a16:colId xmlns:a16="http://schemas.microsoft.com/office/drawing/2014/main" val="3585836602"/>
                    </a:ext>
                  </a:extLst>
                </a:gridCol>
              </a:tblGrid>
              <a:tr h="370840">
                <a:tc>
                  <a:txBody>
                    <a:bodyPr/>
                    <a:lstStyle/>
                    <a:p>
                      <a:r>
                        <a:rPr lang="en-US" dirty="0">
                          <a:latin typeface="Futura T OT" panose="02000000000000000000" pitchFamily="50" charset="0"/>
                        </a:rPr>
                        <a:t>WGM00</a:t>
                      </a:r>
                    </a:p>
                  </a:txBody>
                  <a:tcPr/>
                </a:tc>
                <a:tc>
                  <a:txBody>
                    <a:bodyPr/>
                    <a:lstStyle/>
                    <a:p>
                      <a:r>
                        <a:rPr lang="en-US" dirty="0">
                          <a:latin typeface="Futura T OT" panose="02000000000000000000" pitchFamily="50" charset="0"/>
                        </a:rPr>
                        <a:t>WGM01</a:t>
                      </a:r>
                    </a:p>
                  </a:txBody>
                  <a:tcPr/>
                </a:tc>
                <a:tc>
                  <a:txBody>
                    <a:bodyPr/>
                    <a:lstStyle/>
                    <a:p>
                      <a:r>
                        <a:rPr lang="en-US" dirty="0">
                          <a:latin typeface="Futura T OT" panose="02000000000000000000" pitchFamily="50" charset="0"/>
                        </a:rPr>
                        <a:t>Timer0 mode selector bits</a:t>
                      </a:r>
                    </a:p>
                  </a:txBody>
                  <a:tcPr/>
                </a:tc>
                <a:extLst>
                  <a:ext uri="{0D108BD9-81ED-4DB2-BD59-A6C34878D82A}">
                    <a16:rowId xmlns:a16="http://schemas.microsoft.com/office/drawing/2014/main" val="1504529960"/>
                  </a:ext>
                </a:extLst>
              </a:tr>
              <a:tr h="370840">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Normal</a:t>
                      </a:r>
                    </a:p>
                  </a:txBody>
                  <a:tcPr/>
                </a:tc>
                <a:extLst>
                  <a:ext uri="{0D108BD9-81ED-4DB2-BD59-A6C34878D82A}">
                    <a16:rowId xmlns:a16="http://schemas.microsoft.com/office/drawing/2014/main" val="1841924852"/>
                  </a:ext>
                </a:extLst>
              </a:tr>
              <a:tr h="370840">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CTC (Clear Timer on Compare Match)</a:t>
                      </a:r>
                    </a:p>
                  </a:txBody>
                  <a:tcPr/>
                </a:tc>
                <a:extLst>
                  <a:ext uri="{0D108BD9-81ED-4DB2-BD59-A6C34878D82A}">
                    <a16:rowId xmlns:a16="http://schemas.microsoft.com/office/drawing/2014/main" val="461362115"/>
                  </a:ext>
                </a:extLst>
              </a:tr>
              <a:tr h="370840">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PWM, Phase correct</a:t>
                      </a:r>
                    </a:p>
                  </a:txBody>
                  <a:tcPr/>
                </a:tc>
                <a:extLst>
                  <a:ext uri="{0D108BD9-81ED-4DB2-BD59-A6C34878D82A}">
                    <a16:rowId xmlns:a16="http://schemas.microsoft.com/office/drawing/2014/main" val="3488095575"/>
                  </a:ext>
                </a:extLst>
              </a:tr>
              <a:tr h="370840">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Fast PWM</a:t>
                      </a:r>
                    </a:p>
                  </a:txBody>
                  <a:tcPr/>
                </a:tc>
                <a:extLst>
                  <a:ext uri="{0D108BD9-81ED-4DB2-BD59-A6C34878D82A}">
                    <a16:rowId xmlns:a16="http://schemas.microsoft.com/office/drawing/2014/main" val="3313136030"/>
                  </a:ext>
                </a:extLst>
              </a:tr>
            </a:tbl>
          </a:graphicData>
        </a:graphic>
      </p:graphicFrame>
      <p:sp>
        <p:nvSpPr>
          <p:cNvPr id="6" name="TextBox 5">
            <a:extLst>
              <a:ext uri="{FF2B5EF4-FFF2-40B4-BE49-F238E27FC236}">
                <a16:creationId xmlns:a16="http://schemas.microsoft.com/office/drawing/2014/main" id="{39A39336-516B-4404-504A-FE7D100E7DDF}"/>
              </a:ext>
            </a:extLst>
          </p:cNvPr>
          <p:cNvSpPr txBox="1"/>
          <p:nvPr/>
        </p:nvSpPr>
        <p:spPr>
          <a:xfrm>
            <a:off x="706556" y="5402964"/>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COM01:00 </a:t>
            </a:r>
            <a:r>
              <a:rPr lang="en-US" sz="2800" dirty="0">
                <a:latin typeface="Futura T OT" panose="02000000000000000000" pitchFamily="50" charset="0"/>
              </a:rPr>
              <a:t>Compare Output Mode: These bits control the waveform generator.</a:t>
            </a:r>
            <a:endParaRPr lang="en-US" sz="2800" dirty="0">
              <a:solidFill>
                <a:srgbClr val="FF0000"/>
              </a:solidFill>
              <a:latin typeface="Futura T OT" panose="02000000000000000000" pitchFamily="50" charset="0"/>
            </a:endParaRPr>
          </a:p>
        </p:txBody>
      </p:sp>
    </p:spTree>
    <p:extLst>
      <p:ext uri="{BB962C8B-B14F-4D97-AF65-F5344CB8AC3E}">
        <p14:creationId xmlns:p14="http://schemas.microsoft.com/office/powerpoint/2010/main" val="3950456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A4E9ED-CAA9-D5B3-C690-10D1ECB2A7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0F3B64-3144-4C48-EFDD-19FEB4062E41}"/>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3" name="TextBox 2">
            <a:extLst>
              <a:ext uri="{FF2B5EF4-FFF2-40B4-BE49-F238E27FC236}">
                <a16:creationId xmlns:a16="http://schemas.microsoft.com/office/drawing/2014/main" id="{14A3D807-140B-0BE6-7FF3-A066F2B15ACA}"/>
              </a:ext>
            </a:extLst>
          </p:cNvPr>
          <p:cNvSpPr txBox="1"/>
          <p:nvPr/>
        </p:nvSpPr>
        <p:spPr>
          <a:xfrm>
            <a:off x="706556" y="483233"/>
            <a:ext cx="3103863"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programming</a:t>
            </a:r>
          </a:p>
        </p:txBody>
      </p:sp>
      <p:pic>
        <p:nvPicPr>
          <p:cNvPr id="13" name="Picture 12">
            <a:extLst>
              <a:ext uri="{FF2B5EF4-FFF2-40B4-BE49-F238E27FC236}">
                <a16:creationId xmlns:a16="http://schemas.microsoft.com/office/drawing/2014/main" id="{A0A6D269-1697-2BBB-E6AC-3399E5370430}"/>
              </a:ext>
            </a:extLst>
          </p:cNvPr>
          <p:cNvPicPr>
            <a:picLocks noChangeAspect="1"/>
          </p:cNvPicPr>
          <p:nvPr/>
        </p:nvPicPr>
        <p:blipFill>
          <a:blip r:embed="rId2"/>
          <a:stretch>
            <a:fillRect/>
          </a:stretch>
        </p:blipFill>
        <p:spPr>
          <a:xfrm>
            <a:off x="1085416" y="1091884"/>
            <a:ext cx="10021168" cy="853514"/>
          </a:xfrm>
          <a:prstGeom prst="rect">
            <a:avLst/>
          </a:prstGeom>
        </p:spPr>
      </p:pic>
      <p:sp>
        <p:nvSpPr>
          <p:cNvPr id="14" name="TextBox 13">
            <a:extLst>
              <a:ext uri="{FF2B5EF4-FFF2-40B4-BE49-F238E27FC236}">
                <a16:creationId xmlns:a16="http://schemas.microsoft.com/office/drawing/2014/main" id="{31AB879D-6C75-1813-64EE-57CE44B63295}"/>
              </a:ext>
            </a:extLst>
          </p:cNvPr>
          <p:cNvSpPr txBox="1"/>
          <p:nvPr/>
        </p:nvSpPr>
        <p:spPr>
          <a:xfrm>
            <a:off x="706556" y="2052893"/>
            <a:ext cx="1060879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CS02:00</a:t>
            </a:r>
          </a:p>
        </p:txBody>
      </p:sp>
      <p:graphicFrame>
        <p:nvGraphicFramePr>
          <p:cNvPr id="4" name="Table 3">
            <a:extLst>
              <a:ext uri="{FF2B5EF4-FFF2-40B4-BE49-F238E27FC236}">
                <a16:creationId xmlns:a16="http://schemas.microsoft.com/office/drawing/2014/main" id="{3314BFA7-0D36-8995-7CD8-E79B326985BB}"/>
              </a:ext>
            </a:extLst>
          </p:cNvPr>
          <p:cNvGraphicFramePr>
            <a:graphicFrameLocks noGrp="1"/>
          </p:cNvGraphicFramePr>
          <p:nvPr>
            <p:extLst>
              <p:ext uri="{D42A27DB-BD31-4B8C-83A1-F6EECF244321}">
                <p14:modId xmlns:p14="http://schemas.microsoft.com/office/powerpoint/2010/main" val="2030186059"/>
              </p:ext>
            </p:extLst>
          </p:nvPr>
        </p:nvGraphicFramePr>
        <p:xfrm>
          <a:off x="3042918" y="2683608"/>
          <a:ext cx="6106161" cy="3876040"/>
        </p:xfrm>
        <a:graphic>
          <a:graphicData uri="http://schemas.openxmlformats.org/drawingml/2006/table">
            <a:tbl>
              <a:tblPr firstRow="1" bandRow="1">
                <a:tableStyleId>{5C22544A-7EE6-4342-B048-85BDC9FD1C3A}</a:tableStyleId>
              </a:tblPr>
              <a:tblGrid>
                <a:gridCol w="948322">
                  <a:extLst>
                    <a:ext uri="{9D8B030D-6E8A-4147-A177-3AD203B41FA5}">
                      <a16:colId xmlns:a16="http://schemas.microsoft.com/office/drawing/2014/main" val="3459031170"/>
                    </a:ext>
                  </a:extLst>
                </a:gridCol>
                <a:gridCol w="948322">
                  <a:extLst>
                    <a:ext uri="{9D8B030D-6E8A-4147-A177-3AD203B41FA5}">
                      <a16:colId xmlns:a16="http://schemas.microsoft.com/office/drawing/2014/main" val="2958608911"/>
                    </a:ext>
                  </a:extLst>
                </a:gridCol>
                <a:gridCol w="1004105">
                  <a:extLst>
                    <a:ext uri="{9D8B030D-6E8A-4147-A177-3AD203B41FA5}">
                      <a16:colId xmlns:a16="http://schemas.microsoft.com/office/drawing/2014/main" val="712042315"/>
                    </a:ext>
                  </a:extLst>
                </a:gridCol>
                <a:gridCol w="3205412">
                  <a:extLst>
                    <a:ext uri="{9D8B030D-6E8A-4147-A177-3AD203B41FA5}">
                      <a16:colId xmlns:a16="http://schemas.microsoft.com/office/drawing/2014/main" val="3585836602"/>
                    </a:ext>
                  </a:extLst>
                </a:gridCol>
              </a:tblGrid>
              <a:tr h="370840">
                <a:tc>
                  <a:txBody>
                    <a:bodyPr/>
                    <a:lstStyle/>
                    <a:p>
                      <a:r>
                        <a:rPr lang="en-US" dirty="0">
                          <a:latin typeface="Futura T OT" panose="02000000000000000000" pitchFamily="50" charset="0"/>
                        </a:rPr>
                        <a:t>D2</a:t>
                      </a:r>
                    </a:p>
                  </a:txBody>
                  <a:tcPr/>
                </a:tc>
                <a:tc>
                  <a:txBody>
                    <a:bodyPr/>
                    <a:lstStyle/>
                    <a:p>
                      <a:r>
                        <a:rPr lang="en-US" dirty="0">
                          <a:latin typeface="Futura T OT" panose="02000000000000000000" pitchFamily="50" charset="0"/>
                        </a:rPr>
                        <a:t>D1</a:t>
                      </a:r>
                    </a:p>
                  </a:txBody>
                  <a:tcPr/>
                </a:tc>
                <a:tc>
                  <a:txBody>
                    <a:bodyPr/>
                    <a:lstStyle/>
                    <a:p>
                      <a:r>
                        <a:rPr lang="en-US" dirty="0">
                          <a:latin typeface="Futura T OT" panose="02000000000000000000" pitchFamily="50" charset="0"/>
                        </a:rPr>
                        <a:t>D0</a:t>
                      </a:r>
                    </a:p>
                  </a:txBody>
                  <a:tcPr/>
                </a:tc>
                <a:tc>
                  <a:txBody>
                    <a:bodyPr/>
                    <a:lstStyle/>
                    <a:p>
                      <a:r>
                        <a:rPr lang="en-US" dirty="0">
                          <a:latin typeface="Futura T OT" panose="02000000000000000000" pitchFamily="50" charset="0"/>
                        </a:rPr>
                        <a:t>Timer0 Clock Selector</a:t>
                      </a:r>
                    </a:p>
                  </a:txBody>
                  <a:tcPr/>
                </a:tc>
                <a:extLst>
                  <a:ext uri="{0D108BD9-81ED-4DB2-BD59-A6C34878D82A}">
                    <a16:rowId xmlns:a16="http://schemas.microsoft.com/office/drawing/2014/main" val="1504529960"/>
                  </a:ext>
                </a:extLst>
              </a:tr>
              <a:tr h="370840">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No Clock Source</a:t>
                      </a:r>
                    </a:p>
                  </a:txBody>
                  <a:tcPr/>
                </a:tc>
                <a:extLst>
                  <a:ext uri="{0D108BD9-81ED-4DB2-BD59-A6C34878D82A}">
                    <a16:rowId xmlns:a16="http://schemas.microsoft.com/office/drawing/2014/main" val="1841924852"/>
                  </a:ext>
                </a:extLst>
              </a:tr>
              <a:tr h="370840">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1</a:t>
                      </a:r>
                    </a:p>
                  </a:txBody>
                  <a:tcPr/>
                </a:tc>
                <a:tc>
                  <a:txBody>
                    <a:bodyPr/>
                    <a:lstStyle/>
                    <a:p>
                      <a:r>
                        <a:rPr lang="en-US" dirty="0" err="1">
                          <a:latin typeface="Futura T OT" panose="02000000000000000000" pitchFamily="50" charset="0"/>
                        </a:rPr>
                        <a:t>Clk</a:t>
                      </a:r>
                      <a:r>
                        <a:rPr lang="en-US" dirty="0">
                          <a:latin typeface="Futura T OT" panose="02000000000000000000" pitchFamily="50" charset="0"/>
                        </a:rPr>
                        <a:t> (No </a:t>
                      </a:r>
                      <a:r>
                        <a:rPr lang="en-US" dirty="0" err="1">
                          <a:latin typeface="Futura T OT" panose="02000000000000000000" pitchFamily="50" charset="0"/>
                        </a:rPr>
                        <a:t>Prescaling</a:t>
                      </a:r>
                      <a:r>
                        <a:rPr lang="en-US" dirty="0">
                          <a:latin typeface="Futura T OT" panose="02000000000000000000" pitchFamily="50" charset="0"/>
                        </a:rPr>
                        <a:t>)</a:t>
                      </a:r>
                    </a:p>
                  </a:txBody>
                  <a:tcPr/>
                </a:tc>
                <a:extLst>
                  <a:ext uri="{0D108BD9-81ED-4DB2-BD59-A6C34878D82A}">
                    <a16:rowId xmlns:a16="http://schemas.microsoft.com/office/drawing/2014/main" val="461362115"/>
                  </a:ext>
                </a:extLst>
              </a:tr>
              <a:tr h="370840">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0</a:t>
                      </a:r>
                    </a:p>
                  </a:txBody>
                  <a:tcPr/>
                </a:tc>
                <a:tc>
                  <a:txBody>
                    <a:bodyPr/>
                    <a:lstStyle/>
                    <a:p>
                      <a:r>
                        <a:rPr lang="en-US" dirty="0" err="1">
                          <a:latin typeface="Futura T OT" panose="02000000000000000000" pitchFamily="50" charset="0"/>
                        </a:rPr>
                        <a:t>Clk</a:t>
                      </a:r>
                      <a:r>
                        <a:rPr lang="en-US" dirty="0">
                          <a:latin typeface="Futura T OT" panose="02000000000000000000" pitchFamily="50" charset="0"/>
                        </a:rPr>
                        <a:t>/8</a:t>
                      </a:r>
                    </a:p>
                  </a:txBody>
                  <a:tcPr/>
                </a:tc>
                <a:extLst>
                  <a:ext uri="{0D108BD9-81ED-4DB2-BD59-A6C34878D82A}">
                    <a16:rowId xmlns:a16="http://schemas.microsoft.com/office/drawing/2014/main" val="3488095575"/>
                  </a:ext>
                </a:extLst>
              </a:tr>
              <a:tr h="370840">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1</a:t>
                      </a:r>
                    </a:p>
                  </a:txBody>
                  <a:tcPr/>
                </a:tc>
                <a:tc>
                  <a:txBody>
                    <a:bodyPr/>
                    <a:lstStyle/>
                    <a:p>
                      <a:r>
                        <a:rPr lang="en-US" dirty="0" err="1">
                          <a:latin typeface="Futura T OT" panose="02000000000000000000" pitchFamily="50" charset="0"/>
                        </a:rPr>
                        <a:t>Clk</a:t>
                      </a:r>
                      <a:r>
                        <a:rPr lang="en-US" dirty="0">
                          <a:latin typeface="Futura T OT" panose="02000000000000000000" pitchFamily="50" charset="0"/>
                        </a:rPr>
                        <a:t>/64</a:t>
                      </a:r>
                    </a:p>
                  </a:txBody>
                  <a:tcPr/>
                </a:tc>
                <a:extLst>
                  <a:ext uri="{0D108BD9-81ED-4DB2-BD59-A6C34878D82A}">
                    <a16:rowId xmlns:a16="http://schemas.microsoft.com/office/drawing/2014/main" val="3313136030"/>
                  </a:ext>
                </a:extLst>
              </a:tr>
              <a:tr h="370840">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0</a:t>
                      </a:r>
                    </a:p>
                  </a:txBody>
                  <a:tcPr/>
                </a:tc>
                <a:tc>
                  <a:txBody>
                    <a:bodyPr/>
                    <a:lstStyle/>
                    <a:p>
                      <a:r>
                        <a:rPr lang="en-US" dirty="0" err="1">
                          <a:latin typeface="Futura T OT" panose="02000000000000000000" pitchFamily="50" charset="0"/>
                        </a:rPr>
                        <a:t>Clk</a:t>
                      </a:r>
                      <a:r>
                        <a:rPr lang="en-US" dirty="0">
                          <a:latin typeface="Futura T OT" panose="02000000000000000000" pitchFamily="50" charset="0"/>
                        </a:rPr>
                        <a:t>/256</a:t>
                      </a:r>
                    </a:p>
                  </a:txBody>
                  <a:tcPr/>
                </a:tc>
                <a:extLst>
                  <a:ext uri="{0D108BD9-81ED-4DB2-BD59-A6C34878D82A}">
                    <a16:rowId xmlns:a16="http://schemas.microsoft.com/office/drawing/2014/main" val="326851217"/>
                  </a:ext>
                </a:extLst>
              </a:tr>
              <a:tr h="370840">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1</a:t>
                      </a:r>
                    </a:p>
                  </a:txBody>
                  <a:tcPr/>
                </a:tc>
                <a:tc>
                  <a:txBody>
                    <a:bodyPr/>
                    <a:lstStyle/>
                    <a:p>
                      <a:r>
                        <a:rPr lang="en-US" dirty="0" err="1">
                          <a:latin typeface="Futura T OT" panose="02000000000000000000" pitchFamily="50" charset="0"/>
                        </a:rPr>
                        <a:t>Clk</a:t>
                      </a:r>
                      <a:r>
                        <a:rPr lang="en-US" dirty="0">
                          <a:latin typeface="Futura T OT" panose="02000000000000000000" pitchFamily="50" charset="0"/>
                        </a:rPr>
                        <a:t>/1024</a:t>
                      </a:r>
                    </a:p>
                  </a:txBody>
                  <a:tcPr/>
                </a:tc>
                <a:extLst>
                  <a:ext uri="{0D108BD9-81ED-4DB2-BD59-A6C34878D82A}">
                    <a16:rowId xmlns:a16="http://schemas.microsoft.com/office/drawing/2014/main" val="1114278325"/>
                  </a:ext>
                </a:extLst>
              </a:tr>
              <a:tr h="370840">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0</a:t>
                      </a:r>
                    </a:p>
                  </a:txBody>
                  <a:tcPr/>
                </a:tc>
                <a:tc>
                  <a:txBody>
                    <a:bodyPr/>
                    <a:lstStyle/>
                    <a:p>
                      <a:r>
                        <a:rPr lang="en-US" dirty="0">
                          <a:latin typeface="Futura T OT" panose="02000000000000000000" pitchFamily="50" charset="0"/>
                        </a:rPr>
                        <a:t>External clock source on T0 pin. Clock on falling edge.</a:t>
                      </a:r>
                    </a:p>
                  </a:txBody>
                  <a:tcPr/>
                </a:tc>
                <a:extLst>
                  <a:ext uri="{0D108BD9-81ED-4DB2-BD59-A6C34878D82A}">
                    <a16:rowId xmlns:a16="http://schemas.microsoft.com/office/drawing/2014/main" val="2529156933"/>
                  </a:ext>
                </a:extLst>
              </a:tr>
              <a:tr h="370840">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1</a:t>
                      </a:r>
                    </a:p>
                  </a:txBody>
                  <a:tcPr/>
                </a:tc>
                <a:tc>
                  <a:txBody>
                    <a:bodyPr/>
                    <a:lstStyle/>
                    <a:p>
                      <a:r>
                        <a:rPr lang="en-US" dirty="0">
                          <a:latin typeface="Futura T OT" panose="02000000000000000000" pitchFamily="50" charset="0"/>
                        </a:rPr>
                        <a:t>External clock source on T0 pin. Clock on rising edge.</a:t>
                      </a:r>
                    </a:p>
                  </a:txBody>
                  <a:tcPr/>
                </a:tc>
                <a:extLst>
                  <a:ext uri="{0D108BD9-81ED-4DB2-BD59-A6C34878D82A}">
                    <a16:rowId xmlns:a16="http://schemas.microsoft.com/office/drawing/2014/main" val="2662895109"/>
                  </a:ext>
                </a:extLst>
              </a:tr>
            </a:tbl>
          </a:graphicData>
        </a:graphic>
      </p:graphicFrame>
    </p:spTree>
    <p:extLst>
      <p:ext uri="{BB962C8B-B14F-4D97-AF65-F5344CB8AC3E}">
        <p14:creationId xmlns:p14="http://schemas.microsoft.com/office/powerpoint/2010/main" val="1135101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E213FE-ED34-0D28-21C9-75C769783C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5C686D-3AEC-ED27-4AFA-287CCFF40351}"/>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05E908DD-5E91-B29A-610E-AFB5FDACCD87}"/>
              </a:ext>
            </a:extLst>
          </p:cNvPr>
          <p:cNvSpPr txBox="1"/>
          <p:nvPr/>
        </p:nvSpPr>
        <p:spPr>
          <a:xfrm>
            <a:off x="706556" y="1348332"/>
            <a:ext cx="764868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TIFR</a:t>
            </a:r>
            <a:r>
              <a:rPr lang="en-US" sz="2800" dirty="0">
                <a:latin typeface="Futura T OT" panose="02000000000000000000" pitchFamily="50" charset="0"/>
              </a:rPr>
              <a:t>: Timer/Counter Interrupt Flag Register</a:t>
            </a:r>
            <a:endParaRPr lang="en-US" sz="2800" dirty="0">
              <a:solidFill>
                <a:srgbClr val="FF0000"/>
              </a:solidFill>
              <a:latin typeface="Futura T OT" panose="02000000000000000000" pitchFamily="50" charset="0"/>
            </a:endParaRPr>
          </a:p>
        </p:txBody>
      </p:sp>
      <p:sp>
        <p:nvSpPr>
          <p:cNvPr id="3" name="TextBox 2">
            <a:extLst>
              <a:ext uri="{FF2B5EF4-FFF2-40B4-BE49-F238E27FC236}">
                <a16:creationId xmlns:a16="http://schemas.microsoft.com/office/drawing/2014/main" id="{87412C48-89C1-581E-2776-4A67AAB77D00}"/>
              </a:ext>
            </a:extLst>
          </p:cNvPr>
          <p:cNvSpPr txBox="1"/>
          <p:nvPr/>
        </p:nvSpPr>
        <p:spPr>
          <a:xfrm>
            <a:off x="706556" y="771748"/>
            <a:ext cx="3103863"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programming</a:t>
            </a:r>
            <a:endParaRPr lang="en-US" sz="2800" dirty="0">
              <a:solidFill>
                <a:srgbClr val="4472C4"/>
              </a:solidFill>
              <a:latin typeface="Futura T OT" panose="02000000000000000000" pitchFamily="50" charset="0"/>
            </a:endParaRPr>
          </a:p>
        </p:txBody>
      </p:sp>
      <p:pic>
        <p:nvPicPr>
          <p:cNvPr id="6" name="Picture 5">
            <a:extLst>
              <a:ext uri="{FF2B5EF4-FFF2-40B4-BE49-F238E27FC236}">
                <a16:creationId xmlns:a16="http://schemas.microsoft.com/office/drawing/2014/main" id="{247C10A9-9017-8D51-271F-CE8F193C6B3E}"/>
              </a:ext>
            </a:extLst>
          </p:cNvPr>
          <p:cNvPicPr>
            <a:picLocks noChangeAspect="1"/>
          </p:cNvPicPr>
          <p:nvPr/>
        </p:nvPicPr>
        <p:blipFill>
          <a:blip r:embed="rId2"/>
          <a:stretch>
            <a:fillRect/>
          </a:stretch>
        </p:blipFill>
        <p:spPr>
          <a:xfrm>
            <a:off x="1085415" y="1942098"/>
            <a:ext cx="10021168" cy="861135"/>
          </a:xfrm>
          <a:prstGeom prst="rect">
            <a:avLst/>
          </a:prstGeom>
        </p:spPr>
      </p:pic>
      <p:sp>
        <p:nvSpPr>
          <p:cNvPr id="7" name="TextBox 6">
            <a:extLst>
              <a:ext uri="{FF2B5EF4-FFF2-40B4-BE49-F238E27FC236}">
                <a16:creationId xmlns:a16="http://schemas.microsoft.com/office/drawing/2014/main" id="{B0B44528-3B6C-0375-D3A5-4371D4027127}"/>
              </a:ext>
            </a:extLst>
          </p:cNvPr>
          <p:cNvSpPr txBox="1"/>
          <p:nvPr/>
        </p:nvSpPr>
        <p:spPr>
          <a:xfrm>
            <a:off x="706556" y="2968688"/>
            <a:ext cx="764868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TOV0</a:t>
            </a:r>
            <a:r>
              <a:rPr lang="en-US" sz="2800" dirty="0">
                <a:latin typeface="Futura T OT" panose="02000000000000000000" pitchFamily="50" charset="0"/>
              </a:rPr>
              <a:t>: Timer0 overflow flag bit</a:t>
            </a:r>
          </a:p>
          <a:p>
            <a:r>
              <a:rPr lang="en-US" sz="2800" dirty="0">
                <a:solidFill>
                  <a:srgbClr val="FF0000"/>
                </a:solidFill>
                <a:latin typeface="Futura T OT" panose="02000000000000000000" pitchFamily="50" charset="0"/>
              </a:rPr>
              <a:t>	 0 = Timer0 did not overflow</a:t>
            </a:r>
          </a:p>
          <a:p>
            <a:r>
              <a:rPr lang="en-US" sz="2800" dirty="0">
                <a:solidFill>
                  <a:srgbClr val="FF0000"/>
                </a:solidFill>
                <a:latin typeface="Futura T OT" panose="02000000000000000000" pitchFamily="50" charset="0"/>
              </a:rPr>
              <a:t>	 1 = Timer0 has overflowed (from $FF to $00)</a:t>
            </a:r>
          </a:p>
        </p:txBody>
      </p:sp>
      <p:sp>
        <p:nvSpPr>
          <p:cNvPr id="9" name="TextBox 8">
            <a:extLst>
              <a:ext uri="{FF2B5EF4-FFF2-40B4-BE49-F238E27FC236}">
                <a16:creationId xmlns:a16="http://schemas.microsoft.com/office/drawing/2014/main" id="{95162DAC-650C-01F2-CB59-17CEE71F55C2}"/>
              </a:ext>
            </a:extLst>
          </p:cNvPr>
          <p:cNvSpPr txBox="1"/>
          <p:nvPr/>
        </p:nvSpPr>
        <p:spPr>
          <a:xfrm>
            <a:off x="706556" y="4395870"/>
            <a:ext cx="764868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OCF0</a:t>
            </a:r>
            <a:r>
              <a:rPr lang="en-US" sz="2800" dirty="0">
                <a:latin typeface="Futura T OT" panose="02000000000000000000" pitchFamily="50" charset="0"/>
              </a:rPr>
              <a:t>: Timer0 output compare flag bit</a:t>
            </a:r>
          </a:p>
          <a:p>
            <a:r>
              <a:rPr lang="en-US" sz="2800" dirty="0">
                <a:solidFill>
                  <a:srgbClr val="FF0000"/>
                </a:solidFill>
                <a:latin typeface="Futura T OT" panose="02000000000000000000" pitchFamily="50" charset="0"/>
              </a:rPr>
              <a:t>	 0 = compare match did not occur</a:t>
            </a:r>
          </a:p>
          <a:p>
            <a:r>
              <a:rPr lang="en-US" sz="2800" dirty="0">
                <a:solidFill>
                  <a:srgbClr val="FF0000"/>
                </a:solidFill>
                <a:latin typeface="Futura T OT" panose="02000000000000000000" pitchFamily="50" charset="0"/>
              </a:rPr>
              <a:t>	 1 = compare match occurred</a:t>
            </a:r>
          </a:p>
        </p:txBody>
      </p:sp>
      <p:sp>
        <p:nvSpPr>
          <p:cNvPr id="10" name="TextBox 9">
            <a:extLst>
              <a:ext uri="{FF2B5EF4-FFF2-40B4-BE49-F238E27FC236}">
                <a16:creationId xmlns:a16="http://schemas.microsoft.com/office/drawing/2014/main" id="{03A9E4B9-16A2-D908-9396-1B14059DE052}"/>
              </a:ext>
            </a:extLst>
          </p:cNvPr>
          <p:cNvSpPr txBox="1"/>
          <p:nvPr/>
        </p:nvSpPr>
        <p:spPr>
          <a:xfrm>
            <a:off x="706556" y="5904135"/>
            <a:ext cx="1040002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Note: </a:t>
            </a:r>
            <a:r>
              <a:rPr lang="en-US" sz="2800" dirty="0">
                <a:latin typeface="Futura T OT" panose="02000000000000000000" pitchFamily="50" charset="0"/>
              </a:rPr>
              <a:t>In AVR, when we want to clear a given flag of register, we write 1 to it and 0 to the other bits.</a:t>
            </a:r>
          </a:p>
        </p:txBody>
      </p:sp>
    </p:spTree>
    <p:extLst>
      <p:ext uri="{BB962C8B-B14F-4D97-AF65-F5344CB8AC3E}">
        <p14:creationId xmlns:p14="http://schemas.microsoft.com/office/powerpoint/2010/main" val="3414127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1A99DA-06A7-CCA2-7C77-209476C5D4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5A014A-E8E0-520D-A5D9-485F0564BE91}"/>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78D05F41-2855-68D6-4CF4-53AB2F4DE8AB}"/>
              </a:ext>
            </a:extLst>
          </p:cNvPr>
          <p:cNvSpPr txBox="1"/>
          <p:nvPr/>
        </p:nvSpPr>
        <p:spPr>
          <a:xfrm>
            <a:off x="706556" y="1703428"/>
            <a:ext cx="10190044"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STEP1</a:t>
            </a:r>
            <a:r>
              <a:rPr lang="en-US" sz="2800" dirty="0">
                <a:latin typeface="Futura T OT" panose="02000000000000000000" pitchFamily="50" charset="0"/>
              </a:rPr>
              <a:t>: Load the TCNT0 register with the initial count value.</a:t>
            </a:r>
          </a:p>
        </p:txBody>
      </p:sp>
      <p:sp>
        <p:nvSpPr>
          <p:cNvPr id="3" name="TextBox 2">
            <a:extLst>
              <a:ext uri="{FF2B5EF4-FFF2-40B4-BE49-F238E27FC236}">
                <a16:creationId xmlns:a16="http://schemas.microsoft.com/office/drawing/2014/main" id="{A7E44BFC-3465-1D6C-3A3A-24F1DE1AE04F}"/>
              </a:ext>
            </a:extLst>
          </p:cNvPr>
          <p:cNvSpPr txBox="1"/>
          <p:nvPr/>
        </p:nvSpPr>
        <p:spPr>
          <a:xfrm>
            <a:off x="706556" y="771748"/>
            <a:ext cx="5218929"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Normal Mode Programming</a:t>
            </a:r>
            <a:endParaRPr lang="en-US" sz="2800" dirty="0">
              <a:solidFill>
                <a:srgbClr val="4472C4"/>
              </a:solidFill>
              <a:latin typeface="Futura T OT" panose="02000000000000000000" pitchFamily="50" charset="0"/>
            </a:endParaRPr>
          </a:p>
        </p:txBody>
      </p:sp>
      <p:sp>
        <p:nvSpPr>
          <p:cNvPr id="8" name="TextBox 7">
            <a:extLst>
              <a:ext uri="{FF2B5EF4-FFF2-40B4-BE49-F238E27FC236}">
                <a16:creationId xmlns:a16="http://schemas.microsoft.com/office/drawing/2014/main" id="{4DB1C18B-F9E0-9A8A-3247-C2509A3046BF}"/>
              </a:ext>
            </a:extLst>
          </p:cNvPr>
          <p:cNvSpPr txBox="1"/>
          <p:nvPr/>
        </p:nvSpPr>
        <p:spPr>
          <a:xfrm>
            <a:off x="706556" y="2415229"/>
            <a:ext cx="10190044"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STEP2</a:t>
            </a:r>
            <a:r>
              <a:rPr lang="en-US" sz="2800" dirty="0">
                <a:latin typeface="Futura T OT" panose="02000000000000000000" pitchFamily="50" charset="0"/>
              </a:rPr>
              <a:t>: Load the value into the TCCR0 register for required control setting.</a:t>
            </a:r>
          </a:p>
        </p:txBody>
      </p:sp>
      <p:sp>
        <p:nvSpPr>
          <p:cNvPr id="11" name="TextBox 10">
            <a:extLst>
              <a:ext uri="{FF2B5EF4-FFF2-40B4-BE49-F238E27FC236}">
                <a16:creationId xmlns:a16="http://schemas.microsoft.com/office/drawing/2014/main" id="{F41A01DB-CC72-558A-091C-74B567282B55}"/>
              </a:ext>
            </a:extLst>
          </p:cNvPr>
          <p:cNvSpPr txBox="1"/>
          <p:nvPr/>
        </p:nvSpPr>
        <p:spPr>
          <a:xfrm>
            <a:off x="706556" y="3574453"/>
            <a:ext cx="10190044"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STEP3</a:t>
            </a:r>
            <a:r>
              <a:rPr lang="en-US" sz="2800" dirty="0">
                <a:latin typeface="Futura T OT" panose="02000000000000000000" pitchFamily="50" charset="0"/>
              </a:rPr>
              <a:t>: Keep monitoring the timer overflow flag (TOV0). Get out of the loop when TOV0 becomes high.</a:t>
            </a:r>
          </a:p>
        </p:txBody>
      </p:sp>
      <p:sp>
        <p:nvSpPr>
          <p:cNvPr id="12" name="TextBox 11">
            <a:extLst>
              <a:ext uri="{FF2B5EF4-FFF2-40B4-BE49-F238E27FC236}">
                <a16:creationId xmlns:a16="http://schemas.microsoft.com/office/drawing/2014/main" id="{DCB2D88F-0909-E0A2-1504-B9B6DD10E25B}"/>
              </a:ext>
            </a:extLst>
          </p:cNvPr>
          <p:cNvSpPr txBox="1"/>
          <p:nvPr/>
        </p:nvSpPr>
        <p:spPr>
          <a:xfrm>
            <a:off x="706556" y="4733677"/>
            <a:ext cx="10190044"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STEP4</a:t>
            </a:r>
            <a:r>
              <a:rPr lang="en-US" sz="2800" dirty="0">
                <a:latin typeface="Futura T OT" panose="02000000000000000000" pitchFamily="50" charset="0"/>
              </a:rPr>
              <a:t>: Stop the timer by disconnecting the clock source.</a:t>
            </a:r>
          </a:p>
        </p:txBody>
      </p:sp>
      <p:sp>
        <p:nvSpPr>
          <p:cNvPr id="13" name="TextBox 12">
            <a:extLst>
              <a:ext uri="{FF2B5EF4-FFF2-40B4-BE49-F238E27FC236}">
                <a16:creationId xmlns:a16="http://schemas.microsoft.com/office/drawing/2014/main" id="{0BCA7FFF-6100-F29D-6682-D41AE47FCC83}"/>
              </a:ext>
            </a:extLst>
          </p:cNvPr>
          <p:cNvSpPr txBox="1"/>
          <p:nvPr/>
        </p:nvSpPr>
        <p:spPr>
          <a:xfrm>
            <a:off x="706556" y="5462014"/>
            <a:ext cx="10190044"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STEP5</a:t>
            </a:r>
            <a:r>
              <a:rPr lang="en-US" sz="2800" dirty="0">
                <a:latin typeface="Futura T OT" panose="02000000000000000000" pitchFamily="50" charset="0"/>
              </a:rPr>
              <a:t>: Clear the TOV0 flag for the next round.</a:t>
            </a:r>
          </a:p>
        </p:txBody>
      </p:sp>
    </p:spTree>
    <p:extLst>
      <p:ext uri="{BB962C8B-B14F-4D97-AF65-F5344CB8AC3E}">
        <p14:creationId xmlns:p14="http://schemas.microsoft.com/office/powerpoint/2010/main" val="2642166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90E82D-2052-B22C-F438-C45C227619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C27213-A651-8409-F397-9CC31A67953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FC7C4F3E-4845-FCBE-4BD4-A339A10D9A22}"/>
              </a:ext>
            </a:extLst>
          </p:cNvPr>
          <p:cNvSpPr txBox="1"/>
          <p:nvPr/>
        </p:nvSpPr>
        <p:spPr>
          <a:xfrm>
            <a:off x="2884040" y="982176"/>
            <a:ext cx="6423917" cy="4893647"/>
          </a:xfrm>
          <a:prstGeom prst="rect">
            <a:avLst/>
          </a:prstGeom>
          <a:noFill/>
        </p:spPr>
        <p:txBody>
          <a:bodyPr wrap="square" rtlCol="0">
            <a:spAutoFit/>
          </a:bodyPr>
          <a:lstStyle/>
          <a:p>
            <a:r>
              <a:rPr lang="en-US" sz="1200" dirty="0">
                <a:latin typeface="Futura T OT" panose="02000000000000000000" pitchFamily="50" charset="0"/>
              </a:rPr>
              <a:t>#include &lt;</a:t>
            </a:r>
            <a:r>
              <a:rPr lang="en-US" sz="1200" dirty="0" err="1">
                <a:latin typeface="Futura T OT" panose="02000000000000000000" pitchFamily="50" charset="0"/>
              </a:rPr>
              <a:t>avr</a:t>
            </a:r>
            <a:r>
              <a:rPr lang="en-US" sz="1200" dirty="0">
                <a:latin typeface="Futura T OT" panose="02000000000000000000" pitchFamily="50" charset="0"/>
              </a:rPr>
              <a:t>/</a:t>
            </a:r>
            <a:r>
              <a:rPr lang="en-US" sz="1200" dirty="0" err="1">
                <a:latin typeface="Futura T OT" panose="02000000000000000000" pitchFamily="50" charset="0"/>
              </a:rPr>
              <a:t>io.h</a:t>
            </a:r>
            <a:r>
              <a:rPr lang="en-US" sz="1200" dirty="0">
                <a:latin typeface="Futura T OT" panose="02000000000000000000" pitchFamily="50" charset="0"/>
              </a:rPr>
              <a:t>&gt;</a:t>
            </a:r>
          </a:p>
          <a:p>
            <a:endParaRPr lang="en-US" sz="1200" dirty="0">
              <a:latin typeface="Futura T OT" panose="02000000000000000000" pitchFamily="50" charset="0"/>
            </a:endParaRPr>
          </a:p>
          <a:p>
            <a:r>
              <a:rPr lang="en-US" sz="1200" dirty="0">
                <a:latin typeface="Futura T OT" panose="02000000000000000000" pitchFamily="50" charset="0"/>
              </a:rPr>
              <a:t>void T0delay();</a:t>
            </a:r>
          </a:p>
          <a:p>
            <a:endParaRPr lang="en-US" sz="1200" dirty="0">
              <a:latin typeface="Futura T OT" panose="02000000000000000000" pitchFamily="50" charset="0"/>
            </a:endParaRPr>
          </a:p>
          <a:p>
            <a:r>
              <a:rPr lang="en-US" sz="1200" dirty="0">
                <a:latin typeface="Futura T OT" panose="02000000000000000000" pitchFamily="50" charset="0"/>
              </a:rPr>
              <a:t>int main(void)</a:t>
            </a:r>
          </a:p>
          <a:p>
            <a:r>
              <a:rPr lang="en-US" sz="1200" dirty="0">
                <a:latin typeface="Futura T OT" panose="02000000000000000000" pitchFamily="50" charset="0"/>
              </a:rPr>
              <a:t>{</a:t>
            </a:r>
          </a:p>
          <a:p>
            <a:r>
              <a:rPr lang="en-US" sz="1200" dirty="0">
                <a:latin typeface="Futura T OT" panose="02000000000000000000" pitchFamily="50" charset="0"/>
              </a:rPr>
              <a:t>	DDRB = 0xFF;		/* PORTB as output*/</a:t>
            </a:r>
          </a:p>
          <a:p>
            <a:r>
              <a:rPr lang="en-US" sz="1200" dirty="0">
                <a:latin typeface="Futura T OT" panose="02000000000000000000" pitchFamily="50" charset="0"/>
              </a:rPr>
              <a:t>	</a:t>
            </a:r>
          </a:p>
          <a:p>
            <a:r>
              <a:rPr lang="en-US" sz="1200" dirty="0">
                <a:latin typeface="Futura T OT" panose="02000000000000000000" pitchFamily="50" charset="0"/>
              </a:rPr>
              <a:t>    	while(1)  		/* Repeat forever*/</a:t>
            </a:r>
          </a:p>
          <a:p>
            <a:r>
              <a:rPr lang="en-US" sz="1200" dirty="0">
                <a:latin typeface="Futura T OT" panose="02000000000000000000" pitchFamily="50" charset="0"/>
              </a:rPr>
              <a:t>    	{</a:t>
            </a:r>
          </a:p>
          <a:p>
            <a:r>
              <a:rPr lang="en-US" sz="1200" dirty="0">
                <a:latin typeface="Futura T OT" panose="02000000000000000000" pitchFamily="50" charset="0"/>
              </a:rPr>
              <a:t>		PORTB=0x55;</a:t>
            </a:r>
          </a:p>
          <a:p>
            <a:r>
              <a:rPr lang="en-US" sz="1200" dirty="0">
                <a:latin typeface="Futura T OT" panose="02000000000000000000" pitchFamily="50" charset="0"/>
              </a:rPr>
              <a:t>		T0delay();  	/* Give some delay */</a:t>
            </a:r>
          </a:p>
          <a:p>
            <a:r>
              <a:rPr lang="en-US" sz="1200" dirty="0">
                <a:latin typeface="Futura T OT" panose="02000000000000000000" pitchFamily="50" charset="0"/>
              </a:rPr>
              <a:t>		PORTB=0xAA;</a:t>
            </a:r>
          </a:p>
          <a:p>
            <a:r>
              <a:rPr lang="en-US" sz="1200" dirty="0">
                <a:latin typeface="Futura T OT" panose="02000000000000000000" pitchFamily="50" charset="0"/>
              </a:rPr>
              <a:t>		T0delay();</a:t>
            </a:r>
          </a:p>
          <a:p>
            <a:r>
              <a:rPr lang="en-US" sz="1200" dirty="0">
                <a:latin typeface="Futura T OT" panose="02000000000000000000" pitchFamily="50" charset="0"/>
              </a:rPr>
              <a:t>    	}</a:t>
            </a:r>
          </a:p>
          <a:p>
            <a:r>
              <a:rPr lang="en-US" sz="1200" dirty="0">
                <a:latin typeface="Futura T OT" panose="02000000000000000000" pitchFamily="50" charset="0"/>
              </a:rPr>
              <a:t>}</a:t>
            </a:r>
          </a:p>
          <a:p>
            <a:endParaRPr lang="en-US" sz="1200" dirty="0">
              <a:latin typeface="Futura T OT" panose="02000000000000000000" pitchFamily="50" charset="0"/>
            </a:endParaRPr>
          </a:p>
          <a:p>
            <a:r>
              <a:rPr lang="en-US" sz="1200" dirty="0">
                <a:latin typeface="Futura T OT" panose="02000000000000000000" pitchFamily="50" charset="0"/>
              </a:rPr>
              <a:t>void T0delay()</a:t>
            </a:r>
          </a:p>
          <a:p>
            <a:r>
              <a:rPr lang="en-US" sz="1200" dirty="0">
                <a:latin typeface="Futura T OT" panose="02000000000000000000" pitchFamily="50" charset="0"/>
              </a:rPr>
              <a:t>{</a:t>
            </a:r>
          </a:p>
          <a:p>
            <a:r>
              <a:rPr lang="en-US" sz="1200" dirty="0">
                <a:latin typeface="Futura T OT" panose="02000000000000000000" pitchFamily="50" charset="0"/>
              </a:rPr>
              <a:t>	TCNT0 = 0x25;  		/* STEP1:Load TCNT0*/</a:t>
            </a:r>
          </a:p>
          <a:p>
            <a:r>
              <a:rPr lang="en-US" sz="1200" dirty="0">
                <a:latin typeface="Futura T OT" panose="02000000000000000000" pitchFamily="50" charset="0"/>
              </a:rPr>
              <a:t>	TCCR0 = 0x01;  	/*STEP2: Timer0, normal mode, no pre-scalar */</a:t>
            </a:r>
          </a:p>
          <a:p>
            <a:r>
              <a:rPr lang="en-US" sz="1200" dirty="0">
                <a:latin typeface="Futura T OT" panose="02000000000000000000" pitchFamily="50" charset="0"/>
              </a:rPr>
              <a:t>	</a:t>
            </a:r>
          </a:p>
          <a:p>
            <a:r>
              <a:rPr lang="en-US" sz="1200" dirty="0">
                <a:latin typeface="Futura T OT" panose="02000000000000000000" pitchFamily="50" charset="0"/>
              </a:rPr>
              <a:t>	while((TIFR&amp;0x01)==0);  /* STEP3: Wait for TOV0 to roll over */</a:t>
            </a:r>
          </a:p>
          <a:p>
            <a:r>
              <a:rPr lang="en-US" sz="1200" dirty="0">
                <a:latin typeface="Futura T OT" panose="02000000000000000000" pitchFamily="50" charset="0"/>
              </a:rPr>
              <a:t>	TCCR0 = 0;		 /* STEP4: Disconnect clock source*/</a:t>
            </a:r>
          </a:p>
          <a:p>
            <a:r>
              <a:rPr lang="en-US" sz="1200" dirty="0">
                <a:latin typeface="Futura T OT" panose="02000000000000000000" pitchFamily="50" charset="0"/>
              </a:rPr>
              <a:t>	TIFR = 0x01;  		/* STEP5: Clear TOV0 flag*/</a:t>
            </a:r>
          </a:p>
          <a:p>
            <a:r>
              <a:rPr lang="en-US" sz="1200" dirty="0">
                <a:latin typeface="Futura T OT" panose="02000000000000000000" pitchFamily="50" charset="0"/>
              </a:rPr>
              <a:t>}</a:t>
            </a:r>
            <a:endParaRPr lang="en-US" sz="1200" dirty="0">
              <a:solidFill>
                <a:srgbClr val="FF0000"/>
              </a:solidFill>
              <a:latin typeface="Futura T OT" panose="02000000000000000000" pitchFamily="50" charset="0"/>
            </a:endParaRPr>
          </a:p>
        </p:txBody>
      </p:sp>
    </p:spTree>
    <p:extLst>
      <p:ext uri="{BB962C8B-B14F-4D97-AF65-F5344CB8AC3E}">
        <p14:creationId xmlns:p14="http://schemas.microsoft.com/office/powerpoint/2010/main" val="16602969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0B605A-160C-7808-A501-4780B5AD31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EF10F5-9E91-D650-166C-3E3FCFEAEF07}"/>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3" name="TextBox 2">
            <a:extLst>
              <a:ext uri="{FF2B5EF4-FFF2-40B4-BE49-F238E27FC236}">
                <a16:creationId xmlns:a16="http://schemas.microsoft.com/office/drawing/2014/main" id="{1F227BA6-D68A-2773-CA98-C537EC75DB18}"/>
              </a:ext>
            </a:extLst>
          </p:cNvPr>
          <p:cNvSpPr txBox="1"/>
          <p:nvPr/>
        </p:nvSpPr>
        <p:spPr>
          <a:xfrm>
            <a:off x="706556" y="771748"/>
            <a:ext cx="4720459"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CTC Mode Programming</a:t>
            </a:r>
            <a:endParaRPr lang="en-US" sz="2800" dirty="0">
              <a:solidFill>
                <a:srgbClr val="4472C4"/>
              </a:solidFill>
              <a:latin typeface="Futura T OT" panose="02000000000000000000" pitchFamily="50" charset="0"/>
            </a:endParaRPr>
          </a:p>
        </p:txBody>
      </p:sp>
      <p:pic>
        <p:nvPicPr>
          <p:cNvPr id="13" name="Picture 12">
            <a:extLst>
              <a:ext uri="{FF2B5EF4-FFF2-40B4-BE49-F238E27FC236}">
                <a16:creationId xmlns:a16="http://schemas.microsoft.com/office/drawing/2014/main" id="{A510050E-0882-1C33-D281-C1FA32D6C9F5}"/>
              </a:ext>
            </a:extLst>
          </p:cNvPr>
          <p:cNvPicPr>
            <a:picLocks noChangeAspect="1"/>
          </p:cNvPicPr>
          <p:nvPr/>
        </p:nvPicPr>
        <p:blipFill>
          <a:blip r:embed="rId2"/>
          <a:stretch>
            <a:fillRect/>
          </a:stretch>
        </p:blipFill>
        <p:spPr>
          <a:xfrm>
            <a:off x="1085416" y="1455036"/>
            <a:ext cx="10021168" cy="853514"/>
          </a:xfrm>
          <a:prstGeom prst="rect">
            <a:avLst/>
          </a:prstGeom>
        </p:spPr>
      </p:pic>
      <p:sp>
        <p:nvSpPr>
          <p:cNvPr id="14" name="TextBox 13">
            <a:extLst>
              <a:ext uri="{FF2B5EF4-FFF2-40B4-BE49-F238E27FC236}">
                <a16:creationId xmlns:a16="http://schemas.microsoft.com/office/drawing/2014/main" id="{29718FA3-29ED-0968-78F9-B4B8108F9837}"/>
              </a:ext>
            </a:extLst>
          </p:cNvPr>
          <p:cNvSpPr txBox="1"/>
          <p:nvPr/>
        </p:nvSpPr>
        <p:spPr>
          <a:xfrm>
            <a:off x="706556" y="2943880"/>
            <a:ext cx="1060879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COM01, COM00</a:t>
            </a:r>
          </a:p>
        </p:txBody>
      </p:sp>
      <p:graphicFrame>
        <p:nvGraphicFramePr>
          <p:cNvPr id="4" name="Table 3">
            <a:extLst>
              <a:ext uri="{FF2B5EF4-FFF2-40B4-BE49-F238E27FC236}">
                <a16:creationId xmlns:a16="http://schemas.microsoft.com/office/drawing/2014/main" id="{44B81B47-188B-1BD3-4677-28468A058886}"/>
              </a:ext>
            </a:extLst>
          </p:cNvPr>
          <p:cNvGraphicFramePr>
            <a:graphicFrameLocks noGrp="1"/>
          </p:cNvGraphicFramePr>
          <p:nvPr>
            <p:extLst>
              <p:ext uri="{D42A27DB-BD31-4B8C-83A1-F6EECF244321}">
                <p14:modId xmlns:p14="http://schemas.microsoft.com/office/powerpoint/2010/main" val="3520332567"/>
              </p:ext>
            </p:extLst>
          </p:nvPr>
        </p:nvGraphicFramePr>
        <p:xfrm>
          <a:off x="2696324" y="3732681"/>
          <a:ext cx="6799351" cy="2286000"/>
        </p:xfrm>
        <a:graphic>
          <a:graphicData uri="http://schemas.openxmlformats.org/drawingml/2006/table">
            <a:tbl>
              <a:tblPr firstRow="1" bandRow="1">
                <a:tableStyleId>{5C22544A-7EE6-4342-B048-85BDC9FD1C3A}</a:tableStyleId>
              </a:tblPr>
              <a:tblGrid>
                <a:gridCol w="1250131">
                  <a:extLst>
                    <a:ext uri="{9D8B030D-6E8A-4147-A177-3AD203B41FA5}">
                      <a16:colId xmlns:a16="http://schemas.microsoft.com/office/drawing/2014/main" val="3459031170"/>
                    </a:ext>
                  </a:extLst>
                </a:gridCol>
                <a:gridCol w="1323667">
                  <a:extLst>
                    <a:ext uri="{9D8B030D-6E8A-4147-A177-3AD203B41FA5}">
                      <a16:colId xmlns:a16="http://schemas.microsoft.com/office/drawing/2014/main" val="712042315"/>
                    </a:ext>
                  </a:extLst>
                </a:gridCol>
                <a:gridCol w="4225553">
                  <a:extLst>
                    <a:ext uri="{9D8B030D-6E8A-4147-A177-3AD203B41FA5}">
                      <a16:colId xmlns:a16="http://schemas.microsoft.com/office/drawing/2014/main" val="3585836602"/>
                    </a:ext>
                  </a:extLst>
                </a:gridCol>
              </a:tblGrid>
              <a:tr h="370840">
                <a:tc>
                  <a:txBody>
                    <a:bodyPr/>
                    <a:lstStyle/>
                    <a:p>
                      <a:pPr algn="ctr"/>
                      <a:r>
                        <a:rPr lang="en-US" sz="2400" dirty="0">
                          <a:latin typeface="Futura T OT" panose="02000000000000000000" pitchFamily="50" charset="0"/>
                        </a:rPr>
                        <a:t>COM01</a:t>
                      </a:r>
                    </a:p>
                  </a:txBody>
                  <a:tcPr/>
                </a:tc>
                <a:tc>
                  <a:txBody>
                    <a:bodyPr/>
                    <a:lstStyle/>
                    <a:p>
                      <a:pPr algn="ctr"/>
                      <a:r>
                        <a:rPr lang="en-US" sz="2400" dirty="0">
                          <a:latin typeface="Futura T OT" panose="02000000000000000000" pitchFamily="50" charset="0"/>
                        </a:rPr>
                        <a:t>COM00</a:t>
                      </a:r>
                    </a:p>
                  </a:txBody>
                  <a:tcPr/>
                </a:tc>
                <a:tc>
                  <a:txBody>
                    <a:bodyPr/>
                    <a:lstStyle/>
                    <a:p>
                      <a:pPr algn="ctr"/>
                      <a:r>
                        <a:rPr lang="en-US" sz="2400" dirty="0">
                          <a:latin typeface="Futura T OT" panose="02000000000000000000" pitchFamily="50" charset="0"/>
                        </a:rPr>
                        <a:t>Description</a:t>
                      </a:r>
                    </a:p>
                  </a:txBody>
                  <a:tcPr/>
                </a:tc>
                <a:extLst>
                  <a:ext uri="{0D108BD9-81ED-4DB2-BD59-A6C34878D82A}">
                    <a16:rowId xmlns:a16="http://schemas.microsoft.com/office/drawing/2014/main" val="1504529960"/>
                  </a:ext>
                </a:extLst>
              </a:tr>
              <a:tr h="370840">
                <a:tc>
                  <a:txBody>
                    <a:bodyPr/>
                    <a:lstStyle/>
                    <a:p>
                      <a:pPr algn="ctr"/>
                      <a:r>
                        <a:rPr lang="en-US" sz="2400" dirty="0">
                          <a:latin typeface="Futura T OT" panose="02000000000000000000" pitchFamily="50" charset="0"/>
                        </a:rPr>
                        <a:t>0</a:t>
                      </a:r>
                    </a:p>
                  </a:txBody>
                  <a:tcPr/>
                </a:tc>
                <a:tc>
                  <a:txBody>
                    <a:bodyPr/>
                    <a:lstStyle/>
                    <a:p>
                      <a:pPr algn="ctr"/>
                      <a:r>
                        <a:rPr lang="en-US" sz="2400" dirty="0">
                          <a:latin typeface="Futura T OT" panose="02000000000000000000" pitchFamily="50" charset="0"/>
                        </a:rPr>
                        <a:t>0</a:t>
                      </a:r>
                    </a:p>
                  </a:txBody>
                  <a:tcPr/>
                </a:tc>
                <a:tc>
                  <a:txBody>
                    <a:bodyPr/>
                    <a:lstStyle/>
                    <a:p>
                      <a:pPr algn="ctr"/>
                      <a:r>
                        <a:rPr lang="en-US" sz="2400" dirty="0">
                          <a:latin typeface="Futura T OT" panose="02000000000000000000" pitchFamily="50" charset="0"/>
                        </a:rPr>
                        <a:t>The normal port operation</a:t>
                      </a:r>
                    </a:p>
                  </a:txBody>
                  <a:tcPr/>
                </a:tc>
                <a:extLst>
                  <a:ext uri="{0D108BD9-81ED-4DB2-BD59-A6C34878D82A}">
                    <a16:rowId xmlns:a16="http://schemas.microsoft.com/office/drawing/2014/main" val="1841924852"/>
                  </a:ext>
                </a:extLst>
              </a:tr>
              <a:tr h="370840">
                <a:tc>
                  <a:txBody>
                    <a:bodyPr/>
                    <a:lstStyle/>
                    <a:p>
                      <a:pPr algn="ctr"/>
                      <a:r>
                        <a:rPr lang="en-US" sz="2400" dirty="0">
                          <a:latin typeface="Futura T OT" panose="02000000000000000000" pitchFamily="50" charset="0"/>
                        </a:rPr>
                        <a:t>0</a:t>
                      </a:r>
                    </a:p>
                  </a:txBody>
                  <a:tcPr/>
                </a:tc>
                <a:tc>
                  <a:txBody>
                    <a:bodyPr/>
                    <a:lstStyle/>
                    <a:p>
                      <a:pPr algn="ctr"/>
                      <a:r>
                        <a:rPr lang="en-US" sz="2400" dirty="0">
                          <a:latin typeface="Futura T OT" panose="02000000000000000000" pitchFamily="50" charset="0"/>
                        </a:rPr>
                        <a:t>1</a:t>
                      </a:r>
                    </a:p>
                  </a:txBody>
                  <a:tcPr/>
                </a:tc>
                <a:tc>
                  <a:txBody>
                    <a:bodyPr/>
                    <a:lstStyle/>
                    <a:p>
                      <a:pPr algn="ctr"/>
                      <a:r>
                        <a:rPr lang="en-US" sz="2400" dirty="0">
                          <a:latin typeface="Futura T OT" panose="02000000000000000000" pitchFamily="50" charset="0"/>
                        </a:rPr>
                        <a:t>Toggle OC0 on compare match</a:t>
                      </a:r>
                    </a:p>
                  </a:txBody>
                  <a:tcPr/>
                </a:tc>
                <a:extLst>
                  <a:ext uri="{0D108BD9-81ED-4DB2-BD59-A6C34878D82A}">
                    <a16:rowId xmlns:a16="http://schemas.microsoft.com/office/drawing/2014/main" val="461362115"/>
                  </a:ext>
                </a:extLst>
              </a:tr>
              <a:tr h="370840">
                <a:tc>
                  <a:txBody>
                    <a:bodyPr/>
                    <a:lstStyle/>
                    <a:p>
                      <a:pPr algn="ctr"/>
                      <a:r>
                        <a:rPr lang="en-US" sz="2400" dirty="0">
                          <a:latin typeface="Futura T OT" panose="02000000000000000000" pitchFamily="50" charset="0"/>
                        </a:rPr>
                        <a:t>1</a:t>
                      </a:r>
                    </a:p>
                  </a:txBody>
                  <a:tcPr/>
                </a:tc>
                <a:tc>
                  <a:txBody>
                    <a:bodyPr/>
                    <a:lstStyle/>
                    <a:p>
                      <a:pPr algn="ctr"/>
                      <a:r>
                        <a:rPr lang="en-US" sz="2400" dirty="0">
                          <a:latin typeface="Futura T OT" panose="02000000000000000000" pitchFamily="50" charset="0"/>
                        </a:rPr>
                        <a:t>0</a:t>
                      </a:r>
                    </a:p>
                  </a:txBody>
                  <a:tcPr/>
                </a:tc>
                <a:tc>
                  <a:txBody>
                    <a:bodyPr/>
                    <a:lstStyle/>
                    <a:p>
                      <a:pPr algn="ctr"/>
                      <a:r>
                        <a:rPr lang="en-US" sz="2400" dirty="0">
                          <a:latin typeface="Futura T OT" panose="02000000000000000000" pitchFamily="50" charset="0"/>
                        </a:rPr>
                        <a:t>Clear OC0 on compare match</a:t>
                      </a:r>
                    </a:p>
                  </a:txBody>
                  <a:tcPr/>
                </a:tc>
                <a:extLst>
                  <a:ext uri="{0D108BD9-81ED-4DB2-BD59-A6C34878D82A}">
                    <a16:rowId xmlns:a16="http://schemas.microsoft.com/office/drawing/2014/main" val="3488095575"/>
                  </a:ext>
                </a:extLst>
              </a:tr>
              <a:tr h="370840">
                <a:tc>
                  <a:txBody>
                    <a:bodyPr/>
                    <a:lstStyle/>
                    <a:p>
                      <a:pPr algn="ctr"/>
                      <a:r>
                        <a:rPr lang="en-US" sz="2400" dirty="0">
                          <a:latin typeface="Futura T OT" panose="02000000000000000000" pitchFamily="50" charset="0"/>
                        </a:rPr>
                        <a:t>1</a:t>
                      </a:r>
                    </a:p>
                  </a:txBody>
                  <a:tcPr/>
                </a:tc>
                <a:tc>
                  <a:txBody>
                    <a:bodyPr/>
                    <a:lstStyle/>
                    <a:p>
                      <a:pPr algn="ctr"/>
                      <a:r>
                        <a:rPr lang="en-US" sz="2400" dirty="0">
                          <a:latin typeface="Futura T OT" panose="02000000000000000000" pitchFamily="50" charset="0"/>
                        </a:rPr>
                        <a:t>1</a:t>
                      </a:r>
                    </a:p>
                  </a:txBody>
                  <a:tcPr/>
                </a:tc>
                <a:tc>
                  <a:txBody>
                    <a:bodyPr/>
                    <a:lstStyle/>
                    <a:p>
                      <a:pPr algn="ctr"/>
                      <a:r>
                        <a:rPr lang="en-US" sz="2400" dirty="0">
                          <a:latin typeface="Futura T OT" panose="02000000000000000000" pitchFamily="50" charset="0"/>
                        </a:rPr>
                        <a:t>Set OC0 on compare match</a:t>
                      </a:r>
                    </a:p>
                  </a:txBody>
                  <a:tcPr/>
                </a:tc>
                <a:extLst>
                  <a:ext uri="{0D108BD9-81ED-4DB2-BD59-A6C34878D82A}">
                    <a16:rowId xmlns:a16="http://schemas.microsoft.com/office/drawing/2014/main" val="3313136030"/>
                  </a:ext>
                </a:extLst>
              </a:tr>
            </a:tbl>
          </a:graphicData>
        </a:graphic>
      </p:graphicFrame>
    </p:spTree>
    <p:extLst>
      <p:ext uri="{BB962C8B-B14F-4D97-AF65-F5344CB8AC3E}">
        <p14:creationId xmlns:p14="http://schemas.microsoft.com/office/powerpoint/2010/main" val="839294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1B474E-2B60-6B0C-E9AE-1E6FB03D43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750265-49BD-78F8-00FD-024EAB03287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6CCBB94F-6962-7171-CF2F-A2E7260ED65F}"/>
              </a:ext>
            </a:extLst>
          </p:cNvPr>
          <p:cNvSpPr txBox="1"/>
          <p:nvPr/>
        </p:nvSpPr>
        <p:spPr>
          <a:xfrm>
            <a:off x="706556" y="1703428"/>
            <a:ext cx="513619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STEP1</a:t>
            </a:r>
            <a:r>
              <a:rPr lang="en-US" sz="2800" dirty="0">
                <a:latin typeface="Futura T OT" panose="02000000000000000000" pitchFamily="50" charset="0"/>
              </a:rPr>
              <a:t>: Configure OC0 pin (PB3) as output. </a:t>
            </a:r>
          </a:p>
        </p:txBody>
      </p:sp>
      <p:sp>
        <p:nvSpPr>
          <p:cNvPr id="3" name="TextBox 2">
            <a:extLst>
              <a:ext uri="{FF2B5EF4-FFF2-40B4-BE49-F238E27FC236}">
                <a16:creationId xmlns:a16="http://schemas.microsoft.com/office/drawing/2014/main" id="{D2B6D9C1-1730-96DB-4EAD-E54927F18A5A}"/>
              </a:ext>
            </a:extLst>
          </p:cNvPr>
          <p:cNvSpPr txBox="1"/>
          <p:nvPr/>
        </p:nvSpPr>
        <p:spPr>
          <a:xfrm>
            <a:off x="706556" y="771748"/>
            <a:ext cx="4720459"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Timer0 CTC Mode Programming</a:t>
            </a:r>
            <a:endParaRPr lang="en-US" sz="2800" dirty="0">
              <a:solidFill>
                <a:srgbClr val="4472C4"/>
              </a:solidFill>
              <a:latin typeface="Futura T OT" panose="02000000000000000000" pitchFamily="50" charset="0"/>
            </a:endParaRPr>
          </a:p>
        </p:txBody>
      </p:sp>
      <p:sp>
        <p:nvSpPr>
          <p:cNvPr id="8" name="TextBox 7">
            <a:extLst>
              <a:ext uri="{FF2B5EF4-FFF2-40B4-BE49-F238E27FC236}">
                <a16:creationId xmlns:a16="http://schemas.microsoft.com/office/drawing/2014/main" id="{0058BE2A-25E5-BB31-E7F6-32E7D18E0F6D}"/>
              </a:ext>
            </a:extLst>
          </p:cNvPr>
          <p:cNvSpPr txBox="1"/>
          <p:nvPr/>
        </p:nvSpPr>
        <p:spPr>
          <a:xfrm>
            <a:off x="706555" y="2892282"/>
            <a:ext cx="4720459"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STEP2</a:t>
            </a:r>
            <a:r>
              <a:rPr lang="en-US" sz="2800" dirty="0">
                <a:latin typeface="Futura T OT" panose="02000000000000000000" pitchFamily="50" charset="0"/>
              </a:rPr>
              <a:t>: Load the value into the TCCR0 register for required control setting.</a:t>
            </a:r>
          </a:p>
        </p:txBody>
      </p:sp>
      <p:sp>
        <p:nvSpPr>
          <p:cNvPr id="11" name="TextBox 10">
            <a:extLst>
              <a:ext uri="{FF2B5EF4-FFF2-40B4-BE49-F238E27FC236}">
                <a16:creationId xmlns:a16="http://schemas.microsoft.com/office/drawing/2014/main" id="{840D7103-BBC0-F1C7-7125-FE6F1AC34D36}"/>
              </a:ext>
            </a:extLst>
          </p:cNvPr>
          <p:cNvSpPr txBox="1"/>
          <p:nvPr/>
        </p:nvSpPr>
        <p:spPr>
          <a:xfrm>
            <a:off x="706555" y="4512025"/>
            <a:ext cx="4720459"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STEP3</a:t>
            </a:r>
            <a:r>
              <a:rPr lang="en-US" sz="2800" dirty="0">
                <a:latin typeface="Futura T OT" panose="02000000000000000000" pitchFamily="50" charset="0"/>
              </a:rPr>
              <a:t>: Load the required value in OCR0.</a:t>
            </a:r>
          </a:p>
        </p:txBody>
      </p:sp>
      <p:pic>
        <p:nvPicPr>
          <p:cNvPr id="4" name="Picture 3">
            <a:extLst>
              <a:ext uri="{FF2B5EF4-FFF2-40B4-BE49-F238E27FC236}">
                <a16:creationId xmlns:a16="http://schemas.microsoft.com/office/drawing/2014/main" id="{37CB9CBA-5A4C-3450-CC92-F00B4C503089}"/>
              </a:ext>
            </a:extLst>
          </p:cNvPr>
          <p:cNvPicPr>
            <a:picLocks noChangeAspect="1"/>
          </p:cNvPicPr>
          <p:nvPr/>
        </p:nvPicPr>
        <p:blipFill>
          <a:blip r:embed="rId2"/>
          <a:stretch>
            <a:fillRect/>
          </a:stretch>
        </p:blipFill>
        <p:spPr>
          <a:xfrm>
            <a:off x="5842753" y="584775"/>
            <a:ext cx="6349247" cy="6219112"/>
          </a:xfrm>
          <a:prstGeom prst="rect">
            <a:avLst/>
          </a:prstGeom>
        </p:spPr>
      </p:pic>
    </p:spTree>
    <p:extLst>
      <p:ext uri="{BB962C8B-B14F-4D97-AF65-F5344CB8AC3E}">
        <p14:creationId xmlns:p14="http://schemas.microsoft.com/office/powerpoint/2010/main" val="38728084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24059D-3B72-9505-CE22-BAFCC43631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F655AD5-2F5F-E783-99C1-B783BA76E6B8}"/>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5" name="TextBox 4">
            <a:extLst>
              <a:ext uri="{FF2B5EF4-FFF2-40B4-BE49-F238E27FC236}">
                <a16:creationId xmlns:a16="http://schemas.microsoft.com/office/drawing/2014/main" id="{832DFC93-BE31-3F1C-9A3C-2E952BB8A80D}"/>
              </a:ext>
            </a:extLst>
          </p:cNvPr>
          <p:cNvSpPr txBox="1"/>
          <p:nvPr/>
        </p:nvSpPr>
        <p:spPr>
          <a:xfrm>
            <a:off x="1062406" y="1758940"/>
            <a:ext cx="10067188" cy="3416320"/>
          </a:xfrm>
          <a:prstGeom prst="rect">
            <a:avLst/>
          </a:prstGeom>
          <a:noFill/>
        </p:spPr>
        <p:txBody>
          <a:bodyPr wrap="square" rtlCol="0">
            <a:spAutoFit/>
          </a:bodyPr>
          <a:lstStyle/>
          <a:p>
            <a:r>
              <a:rPr lang="en-US" sz="2400" dirty="0">
                <a:latin typeface="Futura T OT" panose="02000000000000000000" pitchFamily="50" charset="0"/>
              </a:rPr>
              <a:t>#include "</a:t>
            </a:r>
            <a:r>
              <a:rPr lang="en-US" sz="2400" dirty="0" err="1">
                <a:latin typeface="Futura T OT" panose="02000000000000000000" pitchFamily="50" charset="0"/>
              </a:rPr>
              <a:t>avr</a:t>
            </a:r>
            <a:r>
              <a:rPr lang="en-US" sz="2400" dirty="0">
                <a:latin typeface="Futura T OT" panose="02000000000000000000" pitchFamily="50" charset="0"/>
              </a:rPr>
              <a:t>/</a:t>
            </a:r>
            <a:r>
              <a:rPr lang="en-US" sz="2400" dirty="0" err="1">
                <a:latin typeface="Futura T OT" panose="02000000000000000000" pitchFamily="50" charset="0"/>
              </a:rPr>
              <a:t>io.h</a:t>
            </a:r>
            <a:r>
              <a:rPr lang="en-US" sz="2400" dirty="0">
                <a:latin typeface="Futura T OT" panose="02000000000000000000" pitchFamily="50" charset="0"/>
              </a:rPr>
              <a:t>"</a:t>
            </a:r>
          </a:p>
          <a:p>
            <a:r>
              <a:rPr lang="en-US" sz="2400" dirty="0">
                <a:latin typeface="Futura T OT" panose="02000000000000000000" pitchFamily="50" charset="0"/>
              </a:rPr>
              <a:t>int main ( )</a:t>
            </a:r>
          </a:p>
          <a:p>
            <a:r>
              <a:rPr lang="en-US" sz="2400" dirty="0">
                <a:latin typeface="Futura T OT" panose="02000000000000000000" pitchFamily="50" charset="0"/>
              </a:rPr>
              <a:t>{</a:t>
            </a:r>
          </a:p>
          <a:p>
            <a:r>
              <a:rPr lang="en-US" sz="2400" dirty="0">
                <a:latin typeface="Futura T OT" panose="02000000000000000000" pitchFamily="50" charset="0"/>
              </a:rPr>
              <a:t>	DDRB = DDRB|(1&lt;&lt;3);	/* PB3 (OC0) as output */	</a:t>
            </a:r>
          </a:p>
          <a:p>
            <a:r>
              <a:rPr lang="en-US" sz="2400" dirty="0">
                <a:latin typeface="Futura T OT" panose="02000000000000000000" pitchFamily="50" charset="0"/>
              </a:rPr>
              <a:t>	TCCR0 = 0x19;		/* CTC mode, toggle on compare match,</a:t>
            </a:r>
          </a:p>
          <a:p>
            <a:r>
              <a:rPr lang="en-US" sz="2400" dirty="0">
                <a:latin typeface="Futura T OT" panose="02000000000000000000" pitchFamily="50" charset="0"/>
              </a:rPr>
              <a:t>                      		</a:t>
            </a:r>
            <a:r>
              <a:rPr lang="en-US" sz="2400" dirty="0" err="1">
                <a:latin typeface="Futura T OT" panose="02000000000000000000" pitchFamily="50" charset="0"/>
              </a:rPr>
              <a:t>clk</a:t>
            </a:r>
            <a:r>
              <a:rPr lang="en-US" sz="2400" dirty="0">
                <a:latin typeface="Futura T OT" panose="02000000000000000000" pitchFamily="50" charset="0"/>
              </a:rPr>
              <a:t>- no pre-scaling */ </a:t>
            </a:r>
          </a:p>
          <a:p>
            <a:r>
              <a:rPr lang="en-US" sz="2400" dirty="0">
                <a:latin typeface="Futura T OT" panose="02000000000000000000" pitchFamily="50" charset="0"/>
              </a:rPr>
              <a:t>	OCR0 = 200;  		/* compare value */</a:t>
            </a:r>
          </a:p>
          <a:p>
            <a:r>
              <a:rPr lang="en-US" sz="2400" dirty="0">
                <a:latin typeface="Futura T OT" panose="02000000000000000000" pitchFamily="50" charset="0"/>
              </a:rPr>
              <a:t>	while (1);</a:t>
            </a:r>
          </a:p>
          <a:p>
            <a:r>
              <a:rPr lang="en-US" sz="2400" dirty="0">
                <a:latin typeface="Futura T OT" panose="02000000000000000000" pitchFamily="50" charset="0"/>
              </a:rPr>
              <a:t>}</a:t>
            </a:r>
            <a:endParaRPr lang="en-US" sz="2400" dirty="0">
              <a:solidFill>
                <a:srgbClr val="FF0000"/>
              </a:solidFill>
              <a:latin typeface="Futura T OT" panose="02000000000000000000" pitchFamily="50" charset="0"/>
            </a:endParaRPr>
          </a:p>
        </p:txBody>
      </p:sp>
      <p:sp>
        <p:nvSpPr>
          <p:cNvPr id="3" name="TextBox 2">
            <a:extLst>
              <a:ext uri="{FF2B5EF4-FFF2-40B4-BE49-F238E27FC236}">
                <a16:creationId xmlns:a16="http://schemas.microsoft.com/office/drawing/2014/main" id="{90B3E500-2F18-2935-AE06-25FB71EF0616}"/>
              </a:ext>
            </a:extLst>
          </p:cNvPr>
          <p:cNvSpPr txBox="1"/>
          <p:nvPr/>
        </p:nvSpPr>
        <p:spPr>
          <a:xfrm>
            <a:off x="706556" y="771748"/>
            <a:ext cx="6483506"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Normal mode waveform generation program</a:t>
            </a:r>
            <a:endParaRPr lang="en-US" sz="2800" dirty="0">
              <a:solidFill>
                <a:srgbClr val="4472C4"/>
              </a:solidFill>
              <a:latin typeface="Futura T OT" panose="02000000000000000000" pitchFamily="50" charset="0"/>
            </a:endParaRPr>
          </a:p>
        </p:txBody>
      </p:sp>
    </p:spTree>
    <p:extLst>
      <p:ext uri="{BB962C8B-B14F-4D97-AF65-F5344CB8AC3E}">
        <p14:creationId xmlns:p14="http://schemas.microsoft.com/office/powerpoint/2010/main" val="822018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237F0D-2BCC-A1A0-418C-49D9EE4B23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086BAE-6343-AE04-57EB-ECEEF03EBA44}"/>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3" name="TextBox 2">
            <a:extLst>
              <a:ext uri="{FF2B5EF4-FFF2-40B4-BE49-F238E27FC236}">
                <a16:creationId xmlns:a16="http://schemas.microsoft.com/office/drawing/2014/main" id="{C63B7DEA-0CFE-A2EE-F454-9D3540E10026}"/>
              </a:ext>
            </a:extLst>
          </p:cNvPr>
          <p:cNvSpPr txBox="1"/>
          <p:nvPr/>
        </p:nvSpPr>
        <p:spPr>
          <a:xfrm>
            <a:off x="706556" y="771748"/>
            <a:ext cx="6009081"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CTC mode waveform generation program</a:t>
            </a:r>
            <a:endParaRPr lang="en-US" sz="2800" dirty="0">
              <a:solidFill>
                <a:srgbClr val="4472C4"/>
              </a:solidFill>
              <a:latin typeface="Futura T OT" panose="02000000000000000000" pitchFamily="50" charset="0"/>
            </a:endParaRPr>
          </a:p>
        </p:txBody>
      </p:sp>
      <p:pic>
        <p:nvPicPr>
          <p:cNvPr id="1026" name="Picture 2">
            <a:extLst>
              <a:ext uri="{FF2B5EF4-FFF2-40B4-BE49-F238E27FC236}">
                <a16:creationId xmlns:a16="http://schemas.microsoft.com/office/drawing/2014/main" id="{07A6CEFE-7F7C-8555-5492-B79B348EA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211" y="1875213"/>
            <a:ext cx="8791575"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6660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F3472B-A077-A7F0-A0F7-D02554B98A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F7623C-8CB6-4854-76CB-09E9B4160499}"/>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3" name="TextBox 2">
            <a:extLst>
              <a:ext uri="{FF2B5EF4-FFF2-40B4-BE49-F238E27FC236}">
                <a16:creationId xmlns:a16="http://schemas.microsoft.com/office/drawing/2014/main" id="{AC707378-6FC7-EA6A-A32B-397F9A1AAA0E}"/>
              </a:ext>
            </a:extLst>
          </p:cNvPr>
          <p:cNvSpPr txBox="1"/>
          <p:nvPr/>
        </p:nvSpPr>
        <p:spPr>
          <a:xfrm>
            <a:off x="706556" y="771748"/>
            <a:ext cx="6483506"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Normal mode waveform generation program</a:t>
            </a:r>
            <a:endParaRPr lang="en-US" sz="2800" dirty="0">
              <a:solidFill>
                <a:srgbClr val="4472C4"/>
              </a:solidFill>
              <a:latin typeface="Futura T OT" panose="02000000000000000000" pitchFamily="50" charset="0"/>
            </a:endParaRPr>
          </a:p>
        </p:txBody>
      </p:sp>
      <p:pic>
        <p:nvPicPr>
          <p:cNvPr id="1026" name="Picture 2">
            <a:extLst>
              <a:ext uri="{FF2B5EF4-FFF2-40B4-BE49-F238E27FC236}">
                <a16:creationId xmlns:a16="http://schemas.microsoft.com/office/drawing/2014/main" id="{273D6E21-5E29-8723-AA8B-646207B11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637" y="1971452"/>
            <a:ext cx="8086725"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4737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72A9EE0-70D8-E1B5-3EFF-678CDE95D5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2674C9-EBD5-03C6-A6EC-425B72911B24}"/>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3" name="TextBox 2">
            <a:extLst>
              <a:ext uri="{FF2B5EF4-FFF2-40B4-BE49-F238E27FC236}">
                <a16:creationId xmlns:a16="http://schemas.microsoft.com/office/drawing/2014/main" id="{1A6CCAD4-64AD-636C-DD3A-379C765FC27D}"/>
              </a:ext>
            </a:extLst>
          </p:cNvPr>
          <p:cNvSpPr txBox="1"/>
          <p:nvPr/>
        </p:nvSpPr>
        <p:spPr>
          <a:xfrm>
            <a:off x="706556" y="771748"/>
            <a:ext cx="6764224"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TIMSK (Timer/Counter Interrupt Mask Register)</a:t>
            </a:r>
            <a:endParaRPr lang="en-US" sz="2800" dirty="0">
              <a:solidFill>
                <a:srgbClr val="4472C4"/>
              </a:solidFill>
              <a:latin typeface="Futura T OT" panose="02000000000000000000" pitchFamily="50" charset="0"/>
            </a:endParaRPr>
          </a:p>
        </p:txBody>
      </p:sp>
      <p:pic>
        <p:nvPicPr>
          <p:cNvPr id="6" name="Picture 5">
            <a:extLst>
              <a:ext uri="{FF2B5EF4-FFF2-40B4-BE49-F238E27FC236}">
                <a16:creationId xmlns:a16="http://schemas.microsoft.com/office/drawing/2014/main" id="{595F3D78-D7BB-C551-0817-E0D8C930F119}"/>
              </a:ext>
            </a:extLst>
          </p:cNvPr>
          <p:cNvPicPr>
            <a:picLocks noChangeAspect="1"/>
          </p:cNvPicPr>
          <p:nvPr/>
        </p:nvPicPr>
        <p:blipFill>
          <a:blip r:embed="rId2"/>
          <a:stretch>
            <a:fillRect/>
          </a:stretch>
        </p:blipFill>
        <p:spPr>
          <a:xfrm>
            <a:off x="1691258" y="1481941"/>
            <a:ext cx="8809483" cy="1082134"/>
          </a:xfrm>
          <a:prstGeom prst="rect">
            <a:avLst/>
          </a:prstGeom>
        </p:spPr>
      </p:pic>
      <p:sp>
        <p:nvSpPr>
          <p:cNvPr id="7" name="TextBox 6">
            <a:extLst>
              <a:ext uri="{FF2B5EF4-FFF2-40B4-BE49-F238E27FC236}">
                <a16:creationId xmlns:a16="http://schemas.microsoft.com/office/drawing/2014/main" id="{D6DA7BD2-C639-51C8-7868-F8EDA315108E}"/>
              </a:ext>
            </a:extLst>
          </p:cNvPr>
          <p:cNvSpPr txBox="1"/>
          <p:nvPr/>
        </p:nvSpPr>
        <p:spPr>
          <a:xfrm>
            <a:off x="706556" y="3036318"/>
            <a:ext cx="1060879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OCIE0:  (Timer/Counter0 Output Compare Match Interrupt Enable)</a:t>
            </a:r>
            <a:r>
              <a:rPr lang="en-US" sz="2800" dirty="0">
                <a:latin typeface="Futura T OT" panose="02000000000000000000" pitchFamily="50" charset="0"/>
              </a:rPr>
              <a:t> It enables compare match interrupt is enabled. The controller jumps to the timer0 interrupt routine, if a compare match in Timer/Counter0 occurs.</a:t>
            </a:r>
          </a:p>
        </p:txBody>
      </p:sp>
      <p:sp>
        <p:nvSpPr>
          <p:cNvPr id="4" name="TextBox 3">
            <a:extLst>
              <a:ext uri="{FF2B5EF4-FFF2-40B4-BE49-F238E27FC236}">
                <a16:creationId xmlns:a16="http://schemas.microsoft.com/office/drawing/2014/main" id="{6D9C39F0-D0A4-F013-8A33-850C739774D2}"/>
              </a:ext>
            </a:extLst>
          </p:cNvPr>
          <p:cNvSpPr txBox="1"/>
          <p:nvPr/>
        </p:nvSpPr>
        <p:spPr>
          <a:xfrm>
            <a:off x="706556" y="4893556"/>
            <a:ext cx="1060879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TOIE0:  (Timer0 Overflow Interrupt Enable) </a:t>
            </a:r>
            <a:r>
              <a:rPr lang="en-US" sz="2800" dirty="0">
                <a:latin typeface="Futura T OT" panose="02000000000000000000" pitchFamily="50" charset="0"/>
              </a:rPr>
              <a:t>This bit is set to set the timer0 interrupt so that as soon as the Timer0 overflows, the controller jumps to the Timer0 interrupt routine.</a:t>
            </a:r>
          </a:p>
        </p:txBody>
      </p:sp>
    </p:spTree>
    <p:extLst>
      <p:ext uri="{BB962C8B-B14F-4D97-AF65-F5344CB8AC3E}">
        <p14:creationId xmlns:p14="http://schemas.microsoft.com/office/powerpoint/2010/main" val="19643126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98CE19-DC3A-B793-D07B-CCDF482D47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3AFAAB-FAC2-9FF1-BD1A-ECAA3387574C}"/>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6" name="TextBox 5">
            <a:extLst>
              <a:ext uri="{FF2B5EF4-FFF2-40B4-BE49-F238E27FC236}">
                <a16:creationId xmlns:a16="http://schemas.microsoft.com/office/drawing/2014/main" id="{00C23A96-653C-2934-8B60-126BB7B7B6F3}"/>
              </a:ext>
            </a:extLst>
          </p:cNvPr>
          <p:cNvSpPr txBox="1"/>
          <p:nvPr/>
        </p:nvSpPr>
        <p:spPr>
          <a:xfrm>
            <a:off x="725053" y="671691"/>
            <a:ext cx="10741891" cy="5909310"/>
          </a:xfrm>
          <a:prstGeom prst="rect">
            <a:avLst/>
          </a:prstGeom>
          <a:noFill/>
        </p:spPr>
        <p:txBody>
          <a:bodyPr wrap="square">
            <a:spAutoFit/>
          </a:bodyPr>
          <a:lstStyle/>
          <a:p>
            <a:r>
              <a:rPr lang="en-US" dirty="0"/>
              <a:t>#include &lt;</a:t>
            </a:r>
            <a:r>
              <a:rPr lang="en-US" dirty="0" err="1"/>
              <a:t>avr</a:t>
            </a:r>
            <a:r>
              <a:rPr lang="en-US" dirty="0"/>
              <a:t>/</a:t>
            </a:r>
            <a:r>
              <a:rPr lang="en-US" dirty="0" err="1"/>
              <a:t>io.h</a:t>
            </a:r>
            <a:r>
              <a:rPr lang="en-US" dirty="0"/>
              <a:t>&gt;</a:t>
            </a:r>
          </a:p>
          <a:p>
            <a:r>
              <a:rPr lang="en-US" dirty="0"/>
              <a:t>#include &lt;</a:t>
            </a:r>
            <a:r>
              <a:rPr lang="en-US" dirty="0" err="1"/>
              <a:t>avr</a:t>
            </a:r>
            <a:r>
              <a:rPr lang="en-US" dirty="0"/>
              <a:t>/</a:t>
            </a:r>
            <a:r>
              <a:rPr lang="en-US" dirty="0" err="1"/>
              <a:t>interrupt.h</a:t>
            </a:r>
            <a:r>
              <a:rPr lang="en-US" dirty="0"/>
              <a:t>&gt;</a:t>
            </a:r>
          </a:p>
          <a:p>
            <a:r>
              <a:rPr lang="en-US" dirty="0"/>
              <a:t>#define TCNT0_PRELOAD_VALUE 0xB2</a:t>
            </a:r>
          </a:p>
          <a:p>
            <a:endParaRPr lang="en-US" dirty="0"/>
          </a:p>
          <a:p>
            <a:r>
              <a:rPr lang="en-US" dirty="0"/>
              <a:t>ISR(TIMER0_OVF_vect) {    </a:t>
            </a:r>
          </a:p>
          <a:p>
            <a:r>
              <a:rPr lang="en-US" dirty="0"/>
              <a:t>TCNT0=TCNT0_PRELOAD_VALUE; </a:t>
            </a:r>
          </a:p>
          <a:p>
            <a:r>
              <a:rPr lang="en-US" dirty="0"/>
              <a:t>PORTB ^= (1 &lt;&lt; PB0); </a:t>
            </a:r>
          </a:p>
          <a:p>
            <a:r>
              <a:rPr lang="en-US" dirty="0"/>
              <a:t>} </a:t>
            </a:r>
          </a:p>
          <a:p>
            <a:endParaRPr lang="en-US" dirty="0"/>
          </a:p>
          <a:p>
            <a:r>
              <a:rPr lang="en-US" dirty="0"/>
              <a:t>void T0_init() {    </a:t>
            </a:r>
          </a:p>
          <a:p>
            <a:r>
              <a:rPr lang="en-US" dirty="0"/>
              <a:t>DDRB |= (1 &lt;&lt; PB0);    </a:t>
            </a:r>
          </a:p>
          <a:p>
            <a:r>
              <a:rPr lang="en-US" dirty="0"/>
              <a:t>TCNT0 = TCNT0_PRELOAD_VALUE;     </a:t>
            </a:r>
          </a:p>
          <a:p>
            <a:r>
              <a:rPr lang="en-US" dirty="0"/>
              <a:t> TCCR0 |= (1 &lt;&lt; CS02) | (1 &lt;&lt; CS00);    </a:t>
            </a:r>
          </a:p>
          <a:p>
            <a:r>
              <a:rPr lang="en-US" dirty="0"/>
              <a:t>TIMSK |= (1 &lt;&lt; TOIE0); </a:t>
            </a:r>
          </a:p>
          <a:p>
            <a:r>
              <a:rPr lang="en-US" dirty="0"/>
              <a:t>sei();</a:t>
            </a:r>
          </a:p>
          <a:p>
            <a:r>
              <a:rPr lang="en-US" dirty="0"/>
              <a:t>}</a:t>
            </a:r>
          </a:p>
          <a:p>
            <a:endParaRPr lang="en-US" dirty="0"/>
          </a:p>
          <a:p>
            <a:r>
              <a:rPr lang="en-US" dirty="0"/>
              <a:t>int main(void) {   </a:t>
            </a:r>
          </a:p>
          <a:p>
            <a:r>
              <a:rPr lang="en-US" dirty="0"/>
              <a:t>T0_init();    </a:t>
            </a:r>
          </a:p>
          <a:p>
            <a:r>
              <a:rPr lang="en-US" dirty="0"/>
              <a:t>while (1);</a:t>
            </a:r>
          </a:p>
          <a:p>
            <a:r>
              <a:rPr lang="en-US" dirty="0"/>
              <a:t>}</a:t>
            </a:r>
          </a:p>
        </p:txBody>
      </p:sp>
    </p:spTree>
    <p:extLst>
      <p:ext uri="{BB962C8B-B14F-4D97-AF65-F5344CB8AC3E}">
        <p14:creationId xmlns:p14="http://schemas.microsoft.com/office/powerpoint/2010/main" val="5799759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DAAB7D-B7F2-C53B-DCBD-649F6C6A7D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C41863-9A84-B1B8-875C-25F4147FBAF2}"/>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Timer and Counter in AVR</a:t>
            </a:r>
          </a:p>
        </p:txBody>
      </p:sp>
      <p:sp>
        <p:nvSpPr>
          <p:cNvPr id="6" name="TextBox 5">
            <a:extLst>
              <a:ext uri="{FF2B5EF4-FFF2-40B4-BE49-F238E27FC236}">
                <a16:creationId xmlns:a16="http://schemas.microsoft.com/office/drawing/2014/main" id="{EE353926-B43F-7E9E-E3AB-8952B63AC794}"/>
              </a:ext>
            </a:extLst>
          </p:cNvPr>
          <p:cNvSpPr txBox="1"/>
          <p:nvPr/>
        </p:nvSpPr>
        <p:spPr>
          <a:xfrm>
            <a:off x="725053" y="1070702"/>
            <a:ext cx="10741891" cy="5355312"/>
          </a:xfrm>
          <a:prstGeom prst="rect">
            <a:avLst/>
          </a:prstGeom>
          <a:noFill/>
        </p:spPr>
        <p:txBody>
          <a:bodyPr wrap="square">
            <a:spAutoFit/>
          </a:bodyPr>
          <a:lstStyle/>
          <a:p>
            <a:r>
              <a:rPr lang="en-US" dirty="0"/>
              <a:t>#include &lt;</a:t>
            </a:r>
            <a:r>
              <a:rPr lang="en-US" dirty="0" err="1"/>
              <a:t>avr</a:t>
            </a:r>
            <a:r>
              <a:rPr lang="en-US" dirty="0"/>
              <a:t>/</a:t>
            </a:r>
            <a:r>
              <a:rPr lang="en-US" dirty="0" err="1"/>
              <a:t>io.h</a:t>
            </a:r>
            <a:r>
              <a:rPr lang="en-US" dirty="0"/>
              <a:t>&gt;</a:t>
            </a:r>
          </a:p>
          <a:p>
            <a:r>
              <a:rPr lang="en-US" dirty="0"/>
              <a:t>#include &lt;</a:t>
            </a:r>
            <a:r>
              <a:rPr lang="en-US" dirty="0" err="1"/>
              <a:t>avr</a:t>
            </a:r>
            <a:r>
              <a:rPr lang="en-US" dirty="0"/>
              <a:t>/</a:t>
            </a:r>
            <a:r>
              <a:rPr lang="en-US" dirty="0" err="1"/>
              <a:t>interrupt.h</a:t>
            </a:r>
            <a:r>
              <a:rPr lang="en-US" dirty="0"/>
              <a:t>&gt;</a:t>
            </a:r>
          </a:p>
          <a:p>
            <a:endParaRPr lang="en-US" dirty="0"/>
          </a:p>
          <a:p>
            <a:r>
              <a:rPr lang="en-US" dirty="0"/>
              <a:t>ISR(TIMER0_COMP_vect) {    </a:t>
            </a:r>
          </a:p>
          <a:p>
            <a:r>
              <a:rPr lang="en-US" dirty="0"/>
              <a:t>PORTB ^= (1 &lt;&lt; PB0); </a:t>
            </a:r>
          </a:p>
          <a:p>
            <a:r>
              <a:rPr lang="en-US" dirty="0"/>
              <a:t>} </a:t>
            </a:r>
          </a:p>
          <a:p>
            <a:endParaRPr lang="en-US" dirty="0"/>
          </a:p>
          <a:p>
            <a:r>
              <a:rPr lang="en-US" dirty="0"/>
              <a:t>void T0_init() {    </a:t>
            </a:r>
          </a:p>
          <a:p>
            <a:r>
              <a:rPr lang="en-US" dirty="0"/>
              <a:t>DDRB |= (1 &lt;&lt; PB0);    </a:t>
            </a:r>
          </a:p>
          <a:p>
            <a:r>
              <a:rPr lang="en-US" dirty="0"/>
              <a:t>OCR = 0x4D;</a:t>
            </a:r>
          </a:p>
          <a:p>
            <a:r>
              <a:rPr lang="en-US" dirty="0"/>
              <a:t>TCCR0 |= (1&lt;&lt;WGM01)| (1 &lt;&lt; CS02) | (1 &lt;&lt; CS00);    </a:t>
            </a:r>
          </a:p>
          <a:p>
            <a:r>
              <a:rPr lang="en-US" dirty="0"/>
              <a:t>TIMSK |= (1 &lt;&lt; OCIE0); </a:t>
            </a:r>
          </a:p>
          <a:p>
            <a:r>
              <a:rPr lang="en-US" dirty="0"/>
              <a:t>sei();</a:t>
            </a:r>
          </a:p>
          <a:p>
            <a:r>
              <a:rPr lang="en-US" dirty="0"/>
              <a:t>}</a:t>
            </a:r>
          </a:p>
          <a:p>
            <a:endParaRPr lang="en-US" dirty="0"/>
          </a:p>
          <a:p>
            <a:r>
              <a:rPr lang="en-US" dirty="0"/>
              <a:t>int main(void) {   </a:t>
            </a:r>
          </a:p>
          <a:p>
            <a:r>
              <a:rPr lang="en-US" dirty="0"/>
              <a:t>T0_init();    </a:t>
            </a:r>
          </a:p>
          <a:p>
            <a:r>
              <a:rPr lang="en-US" dirty="0"/>
              <a:t>while (1);</a:t>
            </a:r>
          </a:p>
          <a:p>
            <a:r>
              <a:rPr lang="en-US" dirty="0"/>
              <a:t>}</a:t>
            </a:r>
          </a:p>
        </p:txBody>
      </p:sp>
    </p:spTree>
    <p:extLst>
      <p:ext uri="{BB962C8B-B14F-4D97-AF65-F5344CB8AC3E}">
        <p14:creationId xmlns:p14="http://schemas.microsoft.com/office/powerpoint/2010/main" val="42315722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61E661-B239-2E00-346E-F618A4851C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6CAF32-8BBF-27F0-5906-6AC5EE79E0E8}"/>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(USART)</a:t>
            </a:r>
          </a:p>
        </p:txBody>
      </p:sp>
      <p:sp>
        <p:nvSpPr>
          <p:cNvPr id="5" name="TextBox 4">
            <a:extLst>
              <a:ext uri="{FF2B5EF4-FFF2-40B4-BE49-F238E27FC236}">
                <a16:creationId xmlns:a16="http://schemas.microsoft.com/office/drawing/2014/main" id="{2C3F2692-BBBB-D032-9810-3802591C0EAD}"/>
              </a:ext>
            </a:extLst>
          </p:cNvPr>
          <p:cNvSpPr txBox="1"/>
          <p:nvPr/>
        </p:nvSpPr>
        <p:spPr>
          <a:xfrm>
            <a:off x="706555" y="1531708"/>
            <a:ext cx="10778887" cy="954107"/>
          </a:xfrm>
          <a:prstGeom prst="rect">
            <a:avLst/>
          </a:prstGeom>
          <a:noFill/>
        </p:spPr>
        <p:txBody>
          <a:bodyPr wrap="square" rtlCol="0">
            <a:spAutoFit/>
          </a:bodyPr>
          <a:lstStyle/>
          <a:p>
            <a:r>
              <a:rPr lang="en-US" sz="2800" dirty="0">
                <a:latin typeface="Futura T OT" panose="02000000000000000000" pitchFamily="50" charset="0"/>
              </a:rPr>
              <a:t>While sending/receiving data, some bits are added for the purpose of knowing the beginning/ending of data.</a:t>
            </a:r>
          </a:p>
        </p:txBody>
      </p:sp>
      <p:pic>
        <p:nvPicPr>
          <p:cNvPr id="1026" name="Picture 2">
            <a:extLst>
              <a:ext uri="{FF2B5EF4-FFF2-40B4-BE49-F238E27FC236}">
                <a16:creationId xmlns:a16="http://schemas.microsoft.com/office/drawing/2014/main" id="{40162DC2-FECD-8BF4-6FC3-8D2727FEED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904" y="2747772"/>
            <a:ext cx="9392188" cy="23870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91BEB84-DC5F-EF74-CA94-242C66CF0F89}"/>
              </a:ext>
            </a:extLst>
          </p:cNvPr>
          <p:cNvSpPr txBox="1"/>
          <p:nvPr/>
        </p:nvSpPr>
        <p:spPr>
          <a:xfrm>
            <a:off x="744656" y="5591089"/>
            <a:ext cx="10778887" cy="954107"/>
          </a:xfrm>
          <a:prstGeom prst="rect">
            <a:avLst/>
          </a:prstGeom>
          <a:noFill/>
        </p:spPr>
        <p:txBody>
          <a:bodyPr wrap="square" rtlCol="0">
            <a:spAutoFit/>
          </a:bodyPr>
          <a:lstStyle/>
          <a:p>
            <a:r>
              <a:rPr lang="en-US" sz="2800" dirty="0">
                <a:latin typeface="Futura T OT" panose="02000000000000000000" pitchFamily="50" charset="0"/>
              </a:rPr>
              <a:t>Baud rate is number of symbols per second. Here, one symbol carries one bit information, so baud rate equals to bit rate.</a:t>
            </a:r>
          </a:p>
        </p:txBody>
      </p:sp>
    </p:spTree>
    <p:extLst>
      <p:ext uri="{BB962C8B-B14F-4D97-AF65-F5344CB8AC3E}">
        <p14:creationId xmlns:p14="http://schemas.microsoft.com/office/powerpoint/2010/main" val="1625629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41A9A1C-ABB8-DF78-2128-8AB0541B04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2B03BE-585C-2CBF-A089-E4496C5B25E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(USART)</a:t>
            </a:r>
          </a:p>
        </p:txBody>
      </p:sp>
      <p:sp>
        <p:nvSpPr>
          <p:cNvPr id="5" name="TextBox 4">
            <a:extLst>
              <a:ext uri="{FF2B5EF4-FFF2-40B4-BE49-F238E27FC236}">
                <a16:creationId xmlns:a16="http://schemas.microsoft.com/office/drawing/2014/main" id="{145152F0-DFF7-88C9-1E3E-CB5998A30C01}"/>
              </a:ext>
            </a:extLst>
          </p:cNvPr>
          <p:cNvSpPr txBox="1"/>
          <p:nvPr/>
        </p:nvSpPr>
        <p:spPr>
          <a:xfrm>
            <a:off x="706555" y="1531708"/>
            <a:ext cx="10778887" cy="954107"/>
          </a:xfrm>
          <a:prstGeom prst="rect">
            <a:avLst/>
          </a:prstGeom>
          <a:noFill/>
        </p:spPr>
        <p:txBody>
          <a:bodyPr wrap="square" rtlCol="0">
            <a:spAutoFit/>
          </a:bodyPr>
          <a:lstStyle/>
          <a:p>
            <a:r>
              <a:rPr lang="en-US" sz="2800" dirty="0">
                <a:latin typeface="Futura T OT" panose="02000000000000000000" pitchFamily="50" charset="0"/>
              </a:rPr>
              <a:t>There are also other supported frame formats available in USART, like parity bit, variable data bits (</a:t>
            </a:r>
            <a:r>
              <a:rPr lang="en-US" sz="2800" dirty="0">
                <a:solidFill>
                  <a:srgbClr val="FF0000"/>
                </a:solidFill>
                <a:latin typeface="Futura T OT" panose="02000000000000000000" pitchFamily="50" charset="0"/>
              </a:rPr>
              <a:t>5-9 data bits</a:t>
            </a:r>
            <a:r>
              <a:rPr lang="en-US" sz="2800" dirty="0">
                <a:latin typeface="Futura T OT" panose="02000000000000000000" pitchFamily="50" charset="0"/>
              </a:rPr>
              <a:t>).</a:t>
            </a:r>
          </a:p>
        </p:txBody>
      </p:sp>
      <p:sp>
        <p:nvSpPr>
          <p:cNvPr id="3" name="TextBox 2">
            <a:extLst>
              <a:ext uri="{FF2B5EF4-FFF2-40B4-BE49-F238E27FC236}">
                <a16:creationId xmlns:a16="http://schemas.microsoft.com/office/drawing/2014/main" id="{4A01F02C-34FB-3F71-B5D4-887C9A534F65}"/>
              </a:ext>
            </a:extLst>
          </p:cNvPr>
          <p:cNvSpPr txBox="1"/>
          <p:nvPr/>
        </p:nvSpPr>
        <p:spPr>
          <a:xfrm>
            <a:off x="744656" y="5591089"/>
            <a:ext cx="10778887" cy="954107"/>
          </a:xfrm>
          <a:prstGeom prst="rect">
            <a:avLst/>
          </a:prstGeom>
          <a:noFill/>
        </p:spPr>
        <p:txBody>
          <a:bodyPr wrap="square" rtlCol="0">
            <a:spAutoFit/>
          </a:bodyPr>
          <a:lstStyle/>
          <a:p>
            <a:r>
              <a:rPr lang="en-US" sz="2800" dirty="0">
                <a:latin typeface="Futura T OT" panose="02000000000000000000" pitchFamily="50" charset="0"/>
              </a:rPr>
              <a:t>AVR </a:t>
            </a:r>
            <a:r>
              <a:rPr lang="en-US" sz="2800" dirty="0" err="1">
                <a:latin typeface="Futura T OT" panose="02000000000000000000" pitchFamily="50" charset="0"/>
              </a:rPr>
              <a:t>Atmega</a:t>
            </a:r>
            <a:r>
              <a:rPr lang="en-US" sz="2800" dirty="0">
                <a:latin typeface="Futura T OT" panose="02000000000000000000" pitchFamily="50" charset="0"/>
              </a:rPr>
              <a:t> USART has a TTL voltage level which is 0V for logic 0 and 5V for logic 1.</a:t>
            </a:r>
          </a:p>
        </p:txBody>
      </p:sp>
      <p:pic>
        <p:nvPicPr>
          <p:cNvPr id="6" name="Picture 5">
            <a:extLst>
              <a:ext uri="{FF2B5EF4-FFF2-40B4-BE49-F238E27FC236}">
                <a16:creationId xmlns:a16="http://schemas.microsoft.com/office/drawing/2014/main" id="{3CCCFB8D-B8F4-F7A5-4486-096134CC6C83}"/>
              </a:ext>
            </a:extLst>
          </p:cNvPr>
          <p:cNvPicPr>
            <a:picLocks noChangeAspect="1"/>
          </p:cNvPicPr>
          <p:nvPr/>
        </p:nvPicPr>
        <p:blipFill>
          <a:blip r:embed="rId2"/>
          <a:stretch>
            <a:fillRect/>
          </a:stretch>
        </p:blipFill>
        <p:spPr>
          <a:xfrm>
            <a:off x="-96903" y="2941928"/>
            <a:ext cx="12462006" cy="1983698"/>
          </a:xfrm>
          <a:prstGeom prst="rect">
            <a:avLst/>
          </a:prstGeom>
        </p:spPr>
      </p:pic>
    </p:spTree>
    <p:extLst>
      <p:ext uri="{BB962C8B-B14F-4D97-AF65-F5344CB8AC3E}">
        <p14:creationId xmlns:p14="http://schemas.microsoft.com/office/powerpoint/2010/main" val="1686292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E51A6E3-19C3-2A8F-972A-2DBA73AFD7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53C292-A1B2-5EE7-7C5D-212578157E92}"/>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(USART)</a:t>
            </a:r>
          </a:p>
        </p:txBody>
      </p:sp>
      <p:sp>
        <p:nvSpPr>
          <p:cNvPr id="5" name="TextBox 4">
            <a:extLst>
              <a:ext uri="{FF2B5EF4-FFF2-40B4-BE49-F238E27FC236}">
                <a16:creationId xmlns:a16="http://schemas.microsoft.com/office/drawing/2014/main" id="{A0B6AB7F-58A7-7A90-AE74-F189906A357F}"/>
              </a:ext>
            </a:extLst>
          </p:cNvPr>
          <p:cNvSpPr txBox="1"/>
          <p:nvPr/>
        </p:nvSpPr>
        <p:spPr>
          <a:xfrm>
            <a:off x="497793" y="878973"/>
            <a:ext cx="6708398" cy="523220"/>
          </a:xfrm>
          <a:prstGeom prst="rect">
            <a:avLst/>
          </a:prstGeom>
          <a:noFill/>
        </p:spPr>
        <p:txBody>
          <a:bodyPr wrap="square" rtlCol="0">
            <a:spAutoFit/>
          </a:bodyPr>
          <a:lstStyle/>
          <a:p>
            <a:r>
              <a:rPr lang="en-US" sz="2800" dirty="0">
                <a:latin typeface="Futura T OT" panose="02000000000000000000" pitchFamily="50" charset="0"/>
              </a:rPr>
              <a:t>UDR: USART Data Register</a:t>
            </a:r>
            <a:endParaRPr lang="en-US" sz="2800" dirty="0">
              <a:solidFill>
                <a:srgbClr val="FF0000"/>
              </a:solidFill>
              <a:latin typeface="Futura T OT" panose="02000000000000000000" pitchFamily="50" charset="0"/>
            </a:endParaRPr>
          </a:p>
        </p:txBody>
      </p:sp>
      <p:sp>
        <p:nvSpPr>
          <p:cNvPr id="8" name="TextBox 7">
            <a:extLst>
              <a:ext uri="{FF2B5EF4-FFF2-40B4-BE49-F238E27FC236}">
                <a16:creationId xmlns:a16="http://schemas.microsoft.com/office/drawing/2014/main" id="{B05843BD-39D7-F47E-DAA4-68B2309E2BA7}"/>
              </a:ext>
            </a:extLst>
          </p:cNvPr>
          <p:cNvSpPr txBox="1"/>
          <p:nvPr/>
        </p:nvSpPr>
        <p:spPr>
          <a:xfrm>
            <a:off x="497793" y="3510919"/>
            <a:ext cx="6708398" cy="523220"/>
          </a:xfrm>
          <a:prstGeom prst="rect">
            <a:avLst/>
          </a:prstGeom>
          <a:noFill/>
        </p:spPr>
        <p:txBody>
          <a:bodyPr wrap="square" rtlCol="0">
            <a:spAutoFit/>
          </a:bodyPr>
          <a:lstStyle/>
          <a:p>
            <a:r>
              <a:rPr lang="en-US" sz="2800" dirty="0">
                <a:latin typeface="Futura T OT" panose="02000000000000000000" pitchFamily="50" charset="0"/>
              </a:rPr>
              <a:t>UCSRA: USART Control and Status Register A.</a:t>
            </a:r>
            <a:endParaRPr lang="en-US" sz="2800" dirty="0">
              <a:solidFill>
                <a:srgbClr val="FF0000"/>
              </a:solidFill>
              <a:latin typeface="Futura T OT" panose="02000000000000000000" pitchFamily="50" charset="0"/>
            </a:endParaRPr>
          </a:p>
        </p:txBody>
      </p:sp>
      <p:sp>
        <p:nvSpPr>
          <p:cNvPr id="9" name="TextBox 8">
            <a:extLst>
              <a:ext uri="{FF2B5EF4-FFF2-40B4-BE49-F238E27FC236}">
                <a16:creationId xmlns:a16="http://schemas.microsoft.com/office/drawing/2014/main" id="{F4879608-D02C-4B1C-626A-31AC8490A8EA}"/>
              </a:ext>
            </a:extLst>
          </p:cNvPr>
          <p:cNvSpPr txBox="1"/>
          <p:nvPr/>
        </p:nvSpPr>
        <p:spPr>
          <a:xfrm>
            <a:off x="497793" y="5501973"/>
            <a:ext cx="10608790" cy="954107"/>
          </a:xfrm>
          <a:prstGeom prst="rect">
            <a:avLst/>
          </a:prstGeom>
          <a:noFill/>
        </p:spPr>
        <p:txBody>
          <a:bodyPr wrap="square" rtlCol="0">
            <a:spAutoFit/>
          </a:bodyPr>
          <a:lstStyle/>
          <a:p>
            <a:r>
              <a:rPr lang="en-US" sz="2800" dirty="0">
                <a:latin typeface="Futura T OT" panose="02000000000000000000" pitchFamily="50" charset="0"/>
              </a:rPr>
              <a:t>UBRR: USART Baud Rate Register, this is a </a:t>
            </a:r>
            <a:r>
              <a:rPr lang="en-US" sz="2800" dirty="0">
                <a:solidFill>
                  <a:srgbClr val="FF0000"/>
                </a:solidFill>
                <a:latin typeface="Futura T OT" panose="02000000000000000000" pitchFamily="50" charset="0"/>
              </a:rPr>
              <a:t>16-bit register </a:t>
            </a:r>
            <a:r>
              <a:rPr lang="en-US" sz="2800" dirty="0">
                <a:latin typeface="Futura T OT" panose="02000000000000000000" pitchFamily="50" charset="0"/>
              </a:rPr>
              <a:t>used for the setting baud rate.</a:t>
            </a:r>
            <a:endParaRPr lang="en-US" sz="2800" dirty="0">
              <a:solidFill>
                <a:srgbClr val="FF0000"/>
              </a:solidFill>
              <a:latin typeface="Futura T OT" panose="02000000000000000000" pitchFamily="50" charset="0"/>
            </a:endParaRPr>
          </a:p>
        </p:txBody>
      </p:sp>
      <p:sp>
        <p:nvSpPr>
          <p:cNvPr id="3" name="TextBox 2">
            <a:extLst>
              <a:ext uri="{FF2B5EF4-FFF2-40B4-BE49-F238E27FC236}">
                <a16:creationId xmlns:a16="http://schemas.microsoft.com/office/drawing/2014/main" id="{61FB0679-C698-5652-93ED-5AB2A651838A}"/>
              </a:ext>
            </a:extLst>
          </p:cNvPr>
          <p:cNvSpPr txBox="1"/>
          <p:nvPr/>
        </p:nvSpPr>
        <p:spPr>
          <a:xfrm>
            <a:off x="497793" y="1531200"/>
            <a:ext cx="10608790" cy="1815882"/>
          </a:xfrm>
          <a:prstGeom prst="rect">
            <a:avLst/>
          </a:prstGeom>
          <a:noFill/>
        </p:spPr>
        <p:txBody>
          <a:bodyPr wrap="square" rtlCol="0">
            <a:spAutoFit/>
          </a:bodyPr>
          <a:lstStyle/>
          <a:p>
            <a:r>
              <a:rPr lang="en-US" sz="2800" dirty="0">
                <a:latin typeface="Futura T OT" panose="02000000000000000000" pitchFamily="50" charset="0"/>
              </a:rPr>
              <a:t>It has basically two registers, one is Tx byte and the other is Rx byte. Both share the </a:t>
            </a:r>
            <a:r>
              <a:rPr lang="en-US" sz="2800" dirty="0">
                <a:solidFill>
                  <a:srgbClr val="FF0000"/>
                </a:solidFill>
                <a:latin typeface="Futura T OT" panose="02000000000000000000" pitchFamily="50" charset="0"/>
              </a:rPr>
              <a:t>same UDR register</a:t>
            </a:r>
            <a:r>
              <a:rPr lang="en-US" sz="2800" dirty="0">
                <a:latin typeface="Futura T OT" panose="02000000000000000000" pitchFamily="50" charset="0"/>
              </a:rPr>
              <a:t>. When we write to the UDR reg. Tx buffer will get written and when we read from this register, Rx buffer will get read. Buffer uses the FIFO shift register to transmit the data.</a:t>
            </a:r>
          </a:p>
        </p:txBody>
      </p:sp>
      <p:sp>
        <p:nvSpPr>
          <p:cNvPr id="4" name="TextBox 3">
            <a:extLst>
              <a:ext uri="{FF2B5EF4-FFF2-40B4-BE49-F238E27FC236}">
                <a16:creationId xmlns:a16="http://schemas.microsoft.com/office/drawing/2014/main" id="{4B4B1767-05FD-4469-366E-63D6C0D18BF8}"/>
              </a:ext>
            </a:extLst>
          </p:cNvPr>
          <p:cNvSpPr txBox="1"/>
          <p:nvPr/>
        </p:nvSpPr>
        <p:spPr>
          <a:xfrm>
            <a:off x="497793" y="4149381"/>
            <a:ext cx="6708398" cy="523220"/>
          </a:xfrm>
          <a:prstGeom prst="rect">
            <a:avLst/>
          </a:prstGeom>
          <a:noFill/>
        </p:spPr>
        <p:txBody>
          <a:bodyPr wrap="square" rtlCol="0">
            <a:spAutoFit/>
          </a:bodyPr>
          <a:lstStyle/>
          <a:p>
            <a:r>
              <a:rPr lang="en-US" sz="2800" dirty="0">
                <a:latin typeface="Futura T OT" panose="02000000000000000000" pitchFamily="50" charset="0"/>
              </a:rPr>
              <a:t>UCSRB: USART Control and Status Register B.</a:t>
            </a:r>
            <a:endParaRPr lang="en-US" sz="2800" dirty="0">
              <a:solidFill>
                <a:srgbClr val="FF0000"/>
              </a:solidFill>
              <a:latin typeface="Futura T OT" panose="02000000000000000000" pitchFamily="50" charset="0"/>
            </a:endParaRPr>
          </a:p>
        </p:txBody>
      </p:sp>
      <p:sp>
        <p:nvSpPr>
          <p:cNvPr id="6" name="TextBox 5">
            <a:extLst>
              <a:ext uri="{FF2B5EF4-FFF2-40B4-BE49-F238E27FC236}">
                <a16:creationId xmlns:a16="http://schemas.microsoft.com/office/drawing/2014/main" id="{A426D148-DCC3-FF51-A6FE-B2D71EB5A2CA}"/>
              </a:ext>
            </a:extLst>
          </p:cNvPr>
          <p:cNvSpPr txBox="1"/>
          <p:nvPr/>
        </p:nvSpPr>
        <p:spPr>
          <a:xfrm>
            <a:off x="497793" y="4836438"/>
            <a:ext cx="6708398" cy="523220"/>
          </a:xfrm>
          <a:prstGeom prst="rect">
            <a:avLst/>
          </a:prstGeom>
          <a:noFill/>
        </p:spPr>
        <p:txBody>
          <a:bodyPr wrap="square" rtlCol="0">
            <a:spAutoFit/>
          </a:bodyPr>
          <a:lstStyle/>
          <a:p>
            <a:r>
              <a:rPr lang="en-US" sz="2800" dirty="0">
                <a:latin typeface="Futura T OT" panose="02000000000000000000" pitchFamily="50" charset="0"/>
              </a:rPr>
              <a:t>UCSRC: USART Control and Status Register C.</a:t>
            </a:r>
            <a:endParaRPr lang="en-US" sz="2800" dirty="0">
              <a:solidFill>
                <a:srgbClr val="FF0000"/>
              </a:solidFill>
              <a:latin typeface="Futura T OT" panose="02000000000000000000" pitchFamily="50" charset="0"/>
            </a:endParaRPr>
          </a:p>
        </p:txBody>
      </p:sp>
    </p:spTree>
    <p:extLst>
      <p:ext uri="{BB962C8B-B14F-4D97-AF65-F5344CB8AC3E}">
        <p14:creationId xmlns:p14="http://schemas.microsoft.com/office/powerpoint/2010/main" val="39357416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E9B46C-6A89-BA41-406F-2B5117590D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09079D-0333-50AE-3594-3AFD14CE80BB}"/>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FD496E88-5D14-4F5B-2C0D-8D9B13A41554}"/>
              </a:ext>
            </a:extLst>
          </p:cNvPr>
          <p:cNvSpPr txBox="1"/>
          <p:nvPr/>
        </p:nvSpPr>
        <p:spPr>
          <a:xfrm>
            <a:off x="706556" y="771748"/>
            <a:ext cx="6323591"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UCSRA: USART control and status register A</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9D4B89BF-7986-F5BC-88B8-6FE395EF94AB}"/>
              </a:ext>
            </a:extLst>
          </p:cNvPr>
          <p:cNvSpPr txBox="1"/>
          <p:nvPr/>
        </p:nvSpPr>
        <p:spPr>
          <a:xfrm>
            <a:off x="706556" y="3036318"/>
            <a:ext cx="1060879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RXC (USART Receive Complete) : </a:t>
            </a:r>
            <a:r>
              <a:rPr lang="en-US" sz="2800" dirty="0">
                <a:latin typeface="Futura T OT" panose="02000000000000000000" pitchFamily="50" charset="0"/>
              </a:rPr>
              <a:t>This flag bit is set when there is unread data in UDR. The RXC flag can be used to generate a receive complete interrupt.</a:t>
            </a:r>
          </a:p>
        </p:txBody>
      </p:sp>
      <p:sp>
        <p:nvSpPr>
          <p:cNvPr id="4" name="TextBox 3">
            <a:extLst>
              <a:ext uri="{FF2B5EF4-FFF2-40B4-BE49-F238E27FC236}">
                <a16:creationId xmlns:a16="http://schemas.microsoft.com/office/drawing/2014/main" id="{43C0C56B-165D-D10A-6D6C-FD71F1CFD970}"/>
              </a:ext>
            </a:extLst>
          </p:cNvPr>
          <p:cNvSpPr txBox="1"/>
          <p:nvPr/>
        </p:nvSpPr>
        <p:spPr>
          <a:xfrm>
            <a:off x="706556" y="4893556"/>
            <a:ext cx="1060879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TXC (USART Transmit Complete) </a:t>
            </a:r>
            <a:r>
              <a:rPr lang="en-US" sz="2800" dirty="0">
                <a:latin typeface="Futura T OT" panose="02000000000000000000" pitchFamily="50" charset="0"/>
              </a:rPr>
              <a:t>This flag bit is set when the entire frame from Tx Buffer is shifted out and there is no new data currently present in the transmit buffer (UDR).</a:t>
            </a:r>
          </a:p>
        </p:txBody>
      </p:sp>
      <p:pic>
        <p:nvPicPr>
          <p:cNvPr id="6" name="Picture 5">
            <a:extLst>
              <a:ext uri="{FF2B5EF4-FFF2-40B4-BE49-F238E27FC236}">
                <a16:creationId xmlns:a16="http://schemas.microsoft.com/office/drawing/2014/main" id="{470E2631-1AA3-2315-72B8-36E499CB127C}"/>
              </a:ext>
            </a:extLst>
          </p:cNvPr>
          <p:cNvPicPr>
            <a:picLocks noChangeAspect="1"/>
          </p:cNvPicPr>
          <p:nvPr/>
        </p:nvPicPr>
        <p:blipFill>
          <a:blip r:embed="rId2"/>
          <a:stretch>
            <a:fillRect/>
          </a:stretch>
        </p:blipFill>
        <p:spPr>
          <a:xfrm>
            <a:off x="706556" y="1365473"/>
            <a:ext cx="11217612" cy="1600339"/>
          </a:xfrm>
          <a:prstGeom prst="rect">
            <a:avLst/>
          </a:prstGeom>
        </p:spPr>
      </p:pic>
    </p:spTree>
    <p:extLst>
      <p:ext uri="{BB962C8B-B14F-4D97-AF65-F5344CB8AC3E}">
        <p14:creationId xmlns:p14="http://schemas.microsoft.com/office/powerpoint/2010/main" val="37086900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5A498D6-252E-3C67-79CF-0977F530A8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964E09-B51C-C1D6-F845-2022F7679375}"/>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88F5C20A-7912-0967-2852-29957211FF46}"/>
              </a:ext>
            </a:extLst>
          </p:cNvPr>
          <p:cNvSpPr txBox="1"/>
          <p:nvPr/>
        </p:nvSpPr>
        <p:spPr>
          <a:xfrm>
            <a:off x="706556" y="771748"/>
            <a:ext cx="6323591"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UCSRA: USART control and status register A</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BFBBC3A4-022D-EB82-77A4-7CC775A82577}"/>
              </a:ext>
            </a:extLst>
          </p:cNvPr>
          <p:cNvSpPr txBox="1"/>
          <p:nvPr/>
        </p:nvSpPr>
        <p:spPr>
          <a:xfrm>
            <a:off x="706556" y="3036318"/>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UDRE (USART Data register Empty): </a:t>
            </a:r>
            <a:r>
              <a:rPr lang="en-US" sz="2800" dirty="0">
                <a:latin typeface="Futura T OT" panose="02000000000000000000" pitchFamily="50" charset="0"/>
              </a:rPr>
              <a:t>If UDRE is one, the buffer is empty which indicates the transmit buffer (UDR) is ready to receive new data.</a:t>
            </a:r>
          </a:p>
        </p:txBody>
      </p:sp>
      <p:sp>
        <p:nvSpPr>
          <p:cNvPr id="4" name="TextBox 3">
            <a:extLst>
              <a:ext uri="{FF2B5EF4-FFF2-40B4-BE49-F238E27FC236}">
                <a16:creationId xmlns:a16="http://schemas.microsoft.com/office/drawing/2014/main" id="{B59D2983-2EC9-E319-7925-13950A5886E9}"/>
              </a:ext>
            </a:extLst>
          </p:cNvPr>
          <p:cNvSpPr txBox="1"/>
          <p:nvPr/>
        </p:nvSpPr>
        <p:spPr>
          <a:xfrm>
            <a:off x="714843" y="4723574"/>
            <a:ext cx="1060879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U2X: </a:t>
            </a:r>
            <a:r>
              <a:rPr lang="en-US" sz="2800" dirty="0">
                <a:latin typeface="Futura T OT" panose="02000000000000000000" pitchFamily="50" charset="0"/>
              </a:rPr>
              <a:t>Double the USART transmission Speed</a:t>
            </a:r>
          </a:p>
        </p:txBody>
      </p:sp>
      <p:pic>
        <p:nvPicPr>
          <p:cNvPr id="5" name="Picture 4">
            <a:extLst>
              <a:ext uri="{FF2B5EF4-FFF2-40B4-BE49-F238E27FC236}">
                <a16:creationId xmlns:a16="http://schemas.microsoft.com/office/drawing/2014/main" id="{67D6D184-2177-21DC-B24A-E86F5BFD5987}"/>
              </a:ext>
            </a:extLst>
          </p:cNvPr>
          <p:cNvPicPr>
            <a:picLocks noChangeAspect="1"/>
          </p:cNvPicPr>
          <p:nvPr/>
        </p:nvPicPr>
        <p:blipFill>
          <a:blip r:embed="rId2"/>
          <a:stretch>
            <a:fillRect/>
          </a:stretch>
        </p:blipFill>
        <p:spPr>
          <a:xfrm>
            <a:off x="706556" y="1365473"/>
            <a:ext cx="11217612" cy="1600339"/>
          </a:xfrm>
          <a:prstGeom prst="rect">
            <a:avLst/>
          </a:prstGeom>
        </p:spPr>
      </p:pic>
    </p:spTree>
    <p:extLst>
      <p:ext uri="{BB962C8B-B14F-4D97-AF65-F5344CB8AC3E}">
        <p14:creationId xmlns:p14="http://schemas.microsoft.com/office/powerpoint/2010/main" val="35245355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EDFFD0-9889-266D-26AE-59348D6949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B9C2BD-7D09-7B8B-5DAB-405CD73A8A7A}"/>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CA59C164-59A0-C470-F6D2-7449E24A81DA}"/>
              </a:ext>
            </a:extLst>
          </p:cNvPr>
          <p:cNvSpPr txBox="1"/>
          <p:nvPr/>
        </p:nvSpPr>
        <p:spPr>
          <a:xfrm>
            <a:off x="706556" y="771748"/>
            <a:ext cx="6349687"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UCSRC: USART control and status register C</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066893EB-1D1B-A04B-3544-D6C955D8BCC7}"/>
              </a:ext>
            </a:extLst>
          </p:cNvPr>
          <p:cNvSpPr txBox="1"/>
          <p:nvPr/>
        </p:nvSpPr>
        <p:spPr>
          <a:xfrm>
            <a:off x="706556" y="3036318"/>
            <a:ext cx="10608790"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URSEL (USART Register Select) : </a:t>
            </a:r>
            <a:r>
              <a:rPr lang="en-US" sz="2800" dirty="0">
                <a:latin typeface="Futura T OT" panose="02000000000000000000" pitchFamily="50" charset="0"/>
              </a:rPr>
              <a:t>This bit selects between accessing the UCSRC or the UBRRH register. It is read as </a:t>
            </a:r>
            <a:r>
              <a:rPr lang="en-US" sz="2800" dirty="0">
                <a:solidFill>
                  <a:srgbClr val="FF0000"/>
                </a:solidFill>
                <a:latin typeface="Futura T OT" panose="02000000000000000000" pitchFamily="50" charset="0"/>
              </a:rPr>
              <a:t>one</a:t>
            </a:r>
            <a:r>
              <a:rPr lang="en-US" sz="2800" dirty="0">
                <a:latin typeface="Futura T OT" panose="02000000000000000000" pitchFamily="50" charset="0"/>
              </a:rPr>
              <a:t> when reading UCSRC. The URSEL must be one when writing the UCSRC.</a:t>
            </a:r>
          </a:p>
        </p:txBody>
      </p:sp>
      <p:sp>
        <p:nvSpPr>
          <p:cNvPr id="4" name="TextBox 3">
            <a:extLst>
              <a:ext uri="{FF2B5EF4-FFF2-40B4-BE49-F238E27FC236}">
                <a16:creationId xmlns:a16="http://schemas.microsoft.com/office/drawing/2014/main" id="{952DF38B-8BAD-F63D-97C8-230852BDC31E}"/>
              </a:ext>
            </a:extLst>
          </p:cNvPr>
          <p:cNvSpPr txBox="1"/>
          <p:nvPr/>
        </p:nvSpPr>
        <p:spPr>
          <a:xfrm>
            <a:off x="706556" y="4462668"/>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UMSEL (USART mode select): </a:t>
            </a:r>
            <a:r>
              <a:rPr lang="en-US" sz="2800" dirty="0">
                <a:latin typeface="Futura T OT" panose="02000000000000000000" pitchFamily="50" charset="0"/>
              </a:rPr>
              <a:t>This bit select between Asynchronous and Synchronous mode of operation. </a:t>
            </a:r>
            <a:r>
              <a:rPr lang="en-US" sz="2800" dirty="0">
                <a:solidFill>
                  <a:srgbClr val="FF0000"/>
                </a:solidFill>
                <a:latin typeface="Futura T OT" panose="02000000000000000000" pitchFamily="50" charset="0"/>
              </a:rPr>
              <a:t>0 for Asynchronous</a:t>
            </a:r>
          </a:p>
        </p:txBody>
      </p:sp>
      <p:pic>
        <p:nvPicPr>
          <p:cNvPr id="10" name="Picture 9">
            <a:extLst>
              <a:ext uri="{FF2B5EF4-FFF2-40B4-BE49-F238E27FC236}">
                <a16:creationId xmlns:a16="http://schemas.microsoft.com/office/drawing/2014/main" id="{ED083B13-74CC-B6AF-6B73-A4F278D0EB6E}"/>
              </a:ext>
            </a:extLst>
          </p:cNvPr>
          <p:cNvPicPr>
            <a:picLocks noChangeAspect="1"/>
          </p:cNvPicPr>
          <p:nvPr/>
        </p:nvPicPr>
        <p:blipFill>
          <a:blip r:embed="rId2"/>
          <a:srcRect t="15716"/>
          <a:stretch>
            <a:fillRect/>
          </a:stretch>
        </p:blipFill>
        <p:spPr>
          <a:xfrm>
            <a:off x="706556" y="1481940"/>
            <a:ext cx="11217612" cy="1554377"/>
          </a:xfrm>
          <a:prstGeom prst="rect">
            <a:avLst/>
          </a:prstGeom>
        </p:spPr>
      </p:pic>
      <p:sp>
        <p:nvSpPr>
          <p:cNvPr id="11" name="TextBox 10">
            <a:extLst>
              <a:ext uri="{FF2B5EF4-FFF2-40B4-BE49-F238E27FC236}">
                <a16:creationId xmlns:a16="http://schemas.microsoft.com/office/drawing/2014/main" id="{96330C8A-745B-1C3C-255F-3BD783ACD3E9}"/>
              </a:ext>
            </a:extLst>
          </p:cNvPr>
          <p:cNvSpPr txBox="1"/>
          <p:nvPr/>
        </p:nvSpPr>
        <p:spPr>
          <a:xfrm>
            <a:off x="706556" y="5609198"/>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UPM1-UPM0 (USART Parity Mode) </a:t>
            </a:r>
            <a:r>
              <a:rPr lang="en-US" sz="2800" dirty="0">
                <a:latin typeface="Futura T OT" panose="02000000000000000000" pitchFamily="50" charset="0"/>
              </a:rPr>
              <a:t>00 for disabled, 10 for even parity and 11 for odd parity.</a:t>
            </a:r>
          </a:p>
        </p:txBody>
      </p:sp>
    </p:spTree>
    <p:extLst>
      <p:ext uri="{BB962C8B-B14F-4D97-AF65-F5344CB8AC3E}">
        <p14:creationId xmlns:p14="http://schemas.microsoft.com/office/powerpoint/2010/main" val="20698455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0AC427C-DC38-BB8E-8D68-545845ED4A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22013A-9AD1-7EE2-DD71-10966B554323}"/>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3DD2561A-6B7A-0BFA-3BDE-93046925665C}"/>
              </a:ext>
            </a:extLst>
          </p:cNvPr>
          <p:cNvSpPr txBox="1"/>
          <p:nvPr/>
        </p:nvSpPr>
        <p:spPr>
          <a:xfrm>
            <a:off x="706556" y="771748"/>
            <a:ext cx="6349687"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UCSRC: USART control and status register C</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7EED4EB9-A1DE-9268-F47A-D09B8A4144A7}"/>
              </a:ext>
            </a:extLst>
          </p:cNvPr>
          <p:cNvSpPr txBox="1"/>
          <p:nvPr/>
        </p:nvSpPr>
        <p:spPr>
          <a:xfrm>
            <a:off x="706556" y="3487882"/>
            <a:ext cx="10608790"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USBS (USART Stop Bit Select) : </a:t>
            </a:r>
            <a:r>
              <a:rPr lang="en-US" sz="2800" dirty="0">
                <a:latin typeface="Futura T OT" panose="02000000000000000000" pitchFamily="50" charset="0"/>
              </a:rPr>
              <a:t>0 for 1-stop bit and 1 for 2-stop bit.</a:t>
            </a:r>
          </a:p>
        </p:txBody>
      </p:sp>
      <p:sp>
        <p:nvSpPr>
          <p:cNvPr id="4" name="TextBox 3">
            <a:extLst>
              <a:ext uri="{FF2B5EF4-FFF2-40B4-BE49-F238E27FC236}">
                <a16:creationId xmlns:a16="http://schemas.microsoft.com/office/drawing/2014/main" id="{E44AF4C4-4E0F-C60F-6446-3268DFEECD6E}"/>
              </a:ext>
            </a:extLst>
          </p:cNvPr>
          <p:cNvSpPr txBox="1"/>
          <p:nvPr/>
        </p:nvSpPr>
        <p:spPr>
          <a:xfrm>
            <a:off x="706556" y="4462668"/>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UCSZ2,UCSZ1,UCSZ0 (USART Character Size): </a:t>
            </a:r>
            <a:r>
              <a:rPr lang="en-US" sz="2800" dirty="0">
                <a:latin typeface="Futura T OT" panose="02000000000000000000" pitchFamily="50" charset="0"/>
              </a:rPr>
              <a:t>000 for 5-bits, 001 for 6-bits, 010 for 7-bits, 011 for 8-bits and 111 for 9-bits.</a:t>
            </a:r>
          </a:p>
        </p:txBody>
      </p:sp>
      <p:pic>
        <p:nvPicPr>
          <p:cNvPr id="10" name="Picture 9">
            <a:extLst>
              <a:ext uri="{FF2B5EF4-FFF2-40B4-BE49-F238E27FC236}">
                <a16:creationId xmlns:a16="http://schemas.microsoft.com/office/drawing/2014/main" id="{8F7471CF-CD6C-6829-A8CA-5FD3B90FE164}"/>
              </a:ext>
            </a:extLst>
          </p:cNvPr>
          <p:cNvPicPr>
            <a:picLocks noChangeAspect="1"/>
          </p:cNvPicPr>
          <p:nvPr/>
        </p:nvPicPr>
        <p:blipFill>
          <a:blip r:embed="rId2"/>
          <a:srcRect t="15716"/>
          <a:stretch>
            <a:fillRect/>
          </a:stretch>
        </p:blipFill>
        <p:spPr>
          <a:xfrm>
            <a:off x="706556" y="1481940"/>
            <a:ext cx="11217612" cy="1554377"/>
          </a:xfrm>
          <a:prstGeom prst="rect">
            <a:avLst/>
          </a:prstGeom>
        </p:spPr>
      </p:pic>
    </p:spTree>
    <p:extLst>
      <p:ext uri="{BB962C8B-B14F-4D97-AF65-F5344CB8AC3E}">
        <p14:creationId xmlns:p14="http://schemas.microsoft.com/office/powerpoint/2010/main" val="37533801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F2B175-3A4C-5D35-106A-16C67C41DC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13B690-A22D-E2F6-40C9-FB969B9C9BA7}"/>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F31F9A31-2251-B22E-308B-8B0701CC60C5}"/>
              </a:ext>
            </a:extLst>
          </p:cNvPr>
          <p:cNvSpPr txBox="1"/>
          <p:nvPr/>
        </p:nvSpPr>
        <p:spPr>
          <a:xfrm>
            <a:off x="706556" y="771748"/>
            <a:ext cx="6259470"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UCSRB: USART control and status register B</a:t>
            </a:r>
            <a:endParaRPr lang="en-US" sz="2800" dirty="0">
              <a:solidFill>
                <a:srgbClr val="4472C4"/>
              </a:solidFill>
              <a:latin typeface="Futura T OT" panose="02000000000000000000" pitchFamily="50" charset="0"/>
            </a:endParaRPr>
          </a:p>
        </p:txBody>
      </p:sp>
      <p:sp>
        <p:nvSpPr>
          <p:cNvPr id="7" name="TextBox 6">
            <a:extLst>
              <a:ext uri="{FF2B5EF4-FFF2-40B4-BE49-F238E27FC236}">
                <a16:creationId xmlns:a16="http://schemas.microsoft.com/office/drawing/2014/main" id="{4A8AC9FA-C49D-881D-B26A-C63C402B64F5}"/>
              </a:ext>
            </a:extLst>
          </p:cNvPr>
          <p:cNvSpPr txBox="1"/>
          <p:nvPr/>
        </p:nvSpPr>
        <p:spPr>
          <a:xfrm>
            <a:off x="706556" y="3036318"/>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RXEN (Receiver Enable) : </a:t>
            </a:r>
            <a:r>
              <a:rPr lang="en-US" sz="2800" dirty="0">
                <a:latin typeface="Futura T OT" panose="02000000000000000000" pitchFamily="50" charset="0"/>
              </a:rPr>
              <a:t>Writing this bit to one enables the USART Receiver.</a:t>
            </a:r>
          </a:p>
        </p:txBody>
      </p:sp>
      <p:sp>
        <p:nvSpPr>
          <p:cNvPr id="4" name="TextBox 3">
            <a:extLst>
              <a:ext uri="{FF2B5EF4-FFF2-40B4-BE49-F238E27FC236}">
                <a16:creationId xmlns:a16="http://schemas.microsoft.com/office/drawing/2014/main" id="{0A9F5E9D-1CBC-FE72-7703-710E516AD530}"/>
              </a:ext>
            </a:extLst>
          </p:cNvPr>
          <p:cNvSpPr txBox="1"/>
          <p:nvPr/>
        </p:nvSpPr>
        <p:spPr>
          <a:xfrm>
            <a:off x="706556" y="3990425"/>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TXEN (Transmitter Enable): </a:t>
            </a:r>
            <a:r>
              <a:rPr lang="en-US" sz="2800" dirty="0">
                <a:latin typeface="Futura T OT" panose="02000000000000000000" pitchFamily="50" charset="0"/>
              </a:rPr>
              <a:t>Writing this bit one enables the USART transmitter.</a:t>
            </a:r>
          </a:p>
        </p:txBody>
      </p:sp>
      <p:pic>
        <p:nvPicPr>
          <p:cNvPr id="8" name="Picture 7">
            <a:extLst>
              <a:ext uri="{FF2B5EF4-FFF2-40B4-BE49-F238E27FC236}">
                <a16:creationId xmlns:a16="http://schemas.microsoft.com/office/drawing/2014/main" id="{80D770BD-A989-B040-F0A6-E9C801D30A57}"/>
              </a:ext>
            </a:extLst>
          </p:cNvPr>
          <p:cNvPicPr>
            <a:picLocks noChangeAspect="1"/>
          </p:cNvPicPr>
          <p:nvPr/>
        </p:nvPicPr>
        <p:blipFill>
          <a:blip r:embed="rId2"/>
          <a:stretch>
            <a:fillRect/>
          </a:stretch>
        </p:blipFill>
        <p:spPr>
          <a:xfrm>
            <a:off x="706556" y="1294968"/>
            <a:ext cx="11255715" cy="1760373"/>
          </a:xfrm>
          <a:prstGeom prst="rect">
            <a:avLst/>
          </a:prstGeom>
        </p:spPr>
      </p:pic>
      <p:sp>
        <p:nvSpPr>
          <p:cNvPr id="5" name="TextBox 4">
            <a:extLst>
              <a:ext uri="{FF2B5EF4-FFF2-40B4-BE49-F238E27FC236}">
                <a16:creationId xmlns:a16="http://schemas.microsoft.com/office/drawing/2014/main" id="{8C49FAB8-0B4D-95F8-40A9-548EA062A6A1}"/>
              </a:ext>
            </a:extLst>
          </p:cNvPr>
          <p:cNvSpPr txBox="1"/>
          <p:nvPr/>
        </p:nvSpPr>
        <p:spPr>
          <a:xfrm>
            <a:off x="706556" y="4944532"/>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RXB8 (Receive data Bit 8): </a:t>
            </a:r>
            <a:r>
              <a:rPr lang="en-US" sz="2800" dirty="0">
                <a:latin typeface="Futura T OT" panose="02000000000000000000" pitchFamily="50" charset="0"/>
              </a:rPr>
              <a:t>The ninth bit of the received character. Must be read before reading the low bits from UDR.</a:t>
            </a:r>
          </a:p>
        </p:txBody>
      </p:sp>
      <p:sp>
        <p:nvSpPr>
          <p:cNvPr id="6" name="TextBox 5">
            <a:extLst>
              <a:ext uri="{FF2B5EF4-FFF2-40B4-BE49-F238E27FC236}">
                <a16:creationId xmlns:a16="http://schemas.microsoft.com/office/drawing/2014/main" id="{1A62FAD7-4148-2957-1750-3C460C023D70}"/>
              </a:ext>
            </a:extLst>
          </p:cNvPr>
          <p:cNvSpPr txBox="1"/>
          <p:nvPr/>
        </p:nvSpPr>
        <p:spPr>
          <a:xfrm>
            <a:off x="706556" y="5898639"/>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TXB8 (Transmit data Bit 8): </a:t>
            </a:r>
            <a:r>
              <a:rPr lang="en-US" sz="2800" dirty="0">
                <a:latin typeface="Futura T OT" panose="02000000000000000000" pitchFamily="50" charset="0"/>
              </a:rPr>
              <a:t>The ninth bit in the character to be transmitted. Must be written before writing the low bits to UDR.</a:t>
            </a:r>
          </a:p>
        </p:txBody>
      </p:sp>
    </p:spTree>
    <p:extLst>
      <p:ext uri="{BB962C8B-B14F-4D97-AF65-F5344CB8AC3E}">
        <p14:creationId xmlns:p14="http://schemas.microsoft.com/office/powerpoint/2010/main" val="35523190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CB3A96-BAFE-309E-83CC-76E194AAC0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5A1E3C-B2A1-00CF-9B47-7A0539D35ADC}"/>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214EEC74-58BD-71A2-BEAB-09143430B416}"/>
              </a:ext>
            </a:extLst>
          </p:cNvPr>
          <p:cNvSpPr txBox="1"/>
          <p:nvPr/>
        </p:nvSpPr>
        <p:spPr>
          <a:xfrm>
            <a:off x="706556" y="771748"/>
            <a:ext cx="4909742"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UBRR: USART Baud Rate Register </a:t>
            </a:r>
            <a:endParaRPr lang="en-US" sz="2800" dirty="0">
              <a:solidFill>
                <a:srgbClr val="4472C4"/>
              </a:solidFill>
              <a:latin typeface="Futura T OT" panose="02000000000000000000" pitchFamily="50" charset="0"/>
            </a:endParaRPr>
          </a:p>
        </p:txBody>
      </p:sp>
      <p:sp>
        <p:nvSpPr>
          <p:cNvPr id="5" name="TextBox 4">
            <a:extLst>
              <a:ext uri="{FF2B5EF4-FFF2-40B4-BE49-F238E27FC236}">
                <a16:creationId xmlns:a16="http://schemas.microsoft.com/office/drawing/2014/main" id="{49EA4FEB-46CE-2C0D-FC34-0A9DD2E66D9D}"/>
              </a:ext>
            </a:extLst>
          </p:cNvPr>
          <p:cNvSpPr txBox="1"/>
          <p:nvPr/>
        </p:nvSpPr>
        <p:spPr>
          <a:xfrm>
            <a:off x="706556" y="4223564"/>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URSEL (USART Register Select): </a:t>
            </a:r>
            <a:r>
              <a:rPr lang="en-US" sz="2800" dirty="0">
                <a:latin typeface="Futura T OT" panose="02000000000000000000" pitchFamily="50" charset="0"/>
              </a:rPr>
              <a:t>The URSEL must be zero when writing the UBRRH.</a:t>
            </a:r>
          </a:p>
        </p:txBody>
      </p:sp>
      <p:sp>
        <p:nvSpPr>
          <p:cNvPr id="6" name="TextBox 5">
            <a:extLst>
              <a:ext uri="{FF2B5EF4-FFF2-40B4-BE49-F238E27FC236}">
                <a16:creationId xmlns:a16="http://schemas.microsoft.com/office/drawing/2014/main" id="{BB32FE29-B5B7-9900-6561-8AA035FD622E}"/>
              </a:ext>
            </a:extLst>
          </p:cNvPr>
          <p:cNvSpPr txBox="1"/>
          <p:nvPr/>
        </p:nvSpPr>
        <p:spPr>
          <a:xfrm>
            <a:off x="706556" y="5410810"/>
            <a:ext cx="10608790"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UBRR11:0 (USART Baud Rate Register): </a:t>
            </a:r>
            <a:r>
              <a:rPr lang="en-US" sz="2800" dirty="0">
                <a:latin typeface="Futura T OT" panose="02000000000000000000" pitchFamily="50" charset="0"/>
              </a:rPr>
              <a:t>The ninth bit in the character to be transmitted. Must be written before writing the low bits to UDR.</a:t>
            </a:r>
          </a:p>
        </p:txBody>
      </p:sp>
      <p:pic>
        <p:nvPicPr>
          <p:cNvPr id="10" name="Picture 9">
            <a:extLst>
              <a:ext uri="{FF2B5EF4-FFF2-40B4-BE49-F238E27FC236}">
                <a16:creationId xmlns:a16="http://schemas.microsoft.com/office/drawing/2014/main" id="{54EA16D7-5D58-EA62-5C42-5BA377AB7D99}"/>
              </a:ext>
            </a:extLst>
          </p:cNvPr>
          <p:cNvPicPr>
            <a:picLocks noChangeAspect="1"/>
          </p:cNvPicPr>
          <p:nvPr/>
        </p:nvPicPr>
        <p:blipFill>
          <a:blip r:embed="rId2"/>
          <a:stretch>
            <a:fillRect/>
          </a:stretch>
        </p:blipFill>
        <p:spPr>
          <a:xfrm>
            <a:off x="706556" y="1294968"/>
            <a:ext cx="10450492" cy="2695457"/>
          </a:xfrm>
          <a:prstGeom prst="rect">
            <a:avLst/>
          </a:prstGeom>
        </p:spPr>
      </p:pic>
    </p:spTree>
    <p:extLst>
      <p:ext uri="{BB962C8B-B14F-4D97-AF65-F5344CB8AC3E}">
        <p14:creationId xmlns:p14="http://schemas.microsoft.com/office/powerpoint/2010/main" val="42228454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8DFFEA6-4774-98FC-B151-BB9BED02D7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37ACED-BB1E-A505-05D0-323398F7F0A7}"/>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C32F81F4-F2C8-52FE-1043-5C21E84CA040}"/>
              </a:ext>
            </a:extLst>
          </p:cNvPr>
          <p:cNvSpPr txBox="1"/>
          <p:nvPr/>
        </p:nvSpPr>
        <p:spPr>
          <a:xfrm>
            <a:off x="706556" y="771748"/>
            <a:ext cx="4909742" cy="523220"/>
          </a:xfrm>
          <a:prstGeom prst="rect">
            <a:avLst/>
          </a:prstGeom>
          <a:noFill/>
        </p:spPr>
        <p:txBody>
          <a:bodyPr wrap="none" rtlCol="0">
            <a:spAutoFit/>
          </a:bodyPr>
          <a:lstStyle/>
          <a:p>
            <a:r>
              <a:rPr lang="en-US" sz="2800" dirty="0">
                <a:solidFill>
                  <a:srgbClr val="FF0000"/>
                </a:solidFill>
                <a:latin typeface="Futura T OT" panose="02000000000000000000" pitchFamily="50" charset="0"/>
              </a:rPr>
              <a:t>UBRR: USART Baud Rate Register </a:t>
            </a:r>
            <a:endParaRPr lang="en-US" sz="2800" dirty="0">
              <a:solidFill>
                <a:srgbClr val="4472C4"/>
              </a:solidFill>
              <a:latin typeface="Futura T OT" panose="02000000000000000000" pitchFamily="50" charset="0"/>
            </a:endParaRPr>
          </a:p>
        </p:txBody>
      </p:sp>
      <p:pic>
        <p:nvPicPr>
          <p:cNvPr id="10" name="Picture 9">
            <a:extLst>
              <a:ext uri="{FF2B5EF4-FFF2-40B4-BE49-F238E27FC236}">
                <a16:creationId xmlns:a16="http://schemas.microsoft.com/office/drawing/2014/main" id="{47607704-A85F-219A-652E-69A8E6E8DD2C}"/>
              </a:ext>
            </a:extLst>
          </p:cNvPr>
          <p:cNvPicPr>
            <a:picLocks noChangeAspect="1"/>
          </p:cNvPicPr>
          <p:nvPr/>
        </p:nvPicPr>
        <p:blipFill>
          <a:blip r:embed="rId2"/>
          <a:stretch>
            <a:fillRect/>
          </a:stretch>
        </p:blipFill>
        <p:spPr>
          <a:xfrm>
            <a:off x="706556" y="1294968"/>
            <a:ext cx="10450492" cy="2695457"/>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19ACBE3-E74E-0FA8-F91D-C40380568B86}"/>
                  </a:ext>
                </a:extLst>
              </p:cNvPr>
              <p:cNvSpPr txBox="1"/>
              <p:nvPr/>
            </p:nvSpPr>
            <p:spPr>
              <a:xfrm>
                <a:off x="706556" y="5071935"/>
                <a:ext cx="5294911" cy="101431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𝑈𝐵𝐵𝑅</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𝐹𝑜𝑠𝑐</m:t>
                          </m:r>
                        </m:num>
                        <m:den>
                          <m:r>
                            <a:rPr lang="en-US" sz="3200" b="0" i="1" smtClean="0">
                              <a:latin typeface="Cambria Math" panose="02040503050406030204" pitchFamily="18" charset="0"/>
                            </a:rPr>
                            <m:t>16∗</m:t>
                          </m:r>
                          <m:r>
                            <a:rPr lang="en-US" sz="3200" b="0" i="1" smtClean="0">
                              <a:latin typeface="Cambria Math" panose="02040503050406030204" pitchFamily="18" charset="0"/>
                            </a:rPr>
                            <m:t>𝐵𝑎𝑢𝑑𝑅𝑎𝑡𝑒</m:t>
                          </m:r>
                        </m:den>
                      </m:f>
                      <m:r>
                        <a:rPr lang="en-US" sz="3200" b="0" i="1" smtClean="0">
                          <a:latin typeface="Cambria Math" panose="02040503050406030204" pitchFamily="18" charset="0"/>
                        </a:rPr>
                        <m:t>−1</m:t>
                      </m:r>
                    </m:oMath>
                  </m:oMathPara>
                </a14:m>
                <a:endParaRPr lang="en-US" sz="3200" dirty="0"/>
              </a:p>
            </p:txBody>
          </p:sp>
        </mc:Choice>
        <mc:Fallback xmlns="">
          <p:sp>
            <p:nvSpPr>
              <p:cNvPr id="4" name="TextBox 3">
                <a:extLst>
                  <a:ext uri="{FF2B5EF4-FFF2-40B4-BE49-F238E27FC236}">
                    <a16:creationId xmlns:a16="http://schemas.microsoft.com/office/drawing/2014/main" id="{419ACBE3-E74E-0FA8-F91D-C40380568B86}"/>
                  </a:ext>
                </a:extLst>
              </p:cNvPr>
              <p:cNvSpPr txBox="1">
                <a:spLocks noRot="1" noChangeAspect="1" noMove="1" noResize="1" noEditPoints="1" noAdjustHandles="1" noChangeArrowheads="1" noChangeShapeType="1" noTextEdit="1"/>
              </p:cNvSpPr>
              <p:nvPr/>
            </p:nvSpPr>
            <p:spPr>
              <a:xfrm>
                <a:off x="706556" y="5071935"/>
                <a:ext cx="5294911" cy="101431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1C52646-04C7-4667-F4F9-AC4722E6E55A}"/>
                  </a:ext>
                </a:extLst>
              </p:cNvPr>
              <p:cNvSpPr txBox="1"/>
              <p:nvPr/>
            </p:nvSpPr>
            <p:spPr>
              <a:xfrm>
                <a:off x="6190535" y="5055873"/>
                <a:ext cx="5634748" cy="11016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𝐵𝑎𝑢𝑑𝑅𝑎𝑡𝑒</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𝐹𝑜𝑠𝑐</m:t>
                          </m:r>
                        </m:num>
                        <m:den>
                          <m:r>
                            <a:rPr lang="en-US" sz="3200" b="0" i="1" smtClean="0">
                              <a:latin typeface="Cambria Math" panose="02040503050406030204" pitchFamily="18" charset="0"/>
                            </a:rPr>
                            <m:t>16∗(</m:t>
                          </m:r>
                          <m:r>
                            <a:rPr lang="en-US" sz="3200" b="0" i="1" smtClean="0">
                              <a:latin typeface="Cambria Math" panose="02040503050406030204" pitchFamily="18" charset="0"/>
                            </a:rPr>
                            <m:t>𝑈𝐵𝐵𝑅</m:t>
                          </m:r>
                          <m:r>
                            <a:rPr lang="en-US" sz="3200" b="0" i="1" smtClean="0">
                              <a:latin typeface="Cambria Math" panose="02040503050406030204" pitchFamily="18" charset="0"/>
                            </a:rPr>
                            <m:t>+1)</m:t>
                          </m:r>
                        </m:den>
                      </m:f>
                    </m:oMath>
                  </m:oMathPara>
                </a14:m>
                <a:endParaRPr lang="en-US" sz="3200" dirty="0"/>
              </a:p>
            </p:txBody>
          </p:sp>
        </mc:Choice>
        <mc:Fallback xmlns="">
          <p:sp>
            <p:nvSpPr>
              <p:cNvPr id="7" name="TextBox 6">
                <a:extLst>
                  <a:ext uri="{FF2B5EF4-FFF2-40B4-BE49-F238E27FC236}">
                    <a16:creationId xmlns:a16="http://schemas.microsoft.com/office/drawing/2014/main" id="{41C52646-04C7-4667-F4F9-AC4722E6E55A}"/>
                  </a:ext>
                </a:extLst>
              </p:cNvPr>
              <p:cNvSpPr txBox="1">
                <a:spLocks noRot="1" noChangeAspect="1" noMove="1" noResize="1" noEditPoints="1" noAdjustHandles="1" noChangeArrowheads="1" noChangeShapeType="1" noTextEdit="1"/>
              </p:cNvSpPr>
              <p:nvPr/>
            </p:nvSpPr>
            <p:spPr>
              <a:xfrm>
                <a:off x="6190535" y="5055873"/>
                <a:ext cx="5634748" cy="110164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202018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79A07C-98A7-972C-C102-1F77A0D284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F3D530-319D-7AC6-93D7-135149D4CDFA}"/>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3" name="TextBox 2">
            <a:extLst>
              <a:ext uri="{FF2B5EF4-FFF2-40B4-BE49-F238E27FC236}">
                <a16:creationId xmlns:a16="http://schemas.microsoft.com/office/drawing/2014/main" id="{8828BED0-39E0-9570-7F7B-C6B450674115}"/>
              </a:ext>
            </a:extLst>
          </p:cNvPr>
          <p:cNvSpPr txBox="1"/>
          <p:nvPr/>
        </p:nvSpPr>
        <p:spPr>
          <a:xfrm>
            <a:off x="380688" y="907500"/>
            <a:ext cx="11506823" cy="1384995"/>
          </a:xfrm>
          <a:prstGeom prst="rect">
            <a:avLst/>
          </a:prstGeom>
          <a:noFill/>
        </p:spPr>
        <p:txBody>
          <a:bodyPr wrap="square" rtlCol="0">
            <a:spAutoFit/>
          </a:bodyPr>
          <a:lstStyle/>
          <a:p>
            <a:pPr algn="ctr"/>
            <a:r>
              <a:rPr lang="en-US" sz="2800" dirty="0">
                <a:solidFill>
                  <a:srgbClr val="FF0000"/>
                </a:solidFill>
                <a:latin typeface="Futura T OT" panose="02000000000000000000" pitchFamily="50" charset="0"/>
              </a:rPr>
              <a:t>What must be the value of UBRR to achieve baud rate of 9600 baud if clock frequency is 8 MHz?</a:t>
            </a:r>
          </a:p>
          <a:p>
            <a:pPr algn="ctr"/>
            <a:r>
              <a:rPr lang="en-US" sz="2800" dirty="0">
                <a:solidFill>
                  <a:srgbClr val="FF0000"/>
                </a:solidFill>
                <a:latin typeface="Futura T OT" panose="02000000000000000000" pitchFamily="50" charset="0"/>
              </a:rPr>
              <a:t>What if U2X is 1?</a:t>
            </a:r>
            <a:endParaRPr lang="en-US" sz="2800" dirty="0">
              <a:solidFill>
                <a:srgbClr val="4472C4"/>
              </a:solidFill>
              <a:latin typeface="Futura T OT" panose="02000000000000000000" pitchFamily="50" charset="0"/>
            </a:endParaRPr>
          </a:p>
        </p:txBody>
      </p:sp>
      <p:pic>
        <p:nvPicPr>
          <p:cNvPr id="10" name="Picture 9">
            <a:extLst>
              <a:ext uri="{FF2B5EF4-FFF2-40B4-BE49-F238E27FC236}">
                <a16:creationId xmlns:a16="http://schemas.microsoft.com/office/drawing/2014/main" id="{9C612843-8824-6816-AFB0-7CD1EF113F81}"/>
              </a:ext>
            </a:extLst>
          </p:cNvPr>
          <p:cNvPicPr>
            <a:picLocks noChangeAspect="1"/>
          </p:cNvPicPr>
          <p:nvPr/>
        </p:nvPicPr>
        <p:blipFill>
          <a:blip r:embed="rId2"/>
          <a:stretch>
            <a:fillRect/>
          </a:stretch>
        </p:blipFill>
        <p:spPr>
          <a:xfrm>
            <a:off x="908854" y="2292495"/>
            <a:ext cx="10450492" cy="2695457"/>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BBE2D40-98BE-5B85-4286-22AAB5497E9B}"/>
                  </a:ext>
                </a:extLst>
              </p:cNvPr>
              <p:cNvSpPr txBox="1"/>
              <p:nvPr/>
            </p:nvSpPr>
            <p:spPr>
              <a:xfrm>
                <a:off x="706556" y="5071935"/>
                <a:ext cx="5294911" cy="101431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𝑈𝐵𝐵𝑅</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𝐹𝑜𝑠𝑐</m:t>
                          </m:r>
                        </m:num>
                        <m:den>
                          <m:r>
                            <a:rPr lang="en-US" sz="3200" b="0" i="1" smtClean="0">
                              <a:latin typeface="Cambria Math" panose="02040503050406030204" pitchFamily="18" charset="0"/>
                            </a:rPr>
                            <m:t>16∗</m:t>
                          </m:r>
                          <m:r>
                            <a:rPr lang="en-US" sz="3200" b="0" i="1" smtClean="0">
                              <a:latin typeface="Cambria Math" panose="02040503050406030204" pitchFamily="18" charset="0"/>
                            </a:rPr>
                            <m:t>𝐵𝑎𝑢𝑑𝑅𝑎𝑡𝑒</m:t>
                          </m:r>
                        </m:den>
                      </m:f>
                      <m:r>
                        <a:rPr lang="en-US" sz="3200" b="0" i="1" smtClean="0">
                          <a:latin typeface="Cambria Math" panose="02040503050406030204" pitchFamily="18" charset="0"/>
                        </a:rPr>
                        <m:t>−1</m:t>
                      </m:r>
                    </m:oMath>
                  </m:oMathPara>
                </a14:m>
                <a:endParaRPr lang="en-US" sz="3200" dirty="0"/>
              </a:p>
            </p:txBody>
          </p:sp>
        </mc:Choice>
        <mc:Fallback xmlns="">
          <p:sp>
            <p:nvSpPr>
              <p:cNvPr id="4" name="TextBox 3">
                <a:extLst>
                  <a:ext uri="{FF2B5EF4-FFF2-40B4-BE49-F238E27FC236}">
                    <a16:creationId xmlns:a16="http://schemas.microsoft.com/office/drawing/2014/main" id="{4BBE2D40-98BE-5B85-4286-22AAB5497E9B}"/>
                  </a:ext>
                </a:extLst>
              </p:cNvPr>
              <p:cNvSpPr txBox="1">
                <a:spLocks noRot="1" noChangeAspect="1" noMove="1" noResize="1" noEditPoints="1" noAdjustHandles="1" noChangeArrowheads="1" noChangeShapeType="1" noTextEdit="1"/>
              </p:cNvSpPr>
              <p:nvPr/>
            </p:nvSpPr>
            <p:spPr>
              <a:xfrm>
                <a:off x="706556" y="5071935"/>
                <a:ext cx="5294911" cy="101431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5BB11F-AED8-1291-B9DB-585130E1ABBD}"/>
                  </a:ext>
                </a:extLst>
              </p:cNvPr>
              <p:cNvSpPr txBox="1"/>
              <p:nvPr/>
            </p:nvSpPr>
            <p:spPr>
              <a:xfrm>
                <a:off x="6190535" y="5055873"/>
                <a:ext cx="5634748" cy="11016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𝐵𝑎𝑢𝑑𝑅𝑎𝑡𝑒</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𝐹𝑜𝑠𝑐</m:t>
                          </m:r>
                        </m:num>
                        <m:den>
                          <m:r>
                            <a:rPr lang="en-US" sz="3200" b="0" i="1" smtClean="0">
                              <a:latin typeface="Cambria Math" panose="02040503050406030204" pitchFamily="18" charset="0"/>
                            </a:rPr>
                            <m:t>16∗(</m:t>
                          </m:r>
                          <m:r>
                            <a:rPr lang="en-US" sz="3200" b="0" i="1" smtClean="0">
                              <a:latin typeface="Cambria Math" panose="02040503050406030204" pitchFamily="18" charset="0"/>
                            </a:rPr>
                            <m:t>𝑈𝐵𝐵𝑅</m:t>
                          </m:r>
                          <m:r>
                            <a:rPr lang="en-US" sz="3200" b="0" i="1" smtClean="0">
                              <a:latin typeface="Cambria Math" panose="02040503050406030204" pitchFamily="18" charset="0"/>
                            </a:rPr>
                            <m:t>+1)</m:t>
                          </m:r>
                        </m:den>
                      </m:f>
                    </m:oMath>
                  </m:oMathPara>
                </a14:m>
                <a:endParaRPr lang="en-US" sz="3200" dirty="0"/>
              </a:p>
            </p:txBody>
          </p:sp>
        </mc:Choice>
        <mc:Fallback xmlns="">
          <p:sp>
            <p:nvSpPr>
              <p:cNvPr id="7" name="TextBox 6">
                <a:extLst>
                  <a:ext uri="{FF2B5EF4-FFF2-40B4-BE49-F238E27FC236}">
                    <a16:creationId xmlns:a16="http://schemas.microsoft.com/office/drawing/2014/main" id="{A85BB11F-AED8-1291-B9DB-585130E1ABBD}"/>
                  </a:ext>
                </a:extLst>
              </p:cNvPr>
              <p:cNvSpPr txBox="1">
                <a:spLocks noRot="1" noChangeAspect="1" noMove="1" noResize="1" noEditPoints="1" noAdjustHandles="1" noChangeArrowheads="1" noChangeShapeType="1" noTextEdit="1"/>
              </p:cNvSpPr>
              <p:nvPr/>
            </p:nvSpPr>
            <p:spPr>
              <a:xfrm>
                <a:off x="6190535" y="5055873"/>
                <a:ext cx="5634748" cy="110164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45159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2153DD-36FC-BFA2-8BC5-47BDBD7764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0F85D8-C0DA-B5B4-40D8-5E25926061EA}"/>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6" name="TextBox 5">
            <a:extLst>
              <a:ext uri="{FF2B5EF4-FFF2-40B4-BE49-F238E27FC236}">
                <a16:creationId xmlns:a16="http://schemas.microsoft.com/office/drawing/2014/main" id="{95E717B7-BC58-95D7-7D67-681FB0C516D6}"/>
              </a:ext>
            </a:extLst>
          </p:cNvPr>
          <p:cNvSpPr txBox="1"/>
          <p:nvPr/>
        </p:nvSpPr>
        <p:spPr>
          <a:xfrm>
            <a:off x="932873" y="927943"/>
            <a:ext cx="10982035" cy="5355312"/>
          </a:xfrm>
          <a:prstGeom prst="rect">
            <a:avLst/>
          </a:prstGeom>
          <a:noFill/>
        </p:spPr>
        <p:txBody>
          <a:bodyPr wrap="square">
            <a:spAutoFit/>
          </a:bodyPr>
          <a:lstStyle/>
          <a:p>
            <a:r>
              <a:rPr lang="en-US" b="0" i="0" dirty="0">
                <a:solidFill>
                  <a:srgbClr val="2B91AF"/>
                </a:solidFill>
                <a:effectLst/>
                <a:latin typeface="Roboto" pitchFamily="2" charset="0"/>
              </a:rPr>
              <a:t>#define F_CPU 8000000UL</a:t>
            </a:r>
            <a:endParaRPr lang="en-US" b="0" i="0" dirty="0">
              <a:solidFill>
                <a:srgbClr val="000000"/>
              </a:solidFill>
              <a:effectLst/>
              <a:latin typeface="Menlo"/>
            </a:endParaRPr>
          </a:p>
          <a:p>
            <a:r>
              <a:rPr lang="en-US" b="0" i="0" dirty="0">
                <a:solidFill>
                  <a:srgbClr val="2B91AF"/>
                </a:solidFill>
                <a:effectLst/>
                <a:latin typeface="Roboto" pitchFamily="2" charset="0"/>
              </a:rPr>
              <a:t>#include &lt;</a:t>
            </a:r>
            <a:r>
              <a:rPr lang="en-US" b="0" i="0" dirty="0" err="1">
                <a:solidFill>
                  <a:srgbClr val="2B91AF"/>
                </a:solidFill>
                <a:effectLst/>
                <a:latin typeface="Roboto" pitchFamily="2" charset="0"/>
              </a:rPr>
              <a:t>avr</a:t>
            </a:r>
            <a:r>
              <a:rPr lang="en-US" b="0" i="0" dirty="0">
                <a:solidFill>
                  <a:srgbClr val="2B91AF"/>
                </a:solidFill>
                <a:effectLst/>
                <a:latin typeface="Roboto" pitchFamily="2" charset="0"/>
              </a:rPr>
              <a:t>/</a:t>
            </a:r>
            <a:r>
              <a:rPr lang="en-US" b="0" i="0" dirty="0" err="1">
                <a:solidFill>
                  <a:srgbClr val="2B91AF"/>
                </a:solidFill>
                <a:effectLst/>
                <a:latin typeface="Roboto" pitchFamily="2" charset="0"/>
              </a:rPr>
              <a:t>io.h</a:t>
            </a:r>
            <a:r>
              <a:rPr lang="en-US" b="0" i="0" dirty="0">
                <a:solidFill>
                  <a:srgbClr val="2B91AF"/>
                </a:solidFill>
                <a:effectLst/>
                <a:latin typeface="Roboto" pitchFamily="2" charset="0"/>
              </a:rPr>
              <a:t>&gt;</a:t>
            </a:r>
            <a:r>
              <a:rPr lang="en-US" b="0" i="0" dirty="0">
                <a:solidFill>
                  <a:srgbClr val="000000"/>
                </a:solidFill>
                <a:effectLst/>
                <a:latin typeface="Menlo"/>
              </a:rPr>
              <a:t> </a:t>
            </a:r>
          </a:p>
          <a:p>
            <a:r>
              <a:rPr lang="en-US" b="0" i="0" dirty="0">
                <a:solidFill>
                  <a:srgbClr val="2B91AF"/>
                </a:solidFill>
                <a:effectLst/>
                <a:latin typeface="Roboto" pitchFamily="2" charset="0"/>
              </a:rPr>
              <a:t>#include &lt;util/</a:t>
            </a:r>
            <a:r>
              <a:rPr lang="en-US" b="0" i="0" dirty="0" err="1">
                <a:solidFill>
                  <a:srgbClr val="2B91AF"/>
                </a:solidFill>
                <a:effectLst/>
                <a:latin typeface="Roboto" pitchFamily="2" charset="0"/>
              </a:rPr>
              <a:t>delay.h</a:t>
            </a:r>
            <a:r>
              <a:rPr lang="en-US" b="0" i="0" dirty="0">
                <a:solidFill>
                  <a:srgbClr val="2B91AF"/>
                </a:solidFill>
                <a:effectLst/>
                <a:latin typeface="Roboto" pitchFamily="2" charset="0"/>
              </a:rPr>
              <a:t>&gt;</a:t>
            </a:r>
            <a:r>
              <a:rPr lang="en-US" b="0" i="0" dirty="0">
                <a:solidFill>
                  <a:srgbClr val="000000"/>
                </a:solidFill>
                <a:effectLst/>
                <a:latin typeface="Menlo"/>
              </a:rPr>
              <a:t> </a:t>
            </a:r>
          </a:p>
          <a:p>
            <a:r>
              <a:rPr lang="en-US" b="0" i="0" dirty="0">
                <a:solidFill>
                  <a:srgbClr val="2B91AF"/>
                </a:solidFill>
                <a:effectLst/>
                <a:latin typeface="Roboto" pitchFamily="2" charset="0"/>
              </a:rPr>
              <a:t>#include &lt;</a:t>
            </a:r>
            <a:r>
              <a:rPr lang="en-US" b="0" i="0" dirty="0" err="1">
                <a:solidFill>
                  <a:srgbClr val="2B91AF"/>
                </a:solidFill>
                <a:effectLst/>
                <a:latin typeface="Roboto" pitchFamily="2" charset="0"/>
              </a:rPr>
              <a:t>stdlib.h</a:t>
            </a:r>
            <a:r>
              <a:rPr lang="en-US" b="0" i="0" dirty="0">
                <a:solidFill>
                  <a:srgbClr val="2B91AF"/>
                </a:solidFill>
                <a:effectLst/>
                <a:latin typeface="Roboto" pitchFamily="2" charset="0"/>
              </a:rPr>
              <a:t>&gt;</a:t>
            </a:r>
            <a:r>
              <a:rPr lang="en-US" b="0" i="0" dirty="0">
                <a:solidFill>
                  <a:srgbClr val="000000"/>
                </a:solidFill>
                <a:effectLst/>
                <a:latin typeface="Menlo"/>
              </a:rPr>
              <a:t> </a:t>
            </a:r>
          </a:p>
          <a:p>
            <a:r>
              <a:rPr lang="en-US" b="0" i="0" dirty="0">
                <a:solidFill>
                  <a:srgbClr val="2B91AF"/>
                </a:solidFill>
                <a:effectLst/>
                <a:latin typeface="Roboto" pitchFamily="2" charset="0"/>
              </a:rPr>
              <a:t>#include &lt;</a:t>
            </a:r>
            <a:r>
              <a:rPr lang="en-US" b="0" i="0" dirty="0" err="1">
                <a:solidFill>
                  <a:srgbClr val="2B91AF"/>
                </a:solidFill>
                <a:effectLst/>
                <a:latin typeface="Roboto" pitchFamily="2" charset="0"/>
              </a:rPr>
              <a:t>stdio.h</a:t>
            </a:r>
            <a:r>
              <a:rPr lang="en-US" b="0" i="0" dirty="0">
                <a:solidFill>
                  <a:srgbClr val="2B91AF"/>
                </a:solidFill>
                <a:effectLst/>
                <a:latin typeface="Roboto" pitchFamily="2" charset="0"/>
              </a:rPr>
              <a:t>&gt;</a:t>
            </a:r>
            <a:r>
              <a:rPr lang="en-US" b="0" i="0" dirty="0">
                <a:solidFill>
                  <a:srgbClr val="000000"/>
                </a:solidFill>
                <a:effectLst/>
                <a:latin typeface="Menlo"/>
              </a:rPr>
              <a:t> </a:t>
            </a:r>
          </a:p>
          <a:p>
            <a:r>
              <a:rPr lang="en-US" b="0" i="0" dirty="0">
                <a:solidFill>
                  <a:srgbClr val="2B91AF"/>
                </a:solidFill>
                <a:effectLst/>
                <a:latin typeface="Roboto" pitchFamily="2" charset="0"/>
              </a:rPr>
              <a:t>#define BAUD_PRESCALE (((F_CPU / (USART_BAUDRATE * 16UL))) - 1)</a:t>
            </a:r>
            <a:r>
              <a:rPr lang="en-US" b="0" i="0" dirty="0">
                <a:solidFill>
                  <a:srgbClr val="000000"/>
                </a:solidFill>
                <a:effectLst/>
                <a:latin typeface="Menlo"/>
              </a:rPr>
              <a:t> </a:t>
            </a:r>
          </a:p>
          <a:p>
            <a:endParaRPr lang="en-US" b="0" i="0" dirty="0">
              <a:solidFill>
                <a:srgbClr val="000000"/>
              </a:solidFill>
              <a:effectLst/>
              <a:latin typeface="Menlo"/>
            </a:endParaRPr>
          </a:p>
          <a:p>
            <a:r>
              <a:rPr lang="en-US" b="0" i="0" dirty="0">
                <a:solidFill>
                  <a:srgbClr val="0000FF"/>
                </a:solidFill>
                <a:effectLst/>
                <a:latin typeface="Roboto" pitchFamily="2" charset="0"/>
              </a:rPr>
              <a:t>void</a:t>
            </a:r>
            <a:r>
              <a:rPr lang="en-US" b="0" i="0" dirty="0">
                <a:solidFill>
                  <a:srgbClr val="000000"/>
                </a:solidFill>
                <a:effectLst/>
                <a:latin typeface="Roboto" pitchFamily="2" charset="0"/>
              </a:rPr>
              <a:t> </a:t>
            </a:r>
            <a:r>
              <a:rPr lang="en-US" b="0" i="0" dirty="0" err="1">
                <a:solidFill>
                  <a:srgbClr val="A31515"/>
                </a:solidFill>
                <a:effectLst/>
                <a:latin typeface="Roboto" pitchFamily="2" charset="0"/>
              </a:rPr>
              <a:t>UART_init</a:t>
            </a:r>
            <a:r>
              <a:rPr lang="en-US" b="0" i="0" dirty="0">
                <a:solidFill>
                  <a:srgbClr val="000000"/>
                </a:solidFill>
                <a:effectLst/>
                <a:latin typeface="Roboto" pitchFamily="2" charset="0"/>
              </a:rPr>
              <a:t>(</a:t>
            </a:r>
            <a:r>
              <a:rPr lang="en-US" b="0" i="0" dirty="0">
                <a:solidFill>
                  <a:srgbClr val="0000FF"/>
                </a:solidFill>
                <a:effectLst/>
                <a:latin typeface="Roboto" pitchFamily="2" charset="0"/>
              </a:rPr>
              <a:t>long</a:t>
            </a:r>
            <a:r>
              <a:rPr lang="en-US" b="0" i="0" dirty="0">
                <a:solidFill>
                  <a:srgbClr val="000000"/>
                </a:solidFill>
                <a:effectLst/>
                <a:latin typeface="Roboto" pitchFamily="2" charset="0"/>
              </a:rPr>
              <a:t> USART_BAUDRATE) </a:t>
            </a:r>
          </a:p>
          <a:p>
            <a:r>
              <a:rPr lang="en-US" b="0" i="0" dirty="0">
                <a:solidFill>
                  <a:srgbClr val="000000"/>
                </a:solidFill>
                <a:effectLst/>
                <a:latin typeface="Menlo"/>
              </a:rPr>
              <a:t>{ </a:t>
            </a:r>
          </a:p>
          <a:p>
            <a:r>
              <a:rPr lang="en-US" b="0" i="0" dirty="0">
                <a:solidFill>
                  <a:srgbClr val="000000"/>
                </a:solidFill>
                <a:effectLst/>
                <a:latin typeface="Menlo"/>
              </a:rPr>
              <a:t>UCSRB |= (</a:t>
            </a:r>
            <a:r>
              <a:rPr lang="en-US" b="0" i="0" dirty="0">
                <a:solidFill>
                  <a:srgbClr val="AD009E"/>
                </a:solidFill>
                <a:effectLst/>
                <a:latin typeface="Roboto" pitchFamily="2" charset="0"/>
              </a:rPr>
              <a:t>1</a:t>
            </a:r>
            <a:r>
              <a:rPr lang="en-US" b="0" i="0" dirty="0">
                <a:solidFill>
                  <a:srgbClr val="000000"/>
                </a:solidFill>
                <a:effectLst/>
                <a:latin typeface="Menlo"/>
              </a:rPr>
              <a:t> &lt;&lt; RXEN) | (</a:t>
            </a:r>
            <a:r>
              <a:rPr lang="en-US" b="0" i="0" dirty="0">
                <a:solidFill>
                  <a:srgbClr val="AD009E"/>
                </a:solidFill>
                <a:effectLst/>
                <a:latin typeface="Roboto" pitchFamily="2" charset="0"/>
              </a:rPr>
              <a:t>1</a:t>
            </a:r>
            <a:r>
              <a:rPr lang="en-US" b="0" i="0" dirty="0">
                <a:solidFill>
                  <a:srgbClr val="000000"/>
                </a:solidFill>
                <a:effectLst/>
                <a:latin typeface="Menlo"/>
              </a:rPr>
              <a:t> &lt;&lt; TXEN);</a:t>
            </a:r>
            <a:r>
              <a:rPr lang="en-US" b="0" i="0" dirty="0">
                <a:solidFill>
                  <a:srgbClr val="008000"/>
                </a:solidFill>
                <a:effectLst/>
                <a:latin typeface="Roboto" pitchFamily="2" charset="0"/>
              </a:rPr>
              <a:t>/* Turn on transmission and reception */</a:t>
            </a:r>
            <a:r>
              <a:rPr lang="en-US" b="0" i="0" dirty="0">
                <a:solidFill>
                  <a:srgbClr val="000000"/>
                </a:solidFill>
                <a:effectLst/>
                <a:latin typeface="Menlo"/>
              </a:rPr>
              <a:t> </a:t>
            </a:r>
          </a:p>
          <a:p>
            <a:r>
              <a:rPr lang="en-US" b="0" i="0" dirty="0">
                <a:solidFill>
                  <a:srgbClr val="000000"/>
                </a:solidFill>
                <a:effectLst/>
                <a:latin typeface="Menlo"/>
              </a:rPr>
              <a:t>UCSRC |= (</a:t>
            </a:r>
            <a:r>
              <a:rPr lang="en-US" b="0" i="0" dirty="0">
                <a:solidFill>
                  <a:srgbClr val="AD009E"/>
                </a:solidFill>
                <a:effectLst/>
                <a:latin typeface="Roboto" pitchFamily="2" charset="0"/>
              </a:rPr>
              <a:t>1</a:t>
            </a:r>
            <a:r>
              <a:rPr lang="en-US" b="0" i="0" dirty="0">
                <a:solidFill>
                  <a:srgbClr val="000000"/>
                </a:solidFill>
                <a:effectLst/>
                <a:latin typeface="Menlo"/>
              </a:rPr>
              <a:t> &lt;&lt; URSEL) | (</a:t>
            </a:r>
            <a:r>
              <a:rPr lang="en-US" b="0" i="0" dirty="0">
                <a:solidFill>
                  <a:srgbClr val="AD009E"/>
                </a:solidFill>
                <a:effectLst/>
                <a:latin typeface="Roboto" pitchFamily="2" charset="0"/>
              </a:rPr>
              <a:t>1</a:t>
            </a:r>
            <a:r>
              <a:rPr lang="en-US" b="0" i="0" dirty="0">
                <a:solidFill>
                  <a:srgbClr val="000000"/>
                </a:solidFill>
                <a:effectLst/>
                <a:latin typeface="Menlo"/>
              </a:rPr>
              <a:t> &lt;&lt; UCSZ0) | (</a:t>
            </a:r>
            <a:r>
              <a:rPr lang="en-US" b="0" i="0" dirty="0">
                <a:solidFill>
                  <a:srgbClr val="AD009E"/>
                </a:solidFill>
                <a:effectLst/>
                <a:latin typeface="Roboto" pitchFamily="2" charset="0"/>
              </a:rPr>
              <a:t>1</a:t>
            </a:r>
            <a:r>
              <a:rPr lang="en-US" b="0" i="0" dirty="0">
                <a:solidFill>
                  <a:srgbClr val="000000"/>
                </a:solidFill>
                <a:effectLst/>
                <a:latin typeface="Menlo"/>
              </a:rPr>
              <a:t> &lt;&lt; UCSZ1);</a:t>
            </a:r>
            <a:r>
              <a:rPr lang="en-US" b="0" i="0" dirty="0">
                <a:solidFill>
                  <a:srgbClr val="008000"/>
                </a:solidFill>
                <a:effectLst/>
                <a:latin typeface="Roboto" pitchFamily="2" charset="0"/>
              </a:rPr>
              <a:t>/* Use 8-bit character sizes */</a:t>
            </a:r>
            <a:r>
              <a:rPr lang="en-US" b="0" i="0" dirty="0">
                <a:solidFill>
                  <a:srgbClr val="000000"/>
                </a:solidFill>
                <a:effectLst/>
                <a:latin typeface="Menlo"/>
              </a:rPr>
              <a:t> </a:t>
            </a:r>
          </a:p>
          <a:p>
            <a:r>
              <a:rPr lang="en-US" b="0" i="0" dirty="0">
                <a:solidFill>
                  <a:srgbClr val="000000"/>
                </a:solidFill>
                <a:effectLst/>
                <a:latin typeface="Menlo"/>
              </a:rPr>
              <a:t>UBRRL = BAUD_PRESCALE; </a:t>
            </a:r>
            <a:r>
              <a:rPr lang="en-US" b="0" i="0" dirty="0">
                <a:solidFill>
                  <a:srgbClr val="008000"/>
                </a:solidFill>
                <a:effectLst/>
                <a:latin typeface="Roboto" pitchFamily="2" charset="0"/>
              </a:rPr>
              <a:t>/* Load lower 8-bits of the baud rate value */</a:t>
            </a:r>
          </a:p>
          <a:p>
            <a:r>
              <a:rPr lang="en-US" b="0" i="0" dirty="0">
                <a:solidFill>
                  <a:srgbClr val="000000"/>
                </a:solidFill>
                <a:effectLst/>
                <a:latin typeface="Menlo"/>
              </a:rPr>
              <a:t>UBRRH = (BAUD_PRESCALE &gt;&gt; </a:t>
            </a:r>
            <a:r>
              <a:rPr lang="en-US" b="0" i="0" dirty="0">
                <a:solidFill>
                  <a:srgbClr val="AD009E"/>
                </a:solidFill>
                <a:effectLst/>
                <a:latin typeface="Roboto" pitchFamily="2" charset="0"/>
              </a:rPr>
              <a:t>8</a:t>
            </a:r>
            <a:r>
              <a:rPr lang="en-US" b="0" i="0" dirty="0">
                <a:solidFill>
                  <a:srgbClr val="000000"/>
                </a:solidFill>
                <a:effectLst/>
                <a:latin typeface="Menlo"/>
              </a:rPr>
              <a:t>); </a:t>
            </a:r>
            <a:r>
              <a:rPr lang="en-US" b="0" i="0" dirty="0">
                <a:solidFill>
                  <a:srgbClr val="008000"/>
                </a:solidFill>
                <a:effectLst/>
                <a:latin typeface="Roboto" pitchFamily="2" charset="0"/>
              </a:rPr>
              <a:t>/* Load upper 8-bits*/</a:t>
            </a:r>
            <a:r>
              <a:rPr lang="en-US" b="0" i="0" dirty="0">
                <a:solidFill>
                  <a:srgbClr val="000000"/>
                </a:solidFill>
                <a:effectLst/>
                <a:latin typeface="Menlo"/>
              </a:rPr>
              <a:t> </a:t>
            </a:r>
          </a:p>
          <a:p>
            <a:r>
              <a:rPr lang="en-US" b="0" i="0" dirty="0">
                <a:solidFill>
                  <a:srgbClr val="000000"/>
                </a:solidFill>
                <a:effectLst/>
                <a:latin typeface="Menlo"/>
              </a:rPr>
              <a:t>} </a:t>
            </a:r>
          </a:p>
          <a:p>
            <a:r>
              <a:rPr lang="en-US" b="0" i="0" dirty="0">
                <a:solidFill>
                  <a:srgbClr val="0000FF"/>
                </a:solidFill>
                <a:effectLst/>
                <a:latin typeface="Roboto" pitchFamily="2" charset="0"/>
              </a:rPr>
              <a:t>unsigned</a:t>
            </a:r>
            <a:r>
              <a:rPr lang="en-US" b="0" i="0" dirty="0">
                <a:solidFill>
                  <a:srgbClr val="000000"/>
                </a:solidFill>
                <a:effectLst/>
                <a:latin typeface="Roboto" pitchFamily="2" charset="0"/>
              </a:rPr>
              <a:t> </a:t>
            </a:r>
            <a:r>
              <a:rPr lang="en-US" b="0" i="0" dirty="0">
                <a:solidFill>
                  <a:srgbClr val="0000FF"/>
                </a:solidFill>
                <a:effectLst/>
                <a:latin typeface="Roboto" pitchFamily="2" charset="0"/>
              </a:rPr>
              <a:t>char</a:t>
            </a:r>
            <a:r>
              <a:rPr lang="en-US" b="0" i="0" dirty="0">
                <a:solidFill>
                  <a:srgbClr val="000000"/>
                </a:solidFill>
                <a:effectLst/>
                <a:latin typeface="Roboto" pitchFamily="2" charset="0"/>
              </a:rPr>
              <a:t> </a:t>
            </a:r>
            <a:r>
              <a:rPr lang="en-US" b="0" i="0" dirty="0" err="1">
                <a:solidFill>
                  <a:srgbClr val="A31515"/>
                </a:solidFill>
                <a:effectLst/>
                <a:latin typeface="Roboto" pitchFamily="2" charset="0"/>
              </a:rPr>
              <a:t>UART_RxChar</a:t>
            </a:r>
            <a:r>
              <a:rPr lang="en-US" b="0" i="0" dirty="0">
                <a:solidFill>
                  <a:srgbClr val="000000"/>
                </a:solidFill>
                <a:effectLst/>
                <a:latin typeface="Roboto" pitchFamily="2" charset="0"/>
              </a:rPr>
              <a:t>() </a:t>
            </a:r>
          </a:p>
          <a:p>
            <a:r>
              <a:rPr lang="en-US" b="0" i="0" dirty="0">
                <a:solidFill>
                  <a:srgbClr val="000000"/>
                </a:solidFill>
                <a:effectLst/>
                <a:latin typeface="Menlo"/>
              </a:rPr>
              <a:t>{ </a:t>
            </a:r>
          </a:p>
          <a:p>
            <a:r>
              <a:rPr lang="en-US" b="0" i="0" dirty="0">
                <a:solidFill>
                  <a:srgbClr val="0000FF"/>
                </a:solidFill>
                <a:effectLst/>
                <a:latin typeface="Roboto" pitchFamily="2" charset="0"/>
              </a:rPr>
              <a:t>while</a:t>
            </a:r>
            <a:r>
              <a:rPr lang="en-US" b="0" i="0" dirty="0">
                <a:solidFill>
                  <a:srgbClr val="000000"/>
                </a:solidFill>
                <a:effectLst/>
                <a:latin typeface="Menlo"/>
              </a:rPr>
              <a:t> ((UCSRA &amp; (</a:t>
            </a:r>
            <a:r>
              <a:rPr lang="en-US" b="0" i="0" dirty="0">
                <a:solidFill>
                  <a:srgbClr val="AD009E"/>
                </a:solidFill>
                <a:effectLst/>
                <a:latin typeface="Roboto" pitchFamily="2" charset="0"/>
              </a:rPr>
              <a:t>1</a:t>
            </a:r>
            <a:r>
              <a:rPr lang="en-US" b="0" i="0" dirty="0">
                <a:solidFill>
                  <a:srgbClr val="000000"/>
                </a:solidFill>
                <a:effectLst/>
                <a:latin typeface="Menlo"/>
              </a:rPr>
              <a:t> &lt;&lt; RXC)) == </a:t>
            </a:r>
            <a:r>
              <a:rPr lang="en-US" b="0" i="0" dirty="0">
                <a:solidFill>
                  <a:srgbClr val="AD009E"/>
                </a:solidFill>
                <a:effectLst/>
                <a:latin typeface="Roboto" pitchFamily="2" charset="0"/>
              </a:rPr>
              <a:t>0</a:t>
            </a:r>
            <a:r>
              <a:rPr lang="en-US" b="0" i="0" dirty="0">
                <a:solidFill>
                  <a:srgbClr val="000000"/>
                </a:solidFill>
                <a:effectLst/>
                <a:latin typeface="Menlo"/>
              </a:rPr>
              <a:t>);</a:t>
            </a:r>
            <a:r>
              <a:rPr lang="en-US" b="0" i="0" dirty="0">
                <a:solidFill>
                  <a:srgbClr val="008000"/>
                </a:solidFill>
                <a:effectLst/>
                <a:latin typeface="Roboto" pitchFamily="2" charset="0"/>
              </a:rPr>
              <a:t>/* Wait till data is received */</a:t>
            </a:r>
            <a:r>
              <a:rPr lang="en-US" b="0" i="0" dirty="0">
                <a:solidFill>
                  <a:srgbClr val="000000"/>
                </a:solidFill>
                <a:effectLst/>
                <a:latin typeface="Menlo"/>
              </a:rPr>
              <a:t> </a:t>
            </a:r>
          </a:p>
          <a:p>
            <a:r>
              <a:rPr lang="en-US" b="0" i="0" dirty="0">
                <a:solidFill>
                  <a:srgbClr val="0000FF"/>
                </a:solidFill>
                <a:effectLst/>
                <a:latin typeface="Roboto" pitchFamily="2" charset="0"/>
              </a:rPr>
              <a:t>return</a:t>
            </a:r>
            <a:r>
              <a:rPr lang="en-US" b="0" i="0" dirty="0">
                <a:solidFill>
                  <a:srgbClr val="000000"/>
                </a:solidFill>
                <a:effectLst/>
                <a:latin typeface="Menlo"/>
              </a:rPr>
              <a:t>(UDR); </a:t>
            </a:r>
            <a:r>
              <a:rPr lang="en-US" b="0" i="0" dirty="0">
                <a:solidFill>
                  <a:srgbClr val="008000"/>
                </a:solidFill>
                <a:effectLst/>
                <a:latin typeface="Roboto" pitchFamily="2" charset="0"/>
              </a:rPr>
              <a:t>/* Return the byte*/</a:t>
            </a:r>
            <a:r>
              <a:rPr lang="en-US" b="0" i="0" dirty="0">
                <a:solidFill>
                  <a:srgbClr val="000000"/>
                </a:solidFill>
                <a:effectLst/>
                <a:latin typeface="Menlo"/>
              </a:rPr>
              <a:t> </a:t>
            </a:r>
          </a:p>
          <a:p>
            <a:r>
              <a:rPr lang="en-US" b="0" i="0" dirty="0">
                <a:solidFill>
                  <a:srgbClr val="000000"/>
                </a:solidFill>
                <a:effectLst/>
                <a:latin typeface="Menlo"/>
              </a:rPr>
              <a:t>} </a:t>
            </a:r>
          </a:p>
        </p:txBody>
      </p:sp>
    </p:spTree>
    <p:extLst>
      <p:ext uri="{BB962C8B-B14F-4D97-AF65-F5344CB8AC3E}">
        <p14:creationId xmlns:p14="http://schemas.microsoft.com/office/powerpoint/2010/main" val="9964567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0D1B6A-5105-6D95-F485-78D879E017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568CDB-CA5F-41F9-4BA0-64192411A3B2}"/>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a:t>
            </a:r>
          </a:p>
        </p:txBody>
      </p:sp>
      <p:sp>
        <p:nvSpPr>
          <p:cNvPr id="6" name="TextBox 5">
            <a:extLst>
              <a:ext uri="{FF2B5EF4-FFF2-40B4-BE49-F238E27FC236}">
                <a16:creationId xmlns:a16="http://schemas.microsoft.com/office/drawing/2014/main" id="{11E51174-6894-BD07-9605-172763AA2D09}"/>
              </a:ext>
            </a:extLst>
          </p:cNvPr>
          <p:cNvSpPr txBox="1"/>
          <p:nvPr/>
        </p:nvSpPr>
        <p:spPr>
          <a:xfrm>
            <a:off x="932872" y="471990"/>
            <a:ext cx="10982035" cy="6463308"/>
          </a:xfrm>
          <a:prstGeom prst="rect">
            <a:avLst/>
          </a:prstGeom>
          <a:noFill/>
        </p:spPr>
        <p:txBody>
          <a:bodyPr wrap="square">
            <a:spAutoFit/>
          </a:bodyPr>
          <a:lstStyle/>
          <a:p>
            <a:r>
              <a:rPr lang="en-US" b="0" i="0" dirty="0">
                <a:solidFill>
                  <a:srgbClr val="0000FF"/>
                </a:solidFill>
                <a:effectLst/>
                <a:latin typeface="Roboto" pitchFamily="2" charset="0"/>
              </a:rPr>
              <a:t>void</a:t>
            </a:r>
            <a:r>
              <a:rPr lang="en-US" b="0" i="0" dirty="0">
                <a:solidFill>
                  <a:srgbClr val="000000"/>
                </a:solidFill>
                <a:effectLst/>
                <a:latin typeface="Roboto" pitchFamily="2" charset="0"/>
              </a:rPr>
              <a:t> </a:t>
            </a:r>
            <a:r>
              <a:rPr lang="en-US" b="0" i="0" dirty="0" err="1">
                <a:solidFill>
                  <a:srgbClr val="A31515"/>
                </a:solidFill>
                <a:effectLst/>
                <a:latin typeface="Roboto" pitchFamily="2" charset="0"/>
              </a:rPr>
              <a:t>UART_TxChar</a:t>
            </a:r>
            <a:r>
              <a:rPr lang="en-US" b="0" i="0" dirty="0">
                <a:solidFill>
                  <a:srgbClr val="000000"/>
                </a:solidFill>
                <a:effectLst/>
                <a:latin typeface="Roboto" pitchFamily="2" charset="0"/>
              </a:rPr>
              <a:t>(</a:t>
            </a:r>
            <a:r>
              <a:rPr lang="en-US" b="0" i="0" dirty="0">
                <a:solidFill>
                  <a:srgbClr val="0000FF"/>
                </a:solidFill>
                <a:effectLst/>
                <a:latin typeface="Roboto" pitchFamily="2" charset="0"/>
              </a:rPr>
              <a:t>char</a:t>
            </a:r>
            <a:r>
              <a:rPr lang="en-US" b="0" i="0" dirty="0">
                <a:solidFill>
                  <a:srgbClr val="000000"/>
                </a:solidFill>
                <a:effectLst/>
                <a:latin typeface="Roboto" pitchFamily="2" charset="0"/>
              </a:rPr>
              <a:t> </a:t>
            </a:r>
            <a:r>
              <a:rPr lang="en-US" b="0" i="0" dirty="0" err="1">
                <a:solidFill>
                  <a:srgbClr val="000000"/>
                </a:solidFill>
                <a:effectLst/>
                <a:latin typeface="Roboto" pitchFamily="2" charset="0"/>
              </a:rPr>
              <a:t>ch</a:t>
            </a:r>
            <a:r>
              <a:rPr lang="en-US" b="0" i="0" dirty="0">
                <a:solidFill>
                  <a:srgbClr val="000000"/>
                </a:solidFill>
                <a:effectLst/>
                <a:latin typeface="Roboto" pitchFamily="2" charset="0"/>
              </a:rPr>
              <a:t>) </a:t>
            </a:r>
          </a:p>
          <a:p>
            <a:r>
              <a:rPr lang="en-US" b="0" i="0" dirty="0">
                <a:solidFill>
                  <a:srgbClr val="000000"/>
                </a:solidFill>
                <a:effectLst/>
                <a:latin typeface="Menlo"/>
              </a:rPr>
              <a:t>{ </a:t>
            </a:r>
          </a:p>
          <a:p>
            <a:r>
              <a:rPr lang="en-US" b="0" i="0" dirty="0">
                <a:solidFill>
                  <a:srgbClr val="0000FF"/>
                </a:solidFill>
                <a:effectLst/>
                <a:latin typeface="Roboto" pitchFamily="2" charset="0"/>
              </a:rPr>
              <a:t>while</a:t>
            </a:r>
            <a:r>
              <a:rPr lang="en-US" b="0" i="0" dirty="0">
                <a:solidFill>
                  <a:srgbClr val="000000"/>
                </a:solidFill>
                <a:effectLst/>
                <a:latin typeface="Menlo"/>
              </a:rPr>
              <a:t> (! (UCSRA &amp; (</a:t>
            </a:r>
            <a:r>
              <a:rPr lang="en-US" b="0" i="0" dirty="0">
                <a:solidFill>
                  <a:srgbClr val="AD009E"/>
                </a:solidFill>
                <a:effectLst/>
                <a:latin typeface="Roboto" pitchFamily="2" charset="0"/>
              </a:rPr>
              <a:t>1</a:t>
            </a:r>
            <a:r>
              <a:rPr lang="en-US" b="0" i="0" dirty="0">
                <a:solidFill>
                  <a:srgbClr val="000000"/>
                </a:solidFill>
                <a:effectLst/>
                <a:latin typeface="Menlo"/>
              </a:rPr>
              <a:t>&lt;&lt;UDRE))); </a:t>
            </a:r>
            <a:r>
              <a:rPr lang="en-US" b="0" i="0" dirty="0">
                <a:solidFill>
                  <a:srgbClr val="008000"/>
                </a:solidFill>
                <a:effectLst/>
                <a:latin typeface="Roboto" pitchFamily="2" charset="0"/>
              </a:rPr>
              <a:t>/* Wait for empty transmit buffer*/</a:t>
            </a:r>
            <a:r>
              <a:rPr lang="en-US" b="0" i="0" dirty="0">
                <a:solidFill>
                  <a:srgbClr val="000000"/>
                </a:solidFill>
                <a:effectLst/>
                <a:latin typeface="Menlo"/>
              </a:rPr>
              <a:t> </a:t>
            </a:r>
          </a:p>
          <a:p>
            <a:r>
              <a:rPr lang="en-US" b="0" i="0" dirty="0">
                <a:solidFill>
                  <a:srgbClr val="000000"/>
                </a:solidFill>
                <a:effectLst/>
                <a:latin typeface="Menlo"/>
              </a:rPr>
              <a:t>UDR = </a:t>
            </a:r>
            <a:r>
              <a:rPr lang="en-US" b="0" i="0" dirty="0" err="1">
                <a:solidFill>
                  <a:srgbClr val="000000"/>
                </a:solidFill>
                <a:effectLst/>
                <a:latin typeface="Menlo"/>
              </a:rPr>
              <a:t>ch</a:t>
            </a:r>
            <a:r>
              <a:rPr lang="en-US" b="0" i="0" dirty="0">
                <a:solidFill>
                  <a:srgbClr val="000000"/>
                </a:solidFill>
                <a:effectLst/>
                <a:latin typeface="Menlo"/>
              </a:rPr>
              <a:t> ; </a:t>
            </a:r>
          </a:p>
          <a:p>
            <a:r>
              <a:rPr lang="en-US" b="0" i="0" dirty="0">
                <a:solidFill>
                  <a:srgbClr val="000000"/>
                </a:solidFill>
                <a:effectLst/>
                <a:latin typeface="Menlo"/>
              </a:rPr>
              <a:t>} </a:t>
            </a:r>
          </a:p>
          <a:p>
            <a:r>
              <a:rPr lang="en-US" b="0" i="0" dirty="0">
                <a:solidFill>
                  <a:srgbClr val="0000FF"/>
                </a:solidFill>
                <a:effectLst/>
                <a:latin typeface="Roboto" pitchFamily="2" charset="0"/>
              </a:rPr>
              <a:t>void</a:t>
            </a:r>
            <a:r>
              <a:rPr lang="en-US" b="0" i="0" dirty="0">
                <a:solidFill>
                  <a:srgbClr val="000000"/>
                </a:solidFill>
                <a:effectLst/>
                <a:latin typeface="Roboto" pitchFamily="2" charset="0"/>
              </a:rPr>
              <a:t> </a:t>
            </a:r>
            <a:r>
              <a:rPr lang="en-US" b="0" i="0" dirty="0" err="1">
                <a:solidFill>
                  <a:srgbClr val="A31515"/>
                </a:solidFill>
                <a:effectLst/>
                <a:latin typeface="Roboto" pitchFamily="2" charset="0"/>
              </a:rPr>
              <a:t>UART_SendString</a:t>
            </a:r>
            <a:r>
              <a:rPr lang="en-US" b="0" i="0" dirty="0">
                <a:solidFill>
                  <a:srgbClr val="000000"/>
                </a:solidFill>
                <a:effectLst/>
                <a:latin typeface="Roboto" pitchFamily="2" charset="0"/>
              </a:rPr>
              <a:t>(</a:t>
            </a:r>
            <a:r>
              <a:rPr lang="en-US" b="0" i="0" dirty="0">
                <a:solidFill>
                  <a:srgbClr val="0000FF"/>
                </a:solidFill>
                <a:effectLst/>
                <a:latin typeface="Roboto" pitchFamily="2" charset="0"/>
              </a:rPr>
              <a:t>char</a:t>
            </a:r>
            <a:r>
              <a:rPr lang="en-US" b="0" i="0" dirty="0">
                <a:solidFill>
                  <a:srgbClr val="000000"/>
                </a:solidFill>
                <a:effectLst/>
                <a:latin typeface="Roboto" pitchFamily="2" charset="0"/>
              </a:rPr>
              <a:t> *str) </a:t>
            </a:r>
          </a:p>
          <a:p>
            <a:r>
              <a:rPr lang="en-US" b="0" i="0" dirty="0">
                <a:solidFill>
                  <a:srgbClr val="000000"/>
                </a:solidFill>
                <a:effectLst/>
                <a:latin typeface="Menlo"/>
              </a:rPr>
              <a:t>{ </a:t>
            </a:r>
          </a:p>
          <a:p>
            <a:r>
              <a:rPr lang="en-US" b="0" i="0" dirty="0">
                <a:solidFill>
                  <a:srgbClr val="0000FF"/>
                </a:solidFill>
                <a:effectLst/>
                <a:latin typeface="Roboto" pitchFamily="2" charset="0"/>
              </a:rPr>
              <a:t>unsigned</a:t>
            </a:r>
            <a:r>
              <a:rPr lang="en-US" b="0" i="0" dirty="0">
                <a:solidFill>
                  <a:srgbClr val="000000"/>
                </a:solidFill>
                <a:effectLst/>
                <a:latin typeface="Menlo"/>
              </a:rPr>
              <a:t> </a:t>
            </a:r>
            <a:r>
              <a:rPr lang="en-US" b="0" i="0" dirty="0">
                <a:solidFill>
                  <a:srgbClr val="0000FF"/>
                </a:solidFill>
                <a:effectLst/>
                <a:latin typeface="Roboto" pitchFamily="2" charset="0"/>
              </a:rPr>
              <a:t>char</a:t>
            </a:r>
            <a:r>
              <a:rPr lang="en-US" b="0" i="0" dirty="0">
                <a:solidFill>
                  <a:srgbClr val="000000"/>
                </a:solidFill>
                <a:effectLst/>
                <a:latin typeface="Menlo"/>
              </a:rPr>
              <a:t> j=</a:t>
            </a:r>
            <a:r>
              <a:rPr lang="en-US" b="0" i="0" dirty="0">
                <a:solidFill>
                  <a:srgbClr val="AD009E"/>
                </a:solidFill>
                <a:effectLst/>
                <a:latin typeface="Roboto" pitchFamily="2" charset="0"/>
              </a:rPr>
              <a:t>0</a:t>
            </a:r>
            <a:r>
              <a:rPr lang="en-US" b="0" i="0" dirty="0">
                <a:solidFill>
                  <a:srgbClr val="000000"/>
                </a:solidFill>
                <a:effectLst/>
                <a:latin typeface="Menlo"/>
              </a:rPr>
              <a:t>; </a:t>
            </a:r>
          </a:p>
          <a:p>
            <a:r>
              <a:rPr lang="en-US" b="0" i="0" dirty="0">
                <a:solidFill>
                  <a:srgbClr val="0000FF"/>
                </a:solidFill>
                <a:effectLst/>
                <a:latin typeface="Roboto" pitchFamily="2" charset="0"/>
              </a:rPr>
              <a:t>while</a:t>
            </a:r>
            <a:r>
              <a:rPr lang="en-US" b="0" i="0" dirty="0">
                <a:solidFill>
                  <a:srgbClr val="000000"/>
                </a:solidFill>
                <a:effectLst/>
                <a:latin typeface="Menlo"/>
              </a:rPr>
              <a:t> (str[j]!=</a:t>
            </a:r>
            <a:r>
              <a:rPr lang="en-US" b="0" i="0" dirty="0">
                <a:solidFill>
                  <a:srgbClr val="AD009E"/>
                </a:solidFill>
                <a:effectLst/>
                <a:latin typeface="Roboto" pitchFamily="2" charset="0"/>
              </a:rPr>
              <a:t>0</a:t>
            </a:r>
            <a:r>
              <a:rPr lang="en-US" b="0" i="0" dirty="0">
                <a:solidFill>
                  <a:srgbClr val="000000"/>
                </a:solidFill>
                <a:effectLst/>
                <a:latin typeface="Menlo"/>
              </a:rPr>
              <a:t>) </a:t>
            </a:r>
            <a:r>
              <a:rPr lang="en-US" b="0" i="0" dirty="0">
                <a:solidFill>
                  <a:srgbClr val="008000"/>
                </a:solidFill>
                <a:effectLst/>
                <a:latin typeface="Roboto" pitchFamily="2" charset="0"/>
              </a:rPr>
              <a:t>/* Send string till null */</a:t>
            </a:r>
            <a:r>
              <a:rPr lang="en-US" b="0" i="0" dirty="0">
                <a:solidFill>
                  <a:srgbClr val="000000"/>
                </a:solidFill>
                <a:effectLst/>
                <a:latin typeface="Menlo"/>
              </a:rPr>
              <a:t> </a:t>
            </a:r>
          </a:p>
          <a:p>
            <a:r>
              <a:rPr lang="en-US" b="0" i="0" dirty="0">
                <a:solidFill>
                  <a:srgbClr val="000000"/>
                </a:solidFill>
                <a:effectLst/>
                <a:latin typeface="Menlo"/>
              </a:rPr>
              <a:t>{ </a:t>
            </a:r>
          </a:p>
          <a:p>
            <a:r>
              <a:rPr lang="en-US" b="0" i="0" dirty="0" err="1">
                <a:solidFill>
                  <a:srgbClr val="000000"/>
                </a:solidFill>
                <a:effectLst/>
                <a:latin typeface="Menlo"/>
              </a:rPr>
              <a:t>UART_TxChar</a:t>
            </a:r>
            <a:r>
              <a:rPr lang="en-US" b="0" i="0" dirty="0">
                <a:solidFill>
                  <a:srgbClr val="000000"/>
                </a:solidFill>
                <a:effectLst/>
                <a:latin typeface="Menlo"/>
              </a:rPr>
              <a:t>(str[j]); </a:t>
            </a:r>
          </a:p>
          <a:p>
            <a:r>
              <a:rPr lang="en-US" b="0" i="0" dirty="0" err="1">
                <a:solidFill>
                  <a:srgbClr val="000000"/>
                </a:solidFill>
                <a:effectLst/>
                <a:latin typeface="Menlo"/>
              </a:rPr>
              <a:t>j++</a:t>
            </a:r>
            <a:r>
              <a:rPr lang="en-US" b="0" i="0" dirty="0">
                <a:solidFill>
                  <a:srgbClr val="000000"/>
                </a:solidFill>
                <a:effectLst/>
                <a:latin typeface="Menlo"/>
              </a:rPr>
              <a:t>; </a:t>
            </a:r>
          </a:p>
          <a:p>
            <a:r>
              <a:rPr lang="en-US" b="0" i="0" dirty="0">
                <a:solidFill>
                  <a:srgbClr val="000000"/>
                </a:solidFill>
                <a:effectLst/>
                <a:latin typeface="Menlo"/>
              </a:rPr>
              <a:t>} } </a:t>
            </a:r>
          </a:p>
          <a:p>
            <a:r>
              <a:rPr lang="en-US" b="0" i="0" dirty="0">
                <a:solidFill>
                  <a:srgbClr val="0000FF"/>
                </a:solidFill>
                <a:effectLst/>
                <a:latin typeface="Roboto" pitchFamily="2" charset="0"/>
              </a:rPr>
              <a:t>int</a:t>
            </a:r>
            <a:r>
              <a:rPr lang="en-US" b="0" i="0" dirty="0">
                <a:solidFill>
                  <a:srgbClr val="000000"/>
                </a:solidFill>
                <a:effectLst/>
                <a:latin typeface="Roboto" pitchFamily="2" charset="0"/>
              </a:rPr>
              <a:t> </a:t>
            </a:r>
            <a:r>
              <a:rPr lang="en-US" b="0" i="0" dirty="0">
                <a:solidFill>
                  <a:srgbClr val="A31515"/>
                </a:solidFill>
                <a:effectLst/>
                <a:latin typeface="Roboto" pitchFamily="2" charset="0"/>
              </a:rPr>
              <a:t>main</a:t>
            </a:r>
            <a:r>
              <a:rPr lang="en-US" b="0" i="0" dirty="0">
                <a:solidFill>
                  <a:srgbClr val="000000"/>
                </a:solidFill>
                <a:effectLst/>
                <a:latin typeface="Roboto" pitchFamily="2" charset="0"/>
              </a:rPr>
              <a:t>() </a:t>
            </a:r>
          </a:p>
          <a:p>
            <a:r>
              <a:rPr lang="en-US" b="0" i="0" dirty="0">
                <a:solidFill>
                  <a:srgbClr val="000000"/>
                </a:solidFill>
                <a:effectLst/>
                <a:latin typeface="Menlo"/>
              </a:rPr>
              <a:t>{ </a:t>
            </a:r>
          </a:p>
          <a:p>
            <a:r>
              <a:rPr lang="en-US" b="0" i="0" dirty="0">
                <a:solidFill>
                  <a:srgbClr val="0000FF"/>
                </a:solidFill>
                <a:effectLst/>
                <a:latin typeface="Roboto" pitchFamily="2" charset="0"/>
              </a:rPr>
              <a:t>char</a:t>
            </a:r>
            <a:r>
              <a:rPr lang="en-US" b="0" i="0" dirty="0">
                <a:solidFill>
                  <a:srgbClr val="000000"/>
                </a:solidFill>
                <a:effectLst/>
                <a:latin typeface="Menlo"/>
              </a:rPr>
              <a:t> c; </a:t>
            </a:r>
          </a:p>
          <a:p>
            <a:r>
              <a:rPr lang="en-US" b="0" i="0" dirty="0" err="1">
                <a:solidFill>
                  <a:srgbClr val="000000"/>
                </a:solidFill>
                <a:effectLst/>
                <a:latin typeface="Menlo"/>
              </a:rPr>
              <a:t>UART_init</a:t>
            </a:r>
            <a:r>
              <a:rPr lang="en-US" b="0" i="0" dirty="0">
                <a:solidFill>
                  <a:srgbClr val="000000"/>
                </a:solidFill>
                <a:effectLst/>
                <a:latin typeface="Menlo"/>
              </a:rPr>
              <a:t>(</a:t>
            </a:r>
            <a:r>
              <a:rPr lang="en-US" b="0" i="0" dirty="0">
                <a:solidFill>
                  <a:srgbClr val="AD009E"/>
                </a:solidFill>
                <a:effectLst/>
                <a:latin typeface="Roboto" pitchFamily="2" charset="0"/>
              </a:rPr>
              <a:t>9600</a:t>
            </a:r>
            <a:r>
              <a:rPr lang="en-US" b="0" i="0" dirty="0">
                <a:solidFill>
                  <a:srgbClr val="000000"/>
                </a:solidFill>
                <a:effectLst/>
                <a:latin typeface="Menlo"/>
              </a:rPr>
              <a:t>); </a:t>
            </a:r>
          </a:p>
          <a:p>
            <a:r>
              <a:rPr lang="en-US" b="0" i="0" dirty="0" err="1">
                <a:solidFill>
                  <a:srgbClr val="000000"/>
                </a:solidFill>
                <a:effectLst/>
                <a:latin typeface="Menlo"/>
              </a:rPr>
              <a:t>UART_SendString</a:t>
            </a:r>
            <a:r>
              <a:rPr lang="en-US" b="0" i="0" dirty="0">
                <a:solidFill>
                  <a:srgbClr val="000000"/>
                </a:solidFill>
                <a:effectLst/>
                <a:latin typeface="Menlo"/>
              </a:rPr>
              <a:t>(</a:t>
            </a:r>
            <a:r>
              <a:rPr lang="en-US" b="0" i="0" dirty="0">
                <a:solidFill>
                  <a:srgbClr val="A31515"/>
                </a:solidFill>
                <a:effectLst/>
                <a:latin typeface="Roboto" pitchFamily="2" charset="0"/>
              </a:rPr>
              <a:t>"\n\t Echo Test "</a:t>
            </a:r>
            <a:r>
              <a:rPr lang="en-US" b="0" i="0" dirty="0">
                <a:solidFill>
                  <a:srgbClr val="000000"/>
                </a:solidFill>
                <a:effectLst/>
                <a:latin typeface="Menlo"/>
              </a:rPr>
              <a:t>); </a:t>
            </a:r>
          </a:p>
          <a:p>
            <a:r>
              <a:rPr lang="en-US" b="0" i="0" dirty="0">
                <a:solidFill>
                  <a:srgbClr val="0000FF"/>
                </a:solidFill>
                <a:effectLst/>
                <a:latin typeface="Roboto" pitchFamily="2" charset="0"/>
              </a:rPr>
              <a:t>while</a:t>
            </a:r>
            <a:r>
              <a:rPr lang="en-US" b="0" i="0" dirty="0">
                <a:solidFill>
                  <a:srgbClr val="000000"/>
                </a:solidFill>
                <a:effectLst/>
                <a:latin typeface="Menlo"/>
              </a:rPr>
              <a:t>(</a:t>
            </a:r>
            <a:r>
              <a:rPr lang="en-US" b="0" i="0" dirty="0">
                <a:solidFill>
                  <a:srgbClr val="AD009E"/>
                </a:solidFill>
                <a:effectLst/>
                <a:latin typeface="Roboto" pitchFamily="2" charset="0"/>
              </a:rPr>
              <a:t>1</a:t>
            </a:r>
            <a:r>
              <a:rPr lang="en-US" b="0" i="0" dirty="0">
                <a:solidFill>
                  <a:srgbClr val="000000"/>
                </a:solidFill>
                <a:effectLst/>
                <a:latin typeface="Menlo"/>
              </a:rPr>
              <a:t>) </a:t>
            </a:r>
          </a:p>
          <a:p>
            <a:r>
              <a:rPr lang="en-US" b="0" i="0" dirty="0">
                <a:solidFill>
                  <a:srgbClr val="000000"/>
                </a:solidFill>
                <a:effectLst/>
                <a:latin typeface="Menlo"/>
              </a:rPr>
              <a:t>{</a:t>
            </a:r>
          </a:p>
          <a:p>
            <a:r>
              <a:rPr lang="en-US" b="0" i="0" dirty="0">
                <a:solidFill>
                  <a:srgbClr val="000000"/>
                </a:solidFill>
                <a:effectLst/>
                <a:latin typeface="Menlo"/>
              </a:rPr>
              <a:t>c=</a:t>
            </a:r>
            <a:r>
              <a:rPr lang="en-US" b="0" i="0" dirty="0" err="1">
                <a:solidFill>
                  <a:srgbClr val="000000"/>
                </a:solidFill>
                <a:effectLst/>
                <a:latin typeface="Menlo"/>
              </a:rPr>
              <a:t>UART_RxChar</a:t>
            </a:r>
            <a:r>
              <a:rPr lang="en-US" b="0" i="0" dirty="0">
                <a:solidFill>
                  <a:srgbClr val="000000"/>
                </a:solidFill>
                <a:effectLst/>
                <a:latin typeface="Menlo"/>
              </a:rPr>
              <a:t>(); </a:t>
            </a:r>
          </a:p>
          <a:p>
            <a:r>
              <a:rPr lang="en-US" b="0" i="0" dirty="0" err="1">
                <a:solidFill>
                  <a:srgbClr val="000000"/>
                </a:solidFill>
                <a:effectLst/>
                <a:latin typeface="Menlo"/>
              </a:rPr>
              <a:t>UART_TxChar</a:t>
            </a:r>
            <a:r>
              <a:rPr lang="en-US" b="0" i="0" dirty="0">
                <a:solidFill>
                  <a:srgbClr val="000000"/>
                </a:solidFill>
                <a:effectLst/>
                <a:latin typeface="Menlo"/>
              </a:rPr>
              <a:t>(c); </a:t>
            </a:r>
          </a:p>
          <a:p>
            <a:r>
              <a:rPr lang="en-US" b="0" i="0" dirty="0">
                <a:solidFill>
                  <a:srgbClr val="000000"/>
                </a:solidFill>
                <a:effectLst/>
                <a:latin typeface="Menlo"/>
              </a:rPr>
              <a:t>} }</a:t>
            </a:r>
            <a:endParaRPr lang="en-US" dirty="0"/>
          </a:p>
        </p:txBody>
      </p:sp>
    </p:spTree>
    <p:extLst>
      <p:ext uri="{BB962C8B-B14F-4D97-AF65-F5344CB8AC3E}">
        <p14:creationId xmlns:p14="http://schemas.microsoft.com/office/powerpoint/2010/main" val="126055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AC37E-46CA-5E76-9274-05B42651B9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F4CBBC-8F52-D329-0D68-D94062CEA778}"/>
              </a:ext>
            </a:extLst>
          </p:cNvPr>
          <p:cNvSpPr txBox="1"/>
          <p:nvPr/>
        </p:nvSpPr>
        <p:spPr>
          <a:xfrm>
            <a:off x="0" y="0"/>
            <a:ext cx="12191999" cy="461665"/>
          </a:xfrm>
          <a:prstGeom prst="rect">
            <a:avLst/>
          </a:prstGeom>
          <a:noFill/>
        </p:spPr>
        <p:txBody>
          <a:bodyPr wrap="square" rtlCol="0">
            <a:spAutoFit/>
          </a:bodyPr>
          <a:lstStyle/>
          <a:p>
            <a:pPr algn="ctr"/>
            <a:r>
              <a:rPr lang="en-US" sz="2400" dirty="0">
                <a:solidFill>
                  <a:srgbClr val="002060"/>
                </a:solidFill>
                <a:latin typeface="Futura T OT" panose="02000000000000000000" pitchFamily="50" charset="0"/>
              </a:rPr>
              <a:t>Syllabus of Embedded System</a:t>
            </a:r>
          </a:p>
        </p:txBody>
      </p:sp>
      <p:sp>
        <p:nvSpPr>
          <p:cNvPr id="2" name="TextBox 1">
            <a:extLst>
              <a:ext uri="{FF2B5EF4-FFF2-40B4-BE49-F238E27FC236}">
                <a16:creationId xmlns:a16="http://schemas.microsoft.com/office/drawing/2014/main" id="{69C6E40B-B22D-02FF-969A-982413A25E0F}"/>
              </a:ext>
            </a:extLst>
          </p:cNvPr>
          <p:cNvSpPr txBox="1"/>
          <p:nvPr/>
        </p:nvSpPr>
        <p:spPr>
          <a:xfrm>
            <a:off x="2147455" y="1897439"/>
            <a:ext cx="8229600" cy="3139321"/>
          </a:xfrm>
          <a:prstGeom prst="rect">
            <a:avLst/>
          </a:prstGeom>
          <a:noFill/>
        </p:spPr>
        <p:txBody>
          <a:bodyPr wrap="square">
            <a:spAutoFit/>
          </a:bodyPr>
          <a:lstStyle/>
          <a:p>
            <a:r>
              <a:rPr lang="en-US" dirty="0">
                <a:solidFill>
                  <a:srgbClr val="FF0000"/>
                </a:solidFill>
                <a:latin typeface="Futura T OT" panose="02000000000000000000" pitchFamily="50" charset="0"/>
              </a:rPr>
              <a:t>Unit 2: Programming for Embedded Systems (5 Hours)</a:t>
            </a:r>
          </a:p>
          <a:p>
            <a:endParaRPr lang="en-US" dirty="0">
              <a:latin typeface="Futura T OT" panose="02000000000000000000" pitchFamily="50" charset="0"/>
            </a:endParaRPr>
          </a:p>
          <a:p>
            <a:r>
              <a:rPr lang="en-US" dirty="0">
                <a:latin typeface="Futura T OT" panose="02000000000000000000" pitchFamily="50" charset="0"/>
              </a:rPr>
              <a:t>2.1 Overview of AVR Architecture</a:t>
            </a:r>
          </a:p>
          <a:p>
            <a:r>
              <a:rPr lang="en-US" dirty="0">
                <a:latin typeface="Futura T OT" panose="02000000000000000000" pitchFamily="50" charset="0"/>
              </a:rPr>
              <a:t>2.2 Embedded C Programming for Microcontroller</a:t>
            </a:r>
          </a:p>
          <a:p>
            <a:pPr marL="742950" lvl="1" indent="-285750">
              <a:buFont typeface="Arial" panose="020B0604020202020204" pitchFamily="34" charset="0"/>
              <a:buChar char="•"/>
            </a:pPr>
            <a:r>
              <a:rPr lang="en-US" dirty="0">
                <a:latin typeface="Futura T OT" panose="02000000000000000000" pitchFamily="50" charset="0"/>
              </a:rPr>
              <a:t>Introduction to C for Embedded Systems</a:t>
            </a:r>
          </a:p>
          <a:p>
            <a:pPr marL="742950" lvl="1" indent="-285750">
              <a:buFont typeface="Arial" panose="020B0604020202020204" pitchFamily="34" charset="0"/>
              <a:buChar char="•"/>
            </a:pPr>
            <a:r>
              <a:rPr lang="en-US" dirty="0">
                <a:latin typeface="Futura T OT" panose="02000000000000000000" pitchFamily="50" charset="0"/>
              </a:rPr>
              <a:t>Data Types, Control Structures, and pointers</a:t>
            </a:r>
          </a:p>
          <a:p>
            <a:pPr marL="742950" lvl="1" indent="-285750">
              <a:buFont typeface="Arial" panose="020B0604020202020204" pitchFamily="34" charset="0"/>
              <a:buChar char="•"/>
            </a:pPr>
            <a:r>
              <a:rPr lang="en-US" dirty="0">
                <a:latin typeface="Futura T OT" panose="02000000000000000000" pitchFamily="50" charset="0"/>
              </a:rPr>
              <a:t>Memory Management</a:t>
            </a:r>
          </a:p>
          <a:p>
            <a:pPr marL="742950" lvl="1" indent="-285750">
              <a:buFont typeface="Arial" panose="020B0604020202020204" pitchFamily="34" charset="0"/>
              <a:buChar char="•"/>
            </a:pPr>
            <a:r>
              <a:rPr lang="en-US" dirty="0">
                <a:latin typeface="Futura T OT" panose="02000000000000000000" pitchFamily="50" charset="0"/>
              </a:rPr>
              <a:t>AVR Interrupt handling </a:t>
            </a:r>
          </a:p>
          <a:p>
            <a:pPr marL="742950" lvl="1" indent="-285750">
              <a:buFont typeface="Arial" panose="020B0604020202020204" pitchFamily="34" charset="0"/>
              <a:buChar char="•"/>
            </a:pPr>
            <a:r>
              <a:rPr lang="en-US" dirty="0">
                <a:latin typeface="Futura T OT" panose="02000000000000000000" pitchFamily="50" charset="0"/>
              </a:rPr>
              <a:t>Input and output ports interfacing on AVR</a:t>
            </a:r>
          </a:p>
          <a:p>
            <a:pPr marL="742950" lvl="1" indent="-285750">
              <a:buFont typeface="Arial" panose="020B0604020202020204" pitchFamily="34" charset="0"/>
              <a:buChar char="•"/>
            </a:pPr>
            <a:r>
              <a:rPr lang="en-US" dirty="0">
                <a:latin typeface="Futura T OT" panose="02000000000000000000" pitchFamily="50" charset="0"/>
              </a:rPr>
              <a:t>Timers and Counters in AVR</a:t>
            </a:r>
          </a:p>
          <a:p>
            <a:pPr marL="742950" lvl="1" indent="-285750">
              <a:buFont typeface="Arial" panose="020B0604020202020204" pitchFamily="34" charset="0"/>
              <a:buChar char="•"/>
            </a:pPr>
            <a:r>
              <a:rPr lang="en-US" dirty="0">
                <a:latin typeface="Futura T OT" panose="02000000000000000000" pitchFamily="50" charset="0"/>
              </a:rPr>
              <a:t>Serial Communication in AVR</a:t>
            </a:r>
          </a:p>
        </p:txBody>
      </p:sp>
    </p:spTree>
    <p:extLst>
      <p:ext uri="{BB962C8B-B14F-4D97-AF65-F5344CB8AC3E}">
        <p14:creationId xmlns:p14="http://schemas.microsoft.com/office/powerpoint/2010/main" val="5869690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36FBD7-AA46-E1E6-8AE5-48186BBCBE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F42DA2-5D42-3810-D9F7-717A4D3E7503}"/>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(SPI)</a:t>
            </a:r>
          </a:p>
        </p:txBody>
      </p:sp>
      <p:sp>
        <p:nvSpPr>
          <p:cNvPr id="5" name="TextBox 4">
            <a:extLst>
              <a:ext uri="{FF2B5EF4-FFF2-40B4-BE49-F238E27FC236}">
                <a16:creationId xmlns:a16="http://schemas.microsoft.com/office/drawing/2014/main" id="{3C21D826-E493-8729-C383-4B2637858002}"/>
              </a:ext>
            </a:extLst>
          </p:cNvPr>
          <p:cNvSpPr txBox="1"/>
          <p:nvPr/>
        </p:nvSpPr>
        <p:spPr>
          <a:xfrm>
            <a:off x="706554" y="712166"/>
            <a:ext cx="10778887" cy="3108543"/>
          </a:xfrm>
          <a:prstGeom prst="rect">
            <a:avLst/>
          </a:prstGeom>
          <a:noFill/>
        </p:spPr>
        <p:txBody>
          <a:bodyPr wrap="square" rtlCol="0">
            <a:spAutoFit/>
          </a:bodyPr>
          <a:lstStyle/>
          <a:p>
            <a:r>
              <a:rPr lang="en-US" sz="2800" dirty="0">
                <a:latin typeface="Futura T OT" panose="02000000000000000000" pitchFamily="50" charset="0"/>
              </a:rPr>
              <a:t>The Serial Peripheral Interface SPI is a bus interface connection protocol.</a:t>
            </a:r>
          </a:p>
          <a:p>
            <a:r>
              <a:rPr lang="en-US" sz="2800" dirty="0">
                <a:latin typeface="Futura T OT" panose="02000000000000000000" pitchFamily="50" charset="0"/>
              </a:rPr>
              <a:t>It uses four pins for communication:</a:t>
            </a:r>
          </a:p>
          <a:p>
            <a:endParaRPr lang="en-US" sz="2800" dirty="0">
              <a:latin typeface="Futura T OT" panose="02000000000000000000" pitchFamily="50" charset="0"/>
            </a:endParaRPr>
          </a:p>
          <a:p>
            <a:r>
              <a:rPr lang="en-US" sz="2800" dirty="0">
                <a:latin typeface="Futura T OT" panose="02000000000000000000" pitchFamily="50" charset="0"/>
              </a:rPr>
              <a:t>SDI (Serial Data Input) / </a:t>
            </a:r>
            <a:r>
              <a:rPr lang="en-US" sz="2800" dirty="0">
                <a:solidFill>
                  <a:srgbClr val="FF0000"/>
                </a:solidFill>
                <a:latin typeface="Futura T OT" panose="02000000000000000000" pitchFamily="50" charset="0"/>
              </a:rPr>
              <a:t>MISO</a:t>
            </a:r>
            <a:r>
              <a:rPr lang="en-US" sz="2800" dirty="0">
                <a:latin typeface="Futura T OT" panose="02000000000000000000" pitchFamily="50" charset="0"/>
              </a:rPr>
              <a:t> (Master In Slave Out)</a:t>
            </a:r>
          </a:p>
          <a:p>
            <a:r>
              <a:rPr lang="en-US" sz="2800" dirty="0">
                <a:latin typeface="Futura T OT" panose="02000000000000000000" pitchFamily="50" charset="0"/>
              </a:rPr>
              <a:t>SDO (Serial Data Output) / </a:t>
            </a:r>
            <a:r>
              <a:rPr lang="en-US" sz="2800" dirty="0">
                <a:solidFill>
                  <a:srgbClr val="FF0000"/>
                </a:solidFill>
                <a:latin typeface="Futura T OT" panose="02000000000000000000" pitchFamily="50" charset="0"/>
              </a:rPr>
              <a:t>MOSI</a:t>
            </a:r>
            <a:r>
              <a:rPr lang="en-US" sz="2800" dirty="0">
                <a:latin typeface="Futura T OT" panose="02000000000000000000" pitchFamily="50" charset="0"/>
              </a:rPr>
              <a:t> (Master Out Slave In)</a:t>
            </a:r>
          </a:p>
          <a:p>
            <a:r>
              <a:rPr lang="en-US" sz="2800" dirty="0">
                <a:latin typeface="Futura T OT" panose="02000000000000000000" pitchFamily="50" charset="0"/>
              </a:rPr>
              <a:t>SCLK (Serial Clock) / </a:t>
            </a:r>
            <a:r>
              <a:rPr lang="en-US" sz="2800" dirty="0">
                <a:solidFill>
                  <a:srgbClr val="FF0000"/>
                </a:solidFill>
                <a:latin typeface="Futura T OT" panose="02000000000000000000" pitchFamily="50" charset="0"/>
              </a:rPr>
              <a:t>SCK</a:t>
            </a:r>
            <a:r>
              <a:rPr lang="en-US" sz="2800" dirty="0">
                <a:latin typeface="Futura T OT" panose="02000000000000000000" pitchFamily="50" charset="0"/>
              </a:rPr>
              <a:t> (Shift Clock)</a:t>
            </a:r>
          </a:p>
          <a:p>
            <a:r>
              <a:rPr lang="en-US" sz="2800" dirty="0">
                <a:latin typeface="Futura T OT" panose="02000000000000000000" pitchFamily="50" charset="0"/>
              </a:rPr>
              <a:t>CS (Chip Select) / </a:t>
            </a:r>
            <a:r>
              <a:rPr lang="en-US" sz="2800" dirty="0">
                <a:solidFill>
                  <a:srgbClr val="FF0000"/>
                </a:solidFill>
                <a:latin typeface="Futura T OT" panose="02000000000000000000" pitchFamily="50" charset="0"/>
              </a:rPr>
              <a:t>SS</a:t>
            </a:r>
            <a:r>
              <a:rPr lang="en-US" sz="2800" dirty="0">
                <a:latin typeface="Futura T OT" panose="02000000000000000000" pitchFamily="50" charset="0"/>
              </a:rPr>
              <a:t> (Slave Select)</a:t>
            </a:r>
          </a:p>
        </p:txBody>
      </p:sp>
      <p:pic>
        <p:nvPicPr>
          <p:cNvPr id="4" name="Picture 3">
            <a:extLst>
              <a:ext uri="{FF2B5EF4-FFF2-40B4-BE49-F238E27FC236}">
                <a16:creationId xmlns:a16="http://schemas.microsoft.com/office/drawing/2014/main" id="{2C50496A-DCE1-B7AC-F7B4-E460646FB028}"/>
              </a:ext>
            </a:extLst>
          </p:cNvPr>
          <p:cNvPicPr>
            <a:picLocks noChangeAspect="1"/>
          </p:cNvPicPr>
          <p:nvPr/>
        </p:nvPicPr>
        <p:blipFill>
          <a:blip r:embed="rId2"/>
          <a:stretch>
            <a:fillRect/>
          </a:stretch>
        </p:blipFill>
        <p:spPr>
          <a:xfrm>
            <a:off x="2324100" y="3838575"/>
            <a:ext cx="7620000" cy="3019425"/>
          </a:xfrm>
          <a:prstGeom prst="rect">
            <a:avLst/>
          </a:prstGeom>
        </p:spPr>
      </p:pic>
    </p:spTree>
    <p:extLst>
      <p:ext uri="{BB962C8B-B14F-4D97-AF65-F5344CB8AC3E}">
        <p14:creationId xmlns:p14="http://schemas.microsoft.com/office/powerpoint/2010/main" val="8600603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C67C6A3-206F-FFC6-0AF1-C3DE141151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AAE1D5-CAED-2170-2464-0E29216FF4C3}"/>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(SPI)</a:t>
            </a:r>
          </a:p>
        </p:txBody>
      </p:sp>
      <p:sp>
        <p:nvSpPr>
          <p:cNvPr id="5" name="TextBox 4">
            <a:extLst>
              <a:ext uri="{FF2B5EF4-FFF2-40B4-BE49-F238E27FC236}">
                <a16:creationId xmlns:a16="http://schemas.microsoft.com/office/drawing/2014/main" id="{1BF3902B-EEEB-3B33-9802-6C8C120A988A}"/>
              </a:ext>
            </a:extLst>
          </p:cNvPr>
          <p:cNvSpPr txBox="1"/>
          <p:nvPr/>
        </p:nvSpPr>
        <p:spPr>
          <a:xfrm>
            <a:off x="706555" y="1094552"/>
            <a:ext cx="10778887" cy="954107"/>
          </a:xfrm>
          <a:prstGeom prst="rect">
            <a:avLst/>
          </a:prstGeom>
          <a:noFill/>
        </p:spPr>
        <p:txBody>
          <a:bodyPr wrap="square" rtlCol="0">
            <a:spAutoFit/>
          </a:bodyPr>
          <a:lstStyle/>
          <a:p>
            <a:r>
              <a:rPr lang="en-US" sz="2800" dirty="0">
                <a:latin typeface="Futura T OT" panose="02000000000000000000" pitchFamily="50" charset="0"/>
              </a:rPr>
              <a:t>Three registers to configure SPI communication that are SPI Control Register, SPI Status Register and SPI Data Register.</a:t>
            </a:r>
          </a:p>
        </p:txBody>
      </p:sp>
      <p:sp>
        <p:nvSpPr>
          <p:cNvPr id="3" name="TextBox 2">
            <a:extLst>
              <a:ext uri="{FF2B5EF4-FFF2-40B4-BE49-F238E27FC236}">
                <a16:creationId xmlns:a16="http://schemas.microsoft.com/office/drawing/2014/main" id="{BF3A1CED-D81B-7F9A-9D0B-46AA105EC8B8}"/>
              </a:ext>
            </a:extLst>
          </p:cNvPr>
          <p:cNvSpPr txBox="1"/>
          <p:nvPr/>
        </p:nvSpPr>
        <p:spPr>
          <a:xfrm>
            <a:off x="706554" y="208138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SPCR : SPI Control Register</a:t>
            </a:r>
          </a:p>
        </p:txBody>
      </p:sp>
      <p:graphicFrame>
        <p:nvGraphicFramePr>
          <p:cNvPr id="6" name="Table 5">
            <a:extLst>
              <a:ext uri="{FF2B5EF4-FFF2-40B4-BE49-F238E27FC236}">
                <a16:creationId xmlns:a16="http://schemas.microsoft.com/office/drawing/2014/main" id="{C9CBD344-8CC1-8DA1-661B-697904407AFB}"/>
              </a:ext>
            </a:extLst>
          </p:cNvPr>
          <p:cNvGraphicFramePr>
            <a:graphicFrameLocks noGrp="1"/>
          </p:cNvGraphicFramePr>
          <p:nvPr>
            <p:extLst>
              <p:ext uri="{D42A27DB-BD31-4B8C-83A1-F6EECF244321}">
                <p14:modId xmlns:p14="http://schemas.microsoft.com/office/powerpoint/2010/main" val="3895696481"/>
              </p:ext>
            </p:extLst>
          </p:nvPr>
        </p:nvGraphicFramePr>
        <p:xfrm>
          <a:off x="1216428" y="3027106"/>
          <a:ext cx="9759144" cy="51816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SPIE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DORD</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MSTR</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CPOL</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CPHA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SPR1</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SPR0</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2BC57BAF-0CFC-27AA-E0B3-D8CC77E0932C}"/>
              </a:ext>
            </a:extLst>
          </p:cNvPr>
          <p:cNvGraphicFramePr>
            <a:graphicFrameLocks noGrp="1"/>
          </p:cNvGraphicFramePr>
          <p:nvPr>
            <p:extLst>
              <p:ext uri="{D42A27DB-BD31-4B8C-83A1-F6EECF244321}">
                <p14:modId xmlns:p14="http://schemas.microsoft.com/office/powerpoint/2010/main" val="2032008879"/>
              </p:ext>
            </p:extLst>
          </p:nvPr>
        </p:nvGraphicFramePr>
        <p:xfrm>
          <a:off x="1216428" y="2686872"/>
          <a:ext cx="9759144" cy="37084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9" name="TextBox 8">
            <a:extLst>
              <a:ext uri="{FF2B5EF4-FFF2-40B4-BE49-F238E27FC236}">
                <a16:creationId xmlns:a16="http://schemas.microsoft.com/office/drawing/2014/main" id="{5DE60DD7-EA26-970B-077A-C16F870F415A}"/>
              </a:ext>
            </a:extLst>
          </p:cNvPr>
          <p:cNvSpPr txBox="1"/>
          <p:nvPr/>
        </p:nvSpPr>
        <p:spPr>
          <a:xfrm>
            <a:off x="706553" y="3800289"/>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SPIE : SPI Interrupt Enable bit </a:t>
            </a:r>
            <a:r>
              <a:rPr lang="en-US" sz="2800" dirty="0">
                <a:latin typeface="Futura T OT" panose="02000000000000000000" pitchFamily="50" charset="0"/>
              </a:rPr>
              <a:t>(1 for enabling interrupt)</a:t>
            </a:r>
          </a:p>
        </p:txBody>
      </p:sp>
      <p:sp>
        <p:nvSpPr>
          <p:cNvPr id="10" name="TextBox 9">
            <a:extLst>
              <a:ext uri="{FF2B5EF4-FFF2-40B4-BE49-F238E27FC236}">
                <a16:creationId xmlns:a16="http://schemas.microsoft.com/office/drawing/2014/main" id="{06B69B2B-DBC5-ABA8-5A51-FD74329AEA2A}"/>
              </a:ext>
            </a:extLst>
          </p:cNvPr>
          <p:cNvSpPr txBox="1"/>
          <p:nvPr/>
        </p:nvSpPr>
        <p:spPr>
          <a:xfrm>
            <a:off x="706552" y="5356775"/>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DORD : Data Order bit </a:t>
            </a:r>
            <a:r>
              <a:rPr lang="en-US" sz="2800" dirty="0">
                <a:latin typeface="Futura T OT" panose="02000000000000000000" pitchFamily="50" charset="0"/>
              </a:rPr>
              <a:t>(1 for LSB transmitted first and </a:t>
            </a:r>
            <a:r>
              <a:rPr lang="en-US" sz="2800">
                <a:latin typeface="Futura T OT" panose="02000000000000000000" pitchFamily="50" charset="0"/>
              </a:rPr>
              <a:t>0 for MSB)</a:t>
            </a:r>
            <a:endParaRPr lang="en-US" sz="2800" dirty="0">
              <a:latin typeface="Futura T OT" panose="02000000000000000000" pitchFamily="50" charset="0"/>
            </a:endParaRPr>
          </a:p>
        </p:txBody>
      </p:sp>
      <p:sp>
        <p:nvSpPr>
          <p:cNvPr id="12" name="TextBox 11">
            <a:extLst>
              <a:ext uri="{FF2B5EF4-FFF2-40B4-BE49-F238E27FC236}">
                <a16:creationId xmlns:a16="http://schemas.microsoft.com/office/drawing/2014/main" id="{DDB82C29-64F5-F519-094A-ED52A0B820CD}"/>
              </a:ext>
            </a:extLst>
          </p:cNvPr>
          <p:cNvSpPr txBox="1"/>
          <p:nvPr/>
        </p:nvSpPr>
        <p:spPr>
          <a:xfrm>
            <a:off x="706553" y="6135018"/>
            <a:ext cx="11130771"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MSTR : Master/Slave Select bit </a:t>
            </a:r>
            <a:r>
              <a:rPr lang="en-US" sz="2800" dirty="0">
                <a:latin typeface="Futura T OT" panose="02000000000000000000" pitchFamily="50" charset="0"/>
              </a:rPr>
              <a:t>(1 for Master mode and 0 for slave mode</a:t>
            </a:r>
          </a:p>
        </p:txBody>
      </p:sp>
      <p:sp>
        <p:nvSpPr>
          <p:cNvPr id="13" name="TextBox 12">
            <a:extLst>
              <a:ext uri="{FF2B5EF4-FFF2-40B4-BE49-F238E27FC236}">
                <a16:creationId xmlns:a16="http://schemas.microsoft.com/office/drawing/2014/main" id="{ABA12501-EAD6-A414-375A-0526FC163DA1}"/>
              </a:ext>
            </a:extLst>
          </p:cNvPr>
          <p:cNvSpPr txBox="1"/>
          <p:nvPr/>
        </p:nvSpPr>
        <p:spPr>
          <a:xfrm>
            <a:off x="706553" y="457853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SPE : SPI Enable bit </a:t>
            </a:r>
            <a:r>
              <a:rPr lang="en-US" sz="2800" dirty="0">
                <a:latin typeface="Futura T OT" panose="02000000000000000000" pitchFamily="50" charset="0"/>
              </a:rPr>
              <a:t>(1 for enabling SPI)</a:t>
            </a:r>
          </a:p>
        </p:txBody>
      </p:sp>
    </p:spTree>
    <p:extLst>
      <p:ext uri="{BB962C8B-B14F-4D97-AF65-F5344CB8AC3E}">
        <p14:creationId xmlns:p14="http://schemas.microsoft.com/office/powerpoint/2010/main" val="33573951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B0A6D4-A3C2-245F-B0B6-EEA5DC0955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56322B-8BC4-19D8-3E96-E743FBC714AB}"/>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(SPI)</a:t>
            </a:r>
          </a:p>
        </p:txBody>
      </p:sp>
      <p:sp>
        <p:nvSpPr>
          <p:cNvPr id="5" name="TextBox 4">
            <a:extLst>
              <a:ext uri="{FF2B5EF4-FFF2-40B4-BE49-F238E27FC236}">
                <a16:creationId xmlns:a16="http://schemas.microsoft.com/office/drawing/2014/main" id="{8C167575-4D38-16A8-7772-6847566EF4A7}"/>
              </a:ext>
            </a:extLst>
          </p:cNvPr>
          <p:cNvSpPr txBox="1"/>
          <p:nvPr/>
        </p:nvSpPr>
        <p:spPr>
          <a:xfrm>
            <a:off x="706555" y="1094552"/>
            <a:ext cx="10778887" cy="954107"/>
          </a:xfrm>
          <a:prstGeom prst="rect">
            <a:avLst/>
          </a:prstGeom>
          <a:noFill/>
        </p:spPr>
        <p:txBody>
          <a:bodyPr wrap="square" rtlCol="0">
            <a:spAutoFit/>
          </a:bodyPr>
          <a:lstStyle/>
          <a:p>
            <a:r>
              <a:rPr lang="en-US" sz="2800" dirty="0">
                <a:latin typeface="Futura T OT" panose="02000000000000000000" pitchFamily="50" charset="0"/>
              </a:rPr>
              <a:t>Three registers to configure SPI communication that are SPI Control Register, SPI Status Register and SPI Data Register.</a:t>
            </a:r>
          </a:p>
        </p:txBody>
      </p:sp>
      <p:sp>
        <p:nvSpPr>
          <p:cNvPr id="3" name="TextBox 2">
            <a:extLst>
              <a:ext uri="{FF2B5EF4-FFF2-40B4-BE49-F238E27FC236}">
                <a16:creationId xmlns:a16="http://schemas.microsoft.com/office/drawing/2014/main" id="{FE5BCEFD-15C9-AEF1-D46C-E78DE8235BC3}"/>
              </a:ext>
            </a:extLst>
          </p:cNvPr>
          <p:cNvSpPr txBox="1"/>
          <p:nvPr/>
        </p:nvSpPr>
        <p:spPr>
          <a:xfrm>
            <a:off x="706554" y="208138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SPCR : SPI Control Register</a:t>
            </a:r>
          </a:p>
        </p:txBody>
      </p:sp>
      <p:graphicFrame>
        <p:nvGraphicFramePr>
          <p:cNvPr id="6" name="Table 5">
            <a:extLst>
              <a:ext uri="{FF2B5EF4-FFF2-40B4-BE49-F238E27FC236}">
                <a16:creationId xmlns:a16="http://schemas.microsoft.com/office/drawing/2014/main" id="{D9A650E5-9F75-8D1F-A836-F9E9D128C3F3}"/>
              </a:ext>
            </a:extLst>
          </p:cNvPr>
          <p:cNvGraphicFramePr>
            <a:graphicFrameLocks noGrp="1"/>
          </p:cNvGraphicFramePr>
          <p:nvPr/>
        </p:nvGraphicFramePr>
        <p:xfrm>
          <a:off x="1216428" y="3027106"/>
          <a:ext cx="9759144" cy="51816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SPIE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DORD</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MSTR</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CPOL</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CPHA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SPR1</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SPR0</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BD385A32-FDA5-4D65-2970-33FD61772AAB}"/>
              </a:ext>
            </a:extLst>
          </p:cNvPr>
          <p:cNvGraphicFramePr>
            <a:graphicFrameLocks noGrp="1"/>
          </p:cNvGraphicFramePr>
          <p:nvPr/>
        </p:nvGraphicFramePr>
        <p:xfrm>
          <a:off x="1216428" y="2686872"/>
          <a:ext cx="9759144" cy="37084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9" name="TextBox 8">
            <a:extLst>
              <a:ext uri="{FF2B5EF4-FFF2-40B4-BE49-F238E27FC236}">
                <a16:creationId xmlns:a16="http://schemas.microsoft.com/office/drawing/2014/main" id="{3BFFF702-67BA-BB19-71FC-D3EED0D107C7}"/>
              </a:ext>
            </a:extLst>
          </p:cNvPr>
          <p:cNvSpPr txBox="1"/>
          <p:nvPr/>
        </p:nvSpPr>
        <p:spPr>
          <a:xfrm>
            <a:off x="706553" y="3800289"/>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CPOL : Clock Polarity Select bit </a:t>
            </a:r>
            <a:r>
              <a:rPr lang="en-US" sz="2800" dirty="0">
                <a:latin typeface="Futura T OT" panose="02000000000000000000" pitchFamily="50" charset="0"/>
              </a:rPr>
              <a:t>(1 for clock start from logical 1 and 0 for clock start from logical 0.</a:t>
            </a:r>
          </a:p>
        </p:txBody>
      </p:sp>
      <p:sp>
        <p:nvSpPr>
          <p:cNvPr id="10" name="TextBox 9">
            <a:extLst>
              <a:ext uri="{FF2B5EF4-FFF2-40B4-BE49-F238E27FC236}">
                <a16:creationId xmlns:a16="http://schemas.microsoft.com/office/drawing/2014/main" id="{2B1847D2-C8D6-BB54-43AC-8397C095770A}"/>
              </a:ext>
            </a:extLst>
          </p:cNvPr>
          <p:cNvSpPr txBox="1"/>
          <p:nvPr/>
        </p:nvSpPr>
        <p:spPr>
          <a:xfrm>
            <a:off x="706553" y="4973753"/>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CPHA : Clock Phase Select bit </a:t>
            </a:r>
            <a:r>
              <a:rPr lang="en-US" sz="2800" dirty="0">
                <a:latin typeface="Futura T OT" panose="02000000000000000000" pitchFamily="50" charset="0"/>
              </a:rPr>
              <a:t>(1 for data sample on trailing clock edge and 0 for data sample on leading clock edge)</a:t>
            </a:r>
          </a:p>
        </p:txBody>
      </p:sp>
    </p:spTree>
    <p:extLst>
      <p:ext uri="{BB962C8B-B14F-4D97-AF65-F5344CB8AC3E}">
        <p14:creationId xmlns:p14="http://schemas.microsoft.com/office/powerpoint/2010/main" val="33496987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AE9C87-E452-E8C5-481F-2BFF7CD466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D5A35A-EE09-262D-B986-9008B1CA0B44}"/>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(SPI)</a:t>
            </a:r>
          </a:p>
        </p:txBody>
      </p:sp>
      <p:sp>
        <p:nvSpPr>
          <p:cNvPr id="5" name="TextBox 4">
            <a:extLst>
              <a:ext uri="{FF2B5EF4-FFF2-40B4-BE49-F238E27FC236}">
                <a16:creationId xmlns:a16="http://schemas.microsoft.com/office/drawing/2014/main" id="{07DF1851-1166-E652-0781-173BDF9C755B}"/>
              </a:ext>
            </a:extLst>
          </p:cNvPr>
          <p:cNvSpPr txBox="1"/>
          <p:nvPr/>
        </p:nvSpPr>
        <p:spPr>
          <a:xfrm>
            <a:off x="706555" y="1094552"/>
            <a:ext cx="10778887" cy="954107"/>
          </a:xfrm>
          <a:prstGeom prst="rect">
            <a:avLst/>
          </a:prstGeom>
          <a:noFill/>
        </p:spPr>
        <p:txBody>
          <a:bodyPr wrap="square" rtlCol="0">
            <a:spAutoFit/>
          </a:bodyPr>
          <a:lstStyle/>
          <a:p>
            <a:r>
              <a:rPr lang="en-US" sz="2800" dirty="0">
                <a:latin typeface="Futura T OT" panose="02000000000000000000" pitchFamily="50" charset="0"/>
              </a:rPr>
              <a:t>Three registers to configure SPI communication that are SPI Control Register, SPI Status Register and SPI Data Register.</a:t>
            </a:r>
          </a:p>
        </p:txBody>
      </p:sp>
      <p:sp>
        <p:nvSpPr>
          <p:cNvPr id="3" name="TextBox 2">
            <a:extLst>
              <a:ext uri="{FF2B5EF4-FFF2-40B4-BE49-F238E27FC236}">
                <a16:creationId xmlns:a16="http://schemas.microsoft.com/office/drawing/2014/main" id="{A659B09C-9CCA-6443-082B-26F421F21BE4}"/>
              </a:ext>
            </a:extLst>
          </p:cNvPr>
          <p:cNvSpPr txBox="1"/>
          <p:nvPr/>
        </p:nvSpPr>
        <p:spPr>
          <a:xfrm>
            <a:off x="706554" y="208138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SPCR : SPI Control Register</a:t>
            </a:r>
          </a:p>
        </p:txBody>
      </p:sp>
      <p:graphicFrame>
        <p:nvGraphicFramePr>
          <p:cNvPr id="6" name="Table 5">
            <a:extLst>
              <a:ext uri="{FF2B5EF4-FFF2-40B4-BE49-F238E27FC236}">
                <a16:creationId xmlns:a16="http://schemas.microsoft.com/office/drawing/2014/main" id="{8B562032-2904-65C1-249C-2AF556A72394}"/>
              </a:ext>
            </a:extLst>
          </p:cNvPr>
          <p:cNvGraphicFramePr>
            <a:graphicFrameLocks noGrp="1"/>
          </p:cNvGraphicFramePr>
          <p:nvPr/>
        </p:nvGraphicFramePr>
        <p:xfrm>
          <a:off x="1216428" y="3027106"/>
          <a:ext cx="9759144" cy="51816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SPIE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DORD</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MSTR</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CPOL</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CPHA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SPR1</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SPR0</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27ADAB8B-926B-C21E-5CB7-3CDC9F8D78D4}"/>
              </a:ext>
            </a:extLst>
          </p:cNvPr>
          <p:cNvGraphicFramePr>
            <a:graphicFrameLocks noGrp="1"/>
          </p:cNvGraphicFramePr>
          <p:nvPr/>
        </p:nvGraphicFramePr>
        <p:xfrm>
          <a:off x="1216428" y="2686872"/>
          <a:ext cx="9759144" cy="37084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12" name="TextBox 11">
            <a:extLst>
              <a:ext uri="{FF2B5EF4-FFF2-40B4-BE49-F238E27FC236}">
                <a16:creationId xmlns:a16="http://schemas.microsoft.com/office/drawing/2014/main" id="{2E499F28-C4F2-F324-707C-FD80EFB215AA}"/>
              </a:ext>
            </a:extLst>
          </p:cNvPr>
          <p:cNvSpPr txBox="1"/>
          <p:nvPr/>
        </p:nvSpPr>
        <p:spPr>
          <a:xfrm>
            <a:off x="922684" y="3734012"/>
            <a:ext cx="11130771" cy="2246769"/>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SPR1: SPR0 : SPI Clock Rate Select bits</a:t>
            </a:r>
          </a:p>
          <a:p>
            <a:r>
              <a:rPr lang="en-US" sz="2800" dirty="0">
                <a:latin typeface="Futura T OT" panose="02000000000000000000" pitchFamily="50" charset="0"/>
              </a:rPr>
              <a:t>00 for </a:t>
            </a:r>
            <a:r>
              <a:rPr lang="en-US" sz="2800" dirty="0" err="1">
                <a:latin typeface="Futura T OT" panose="02000000000000000000" pitchFamily="50" charset="0"/>
              </a:rPr>
              <a:t>Fosc</a:t>
            </a:r>
            <a:r>
              <a:rPr lang="en-US" sz="2800" dirty="0">
                <a:latin typeface="Futura T OT" panose="02000000000000000000" pitchFamily="50" charset="0"/>
              </a:rPr>
              <a:t>/4</a:t>
            </a:r>
          </a:p>
          <a:p>
            <a:r>
              <a:rPr lang="en-US" sz="2800" dirty="0">
                <a:latin typeface="Futura T OT" panose="02000000000000000000" pitchFamily="50" charset="0"/>
              </a:rPr>
              <a:t>01 for </a:t>
            </a:r>
            <a:r>
              <a:rPr lang="en-US" sz="2800" dirty="0" err="1">
                <a:latin typeface="Futura T OT" panose="02000000000000000000" pitchFamily="50" charset="0"/>
              </a:rPr>
              <a:t>Fosc</a:t>
            </a:r>
            <a:r>
              <a:rPr lang="en-US" sz="2800" dirty="0">
                <a:latin typeface="Futura T OT" panose="02000000000000000000" pitchFamily="50" charset="0"/>
              </a:rPr>
              <a:t>/16</a:t>
            </a:r>
          </a:p>
          <a:p>
            <a:r>
              <a:rPr lang="en-US" sz="2800" dirty="0">
                <a:latin typeface="Futura T OT" panose="02000000000000000000" pitchFamily="50" charset="0"/>
              </a:rPr>
              <a:t>10 for </a:t>
            </a:r>
            <a:r>
              <a:rPr lang="en-US" sz="2800" dirty="0" err="1">
                <a:latin typeface="Futura T OT" panose="02000000000000000000" pitchFamily="50" charset="0"/>
              </a:rPr>
              <a:t>Fosc</a:t>
            </a:r>
            <a:r>
              <a:rPr lang="en-US" sz="2800" dirty="0">
                <a:latin typeface="Futura T OT" panose="02000000000000000000" pitchFamily="50" charset="0"/>
              </a:rPr>
              <a:t>/64</a:t>
            </a:r>
          </a:p>
          <a:p>
            <a:r>
              <a:rPr lang="en-US" sz="2800" dirty="0">
                <a:latin typeface="Futura T OT" panose="02000000000000000000" pitchFamily="50" charset="0"/>
              </a:rPr>
              <a:t>11 for </a:t>
            </a:r>
            <a:r>
              <a:rPr lang="en-US" sz="2800" dirty="0" err="1">
                <a:latin typeface="Futura T OT" panose="02000000000000000000" pitchFamily="50" charset="0"/>
              </a:rPr>
              <a:t>Fosc</a:t>
            </a:r>
            <a:r>
              <a:rPr lang="en-US" sz="2800" dirty="0">
                <a:latin typeface="Futura T OT" panose="02000000000000000000" pitchFamily="50" charset="0"/>
              </a:rPr>
              <a:t>/128</a:t>
            </a:r>
          </a:p>
        </p:txBody>
      </p:sp>
    </p:spTree>
    <p:extLst>
      <p:ext uri="{BB962C8B-B14F-4D97-AF65-F5344CB8AC3E}">
        <p14:creationId xmlns:p14="http://schemas.microsoft.com/office/powerpoint/2010/main" val="36078870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2F0851-04FF-9CE7-8F3B-BB6ECC0B08A8}"/>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31835226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243ED97-8EB3-42B9-6B12-E3B268DDA7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986F62-3A37-970E-6165-97D219266D16}"/>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(SPI)</a:t>
            </a:r>
          </a:p>
        </p:txBody>
      </p:sp>
      <p:sp>
        <p:nvSpPr>
          <p:cNvPr id="5" name="TextBox 4">
            <a:extLst>
              <a:ext uri="{FF2B5EF4-FFF2-40B4-BE49-F238E27FC236}">
                <a16:creationId xmlns:a16="http://schemas.microsoft.com/office/drawing/2014/main" id="{8E96DDA6-A8A4-0971-791C-C873698DBF16}"/>
              </a:ext>
            </a:extLst>
          </p:cNvPr>
          <p:cNvSpPr txBox="1"/>
          <p:nvPr/>
        </p:nvSpPr>
        <p:spPr>
          <a:xfrm>
            <a:off x="706555" y="1094552"/>
            <a:ext cx="10778887" cy="954107"/>
          </a:xfrm>
          <a:prstGeom prst="rect">
            <a:avLst/>
          </a:prstGeom>
          <a:noFill/>
        </p:spPr>
        <p:txBody>
          <a:bodyPr wrap="square" rtlCol="0">
            <a:spAutoFit/>
          </a:bodyPr>
          <a:lstStyle/>
          <a:p>
            <a:r>
              <a:rPr lang="en-US" sz="2800" dirty="0">
                <a:latin typeface="Futura T OT" panose="02000000000000000000" pitchFamily="50" charset="0"/>
              </a:rPr>
              <a:t>Three registers to configure SPI communication that are SPI Control Register, SPI Status Register and SPI Data Register.</a:t>
            </a:r>
          </a:p>
        </p:txBody>
      </p:sp>
      <p:sp>
        <p:nvSpPr>
          <p:cNvPr id="3" name="TextBox 2">
            <a:extLst>
              <a:ext uri="{FF2B5EF4-FFF2-40B4-BE49-F238E27FC236}">
                <a16:creationId xmlns:a16="http://schemas.microsoft.com/office/drawing/2014/main" id="{85DB69B9-4C78-7F44-7E51-2E1AE94E6152}"/>
              </a:ext>
            </a:extLst>
          </p:cNvPr>
          <p:cNvSpPr txBox="1"/>
          <p:nvPr/>
        </p:nvSpPr>
        <p:spPr>
          <a:xfrm>
            <a:off x="706554" y="208138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SPDR : SPI Data Register</a:t>
            </a:r>
          </a:p>
        </p:txBody>
      </p:sp>
      <p:graphicFrame>
        <p:nvGraphicFramePr>
          <p:cNvPr id="6" name="Table 5">
            <a:extLst>
              <a:ext uri="{FF2B5EF4-FFF2-40B4-BE49-F238E27FC236}">
                <a16:creationId xmlns:a16="http://schemas.microsoft.com/office/drawing/2014/main" id="{BC0DAA35-C6FA-F339-804D-30C9A2EC8A17}"/>
              </a:ext>
            </a:extLst>
          </p:cNvPr>
          <p:cNvGraphicFramePr>
            <a:graphicFrameLocks noGrp="1"/>
          </p:cNvGraphicFramePr>
          <p:nvPr>
            <p:extLst>
              <p:ext uri="{D42A27DB-BD31-4B8C-83A1-F6EECF244321}">
                <p14:modId xmlns:p14="http://schemas.microsoft.com/office/powerpoint/2010/main" val="4263811861"/>
              </p:ext>
            </p:extLst>
          </p:nvPr>
        </p:nvGraphicFramePr>
        <p:xfrm>
          <a:off x="1216428" y="3027106"/>
          <a:ext cx="9759144" cy="51816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45D54463-D089-529E-CE3D-D80ACD9527FD}"/>
              </a:ext>
            </a:extLst>
          </p:cNvPr>
          <p:cNvGraphicFramePr>
            <a:graphicFrameLocks noGrp="1"/>
          </p:cNvGraphicFramePr>
          <p:nvPr/>
        </p:nvGraphicFramePr>
        <p:xfrm>
          <a:off x="1216428" y="2686872"/>
          <a:ext cx="9759144" cy="370840"/>
        </p:xfrm>
        <a:graphic>
          <a:graphicData uri="http://schemas.openxmlformats.org/drawingml/2006/table">
            <a:tbl>
              <a:tblPr firstRow="1" bandRow="1">
                <a:tableStyleId>{2D5ABB26-0587-4C30-8999-92F81FD0307C}</a:tableStyleId>
              </a:tblPr>
              <a:tblGrid>
                <a:gridCol w="1219893">
                  <a:extLst>
                    <a:ext uri="{9D8B030D-6E8A-4147-A177-3AD203B41FA5}">
                      <a16:colId xmlns:a16="http://schemas.microsoft.com/office/drawing/2014/main" val="2997895357"/>
                    </a:ext>
                  </a:extLst>
                </a:gridCol>
                <a:gridCol w="1219893">
                  <a:extLst>
                    <a:ext uri="{9D8B030D-6E8A-4147-A177-3AD203B41FA5}">
                      <a16:colId xmlns:a16="http://schemas.microsoft.com/office/drawing/2014/main" val="1589428145"/>
                    </a:ext>
                  </a:extLst>
                </a:gridCol>
                <a:gridCol w="1219893">
                  <a:extLst>
                    <a:ext uri="{9D8B030D-6E8A-4147-A177-3AD203B41FA5}">
                      <a16:colId xmlns:a16="http://schemas.microsoft.com/office/drawing/2014/main" val="720507528"/>
                    </a:ext>
                  </a:extLst>
                </a:gridCol>
                <a:gridCol w="1219893">
                  <a:extLst>
                    <a:ext uri="{9D8B030D-6E8A-4147-A177-3AD203B41FA5}">
                      <a16:colId xmlns:a16="http://schemas.microsoft.com/office/drawing/2014/main" val="1049331619"/>
                    </a:ext>
                  </a:extLst>
                </a:gridCol>
                <a:gridCol w="1219893">
                  <a:extLst>
                    <a:ext uri="{9D8B030D-6E8A-4147-A177-3AD203B41FA5}">
                      <a16:colId xmlns:a16="http://schemas.microsoft.com/office/drawing/2014/main" val="3423555053"/>
                    </a:ext>
                  </a:extLst>
                </a:gridCol>
                <a:gridCol w="1219893">
                  <a:extLst>
                    <a:ext uri="{9D8B030D-6E8A-4147-A177-3AD203B41FA5}">
                      <a16:colId xmlns:a16="http://schemas.microsoft.com/office/drawing/2014/main" val="3812696460"/>
                    </a:ext>
                  </a:extLst>
                </a:gridCol>
                <a:gridCol w="1219893">
                  <a:extLst>
                    <a:ext uri="{9D8B030D-6E8A-4147-A177-3AD203B41FA5}">
                      <a16:colId xmlns:a16="http://schemas.microsoft.com/office/drawing/2014/main" val="1043635269"/>
                    </a:ext>
                  </a:extLst>
                </a:gridCol>
                <a:gridCol w="1219893">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Tree>
    <p:extLst>
      <p:ext uri="{BB962C8B-B14F-4D97-AF65-F5344CB8AC3E}">
        <p14:creationId xmlns:p14="http://schemas.microsoft.com/office/powerpoint/2010/main" val="36456622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6F9DED-170E-D83A-94A9-0EEC297F4C61}"/>
            </a:ext>
          </a:extLst>
        </p:cNvPr>
        <p:cNvGrpSpPr/>
        <p:nvPr/>
      </p:nvGrpSpPr>
      <p:grpSpPr>
        <a:xfrm>
          <a:off x="0" y="0"/>
          <a:ext cx="0" cy="0"/>
          <a:chOff x="0" y="0"/>
          <a:chExt cx="0" cy="0"/>
        </a:xfrm>
      </p:grpSpPr>
      <p:pic>
        <p:nvPicPr>
          <p:cNvPr id="3" name="Picture 2" descr="36684">
            <a:extLst>
              <a:ext uri="{FF2B5EF4-FFF2-40B4-BE49-F238E27FC236}">
                <a16:creationId xmlns:a16="http://schemas.microsoft.com/office/drawing/2014/main" id="{3483D23D-FA90-A1A1-7EE5-606CC8225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0374" y="309188"/>
            <a:ext cx="8924977" cy="35652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3FFBA7-C4F3-F1A2-A8A1-221095426E97}"/>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pic>
        <p:nvPicPr>
          <p:cNvPr id="7" name="Picture 4" descr="What is the I2C Communication Protocol - Soldered Electronics">
            <a:extLst>
              <a:ext uri="{FF2B5EF4-FFF2-40B4-BE49-F238E27FC236}">
                <a16:creationId xmlns:a16="http://schemas.microsoft.com/office/drawing/2014/main" id="{3B950887-5D86-1281-4EB2-359059A0AD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611" y="3728448"/>
            <a:ext cx="8924977" cy="3129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199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70953A-BBBA-E6F4-D5BB-C95CFC6D5D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F9D160-8359-B5D8-2C9A-9EC4D745CD31}"/>
              </a:ext>
            </a:extLst>
          </p:cNvPr>
          <p:cNvSpPr txBox="1"/>
          <p:nvPr/>
        </p:nvSpPr>
        <p:spPr>
          <a:xfrm>
            <a:off x="714835" y="657868"/>
            <a:ext cx="10778887" cy="954107"/>
          </a:xfrm>
          <a:prstGeom prst="rect">
            <a:avLst/>
          </a:prstGeom>
          <a:noFill/>
        </p:spPr>
        <p:txBody>
          <a:bodyPr wrap="square" rtlCol="0">
            <a:spAutoFit/>
          </a:bodyPr>
          <a:lstStyle/>
          <a:p>
            <a:r>
              <a:rPr lang="en-US" sz="2800" dirty="0">
                <a:latin typeface="Futura T OT" panose="02000000000000000000" pitchFamily="50" charset="0"/>
              </a:rPr>
              <a:t>The control unit contains TWSR (TWI status register), TWCR (TWI Control Register).</a:t>
            </a:r>
          </a:p>
        </p:txBody>
      </p:sp>
      <p:sp>
        <p:nvSpPr>
          <p:cNvPr id="3" name="TextBox 2">
            <a:extLst>
              <a:ext uri="{FF2B5EF4-FFF2-40B4-BE49-F238E27FC236}">
                <a16:creationId xmlns:a16="http://schemas.microsoft.com/office/drawing/2014/main" id="{06F56889-66AC-4904-0DAC-AF4FAB6C8CC7}"/>
              </a:ext>
            </a:extLst>
          </p:cNvPr>
          <p:cNvSpPr txBox="1"/>
          <p:nvPr/>
        </p:nvSpPr>
        <p:spPr>
          <a:xfrm>
            <a:off x="698278" y="159414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TWCR : TWI Control Register</a:t>
            </a:r>
          </a:p>
        </p:txBody>
      </p:sp>
      <p:graphicFrame>
        <p:nvGraphicFramePr>
          <p:cNvPr id="6" name="Table 5">
            <a:extLst>
              <a:ext uri="{FF2B5EF4-FFF2-40B4-BE49-F238E27FC236}">
                <a16:creationId xmlns:a16="http://schemas.microsoft.com/office/drawing/2014/main" id="{0D4DB0A5-BEE7-14FF-710F-0FDDE8D46183}"/>
              </a:ext>
            </a:extLst>
          </p:cNvPr>
          <p:cNvGraphicFramePr>
            <a:graphicFrameLocks noGrp="1"/>
          </p:cNvGraphicFramePr>
          <p:nvPr>
            <p:extLst>
              <p:ext uri="{D42A27DB-BD31-4B8C-83A1-F6EECF244321}">
                <p14:modId xmlns:p14="http://schemas.microsoft.com/office/powerpoint/2010/main" val="3532879630"/>
              </p:ext>
            </p:extLst>
          </p:nvPr>
        </p:nvGraphicFramePr>
        <p:xfrm>
          <a:off x="714839" y="2362262"/>
          <a:ext cx="10609816" cy="518160"/>
        </p:xfrm>
        <a:graphic>
          <a:graphicData uri="http://schemas.openxmlformats.org/drawingml/2006/table">
            <a:tbl>
              <a:tblPr firstRow="1" bandRow="1">
                <a:tableStyleId>{2D5ABB26-0587-4C30-8999-92F81FD0307C}</a:tableStyleId>
              </a:tblPr>
              <a:tblGrid>
                <a:gridCol w="1326227">
                  <a:extLst>
                    <a:ext uri="{9D8B030D-6E8A-4147-A177-3AD203B41FA5}">
                      <a16:colId xmlns:a16="http://schemas.microsoft.com/office/drawing/2014/main" val="2997895357"/>
                    </a:ext>
                  </a:extLst>
                </a:gridCol>
                <a:gridCol w="1326227">
                  <a:extLst>
                    <a:ext uri="{9D8B030D-6E8A-4147-A177-3AD203B41FA5}">
                      <a16:colId xmlns:a16="http://schemas.microsoft.com/office/drawing/2014/main" val="1589428145"/>
                    </a:ext>
                  </a:extLst>
                </a:gridCol>
                <a:gridCol w="1326227">
                  <a:extLst>
                    <a:ext uri="{9D8B030D-6E8A-4147-A177-3AD203B41FA5}">
                      <a16:colId xmlns:a16="http://schemas.microsoft.com/office/drawing/2014/main" val="720507528"/>
                    </a:ext>
                  </a:extLst>
                </a:gridCol>
                <a:gridCol w="1326227">
                  <a:extLst>
                    <a:ext uri="{9D8B030D-6E8A-4147-A177-3AD203B41FA5}">
                      <a16:colId xmlns:a16="http://schemas.microsoft.com/office/drawing/2014/main" val="1049331619"/>
                    </a:ext>
                  </a:extLst>
                </a:gridCol>
                <a:gridCol w="1326227">
                  <a:extLst>
                    <a:ext uri="{9D8B030D-6E8A-4147-A177-3AD203B41FA5}">
                      <a16:colId xmlns:a16="http://schemas.microsoft.com/office/drawing/2014/main" val="3423555053"/>
                    </a:ext>
                  </a:extLst>
                </a:gridCol>
                <a:gridCol w="1326227">
                  <a:extLst>
                    <a:ext uri="{9D8B030D-6E8A-4147-A177-3AD203B41FA5}">
                      <a16:colId xmlns:a16="http://schemas.microsoft.com/office/drawing/2014/main" val="3812696460"/>
                    </a:ext>
                  </a:extLst>
                </a:gridCol>
                <a:gridCol w="1326227">
                  <a:extLst>
                    <a:ext uri="{9D8B030D-6E8A-4147-A177-3AD203B41FA5}">
                      <a16:colId xmlns:a16="http://schemas.microsoft.com/office/drawing/2014/main" val="1043635269"/>
                    </a:ext>
                  </a:extLst>
                </a:gridCol>
                <a:gridCol w="1326227">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TWINT</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TWEA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TWSTA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TWSTO</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TWWC</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TWEN</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TWIE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E0B675B9-9B85-3944-B832-1B06A5A6DE94}"/>
              </a:ext>
            </a:extLst>
          </p:cNvPr>
          <p:cNvGraphicFramePr>
            <a:graphicFrameLocks noGrp="1"/>
          </p:cNvGraphicFramePr>
          <p:nvPr>
            <p:extLst>
              <p:ext uri="{D42A27DB-BD31-4B8C-83A1-F6EECF244321}">
                <p14:modId xmlns:p14="http://schemas.microsoft.com/office/powerpoint/2010/main" val="3227665686"/>
              </p:ext>
            </p:extLst>
          </p:nvPr>
        </p:nvGraphicFramePr>
        <p:xfrm>
          <a:off x="714835" y="2022028"/>
          <a:ext cx="10609816" cy="370840"/>
        </p:xfrm>
        <a:graphic>
          <a:graphicData uri="http://schemas.openxmlformats.org/drawingml/2006/table">
            <a:tbl>
              <a:tblPr firstRow="1" bandRow="1">
                <a:tableStyleId>{2D5ABB26-0587-4C30-8999-92F81FD0307C}</a:tableStyleId>
              </a:tblPr>
              <a:tblGrid>
                <a:gridCol w="1326227">
                  <a:extLst>
                    <a:ext uri="{9D8B030D-6E8A-4147-A177-3AD203B41FA5}">
                      <a16:colId xmlns:a16="http://schemas.microsoft.com/office/drawing/2014/main" val="2997895357"/>
                    </a:ext>
                  </a:extLst>
                </a:gridCol>
                <a:gridCol w="1326227">
                  <a:extLst>
                    <a:ext uri="{9D8B030D-6E8A-4147-A177-3AD203B41FA5}">
                      <a16:colId xmlns:a16="http://schemas.microsoft.com/office/drawing/2014/main" val="1589428145"/>
                    </a:ext>
                  </a:extLst>
                </a:gridCol>
                <a:gridCol w="1326227">
                  <a:extLst>
                    <a:ext uri="{9D8B030D-6E8A-4147-A177-3AD203B41FA5}">
                      <a16:colId xmlns:a16="http://schemas.microsoft.com/office/drawing/2014/main" val="720507528"/>
                    </a:ext>
                  </a:extLst>
                </a:gridCol>
                <a:gridCol w="1326227">
                  <a:extLst>
                    <a:ext uri="{9D8B030D-6E8A-4147-A177-3AD203B41FA5}">
                      <a16:colId xmlns:a16="http://schemas.microsoft.com/office/drawing/2014/main" val="1049331619"/>
                    </a:ext>
                  </a:extLst>
                </a:gridCol>
                <a:gridCol w="1326227">
                  <a:extLst>
                    <a:ext uri="{9D8B030D-6E8A-4147-A177-3AD203B41FA5}">
                      <a16:colId xmlns:a16="http://schemas.microsoft.com/office/drawing/2014/main" val="3423555053"/>
                    </a:ext>
                  </a:extLst>
                </a:gridCol>
                <a:gridCol w="1326227">
                  <a:extLst>
                    <a:ext uri="{9D8B030D-6E8A-4147-A177-3AD203B41FA5}">
                      <a16:colId xmlns:a16="http://schemas.microsoft.com/office/drawing/2014/main" val="3812696460"/>
                    </a:ext>
                  </a:extLst>
                </a:gridCol>
                <a:gridCol w="1326227">
                  <a:extLst>
                    <a:ext uri="{9D8B030D-6E8A-4147-A177-3AD203B41FA5}">
                      <a16:colId xmlns:a16="http://schemas.microsoft.com/office/drawing/2014/main" val="1043635269"/>
                    </a:ext>
                  </a:extLst>
                </a:gridCol>
                <a:gridCol w="1326227">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9" name="TextBox 8">
            <a:extLst>
              <a:ext uri="{FF2B5EF4-FFF2-40B4-BE49-F238E27FC236}">
                <a16:creationId xmlns:a16="http://schemas.microsoft.com/office/drawing/2014/main" id="{CFAA61A3-41F3-2077-078C-27BF003B04BA}"/>
              </a:ext>
            </a:extLst>
          </p:cNvPr>
          <p:cNvSpPr txBox="1"/>
          <p:nvPr/>
        </p:nvSpPr>
        <p:spPr>
          <a:xfrm>
            <a:off x="706555" y="3053636"/>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TWINT : TWI Interrupt </a:t>
            </a:r>
            <a:r>
              <a:rPr lang="en-US" sz="2800" dirty="0">
                <a:latin typeface="Futura T OT" panose="02000000000000000000" pitchFamily="50" charset="0"/>
              </a:rPr>
              <a:t>(This bit gets set whenever TWI completes its current event)</a:t>
            </a:r>
          </a:p>
        </p:txBody>
      </p:sp>
      <p:sp>
        <p:nvSpPr>
          <p:cNvPr id="10" name="TextBox 9">
            <a:extLst>
              <a:ext uri="{FF2B5EF4-FFF2-40B4-BE49-F238E27FC236}">
                <a16:creationId xmlns:a16="http://schemas.microsoft.com/office/drawing/2014/main" id="{A7B9D83C-918D-CAA1-632F-C230BB4F0E2F}"/>
              </a:ext>
            </a:extLst>
          </p:cNvPr>
          <p:cNvSpPr txBox="1"/>
          <p:nvPr/>
        </p:nvSpPr>
        <p:spPr>
          <a:xfrm>
            <a:off x="706555" y="5263858"/>
            <a:ext cx="10778887" cy="1384995"/>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TWSTA : TWI Start bit condition</a:t>
            </a:r>
            <a:r>
              <a:rPr lang="en-US" sz="2800" dirty="0">
                <a:latin typeface="Futura T OT" panose="02000000000000000000" pitchFamily="50" charset="0"/>
              </a:rPr>
              <a:t>(The master device set this bit to generate START condition by monitoring free bus status to take control over the TWI bus.)</a:t>
            </a:r>
          </a:p>
        </p:txBody>
      </p:sp>
      <p:sp>
        <p:nvSpPr>
          <p:cNvPr id="13" name="TextBox 12">
            <a:extLst>
              <a:ext uri="{FF2B5EF4-FFF2-40B4-BE49-F238E27FC236}">
                <a16:creationId xmlns:a16="http://schemas.microsoft.com/office/drawing/2014/main" id="{761770E0-BB89-0EAC-4979-135C1DCC4BB0}"/>
              </a:ext>
            </a:extLst>
          </p:cNvPr>
          <p:cNvSpPr txBox="1"/>
          <p:nvPr/>
        </p:nvSpPr>
        <p:spPr>
          <a:xfrm>
            <a:off x="706555" y="4158747"/>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TWEA : TWI Enable acknowledgement bit </a:t>
            </a:r>
            <a:r>
              <a:rPr lang="en-US" sz="2800" dirty="0">
                <a:latin typeface="Futura T OT" panose="02000000000000000000" pitchFamily="50" charset="0"/>
              </a:rPr>
              <a:t>(It is set in receiver mode to generate acknowledgement and cleared in transmit mode.)</a:t>
            </a:r>
          </a:p>
        </p:txBody>
      </p:sp>
      <p:sp>
        <p:nvSpPr>
          <p:cNvPr id="4" name="TextBox 3">
            <a:extLst>
              <a:ext uri="{FF2B5EF4-FFF2-40B4-BE49-F238E27FC236}">
                <a16:creationId xmlns:a16="http://schemas.microsoft.com/office/drawing/2014/main" id="{934BEF79-A5F3-324B-1E7B-C727D2BF938D}"/>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spTree>
    <p:extLst>
      <p:ext uri="{BB962C8B-B14F-4D97-AF65-F5344CB8AC3E}">
        <p14:creationId xmlns:p14="http://schemas.microsoft.com/office/powerpoint/2010/main" val="36231750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902F3D-FCEE-EB20-A266-B0B2C0EC5A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16BA01-CEC4-28CC-EA46-E24EDF73784F}"/>
              </a:ext>
            </a:extLst>
          </p:cNvPr>
          <p:cNvSpPr txBox="1"/>
          <p:nvPr/>
        </p:nvSpPr>
        <p:spPr>
          <a:xfrm>
            <a:off x="714835" y="657868"/>
            <a:ext cx="10778887" cy="954107"/>
          </a:xfrm>
          <a:prstGeom prst="rect">
            <a:avLst/>
          </a:prstGeom>
          <a:noFill/>
        </p:spPr>
        <p:txBody>
          <a:bodyPr wrap="square" rtlCol="0">
            <a:spAutoFit/>
          </a:bodyPr>
          <a:lstStyle/>
          <a:p>
            <a:r>
              <a:rPr lang="en-US" sz="2800" dirty="0">
                <a:latin typeface="Futura T OT" panose="02000000000000000000" pitchFamily="50" charset="0"/>
              </a:rPr>
              <a:t>The control unit contains TWSR (TWI status register), TWCR (TWI Control Register).</a:t>
            </a:r>
          </a:p>
        </p:txBody>
      </p:sp>
      <p:sp>
        <p:nvSpPr>
          <p:cNvPr id="3" name="TextBox 2">
            <a:extLst>
              <a:ext uri="{FF2B5EF4-FFF2-40B4-BE49-F238E27FC236}">
                <a16:creationId xmlns:a16="http://schemas.microsoft.com/office/drawing/2014/main" id="{9D799802-61A5-B619-9679-D171A1D228E9}"/>
              </a:ext>
            </a:extLst>
          </p:cNvPr>
          <p:cNvSpPr txBox="1"/>
          <p:nvPr/>
        </p:nvSpPr>
        <p:spPr>
          <a:xfrm>
            <a:off x="698278" y="159414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TWCR : TWI Control Register</a:t>
            </a:r>
          </a:p>
        </p:txBody>
      </p:sp>
      <p:graphicFrame>
        <p:nvGraphicFramePr>
          <p:cNvPr id="6" name="Table 5">
            <a:extLst>
              <a:ext uri="{FF2B5EF4-FFF2-40B4-BE49-F238E27FC236}">
                <a16:creationId xmlns:a16="http://schemas.microsoft.com/office/drawing/2014/main" id="{65B21780-72BF-218E-F7C7-DBB7859E7810}"/>
              </a:ext>
            </a:extLst>
          </p:cNvPr>
          <p:cNvGraphicFramePr>
            <a:graphicFrameLocks noGrp="1"/>
          </p:cNvGraphicFramePr>
          <p:nvPr/>
        </p:nvGraphicFramePr>
        <p:xfrm>
          <a:off x="714839" y="2362262"/>
          <a:ext cx="10609816" cy="518160"/>
        </p:xfrm>
        <a:graphic>
          <a:graphicData uri="http://schemas.openxmlformats.org/drawingml/2006/table">
            <a:tbl>
              <a:tblPr firstRow="1" bandRow="1">
                <a:tableStyleId>{2D5ABB26-0587-4C30-8999-92F81FD0307C}</a:tableStyleId>
              </a:tblPr>
              <a:tblGrid>
                <a:gridCol w="1326227">
                  <a:extLst>
                    <a:ext uri="{9D8B030D-6E8A-4147-A177-3AD203B41FA5}">
                      <a16:colId xmlns:a16="http://schemas.microsoft.com/office/drawing/2014/main" val="2997895357"/>
                    </a:ext>
                  </a:extLst>
                </a:gridCol>
                <a:gridCol w="1326227">
                  <a:extLst>
                    <a:ext uri="{9D8B030D-6E8A-4147-A177-3AD203B41FA5}">
                      <a16:colId xmlns:a16="http://schemas.microsoft.com/office/drawing/2014/main" val="1589428145"/>
                    </a:ext>
                  </a:extLst>
                </a:gridCol>
                <a:gridCol w="1326227">
                  <a:extLst>
                    <a:ext uri="{9D8B030D-6E8A-4147-A177-3AD203B41FA5}">
                      <a16:colId xmlns:a16="http://schemas.microsoft.com/office/drawing/2014/main" val="720507528"/>
                    </a:ext>
                  </a:extLst>
                </a:gridCol>
                <a:gridCol w="1326227">
                  <a:extLst>
                    <a:ext uri="{9D8B030D-6E8A-4147-A177-3AD203B41FA5}">
                      <a16:colId xmlns:a16="http://schemas.microsoft.com/office/drawing/2014/main" val="1049331619"/>
                    </a:ext>
                  </a:extLst>
                </a:gridCol>
                <a:gridCol w="1326227">
                  <a:extLst>
                    <a:ext uri="{9D8B030D-6E8A-4147-A177-3AD203B41FA5}">
                      <a16:colId xmlns:a16="http://schemas.microsoft.com/office/drawing/2014/main" val="3423555053"/>
                    </a:ext>
                  </a:extLst>
                </a:gridCol>
                <a:gridCol w="1326227">
                  <a:extLst>
                    <a:ext uri="{9D8B030D-6E8A-4147-A177-3AD203B41FA5}">
                      <a16:colId xmlns:a16="http://schemas.microsoft.com/office/drawing/2014/main" val="3812696460"/>
                    </a:ext>
                  </a:extLst>
                </a:gridCol>
                <a:gridCol w="1326227">
                  <a:extLst>
                    <a:ext uri="{9D8B030D-6E8A-4147-A177-3AD203B41FA5}">
                      <a16:colId xmlns:a16="http://schemas.microsoft.com/office/drawing/2014/main" val="1043635269"/>
                    </a:ext>
                  </a:extLst>
                </a:gridCol>
                <a:gridCol w="1326227">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TWINT</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TWEA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TWSTA</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TWSTO</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TWWC</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TWEN</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TWIE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22A7F1FE-6BE8-267E-3EFB-F63C9F8C188D}"/>
              </a:ext>
            </a:extLst>
          </p:cNvPr>
          <p:cNvGraphicFramePr>
            <a:graphicFrameLocks noGrp="1"/>
          </p:cNvGraphicFramePr>
          <p:nvPr/>
        </p:nvGraphicFramePr>
        <p:xfrm>
          <a:off x="714835" y="2022028"/>
          <a:ext cx="10609816" cy="370840"/>
        </p:xfrm>
        <a:graphic>
          <a:graphicData uri="http://schemas.openxmlformats.org/drawingml/2006/table">
            <a:tbl>
              <a:tblPr firstRow="1" bandRow="1">
                <a:tableStyleId>{2D5ABB26-0587-4C30-8999-92F81FD0307C}</a:tableStyleId>
              </a:tblPr>
              <a:tblGrid>
                <a:gridCol w="1326227">
                  <a:extLst>
                    <a:ext uri="{9D8B030D-6E8A-4147-A177-3AD203B41FA5}">
                      <a16:colId xmlns:a16="http://schemas.microsoft.com/office/drawing/2014/main" val="2997895357"/>
                    </a:ext>
                  </a:extLst>
                </a:gridCol>
                <a:gridCol w="1326227">
                  <a:extLst>
                    <a:ext uri="{9D8B030D-6E8A-4147-A177-3AD203B41FA5}">
                      <a16:colId xmlns:a16="http://schemas.microsoft.com/office/drawing/2014/main" val="1589428145"/>
                    </a:ext>
                  </a:extLst>
                </a:gridCol>
                <a:gridCol w="1326227">
                  <a:extLst>
                    <a:ext uri="{9D8B030D-6E8A-4147-A177-3AD203B41FA5}">
                      <a16:colId xmlns:a16="http://schemas.microsoft.com/office/drawing/2014/main" val="720507528"/>
                    </a:ext>
                  </a:extLst>
                </a:gridCol>
                <a:gridCol w="1326227">
                  <a:extLst>
                    <a:ext uri="{9D8B030D-6E8A-4147-A177-3AD203B41FA5}">
                      <a16:colId xmlns:a16="http://schemas.microsoft.com/office/drawing/2014/main" val="1049331619"/>
                    </a:ext>
                  </a:extLst>
                </a:gridCol>
                <a:gridCol w="1326227">
                  <a:extLst>
                    <a:ext uri="{9D8B030D-6E8A-4147-A177-3AD203B41FA5}">
                      <a16:colId xmlns:a16="http://schemas.microsoft.com/office/drawing/2014/main" val="3423555053"/>
                    </a:ext>
                  </a:extLst>
                </a:gridCol>
                <a:gridCol w="1326227">
                  <a:extLst>
                    <a:ext uri="{9D8B030D-6E8A-4147-A177-3AD203B41FA5}">
                      <a16:colId xmlns:a16="http://schemas.microsoft.com/office/drawing/2014/main" val="3812696460"/>
                    </a:ext>
                  </a:extLst>
                </a:gridCol>
                <a:gridCol w="1326227">
                  <a:extLst>
                    <a:ext uri="{9D8B030D-6E8A-4147-A177-3AD203B41FA5}">
                      <a16:colId xmlns:a16="http://schemas.microsoft.com/office/drawing/2014/main" val="1043635269"/>
                    </a:ext>
                  </a:extLst>
                </a:gridCol>
                <a:gridCol w="1326227">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4" name="TextBox 3">
            <a:extLst>
              <a:ext uri="{FF2B5EF4-FFF2-40B4-BE49-F238E27FC236}">
                <a16:creationId xmlns:a16="http://schemas.microsoft.com/office/drawing/2014/main" id="{E918EE4C-5773-B9B0-FDBE-C3603C2273AE}"/>
              </a:ext>
            </a:extLst>
          </p:cNvPr>
          <p:cNvSpPr txBox="1"/>
          <p:nvPr/>
        </p:nvSpPr>
        <p:spPr>
          <a:xfrm>
            <a:off x="698277" y="3114912"/>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TWSTO : TWI Stop bit condition</a:t>
            </a:r>
            <a:r>
              <a:rPr lang="en-US" sz="2800" dirty="0">
                <a:latin typeface="Futura T OT" panose="02000000000000000000" pitchFamily="50" charset="0"/>
              </a:rPr>
              <a:t>(The master device set this bit to generate Stop condition to leave control over the TWI bus.)</a:t>
            </a:r>
          </a:p>
        </p:txBody>
      </p:sp>
      <p:sp>
        <p:nvSpPr>
          <p:cNvPr id="7" name="TextBox 6">
            <a:extLst>
              <a:ext uri="{FF2B5EF4-FFF2-40B4-BE49-F238E27FC236}">
                <a16:creationId xmlns:a16="http://schemas.microsoft.com/office/drawing/2014/main" id="{228988C3-3B42-15DE-494F-B9C3FE567E4A}"/>
              </a:ext>
            </a:extLst>
          </p:cNvPr>
          <p:cNvSpPr txBox="1"/>
          <p:nvPr/>
        </p:nvSpPr>
        <p:spPr>
          <a:xfrm>
            <a:off x="698277" y="4141496"/>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TWWC : TWI Write collision </a:t>
            </a:r>
            <a:r>
              <a:rPr lang="en-US" sz="2800" dirty="0">
                <a:latin typeface="Futura T OT" panose="02000000000000000000" pitchFamily="50" charset="0"/>
              </a:rPr>
              <a:t>(This bit gets set when writing to the TWDR register before the current transmission not complete.)</a:t>
            </a:r>
          </a:p>
        </p:txBody>
      </p:sp>
      <p:sp>
        <p:nvSpPr>
          <p:cNvPr id="11" name="TextBox 10">
            <a:extLst>
              <a:ext uri="{FF2B5EF4-FFF2-40B4-BE49-F238E27FC236}">
                <a16:creationId xmlns:a16="http://schemas.microsoft.com/office/drawing/2014/main" id="{75C453E6-EE54-4700-4B13-07871E7647D9}"/>
              </a:ext>
            </a:extLst>
          </p:cNvPr>
          <p:cNvSpPr txBox="1"/>
          <p:nvPr/>
        </p:nvSpPr>
        <p:spPr>
          <a:xfrm>
            <a:off x="698277" y="5168080"/>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TWEN : TWI Enable bit </a:t>
            </a:r>
            <a:r>
              <a:rPr lang="en-US" sz="2800" dirty="0">
                <a:latin typeface="Futura T OT" panose="02000000000000000000" pitchFamily="50" charset="0"/>
              </a:rPr>
              <a:t>(This bit set to enables the TWI interface in the device and takes control over the I/O pins.)</a:t>
            </a:r>
          </a:p>
        </p:txBody>
      </p:sp>
      <p:sp>
        <p:nvSpPr>
          <p:cNvPr id="12" name="TextBox 11">
            <a:extLst>
              <a:ext uri="{FF2B5EF4-FFF2-40B4-BE49-F238E27FC236}">
                <a16:creationId xmlns:a16="http://schemas.microsoft.com/office/drawing/2014/main" id="{F3F5E3D7-8095-DCBC-6DEB-F23102BC5CA8}"/>
              </a:ext>
            </a:extLst>
          </p:cNvPr>
          <p:cNvSpPr txBox="1"/>
          <p:nvPr/>
        </p:nvSpPr>
        <p:spPr>
          <a:xfrm>
            <a:off x="698277" y="6194664"/>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TWIE : TWI interrupt enable </a:t>
            </a:r>
            <a:r>
              <a:rPr lang="en-US" sz="2800" dirty="0">
                <a:latin typeface="Futura T OT" panose="02000000000000000000" pitchFamily="50" charset="0"/>
              </a:rPr>
              <a:t>(Used to enable TWI to interrupt routine.)</a:t>
            </a:r>
          </a:p>
        </p:txBody>
      </p:sp>
      <p:sp>
        <p:nvSpPr>
          <p:cNvPr id="9" name="TextBox 8">
            <a:extLst>
              <a:ext uri="{FF2B5EF4-FFF2-40B4-BE49-F238E27FC236}">
                <a16:creationId xmlns:a16="http://schemas.microsoft.com/office/drawing/2014/main" id="{666DD5AE-D0CE-7913-D1DB-B2A8B5CE1C7B}"/>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spTree>
    <p:extLst>
      <p:ext uri="{BB962C8B-B14F-4D97-AF65-F5344CB8AC3E}">
        <p14:creationId xmlns:p14="http://schemas.microsoft.com/office/powerpoint/2010/main" val="21253268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14E8D6E-6928-E436-D775-9E2599BD7AF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6D5B4E-9D0D-E028-71C0-03283C0635EB}"/>
              </a:ext>
            </a:extLst>
          </p:cNvPr>
          <p:cNvSpPr txBox="1"/>
          <p:nvPr/>
        </p:nvSpPr>
        <p:spPr>
          <a:xfrm>
            <a:off x="714835" y="657868"/>
            <a:ext cx="10778887" cy="954107"/>
          </a:xfrm>
          <a:prstGeom prst="rect">
            <a:avLst/>
          </a:prstGeom>
          <a:noFill/>
        </p:spPr>
        <p:txBody>
          <a:bodyPr wrap="square" rtlCol="0">
            <a:spAutoFit/>
          </a:bodyPr>
          <a:lstStyle/>
          <a:p>
            <a:r>
              <a:rPr lang="en-US" sz="2800" dirty="0">
                <a:latin typeface="Futura T OT" panose="02000000000000000000" pitchFamily="50" charset="0"/>
              </a:rPr>
              <a:t>The control unit contains TWSR (TWI status register), TWCR (TWI Control Register).</a:t>
            </a:r>
          </a:p>
        </p:txBody>
      </p:sp>
      <p:sp>
        <p:nvSpPr>
          <p:cNvPr id="3" name="TextBox 2">
            <a:extLst>
              <a:ext uri="{FF2B5EF4-FFF2-40B4-BE49-F238E27FC236}">
                <a16:creationId xmlns:a16="http://schemas.microsoft.com/office/drawing/2014/main" id="{B9FB3F3A-CE9D-FC03-17F8-B7BF3D0E6B77}"/>
              </a:ext>
            </a:extLst>
          </p:cNvPr>
          <p:cNvSpPr txBox="1"/>
          <p:nvPr/>
        </p:nvSpPr>
        <p:spPr>
          <a:xfrm>
            <a:off x="698278" y="159414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TWSR : TWI Status Register</a:t>
            </a:r>
          </a:p>
        </p:txBody>
      </p:sp>
      <p:graphicFrame>
        <p:nvGraphicFramePr>
          <p:cNvPr id="6" name="Table 5">
            <a:extLst>
              <a:ext uri="{FF2B5EF4-FFF2-40B4-BE49-F238E27FC236}">
                <a16:creationId xmlns:a16="http://schemas.microsoft.com/office/drawing/2014/main" id="{6E176E4A-C23A-511F-AA67-2EBE1B4466E8}"/>
              </a:ext>
            </a:extLst>
          </p:cNvPr>
          <p:cNvGraphicFramePr>
            <a:graphicFrameLocks noGrp="1"/>
          </p:cNvGraphicFramePr>
          <p:nvPr>
            <p:extLst>
              <p:ext uri="{D42A27DB-BD31-4B8C-83A1-F6EECF244321}">
                <p14:modId xmlns:p14="http://schemas.microsoft.com/office/powerpoint/2010/main" val="2462089669"/>
              </p:ext>
            </p:extLst>
          </p:nvPr>
        </p:nvGraphicFramePr>
        <p:xfrm>
          <a:off x="714839" y="2362262"/>
          <a:ext cx="10609816" cy="518160"/>
        </p:xfrm>
        <a:graphic>
          <a:graphicData uri="http://schemas.openxmlformats.org/drawingml/2006/table">
            <a:tbl>
              <a:tblPr firstRow="1" bandRow="1">
                <a:tableStyleId>{2D5ABB26-0587-4C30-8999-92F81FD0307C}</a:tableStyleId>
              </a:tblPr>
              <a:tblGrid>
                <a:gridCol w="1326227">
                  <a:extLst>
                    <a:ext uri="{9D8B030D-6E8A-4147-A177-3AD203B41FA5}">
                      <a16:colId xmlns:a16="http://schemas.microsoft.com/office/drawing/2014/main" val="2997895357"/>
                    </a:ext>
                  </a:extLst>
                </a:gridCol>
                <a:gridCol w="1326227">
                  <a:extLst>
                    <a:ext uri="{9D8B030D-6E8A-4147-A177-3AD203B41FA5}">
                      <a16:colId xmlns:a16="http://schemas.microsoft.com/office/drawing/2014/main" val="1589428145"/>
                    </a:ext>
                  </a:extLst>
                </a:gridCol>
                <a:gridCol w="1326227">
                  <a:extLst>
                    <a:ext uri="{9D8B030D-6E8A-4147-A177-3AD203B41FA5}">
                      <a16:colId xmlns:a16="http://schemas.microsoft.com/office/drawing/2014/main" val="720507528"/>
                    </a:ext>
                  </a:extLst>
                </a:gridCol>
                <a:gridCol w="1326227">
                  <a:extLst>
                    <a:ext uri="{9D8B030D-6E8A-4147-A177-3AD203B41FA5}">
                      <a16:colId xmlns:a16="http://schemas.microsoft.com/office/drawing/2014/main" val="1049331619"/>
                    </a:ext>
                  </a:extLst>
                </a:gridCol>
                <a:gridCol w="1326227">
                  <a:extLst>
                    <a:ext uri="{9D8B030D-6E8A-4147-A177-3AD203B41FA5}">
                      <a16:colId xmlns:a16="http://schemas.microsoft.com/office/drawing/2014/main" val="3423555053"/>
                    </a:ext>
                  </a:extLst>
                </a:gridCol>
                <a:gridCol w="1326227">
                  <a:extLst>
                    <a:ext uri="{9D8B030D-6E8A-4147-A177-3AD203B41FA5}">
                      <a16:colId xmlns:a16="http://schemas.microsoft.com/office/drawing/2014/main" val="3812696460"/>
                    </a:ext>
                  </a:extLst>
                </a:gridCol>
                <a:gridCol w="1326227">
                  <a:extLst>
                    <a:ext uri="{9D8B030D-6E8A-4147-A177-3AD203B41FA5}">
                      <a16:colId xmlns:a16="http://schemas.microsoft.com/office/drawing/2014/main" val="1043635269"/>
                    </a:ext>
                  </a:extLst>
                </a:gridCol>
                <a:gridCol w="1326227">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TWS7</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TWS6</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TWS5</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TWS4</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TWS3</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TWPS1</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TWPS0</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29043274-5512-3B4E-439C-B2E4C1799E6B}"/>
              </a:ext>
            </a:extLst>
          </p:cNvPr>
          <p:cNvGraphicFramePr>
            <a:graphicFrameLocks noGrp="1"/>
          </p:cNvGraphicFramePr>
          <p:nvPr/>
        </p:nvGraphicFramePr>
        <p:xfrm>
          <a:off x="714835" y="2022028"/>
          <a:ext cx="10609816" cy="370840"/>
        </p:xfrm>
        <a:graphic>
          <a:graphicData uri="http://schemas.openxmlformats.org/drawingml/2006/table">
            <a:tbl>
              <a:tblPr firstRow="1" bandRow="1">
                <a:tableStyleId>{2D5ABB26-0587-4C30-8999-92F81FD0307C}</a:tableStyleId>
              </a:tblPr>
              <a:tblGrid>
                <a:gridCol w="1326227">
                  <a:extLst>
                    <a:ext uri="{9D8B030D-6E8A-4147-A177-3AD203B41FA5}">
                      <a16:colId xmlns:a16="http://schemas.microsoft.com/office/drawing/2014/main" val="2997895357"/>
                    </a:ext>
                  </a:extLst>
                </a:gridCol>
                <a:gridCol w="1326227">
                  <a:extLst>
                    <a:ext uri="{9D8B030D-6E8A-4147-A177-3AD203B41FA5}">
                      <a16:colId xmlns:a16="http://schemas.microsoft.com/office/drawing/2014/main" val="1589428145"/>
                    </a:ext>
                  </a:extLst>
                </a:gridCol>
                <a:gridCol w="1326227">
                  <a:extLst>
                    <a:ext uri="{9D8B030D-6E8A-4147-A177-3AD203B41FA5}">
                      <a16:colId xmlns:a16="http://schemas.microsoft.com/office/drawing/2014/main" val="720507528"/>
                    </a:ext>
                  </a:extLst>
                </a:gridCol>
                <a:gridCol w="1326227">
                  <a:extLst>
                    <a:ext uri="{9D8B030D-6E8A-4147-A177-3AD203B41FA5}">
                      <a16:colId xmlns:a16="http://schemas.microsoft.com/office/drawing/2014/main" val="1049331619"/>
                    </a:ext>
                  </a:extLst>
                </a:gridCol>
                <a:gridCol w="1326227">
                  <a:extLst>
                    <a:ext uri="{9D8B030D-6E8A-4147-A177-3AD203B41FA5}">
                      <a16:colId xmlns:a16="http://schemas.microsoft.com/office/drawing/2014/main" val="3423555053"/>
                    </a:ext>
                  </a:extLst>
                </a:gridCol>
                <a:gridCol w="1326227">
                  <a:extLst>
                    <a:ext uri="{9D8B030D-6E8A-4147-A177-3AD203B41FA5}">
                      <a16:colId xmlns:a16="http://schemas.microsoft.com/office/drawing/2014/main" val="3812696460"/>
                    </a:ext>
                  </a:extLst>
                </a:gridCol>
                <a:gridCol w="1326227">
                  <a:extLst>
                    <a:ext uri="{9D8B030D-6E8A-4147-A177-3AD203B41FA5}">
                      <a16:colId xmlns:a16="http://schemas.microsoft.com/office/drawing/2014/main" val="1043635269"/>
                    </a:ext>
                  </a:extLst>
                </a:gridCol>
                <a:gridCol w="1326227">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4" name="TextBox 3">
            <a:extLst>
              <a:ext uri="{FF2B5EF4-FFF2-40B4-BE49-F238E27FC236}">
                <a16:creationId xmlns:a16="http://schemas.microsoft.com/office/drawing/2014/main" id="{F2049915-D737-7CB3-0151-748510CD7918}"/>
              </a:ext>
            </a:extLst>
          </p:cNvPr>
          <p:cNvSpPr txBox="1"/>
          <p:nvPr/>
        </p:nvSpPr>
        <p:spPr>
          <a:xfrm>
            <a:off x="698277" y="3114912"/>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TWS7 : TWS3 TWI status bits </a:t>
            </a:r>
            <a:r>
              <a:rPr lang="en-US" sz="2800" dirty="0">
                <a:latin typeface="Futura T OT" panose="02000000000000000000" pitchFamily="50" charset="0"/>
              </a:rPr>
              <a:t>(TWI status bits shows the status of TWI control and bus.)</a:t>
            </a:r>
          </a:p>
        </p:txBody>
      </p:sp>
      <p:sp>
        <p:nvSpPr>
          <p:cNvPr id="7" name="TextBox 6">
            <a:extLst>
              <a:ext uri="{FF2B5EF4-FFF2-40B4-BE49-F238E27FC236}">
                <a16:creationId xmlns:a16="http://schemas.microsoft.com/office/drawing/2014/main" id="{C68543DC-B85F-BBDD-FD8C-EA00FD797C67}"/>
              </a:ext>
            </a:extLst>
          </p:cNvPr>
          <p:cNvSpPr txBox="1"/>
          <p:nvPr/>
        </p:nvSpPr>
        <p:spPr>
          <a:xfrm>
            <a:off x="698277" y="4141496"/>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TWPS1:TWPS0 </a:t>
            </a:r>
            <a:r>
              <a:rPr lang="en-US" sz="2800" dirty="0">
                <a:latin typeface="Futura T OT" panose="02000000000000000000" pitchFamily="50" charset="0"/>
              </a:rPr>
              <a:t>(TWI pre-scaler bits used in bit rate formula)</a:t>
            </a:r>
          </a:p>
        </p:txBody>
      </p:sp>
      <p:graphicFrame>
        <p:nvGraphicFramePr>
          <p:cNvPr id="13" name="Table 12">
            <a:extLst>
              <a:ext uri="{FF2B5EF4-FFF2-40B4-BE49-F238E27FC236}">
                <a16:creationId xmlns:a16="http://schemas.microsoft.com/office/drawing/2014/main" id="{5327DD62-923E-0658-FCB8-B84ED6CFB247}"/>
              </a:ext>
            </a:extLst>
          </p:cNvPr>
          <p:cNvGraphicFramePr>
            <a:graphicFrameLocks noGrp="1"/>
          </p:cNvGraphicFramePr>
          <p:nvPr>
            <p:extLst>
              <p:ext uri="{D42A27DB-BD31-4B8C-83A1-F6EECF244321}">
                <p14:modId xmlns:p14="http://schemas.microsoft.com/office/powerpoint/2010/main" val="2606698674"/>
              </p:ext>
            </p:extLst>
          </p:nvPr>
        </p:nvGraphicFramePr>
        <p:xfrm>
          <a:off x="2771370" y="4791063"/>
          <a:ext cx="6725460" cy="1854200"/>
        </p:xfrm>
        <a:graphic>
          <a:graphicData uri="http://schemas.openxmlformats.org/drawingml/2006/table">
            <a:tbl>
              <a:tblPr firstRow="1" bandRow="1">
                <a:tableStyleId>{2D5ABB26-0587-4C30-8999-92F81FD0307C}</a:tableStyleId>
              </a:tblPr>
              <a:tblGrid>
                <a:gridCol w="1681365">
                  <a:extLst>
                    <a:ext uri="{9D8B030D-6E8A-4147-A177-3AD203B41FA5}">
                      <a16:colId xmlns:a16="http://schemas.microsoft.com/office/drawing/2014/main" val="1030135877"/>
                    </a:ext>
                  </a:extLst>
                </a:gridCol>
                <a:gridCol w="1681365">
                  <a:extLst>
                    <a:ext uri="{9D8B030D-6E8A-4147-A177-3AD203B41FA5}">
                      <a16:colId xmlns:a16="http://schemas.microsoft.com/office/drawing/2014/main" val="2662568938"/>
                    </a:ext>
                  </a:extLst>
                </a:gridCol>
                <a:gridCol w="1681365">
                  <a:extLst>
                    <a:ext uri="{9D8B030D-6E8A-4147-A177-3AD203B41FA5}">
                      <a16:colId xmlns:a16="http://schemas.microsoft.com/office/drawing/2014/main" val="2832469995"/>
                    </a:ext>
                  </a:extLst>
                </a:gridCol>
                <a:gridCol w="1681365">
                  <a:extLst>
                    <a:ext uri="{9D8B030D-6E8A-4147-A177-3AD203B41FA5}">
                      <a16:colId xmlns:a16="http://schemas.microsoft.com/office/drawing/2014/main" val="3434155279"/>
                    </a:ext>
                  </a:extLst>
                </a:gridCol>
              </a:tblGrid>
              <a:tr h="370840">
                <a:tc>
                  <a:txBody>
                    <a:bodyPr/>
                    <a:lstStyle/>
                    <a:p>
                      <a:pPr algn="ctr"/>
                      <a:r>
                        <a:rPr lang="en-US" dirty="0">
                          <a:latin typeface="Futura T OT" panose="02000000000000000000" pitchFamily="50" charset="0"/>
                        </a:rPr>
                        <a:t>TWPS1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TWPS0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Exponent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Pre-scaler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80061"/>
                  </a:ext>
                </a:extLst>
              </a:tr>
              <a:tr h="370840">
                <a:tc>
                  <a:txBody>
                    <a:bodyPr/>
                    <a:lstStyle/>
                    <a:p>
                      <a:pPr algn="ctr"/>
                      <a:r>
                        <a:rPr lang="en-US" dirty="0">
                          <a:latin typeface="Futura T OT" panose="02000000000000000000" pitchFamily="50"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135540"/>
                  </a:ext>
                </a:extLst>
              </a:tr>
              <a:tr h="370840">
                <a:tc>
                  <a:txBody>
                    <a:bodyPr/>
                    <a:lstStyle/>
                    <a:p>
                      <a:pPr algn="ctr"/>
                      <a:r>
                        <a:rPr lang="en-US" dirty="0">
                          <a:latin typeface="Futura T OT" panose="02000000000000000000" pitchFamily="50"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4013923"/>
                  </a:ext>
                </a:extLst>
              </a:tr>
              <a:tr h="370840">
                <a:tc>
                  <a:txBody>
                    <a:bodyPr/>
                    <a:lstStyle/>
                    <a:p>
                      <a:pPr algn="ctr"/>
                      <a:r>
                        <a:rPr lang="en-US" dirty="0">
                          <a:latin typeface="Futura T OT" panose="02000000000000000000" pitchFamily="50"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77537"/>
                  </a:ext>
                </a:extLst>
              </a:tr>
              <a:tr h="370840">
                <a:tc>
                  <a:txBody>
                    <a:bodyPr/>
                    <a:lstStyle/>
                    <a:p>
                      <a:pPr algn="ctr"/>
                      <a:r>
                        <a:rPr lang="en-US" dirty="0">
                          <a:latin typeface="Futura T OT" panose="02000000000000000000" pitchFamily="50"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Futura T OT" panose="02000000000000000000" pitchFamily="50" charset="0"/>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356707"/>
                  </a:ext>
                </a:extLst>
              </a:tr>
            </a:tbl>
          </a:graphicData>
        </a:graphic>
      </p:graphicFrame>
      <p:sp>
        <p:nvSpPr>
          <p:cNvPr id="9" name="TextBox 8">
            <a:extLst>
              <a:ext uri="{FF2B5EF4-FFF2-40B4-BE49-F238E27FC236}">
                <a16:creationId xmlns:a16="http://schemas.microsoft.com/office/drawing/2014/main" id="{183A159B-FA0A-71F0-2FBE-B5705F9F75EC}"/>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spTree>
    <p:extLst>
      <p:ext uri="{BB962C8B-B14F-4D97-AF65-F5344CB8AC3E}">
        <p14:creationId xmlns:p14="http://schemas.microsoft.com/office/powerpoint/2010/main" val="41493375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E6583F1-914B-8C81-A6BA-63A38D4797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48536B-092D-AE7C-EB15-A996742AE184}"/>
              </a:ext>
            </a:extLst>
          </p:cNvPr>
          <p:cNvSpPr txBox="1"/>
          <p:nvPr/>
        </p:nvSpPr>
        <p:spPr>
          <a:xfrm>
            <a:off x="698278" y="159414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TWAR : TWI Address Register</a:t>
            </a:r>
          </a:p>
        </p:txBody>
      </p:sp>
      <p:graphicFrame>
        <p:nvGraphicFramePr>
          <p:cNvPr id="6" name="Table 5">
            <a:extLst>
              <a:ext uri="{FF2B5EF4-FFF2-40B4-BE49-F238E27FC236}">
                <a16:creationId xmlns:a16="http://schemas.microsoft.com/office/drawing/2014/main" id="{5D8BB064-24D5-B130-8DC4-ECBB54B44507}"/>
              </a:ext>
            </a:extLst>
          </p:cNvPr>
          <p:cNvGraphicFramePr>
            <a:graphicFrameLocks noGrp="1"/>
          </p:cNvGraphicFramePr>
          <p:nvPr>
            <p:extLst>
              <p:ext uri="{D42A27DB-BD31-4B8C-83A1-F6EECF244321}">
                <p14:modId xmlns:p14="http://schemas.microsoft.com/office/powerpoint/2010/main" val="401538959"/>
              </p:ext>
            </p:extLst>
          </p:nvPr>
        </p:nvGraphicFramePr>
        <p:xfrm>
          <a:off x="714838" y="2362262"/>
          <a:ext cx="11039360" cy="518160"/>
        </p:xfrm>
        <a:graphic>
          <a:graphicData uri="http://schemas.openxmlformats.org/drawingml/2006/table">
            <a:tbl>
              <a:tblPr firstRow="1" bandRow="1">
                <a:tableStyleId>{2D5ABB26-0587-4C30-8999-92F81FD0307C}</a:tableStyleId>
              </a:tblPr>
              <a:tblGrid>
                <a:gridCol w="1379920">
                  <a:extLst>
                    <a:ext uri="{9D8B030D-6E8A-4147-A177-3AD203B41FA5}">
                      <a16:colId xmlns:a16="http://schemas.microsoft.com/office/drawing/2014/main" val="2997895357"/>
                    </a:ext>
                  </a:extLst>
                </a:gridCol>
                <a:gridCol w="1379920">
                  <a:extLst>
                    <a:ext uri="{9D8B030D-6E8A-4147-A177-3AD203B41FA5}">
                      <a16:colId xmlns:a16="http://schemas.microsoft.com/office/drawing/2014/main" val="1589428145"/>
                    </a:ext>
                  </a:extLst>
                </a:gridCol>
                <a:gridCol w="1379920">
                  <a:extLst>
                    <a:ext uri="{9D8B030D-6E8A-4147-A177-3AD203B41FA5}">
                      <a16:colId xmlns:a16="http://schemas.microsoft.com/office/drawing/2014/main" val="720507528"/>
                    </a:ext>
                  </a:extLst>
                </a:gridCol>
                <a:gridCol w="1379920">
                  <a:extLst>
                    <a:ext uri="{9D8B030D-6E8A-4147-A177-3AD203B41FA5}">
                      <a16:colId xmlns:a16="http://schemas.microsoft.com/office/drawing/2014/main" val="1049331619"/>
                    </a:ext>
                  </a:extLst>
                </a:gridCol>
                <a:gridCol w="1379920">
                  <a:extLst>
                    <a:ext uri="{9D8B030D-6E8A-4147-A177-3AD203B41FA5}">
                      <a16:colId xmlns:a16="http://schemas.microsoft.com/office/drawing/2014/main" val="3423555053"/>
                    </a:ext>
                  </a:extLst>
                </a:gridCol>
                <a:gridCol w="1379920">
                  <a:extLst>
                    <a:ext uri="{9D8B030D-6E8A-4147-A177-3AD203B41FA5}">
                      <a16:colId xmlns:a16="http://schemas.microsoft.com/office/drawing/2014/main" val="3812696460"/>
                    </a:ext>
                  </a:extLst>
                </a:gridCol>
                <a:gridCol w="1379920">
                  <a:extLst>
                    <a:ext uri="{9D8B030D-6E8A-4147-A177-3AD203B41FA5}">
                      <a16:colId xmlns:a16="http://schemas.microsoft.com/office/drawing/2014/main" val="1043635269"/>
                    </a:ext>
                  </a:extLst>
                </a:gridCol>
                <a:gridCol w="1379920">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TWA6</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TWA5</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TWA4</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TWA3</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TWA2</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TWA1</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TWA0</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TWGCE</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B461866D-4FD0-C5D0-D357-5128247603EC}"/>
              </a:ext>
            </a:extLst>
          </p:cNvPr>
          <p:cNvGraphicFramePr>
            <a:graphicFrameLocks noGrp="1"/>
          </p:cNvGraphicFramePr>
          <p:nvPr>
            <p:extLst>
              <p:ext uri="{D42A27DB-BD31-4B8C-83A1-F6EECF244321}">
                <p14:modId xmlns:p14="http://schemas.microsoft.com/office/powerpoint/2010/main" val="3696954354"/>
              </p:ext>
            </p:extLst>
          </p:nvPr>
        </p:nvGraphicFramePr>
        <p:xfrm>
          <a:off x="714834" y="2022028"/>
          <a:ext cx="11039360" cy="370840"/>
        </p:xfrm>
        <a:graphic>
          <a:graphicData uri="http://schemas.openxmlformats.org/drawingml/2006/table">
            <a:tbl>
              <a:tblPr firstRow="1" bandRow="1">
                <a:tableStyleId>{2D5ABB26-0587-4C30-8999-92F81FD0307C}</a:tableStyleId>
              </a:tblPr>
              <a:tblGrid>
                <a:gridCol w="1379920">
                  <a:extLst>
                    <a:ext uri="{9D8B030D-6E8A-4147-A177-3AD203B41FA5}">
                      <a16:colId xmlns:a16="http://schemas.microsoft.com/office/drawing/2014/main" val="2997895357"/>
                    </a:ext>
                  </a:extLst>
                </a:gridCol>
                <a:gridCol w="1379920">
                  <a:extLst>
                    <a:ext uri="{9D8B030D-6E8A-4147-A177-3AD203B41FA5}">
                      <a16:colId xmlns:a16="http://schemas.microsoft.com/office/drawing/2014/main" val="1589428145"/>
                    </a:ext>
                  </a:extLst>
                </a:gridCol>
                <a:gridCol w="1379920">
                  <a:extLst>
                    <a:ext uri="{9D8B030D-6E8A-4147-A177-3AD203B41FA5}">
                      <a16:colId xmlns:a16="http://schemas.microsoft.com/office/drawing/2014/main" val="720507528"/>
                    </a:ext>
                  </a:extLst>
                </a:gridCol>
                <a:gridCol w="1379920">
                  <a:extLst>
                    <a:ext uri="{9D8B030D-6E8A-4147-A177-3AD203B41FA5}">
                      <a16:colId xmlns:a16="http://schemas.microsoft.com/office/drawing/2014/main" val="1049331619"/>
                    </a:ext>
                  </a:extLst>
                </a:gridCol>
                <a:gridCol w="1379920">
                  <a:extLst>
                    <a:ext uri="{9D8B030D-6E8A-4147-A177-3AD203B41FA5}">
                      <a16:colId xmlns:a16="http://schemas.microsoft.com/office/drawing/2014/main" val="3423555053"/>
                    </a:ext>
                  </a:extLst>
                </a:gridCol>
                <a:gridCol w="1379920">
                  <a:extLst>
                    <a:ext uri="{9D8B030D-6E8A-4147-A177-3AD203B41FA5}">
                      <a16:colId xmlns:a16="http://schemas.microsoft.com/office/drawing/2014/main" val="3812696460"/>
                    </a:ext>
                  </a:extLst>
                </a:gridCol>
                <a:gridCol w="1379920">
                  <a:extLst>
                    <a:ext uri="{9D8B030D-6E8A-4147-A177-3AD203B41FA5}">
                      <a16:colId xmlns:a16="http://schemas.microsoft.com/office/drawing/2014/main" val="1043635269"/>
                    </a:ext>
                  </a:extLst>
                </a:gridCol>
                <a:gridCol w="1379920">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4" name="TextBox 3">
            <a:extLst>
              <a:ext uri="{FF2B5EF4-FFF2-40B4-BE49-F238E27FC236}">
                <a16:creationId xmlns:a16="http://schemas.microsoft.com/office/drawing/2014/main" id="{092DE750-4308-366A-04A1-66AC2FCD791D}"/>
              </a:ext>
            </a:extLst>
          </p:cNvPr>
          <p:cNvSpPr txBox="1"/>
          <p:nvPr/>
        </p:nvSpPr>
        <p:spPr>
          <a:xfrm>
            <a:off x="698277" y="3114912"/>
            <a:ext cx="10778887" cy="954107"/>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TWA6 : TWA0 TWI Address bits </a:t>
            </a:r>
            <a:r>
              <a:rPr lang="en-US" sz="2800" dirty="0">
                <a:latin typeface="Futura T OT" panose="02000000000000000000" pitchFamily="50" charset="0"/>
              </a:rPr>
              <a:t>(TWI 7-bit address with which it can be called by other masters in slave mode.)</a:t>
            </a:r>
          </a:p>
        </p:txBody>
      </p:sp>
      <p:sp>
        <p:nvSpPr>
          <p:cNvPr id="7" name="TextBox 6">
            <a:extLst>
              <a:ext uri="{FF2B5EF4-FFF2-40B4-BE49-F238E27FC236}">
                <a16:creationId xmlns:a16="http://schemas.microsoft.com/office/drawing/2014/main" id="{3109AC2E-C23C-E21B-1B1D-18DF5372B667}"/>
              </a:ext>
            </a:extLst>
          </p:cNvPr>
          <p:cNvSpPr txBox="1"/>
          <p:nvPr/>
        </p:nvSpPr>
        <p:spPr>
          <a:xfrm>
            <a:off x="698277" y="4303509"/>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TWGCE </a:t>
            </a:r>
            <a:r>
              <a:rPr lang="en-US" sz="2800" dirty="0">
                <a:latin typeface="Futura T OT" panose="02000000000000000000" pitchFamily="50" charset="0"/>
              </a:rPr>
              <a:t>(TWI general call enable bit)</a:t>
            </a:r>
          </a:p>
        </p:txBody>
      </p:sp>
      <p:sp>
        <p:nvSpPr>
          <p:cNvPr id="5" name="TextBox 4">
            <a:extLst>
              <a:ext uri="{FF2B5EF4-FFF2-40B4-BE49-F238E27FC236}">
                <a16:creationId xmlns:a16="http://schemas.microsoft.com/office/drawing/2014/main" id="{9D2E0B2B-D2EE-E609-6442-B25821B8F281}"/>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spTree>
    <p:extLst>
      <p:ext uri="{BB962C8B-B14F-4D97-AF65-F5344CB8AC3E}">
        <p14:creationId xmlns:p14="http://schemas.microsoft.com/office/powerpoint/2010/main" val="20143194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8E2A5F-8624-65E4-0C37-279FCB6407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994E5B-33BA-D374-3287-CAA9363A6415}"/>
              </a:ext>
            </a:extLst>
          </p:cNvPr>
          <p:cNvSpPr txBox="1"/>
          <p:nvPr/>
        </p:nvSpPr>
        <p:spPr>
          <a:xfrm>
            <a:off x="698278" y="159414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TWBR : TWI Bit Rate Register</a:t>
            </a:r>
          </a:p>
        </p:txBody>
      </p:sp>
      <p:graphicFrame>
        <p:nvGraphicFramePr>
          <p:cNvPr id="6" name="Table 5">
            <a:extLst>
              <a:ext uri="{FF2B5EF4-FFF2-40B4-BE49-F238E27FC236}">
                <a16:creationId xmlns:a16="http://schemas.microsoft.com/office/drawing/2014/main" id="{8F3CF748-33B8-355D-8303-9CA719E60FD6}"/>
              </a:ext>
            </a:extLst>
          </p:cNvPr>
          <p:cNvGraphicFramePr>
            <a:graphicFrameLocks noGrp="1"/>
          </p:cNvGraphicFramePr>
          <p:nvPr>
            <p:extLst>
              <p:ext uri="{D42A27DB-BD31-4B8C-83A1-F6EECF244321}">
                <p14:modId xmlns:p14="http://schemas.microsoft.com/office/powerpoint/2010/main" val="307133340"/>
              </p:ext>
            </p:extLst>
          </p:nvPr>
        </p:nvGraphicFramePr>
        <p:xfrm>
          <a:off x="714838" y="2362262"/>
          <a:ext cx="11039360" cy="518160"/>
        </p:xfrm>
        <a:graphic>
          <a:graphicData uri="http://schemas.openxmlformats.org/drawingml/2006/table">
            <a:tbl>
              <a:tblPr firstRow="1" bandRow="1">
                <a:tableStyleId>{2D5ABB26-0587-4C30-8999-92F81FD0307C}</a:tableStyleId>
              </a:tblPr>
              <a:tblGrid>
                <a:gridCol w="1379920">
                  <a:extLst>
                    <a:ext uri="{9D8B030D-6E8A-4147-A177-3AD203B41FA5}">
                      <a16:colId xmlns:a16="http://schemas.microsoft.com/office/drawing/2014/main" val="2997895357"/>
                    </a:ext>
                  </a:extLst>
                </a:gridCol>
                <a:gridCol w="1379920">
                  <a:extLst>
                    <a:ext uri="{9D8B030D-6E8A-4147-A177-3AD203B41FA5}">
                      <a16:colId xmlns:a16="http://schemas.microsoft.com/office/drawing/2014/main" val="1589428145"/>
                    </a:ext>
                  </a:extLst>
                </a:gridCol>
                <a:gridCol w="1379920">
                  <a:extLst>
                    <a:ext uri="{9D8B030D-6E8A-4147-A177-3AD203B41FA5}">
                      <a16:colId xmlns:a16="http://schemas.microsoft.com/office/drawing/2014/main" val="720507528"/>
                    </a:ext>
                  </a:extLst>
                </a:gridCol>
                <a:gridCol w="1379920">
                  <a:extLst>
                    <a:ext uri="{9D8B030D-6E8A-4147-A177-3AD203B41FA5}">
                      <a16:colId xmlns:a16="http://schemas.microsoft.com/office/drawing/2014/main" val="1049331619"/>
                    </a:ext>
                  </a:extLst>
                </a:gridCol>
                <a:gridCol w="1379920">
                  <a:extLst>
                    <a:ext uri="{9D8B030D-6E8A-4147-A177-3AD203B41FA5}">
                      <a16:colId xmlns:a16="http://schemas.microsoft.com/office/drawing/2014/main" val="3423555053"/>
                    </a:ext>
                  </a:extLst>
                </a:gridCol>
                <a:gridCol w="1379920">
                  <a:extLst>
                    <a:ext uri="{9D8B030D-6E8A-4147-A177-3AD203B41FA5}">
                      <a16:colId xmlns:a16="http://schemas.microsoft.com/office/drawing/2014/main" val="3812696460"/>
                    </a:ext>
                  </a:extLst>
                </a:gridCol>
                <a:gridCol w="1379920">
                  <a:extLst>
                    <a:ext uri="{9D8B030D-6E8A-4147-A177-3AD203B41FA5}">
                      <a16:colId xmlns:a16="http://schemas.microsoft.com/office/drawing/2014/main" val="1043635269"/>
                    </a:ext>
                  </a:extLst>
                </a:gridCol>
                <a:gridCol w="1379920">
                  <a:extLst>
                    <a:ext uri="{9D8B030D-6E8A-4147-A177-3AD203B41FA5}">
                      <a16:colId xmlns:a16="http://schemas.microsoft.com/office/drawing/2014/main" val="1466621803"/>
                    </a:ext>
                  </a:extLst>
                </a:gridCol>
              </a:tblGrid>
              <a:tr h="370840">
                <a:tc>
                  <a:txBody>
                    <a:bodyPr/>
                    <a:lstStyle/>
                    <a:p>
                      <a:pPr algn="ctr"/>
                      <a:r>
                        <a:rPr lang="en-US" sz="2800" dirty="0">
                          <a:latin typeface="Futura T OT" panose="02000000000000000000" pitchFamily="50" charset="0"/>
                        </a:rPr>
                        <a:t>TWBR7</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TWBR6</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TWBR5</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TWBR4</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TWBR3</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TWBR2</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TWBR1</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800" dirty="0">
                          <a:latin typeface="Futura T OT" panose="02000000000000000000" pitchFamily="50" charset="0"/>
                        </a:rPr>
                        <a:t>TWBR0</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AD524D4F-5E34-3774-0286-475B6AC50FC8}"/>
              </a:ext>
            </a:extLst>
          </p:cNvPr>
          <p:cNvGraphicFramePr>
            <a:graphicFrameLocks noGrp="1"/>
          </p:cNvGraphicFramePr>
          <p:nvPr/>
        </p:nvGraphicFramePr>
        <p:xfrm>
          <a:off x="714834" y="2022028"/>
          <a:ext cx="11039360" cy="370840"/>
        </p:xfrm>
        <a:graphic>
          <a:graphicData uri="http://schemas.openxmlformats.org/drawingml/2006/table">
            <a:tbl>
              <a:tblPr firstRow="1" bandRow="1">
                <a:tableStyleId>{2D5ABB26-0587-4C30-8999-92F81FD0307C}</a:tableStyleId>
              </a:tblPr>
              <a:tblGrid>
                <a:gridCol w="1379920">
                  <a:extLst>
                    <a:ext uri="{9D8B030D-6E8A-4147-A177-3AD203B41FA5}">
                      <a16:colId xmlns:a16="http://schemas.microsoft.com/office/drawing/2014/main" val="2997895357"/>
                    </a:ext>
                  </a:extLst>
                </a:gridCol>
                <a:gridCol w="1379920">
                  <a:extLst>
                    <a:ext uri="{9D8B030D-6E8A-4147-A177-3AD203B41FA5}">
                      <a16:colId xmlns:a16="http://schemas.microsoft.com/office/drawing/2014/main" val="1589428145"/>
                    </a:ext>
                  </a:extLst>
                </a:gridCol>
                <a:gridCol w="1379920">
                  <a:extLst>
                    <a:ext uri="{9D8B030D-6E8A-4147-A177-3AD203B41FA5}">
                      <a16:colId xmlns:a16="http://schemas.microsoft.com/office/drawing/2014/main" val="720507528"/>
                    </a:ext>
                  </a:extLst>
                </a:gridCol>
                <a:gridCol w="1379920">
                  <a:extLst>
                    <a:ext uri="{9D8B030D-6E8A-4147-A177-3AD203B41FA5}">
                      <a16:colId xmlns:a16="http://schemas.microsoft.com/office/drawing/2014/main" val="1049331619"/>
                    </a:ext>
                  </a:extLst>
                </a:gridCol>
                <a:gridCol w="1379920">
                  <a:extLst>
                    <a:ext uri="{9D8B030D-6E8A-4147-A177-3AD203B41FA5}">
                      <a16:colId xmlns:a16="http://schemas.microsoft.com/office/drawing/2014/main" val="3423555053"/>
                    </a:ext>
                  </a:extLst>
                </a:gridCol>
                <a:gridCol w="1379920">
                  <a:extLst>
                    <a:ext uri="{9D8B030D-6E8A-4147-A177-3AD203B41FA5}">
                      <a16:colId xmlns:a16="http://schemas.microsoft.com/office/drawing/2014/main" val="3812696460"/>
                    </a:ext>
                  </a:extLst>
                </a:gridCol>
                <a:gridCol w="1379920">
                  <a:extLst>
                    <a:ext uri="{9D8B030D-6E8A-4147-A177-3AD203B41FA5}">
                      <a16:colId xmlns:a16="http://schemas.microsoft.com/office/drawing/2014/main" val="1043635269"/>
                    </a:ext>
                  </a:extLst>
                </a:gridCol>
                <a:gridCol w="1379920">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02FADC2-FD1B-F488-6581-4718654ED17B}"/>
                  </a:ext>
                </a:extLst>
              </p:cNvPr>
              <p:cNvSpPr txBox="1"/>
              <p:nvPr/>
            </p:nvSpPr>
            <p:spPr>
              <a:xfrm>
                <a:off x="2690467" y="4657909"/>
                <a:ext cx="7088094" cy="85908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𝑠𝑐𝑙</m:t>
                      </m:r>
                      <m:r>
                        <a:rPr lang="en-US" sz="2400" b="0" i="1" smtClean="0">
                          <a:latin typeface="Cambria Math" panose="02040503050406030204" pitchFamily="18" charset="0"/>
                        </a:rPr>
                        <m:t> </m:t>
                      </m:r>
                      <m:r>
                        <a:rPr lang="en-US" sz="2400" b="0" i="1" smtClean="0">
                          <a:latin typeface="Cambria Math" panose="02040503050406030204" pitchFamily="18" charset="0"/>
                        </a:rPr>
                        <m:t>𝑓𝑟𝑒𝑞𝑢𝑒𝑛𝑐𝑦</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𝐶𝑃𝑈</m:t>
                          </m:r>
                          <m:r>
                            <a:rPr lang="en-US" sz="2400" b="0" i="1" smtClean="0">
                              <a:latin typeface="Cambria Math" panose="02040503050406030204" pitchFamily="18" charset="0"/>
                            </a:rPr>
                            <m:t>_</m:t>
                          </m:r>
                          <m:r>
                            <a:rPr lang="en-US" sz="2400" b="0" i="1" smtClean="0">
                              <a:latin typeface="Cambria Math" panose="02040503050406030204" pitchFamily="18" charset="0"/>
                            </a:rPr>
                            <m:t>𝐶𝑙𝑜𝑐𝑘</m:t>
                          </m:r>
                          <m:r>
                            <a:rPr lang="en-US" sz="2400" b="0" i="1" smtClean="0">
                              <a:latin typeface="Cambria Math" panose="02040503050406030204" pitchFamily="18" charset="0"/>
                            </a:rPr>
                            <m:t>_</m:t>
                          </m:r>
                          <m:r>
                            <a:rPr lang="en-US" sz="2400" b="0" i="1" smtClean="0">
                              <a:latin typeface="Cambria Math" panose="02040503050406030204" pitchFamily="18" charset="0"/>
                            </a:rPr>
                            <m:t>𝐹𝑟𝑒𝑞𝑢𝑒𝑛𝑐𝑦</m:t>
                          </m:r>
                        </m:num>
                        <m:den>
                          <m:r>
                            <a:rPr lang="en-US" sz="2400" b="0" i="1" smtClean="0">
                              <a:latin typeface="Cambria Math" panose="02040503050406030204" pitchFamily="18" charset="0"/>
                            </a:rPr>
                            <m:t>16+2</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𝑇𝑊𝐵𝑅</m:t>
                              </m:r>
                            </m:e>
                          </m:d>
                          <m:r>
                            <a:rPr lang="en-US" sz="2400" b="0" i="1" smtClean="0">
                              <a:latin typeface="Cambria Math" panose="02040503050406030204" pitchFamily="18" charset="0"/>
                            </a:rPr>
                            <m:t>.(</m:t>
                          </m:r>
                          <m:r>
                            <a:rPr lang="en-US" sz="2400" b="0" i="1" smtClean="0">
                              <a:latin typeface="Cambria Math" panose="02040503050406030204" pitchFamily="18" charset="0"/>
                            </a:rPr>
                            <m:t>𝑃𝑟𝑒𝑠𝑐𝑎𝑙𝑒𝑟𝑉𝑎𝑙𝑢𝑒</m:t>
                          </m:r>
                          <m:r>
                            <a:rPr lang="en-US" sz="2400" b="0" i="1" smtClean="0">
                              <a:latin typeface="Cambria Math" panose="02040503050406030204" pitchFamily="18" charset="0"/>
                            </a:rPr>
                            <m:t>)</m:t>
                          </m:r>
                        </m:den>
                      </m:f>
                    </m:oMath>
                  </m:oMathPara>
                </a14:m>
                <a:endParaRPr lang="en-US" sz="2400" dirty="0"/>
              </a:p>
            </p:txBody>
          </p:sp>
        </mc:Choice>
        <mc:Fallback>
          <p:sp>
            <p:nvSpPr>
              <p:cNvPr id="4" name="TextBox 3">
                <a:extLst>
                  <a:ext uri="{FF2B5EF4-FFF2-40B4-BE49-F238E27FC236}">
                    <a16:creationId xmlns:a16="http://schemas.microsoft.com/office/drawing/2014/main" id="{F02FADC2-FD1B-F488-6581-4718654ED17B}"/>
                  </a:ext>
                </a:extLst>
              </p:cNvPr>
              <p:cNvSpPr txBox="1">
                <a:spLocks noRot="1" noChangeAspect="1" noMove="1" noResize="1" noEditPoints="1" noAdjustHandles="1" noChangeArrowheads="1" noChangeShapeType="1" noTextEdit="1"/>
              </p:cNvSpPr>
              <p:nvPr/>
            </p:nvSpPr>
            <p:spPr>
              <a:xfrm>
                <a:off x="2690467" y="4657909"/>
                <a:ext cx="7088094" cy="859081"/>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7C16AE2-CFB4-162E-89C8-1C0E9DC33762}"/>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spTree>
    <p:extLst>
      <p:ext uri="{BB962C8B-B14F-4D97-AF65-F5344CB8AC3E}">
        <p14:creationId xmlns:p14="http://schemas.microsoft.com/office/powerpoint/2010/main" val="6054573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37C382-DB84-8AD1-93D4-9DF1018D7D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D58030-1724-35FA-3F09-CCF3CB56982C}"/>
              </a:ext>
            </a:extLst>
          </p:cNvPr>
          <p:cNvSpPr txBox="1"/>
          <p:nvPr/>
        </p:nvSpPr>
        <p:spPr>
          <a:xfrm>
            <a:off x="698278" y="1594142"/>
            <a:ext cx="10778887" cy="523220"/>
          </a:xfrm>
          <a:prstGeom prst="rect">
            <a:avLst/>
          </a:prstGeom>
          <a:noFill/>
        </p:spPr>
        <p:txBody>
          <a:bodyPr wrap="square" rtlCol="0">
            <a:spAutoFit/>
          </a:bodyPr>
          <a:lstStyle/>
          <a:p>
            <a:r>
              <a:rPr lang="en-US" sz="2800" dirty="0">
                <a:solidFill>
                  <a:srgbClr val="FF0000"/>
                </a:solidFill>
                <a:latin typeface="Futura T OT" panose="02000000000000000000" pitchFamily="50" charset="0"/>
              </a:rPr>
              <a:t>TWDR : TWI Data Register</a:t>
            </a:r>
          </a:p>
        </p:txBody>
      </p:sp>
      <p:graphicFrame>
        <p:nvGraphicFramePr>
          <p:cNvPr id="6" name="Table 5">
            <a:extLst>
              <a:ext uri="{FF2B5EF4-FFF2-40B4-BE49-F238E27FC236}">
                <a16:creationId xmlns:a16="http://schemas.microsoft.com/office/drawing/2014/main" id="{A3EEC9AC-6D92-455D-9689-56EEF1B75EA4}"/>
              </a:ext>
            </a:extLst>
          </p:cNvPr>
          <p:cNvGraphicFramePr>
            <a:graphicFrameLocks noGrp="1"/>
          </p:cNvGraphicFramePr>
          <p:nvPr/>
        </p:nvGraphicFramePr>
        <p:xfrm>
          <a:off x="714838" y="2362262"/>
          <a:ext cx="11039360" cy="518160"/>
        </p:xfrm>
        <a:graphic>
          <a:graphicData uri="http://schemas.openxmlformats.org/drawingml/2006/table">
            <a:tbl>
              <a:tblPr firstRow="1" bandRow="1">
                <a:tableStyleId>{2D5ABB26-0587-4C30-8999-92F81FD0307C}</a:tableStyleId>
              </a:tblPr>
              <a:tblGrid>
                <a:gridCol w="1379920">
                  <a:extLst>
                    <a:ext uri="{9D8B030D-6E8A-4147-A177-3AD203B41FA5}">
                      <a16:colId xmlns:a16="http://schemas.microsoft.com/office/drawing/2014/main" val="2997895357"/>
                    </a:ext>
                  </a:extLst>
                </a:gridCol>
                <a:gridCol w="1379920">
                  <a:extLst>
                    <a:ext uri="{9D8B030D-6E8A-4147-A177-3AD203B41FA5}">
                      <a16:colId xmlns:a16="http://schemas.microsoft.com/office/drawing/2014/main" val="1589428145"/>
                    </a:ext>
                  </a:extLst>
                </a:gridCol>
                <a:gridCol w="1379920">
                  <a:extLst>
                    <a:ext uri="{9D8B030D-6E8A-4147-A177-3AD203B41FA5}">
                      <a16:colId xmlns:a16="http://schemas.microsoft.com/office/drawing/2014/main" val="720507528"/>
                    </a:ext>
                  </a:extLst>
                </a:gridCol>
                <a:gridCol w="1379920">
                  <a:extLst>
                    <a:ext uri="{9D8B030D-6E8A-4147-A177-3AD203B41FA5}">
                      <a16:colId xmlns:a16="http://schemas.microsoft.com/office/drawing/2014/main" val="1049331619"/>
                    </a:ext>
                  </a:extLst>
                </a:gridCol>
                <a:gridCol w="1379920">
                  <a:extLst>
                    <a:ext uri="{9D8B030D-6E8A-4147-A177-3AD203B41FA5}">
                      <a16:colId xmlns:a16="http://schemas.microsoft.com/office/drawing/2014/main" val="3423555053"/>
                    </a:ext>
                  </a:extLst>
                </a:gridCol>
                <a:gridCol w="1379920">
                  <a:extLst>
                    <a:ext uri="{9D8B030D-6E8A-4147-A177-3AD203B41FA5}">
                      <a16:colId xmlns:a16="http://schemas.microsoft.com/office/drawing/2014/main" val="3812696460"/>
                    </a:ext>
                  </a:extLst>
                </a:gridCol>
                <a:gridCol w="1379920">
                  <a:extLst>
                    <a:ext uri="{9D8B030D-6E8A-4147-A177-3AD203B41FA5}">
                      <a16:colId xmlns:a16="http://schemas.microsoft.com/office/drawing/2014/main" val="1043635269"/>
                    </a:ext>
                  </a:extLst>
                </a:gridCol>
                <a:gridCol w="1379920">
                  <a:extLst>
                    <a:ext uri="{9D8B030D-6E8A-4147-A177-3AD203B41FA5}">
                      <a16:colId xmlns:a16="http://schemas.microsoft.com/office/drawing/2014/main" val="1466621803"/>
                    </a:ext>
                  </a:extLst>
                </a:gridCol>
              </a:tblGrid>
              <a:tr h="370840">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endParaRPr lang="en-US" sz="2800" dirty="0">
                        <a:latin typeface="Futura T OT" panose="02000000000000000000" pitchFamily="50"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0225986"/>
                  </a:ext>
                </a:extLst>
              </a:tr>
            </a:tbl>
          </a:graphicData>
        </a:graphic>
      </p:graphicFrame>
      <p:graphicFrame>
        <p:nvGraphicFramePr>
          <p:cNvPr id="8" name="Table 7">
            <a:extLst>
              <a:ext uri="{FF2B5EF4-FFF2-40B4-BE49-F238E27FC236}">
                <a16:creationId xmlns:a16="http://schemas.microsoft.com/office/drawing/2014/main" id="{52BACF5A-B77E-13EF-F268-F87CE3E91517}"/>
              </a:ext>
            </a:extLst>
          </p:cNvPr>
          <p:cNvGraphicFramePr>
            <a:graphicFrameLocks noGrp="1"/>
          </p:cNvGraphicFramePr>
          <p:nvPr/>
        </p:nvGraphicFramePr>
        <p:xfrm>
          <a:off x="714834" y="2022028"/>
          <a:ext cx="11039360" cy="370840"/>
        </p:xfrm>
        <a:graphic>
          <a:graphicData uri="http://schemas.openxmlformats.org/drawingml/2006/table">
            <a:tbl>
              <a:tblPr firstRow="1" bandRow="1">
                <a:tableStyleId>{2D5ABB26-0587-4C30-8999-92F81FD0307C}</a:tableStyleId>
              </a:tblPr>
              <a:tblGrid>
                <a:gridCol w="1379920">
                  <a:extLst>
                    <a:ext uri="{9D8B030D-6E8A-4147-A177-3AD203B41FA5}">
                      <a16:colId xmlns:a16="http://schemas.microsoft.com/office/drawing/2014/main" val="2997895357"/>
                    </a:ext>
                  </a:extLst>
                </a:gridCol>
                <a:gridCol w="1379920">
                  <a:extLst>
                    <a:ext uri="{9D8B030D-6E8A-4147-A177-3AD203B41FA5}">
                      <a16:colId xmlns:a16="http://schemas.microsoft.com/office/drawing/2014/main" val="1589428145"/>
                    </a:ext>
                  </a:extLst>
                </a:gridCol>
                <a:gridCol w="1379920">
                  <a:extLst>
                    <a:ext uri="{9D8B030D-6E8A-4147-A177-3AD203B41FA5}">
                      <a16:colId xmlns:a16="http://schemas.microsoft.com/office/drawing/2014/main" val="720507528"/>
                    </a:ext>
                  </a:extLst>
                </a:gridCol>
                <a:gridCol w="1379920">
                  <a:extLst>
                    <a:ext uri="{9D8B030D-6E8A-4147-A177-3AD203B41FA5}">
                      <a16:colId xmlns:a16="http://schemas.microsoft.com/office/drawing/2014/main" val="1049331619"/>
                    </a:ext>
                  </a:extLst>
                </a:gridCol>
                <a:gridCol w="1379920">
                  <a:extLst>
                    <a:ext uri="{9D8B030D-6E8A-4147-A177-3AD203B41FA5}">
                      <a16:colId xmlns:a16="http://schemas.microsoft.com/office/drawing/2014/main" val="3423555053"/>
                    </a:ext>
                  </a:extLst>
                </a:gridCol>
                <a:gridCol w="1379920">
                  <a:extLst>
                    <a:ext uri="{9D8B030D-6E8A-4147-A177-3AD203B41FA5}">
                      <a16:colId xmlns:a16="http://schemas.microsoft.com/office/drawing/2014/main" val="3812696460"/>
                    </a:ext>
                  </a:extLst>
                </a:gridCol>
                <a:gridCol w="1379920">
                  <a:extLst>
                    <a:ext uri="{9D8B030D-6E8A-4147-A177-3AD203B41FA5}">
                      <a16:colId xmlns:a16="http://schemas.microsoft.com/office/drawing/2014/main" val="1043635269"/>
                    </a:ext>
                  </a:extLst>
                </a:gridCol>
                <a:gridCol w="1379920">
                  <a:extLst>
                    <a:ext uri="{9D8B030D-6E8A-4147-A177-3AD203B41FA5}">
                      <a16:colId xmlns:a16="http://schemas.microsoft.com/office/drawing/2014/main" val="1466621803"/>
                    </a:ext>
                  </a:extLst>
                </a:gridCol>
              </a:tblGrid>
              <a:tr h="370840">
                <a:tc>
                  <a:txBody>
                    <a:bodyPr/>
                    <a:lstStyle/>
                    <a:p>
                      <a:pPr algn="ctr"/>
                      <a:r>
                        <a:rPr lang="en-US" sz="1600" dirty="0">
                          <a:latin typeface="Futura T OT" panose="02000000000000000000" pitchFamily="50"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Futura T OT" panose="02000000000000000000" pitchFamily="50"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225986"/>
                  </a:ext>
                </a:extLst>
              </a:tr>
            </a:tbl>
          </a:graphicData>
        </a:graphic>
      </p:graphicFrame>
      <p:sp>
        <p:nvSpPr>
          <p:cNvPr id="4" name="TextBox 3">
            <a:extLst>
              <a:ext uri="{FF2B5EF4-FFF2-40B4-BE49-F238E27FC236}">
                <a16:creationId xmlns:a16="http://schemas.microsoft.com/office/drawing/2014/main" id="{9827BBC4-D3E0-4CA4-459F-A4EF49CECF9E}"/>
              </a:ext>
            </a:extLst>
          </p:cNvPr>
          <p:cNvSpPr txBox="1"/>
          <p:nvPr/>
        </p:nvSpPr>
        <p:spPr>
          <a:xfrm>
            <a:off x="0" y="0"/>
            <a:ext cx="12191999" cy="584775"/>
          </a:xfrm>
          <a:prstGeom prst="rect">
            <a:avLst/>
          </a:prstGeom>
          <a:noFill/>
        </p:spPr>
        <p:txBody>
          <a:bodyPr wrap="square" rtlCol="0">
            <a:spAutoFit/>
          </a:bodyPr>
          <a:lstStyle/>
          <a:p>
            <a:pPr algn="ctr"/>
            <a:r>
              <a:rPr lang="en-US" sz="3200" dirty="0">
                <a:solidFill>
                  <a:srgbClr val="002060"/>
                </a:solidFill>
                <a:latin typeface="Futura T OT" panose="02000000000000000000" pitchFamily="50" charset="0"/>
              </a:rPr>
              <a:t>Serial Communication in AVR (</a:t>
            </a:r>
            <a:r>
              <a:rPr lang="en-US" sz="3200" dirty="0">
                <a:solidFill>
                  <a:srgbClr val="FF0000"/>
                </a:solidFill>
                <a:latin typeface="Futura T OT" panose="02000000000000000000" pitchFamily="50" charset="0"/>
              </a:rPr>
              <a:t>I2C</a:t>
            </a:r>
            <a:r>
              <a:rPr lang="en-US" sz="3200" dirty="0">
                <a:solidFill>
                  <a:srgbClr val="002060"/>
                </a:solidFill>
                <a:latin typeface="Futura T OT" panose="02000000000000000000" pitchFamily="50" charset="0"/>
              </a:rPr>
              <a:t>)</a:t>
            </a:r>
          </a:p>
        </p:txBody>
      </p:sp>
    </p:spTree>
    <p:extLst>
      <p:ext uri="{BB962C8B-B14F-4D97-AF65-F5344CB8AC3E}">
        <p14:creationId xmlns:p14="http://schemas.microsoft.com/office/powerpoint/2010/main" val="529689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16166</TotalTime>
  <Words>5648</Words>
  <Application>Microsoft Office PowerPoint</Application>
  <PresentationFormat>Widescreen</PresentationFormat>
  <Paragraphs>845</Paragraphs>
  <Slides>83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Calibri</vt:lpstr>
      <vt:lpstr>Calibri Light</vt:lpstr>
      <vt:lpstr>Cambria Math</vt:lpstr>
      <vt:lpstr>Futura T OT</vt:lpstr>
      <vt:lpstr>Menlo</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Krishtein Einsna</dc:creator>
  <cp:lastModifiedBy>Krishtein Einsna</cp:lastModifiedBy>
  <cp:revision>307</cp:revision>
  <dcterms:created xsi:type="dcterms:W3CDTF">2025-09-16T01:34:55Z</dcterms:created>
  <dcterms:modified xsi:type="dcterms:W3CDTF">2026-01-29T04:51:15Z</dcterms:modified>
</cp:coreProperties>
</file>