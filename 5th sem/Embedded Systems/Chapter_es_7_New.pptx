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707" r:id="rId3"/>
    <p:sldId id="821" r:id="rId4"/>
    <p:sldId id="822" r:id="rId5"/>
    <p:sldId id="823" r:id="rId6"/>
    <p:sldId id="824" r:id="rId7"/>
    <p:sldId id="797" r:id="rId8"/>
    <p:sldId id="8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A448"/>
    <a:srgbClr val="AFDDE5"/>
    <a:srgbClr val="0FA4AF"/>
    <a:srgbClr val="964734"/>
    <a:srgbClr val="024950"/>
    <a:srgbClr val="003135"/>
    <a:srgbClr val="3E9BB6"/>
    <a:srgbClr val="4472C4"/>
    <a:srgbClr val="FFFFFF"/>
    <a:srgbClr val="DFD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118" autoAdjust="0"/>
  </p:normalViewPr>
  <p:slideViewPr>
    <p:cSldViewPr snapToGrid="0" showGuides="1">
      <p:cViewPr varScale="1">
        <p:scale>
          <a:sx n="45" d="100"/>
          <a:sy n="45" d="100"/>
        </p:scale>
        <p:origin x="1003" y="29"/>
      </p:cViewPr>
      <p:guideLst>
        <p:guide orient="horz" pos="2184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40180-84BE-40D1-AD0F-554207F0762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F74AD-8D6C-43B6-B1C6-FE3F682FD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3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BC1E-4C7F-A878-414C-79C5E3E65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5D051-38C1-EA20-F458-44F8204A7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41AE3-7CCF-E5B6-58CC-B0857155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BF166-ADBF-25B2-A049-29815D5B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2CD86-2C0A-BFF2-8732-1F71650F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99A4-F78B-B3DE-78E0-7D6047FD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56C58-2B2E-3F01-853B-1443D696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23EC-1AA7-6F81-24FF-B8AA833D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2EC07-152A-921F-2971-6042E134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B6D60-83BC-11A0-D51E-510FD8AE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153C-B5F3-7513-9B72-5B30918F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BFE70-4A27-1676-F288-4C28F5E8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27D07-9061-BE97-7C70-F717B9CA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5AFD5-6612-BF83-471C-84795AF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D685-21C2-11DB-B8C1-F68F86C6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9D37-4A87-64E0-7A79-D807B373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9A7C8-C395-1B55-CC51-0C79B94F9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CBE8F-5789-ED85-1392-3786A5E29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F2DBC-C43D-4768-724D-E2CE51F1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C6FE2-EE2B-058F-2CB6-2D30089E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D2F52-9E7E-8809-0726-50EC48FF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5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8AFA-CDCE-51AB-859D-36F34185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D6E7-964A-C4FD-0295-4760420FE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F35A7-300A-5FC2-1235-0ACACFF07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20995-71C2-1430-4E57-2C0ACDF8A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FB71D-399D-AB8B-E49E-912455E95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8D760-FE88-FCB3-7649-F651DB59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A5E49-8CF9-F6C9-4985-16181C91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7116F-4113-9328-CE3A-1F1D50B8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2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47F5-B2BC-E1D1-37A2-3D55285A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16BD2-0039-1449-3305-FFB7A79A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53673-85F6-BD5D-1883-38D897B06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5289-801F-F3F1-0A71-1A7313DB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92EEE-7079-ED29-138A-9D8758A3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E7D5B-4830-8B00-D653-B796633B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FF190-ACB7-8CB0-C7C8-59F8494A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FC45-2F09-1123-24C6-80A65248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9951-9A5D-CA64-8299-A53E48130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9AD71-A4B9-C25C-00C1-A5C615D3A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34768-C351-0DFD-E670-02367547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DC3EC-E4AE-D04E-4B4A-DF23231A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8B4EA-EE7C-94CF-4E6D-48B200ED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5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2CA1-FA93-8D54-65D2-3C73A038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F967F-2C69-7017-B4CB-EF9405383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DA17B-8376-481D-7360-46F6A8D0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FB10D-2CD1-BB7E-35C9-F8C76A6C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0A012-800A-2C98-8922-C119FC12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37343-B329-DABB-CDED-0A050FA8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E379-2B99-FA61-CF2A-C4357F4C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0183E-0625-1D69-A288-2CD465626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EF39F-5CF9-2556-9F9A-AAFE681B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2283E-F7E4-B6AD-FFBA-BE311863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C6770-4142-C5B9-D9E0-C6B1F182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707E1-FC0C-342B-5E52-ADE06998D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9554A-DC20-BFD0-F9AB-AB4AAC948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DDE0-B96D-2CC7-4067-57725D4D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BFFBB-806E-8018-91A4-BA029D0E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1F76-948C-2FEA-64DB-1632CA18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B9098-C80B-66CD-69E8-C5D08097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FEB8A-2EFB-6553-F313-16E987B15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18A2-D8F9-2B50-6D0D-A1670D0F3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5B32C-7331-4D14-8CE8-DF47C2DB7E1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4E8D3-8D2E-A16D-CA4C-CAEA982AF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0563-605D-7C96-0078-9467F2011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2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E539C5-9975-1037-E086-4BF0AF8A003B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Futura T OT" panose="02000000000000000000" pitchFamily="50" charset="0"/>
              </a:rPr>
              <a:t>Syllabus of Embedded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2196E-B3A3-2C76-E90D-A9080CBC6C97}"/>
              </a:ext>
            </a:extLst>
          </p:cNvPr>
          <p:cNvSpPr txBox="1"/>
          <p:nvPr/>
        </p:nvSpPr>
        <p:spPr>
          <a:xfrm>
            <a:off x="2057400" y="2828835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Futura T OT" panose="02000000000000000000" pitchFamily="50" charset="0"/>
              </a:rPr>
              <a:t>Unit 7: Internet of Things (IoT) and Embedded Systems (3 </a:t>
            </a:r>
            <a:r>
              <a:rPr lang="en-US" dirty="0" err="1">
                <a:solidFill>
                  <a:srgbClr val="FF0000"/>
                </a:solidFill>
                <a:latin typeface="Futura T OT" panose="02000000000000000000" pitchFamily="50" charset="0"/>
              </a:rPr>
              <a:t>Hrs</a:t>
            </a:r>
            <a:r>
              <a:rPr lang="en-US" dirty="0">
                <a:solidFill>
                  <a:srgbClr val="FF0000"/>
                </a:solidFill>
                <a:latin typeface="Futura T OT" panose="02000000000000000000" pitchFamily="50" charset="0"/>
              </a:rPr>
              <a:t>)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7.1 Introduction of IoT concepts and Embedded System’s Role in IoT</a:t>
            </a:r>
          </a:p>
          <a:p>
            <a:r>
              <a:rPr lang="en-US" dirty="0">
                <a:latin typeface="Futura T OT" panose="02000000000000000000" pitchFamily="50" charset="0"/>
              </a:rPr>
              <a:t>7.2 IoT communication protocol: MQTT (Basic Concept)</a:t>
            </a:r>
          </a:p>
          <a:p>
            <a:r>
              <a:rPr lang="en-US" dirty="0">
                <a:latin typeface="Futura T OT" panose="02000000000000000000" pitchFamily="50" charset="0"/>
              </a:rPr>
              <a:t>7.3 Overview of common IoT hardware Platforms: Arduino, ESP32 and Raspberry Pi </a:t>
            </a:r>
          </a:p>
        </p:txBody>
      </p:sp>
    </p:spTree>
    <p:extLst>
      <p:ext uri="{BB962C8B-B14F-4D97-AF65-F5344CB8AC3E}">
        <p14:creationId xmlns:p14="http://schemas.microsoft.com/office/powerpoint/2010/main" val="250066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8F8B4-C108-2A77-794A-A63FBC5A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F1E08-00F3-2AE4-5A5F-83BDE1DA5E9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Introduction to IoT concepts </a:t>
            </a:r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and Embedded System’s role in IoT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DFA88-96B1-7618-4C82-771F04C75099}"/>
              </a:ext>
            </a:extLst>
          </p:cNvPr>
          <p:cNvSpPr txBox="1"/>
          <p:nvPr/>
        </p:nvSpPr>
        <p:spPr>
          <a:xfrm>
            <a:off x="782756" y="1132316"/>
            <a:ext cx="107788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IoT refers to a network of physical devices, vehicles, appliances, and other objects embedded with sensors, software, and connectivity to exchange data over the internet.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D28A3-0F4D-FD9E-CD3A-BD5432391657}"/>
              </a:ext>
            </a:extLst>
          </p:cNvPr>
          <p:cNvSpPr txBox="1"/>
          <p:nvPr/>
        </p:nvSpPr>
        <p:spPr>
          <a:xfrm>
            <a:off x="782756" y="2826127"/>
            <a:ext cx="1077888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Interconnectivity</a:t>
            </a:r>
            <a:r>
              <a:rPr lang="en-US" sz="3200" dirty="0">
                <a:latin typeface="Futura T OT" panose="02000000000000000000" pitchFamily="50" charset="0"/>
              </a:rPr>
              <a:t>: Devices can communicate with each other and with centralized systems.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Sensing</a:t>
            </a:r>
            <a:r>
              <a:rPr lang="en-US" sz="3200" dirty="0">
                <a:latin typeface="Futura T OT" panose="02000000000000000000" pitchFamily="50" charset="0"/>
              </a:rPr>
              <a:t>: Devices collect data from their environment using sensors.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Automation</a:t>
            </a:r>
            <a:r>
              <a:rPr lang="en-US" sz="3200" dirty="0">
                <a:latin typeface="Futura T OT" panose="02000000000000000000" pitchFamily="50" charset="0"/>
              </a:rPr>
              <a:t>: Devices can perform tasks without human intervention.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Data Analytics</a:t>
            </a:r>
            <a:r>
              <a:rPr lang="en-US" sz="3200" dirty="0">
                <a:latin typeface="Futura T OT" panose="02000000000000000000" pitchFamily="50" charset="0"/>
              </a:rPr>
              <a:t>: Data collected is analyzed to derive insights and enable decision-making. </a:t>
            </a:r>
            <a:endParaRPr lang="en-US" sz="44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4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56A5E-827E-4C61-0EFE-BC9D03AC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8BCDEE-F120-28D9-F143-57747DC40F7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IoT concepts and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Embedded System’s role in IoT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ECE10-F0F4-5825-FEBB-825CB2195A88}"/>
              </a:ext>
            </a:extLst>
          </p:cNvPr>
          <p:cNvSpPr txBox="1"/>
          <p:nvPr/>
        </p:nvSpPr>
        <p:spPr>
          <a:xfrm>
            <a:off x="782756" y="1132316"/>
            <a:ext cx="107788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Data Collection</a:t>
            </a:r>
            <a:r>
              <a:rPr lang="en-US" sz="2800" dirty="0">
                <a:latin typeface="Futura T OT" panose="02000000000000000000" pitchFamily="50" charset="0"/>
              </a:rPr>
              <a:t>:  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- Embedded systems interface with sensors to collect real-time data.  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Data Processing</a:t>
            </a:r>
            <a:r>
              <a:rPr lang="en-US" sz="2800" dirty="0">
                <a:latin typeface="Futura T OT" panose="02000000000000000000" pitchFamily="50" charset="0"/>
              </a:rPr>
              <a:t>:  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- Perform initial data processing and filtering at the edge to reduce latency and bandwidth usage.  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Control and Automation</a:t>
            </a:r>
            <a:r>
              <a:rPr lang="en-US" sz="2800" dirty="0">
                <a:latin typeface="Futura T OT" panose="02000000000000000000" pitchFamily="50" charset="0"/>
              </a:rPr>
              <a:t>:  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- Execute control algorithms to manage actuators and automate tasks.  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Communication</a:t>
            </a:r>
            <a:r>
              <a:rPr lang="en-US" sz="2800" dirty="0">
                <a:latin typeface="Futura T OT" panose="02000000000000000000" pitchFamily="50" charset="0"/>
              </a:rPr>
              <a:t>:  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- Enable connectivity with other devices and cloud platforms using communication modules.  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Energy Management</a:t>
            </a:r>
            <a:r>
              <a:rPr lang="en-US" sz="2800" dirty="0">
                <a:latin typeface="Futura T OT" panose="02000000000000000000" pitchFamily="50" charset="0"/>
              </a:rPr>
              <a:t>:  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- Optimize power usage to extend the lifespan of battery-operated devices.  </a:t>
            </a:r>
          </a:p>
        </p:txBody>
      </p:sp>
    </p:spTree>
    <p:extLst>
      <p:ext uri="{BB962C8B-B14F-4D97-AF65-F5344CB8AC3E}">
        <p14:creationId xmlns:p14="http://schemas.microsoft.com/office/powerpoint/2010/main" val="3180794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9B32C-1135-C378-84F0-51114C95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55ED49-C96A-9D6F-3405-B79C0A24B087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IoT communication protocol: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MQTT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AF794-5182-2FCE-5815-615A237CA2D4}"/>
              </a:ext>
            </a:extLst>
          </p:cNvPr>
          <p:cNvSpPr txBox="1"/>
          <p:nvPr/>
        </p:nvSpPr>
        <p:spPr>
          <a:xfrm>
            <a:off x="782756" y="1132316"/>
            <a:ext cx="10778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MQTT (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Message Queuing Telemetry Transport</a:t>
            </a:r>
            <a:r>
              <a:rPr lang="en-US" sz="2400" dirty="0">
                <a:latin typeface="Futura T OT" panose="02000000000000000000" pitchFamily="50" charset="0"/>
              </a:rPr>
              <a:t>) is a lightweight, publish-subscribe-based messaging protocol designed for constrained devices and low-bandwidth, high-latency, or unreliable networks.</a:t>
            </a:r>
            <a:endParaRPr lang="en-US" sz="36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3D6EB-C31D-B3FC-D28B-883F901D5462}"/>
              </a:ext>
            </a:extLst>
          </p:cNvPr>
          <p:cNvSpPr txBox="1"/>
          <p:nvPr/>
        </p:nvSpPr>
        <p:spPr>
          <a:xfrm>
            <a:off x="782756" y="2866935"/>
            <a:ext cx="107788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Lightweight and efficient</a:t>
            </a:r>
            <a:r>
              <a:rPr lang="en-US" sz="2400" dirty="0">
                <a:latin typeface="Futura T OT" panose="02000000000000000000" pitchFamily="50" charset="0"/>
              </a:rPr>
              <a:t>: Minimal packet overhead, suitable for low-power devices.</a:t>
            </a:r>
          </a:p>
          <a:p>
            <a:endParaRPr lang="en-US" sz="2400" dirty="0">
              <a:latin typeface="Futura T OT" panose="02000000000000000000" pitchFamily="50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Publish-Subscribe Model</a:t>
            </a:r>
            <a:r>
              <a:rPr lang="en-US" sz="2400" dirty="0">
                <a:latin typeface="Futura T OT" panose="02000000000000000000" pitchFamily="50" charset="0"/>
              </a:rPr>
              <a:t>: Decouples senders (publishers) and receivers (subscribers).</a:t>
            </a:r>
          </a:p>
          <a:p>
            <a:endParaRPr lang="en-US" sz="2400" dirty="0">
              <a:latin typeface="Futura T OT" panose="02000000000000000000" pitchFamily="50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Quality of Service (QoS): </a:t>
            </a:r>
            <a:r>
              <a:rPr lang="en-US" sz="2400" dirty="0">
                <a:latin typeface="Futura T OT" panose="02000000000000000000" pitchFamily="50" charset="0"/>
              </a:rPr>
              <a:t>Ensures message delivery at different levels of reliability.</a:t>
            </a:r>
          </a:p>
          <a:p>
            <a:endParaRPr lang="en-US" sz="2400" dirty="0">
              <a:latin typeface="Futura T OT" panose="02000000000000000000" pitchFamily="50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Retained Messages</a:t>
            </a:r>
            <a:r>
              <a:rPr lang="en-US" sz="2400" dirty="0">
                <a:latin typeface="Futura T OT" panose="02000000000000000000" pitchFamily="50" charset="0"/>
              </a:rPr>
              <a:t>: Stores the last message on a topic for new subscribers.</a:t>
            </a:r>
          </a:p>
          <a:p>
            <a:endParaRPr lang="en-US" sz="2400" dirty="0">
              <a:latin typeface="Futura T OT" panose="02000000000000000000" pitchFamily="50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Last Will and Testament (LWT</a:t>
            </a:r>
            <a:r>
              <a:rPr lang="en-US" sz="2400" dirty="0">
                <a:latin typeface="Futura T OT" panose="02000000000000000000" pitchFamily="50" charset="0"/>
              </a:rPr>
              <a:t>): Notifies other clients if a device disconnects unexpectedly.</a:t>
            </a:r>
          </a:p>
        </p:txBody>
      </p:sp>
    </p:spTree>
    <p:extLst>
      <p:ext uri="{BB962C8B-B14F-4D97-AF65-F5344CB8AC3E}">
        <p14:creationId xmlns:p14="http://schemas.microsoft.com/office/powerpoint/2010/main" val="412710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35F4E-C4F7-BE34-BB96-86598D03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E70058-41CA-8154-BA90-EA5B771A1FEA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IoT communication protocol: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MQTT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116A7-BDB0-8C55-D039-CCC6C0AC413B}"/>
              </a:ext>
            </a:extLst>
          </p:cNvPr>
          <p:cNvSpPr txBox="1"/>
          <p:nvPr/>
        </p:nvSpPr>
        <p:spPr>
          <a:xfrm>
            <a:off x="782756" y="1132316"/>
            <a:ext cx="10778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MQTT (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Message Queuing Telemetry Transport</a:t>
            </a:r>
            <a:r>
              <a:rPr lang="en-US" sz="2400" dirty="0">
                <a:latin typeface="Futura T OT" panose="02000000000000000000" pitchFamily="50" charset="0"/>
              </a:rPr>
              <a:t>) is a publish-subscribe-based messaging protocol.</a:t>
            </a:r>
            <a:endParaRPr lang="en-US" sz="36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378A8-DD2D-12D2-5AEF-F086CC7C844C}"/>
              </a:ext>
            </a:extLst>
          </p:cNvPr>
          <p:cNvSpPr txBox="1"/>
          <p:nvPr/>
        </p:nvSpPr>
        <p:spPr>
          <a:xfrm>
            <a:off x="782756" y="2678696"/>
            <a:ext cx="107788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Publisher</a:t>
            </a:r>
            <a:r>
              <a:rPr lang="en-US" sz="2400" dirty="0">
                <a:latin typeface="Futura T OT" panose="02000000000000000000" pitchFamily="50" charset="0"/>
              </a:rPr>
              <a:t>: A device or application that sends messages to a broker.</a:t>
            </a:r>
          </a:p>
          <a:p>
            <a:endParaRPr lang="en-US" sz="2400" dirty="0">
              <a:latin typeface="Futura T OT" panose="02000000000000000000" pitchFamily="50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Subscriber</a:t>
            </a:r>
            <a:r>
              <a:rPr lang="en-US" sz="2400" dirty="0">
                <a:latin typeface="Futura T OT" panose="02000000000000000000" pitchFamily="50" charset="0"/>
              </a:rPr>
              <a:t>: A device or application that receives messages from the broker.4</a:t>
            </a:r>
          </a:p>
          <a:p>
            <a:endParaRPr lang="en-US" sz="2400" dirty="0">
              <a:latin typeface="Futura T OT" panose="02000000000000000000" pitchFamily="50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Broker</a:t>
            </a:r>
            <a:r>
              <a:rPr lang="en-US" sz="2400" dirty="0">
                <a:latin typeface="Futura T OT" panose="02000000000000000000" pitchFamily="50" charset="0"/>
              </a:rPr>
              <a:t>: A server that receives messages from publishers and routes them to subscribers based on topics.</a:t>
            </a:r>
          </a:p>
          <a:p>
            <a:endParaRPr lang="en-US" sz="2400" dirty="0">
              <a:latin typeface="Futura T OT" panose="02000000000000000000" pitchFamily="50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Topic</a:t>
            </a:r>
            <a:r>
              <a:rPr lang="en-US" sz="2400" dirty="0">
                <a:latin typeface="Futura T OT" panose="02000000000000000000" pitchFamily="50" charset="0"/>
              </a:rPr>
              <a:t>: A hierarchical string used to filter messages (e.g., home/</a:t>
            </a:r>
            <a:r>
              <a:rPr lang="en-US" sz="2400" dirty="0" err="1">
                <a:latin typeface="Futura T OT" panose="02000000000000000000" pitchFamily="50" charset="0"/>
              </a:rPr>
              <a:t>livingroom</a:t>
            </a:r>
            <a:r>
              <a:rPr lang="en-US" sz="2400" dirty="0">
                <a:latin typeface="Futura T OT" panose="02000000000000000000" pitchFamily="50" charset="0"/>
              </a:rPr>
              <a:t>/temperature).</a:t>
            </a:r>
          </a:p>
        </p:txBody>
      </p:sp>
    </p:spTree>
    <p:extLst>
      <p:ext uri="{BB962C8B-B14F-4D97-AF65-F5344CB8AC3E}">
        <p14:creationId xmlns:p14="http://schemas.microsoft.com/office/powerpoint/2010/main" val="396618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56A3A-EB4A-8775-4D2E-C65FD744D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6164A-5890-938C-0F0A-905564311AA2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IoT communication protocol: </a:t>
            </a:r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MQTT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DD22C-2EB1-A7F0-E27A-D65005F98FC7}"/>
              </a:ext>
            </a:extLst>
          </p:cNvPr>
          <p:cNvSpPr txBox="1"/>
          <p:nvPr/>
        </p:nvSpPr>
        <p:spPr>
          <a:xfrm>
            <a:off x="782756" y="1132316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Quality of Service Levels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A12BB-7969-4927-C4DF-37EE730CF1B0}"/>
              </a:ext>
            </a:extLst>
          </p:cNvPr>
          <p:cNvSpPr txBox="1"/>
          <p:nvPr/>
        </p:nvSpPr>
        <p:spPr>
          <a:xfrm>
            <a:off x="782756" y="2678696"/>
            <a:ext cx="107788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QoS 0</a:t>
            </a:r>
            <a:r>
              <a:rPr lang="en-US" sz="2800" dirty="0">
                <a:latin typeface="Futura T OT" panose="02000000000000000000" pitchFamily="50" charset="0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At Most Once</a:t>
            </a:r>
            <a:r>
              <a:rPr lang="en-US" sz="2800" dirty="0">
                <a:latin typeface="Futura T OT" panose="02000000000000000000" pitchFamily="50" charset="0"/>
              </a:rPr>
              <a:t>: Messages are delivered once with no acknowledgment. Fastest but least reliable.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QoS 1</a:t>
            </a:r>
            <a:r>
              <a:rPr lang="en-US" sz="2800" dirty="0">
                <a:latin typeface="Futura T OT" panose="02000000000000000000" pitchFamily="50" charset="0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At Least Once</a:t>
            </a:r>
            <a:r>
              <a:rPr lang="en-US" sz="2800" dirty="0">
                <a:latin typeface="Futura T OT" panose="02000000000000000000" pitchFamily="50" charset="0"/>
              </a:rPr>
              <a:t>: Messages are delivered at least once, with acknowledgment. Reliable but may result in duplicates.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QoS 2</a:t>
            </a:r>
            <a:r>
              <a:rPr lang="en-US" sz="2800" dirty="0">
                <a:latin typeface="Futura T OT" panose="02000000000000000000" pitchFamily="50" charset="0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Exactly Once</a:t>
            </a:r>
            <a:r>
              <a:rPr lang="en-US" sz="2800" dirty="0">
                <a:latin typeface="Futura T OT" panose="02000000000000000000" pitchFamily="50" charset="0"/>
              </a:rPr>
              <a:t>: Messages are delivered exactly once, with a four-step handshake. Most reliable but highest overhead.</a:t>
            </a:r>
          </a:p>
        </p:txBody>
      </p:sp>
    </p:spTree>
    <p:extLst>
      <p:ext uri="{BB962C8B-B14F-4D97-AF65-F5344CB8AC3E}">
        <p14:creationId xmlns:p14="http://schemas.microsoft.com/office/powerpoint/2010/main" val="425512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BA781-F13C-D09A-8B4D-F20D063E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F8EB1A-7B77-F454-66F7-F4979CAC3265}"/>
              </a:ext>
            </a:extLst>
          </p:cNvPr>
          <p:cNvSpPr txBox="1"/>
          <p:nvPr/>
        </p:nvSpPr>
        <p:spPr>
          <a:xfrm>
            <a:off x="0" y="0"/>
            <a:ext cx="1219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common IoT hardware platforms: Arduino, ESP32 and Raspberry Pi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486F20-4F9A-2243-A08D-E0B01EDFB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90213"/>
              </p:ext>
            </p:extLst>
          </p:nvPr>
        </p:nvGraphicFramePr>
        <p:xfrm>
          <a:off x="914400" y="1973580"/>
          <a:ext cx="10515600" cy="2987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6767065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520765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360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026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Feature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Arduino (Uno)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ESP32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Raspberry Pi (4/5)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89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Type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Microcontroller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Microcontroller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Single Board Computer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528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Operating System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None (Bare Metal)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None (RTOS support)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Linux / Windows IoT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980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Connectivity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None (Built-in)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Wi-Fi &amp; Bluetooth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Wi-Fi, BT, Ethernet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371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Clock Speed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16 MHz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Up to 240 MHz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1.5 GHz - 2.4 GHz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887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Power Needs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Very Low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Low (Excellent Sleep)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High (Needs Wall Plug)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569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Logic Voltage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5V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3.3V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3.3V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320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81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97295-6FE2-93CE-44C4-061A7C91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E8A8CE-CC64-C04E-BB51-639834AC4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98419"/>
              </p:ext>
            </p:extLst>
          </p:nvPr>
        </p:nvGraphicFramePr>
        <p:xfrm>
          <a:off x="169334" y="1199090"/>
          <a:ext cx="11853330" cy="5177408"/>
        </p:xfrm>
        <a:graphic>
          <a:graphicData uri="http://schemas.openxmlformats.org/drawingml/2006/table">
            <a:tbl>
              <a:tblPr/>
              <a:tblGrid>
                <a:gridCol w="3951110">
                  <a:extLst>
                    <a:ext uri="{9D8B030D-6E8A-4147-A177-3AD203B41FA5}">
                      <a16:colId xmlns:a16="http://schemas.microsoft.com/office/drawing/2014/main" val="3789433400"/>
                    </a:ext>
                  </a:extLst>
                </a:gridCol>
                <a:gridCol w="2060222">
                  <a:extLst>
                    <a:ext uri="{9D8B030D-6E8A-4147-A177-3AD203B41FA5}">
                      <a16:colId xmlns:a16="http://schemas.microsoft.com/office/drawing/2014/main" val="3797116973"/>
                    </a:ext>
                  </a:extLst>
                </a:gridCol>
                <a:gridCol w="5841998">
                  <a:extLst>
                    <a:ext uri="{9D8B030D-6E8A-4147-A177-3AD203B41FA5}">
                      <a16:colId xmlns:a16="http://schemas.microsoft.com/office/drawing/2014/main" val="3246204195"/>
                    </a:ext>
                  </a:extLst>
                </a:gridCol>
              </a:tblGrid>
              <a:tr h="2459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If your project is...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Recommended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Why?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10463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Battery-powered sensor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 (e.g., Soil moisture, outdoor temp)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ESP32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"Deep Sleep" mode draws almost zero power; built-in Wi-Fi sends data quickly then sleeps.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782343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Central Smart Home Hub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 (e.g., Running an MQTT Broker)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Raspberry Pi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Needs to handle multiple connections, store data in a database, and stay online 24/7.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726574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Learning Electronics 101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 (e.g., Blinking LEDs, simple buttons)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Arduino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It's "indestructible" (5V logic is forgiving) and has the most beginner-friendly tutorials.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85212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High-speed Data/Video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 (e.g., Security camera with AI)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Raspberry Pi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Only the Pi has the RAM and CPU power to process video frames or run AI models.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459731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Compact Smart Device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 (e.g., WiFi-controlled light switch)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ESP32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Small physical footprint and integrates easily with home Wi-Fi networks.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806374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Industrial/Noisy Environment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 (e.g., Simple motor controller)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Arduino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Many industrial shields are built for Arduino’s 5V architecture; very stable for simple logic.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92213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Multi-protocol Bridge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 (e.g., Connecting Zigbee to Ethernet)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Raspberry Pi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Has multiple USB ports for "dongles" and a full Ethernet port for stable backhaul.</a:t>
                      </a:r>
                    </a:p>
                  </a:txBody>
                  <a:tcPr marL="56757" marR="56757" marT="37838" marB="378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9698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FCBA7C5-BC8A-2767-5CC5-03DC8E0F832C}"/>
              </a:ext>
            </a:extLst>
          </p:cNvPr>
          <p:cNvSpPr txBox="1"/>
          <p:nvPr/>
        </p:nvSpPr>
        <p:spPr>
          <a:xfrm>
            <a:off x="0" y="0"/>
            <a:ext cx="1219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common IoT hardware platforms: Arduino, ESP32 and Raspberry Pi</a:t>
            </a:r>
          </a:p>
        </p:txBody>
      </p:sp>
    </p:spTree>
    <p:extLst>
      <p:ext uri="{BB962C8B-B14F-4D97-AF65-F5344CB8AC3E}">
        <p14:creationId xmlns:p14="http://schemas.microsoft.com/office/powerpoint/2010/main" val="420083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20540</TotalTime>
  <Words>829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Futura T OT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Krishtein Einsna</dc:creator>
  <cp:lastModifiedBy>Krishtein Einsna</cp:lastModifiedBy>
  <cp:revision>434</cp:revision>
  <dcterms:created xsi:type="dcterms:W3CDTF">2025-09-16T01:34:55Z</dcterms:created>
  <dcterms:modified xsi:type="dcterms:W3CDTF">2026-02-04T00:11:42Z</dcterms:modified>
</cp:coreProperties>
</file>