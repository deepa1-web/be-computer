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707" r:id="rId3"/>
    <p:sldId id="739" r:id="rId4"/>
    <p:sldId id="740" r:id="rId5"/>
    <p:sldId id="741" r:id="rId6"/>
    <p:sldId id="742" r:id="rId7"/>
    <p:sldId id="743" r:id="rId8"/>
    <p:sldId id="744" r:id="rId9"/>
    <p:sldId id="745" r:id="rId10"/>
    <p:sldId id="747" r:id="rId11"/>
    <p:sldId id="746" r:id="rId12"/>
    <p:sldId id="751" r:id="rId13"/>
    <p:sldId id="752" r:id="rId14"/>
    <p:sldId id="748" r:id="rId15"/>
    <p:sldId id="749" r:id="rId16"/>
    <p:sldId id="750" r:id="rId17"/>
    <p:sldId id="753" r:id="rId18"/>
    <p:sldId id="755" r:id="rId19"/>
    <p:sldId id="754" r:id="rId20"/>
    <p:sldId id="756" r:id="rId21"/>
    <p:sldId id="757" r:id="rId22"/>
    <p:sldId id="759" r:id="rId23"/>
    <p:sldId id="758" r:id="rId24"/>
    <p:sldId id="760" r:id="rId25"/>
    <p:sldId id="761" r:id="rId26"/>
    <p:sldId id="762" r:id="rId27"/>
    <p:sldId id="7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448"/>
    <a:srgbClr val="AFDDE5"/>
    <a:srgbClr val="0FA4AF"/>
    <a:srgbClr val="964734"/>
    <a:srgbClr val="024950"/>
    <a:srgbClr val="003135"/>
    <a:srgbClr val="3E9BB6"/>
    <a:srgbClr val="4472C4"/>
    <a:srgbClr val="FFFFFF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118" autoAdjust="0"/>
  </p:normalViewPr>
  <p:slideViewPr>
    <p:cSldViewPr snapToGrid="0" showGuides="1">
      <p:cViewPr varScale="1">
        <p:scale>
          <a:sx n="83" d="100"/>
          <a:sy n="83" d="100"/>
        </p:scale>
        <p:origin x="566" y="77"/>
      </p:cViewPr>
      <p:guideLst>
        <p:guide orient="horz" pos="218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0180-84BE-40D1-AD0F-554207F0762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F74AD-8D6C-43B6-B1C6-FE3F682FD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C1E-4C7F-A878-414C-79C5E3E6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D051-38C1-EA20-F458-44F8204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1AE3-7CCF-E5B6-58CC-B0857155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166-ADBF-25B2-A049-29815D5B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D86-2C0A-BFF2-8732-1F71650F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9A4-F78B-B3DE-78E0-7D6047FD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6C58-2B2E-3F01-853B-1443D696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3EC-1AA7-6F81-24FF-B8AA833D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EC07-152A-921F-2971-6042E13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D60-83BC-11A0-D51E-510FD8A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153C-B5F3-7513-9B72-5B3091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FE70-4A27-1676-F288-4C28F5E8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7D07-9061-BE97-7C70-F717B9C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AFD5-6612-BF83-471C-84795AF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D685-21C2-11DB-B8C1-F68F86C6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D37-4A87-64E0-7A79-D807B37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A7C8-C395-1B55-CC51-0C79B94F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CBE8F-5789-ED85-1392-3786A5E29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DBC-C43D-4768-724D-E2CE51F1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FE2-EE2B-058F-2CB6-2D30089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F52-9E7E-8809-0726-50EC48F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AFA-CDCE-51AB-859D-36F3418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D6E7-964A-C4FD-0295-4760420F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35A7-300A-5FC2-1235-0ACACFF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20995-71C2-1430-4E57-2C0ACDF8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B71D-399D-AB8B-E49E-912455E95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D760-FE88-FCB3-7649-F651DB59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5E49-8CF9-F6C9-4985-16181C9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7116F-4113-9328-CE3A-1F1D50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F5-B2BC-E1D1-37A2-3D55285A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16BD2-0039-1449-3305-FFB7A79A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3673-85F6-BD5D-1883-38D897B0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5289-801F-F3F1-0A71-1A7313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92EEE-7079-ED29-138A-9D8758A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7D5B-4830-8B00-D653-B796633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F190-ACB7-8CB0-C7C8-59F8494A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FC45-2F09-1123-24C6-80A6524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9951-9A5D-CA64-8299-A53E4813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AD71-A4B9-C25C-00C1-A5C615D3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4768-C351-0DFD-E670-02367547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C3EC-E4AE-D04E-4B4A-DF23231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B4EA-EE7C-94CF-4E6D-48B200ED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2CA1-FA93-8D54-65D2-3C73A038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967F-2C69-7017-B4CB-EF940538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A17B-8376-481D-7360-46F6A8D0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B10D-2CD1-BB7E-35C9-F8C76A6C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A012-800A-2C98-8922-C119FC1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7343-B329-DABB-CDED-0A050FA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379-2B99-FA61-CF2A-C4357F4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183E-0625-1D69-A288-2CD465626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F39F-5CF9-2556-9F9A-AAFE681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283E-F7E4-B6AD-FFBA-BE311863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6770-4142-C5B9-D9E0-C6B1F182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707E1-FC0C-342B-5E52-ADE06998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554A-DC20-BFD0-F9AB-AB4AAC948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DDE0-B96D-2CC7-4067-57725D4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FFBB-806E-8018-91A4-BA029D0E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1F76-948C-2FEA-64DB-1632CA18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9098-C80B-66CD-69E8-C5D08097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EB8A-2EFB-6553-F313-16E987B15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18A2-D8F9-2B50-6D0D-A1670D0F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B32C-7331-4D14-8CE8-DF47C2DB7E1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E8D3-8D2E-A16D-CA4C-CAEA982AF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0563-605D-7C96-0078-9467F201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539C5-9975-1037-E086-4BF0AF8A003B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Futura T OT" panose="02000000000000000000" pitchFamily="50" charset="0"/>
              </a:rPr>
              <a:t>Syllabus of Embedded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2196E-B3A3-2C76-E90D-A9080CBC6C97}"/>
              </a:ext>
            </a:extLst>
          </p:cNvPr>
          <p:cNvSpPr txBox="1"/>
          <p:nvPr/>
        </p:nvSpPr>
        <p:spPr>
          <a:xfrm>
            <a:off x="2019300" y="2589937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Unit 4: Embedded System Design Using VHDL (5 </a:t>
            </a:r>
            <a:r>
              <a:rPr lang="en-US" dirty="0" err="1">
                <a:solidFill>
                  <a:srgbClr val="FF0000"/>
                </a:solidFill>
                <a:latin typeface="Futura T OT" panose="02000000000000000000" pitchFamily="50" charset="0"/>
              </a:rPr>
              <a:t>Hrs</a:t>
            </a:r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)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4.1 Introduction to VHDL</a:t>
            </a:r>
          </a:p>
          <a:p>
            <a:r>
              <a:rPr lang="en-US" dirty="0">
                <a:latin typeface="Futura T OT" panose="02000000000000000000" pitchFamily="50" charset="0"/>
              </a:rPr>
              <a:t>4.2 Different modeling styles in VHDL for combinational and sequential circuits</a:t>
            </a:r>
          </a:p>
          <a:p>
            <a:r>
              <a:rPr lang="en-US" dirty="0">
                <a:latin typeface="Futura T OT" panose="02000000000000000000" pitchFamily="50" charset="0"/>
              </a:rPr>
              <a:t>4.3 Data types in VHDL</a:t>
            </a:r>
          </a:p>
          <a:p>
            <a:r>
              <a:rPr lang="en-US" dirty="0">
                <a:latin typeface="Futura T OT" panose="02000000000000000000" pitchFamily="50" charset="0"/>
              </a:rPr>
              <a:t>4.4 Sub program and Packages</a:t>
            </a:r>
          </a:p>
          <a:p>
            <a:r>
              <a:rPr lang="en-US" dirty="0">
                <a:latin typeface="Futura T OT" panose="02000000000000000000" pitchFamily="50" charset="0"/>
              </a:rPr>
              <a:t>4.5 VHDL realization for combinational and sequential circuits</a:t>
            </a:r>
          </a:p>
        </p:txBody>
      </p:sp>
    </p:spTree>
    <p:extLst>
      <p:ext uri="{BB962C8B-B14F-4D97-AF65-F5344CB8AC3E}">
        <p14:creationId xmlns:p14="http://schemas.microsoft.com/office/powerpoint/2010/main" val="250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8F8B4-C108-2A77-794A-A63FBC5A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F1E08-00F3-2AE4-5A5F-83BDE1DA5E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DFA88-96B1-7618-4C82-771F04C75099}"/>
              </a:ext>
            </a:extLst>
          </p:cNvPr>
          <p:cNvSpPr txBox="1"/>
          <p:nvPr/>
        </p:nvSpPr>
        <p:spPr>
          <a:xfrm>
            <a:off x="706555" y="1531708"/>
            <a:ext cx="10778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VHDL, or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Very High-Speed Integrated Circuit Hardware Description Language</a:t>
            </a:r>
            <a:r>
              <a:rPr lang="en-US" sz="2800" dirty="0">
                <a:latin typeface="Futura T OT" panose="02000000000000000000" pitchFamily="50" charset="0"/>
              </a:rPr>
              <a:t>, was developed in early 1980s.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It becomes an IEEE standard in 1987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IEEE 1076</a:t>
            </a:r>
            <a:r>
              <a:rPr lang="en-US" sz="2800" dirty="0">
                <a:latin typeface="Futura T OT" panose="02000000000000000000" pitchFamily="50" charset="0"/>
              </a:rPr>
              <a:t>).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It provides a standardized way to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describe</a:t>
            </a:r>
            <a:r>
              <a:rPr lang="en-US" sz="2800" dirty="0">
                <a:latin typeface="Futura T OT" panose="02000000000000000000" pitchFamily="50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simulate</a:t>
            </a:r>
            <a:r>
              <a:rPr lang="en-US" sz="2800" dirty="0">
                <a:latin typeface="Futura T OT" panose="02000000000000000000" pitchFamily="50" charset="0"/>
              </a:rPr>
              <a:t> the behavior of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digital circuits </a:t>
            </a:r>
            <a:r>
              <a:rPr lang="en-US" sz="2800" dirty="0">
                <a:latin typeface="Futura T OT" panose="02000000000000000000" pitchFamily="50" charset="0"/>
              </a:rPr>
              <a:t>before their implementation.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It can describe complex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digital logic </a:t>
            </a:r>
            <a:r>
              <a:rPr lang="en-US" sz="2800" dirty="0">
                <a:latin typeface="Futura T OT" panose="02000000000000000000" pitchFamily="50" charset="0"/>
              </a:rPr>
              <a:t>at various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levels of abstraction</a:t>
            </a:r>
            <a:r>
              <a:rPr lang="en-US" sz="2800" dirty="0">
                <a:latin typeface="Futura T OT" panose="020000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4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080B9-6476-CA09-3860-74995D11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B68C1-508F-A4B9-6300-1AFA493C328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65924-3451-2E66-C9F1-3267F2F1177F}"/>
              </a:ext>
            </a:extLst>
          </p:cNvPr>
          <p:cNvSpPr txBox="1"/>
          <p:nvPr/>
        </p:nvSpPr>
        <p:spPr>
          <a:xfrm>
            <a:off x="744656" y="1012954"/>
            <a:ext cx="1077888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Key benefits includes: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High Level Abstraction</a:t>
            </a:r>
            <a:r>
              <a:rPr lang="en-US" sz="2800" dirty="0">
                <a:latin typeface="Futura T OT" panose="02000000000000000000" pitchFamily="50" charset="0"/>
              </a:rPr>
              <a:t>: Digital circuits can be modeled in various levels.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Simulation before Implementation</a:t>
            </a:r>
            <a:r>
              <a:rPr lang="en-US" sz="2800" dirty="0">
                <a:latin typeface="Futura T OT" panose="02000000000000000000" pitchFamily="50" charset="0"/>
              </a:rPr>
              <a:t>: Circuits can be verified through simulation.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Hardware Portability</a:t>
            </a:r>
            <a:r>
              <a:rPr lang="en-US" sz="2800" dirty="0">
                <a:latin typeface="Futura T OT" panose="02000000000000000000" pitchFamily="50" charset="0"/>
              </a:rPr>
              <a:t>: Can be synthesized for different target devices.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Concurrent Design</a:t>
            </a:r>
            <a:r>
              <a:rPr lang="en-US" sz="2800" dirty="0">
                <a:latin typeface="Futura T OT" panose="02000000000000000000" pitchFamily="50" charset="0"/>
              </a:rPr>
              <a:t>: Supports concurrent operations, aligning with nature of digital circuits.</a:t>
            </a:r>
          </a:p>
        </p:txBody>
      </p:sp>
    </p:spTree>
    <p:extLst>
      <p:ext uri="{BB962C8B-B14F-4D97-AF65-F5344CB8AC3E}">
        <p14:creationId xmlns:p14="http://schemas.microsoft.com/office/powerpoint/2010/main" val="84704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4E392-4A5D-58BF-173D-1E823FDD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C2A75-D724-604D-6549-9B3C81A69A8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7F079-1999-BF04-CE58-ACBE4FB91476}"/>
              </a:ext>
            </a:extLst>
          </p:cNvPr>
          <p:cNvSpPr txBox="1"/>
          <p:nvPr/>
        </p:nvSpPr>
        <p:spPr>
          <a:xfrm>
            <a:off x="744656" y="1012954"/>
            <a:ext cx="107788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Basic Blocks of a VHDL program: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Entity</a:t>
            </a:r>
            <a:r>
              <a:rPr lang="en-US" sz="2800" dirty="0">
                <a:latin typeface="Futura T OT" panose="02000000000000000000" pitchFamily="50" charset="0"/>
              </a:rPr>
              <a:t>: Defines external interface, specifying the input and output ports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sz="2800" dirty="0">
                <a:latin typeface="Futura T OT" panose="02000000000000000000" pitchFamily="50" charset="0"/>
              </a:rPr>
              <a:t>: Defines the internal working of the entity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Package</a:t>
            </a:r>
            <a:r>
              <a:rPr lang="en-US" sz="2800" dirty="0">
                <a:latin typeface="Futura T OT" panose="02000000000000000000" pitchFamily="50" charset="0"/>
              </a:rPr>
              <a:t>: Defines global elements such as data types, constants, and functions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Configuration</a:t>
            </a:r>
            <a:r>
              <a:rPr lang="en-US" sz="2800" dirty="0">
                <a:latin typeface="Futura T OT" panose="02000000000000000000" pitchFamily="50" charset="0"/>
              </a:rPr>
              <a:t>: Allows designers to bind entities with their corresponding architecture.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Library</a:t>
            </a:r>
            <a:r>
              <a:rPr lang="en-US" sz="2800" dirty="0">
                <a:latin typeface="Futura T OT" panose="02000000000000000000" pitchFamily="50" charset="0"/>
              </a:rPr>
              <a:t>: Defines various design units</a:t>
            </a:r>
          </a:p>
        </p:txBody>
      </p:sp>
    </p:spTree>
    <p:extLst>
      <p:ext uri="{BB962C8B-B14F-4D97-AF65-F5344CB8AC3E}">
        <p14:creationId xmlns:p14="http://schemas.microsoft.com/office/powerpoint/2010/main" val="383166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4CA4C-675F-3FBB-8D41-5C9F0534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DAB7B1-6EA5-0A4A-383F-94E5F3A294A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A0119-64DF-B1D5-DB66-3521B9CF30D3}"/>
              </a:ext>
            </a:extLst>
          </p:cNvPr>
          <p:cNvSpPr txBox="1"/>
          <p:nvPr/>
        </p:nvSpPr>
        <p:spPr>
          <a:xfrm>
            <a:off x="744656" y="1697385"/>
            <a:ext cx="107788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Structure of an Entity: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entity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 err="1">
                <a:solidFill>
                  <a:srgbClr val="3E9BB6"/>
                </a:solidFill>
                <a:latin typeface="Futura T OT" panose="02000000000000000000" pitchFamily="50" charset="0"/>
              </a:rPr>
              <a:t>entity_name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port</a:t>
            </a:r>
            <a:r>
              <a:rPr lang="en-US" sz="2800" dirty="0">
                <a:latin typeface="Futura T OT" panose="02000000000000000000" pitchFamily="50" charset="0"/>
              </a:rPr>
              <a:t> (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signal_name1 : 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mode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type</a:t>
            </a:r>
            <a:r>
              <a:rPr lang="en-US" sz="2800" dirty="0">
                <a:latin typeface="Futura T OT" panose="02000000000000000000" pitchFamily="50" charset="0"/>
              </a:rPr>
              <a:t>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signal_name2 : 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mode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type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);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end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 err="1">
                <a:solidFill>
                  <a:srgbClr val="3E9BB6"/>
                </a:solidFill>
                <a:latin typeface="Futura T OT" panose="02000000000000000000" pitchFamily="50" charset="0"/>
              </a:rPr>
              <a:t>entity_name</a:t>
            </a:r>
            <a:r>
              <a:rPr lang="en-US" sz="2800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9212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0B06E-95EF-E383-A016-7819DB4A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10AD3-B0FE-C688-4271-455774B4EB87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1792F-3301-59E1-5E41-6B3BCC2B22B7}"/>
              </a:ext>
            </a:extLst>
          </p:cNvPr>
          <p:cNvSpPr txBox="1"/>
          <p:nvPr/>
        </p:nvSpPr>
        <p:spPr>
          <a:xfrm>
            <a:off x="744656" y="1697385"/>
            <a:ext cx="107788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Structure of an Architecture: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 err="1">
                <a:solidFill>
                  <a:srgbClr val="3E9BB6"/>
                </a:solidFill>
                <a:latin typeface="Futura T OT" panose="02000000000000000000" pitchFamily="50" charset="0"/>
              </a:rPr>
              <a:t>architecture_name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of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 err="1">
                <a:solidFill>
                  <a:srgbClr val="3E9BB6"/>
                </a:solidFill>
                <a:latin typeface="Futura T OT" panose="02000000000000000000" pitchFamily="50" charset="0"/>
              </a:rPr>
              <a:t>entity_name</a:t>
            </a:r>
            <a:r>
              <a:rPr lang="en-US" sz="2800" dirty="0">
                <a:solidFill>
                  <a:srgbClr val="3E9BB6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  </a:t>
            </a:r>
            <a:r>
              <a:rPr lang="en-US" sz="2800" dirty="0">
                <a:latin typeface="Futura T OT" panose="02000000000000000000" pitchFamily="50" charset="0"/>
              </a:rPr>
              <a:t>{</a:t>
            </a:r>
            <a:r>
              <a:rPr lang="en-US" sz="2800" dirty="0" err="1">
                <a:latin typeface="Futura T OT" panose="02000000000000000000" pitchFamily="50" charset="0"/>
              </a:rPr>
              <a:t>architecture_declarative_part</a:t>
            </a:r>
            <a:r>
              <a:rPr lang="en-US" sz="2800" dirty="0">
                <a:latin typeface="Futura T OT" panose="02000000000000000000" pitchFamily="50" charset="0"/>
              </a:rPr>
              <a:t>}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begin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{</a:t>
            </a:r>
            <a:r>
              <a:rPr lang="en-US" sz="2800" dirty="0" err="1">
                <a:latin typeface="Futura T OT" panose="02000000000000000000" pitchFamily="50" charset="0"/>
              </a:rPr>
              <a:t>conc_stment</a:t>
            </a:r>
            <a:r>
              <a:rPr lang="en-US" sz="2800" dirty="0">
                <a:latin typeface="Futura T OT" panose="02000000000000000000" pitchFamily="50" charset="0"/>
              </a:rPr>
              <a:t>}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end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 err="1">
                <a:solidFill>
                  <a:srgbClr val="3E9BB6"/>
                </a:solidFill>
                <a:latin typeface="Futura T OT" panose="02000000000000000000" pitchFamily="50" charset="0"/>
              </a:rPr>
              <a:t>architecture_name</a:t>
            </a:r>
            <a:r>
              <a:rPr lang="en-US" sz="2800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17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0317B-C8DC-A898-6095-6140F59F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FF35F-12A4-FA60-7CCF-51D587A0556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8EDE5-BCF3-9DFB-11AD-C520E18FD684}"/>
              </a:ext>
            </a:extLst>
          </p:cNvPr>
          <p:cNvSpPr txBox="1"/>
          <p:nvPr/>
        </p:nvSpPr>
        <p:spPr>
          <a:xfrm>
            <a:off x="744656" y="1012954"/>
            <a:ext cx="107788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Basic language elements: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Identifiers</a:t>
            </a:r>
            <a:r>
              <a:rPr lang="en-US" sz="2800" dirty="0">
                <a:latin typeface="Futura T OT" panose="02000000000000000000" pitchFamily="50" charset="0"/>
              </a:rPr>
              <a:t>: Names used to represent various elements in VHDL.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Data Objects in VHDL</a:t>
            </a:r>
            <a:r>
              <a:rPr lang="en-US" sz="2800" dirty="0">
                <a:latin typeface="Futura T OT" panose="02000000000000000000" pitchFamily="50" charset="0"/>
              </a:rPr>
              <a:t>: Used to hold values of a specified type and are created using object declaration.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Data types</a:t>
            </a:r>
            <a:r>
              <a:rPr lang="en-US" sz="2800" dirty="0">
                <a:latin typeface="Futura T OT" panose="02000000000000000000" pitchFamily="50" charset="0"/>
              </a:rPr>
              <a:t>: They define the nature and behavior of the values that can be assigned to variables, signals and other elements within a design.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Operators</a:t>
            </a:r>
            <a:r>
              <a:rPr lang="en-US" sz="2800" dirty="0">
                <a:latin typeface="Futura T OT" panose="02000000000000000000" pitchFamily="50" charset="0"/>
              </a:rPr>
              <a:t>: They allow designers to perform various operations on data objects such as signals, variables and constants.</a:t>
            </a:r>
          </a:p>
        </p:txBody>
      </p:sp>
    </p:spTree>
    <p:extLst>
      <p:ext uri="{BB962C8B-B14F-4D97-AF65-F5344CB8AC3E}">
        <p14:creationId xmlns:p14="http://schemas.microsoft.com/office/powerpoint/2010/main" val="20825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BD74A-EAA5-2B64-3663-88C285CE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8DE507-D5D8-C776-F284-522FB4118D5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40851-9C9A-D5D0-DD1F-FA2BDA8C2B16}"/>
              </a:ext>
            </a:extLst>
          </p:cNvPr>
          <p:cNvSpPr txBox="1"/>
          <p:nvPr/>
        </p:nvSpPr>
        <p:spPr>
          <a:xfrm>
            <a:off x="744656" y="1012954"/>
            <a:ext cx="107788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Rules for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Identifiers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Starting Characters </a:t>
            </a:r>
            <a:r>
              <a:rPr lang="en-US" sz="2800" dirty="0">
                <a:latin typeface="Futura T OT" panose="02000000000000000000" pitchFamily="50" charset="0"/>
              </a:rPr>
              <a:t>must be a letter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(A-Z or a-z)</a:t>
            </a: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Can include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 letters, digits and underscores.</a:t>
            </a: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Two consecutive underscores </a:t>
            </a:r>
            <a:r>
              <a:rPr lang="en-US" sz="2800" dirty="0">
                <a:latin typeface="Futura T OT" panose="02000000000000000000" pitchFamily="50" charset="0"/>
              </a:rPr>
              <a:t>and identifier that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end with underscore </a:t>
            </a:r>
            <a:r>
              <a:rPr lang="en-US" sz="2800" dirty="0">
                <a:latin typeface="Futura T OT" panose="02000000000000000000" pitchFamily="50" charset="0"/>
              </a:rPr>
              <a:t>are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not allowed.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VHDL is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case insensitive.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Comments</a:t>
            </a:r>
            <a:r>
              <a:rPr lang="en-US" sz="2800" dirty="0">
                <a:latin typeface="Futura T OT" panose="02000000000000000000" pitchFamily="50" charset="0"/>
              </a:rPr>
              <a:t> in VHDL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start with - - </a:t>
            </a:r>
            <a:r>
              <a:rPr lang="en-US" sz="2800" dirty="0">
                <a:latin typeface="Futura T OT" panose="02000000000000000000" pitchFamily="50" charset="0"/>
              </a:rPr>
              <a:t>and continue until the end of the line.</a:t>
            </a:r>
          </a:p>
        </p:txBody>
      </p:sp>
    </p:spTree>
    <p:extLst>
      <p:ext uri="{BB962C8B-B14F-4D97-AF65-F5344CB8AC3E}">
        <p14:creationId xmlns:p14="http://schemas.microsoft.com/office/powerpoint/2010/main" val="235341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32853-0E2B-D9E1-306E-43A61DDF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65FBEA-A24B-B35F-3633-3069FF9E8D4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6302C-3030-1B0E-E378-70F2098EE472}"/>
              </a:ext>
            </a:extLst>
          </p:cNvPr>
          <p:cNvSpPr txBox="1"/>
          <p:nvPr/>
        </p:nvSpPr>
        <p:spPr>
          <a:xfrm>
            <a:off x="744656" y="1012954"/>
            <a:ext cx="107788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Data Objects in VHDL: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Constant</a:t>
            </a:r>
            <a:r>
              <a:rPr lang="en-US" sz="2800" dirty="0">
                <a:latin typeface="Futura T OT" panose="02000000000000000000" pitchFamily="50" charset="0"/>
              </a:rPr>
              <a:t>: Holds a fixed value that cannot change during the simulation</a:t>
            </a:r>
          </a:p>
          <a:p>
            <a:pPr algn="ctr"/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constant &lt;name&gt;:&lt;type&gt;:=&lt;value&gt;;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Variable</a:t>
            </a:r>
            <a:r>
              <a:rPr lang="en-US" sz="2800" dirty="0">
                <a:latin typeface="Futura T OT" panose="02000000000000000000" pitchFamily="50" charset="0"/>
              </a:rPr>
              <a:t>: holds a value, which can be changed during the execution of a process.</a:t>
            </a:r>
          </a:p>
          <a:p>
            <a:pPr algn="ctr"/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variable &lt;name&gt;:&lt;type&gt;:=&lt;</a:t>
            </a:r>
            <a:r>
              <a:rPr lang="en-US" sz="2800" i="1" dirty="0" err="1">
                <a:solidFill>
                  <a:srgbClr val="00B0F0"/>
                </a:solidFill>
                <a:latin typeface="Futura T OT" panose="02000000000000000000" pitchFamily="50" charset="0"/>
              </a:rPr>
              <a:t>initial_value</a:t>
            </a:r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&gt;;</a:t>
            </a:r>
            <a:endParaRPr lang="en-US" sz="2800" dirty="0">
              <a:solidFill>
                <a:srgbClr val="00B0F0"/>
              </a:solidFill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Signal</a:t>
            </a:r>
            <a:r>
              <a:rPr lang="en-US" sz="2800" dirty="0">
                <a:latin typeface="Futura T OT" panose="02000000000000000000" pitchFamily="50" charset="0"/>
              </a:rPr>
              <a:t>: They are used for communication between different processes or between different parts of a design.</a:t>
            </a:r>
          </a:p>
          <a:p>
            <a:pPr algn="ctr"/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signal &lt;name&gt;:&lt;type&gt;:=&lt;</a:t>
            </a:r>
            <a:r>
              <a:rPr lang="en-US" sz="2800" i="1" dirty="0" err="1">
                <a:solidFill>
                  <a:srgbClr val="00B0F0"/>
                </a:solidFill>
                <a:latin typeface="Futura T OT" panose="02000000000000000000" pitchFamily="50" charset="0"/>
              </a:rPr>
              <a:t>initial_value</a:t>
            </a:r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&gt;;</a:t>
            </a:r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File</a:t>
            </a:r>
            <a:r>
              <a:rPr lang="en-US" sz="2800" dirty="0">
                <a:latin typeface="Futura T OT" panose="02000000000000000000" pitchFamily="50" charset="0"/>
              </a:rPr>
              <a:t>: They allows reading from or writing to an external file during simulation.</a:t>
            </a:r>
          </a:p>
          <a:p>
            <a:pPr algn="ctr"/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file &lt;name&gt;:&lt;type&gt; is &lt;</a:t>
            </a:r>
            <a:r>
              <a:rPr lang="en-US" sz="2800" i="1" dirty="0" err="1">
                <a:solidFill>
                  <a:srgbClr val="00B0F0"/>
                </a:solidFill>
                <a:latin typeface="Futura T OT" panose="02000000000000000000" pitchFamily="50" charset="0"/>
              </a:rPr>
              <a:t>external_file</a:t>
            </a:r>
            <a:r>
              <a:rPr lang="en-US" sz="2800" i="1" dirty="0">
                <a:solidFill>
                  <a:srgbClr val="00B0F0"/>
                </a:solidFill>
                <a:latin typeface="Futura T OT" panose="02000000000000000000" pitchFamily="50" charset="0"/>
              </a:rPr>
              <a:t>&gt;;</a:t>
            </a:r>
            <a:endParaRPr lang="en-US" sz="28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03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38503-2FD3-5C72-8AA3-20A96D17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D0CB2-A768-FAAF-5B16-93D41830872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15214-C11A-6B42-8D70-7090A8754055}"/>
              </a:ext>
            </a:extLst>
          </p:cNvPr>
          <p:cNvSpPr txBox="1"/>
          <p:nvPr/>
        </p:nvSpPr>
        <p:spPr>
          <a:xfrm>
            <a:off x="744656" y="101295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Predefined Data Types: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1A941-5FFF-4573-4468-3867B4F9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7" y="2453852"/>
            <a:ext cx="9762066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67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F657F-39FB-8C31-937C-64A09B2C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3A3F5-D38E-CA0A-1789-59D91469468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VHDL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B9131-89EB-350C-5D86-11F1FF6EDA44}"/>
              </a:ext>
            </a:extLst>
          </p:cNvPr>
          <p:cNvSpPr txBox="1"/>
          <p:nvPr/>
        </p:nvSpPr>
        <p:spPr>
          <a:xfrm>
            <a:off x="744656" y="1481941"/>
            <a:ext cx="10778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User Defined Data Types: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Scalar Types</a:t>
            </a:r>
            <a:r>
              <a:rPr lang="en-US" sz="2800" dirty="0">
                <a:latin typeface="Futura T OT" panose="02000000000000000000" pitchFamily="50" charset="0"/>
              </a:rPr>
              <a:t>: Represent single values or variables that store only A value at a time.</a:t>
            </a:r>
          </a:p>
          <a:p>
            <a:pPr algn="ctr"/>
            <a:r>
              <a:rPr lang="en-US" sz="2800" i="1" dirty="0">
                <a:solidFill>
                  <a:srgbClr val="3E9BB6"/>
                </a:solidFill>
                <a:latin typeface="Futura T OT" panose="02000000000000000000" pitchFamily="50" charset="0"/>
              </a:rPr>
              <a:t>type </a:t>
            </a:r>
            <a:r>
              <a:rPr lang="en-US" sz="2800" i="1" dirty="0" err="1">
                <a:solidFill>
                  <a:srgbClr val="3E9BB6"/>
                </a:solidFill>
                <a:latin typeface="Futura T OT" panose="02000000000000000000" pitchFamily="50" charset="0"/>
              </a:rPr>
              <a:t>TrafficLight</a:t>
            </a:r>
            <a:r>
              <a:rPr lang="en-US" sz="2800" i="1" dirty="0">
                <a:solidFill>
                  <a:srgbClr val="3E9BB6"/>
                </a:solidFill>
                <a:latin typeface="Futura T OT" panose="02000000000000000000" pitchFamily="50" charset="0"/>
              </a:rPr>
              <a:t> is (Red, Green, Yellow);</a:t>
            </a:r>
            <a:endParaRPr lang="en-US" sz="2800" b="1" dirty="0">
              <a:solidFill>
                <a:srgbClr val="3E9BB6"/>
              </a:solidFill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Composite Types</a:t>
            </a:r>
            <a:r>
              <a:rPr lang="en-US" sz="2800" dirty="0">
                <a:latin typeface="Futura T OT" panose="02000000000000000000" pitchFamily="50" charset="0"/>
              </a:rPr>
              <a:t>: Allow for the grouping of multiple values into a single data structure </a:t>
            </a:r>
          </a:p>
          <a:p>
            <a:pPr algn="ctr"/>
            <a:r>
              <a:rPr lang="en-US" sz="2800" i="1" dirty="0">
                <a:solidFill>
                  <a:srgbClr val="3E9BB6"/>
                </a:solidFill>
                <a:latin typeface="Futura T OT" panose="02000000000000000000" pitchFamily="50" charset="0"/>
              </a:rPr>
              <a:t>type </a:t>
            </a:r>
            <a:r>
              <a:rPr lang="en-US" sz="2800" i="1" dirty="0" err="1">
                <a:solidFill>
                  <a:srgbClr val="3E9BB6"/>
                </a:solidFill>
                <a:latin typeface="Futura T OT" panose="02000000000000000000" pitchFamily="50" charset="0"/>
              </a:rPr>
              <a:t>IntArray</a:t>
            </a:r>
            <a:r>
              <a:rPr lang="en-US" sz="2800" i="1" dirty="0">
                <a:solidFill>
                  <a:srgbClr val="3E9BB6"/>
                </a:solidFill>
                <a:latin typeface="Futura T OT" panose="02000000000000000000" pitchFamily="50" charset="0"/>
              </a:rPr>
              <a:t> is array (0 to 7) of integer;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Access Types</a:t>
            </a:r>
            <a:r>
              <a:rPr lang="en-US" sz="2800" dirty="0">
                <a:latin typeface="Futura T OT" panose="02000000000000000000" pitchFamily="50" charset="0"/>
              </a:rPr>
              <a:t>: Access types in VHDL are analogous to pointers</a:t>
            </a:r>
          </a:p>
        </p:txBody>
      </p:sp>
    </p:spTree>
    <p:extLst>
      <p:ext uri="{BB962C8B-B14F-4D97-AF65-F5344CB8AC3E}">
        <p14:creationId xmlns:p14="http://schemas.microsoft.com/office/powerpoint/2010/main" val="22652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B4EAD-0F32-5043-6F9D-2EE4B5CD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B6FD5B-102D-6E46-0F0A-0E7977D6443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Test bench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A2343-B84F-1A1E-61F9-DF537302A98A}"/>
              </a:ext>
            </a:extLst>
          </p:cNvPr>
          <p:cNvSpPr txBox="1"/>
          <p:nvPr/>
        </p:nvSpPr>
        <p:spPr>
          <a:xfrm>
            <a:off x="706555" y="1912828"/>
            <a:ext cx="107788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testbench</a:t>
            </a:r>
            <a:r>
              <a:rPr lang="en-US" sz="2800" dirty="0">
                <a:latin typeface="Futura T OT" panose="02000000000000000000" pitchFamily="50" charset="0"/>
              </a:rPr>
              <a:t> is an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program</a:t>
            </a:r>
            <a:r>
              <a:rPr lang="en-US" sz="2800" dirty="0">
                <a:latin typeface="Futura T OT" panose="02000000000000000000" pitchFamily="50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written in VHDL </a:t>
            </a:r>
            <a:r>
              <a:rPr lang="en-US" sz="2800" dirty="0">
                <a:latin typeface="Futura T OT" panose="02000000000000000000" pitchFamily="50" charset="0"/>
              </a:rPr>
              <a:t>that surrounds your actual hardware design. Unlike your main design, it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does not get converted into hardware</a:t>
            </a:r>
            <a:r>
              <a:rPr lang="en-US" sz="2800" dirty="0">
                <a:latin typeface="Futura T OT" panose="02000000000000000000" pitchFamily="50" charset="0"/>
              </a:rPr>
              <a:t> (gates). Instead, it acts as a "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virtual tester</a:t>
            </a:r>
            <a:r>
              <a:rPr lang="en-US" sz="2800" dirty="0">
                <a:latin typeface="Futura T OT" panose="02000000000000000000" pitchFamily="50" charset="0"/>
              </a:rPr>
              <a:t>“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Generates input signals.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Applies them to the Design Under Test (DUT)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Observes the output to check for correctness</a:t>
            </a:r>
          </a:p>
        </p:txBody>
      </p:sp>
    </p:spTree>
    <p:extLst>
      <p:ext uri="{BB962C8B-B14F-4D97-AF65-F5344CB8AC3E}">
        <p14:creationId xmlns:p14="http://schemas.microsoft.com/office/powerpoint/2010/main" val="177322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564B8-F2ED-80C4-29ED-FEB37BAD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8AB3C-EB6B-3858-414B-FF4E619E182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Test bench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B7506-ABA1-AF0F-584D-F58EE16A24AE}"/>
              </a:ext>
            </a:extLst>
          </p:cNvPr>
          <p:cNvSpPr txBox="1"/>
          <p:nvPr/>
        </p:nvSpPr>
        <p:spPr>
          <a:xfrm>
            <a:off x="706555" y="932615"/>
            <a:ext cx="107788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standard procedure</a:t>
            </a:r>
            <a:r>
              <a:rPr lang="en-US" sz="2800" dirty="0">
                <a:latin typeface="Futura T OT" panose="02000000000000000000" pitchFamily="50" charset="0"/>
              </a:rPr>
              <a:t> for building Testbench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Empty Entity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Futura T OT" panose="02000000000000000000" pitchFamily="50" charset="0"/>
              </a:rPr>
              <a:t>Component </a:t>
            </a:r>
            <a:r>
              <a:rPr lang="en-US" sz="2800" dirty="0">
                <a:latin typeface="Futura T OT" panose="02000000000000000000" pitchFamily="50" charset="0"/>
              </a:rPr>
              <a:t>Declaration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Signal Declaration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DUT(Design Under Test) Instantiation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Clock Generation (if design is sequential)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Stimulus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4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F8C69-DDAB-D817-B98B-24217601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CDEE0-F08A-055D-AD2E-A8EA3232CE0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059E8-3DB7-9074-8C2F-3522B99594BA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Test bench for AND 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257CE-8E75-D927-9090-427B5ADEB0E0}"/>
              </a:ext>
            </a:extLst>
          </p:cNvPr>
          <p:cNvSpPr txBox="1"/>
          <p:nvPr/>
        </p:nvSpPr>
        <p:spPr>
          <a:xfrm>
            <a:off x="439856" y="1210834"/>
            <a:ext cx="4095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ieee.std_logic_1164.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all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and_gate_tb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and_gate_tb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arc_and_tb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and_gate_tb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and_gate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a,b</a:t>
            </a:r>
            <a:r>
              <a:rPr lang="en-US" dirty="0">
                <a:latin typeface="Futura T OT" panose="02000000000000000000" pitchFamily="50" charset="0"/>
              </a:rPr>
              <a:t> : 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c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E3680-B28F-99C0-AEDA-4E245F39C1CF}"/>
              </a:ext>
            </a:extLst>
          </p:cNvPr>
          <p:cNvSpPr txBox="1"/>
          <p:nvPr/>
        </p:nvSpPr>
        <p:spPr>
          <a:xfrm>
            <a:off x="4887165" y="1166842"/>
            <a:ext cx="409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T OT" panose="02000000000000000000" pitchFamily="50" charset="0"/>
              </a:rPr>
              <a:t>u1: </a:t>
            </a:r>
            <a:r>
              <a:rPr lang="en-US" dirty="0" err="1">
                <a:latin typeface="Futura T OT" panose="02000000000000000000" pitchFamily="50" charset="0"/>
              </a:rPr>
              <a:t>and_gate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map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>
                <a:latin typeface="Futura T OT" panose="02000000000000000000" pitchFamily="50" charset="0"/>
              </a:rPr>
              <a:t>a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b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c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latin typeface="Futura T OT" panose="02000000000000000000" pitchFamily="50" charset="0"/>
              </a:rPr>
              <a:t>atb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DFEA7-36D6-6315-1FB1-3910EA9555C1}"/>
              </a:ext>
            </a:extLst>
          </p:cNvPr>
          <p:cNvSpPr txBox="1"/>
          <p:nvPr/>
        </p:nvSpPr>
        <p:spPr>
          <a:xfrm>
            <a:off x="8872656" y="1166841"/>
            <a:ext cx="3143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latin typeface="Futura T OT" panose="02000000000000000000" pitchFamily="50" charset="0"/>
              </a:rPr>
              <a:t>arc_and_tb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049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6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DCC7A-35EB-FABE-AB0C-F04F30FB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3B74A-15A4-CB69-1EAE-299A350902D1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F9B29-ECAC-4678-45DA-500BD8777B8A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Test bench for OR 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72277-A49E-9633-A628-A32CD41285DD}"/>
              </a:ext>
            </a:extLst>
          </p:cNvPr>
          <p:cNvSpPr txBox="1"/>
          <p:nvPr/>
        </p:nvSpPr>
        <p:spPr>
          <a:xfrm>
            <a:off x="439856" y="1210834"/>
            <a:ext cx="4095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ieee.std_logic_1164.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all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or_gate_tb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or_gate_tb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arc_or_tb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and_or_tb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or_gate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a,b</a:t>
            </a:r>
            <a:r>
              <a:rPr lang="en-US" dirty="0">
                <a:latin typeface="Futura T OT" panose="02000000000000000000" pitchFamily="50" charset="0"/>
              </a:rPr>
              <a:t> : 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c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B4CAC-DF6B-FAC6-7B28-BDF4936D9B63}"/>
              </a:ext>
            </a:extLst>
          </p:cNvPr>
          <p:cNvSpPr txBox="1"/>
          <p:nvPr/>
        </p:nvSpPr>
        <p:spPr>
          <a:xfrm>
            <a:off x="4887165" y="1166842"/>
            <a:ext cx="409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T OT" panose="02000000000000000000" pitchFamily="50" charset="0"/>
              </a:rPr>
              <a:t>u1: </a:t>
            </a:r>
            <a:r>
              <a:rPr lang="en-US" dirty="0" err="1">
                <a:latin typeface="Futura T OT" panose="02000000000000000000" pitchFamily="50" charset="0"/>
              </a:rPr>
              <a:t>or_gate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map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>
                <a:latin typeface="Futura T OT" panose="02000000000000000000" pitchFamily="50" charset="0"/>
              </a:rPr>
              <a:t>a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b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c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latin typeface="Futura T OT" panose="02000000000000000000" pitchFamily="50" charset="0"/>
              </a:rPr>
              <a:t>otb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08D70-EA22-A6A1-4C53-84AF30A90933}"/>
              </a:ext>
            </a:extLst>
          </p:cNvPr>
          <p:cNvSpPr txBox="1"/>
          <p:nvPr/>
        </p:nvSpPr>
        <p:spPr>
          <a:xfrm>
            <a:off x="8872656" y="1166841"/>
            <a:ext cx="3143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arc_or_tb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5645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6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6202E-D263-A467-A427-DF25A19B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CE7BF-01AF-48AB-4161-50B29BC0809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5EA70-FFBA-0D24-6F13-860DE24EA6EB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Test bench for Half-adder 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9D065-78C1-5FA2-D70C-2EFB62AC3C11}"/>
              </a:ext>
            </a:extLst>
          </p:cNvPr>
          <p:cNvSpPr txBox="1"/>
          <p:nvPr/>
        </p:nvSpPr>
        <p:spPr>
          <a:xfrm>
            <a:off x="439856" y="1210834"/>
            <a:ext cx="409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ieee.std_logic_1164.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all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ha_gate_tb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ha_gate_tb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arc_ha_tb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and_ha_tb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ha_gate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a,b</a:t>
            </a:r>
            <a:r>
              <a:rPr lang="en-US" dirty="0">
                <a:latin typeface="Futura T OT" panose="02000000000000000000" pitchFamily="50" charset="0"/>
              </a:rPr>
              <a:t> : 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c,s</a:t>
            </a:r>
            <a:r>
              <a:rPr lang="en-US" dirty="0">
                <a:latin typeface="Futura T OT" panose="02000000000000000000" pitchFamily="50" charset="0"/>
              </a:rPr>
              <a:t>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>
                <a:latin typeface="Futura T OT" panose="02000000000000000000" pitchFamily="50" charset="0"/>
              </a:rPr>
              <a:t> </a:t>
            </a:r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sig_s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D5ADF-DD41-2EF6-E3A9-CFDE624E2809}"/>
              </a:ext>
            </a:extLst>
          </p:cNvPr>
          <p:cNvSpPr txBox="1"/>
          <p:nvPr/>
        </p:nvSpPr>
        <p:spPr>
          <a:xfrm>
            <a:off x="4887165" y="1166842"/>
            <a:ext cx="409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T OT" panose="02000000000000000000" pitchFamily="50" charset="0"/>
              </a:rPr>
              <a:t>u1: </a:t>
            </a:r>
            <a:r>
              <a:rPr lang="en-US" dirty="0" err="1">
                <a:latin typeface="Futura T OT" panose="02000000000000000000" pitchFamily="50" charset="0"/>
              </a:rPr>
              <a:t>ha_gate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map</a:t>
            </a:r>
            <a:r>
              <a:rPr lang="en-US" dirty="0">
                <a:latin typeface="Futura T OT" panose="02000000000000000000" pitchFamily="50" charset="0"/>
              </a:rPr>
              <a:t> (</a:t>
            </a:r>
          </a:p>
          <a:p>
            <a:r>
              <a:rPr lang="en-US" dirty="0">
                <a:latin typeface="Futura T OT" panose="02000000000000000000" pitchFamily="50" charset="0"/>
              </a:rPr>
              <a:t>a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b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c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sig_c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s =&gt;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sig_s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);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hatb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'0';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sig_a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sig_b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latin typeface="Futura T OT" panose="02000000000000000000" pitchFamily="50" charset="0"/>
              </a:rPr>
              <a:t>&lt;= '1';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latin typeface="Futura T OT" panose="02000000000000000000" pitchFamily="50" charset="0"/>
              </a:rPr>
              <a:t> 100ps;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9C3E8-3BBD-E3BF-B4B3-9B6A7E060101}"/>
              </a:ext>
            </a:extLst>
          </p:cNvPr>
          <p:cNvSpPr txBox="1"/>
          <p:nvPr/>
        </p:nvSpPr>
        <p:spPr>
          <a:xfrm>
            <a:off x="8872656" y="1166841"/>
            <a:ext cx="3143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arc_ha_tb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1975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6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10686-0799-7A48-3EEF-7FCDF144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5DC4E-AFF6-F343-5EE6-97544ABD219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C3B66-C633-03FD-5B41-0985FB66C6DB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D-flip flop(rising edge)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91996-1603-5F54-A5F0-07FA2BA5BE9B}"/>
              </a:ext>
            </a:extLst>
          </p:cNvPr>
          <p:cNvSpPr txBox="1"/>
          <p:nvPr/>
        </p:nvSpPr>
        <p:spPr>
          <a:xfrm>
            <a:off x="439856" y="1210834"/>
            <a:ext cx="47325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Futura T OT" panose="02000000000000000000" pitchFamily="50" charset="0"/>
              </a:rPr>
              <a:t>ieee.std_logic_1164.all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risingedge_dflipflop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  <a:r>
              <a:rPr lang="en-US" dirty="0">
                <a:latin typeface="Futura T OT" panose="02000000000000000000" pitchFamily="50" charset="0"/>
              </a:rPr>
              <a:t> </a:t>
            </a:r>
          </a:p>
          <a:p>
            <a:r>
              <a:rPr lang="en-US" dirty="0">
                <a:latin typeface="Futura T OT" panose="02000000000000000000" pitchFamily="50" charset="0"/>
              </a:rPr>
              <a:t>  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q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:in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d :in 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);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risingedge_dflipflop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risingedge_dflipflop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  <a:r>
              <a:rPr lang="en-US" dirty="0">
                <a:latin typeface="Futura T OT" panose="02000000000000000000" pitchFamily="50" charset="0"/>
              </a:rPr>
              <a:t>  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  <a:r>
              <a:rPr lang="en-US" dirty="0">
                <a:latin typeface="Futura T OT" panose="02000000000000000000" pitchFamily="50" charset="0"/>
              </a:rPr>
              <a:t>  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)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  <a:r>
              <a:rPr lang="en-US" dirty="0">
                <a:latin typeface="Futura T OT" panose="02000000000000000000" pitchFamily="50" charset="0"/>
              </a:rPr>
              <a:t> </a:t>
            </a:r>
          </a:p>
          <a:p>
            <a:r>
              <a:rPr lang="en-US" dirty="0">
                <a:latin typeface="Futura T OT" panose="02000000000000000000" pitchFamily="50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rising_edge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))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>
                <a:latin typeface="Futura T OT" panose="02000000000000000000" pitchFamily="50" charset="0"/>
              </a:rPr>
              <a:t>   q &lt;= d; </a:t>
            </a:r>
          </a:p>
          <a:p>
            <a:r>
              <a:rPr lang="en-US" dirty="0">
                <a:latin typeface="Futura T OT" panose="02000000000000000000" pitchFamily="50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latin typeface="Futura T OT" panose="02000000000000000000" pitchFamily="50" charset="0"/>
              </a:rPr>
              <a:t>;       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;  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1A856A-7458-F095-1C8E-9EF0C1E232B1}"/>
              </a:ext>
            </a:extLst>
          </p:cNvPr>
          <p:cNvGrpSpPr/>
          <p:nvPr/>
        </p:nvGrpSpPr>
        <p:grpSpPr>
          <a:xfrm>
            <a:off x="7019638" y="2201435"/>
            <a:ext cx="3946413" cy="2531330"/>
            <a:chOff x="6976287" y="1486560"/>
            <a:chExt cx="3946413" cy="25313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5E62FE-B019-D088-E9B3-06423F9B7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637" y="1486560"/>
              <a:ext cx="1771052" cy="25313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9" name="Freeform 741">
              <a:extLst>
                <a:ext uri="{FF2B5EF4-FFF2-40B4-BE49-F238E27FC236}">
                  <a16:creationId xmlns:a16="http://schemas.microsoft.com/office/drawing/2014/main" id="{A81F493F-24A1-5DB7-DAD8-99EE942AD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1637" y="3639948"/>
              <a:ext cx="254891" cy="250496"/>
            </a:xfrm>
            <a:custGeom>
              <a:avLst/>
              <a:gdLst>
                <a:gd name="T0" fmla="*/ 0 w 58"/>
                <a:gd name="T1" fmla="*/ 0 h 115"/>
                <a:gd name="T2" fmla="*/ 58 w 58"/>
                <a:gd name="T3" fmla="*/ 3 h 115"/>
                <a:gd name="T4" fmla="*/ 0 w 58"/>
                <a:gd name="T5" fmla="*/ 7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15">
                  <a:moveTo>
                    <a:pt x="0" y="0"/>
                  </a:moveTo>
                  <a:lnTo>
                    <a:pt x="58" y="58"/>
                  </a:lnTo>
                  <a:lnTo>
                    <a:pt x="0" y="11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Text Box 742">
              <a:extLst>
                <a:ext uri="{FF2B5EF4-FFF2-40B4-BE49-F238E27FC236}">
                  <a16:creationId xmlns:a16="http://schemas.microsoft.com/office/drawing/2014/main" id="{0E69B136-8C89-CCAB-4A35-A68B88864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810" y="1965579"/>
              <a:ext cx="408704" cy="46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D</a:t>
              </a:r>
            </a:p>
          </p:txBody>
        </p:sp>
        <p:sp>
          <p:nvSpPr>
            <p:cNvPr id="11" name="Text Box 743">
              <a:extLst>
                <a:ext uri="{FF2B5EF4-FFF2-40B4-BE49-F238E27FC236}">
                  <a16:creationId xmlns:a16="http://schemas.microsoft.com/office/drawing/2014/main" id="{0B3EED63-74EB-55B9-3ADF-2B9F91309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0812" y="1965579"/>
              <a:ext cx="421888" cy="46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Q</a:t>
              </a:r>
            </a:p>
          </p:txBody>
        </p:sp>
        <p:sp>
          <p:nvSpPr>
            <p:cNvPr id="22" name="Text Box 742">
              <a:extLst>
                <a:ext uri="{FF2B5EF4-FFF2-40B4-BE49-F238E27FC236}">
                  <a16:creationId xmlns:a16="http://schemas.microsoft.com/office/drawing/2014/main" id="{456178C1-E45B-5403-0BC5-711954D19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6287" y="3552055"/>
              <a:ext cx="435072" cy="338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 err="1"/>
                <a:t>clk</a:t>
              </a:r>
              <a:endParaRPr lang="en-US" altLang="en-US" sz="160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050879-6915-3285-F8D2-8ECB493917F2}"/>
                </a:ext>
              </a:extLst>
            </p:cNvPr>
            <p:cNvCxnSpPr/>
            <p:nvPr/>
          </p:nvCxnSpPr>
          <p:spPr>
            <a:xfrm>
              <a:off x="7611812" y="2196299"/>
              <a:ext cx="559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50E876-D7A7-31E0-F069-7BD53FC64897}"/>
                </a:ext>
              </a:extLst>
            </p:cNvPr>
            <p:cNvCxnSpPr/>
            <p:nvPr/>
          </p:nvCxnSpPr>
          <p:spPr>
            <a:xfrm>
              <a:off x="9942689" y="2196299"/>
              <a:ext cx="559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9155E07-4A4E-F726-1F51-8C7FFF5F4F9E}"/>
                </a:ext>
              </a:extLst>
            </p:cNvPr>
            <p:cNvCxnSpPr/>
            <p:nvPr/>
          </p:nvCxnSpPr>
          <p:spPr>
            <a:xfrm>
              <a:off x="7409555" y="3765196"/>
              <a:ext cx="762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326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4" fill="hold">
                          <p:stCondLst>
                            <p:cond delay="indefinite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6" end="1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">
                                                <p:txEl>
                                                  <p:pRg st="16" end="1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7" end="1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3">
                                                <p:txEl>
                                                  <p:pRg st="17" end="1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8" end="1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3">
                                                <p:txEl>
                                                  <p:pRg st="18" end="1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4" fill="hold">
                          <p:stCondLst>
                            <p:cond delay="indefinite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6" end="1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">
                                                <p:txEl>
                                                  <p:pRg st="16" end="1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7" end="1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3">
                                                <p:txEl>
                                                  <p:pRg st="17" end="1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8" end="1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3">
                                                <p:txEl>
                                                  <p:pRg st="18" end="1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allAtOnce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FFAB7-5DC6-1274-5CA8-A6B4DA67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20D32-17DC-3B8A-7243-63FB280DA9C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4369C-3DE9-FEA1-8CBB-712E7964FCF5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Testbench of D-flip flop(rising edge)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0D780-E39F-BF3E-9E7E-9DBE29E51962}"/>
              </a:ext>
            </a:extLst>
          </p:cNvPr>
          <p:cNvSpPr txBox="1"/>
          <p:nvPr/>
        </p:nvSpPr>
        <p:spPr>
          <a:xfrm>
            <a:off x="277091" y="1210834"/>
            <a:ext cx="489527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 </a:t>
            </a:r>
            <a:r>
              <a:rPr lang="en-US" dirty="0" err="1">
                <a:solidFill>
                  <a:srgbClr val="0070C0"/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 </a:t>
            </a:r>
            <a:r>
              <a:rPr lang="en-US" dirty="0">
                <a:solidFill>
                  <a:srgbClr val="0070C0"/>
                </a:solidFill>
                <a:latin typeface="Futura T OT" panose="02000000000000000000" pitchFamily="50" charset="0"/>
              </a:rPr>
              <a:t>ieee.std_logic_1164.all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tb_risingedge_dflipflop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tb_risingedge_dflipflop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of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tb_risingedge_dflipflop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component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risingedge_dflipflop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port(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q  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: in 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d   : in 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);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end component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 </a:t>
            </a:r>
            <a:r>
              <a:rPr lang="en-US" dirty="0" err="1">
                <a:latin typeface="Futura T OT" panose="02000000000000000000" pitchFamily="50" charset="0"/>
              </a:rPr>
              <a:t>d_tb</a:t>
            </a:r>
            <a:r>
              <a:rPr lang="en-US" dirty="0">
                <a:latin typeface="Futura T OT" panose="02000000000000000000" pitchFamily="50" charset="0"/>
              </a:rPr>
              <a:t>  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 </a:t>
            </a:r>
            <a:r>
              <a:rPr lang="en-US" dirty="0" err="1">
                <a:latin typeface="Futura T OT" panose="02000000000000000000" pitchFamily="50" charset="0"/>
              </a:rPr>
              <a:t>q_tb</a:t>
            </a:r>
            <a:r>
              <a:rPr lang="en-US" dirty="0">
                <a:latin typeface="Futura T OT" panose="02000000000000000000" pitchFamily="50" charset="0"/>
              </a:rPr>
              <a:t>  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constant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CLK_PERIOD </a:t>
            </a:r>
            <a:r>
              <a:rPr lang="en-US" dirty="0">
                <a:latin typeface="Futura T OT" panose="02000000000000000000" pitchFamily="50" charset="0"/>
              </a:rPr>
              <a:t>: time := 10 ns;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E32A5-40AD-3714-357A-EB23EBD5E5AB}"/>
              </a:ext>
            </a:extLst>
          </p:cNvPr>
          <p:cNvSpPr txBox="1"/>
          <p:nvPr/>
        </p:nvSpPr>
        <p:spPr>
          <a:xfrm>
            <a:off x="5172364" y="1210834"/>
            <a:ext cx="37222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uut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: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RisingEdge_DFlipFlop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port map </a:t>
            </a:r>
            <a:r>
              <a:rPr lang="en-US" dirty="0">
                <a:latin typeface="Futura T OT" panose="02000000000000000000" pitchFamily="50" charset="0"/>
              </a:rPr>
              <a:t>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Q   =&gt; </a:t>
            </a:r>
            <a:r>
              <a:rPr lang="en-US" dirty="0" err="1">
                <a:latin typeface="Futura T OT" panose="02000000000000000000" pitchFamily="50" charset="0"/>
              </a:rPr>
              <a:t>q_tb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=&gt;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D   =&gt; </a:t>
            </a:r>
            <a:r>
              <a:rPr lang="en-US" dirty="0" err="1">
                <a:latin typeface="Futura T OT" panose="02000000000000000000" pitchFamily="50" charset="0"/>
              </a:rPr>
              <a:t>d_tb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);</a:t>
            </a:r>
          </a:p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clk_process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: process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begin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CLK_PERIOD/2;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CLK_PERIOD/2;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end process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636EF-71E5-2554-B49C-19DB421CE144}"/>
              </a:ext>
            </a:extLst>
          </p:cNvPr>
          <p:cNvSpPr txBox="1"/>
          <p:nvPr/>
        </p:nvSpPr>
        <p:spPr>
          <a:xfrm>
            <a:off x="8991600" y="1210834"/>
            <a:ext cx="26289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stim_proc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: process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begin		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20 ns;	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d_tb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20 ns;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d_tb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15 ns;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d_tb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10 ns;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end process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 Behavioral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54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6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C78C0-ADBF-8E75-5E91-2DB6E337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0A249-D4A0-7538-1669-E69F39A61113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0D10A-3948-A198-66A8-7D8402038D51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JK-flip flop(rising edge)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59498-DB2B-45CB-0832-713262B3ED06}"/>
              </a:ext>
            </a:extLst>
          </p:cNvPr>
          <p:cNvSpPr txBox="1"/>
          <p:nvPr/>
        </p:nvSpPr>
        <p:spPr>
          <a:xfrm>
            <a:off x="439856" y="1210834"/>
            <a:ext cx="47325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Futura T OT" panose="02000000000000000000" pitchFamily="50" charset="0"/>
              </a:rPr>
              <a:t>ieee.std_logic_1164.all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risingedge_jkflipflop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  <a:r>
              <a:rPr lang="en-US" dirty="0">
                <a:latin typeface="Futura T OT" panose="02000000000000000000" pitchFamily="50" charset="0"/>
              </a:rPr>
              <a:t> </a:t>
            </a:r>
          </a:p>
          <a:p>
            <a:r>
              <a:rPr lang="en-US" dirty="0">
                <a:latin typeface="Futura T OT" panose="02000000000000000000" pitchFamily="50" charset="0"/>
              </a:rPr>
              <a:t>  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latin typeface="Futura T OT" panose="02000000000000000000" pitchFamily="50" charset="0"/>
              </a:rPr>
              <a:t>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</a:t>
            </a:r>
            <a:r>
              <a:rPr lang="en-US" dirty="0" err="1">
                <a:latin typeface="Futura T OT" panose="02000000000000000000" pitchFamily="50" charset="0"/>
              </a:rPr>
              <a:t>j,k</a:t>
            </a:r>
            <a:r>
              <a:rPr lang="en-US" dirty="0">
                <a:latin typeface="Futura T OT" panose="02000000000000000000" pitchFamily="50" charset="0"/>
              </a:rPr>
              <a:t>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:in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   </a:t>
            </a:r>
          </a:p>
          <a:p>
            <a:r>
              <a:rPr lang="en-US" dirty="0">
                <a:latin typeface="Futura T OT" panose="02000000000000000000" pitchFamily="50" charset="0"/>
              </a:rPr>
              <a:t>      d :in 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   </a:t>
            </a:r>
          </a:p>
          <a:p>
            <a:r>
              <a:rPr lang="en-US" dirty="0">
                <a:latin typeface="Futura T OT" panose="02000000000000000000" pitchFamily="50" charset="0"/>
              </a:rPr>
              <a:t>   );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risingedge_jkflipflop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risingedge_jkflipflop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signal </a:t>
            </a:r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q_s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: </a:t>
            </a:r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  <a:r>
              <a:rPr lang="en-US" dirty="0">
                <a:latin typeface="Futura T OT" panose="02000000000000000000" pitchFamily="50" charset="0"/>
              </a:rPr>
              <a:t>  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  <a:r>
              <a:rPr lang="en-US" dirty="0">
                <a:latin typeface="Futura T OT" panose="02000000000000000000" pitchFamily="50" charset="0"/>
              </a:rPr>
              <a:t>  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)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  <a:r>
              <a:rPr lang="en-US" dirty="0">
                <a:latin typeface="Futura T OT" panose="02000000000000000000" pitchFamily="50" charset="0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29BFCA-D8A8-0214-3E7C-7B7140553D94}"/>
              </a:ext>
            </a:extLst>
          </p:cNvPr>
          <p:cNvGrpSpPr/>
          <p:nvPr/>
        </p:nvGrpSpPr>
        <p:grpSpPr>
          <a:xfrm>
            <a:off x="8067042" y="4007819"/>
            <a:ext cx="3946413" cy="2531330"/>
            <a:chOff x="6976287" y="1486560"/>
            <a:chExt cx="3946413" cy="25313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C6FF6-7449-D34F-C8ED-282166035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637" y="1486560"/>
              <a:ext cx="1771052" cy="25313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7" name="Freeform 741">
              <a:extLst>
                <a:ext uri="{FF2B5EF4-FFF2-40B4-BE49-F238E27FC236}">
                  <a16:creationId xmlns:a16="http://schemas.microsoft.com/office/drawing/2014/main" id="{8F09490B-C309-B834-DD5C-07E0FC9C9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1637" y="3639948"/>
              <a:ext cx="254891" cy="250496"/>
            </a:xfrm>
            <a:custGeom>
              <a:avLst/>
              <a:gdLst>
                <a:gd name="T0" fmla="*/ 0 w 58"/>
                <a:gd name="T1" fmla="*/ 0 h 115"/>
                <a:gd name="T2" fmla="*/ 58 w 58"/>
                <a:gd name="T3" fmla="*/ 3 h 115"/>
                <a:gd name="T4" fmla="*/ 0 w 58"/>
                <a:gd name="T5" fmla="*/ 7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15">
                  <a:moveTo>
                    <a:pt x="0" y="0"/>
                  </a:moveTo>
                  <a:lnTo>
                    <a:pt x="58" y="58"/>
                  </a:lnTo>
                  <a:lnTo>
                    <a:pt x="0" y="11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Text Box 742">
              <a:extLst>
                <a:ext uri="{FF2B5EF4-FFF2-40B4-BE49-F238E27FC236}">
                  <a16:creationId xmlns:a16="http://schemas.microsoft.com/office/drawing/2014/main" id="{E8F9B4F1-3424-284F-37EF-3E116E770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810" y="1965579"/>
              <a:ext cx="33855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J</a:t>
              </a:r>
            </a:p>
          </p:txBody>
        </p:sp>
        <p:sp>
          <p:nvSpPr>
            <p:cNvPr id="9" name="Text Box 743">
              <a:extLst>
                <a:ext uri="{FF2B5EF4-FFF2-40B4-BE49-F238E27FC236}">
                  <a16:creationId xmlns:a16="http://schemas.microsoft.com/office/drawing/2014/main" id="{B020F657-C55D-8482-5DB4-C38795541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0812" y="1965579"/>
              <a:ext cx="421888" cy="46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Q</a:t>
              </a:r>
            </a:p>
          </p:txBody>
        </p:sp>
        <p:sp>
          <p:nvSpPr>
            <p:cNvPr id="10" name="Text Box 742">
              <a:extLst>
                <a:ext uri="{FF2B5EF4-FFF2-40B4-BE49-F238E27FC236}">
                  <a16:creationId xmlns:a16="http://schemas.microsoft.com/office/drawing/2014/main" id="{17D29105-37B9-8538-8330-FF21251BE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6287" y="3552055"/>
              <a:ext cx="435072" cy="338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 err="1"/>
                <a:t>clk</a:t>
              </a:r>
              <a:endParaRPr lang="en-US" altLang="en-US" sz="160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C742DD-37C5-9E91-7079-715A9F5EF4F7}"/>
                </a:ext>
              </a:extLst>
            </p:cNvPr>
            <p:cNvCxnSpPr/>
            <p:nvPr/>
          </p:nvCxnSpPr>
          <p:spPr>
            <a:xfrm>
              <a:off x="7611812" y="2196299"/>
              <a:ext cx="559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1E753A-179D-5310-3538-6F5AD759BA1E}"/>
                </a:ext>
              </a:extLst>
            </p:cNvPr>
            <p:cNvCxnSpPr/>
            <p:nvPr/>
          </p:nvCxnSpPr>
          <p:spPr>
            <a:xfrm>
              <a:off x="9942689" y="2196299"/>
              <a:ext cx="559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A0C0AE-DE90-F9A8-5768-90C496B7A14A}"/>
                </a:ext>
              </a:extLst>
            </p:cNvPr>
            <p:cNvCxnSpPr/>
            <p:nvPr/>
          </p:nvCxnSpPr>
          <p:spPr>
            <a:xfrm>
              <a:off x="7409555" y="3765196"/>
              <a:ext cx="762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 Box 742">
              <a:extLst>
                <a:ext uri="{FF2B5EF4-FFF2-40B4-BE49-F238E27FC236}">
                  <a16:creationId xmlns:a16="http://schemas.microsoft.com/office/drawing/2014/main" id="{0872BB1B-46D7-A34E-7142-C5488F163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810" y="2906039"/>
              <a:ext cx="3898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K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C37D62-20BE-522F-CCFC-9792C1D04EA8}"/>
                </a:ext>
              </a:extLst>
            </p:cNvPr>
            <p:cNvCxnSpPr/>
            <p:nvPr/>
          </p:nvCxnSpPr>
          <p:spPr>
            <a:xfrm>
              <a:off x="7611812" y="3136759"/>
              <a:ext cx="559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DCDA0DC-A3CE-50F9-1CEE-6BC92BA0C363}"/>
              </a:ext>
            </a:extLst>
          </p:cNvPr>
          <p:cNvSpPr txBox="1"/>
          <p:nvPr/>
        </p:nvSpPr>
        <p:spPr>
          <a:xfrm>
            <a:off x="5174212" y="1240563"/>
            <a:ext cx="47325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rising_edge</a:t>
            </a:r>
            <a:r>
              <a:rPr lang="en-US" dirty="0">
                <a:latin typeface="Futura T OT" panose="02000000000000000000" pitchFamily="50" charset="0"/>
              </a:rPr>
              <a:t>(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))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latin typeface="Futura T OT" panose="02000000000000000000" pitchFamily="50" charset="0"/>
              </a:rPr>
              <a:t>(j=‘0’ and k=‘0’)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 &lt;= </a:t>
            </a:r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elsif</a:t>
            </a:r>
            <a:r>
              <a:rPr lang="en-US" dirty="0">
                <a:latin typeface="Futura T OT" panose="02000000000000000000" pitchFamily="50" charset="0"/>
              </a:rPr>
              <a:t> (j=‘1’ and k=‘0’)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&lt;= ‘1’;</a:t>
            </a:r>
          </a:p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elsif</a:t>
            </a:r>
            <a:r>
              <a:rPr lang="en-US" dirty="0">
                <a:latin typeface="Futura T OT" panose="02000000000000000000" pitchFamily="50" charset="0"/>
              </a:rPr>
              <a:t> (j=‘0’ and k=‘1’)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&lt;=‘0’;</a:t>
            </a:r>
          </a:p>
          <a:p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elsif</a:t>
            </a:r>
            <a:r>
              <a:rPr lang="en-US" dirty="0">
                <a:latin typeface="Futura T OT" panose="02000000000000000000" pitchFamily="50" charset="0"/>
              </a:rPr>
              <a:t> (j=‘1’ and k=‘1’)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then</a:t>
            </a:r>
          </a:p>
          <a:p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&lt;= not </a:t>
            </a:r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endif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latin typeface="Futura T OT" panose="02000000000000000000" pitchFamily="50" charset="0"/>
              </a:rPr>
              <a:t>;       </a:t>
            </a:r>
          </a:p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latin typeface="Futura T OT" panose="02000000000000000000" pitchFamily="50" charset="0"/>
              </a:rPr>
              <a:t>;  </a:t>
            </a:r>
          </a:p>
          <a:p>
            <a:r>
              <a:rPr lang="en-US" dirty="0">
                <a:latin typeface="Futura T OT" panose="02000000000000000000" pitchFamily="50" charset="0"/>
              </a:rPr>
              <a:t>q&lt;=</a:t>
            </a:r>
            <a:r>
              <a:rPr lang="en-US" dirty="0" err="1">
                <a:latin typeface="Futura T OT" panose="02000000000000000000" pitchFamily="50" charset="0"/>
              </a:rPr>
              <a:t>q_s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3923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4" fill="hold">
                          <p:stCondLst>
                            <p:cond delay="indefinite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1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16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16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3" dur="500"/>
                                            <p:tgtEl>
                                              <p:spTgt spid="16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16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3" dur="500"/>
                                            <p:tgtEl>
                                              <p:spTgt spid="16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8" dur="500"/>
                                            <p:tgtEl>
                                              <p:spTgt spid="16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3" dur="500"/>
                                            <p:tgtEl>
                                              <p:spTgt spid="16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8" dur="500"/>
                                            <p:tgtEl>
                                              <p:spTgt spid="16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3" dur="500"/>
                                            <p:tgtEl>
                                              <p:spTgt spid="16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16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allAtOnce"/>
          <p:bldP spid="16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3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3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4" fill="hold">
                          <p:stCondLst>
                            <p:cond delay="indefinite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3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6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16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16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16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3" dur="500"/>
                                            <p:tgtEl>
                                              <p:spTgt spid="16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16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3" dur="500"/>
                                            <p:tgtEl>
                                              <p:spTgt spid="16">
                                                <p:txEl>
                                                  <p:pRg st="8" end="8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8" dur="500"/>
                                            <p:tgtEl>
                                              <p:spTgt spid="16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3" dur="500"/>
                                            <p:tgtEl>
                                              <p:spTgt spid="16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8" dur="500"/>
                                            <p:tgtEl>
                                              <p:spTgt spid="16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3" dur="500"/>
                                            <p:tgtEl>
                                              <p:spTgt spid="16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16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allAtOnce"/>
          <p:bldP spid="16" grpId="0" build="allAtOnce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0F108-67DF-BA67-CF77-3AF8FCFA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C5FF22-E886-1F65-65A7-1F49611E4FD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F9AAA-4ED3-10BC-0B24-64A605535F58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Testbench for JK-flip flop(rising edge)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E6C84-5061-E1BC-5A69-BEC4BA2759A0}"/>
              </a:ext>
            </a:extLst>
          </p:cNvPr>
          <p:cNvSpPr txBox="1"/>
          <p:nvPr/>
        </p:nvSpPr>
        <p:spPr>
          <a:xfrm>
            <a:off x="439856" y="1210834"/>
            <a:ext cx="41653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library </a:t>
            </a:r>
            <a:r>
              <a:rPr lang="en-US" dirty="0" err="1">
                <a:solidFill>
                  <a:srgbClr val="3E9BB6"/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use </a:t>
            </a:r>
            <a:r>
              <a:rPr lang="en-US" dirty="0">
                <a:solidFill>
                  <a:srgbClr val="3E9BB6"/>
                </a:solidFill>
                <a:latin typeface="Futura T OT" panose="02000000000000000000" pitchFamily="50" charset="0"/>
              </a:rPr>
              <a:t>ieee.std_logic_1164.all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entity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tb_risingedge_jkflipflop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tb_risingedge_jkflipflop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architecture 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sim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of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tb_risingedge_jkflipflop</a:t>
            </a:r>
            <a:r>
              <a:rPr lang="en-US" dirty="0">
                <a:solidFill>
                  <a:srgbClr val="7030A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is</a:t>
            </a:r>
          </a:p>
          <a:p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    component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risingedge_jkflipflop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port(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j, k : 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 : in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q    : out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);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Futura T OT" panose="02000000000000000000" pitchFamily="50" charset="0"/>
              </a:rPr>
              <a:t>end component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signal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 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signal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 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signal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 := '0';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signal </a:t>
            </a:r>
            <a:r>
              <a:rPr lang="en-US" dirty="0" err="1">
                <a:latin typeface="Futura T OT" panose="02000000000000000000" pitchFamily="50" charset="0"/>
              </a:rPr>
              <a:t>q_tb</a:t>
            </a:r>
            <a:r>
              <a:rPr lang="en-US" dirty="0">
                <a:latin typeface="Futura T OT" panose="02000000000000000000" pitchFamily="50" charset="0"/>
              </a:rPr>
              <a:t>   : </a:t>
            </a:r>
            <a:r>
              <a:rPr lang="en-US" dirty="0" err="1">
                <a:latin typeface="Futura T OT" panose="02000000000000000000" pitchFamily="50" charset="0"/>
              </a:rPr>
              <a:t>std_logic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constant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 : time := 10 ns;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E47B1A-B264-8227-FA3A-F50D4EAD8AAB}"/>
              </a:ext>
            </a:extLst>
          </p:cNvPr>
          <p:cNvSpPr txBox="1"/>
          <p:nvPr/>
        </p:nvSpPr>
        <p:spPr>
          <a:xfrm>
            <a:off x="4605252" y="1210834"/>
            <a:ext cx="29815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begin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Futura T OT" panose="02000000000000000000" pitchFamily="50" charset="0"/>
              </a:rPr>
              <a:t>uut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: </a:t>
            </a:r>
            <a:r>
              <a:rPr lang="en-US" dirty="0" err="1">
                <a:solidFill>
                  <a:srgbClr val="7030A0"/>
                </a:solidFill>
                <a:latin typeface="Futura T OT" panose="02000000000000000000" pitchFamily="50" charset="0"/>
              </a:rPr>
              <a:t>risingedge_jkflipflop</a:t>
            </a:r>
            <a:endParaRPr lang="en-US" dirty="0">
              <a:solidFill>
                <a:srgbClr val="7030A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    port map </a:t>
            </a:r>
            <a:r>
              <a:rPr lang="en-US" dirty="0">
                <a:latin typeface="Futura T OT" panose="02000000000000000000" pitchFamily="50" charset="0"/>
              </a:rPr>
              <a:t>(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j   =&gt;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k   =&gt;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</a:t>
            </a:r>
            <a:r>
              <a:rPr lang="en-US" dirty="0" err="1">
                <a:latin typeface="Futura T OT" panose="02000000000000000000" pitchFamily="50" charset="0"/>
              </a:rPr>
              <a:t>clk</a:t>
            </a:r>
            <a:r>
              <a:rPr lang="en-US" dirty="0">
                <a:latin typeface="Futura T OT" panose="02000000000000000000" pitchFamily="50" charset="0"/>
              </a:rPr>
              <a:t> =&gt;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,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q   =&gt; </a:t>
            </a:r>
            <a:r>
              <a:rPr lang="en-US" dirty="0" err="1">
                <a:latin typeface="Futura T OT" panose="02000000000000000000" pitchFamily="50" charset="0"/>
              </a:rPr>
              <a:t>q_tb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    );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    </a:t>
            </a:r>
            <a:r>
              <a:rPr lang="en-US" dirty="0" err="1">
                <a:latin typeface="Futura T OT" panose="02000000000000000000" pitchFamily="50" charset="0"/>
              </a:rPr>
              <a:t>clk_process</a:t>
            </a:r>
            <a:r>
              <a:rPr lang="en-US" dirty="0">
                <a:latin typeface="Futura T OT" panose="02000000000000000000" pitchFamily="50" charset="0"/>
              </a:rPr>
              <a:t>: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begin 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       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/2;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</a:t>
            </a:r>
            <a:r>
              <a:rPr lang="en-US" dirty="0" err="1">
                <a:latin typeface="Futura T OT" panose="02000000000000000000" pitchFamily="50" charset="0"/>
              </a:rPr>
              <a:t>clk_tb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/2;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end process;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F772C9-B7EC-1300-CCDF-E8C859FF1CAF}"/>
              </a:ext>
            </a:extLst>
          </p:cNvPr>
          <p:cNvSpPr txBox="1"/>
          <p:nvPr/>
        </p:nvSpPr>
        <p:spPr>
          <a:xfrm>
            <a:off x="8237244" y="1210834"/>
            <a:ext cx="29815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T OT" panose="02000000000000000000" pitchFamily="50" charset="0"/>
              </a:rPr>
              <a:t> </a:t>
            </a:r>
            <a:r>
              <a:rPr lang="en-US" dirty="0" err="1">
                <a:latin typeface="Futura T OT" panose="02000000000000000000" pitchFamily="50" charset="0"/>
              </a:rPr>
              <a:t>stim_proc</a:t>
            </a:r>
            <a:r>
              <a:rPr lang="en-US" dirty="0">
                <a:latin typeface="Futura T OT" panose="02000000000000000000" pitchFamily="50" charset="0"/>
              </a:rPr>
              <a:t>: </a:t>
            </a:r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process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begin		 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    </a:t>
            </a:r>
            <a:r>
              <a:rPr lang="en-US" dirty="0">
                <a:latin typeface="Futura T OT" panose="02000000000000000000" pitchFamily="50" charset="0"/>
              </a:rPr>
              <a:t>wait for 10 ns;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&lt;= '1';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&lt;= '0';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&lt;= '1';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 * 3;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</a:t>
            </a:r>
            <a:r>
              <a:rPr lang="en-US" dirty="0" err="1">
                <a:latin typeface="Futura T OT" panose="02000000000000000000" pitchFamily="50" charset="0"/>
              </a:rPr>
              <a:t>j_tb</a:t>
            </a:r>
            <a:r>
              <a:rPr lang="en-US" dirty="0">
                <a:latin typeface="Futura T OT" panose="02000000000000000000" pitchFamily="50" charset="0"/>
              </a:rPr>
              <a:t> &lt;= '0'; </a:t>
            </a:r>
            <a:r>
              <a:rPr lang="en-US" dirty="0" err="1">
                <a:latin typeface="Futura T OT" panose="02000000000000000000" pitchFamily="50" charset="0"/>
              </a:rPr>
              <a:t>k_tb</a:t>
            </a:r>
            <a:r>
              <a:rPr lang="en-US" dirty="0">
                <a:latin typeface="Futura T OT" panose="02000000000000000000" pitchFamily="50" charset="0"/>
              </a:rPr>
              <a:t> &lt;= '1';</a:t>
            </a:r>
          </a:p>
          <a:p>
            <a:r>
              <a:rPr lang="en-US" dirty="0">
                <a:latin typeface="Futura T OT" panose="02000000000000000000" pitchFamily="50" charset="0"/>
              </a:rPr>
              <a:t>        wait for </a:t>
            </a:r>
            <a:r>
              <a:rPr lang="en-US" dirty="0" err="1">
                <a:latin typeface="Futura T OT" panose="02000000000000000000" pitchFamily="50" charset="0"/>
              </a:rPr>
              <a:t>clk_period</a:t>
            </a:r>
            <a:r>
              <a:rPr lang="en-US" dirty="0">
                <a:latin typeface="Futura T OT" panose="02000000000000000000" pitchFamily="50" charset="0"/>
              </a:rPr>
              <a:t>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    wait;</a:t>
            </a: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    end process;</a:t>
            </a:r>
          </a:p>
          <a:p>
            <a:endParaRPr lang="en-US" dirty="0">
              <a:solidFill>
                <a:srgbClr val="C00000"/>
              </a:solidFill>
              <a:latin typeface="Futura T OT" panose="02000000000000000000" pitchFamily="50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Futura T OT" panose="02000000000000000000" pitchFamily="50" charset="0"/>
              </a:rPr>
              <a:t>end sim;</a:t>
            </a:r>
          </a:p>
        </p:txBody>
      </p:sp>
    </p:spTree>
    <p:extLst>
      <p:ext uri="{BB962C8B-B14F-4D97-AF65-F5344CB8AC3E}">
        <p14:creationId xmlns:p14="http://schemas.microsoft.com/office/powerpoint/2010/main" val="32913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6" grpId="0" build="allAtOnce"/>
      <p:bldP spid="17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521A4-46A0-499D-A6F2-C1562C42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7F5FD-07E4-8646-2B34-460A9FB9855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365F8-0718-59E1-0AA9-BBED3F6F412A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sequence detection (1001)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8ADD7B-B5C5-824D-39D1-EE02DA2D7CDF}"/>
              </a:ext>
            </a:extLst>
          </p:cNvPr>
          <p:cNvSpPr/>
          <p:nvPr/>
        </p:nvSpPr>
        <p:spPr>
          <a:xfrm>
            <a:off x="5053809" y="3664739"/>
            <a:ext cx="775854" cy="775854"/>
          </a:xfrm>
          <a:prstGeom prst="ellipse">
            <a:avLst/>
          </a:prstGeom>
          <a:solidFill>
            <a:srgbClr val="AF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5ACB3BD-735D-8C26-9712-8336D33E18C9}"/>
              </a:ext>
            </a:extLst>
          </p:cNvPr>
          <p:cNvSpPr/>
          <p:nvPr/>
        </p:nvSpPr>
        <p:spPr>
          <a:xfrm>
            <a:off x="5053809" y="3664739"/>
            <a:ext cx="775854" cy="775854"/>
          </a:xfrm>
          <a:prstGeom prst="ellipse">
            <a:avLst/>
          </a:prstGeom>
          <a:solidFill>
            <a:srgbClr val="0FA4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7D0E57-60AC-A4CE-9F83-527D0239C852}"/>
              </a:ext>
            </a:extLst>
          </p:cNvPr>
          <p:cNvSpPr/>
          <p:nvPr/>
        </p:nvSpPr>
        <p:spPr>
          <a:xfrm>
            <a:off x="5053809" y="3664739"/>
            <a:ext cx="775854" cy="775854"/>
          </a:xfrm>
          <a:prstGeom prst="ellipse">
            <a:avLst/>
          </a:prstGeom>
          <a:solidFill>
            <a:srgbClr val="9647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754ED8-6D6F-661B-6119-C5085D593E72}"/>
              </a:ext>
            </a:extLst>
          </p:cNvPr>
          <p:cNvSpPr/>
          <p:nvPr/>
        </p:nvSpPr>
        <p:spPr>
          <a:xfrm>
            <a:off x="5053809" y="3664739"/>
            <a:ext cx="775854" cy="775854"/>
          </a:xfrm>
          <a:prstGeom prst="ellipse">
            <a:avLst/>
          </a:prstGeom>
          <a:solidFill>
            <a:srgbClr val="0249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515ACC-6105-4C69-6919-2435DAFB3384}"/>
              </a:ext>
            </a:extLst>
          </p:cNvPr>
          <p:cNvSpPr/>
          <p:nvPr/>
        </p:nvSpPr>
        <p:spPr>
          <a:xfrm>
            <a:off x="5053809" y="3664739"/>
            <a:ext cx="775854" cy="775854"/>
          </a:xfrm>
          <a:prstGeom prst="ellipse">
            <a:avLst/>
          </a:prstGeom>
          <a:solidFill>
            <a:srgbClr val="003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Init</a:t>
            </a:r>
          </a:p>
        </p:txBody>
      </p:sp>
    </p:spTree>
    <p:extLst>
      <p:ext uri="{BB962C8B-B14F-4D97-AF65-F5344CB8AC3E}">
        <p14:creationId xmlns:p14="http://schemas.microsoft.com/office/powerpoint/2010/main" val="1042686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1" grpId="0" animBg="1"/>
          <p:bldP spid="19" grpId="0" animBg="1"/>
          <p:bldP spid="18" grpId="0" animBg="1"/>
          <p:bldP spid="1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1" grpId="0" animBg="1"/>
          <p:bldP spid="19" grpId="0" animBg="1"/>
          <p:bldP spid="18" grpId="0" animBg="1"/>
          <p:bldP spid="17" grpId="0" animBg="1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9CA57-4F08-7E16-39FA-9434B3EA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D17E9-87AA-3489-8DBC-1335659E2DD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77097-6F37-A0FC-E0FF-5E0A178647B8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sequence detection (1001)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9D7330-8ACA-765F-6424-5A8B880F8CDC}"/>
              </a:ext>
            </a:extLst>
          </p:cNvPr>
          <p:cNvSpPr/>
          <p:nvPr/>
        </p:nvSpPr>
        <p:spPr>
          <a:xfrm>
            <a:off x="3518854" y="4098911"/>
            <a:ext cx="775854" cy="775854"/>
          </a:xfrm>
          <a:prstGeom prst="ellipse">
            <a:avLst/>
          </a:prstGeom>
          <a:solidFill>
            <a:srgbClr val="003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Init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2B9339-3116-EBD2-C1EF-E1B40E1821F4}"/>
              </a:ext>
            </a:extLst>
          </p:cNvPr>
          <p:cNvSpPr/>
          <p:nvPr/>
        </p:nvSpPr>
        <p:spPr>
          <a:xfrm>
            <a:off x="4197727" y="2147879"/>
            <a:ext cx="775854" cy="775854"/>
          </a:xfrm>
          <a:prstGeom prst="ellipse">
            <a:avLst/>
          </a:prstGeom>
          <a:solidFill>
            <a:srgbClr val="0249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F769CB-2C7E-C5E1-DA4D-1E295483C014}"/>
              </a:ext>
            </a:extLst>
          </p:cNvPr>
          <p:cNvSpPr/>
          <p:nvPr/>
        </p:nvSpPr>
        <p:spPr>
          <a:xfrm>
            <a:off x="6026730" y="2147879"/>
            <a:ext cx="775854" cy="775854"/>
          </a:xfrm>
          <a:prstGeom prst="ellipse">
            <a:avLst/>
          </a:prstGeom>
          <a:solidFill>
            <a:srgbClr val="9647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7B486F-FFFE-9C0E-FE63-98F9273752CA}"/>
              </a:ext>
            </a:extLst>
          </p:cNvPr>
          <p:cNvSpPr/>
          <p:nvPr/>
        </p:nvSpPr>
        <p:spPr>
          <a:xfrm>
            <a:off x="5070990" y="5181599"/>
            <a:ext cx="775854" cy="775854"/>
          </a:xfrm>
          <a:prstGeom prst="ellipse">
            <a:avLst/>
          </a:prstGeom>
          <a:solidFill>
            <a:srgbClr val="AF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990DCA-6650-FDD0-D393-A3B6ECD31607}"/>
              </a:ext>
            </a:extLst>
          </p:cNvPr>
          <p:cNvSpPr/>
          <p:nvPr/>
        </p:nvSpPr>
        <p:spPr>
          <a:xfrm>
            <a:off x="6588764" y="4098911"/>
            <a:ext cx="775854" cy="775854"/>
          </a:xfrm>
          <a:prstGeom prst="ellipse">
            <a:avLst/>
          </a:prstGeom>
          <a:solidFill>
            <a:srgbClr val="0FA4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05760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78BEA-2C96-3E57-8D8C-0C917577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AD1BE-2018-4208-ED3E-CFE3C2FCC20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9D181-3C87-3368-AC6C-A9015E9DDD77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sequence detection (1001)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3E1A5-0315-3092-4E80-5F52489D3057}"/>
              </a:ext>
            </a:extLst>
          </p:cNvPr>
          <p:cNvSpPr txBox="1"/>
          <p:nvPr/>
        </p:nvSpPr>
        <p:spPr>
          <a:xfrm>
            <a:off x="439856" y="1210834"/>
            <a:ext cx="450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library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0E84B5"/>
                </a:solidFill>
                <a:latin typeface="Futura T OT" panose="02000000000000000000" pitchFamily="50" charset="0"/>
              </a:rPr>
              <a:t>ieee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use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E84B5"/>
                </a:solidFill>
                <a:latin typeface="Futura T OT" panose="02000000000000000000" pitchFamily="50" charset="0"/>
              </a:rPr>
              <a:t>ieee.std_logic_1164.all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entity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BB0066"/>
                </a:solidFill>
                <a:latin typeface="Futura T OT" panose="02000000000000000000" pitchFamily="50" charset="0"/>
              </a:rPr>
              <a:t>seq_1001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is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(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clock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333399"/>
                </a:solidFill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reset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333399"/>
                </a:solidFill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333399"/>
                </a:solidFill>
                <a:latin typeface="Futura T OT" panose="02000000000000000000" pitchFamily="50" charset="0"/>
              </a:rPr>
              <a:t>std_logic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333399"/>
                </a:solidFill>
                <a:latin typeface="Futura T OT" panose="02000000000000000000" pitchFamily="50" charset="0"/>
              </a:rPr>
              <a:t>std_logic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BB0066"/>
                </a:solidFill>
                <a:latin typeface="Futura T OT" panose="02000000000000000000" pitchFamily="50" charset="0"/>
              </a:rPr>
              <a:t>seq_1001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architecture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BB0066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of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BB0066"/>
                </a:solidFill>
                <a:latin typeface="Futura T OT" panose="02000000000000000000" pitchFamily="50" charset="0"/>
              </a:rPr>
              <a:t>seq_1001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is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moore_fsm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, a, b, c, d);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signal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moore_fsm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F6B7A-D3B4-EC56-D079-1BC10134013E}"/>
              </a:ext>
            </a:extLst>
          </p:cNvPr>
          <p:cNvSpPr txBox="1"/>
          <p:nvPr/>
        </p:nvSpPr>
        <p:spPr>
          <a:xfrm>
            <a:off x="4941456" y="1166842"/>
            <a:ext cx="2946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clock,reset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(reset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 err="1">
                <a:solidFill>
                  <a:srgbClr val="008800"/>
                </a:solidFill>
                <a:latin typeface="Futura T OT" panose="02000000000000000000" pitchFamily="50" charset="0"/>
              </a:rPr>
              <a:t>elsif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rising_edge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(clock))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261F57-E40C-138B-1FA0-AE2DBFD0152A}"/>
              </a:ext>
            </a:extLst>
          </p:cNvPr>
          <p:cNvSpPr txBox="1"/>
          <p:nvPr/>
        </p:nvSpPr>
        <p:spPr>
          <a:xfrm>
            <a:off x="8080099" y="1166842"/>
            <a:ext cx="35392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c_st,seq_in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</a:p>
          <a:p>
            <a:pPr algn="just">
              <a:buNone/>
            </a:pP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is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when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a;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else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when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a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b;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else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a;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 </a:t>
            </a:r>
          </a:p>
        </p:txBody>
      </p:sp>
    </p:spTree>
    <p:extLst>
      <p:ext uri="{BB962C8B-B14F-4D97-AF65-F5344CB8AC3E}">
        <p14:creationId xmlns:p14="http://schemas.microsoft.com/office/powerpoint/2010/main" val="263501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7" grpId="0" build="allAtOnce"/>
      <p:bldP spid="18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25107-B22C-5CEF-4740-EDFBBC30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44D0A0-7C2B-1AC1-F1EA-A0163493AC0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E7E0-3E94-30AF-F0F3-680ABCBB9670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sequence detection (1001)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25FC3-4962-7E90-067A-74475583EDA0}"/>
              </a:ext>
            </a:extLst>
          </p:cNvPr>
          <p:cNvSpPr txBox="1"/>
          <p:nvPr/>
        </p:nvSpPr>
        <p:spPr>
          <a:xfrm>
            <a:off x="439856" y="1210834"/>
            <a:ext cx="4501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when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b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c;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else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a;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when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c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d;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else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when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d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‘1'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)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then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a;</a:t>
            </a: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else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n_st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b;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2B551-098A-97CE-56E1-7F5EFD8365F6}"/>
              </a:ext>
            </a:extLst>
          </p:cNvPr>
          <p:cNvSpPr txBox="1"/>
          <p:nvPr/>
        </p:nvSpPr>
        <p:spPr>
          <a:xfrm>
            <a:off x="4941456" y="1166842"/>
            <a:ext cx="2946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 if;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BB0066"/>
                </a:solidFill>
                <a:latin typeface="Futura T OT" panose="02000000000000000000" pitchFamily="50" charset="0"/>
              </a:rPr>
              <a:t>behavioral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367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7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F72F6-1F83-5856-22FF-CD55EF9B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679A39-2BD5-D831-F03C-35AC4831EE6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AF25A-E816-1A42-E5BA-5B9D386B199F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VHDL Code for sequence detection (1001)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C4F6C-2F23-70D6-1F65-398A6971E2BB}"/>
              </a:ext>
            </a:extLst>
          </p:cNvPr>
          <p:cNvSpPr txBox="1"/>
          <p:nvPr/>
        </p:nvSpPr>
        <p:spPr>
          <a:xfrm>
            <a:off x="803376" y="1313673"/>
            <a:ext cx="4041235" cy="4892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ts val="1733"/>
              </a:lnSpc>
              <a:buNone/>
            </a:pP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library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 err="1">
                <a:solidFill>
                  <a:srgbClr val="0E84B5"/>
                </a:solidFill>
                <a:effectLst/>
                <a:latin typeface="Futura T OT" panose="02000000000000000000" pitchFamily="50" charset="0"/>
              </a:rPr>
              <a:t>ieee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use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E84B5"/>
                </a:solidFill>
                <a:effectLst/>
                <a:latin typeface="Futura T OT" panose="02000000000000000000" pitchFamily="50" charset="0"/>
              </a:rPr>
              <a:t>ieee.std_logic_1164.all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entity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BB0066"/>
                </a:solidFill>
                <a:effectLst/>
                <a:latin typeface="Futura T OT" panose="02000000000000000000" pitchFamily="50" charset="0"/>
              </a:rPr>
              <a:t>seq_1001_tb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is</a:t>
            </a:r>
            <a:endParaRPr lang="en-US" b="0" i="0" dirty="0">
              <a:solidFill>
                <a:srgbClr val="000000"/>
              </a:solidFill>
              <a:effectLst/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end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BB0066"/>
                </a:solidFill>
                <a:effectLst/>
                <a:latin typeface="Futura T OT" panose="02000000000000000000" pitchFamily="50" charset="0"/>
              </a:rPr>
              <a:t>tb_seq_1001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architecture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BB0066"/>
                </a:solidFill>
                <a:effectLst/>
                <a:latin typeface="Futura T OT" panose="02000000000000000000" pitchFamily="50" charset="0"/>
              </a:rPr>
              <a:t>behavior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of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BB0066"/>
                </a:solidFill>
                <a:effectLst/>
                <a:latin typeface="Futura T OT" panose="02000000000000000000" pitchFamily="50" charset="0"/>
              </a:rPr>
              <a:t>seq_1001_tb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is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component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BB0066"/>
                </a:solidFill>
                <a:effectLst/>
                <a:latin typeface="Futura T OT" panose="02000000000000000000" pitchFamily="50" charset="0"/>
              </a:rPr>
              <a:t>seq_1001</a:t>
            </a:r>
            <a:endParaRPr lang="en-US" b="0" i="0" dirty="0">
              <a:solidFill>
                <a:srgbClr val="000000"/>
              </a:solidFill>
              <a:effectLst/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port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(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     clock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     reset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seq_in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detec_out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out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endParaRPr lang="en-US" b="0" i="0" dirty="0">
              <a:solidFill>
                <a:srgbClr val="000000"/>
              </a:solidFill>
              <a:effectLst/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    );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end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component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signal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clock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:=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0044DD"/>
                </a:solidFill>
                <a:effectLst/>
                <a:latin typeface="Futura T OT" panose="02000000000000000000" pitchFamily="50" charset="0"/>
              </a:rPr>
              <a:t>'0'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signal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reset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:=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0044DD"/>
                </a:solidFill>
                <a:effectLst/>
                <a:latin typeface="Futura T OT" panose="02000000000000000000" pitchFamily="50" charset="0"/>
              </a:rPr>
              <a:t>'0'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signal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seq_in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:=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0044DD"/>
                </a:solidFill>
                <a:effectLst/>
                <a:latin typeface="Futura T OT" panose="02000000000000000000" pitchFamily="50" charset="0"/>
              </a:rPr>
              <a:t>'0'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  </a:t>
            </a:r>
            <a:r>
              <a:rPr lang="en-US" b="1" i="0" dirty="0">
                <a:solidFill>
                  <a:srgbClr val="008800"/>
                </a:solidFill>
                <a:effectLst/>
                <a:latin typeface="Futura T OT" panose="02000000000000000000" pitchFamily="50" charset="0"/>
              </a:rPr>
              <a:t>signal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detec_out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Futura T OT" panose="02000000000000000000" pitchFamily="50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 </a:t>
            </a:r>
            <a:r>
              <a:rPr lang="en-US" b="1" i="0" dirty="0" err="1">
                <a:solidFill>
                  <a:srgbClr val="333399"/>
                </a:solidFill>
                <a:effectLst/>
                <a:latin typeface="Futura T OT" panose="02000000000000000000" pitchFamily="50" charset="0"/>
              </a:rPr>
              <a:t>std_logic</a:t>
            </a:r>
            <a:r>
              <a:rPr lang="en-US" b="0" i="0" dirty="0">
                <a:solidFill>
                  <a:srgbClr val="000000"/>
                </a:solidFill>
                <a:effectLst/>
                <a:latin typeface="Futura T OT" panose="02000000000000000000" pitchFamily="50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237BE-79EE-B36F-F9B8-C1DB5AD1FA81}"/>
              </a:ext>
            </a:extLst>
          </p:cNvPr>
          <p:cNvSpPr txBox="1"/>
          <p:nvPr/>
        </p:nvSpPr>
        <p:spPr>
          <a:xfrm>
            <a:off x="5254858" y="1313673"/>
            <a:ext cx="3623300" cy="358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ts val="1733"/>
              </a:lnSpc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constant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clock_period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333399"/>
                </a:solidFill>
                <a:latin typeface="Futura T OT" panose="02000000000000000000" pitchFamily="50" charset="0"/>
              </a:rPr>
              <a:t>time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</a:p>
          <a:p>
            <a:pPr algn="just">
              <a:lnSpc>
                <a:spcPts val="1733"/>
              </a:lnSpc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uut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seq_1001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port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map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(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    clock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clock,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    reset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reset,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sequence_in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,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detec_out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  );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clock_process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clock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clock_period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/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clock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clock_period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/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34521-2C6C-C1C2-BD1F-58EF41C902F8}"/>
              </a:ext>
            </a:extLst>
          </p:cNvPr>
          <p:cNvSpPr txBox="1"/>
          <p:nvPr/>
        </p:nvSpPr>
        <p:spPr>
          <a:xfrm>
            <a:off x="9288406" y="1210834"/>
            <a:ext cx="1930337" cy="4892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stim_proc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begin</a:t>
            </a: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reset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reset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40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'1'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00DD"/>
                </a:solidFill>
                <a:latin typeface="Futura T OT" panose="02000000000000000000" pitchFamily="50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ns;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Futura T OT" panose="02000000000000000000" pitchFamily="50" charset="0"/>
              </a:rPr>
              <a:t>seq_in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Futura T OT" panose="02000000000000000000" pitchFamily="50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dirty="0">
                <a:solidFill>
                  <a:srgbClr val="0044DD"/>
                </a:solidFill>
                <a:latin typeface="Futura T OT" panose="02000000000000000000" pitchFamily="50" charset="0"/>
              </a:rPr>
              <a:t>'0'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 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 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 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 </a:t>
            </a: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  <a:p>
            <a:pPr algn="just">
              <a:lnSpc>
                <a:spcPts val="1733"/>
              </a:lnSpc>
              <a:buNone/>
            </a:pPr>
            <a:endParaRPr lang="en-US" dirty="0">
              <a:solidFill>
                <a:srgbClr val="000000"/>
              </a:solidFill>
              <a:latin typeface="Futura T OT" panose="02000000000000000000" pitchFamily="50" charset="0"/>
            </a:endParaRPr>
          </a:p>
          <a:p>
            <a:pPr algn="just">
              <a:lnSpc>
                <a:spcPts val="1733"/>
              </a:lnSpc>
              <a:buNone/>
            </a:pPr>
            <a:r>
              <a:rPr lang="en-US" b="1" dirty="0">
                <a:solidFill>
                  <a:srgbClr val="008800"/>
                </a:solidFill>
                <a:latin typeface="Futura T OT" panose="02000000000000000000" pitchFamily="50" charset="0"/>
              </a:rPr>
              <a:t>end</a:t>
            </a:r>
            <a:r>
              <a:rPr lang="en-US" dirty="0">
                <a:solidFill>
                  <a:srgbClr val="000000"/>
                </a:solidFill>
                <a:latin typeface="Futura T OT" panose="020000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66782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DC70A-068F-CA74-28B3-B8C52397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74302-CECE-CC86-3FBF-DE7EE3F6371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E282C-32ED-C4BA-F0FB-FDEA0D57C9E9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AC59C-DED6-F859-341C-A25B716F1231}"/>
              </a:ext>
            </a:extLst>
          </p:cNvPr>
          <p:cNvSpPr txBox="1"/>
          <p:nvPr/>
        </p:nvSpPr>
        <p:spPr>
          <a:xfrm>
            <a:off x="439855" y="1210834"/>
            <a:ext cx="64412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package_name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 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my_type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/>
              <a:t> array (0 to 7) of </a:t>
            </a:r>
            <a:r>
              <a:rPr lang="en-US" dirty="0" err="1"/>
              <a:t>std_logic</a:t>
            </a:r>
            <a:r>
              <a:rPr lang="en-US" dirty="0"/>
              <a:t>;  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function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my_function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(x : integer)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integer;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package_name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package body </a:t>
            </a:r>
            <a:r>
              <a:rPr lang="en-US" dirty="0" err="1"/>
              <a:t>package_name</a:t>
            </a:r>
            <a:r>
              <a:rPr lang="en-US" dirty="0"/>
              <a:t> is    </a:t>
            </a:r>
          </a:p>
          <a:p>
            <a:r>
              <a:rPr lang="en-US" dirty="0"/>
              <a:t>function </a:t>
            </a:r>
            <a:r>
              <a:rPr lang="en-US" dirty="0" err="1"/>
              <a:t>my_function</a:t>
            </a:r>
            <a:r>
              <a:rPr lang="en-US" dirty="0"/>
              <a:t> (x : integer) return integer is    </a:t>
            </a:r>
          </a:p>
          <a:p>
            <a:r>
              <a:rPr lang="en-US" dirty="0"/>
              <a:t>begin        </a:t>
            </a:r>
          </a:p>
          <a:p>
            <a:r>
              <a:rPr lang="en-US" dirty="0"/>
              <a:t>return x + 1;    </a:t>
            </a:r>
          </a:p>
          <a:p>
            <a:r>
              <a:rPr lang="en-US" dirty="0"/>
              <a:t>end function;</a:t>
            </a:r>
          </a:p>
          <a:p>
            <a:r>
              <a:rPr lang="en-US" dirty="0"/>
              <a:t>end package body </a:t>
            </a:r>
            <a:r>
              <a:rPr lang="en-US" dirty="0" err="1"/>
              <a:t>package_name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8831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55A00-C581-57F6-CFED-E681595F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08D834-971F-5412-5335-DEE4E8E8119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VHDL programs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5ECB0-511D-D801-4C47-E3345D3BC1CF}"/>
              </a:ext>
            </a:extLst>
          </p:cNvPr>
          <p:cNvSpPr txBox="1"/>
          <p:nvPr/>
        </p:nvSpPr>
        <p:spPr>
          <a:xfrm>
            <a:off x="439856" y="68761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51C75-19C3-CBC0-7CFA-232E3005141D}"/>
              </a:ext>
            </a:extLst>
          </p:cNvPr>
          <p:cNvSpPr txBox="1"/>
          <p:nvPr/>
        </p:nvSpPr>
        <p:spPr>
          <a:xfrm>
            <a:off x="439855" y="1210834"/>
            <a:ext cx="644123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library</a:t>
            </a:r>
            <a:r>
              <a:rPr lang="en-US" dirty="0"/>
              <a:t> </a:t>
            </a:r>
            <a:r>
              <a:rPr lang="en-US" dirty="0" err="1"/>
              <a:t>ieee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FF0000"/>
                </a:solidFill>
              </a:rPr>
              <a:t>use</a:t>
            </a:r>
            <a:r>
              <a:rPr lang="en-US" dirty="0"/>
              <a:t> ieee.std_logic_1164.all;</a:t>
            </a:r>
          </a:p>
          <a:p>
            <a:r>
              <a:rPr lang="en-US" dirty="0"/>
              <a:t> </a:t>
            </a:r>
          </a:p>
          <a:p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clk</a:t>
            </a:r>
            <a:r>
              <a:rPr lang="en-US" dirty="0"/>
              <a:t> is</a:t>
            </a:r>
          </a:p>
          <a:p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clk_type</a:t>
            </a:r>
            <a:r>
              <a:rPr lang="en-US" dirty="0">
                <a:solidFill>
                  <a:srgbClr val="48A448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/>
              <a:t> ('0','1');</a:t>
            </a:r>
          </a:p>
          <a:p>
            <a:r>
              <a:rPr lang="en-US" dirty="0">
                <a:solidFill>
                  <a:srgbClr val="FF0000"/>
                </a:solidFill>
              </a:rPr>
              <a:t>function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rising_edge</a:t>
            </a:r>
            <a:r>
              <a:rPr lang="en-US" dirty="0">
                <a:solidFill>
                  <a:srgbClr val="48A448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signal</a:t>
            </a:r>
            <a:r>
              <a:rPr lang="en-US" dirty="0"/>
              <a:t> s: </a:t>
            </a:r>
            <a:r>
              <a:rPr lang="en-US" dirty="0" err="1"/>
              <a:t>clk_type</a:t>
            </a:r>
            <a:r>
              <a:rPr lang="en-US" dirty="0"/>
              <a:t>)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clk</a:t>
            </a:r>
            <a:r>
              <a:rPr lang="en-US" dirty="0"/>
              <a:t>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body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clk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is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function</a:t>
            </a:r>
            <a:r>
              <a:rPr lang="en-US" dirty="0"/>
              <a:t> </a:t>
            </a:r>
            <a:r>
              <a:rPr lang="en-US" dirty="0" err="1"/>
              <a:t>rising_edge</a:t>
            </a:r>
            <a:r>
              <a:rPr lang="en-US" dirty="0"/>
              <a:t> (signal s: </a:t>
            </a:r>
            <a:r>
              <a:rPr lang="en-US" dirty="0" err="1">
                <a:solidFill>
                  <a:srgbClr val="48A448"/>
                </a:solidFill>
              </a:rPr>
              <a:t>clk_type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is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begin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if</a:t>
            </a:r>
            <a:r>
              <a:rPr lang="en-US" dirty="0"/>
              <a:t> (</a:t>
            </a:r>
            <a:r>
              <a:rPr lang="en-US" dirty="0" err="1"/>
              <a:t>s'event</a:t>
            </a:r>
            <a:r>
              <a:rPr lang="en-US" dirty="0"/>
              <a:t>)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(s='1')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(</a:t>
            </a:r>
            <a:r>
              <a:rPr lang="en-US" dirty="0" err="1"/>
              <a:t>s'last_value</a:t>
            </a:r>
            <a:r>
              <a:rPr lang="en-US" dirty="0"/>
              <a:t>='0') </a:t>
            </a:r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true;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else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     </a:t>
            </a:r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if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rising_edge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FF0000"/>
                </a:solidFill>
              </a:rPr>
              <a:t>end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body</a:t>
            </a:r>
            <a:r>
              <a:rPr lang="en-US" dirty="0"/>
              <a:t> </a:t>
            </a:r>
            <a:r>
              <a:rPr lang="en-US" dirty="0" err="1">
                <a:solidFill>
                  <a:srgbClr val="48A448"/>
                </a:solidFill>
              </a:rPr>
              <a:t>clk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7632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17140</TotalTime>
  <Words>3292</Words>
  <Application>Microsoft Office PowerPoint</Application>
  <PresentationFormat>Widescreen</PresentationFormat>
  <Paragraphs>605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Futura T OT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Krishtein Einsna</dc:creator>
  <cp:lastModifiedBy>Krishtein Einsna</cp:lastModifiedBy>
  <cp:revision>349</cp:revision>
  <dcterms:created xsi:type="dcterms:W3CDTF">2025-09-16T01:34:55Z</dcterms:created>
  <dcterms:modified xsi:type="dcterms:W3CDTF">2026-01-08T06:53:56Z</dcterms:modified>
</cp:coreProperties>
</file>