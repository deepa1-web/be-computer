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707" r:id="rId3"/>
    <p:sldId id="772" r:id="rId4"/>
    <p:sldId id="771" r:id="rId5"/>
    <p:sldId id="773" r:id="rId6"/>
    <p:sldId id="774" r:id="rId7"/>
    <p:sldId id="775" r:id="rId8"/>
    <p:sldId id="764" r:id="rId9"/>
    <p:sldId id="776" r:id="rId10"/>
    <p:sldId id="777" r:id="rId11"/>
    <p:sldId id="778" r:id="rId12"/>
    <p:sldId id="779" r:id="rId13"/>
    <p:sldId id="780" r:id="rId14"/>
    <p:sldId id="781" r:id="rId15"/>
    <p:sldId id="783" r:id="rId16"/>
    <p:sldId id="782" r:id="rId17"/>
    <p:sldId id="784" r:id="rId18"/>
    <p:sldId id="785" r:id="rId19"/>
    <p:sldId id="765" r:id="rId20"/>
    <p:sldId id="786" r:id="rId21"/>
    <p:sldId id="787" r:id="rId22"/>
    <p:sldId id="788" r:id="rId23"/>
    <p:sldId id="789" r:id="rId24"/>
    <p:sldId id="739" r:id="rId25"/>
    <p:sldId id="796" r:id="rId26"/>
    <p:sldId id="766" r:id="rId27"/>
    <p:sldId id="792" r:id="rId28"/>
    <p:sldId id="768" r:id="rId29"/>
    <p:sldId id="793" r:id="rId30"/>
    <p:sldId id="790" r:id="rId31"/>
    <p:sldId id="767" r:id="rId32"/>
    <p:sldId id="794" r:id="rId33"/>
    <p:sldId id="769" r:id="rId34"/>
    <p:sldId id="795" r:id="rId35"/>
    <p:sldId id="791" r:id="rId36"/>
    <p:sldId id="77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448"/>
    <a:srgbClr val="AFDDE5"/>
    <a:srgbClr val="0FA4AF"/>
    <a:srgbClr val="964734"/>
    <a:srgbClr val="024950"/>
    <a:srgbClr val="003135"/>
    <a:srgbClr val="3E9BB6"/>
    <a:srgbClr val="4472C4"/>
    <a:srgbClr val="FFFFFF"/>
    <a:srgbClr val="DF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118" autoAdjust="0"/>
  </p:normalViewPr>
  <p:slideViewPr>
    <p:cSldViewPr snapToGrid="0" showGuides="1">
      <p:cViewPr varScale="1">
        <p:scale>
          <a:sx n="83" d="100"/>
          <a:sy n="83" d="100"/>
        </p:scale>
        <p:origin x="566" y="77"/>
      </p:cViewPr>
      <p:guideLst>
        <p:guide orient="horz" pos="218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40180-84BE-40D1-AD0F-554207F0762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F74AD-8D6C-43B6-B1C6-FE3F682FD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C1E-4C7F-A878-414C-79C5E3E6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5D051-38C1-EA20-F458-44F8204A7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1AE3-7CCF-E5B6-58CC-B0857155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F166-ADBF-25B2-A049-29815D5B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CD86-2C0A-BFF2-8732-1F71650F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9A4-F78B-B3DE-78E0-7D6047FD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6C58-2B2E-3F01-853B-1443D696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23EC-1AA7-6F81-24FF-B8AA833D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2EC07-152A-921F-2971-6042E134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6D60-83BC-11A0-D51E-510FD8A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153C-B5F3-7513-9B72-5B30918F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FE70-4A27-1676-F288-4C28F5E8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7D07-9061-BE97-7C70-F717B9CA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5AFD5-6612-BF83-471C-84795AF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D685-21C2-11DB-B8C1-F68F86C6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D37-4A87-64E0-7A79-D807B373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9A7C8-C395-1B55-CC51-0C79B94F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CBE8F-5789-ED85-1392-3786A5E29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2DBC-C43D-4768-724D-E2CE51F1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C6FE2-EE2B-058F-2CB6-2D30089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2F52-9E7E-8809-0726-50EC48FF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AFA-CDCE-51AB-859D-36F34185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D6E7-964A-C4FD-0295-4760420FE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F35A7-300A-5FC2-1235-0ACACFF07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20995-71C2-1430-4E57-2C0ACDF8A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FB71D-399D-AB8B-E49E-912455E95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8D760-FE88-FCB3-7649-F651DB59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A5E49-8CF9-F6C9-4985-16181C91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7116F-4113-9328-CE3A-1F1D50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2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7F5-B2BC-E1D1-37A2-3D55285A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16BD2-0039-1449-3305-FFB7A79A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3673-85F6-BD5D-1883-38D897B0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5289-801F-F3F1-0A71-1A7313D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92EEE-7079-ED29-138A-9D8758A3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E7D5B-4830-8B00-D653-B796633B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FF190-ACB7-8CB0-C7C8-59F8494A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FC45-2F09-1123-24C6-80A65248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9951-9A5D-CA64-8299-A53E48130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9AD71-A4B9-C25C-00C1-A5C615D3A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4768-C351-0DFD-E670-02367547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DC3EC-E4AE-D04E-4B4A-DF23231A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B4EA-EE7C-94CF-4E6D-48B200ED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2CA1-FA93-8D54-65D2-3C73A038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967F-2C69-7017-B4CB-EF9405383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A17B-8376-481D-7360-46F6A8D0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FB10D-2CD1-BB7E-35C9-F8C76A6C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A012-800A-2C98-8922-C119FC12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37343-B329-DABB-CDED-0A050FA8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379-2B99-FA61-CF2A-C4357F4C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183E-0625-1D69-A288-2CD465626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F39F-5CF9-2556-9F9A-AAFE681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283E-F7E4-B6AD-FFBA-BE311863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6770-4142-C5B9-D9E0-C6B1F182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707E1-FC0C-342B-5E52-ADE06998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554A-DC20-BFD0-F9AB-AB4AAC948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DDE0-B96D-2CC7-4067-57725D4D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BFFBB-806E-8018-91A4-BA029D0E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1F76-948C-2FEA-64DB-1632CA18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B9098-C80B-66CD-69E8-C5D08097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FEB8A-2EFB-6553-F313-16E987B15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18A2-D8F9-2B50-6D0D-A1670D0F3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B32C-7331-4D14-8CE8-DF47C2DB7E1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E8D3-8D2E-A16D-CA4C-CAEA982AF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0563-605D-7C96-0078-9467F2011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E539C5-9975-1037-E086-4BF0AF8A003B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Futura T OT" panose="02000000000000000000" pitchFamily="50" charset="0"/>
              </a:rPr>
              <a:t>Syllabus of Embedded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2196E-B3A3-2C76-E90D-A9080CBC6C97}"/>
              </a:ext>
            </a:extLst>
          </p:cNvPr>
          <p:cNvSpPr txBox="1"/>
          <p:nvPr/>
        </p:nvSpPr>
        <p:spPr>
          <a:xfrm>
            <a:off x="2019300" y="284546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Unit 5: Communication Protocols (3 </a:t>
            </a:r>
            <a:r>
              <a:rPr lang="en-US" dirty="0" err="1">
                <a:solidFill>
                  <a:srgbClr val="FF0000"/>
                </a:solidFill>
                <a:latin typeface="Futura T OT" panose="02000000000000000000" pitchFamily="50" charset="0"/>
              </a:rPr>
              <a:t>Hrs</a:t>
            </a:r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)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5.1 Serial Communication: UART, SPI, I2C</a:t>
            </a:r>
          </a:p>
          <a:p>
            <a:r>
              <a:rPr lang="en-US" dirty="0">
                <a:latin typeface="Futura T OT" panose="02000000000000000000" pitchFamily="50" charset="0"/>
              </a:rPr>
              <a:t>5.2 Wireless Communication: Bluetooth, ZigBee, Wi-Fi, LoRa, GSM/GPRS</a:t>
            </a:r>
          </a:p>
          <a:p>
            <a:r>
              <a:rPr lang="en-US" dirty="0">
                <a:latin typeface="Futura T OT" panose="02000000000000000000" pitchFamily="50" charset="0"/>
              </a:rPr>
              <a:t>5.3 Networking: TCP/IP Basics in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250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8F8B4-C108-2A77-794A-A63FBC5A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F1E08-00F3-2AE4-5A5F-83BDE1DA5E9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Communication Protocols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DFA88-96B1-7618-4C82-771F04C75099}"/>
              </a:ext>
            </a:extLst>
          </p:cNvPr>
          <p:cNvSpPr txBox="1"/>
          <p:nvPr/>
        </p:nvSpPr>
        <p:spPr>
          <a:xfrm>
            <a:off x="706555" y="1531708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Standardized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sets of rules </a:t>
            </a:r>
            <a:r>
              <a:rPr lang="en-US" sz="2800" dirty="0">
                <a:latin typeface="Futura T OT" panose="02000000000000000000" pitchFamily="50" charset="0"/>
              </a:rPr>
              <a:t>and digital message formats that enables information exchange between devices.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D28A3-0F4D-FD9E-CD3A-BD5432391657}"/>
              </a:ext>
            </a:extLst>
          </p:cNvPr>
          <p:cNvSpPr txBox="1"/>
          <p:nvPr/>
        </p:nvSpPr>
        <p:spPr>
          <a:xfrm>
            <a:off x="782756" y="3033356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Acts as a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common language </a:t>
            </a:r>
            <a:r>
              <a:rPr lang="en-US" sz="2800" dirty="0">
                <a:latin typeface="Futura T OT" panose="02000000000000000000" pitchFamily="50" charset="0"/>
              </a:rPr>
              <a:t>that ensures data transmission is orderly, accurate, and secure.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B4025-8A2C-B0F5-32AE-7E554CA8F66E}"/>
              </a:ext>
            </a:extLst>
          </p:cNvPr>
          <p:cNvSpPr txBox="1"/>
          <p:nvPr/>
        </p:nvSpPr>
        <p:spPr>
          <a:xfrm>
            <a:off x="782757" y="4535004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Governs the process of sending and receiving </a:t>
            </a:r>
            <a:r>
              <a:rPr lang="en-US" sz="2800" dirty="0">
                <a:latin typeface="Futura T OT" panose="02000000000000000000" pitchFamily="50" charset="0"/>
              </a:rPr>
              <a:t>data between devices in a two-way communication exchange.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4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9079F-8B9F-2835-5A99-9BDF7D42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A16E9-D674-0862-DB04-86C11EB3F41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Communication Protocols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64D91-1F16-F322-064D-E51144A000CE}"/>
              </a:ext>
            </a:extLst>
          </p:cNvPr>
          <p:cNvSpPr txBox="1"/>
          <p:nvPr/>
        </p:nvSpPr>
        <p:spPr>
          <a:xfrm>
            <a:off x="706554" y="2167474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Device Interoperability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D7277-42BC-AE42-B28B-00F9D1781519}"/>
              </a:ext>
            </a:extLst>
          </p:cNvPr>
          <p:cNvSpPr txBox="1"/>
          <p:nvPr/>
        </p:nvSpPr>
        <p:spPr>
          <a:xfrm>
            <a:off x="706554" y="3282793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Data integrity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9AB30-1833-D381-6D83-C2598334E9B4}"/>
              </a:ext>
            </a:extLst>
          </p:cNvPr>
          <p:cNvSpPr txBox="1"/>
          <p:nvPr/>
        </p:nvSpPr>
        <p:spPr>
          <a:xfrm>
            <a:off x="706554" y="4398112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System Efficiency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062D5-0A80-0B35-61D5-4B15BEF57D1C}"/>
              </a:ext>
            </a:extLst>
          </p:cNvPr>
          <p:cNvSpPr txBox="1"/>
          <p:nvPr/>
        </p:nvSpPr>
        <p:spPr>
          <a:xfrm>
            <a:off x="706554" y="5513432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Scalability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902F2-8EF2-B576-590E-980027A3E4D3}"/>
              </a:ext>
            </a:extLst>
          </p:cNvPr>
          <p:cNvSpPr txBox="1"/>
          <p:nvPr/>
        </p:nvSpPr>
        <p:spPr>
          <a:xfrm>
            <a:off x="706554" y="796631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Key roles of communication protocols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80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720FD-BE5E-D5C3-FCAC-E5BDAE7F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B4121-4A62-AC98-0A3D-65EF8BB1101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SPI, I2C)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000A1-1C5F-5095-CDB4-C1B8D82CD971}"/>
              </a:ext>
            </a:extLst>
          </p:cNvPr>
          <p:cNvSpPr txBox="1"/>
          <p:nvPr/>
        </p:nvSpPr>
        <p:spPr>
          <a:xfrm>
            <a:off x="706555" y="1531708"/>
            <a:ext cx="10778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2800" dirty="0">
                <a:latin typeface="Futura T OT" panose="02000000000000000000" pitchFamily="50" charset="0"/>
              </a:rPr>
              <a:t>, or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Universal Asynchronous Receiver/ Transmitter</a:t>
            </a:r>
            <a:r>
              <a:rPr lang="en-US" sz="2800" dirty="0">
                <a:latin typeface="Futura T OT" panose="02000000000000000000" pitchFamily="50" charset="0"/>
              </a:rPr>
              <a:t>, is a physical circuit in a microcontroller or single integrated circuit (IC) that is used to implement serial communication between devices in an embedded system.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F1A1A-4548-FE9C-606E-4949F5F63F25}"/>
              </a:ext>
            </a:extLst>
          </p:cNvPr>
          <p:cNvSpPr txBox="1"/>
          <p:nvPr/>
        </p:nvSpPr>
        <p:spPr>
          <a:xfrm>
            <a:off x="744656" y="3248800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2800" dirty="0">
                <a:latin typeface="Futura T OT" panose="02000000000000000000" pitchFamily="50" charset="0"/>
              </a:rPr>
              <a:t>, data is sent over the bus in the form of a packet. A packet consists of a start bit, data frame, a parity bit, and stop bits.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DD5C-4B7C-EDBC-86AA-B97F314739D7}"/>
              </a:ext>
            </a:extLst>
          </p:cNvPr>
          <p:cNvSpPr txBox="1"/>
          <p:nvPr/>
        </p:nvSpPr>
        <p:spPr>
          <a:xfrm>
            <a:off x="782757" y="4535004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2800" dirty="0">
                <a:latin typeface="Futura T OT" panose="02000000000000000000" pitchFamily="50" charset="0"/>
              </a:rPr>
              <a:t>, supports bidirectional data transmission, including half-duplex and full-duplex operations.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F0695-C3D4-CB9D-6F02-A806B352EA1A}"/>
              </a:ext>
            </a:extLst>
          </p:cNvPr>
          <p:cNvSpPr txBox="1"/>
          <p:nvPr/>
        </p:nvSpPr>
        <p:spPr>
          <a:xfrm>
            <a:off x="820858" y="5821208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UART doesn’t use a clock signal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4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609E7-D38D-B630-8468-00AD9492A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9B7AE-F683-381F-B4FD-EA0278AB6702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SPI, I2C)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F5C22AD-452D-1646-8DC0-166319966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1965" y="1618903"/>
            <a:ext cx="7964268" cy="36963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B9DA42-78A8-61DB-2ADE-20A54B939B11}"/>
              </a:ext>
            </a:extLst>
          </p:cNvPr>
          <p:cNvSpPr txBox="1"/>
          <p:nvPr/>
        </p:nvSpPr>
        <p:spPr>
          <a:xfrm>
            <a:off x="744656" y="5658196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UART with data bus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83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2A500-1E14-759B-3332-D02C096D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61948-A3C0-7FB9-D0D7-366B284ED57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SPI, I2C)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FFA55-2CEA-9EC5-D8FB-9BC3BFF0C2B0}"/>
              </a:ext>
            </a:extLst>
          </p:cNvPr>
          <p:cNvSpPr txBox="1"/>
          <p:nvPr/>
        </p:nvSpPr>
        <p:spPr>
          <a:xfrm>
            <a:off x="744656" y="5710806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UART frame format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1030" name="Picture 6" descr="UART Explained | Dev Center">
            <a:extLst>
              <a:ext uri="{FF2B5EF4-FFF2-40B4-BE49-F238E27FC236}">
                <a16:creationId xmlns:a16="http://schemas.microsoft.com/office/drawing/2014/main" id="{3C0B0E56-992E-5575-70C0-A24ECA100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257" y="1040781"/>
            <a:ext cx="7385685" cy="46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631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A74E9-56B3-026A-F3C4-4C95272B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0338B-976C-6168-CA58-9A992014255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UART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SPI, I2C)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8C9B0-E01B-4453-9B89-BD9644E36937}"/>
              </a:ext>
            </a:extLst>
          </p:cNvPr>
          <p:cNvSpPr txBox="1"/>
          <p:nvPr/>
        </p:nvSpPr>
        <p:spPr>
          <a:xfrm>
            <a:off x="706555" y="1531708"/>
            <a:ext cx="107788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Advantages of UART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Simple and cost-effective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Reliable Communication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Wide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15C33-A40F-A8D0-59A5-5B4FA23598A1}"/>
              </a:ext>
            </a:extLst>
          </p:cNvPr>
          <p:cNvSpPr txBox="1"/>
          <p:nvPr/>
        </p:nvSpPr>
        <p:spPr>
          <a:xfrm>
            <a:off x="744656" y="4158804"/>
            <a:ext cx="107788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Applications of UART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Debugging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Peripheral Interfaces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Embedded Systems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02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5DDC5-C890-CA2E-EB24-B6F736D3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60199-EFAF-1986-25F1-5CE6E2E9326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42C98-333A-286C-563A-FE2F5925D369}"/>
              </a:ext>
            </a:extLst>
          </p:cNvPr>
          <p:cNvSpPr txBox="1"/>
          <p:nvPr/>
        </p:nvSpPr>
        <p:spPr>
          <a:xfrm>
            <a:off x="706555" y="1531708"/>
            <a:ext cx="1077888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Serial Peripheral Interface </a:t>
            </a:r>
            <a:r>
              <a:rPr lang="en-US" sz="2800" dirty="0">
                <a:latin typeface="Futura T OT" panose="02000000000000000000" pitchFamily="50" charset="0"/>
              </a:rPr>
              <a:t>(SPI) is synchronous serial communication protocol.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Designed for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high-speed</a:t>
            </a:r>
            <a:r>
              <a:rPr lang="en-US" sz="2800" dirty="0">
                <a:latin typeface="Futura T OT" panose="02000000000000000000" pitchFamily="50" charset="0"/>
              </a:rPr>
              <a:t>, efficient communication.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It operates in a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master-slave architecture</a:t>
            </a:r>
            <a:r>
              <a:rPr lang="en-US" sz="2800" dirty="0">
                <a:latin typeface="Futura T OT" panose="02000000000000000000" pitchFamily="50" charset="0"/>
              </a:rPr>
              <a:t> and supports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full-duplex</a:t>
            </a:r>
            <a:r>
              <a:rPr lang="en-US" sz="2800" dirty="0">
                <a:latin typeface="Futura T OT" panose="02000000000000000000" pitchFamily="50" charset="0"/>
              </a:rPr>
              <a:t> communication.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Synchronized with a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clock signal</a:t>
            </a:r>
            <a:r>
              <a:rPr lang="en-US" sz="2800" dirty="0">
                <a:latin typeface="Futura T OT" panose="02000000000000000000" pitchFamily="50" charset="0"/>
              </a:rPr>
              <a:t>, which can operate on either the rising or falling edge of the clock cycle.</a:t>
            </a:r>
          </a:p>
        </p:txBody>
      </p:sp>
    </p:spTree>
    <p:extLst>
      <p:ext uri="{BB962C8B-B14F-4D97-AF65-F5344CB8AC3E}">
        <p14:creationId xmlns:p14="http://schemas.microsoft.com/office/powerpoint/2010/main" val="196245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DE44B-A905-AA45-5A3C-0CE5C0F7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5F7E3-05A3-3360-DFB5-AD277C632B6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EDBF12-0B33-8E2A-4572-BAC1FA310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4047" y="1064030"/>
            <a:ext cx="7043904" cy="2823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CAD23-3382-0B18-BBAE-08183EC20BBC}"/>
              </a:ext>
            </a:extLst>
          </p:cNvPr>
          <p:cNvSpPr txBox="1"/>
          <p:nvPr/>
        </p:nvSpPr>
        <p:spPr>
          <a:xfrm>
            <a:off x="744656" y="4105058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SPI configuration with master and a slave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72A5C-4AB1-14CF-2A21-F4BEFEB2B925}"/>
              </a:ext>
            </a:extLst>
          </p:cNvPr>
          <p:cNvSpPr txBox="1"/>
          <p:nvPr/>
        </p:nvSpPr>
        <p:spPr>
          <a:xfrm>
            <a:off x="744655" y="5150145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Clock (SCLK) : </a:t>
            </a:r>
            <a:r>
              <a:rPr lang="en-US" sz="2800" dirty="0">
                <a:latin typeface="Futura T OT" panose="02000000000000000000" pitchFamily="50" charset="0"/>
              </a:rPr>
              <a:t>Clock signal is generated by the master device and is used to synchronize data transfer between the master and the slave.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3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636AF-130E-43D5-2EA9-1702E9CD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C9CC3-55B5-5E4A-F9BD-0BEFBB5FC91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CE0E35D-9232-3099-0D73-2ED9BB35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4047" y="1064030"/>
            <a:ext cx="7043904" cy="2823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A66E14-A908-5CE5-287C-D4A732529CEE}"/>
              </a:ext>
            </a:extLst>
          </p:cNvPr>
          <p:cNvSpPr txBox="1"/>
          <p:nvPr/>
        </p:nvSpPr>
        <p:spPr>
          <a:xfrm>
            <a:off x="744656" y="4105058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SPI configuration with master and a slave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4DAA6-DD24-108D-6152-F184B2FDDA97}"/>
              </a:ext>
            </a:extLst>
          </p:cNvPr>
          <p:cNvSpPr txBox="1"/>
          <p:nvPr/>
        </p:nvSpPr>
        <p:spPr>
          <a:xfrm>
            <a:off x="744655" y="5150145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Chip Select (CS) : </a:t>
            </a:r>
            <a:r>
              <a:rPr lang="en-US" sz="2800" dirty="0">
                <a:latin typeface="Futura T OT" panose="02000000000000000000" pitchFamily="50" charset="0"/>
              </a:rPr>
              <a:t>The chip select signal, typically active low, is used by the master to select a specific slave device for communication.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53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655DA-4A21-6978-E7B7-B05C2F47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FBA1D-A7BC-38E6-7EC4-D1D40C92D7A1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988F037-E8D9-5DEA-6131-A5F599DA3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4047" y="1064030"/>
            <a:ext cx="7043904" cy="2823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FCCBF6-7EA0-8086-D049-C036B5FC94D8}"/>
              </a:ext>
            </a:extLst>
          </p:cNvPr>
          <p:cNvSpPr txBox="1"/>
          <p:nvPr/>
        </p:nvSpPr>
        <p:spPr>
          <a:xfrm>
            <a:off x="744656" y="4105058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SPI configuration with master and a slave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25C34-389F-CD30-4763-151D5DFB6C9E}"/>
              </a:ext>
            </a:extLst>
          </p:cNvPr>
          <p:cNvSpPr txBox="1"/>
          <p:nvPr/>
        </p:nvSpPr>
        <p:spPr>
          <a:xfrm>
            <a:off x="744655" y="5316916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Master Out Slave In (MOSI) : </a:t>
            </a:r>
            <a:r>
              <a:rPr lang="en-US" sz="2800" dirty="0">
                <a:latin typeface="Futura T OT" panose="02000000000000000000" pitchFamily="50" charset="0"/>
              </a:rPr>
              <a:t>This data line transmits data from the master to the slave.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9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1CF42-8EBA-1556-D482-49F4363D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3F344-2B7F-5650-DE91-E648E0A4121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BADC69-F9B2-0C3A-B897-A69DF2CBF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4047" y="1064030"/>
            <a:ext cx="7043904" cy="2823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F69A2-4D21-51A6-E89F-93742AF8C42D}"/>
              </a:ext>
            </a:extLst>
          </p:cNvPr>
          <p:cNvSpPr txBox="1"/>
          <p:nvPr/>
        </p:nvSpPr>
        <p:spPr>
          <a:xfrm>
            <a:off x="744656" y="4105058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SPI configuration with master and a slave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43EC6-C30D-89FA-6C32-807730F0E958}"/>
              </a:ext>
            </a:extLst>
          </p:cNvPr>
          <p:cNvSpPr txBox="1"/>
          <p:nvPr/>
        </p:nvSpPr>
        <p:spPr>
          <a:xfrm>
            <a:off x="744655" y="5316916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Master In, Slave Out (MISO) : </a:t>
            </a:r>
            <a:r>
              <a:rPr lang="en-US" sz="2800" dirty="0">
                <a:latin typeface="Futura T OT" panose="02000000000000000000" pitchFamily="50" charset="0"/>
              </a:rPr>
              <a:t>This data line transmits data from the slave to the master.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74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4FB09-51E6-BD05-F924-3A629FAC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99C91-A201-0D86-A54D-EE531F0FB11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0CC98-4445-1575-4FDF-A9252BD1B7AE}"/>
              </a:ext>
            </a:extLst>
          </p:cNvPr>
          <p:cNvSpPr txBox="1"/>
          <p:nvPr/>
        </p:nvSpPr>
        <p:spPr>
          <a:xfrm>
            <a:off x="706555" y="1096431"/>
            <a:ext cx="10778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Communication Process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Clock Synchronization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Data Transmission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Slave 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Multiple Slave Setup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2456C7-F141-C4F4-6A18-CDAC15CB0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8482" y="3616729"/>
            <a:ext cx="6771236" cy="304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48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25742-4A9D-9ADC-215F-BBC5E977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10E04-1508-042C-0C30-6A5573AF367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F84CD-0D0D-1108-A13A-4281F1CD8BA0}"/>
              </a:ext>
            </a:extLst>
          </p:cNvPr>
          <p:cNvSpPr txBox="1"/>
          <p:nvPr/>
        </p:nvSpPr>
        <p:spPr>
          <a:xfrm>
            <a:off x="744656" y="5568098"/>
            <a:ext cx="10778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SPI Mode 0, CPOL = 0, CPHA = 0: CLK idle state = low, data sampled on rising edge and shifted on falling edge.</a:t>
            </a:r>
            <a:endParaRPr lang="en-US" sz="4800" dirty="0">
              <a:latin typeface="Futura T OT" panose="02000000000000000000" pitchFamily="50" charset="0"/>
            </a:endParaRPr>
          </a:p>
        </p:txBody>
      </p:sp>
      <p:pic>
        <p:nvPicPr>
          <p:cNvPr id="2050" name="Picture 2" descr="Figure 2">
            <a:extLst>
              <a:ext uri="{FF2B5EF4-FFF2-40B4-BE49-F238E27FC236}">
                <a16:creationId xmlns:a16="http://schemas.microsoft.com/office/drawing/2014/main" id="{39AA671D-A1E4-470E-A4FF-8417A95A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2818"/>
            <a:ext cx="12192000" cy="3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354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19CC7-EF28-B52B-664F-B4E07039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E28D2F-60A1-F4E8-344E-C1EF21614261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7D3BF-77BD-250A-03D0-DDCCF5E8A3E9}"/>
              </a:ext>
            </a:extLst>
          </p:cNvPr>
          <p:cNvSpPr txBox="1"/>
          <p:nvPr/>
        </p:nvSpPr>
        <p:spPr>
          <a:xfrm>
            <a:off x="744656" y="5568098"/>
            <a:ext cx="10778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SPI Mode 1, CPOL = 0, CPHA = 1: CLK idle state = low, data sampled on the falling edge and shifted on the rising edge.</a:t>
            </a:r>
            <a:endParaRPr lang="en-US" sz="6000" dirty="0">
              <a:latin typeface="Futura T OT" panose="02000000000000000000" pitchFamily="50" charset="0"/>
            </a:endParaRPr>
          </a:p>
        </p:txBody>
      </p:sp>
      <p:pic>
        <p:nvPicPr>
          <p:cNvPr id="5122" name="Picture 2" descr="Figure 3">
            <a:extLst>
              <a:ext uri="{FF2B5EF4-FFF2-40B4-BE49-F238E27FC236}">
                <a16:creationId xmlns:a16="http://schemas.microsoft.com/office/drawing/2014/main" id="{5931C13B-46F8-C48C-B97A-801EBC9B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3563"/>
            <a:ext cx="12192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41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DE51E-219C-FE28-2E82-8842B56B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116C29-3A86-438C-4218-D05BB50577F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AFC6C-BBE5-B65B-8815-3C6ED7C95231}"/>
              </a:ext>
            </a:extLst>
          </p:cNvPr>
          <p:cNvSpPr txBox="1"/>
          <p:nvPr/>
        </p:nvSpPr>
        <p:spPr>
          <a:xfrm>
            <a:off x="744656" y="5568098"/>
            <a:ext cx="10778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SPI Mode 2, CPOL = 1, CPHA = 1: CLK idle state = high, data sampled on the falling edge and shifted on the rising edge.</a:t>
            </a:r>
            <a:endParaRPr lang="en-US" sz="6000" dirty="0">
              <a:latin typeface="Futura T OT" panose="020000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F9BB5-45C2-C02D-1D37-60A82712A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316"/>
            <a:ext cx="12192000" cy="31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0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2AB29-3DE2-DB66-892A-B99F313B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73C058-B5B7-2EA0-D771-C042D59D8EC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A2B52-3EE9-08AE-065D-ED16571C82DE}"/>
              </a:ext>
            </a:extLst>
          </p:cNvPr>
          <p:cNvSpPr txBox="1"/>
          <p:nvPr/>
        </p:nvSpPr>
        <p:spPr>
          <a:xfrm>
            <a:off x="744656" y="5568098"/>
            <a:ext cx="10778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SPI Mode 3, CPOL = 1, CPHA = 0: CLK idle state = high, data sampled on the rising edge and shifted on the falling edge.</a:t>
            </a:r>
            <a:endParaRPr lang="en-US" sz="6000" dirty="0">
              <a:latin typeface="Futura T OT" panose="02000000000000000000" pitchFamily="50" charset="0"/>
            </a:endParaRPr>
          </a:p>
        </p:txBody>
      </p:sp>
      <p:pic>
        <p:nvPicPr>
          <p:cNvPr id="6146" name="Picture 2" descr="Figure 5">
            <a:extLst>
              <a:ext uri="{FF2B5EF4-FFF2-40B4-BE49-F238E27FC236}">
                <a16:creationId xmlns:a16="http://schemas.microsoft.com/office/drawing/2014/main" id="{2F30C6FF-1EA0-4612-D25B-92E6DFDBC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9550"/>
            <a:ext cx="12192000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115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1561F-F039-04BD-82BD-376A313D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4B6FEE-081E-19A0-E210-8FF3B794E77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SPI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I2C)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509B8-83B5-9B5B-638B-ED2381F45F08}"/>
              </a:ext>
            </a:extLst>
          </p:cNvPr>
          <p:cNvSpPr txBox="1"/>
          <p:nvPr/>
        </p:nvSpPr>
        <p:spPr>
          <a:xfrm>
            <a:off x="706555" y="1531708"/>
            <a:ext cx="107788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Advantages of SPI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High-speed communication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Full-duplex Operation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Simple Hardware Requirement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Support for multiple Slaves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503C2-DC7D-7ECA-EDB7-2390644218A7}"/>
              </a:ext>
            </a:extLst>
          </p:cNvPr>
          <p:cNvSpPr txBox="1"/>
          <p:nvPr/>
        </p:nvSpPr>
        <p:spPr>
          <a:xfrm>
            <a:off x="744656" y="4158804"/>
            <a:ext cx="107788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Applications of SPI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Memory Devices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Sensors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Display Modules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Communication Peripherals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862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2DDA9-2B38-E567-4915-95310C06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46386-EB10-F716-6580-64A6AE09399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SPI,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I2C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E6D5E-47CC-6355-82D2-FA480471606D}"/>
              </a:ext>
            </a:extLst>
          </p:cNvPr>
          <p:cNvSpPr txBox="1"/>
          <p:nvPr/>
        </p:nvSpPr>
        <p:spPr>
          <a:xfrm>
            <a:off x="706555" y="1531708"/>
            <a:ext cx="107788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Inter-Integrated Circuit </a:t>
            </a:r>
            <a:r>
              <a:rPr lang="en-US" sz="2800" dirty="0">
                <a:latin typeface="Futura T OT" panose="02000000000000000000" pitchFamily="50" charset="0"/>
              </a:rPr>
              <a:t>Protocol, is a widely used two wire interface in embedded systems.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I2C allows multiple masters and slaves to share a single bus.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Its synchronous,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half-duplex</a:t>
            </a:r>
            <a:r>
              <a:rPr lang="en-US" sz="2800" dirty="0">
                <a:latin typeface="Futura T OT" panose="02000000000000000000" pitchFamily="50" charset="0"/>
              </a:rPr>
              <a:t> design minimizes wiring complexity.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There are only wires: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Serial Data (SDA)</a:t>
            </a:r>
            <a:r>
              <a:rPr lang="en-US" sz="2800" dirty="0">
                <a:latin typeface="Futura T OT" panose="02000000000000000000" pitchFamily="50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Serial Clock (SCL). </a:t>
            </a:r>
            <a:r>
              <a:rPr lang="en-US" sz="2800" dirty="0">
                <a:latin typeface="Futura T OT" panose="02000000000000000000" pitchFamily="50" charset="0"/>
              </a:rPr>
              <a:t>Thus, also known as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Two Wire Interface</a:t>
            </a:r>
            <a:r>
              <a:rPr lang="en-US" sz="2800" dirty="0">
                <a:latin typeface="Futura T OT" panose="020000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0524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3B9B4-76B7-DCCC-5834-B836772D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8138D3-AD49-5641-BFEA-7CB833EDDF8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SPI,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I2C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B97E3-87EA-5999-5B8C-3F03BEB190D4}"/>
              </a:ext>
            </a:extLst>
          </p:cNvPr>
          <p:cNvSpPr txBox="1"/>
          <p:nvPr/>
        </p:nvSpPr>
        <p:spPr>
          <a:xfrm>
            <a:off x="744656" y="4857750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Generalized I2C connection diagram</a:t>
            </a:r>
          </a:p>
        </p:txBody>
      </p:sp>
      <p:pic>
        <p:nvPicPr>
          <p:cNvPr id="7170" name="Picture 2" descr="36684">
            <a:extLst>
              <a:ext uri="{FF2B5EF4-FFF2-40B4-BE49-F238E27FC236}">
                <a16:creationId xmlns:a16="http://schemas.microsoft.com/office/drawing/2014/main" id="{8AABC4FC-0B33-A57D-B150-2E627A99E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11" y="938644"/>
            <a:ext cx="8924977" cy="356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515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4729A-95B2-6ECB-D74F-24325D78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3DA8BE-8079-9F17-4E81-C4F9C382135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SPI,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I2C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7693D-08E9-C4B6-A619-6B0F61CE4FFC}"/>
              </a:ext>
            </a:extLst>
          </p:cNvPr>
          <p:cNvSpPr txBox="1"/>
          <p:nvPr/>
        </p:nvSpPr>
        <p:spPr>
          <a:xfrm>
            <a:off x="744656" y="2312938"/>
            <a:ext cx="10778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Communication Process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Start Condition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Addressing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Data Transfer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utura T OT" panose="02000000000000000000" pitchFamily="50" charset="0"/>
              </a:rPr>
              <a:t>Stop Condition</a:t>
            </a:r>
          </a:p>
        </p:txBody>
      </p:sp>
    </p:spTree>
    <p:extLst>
      <p:ext uri="{BB962C8B-B14F-4D97-AF65-F5344CB8AC3E}">
        <p14:creationId xmlns:p14="http://schemas.microsoft.com/office/powerpoint/2010/main" val="3016519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F1108-38CB-EB35-4DA1-14E700E0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2F8C3-18BB-8E89-B261-354777E750D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SPI,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I2C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4DF15-C473-68B4-E235-014FE0FC297B}"/>
              </a:ext>
            </a:extLst>
          </p:cNvPr>
          <p:cNvSpPr txBox="1"/>
          <p:nvPr/>
        </p:nvSpPr>
        <p:spPr>
          <a:xfrm>
            <a:off x="744656" y="5290040"/>
            <a:ext cx="10778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Frame format</a:t>
            </a:r>
            <a:endParaRPr lang="en-US" sz="2800" dirty="0">
              <a:latin typeface="Futura T OT" panose="02000000000000000000" pitchFamily="50" charset="0"/>
            </a:endParaRPr>
          </a:p>
        </p:txBody>
      </p:sp>
      <p:pic>
        <p:nvPicPr>
          <p:cNvPr id="8196" name="Picture 4" descr="What is the I2C Communication Protocol - Soldered Electronics">
            <a:extLst>
              <a:ext uri="{FF2B5EF4-FFF2-40B4-BE49-F238E27FC236}">
                <a16:creationId xmlns:a16="http://schemas.microsoft.com/office/drawing/2014/main" id="{52B8F882-5003-311C-4ADB-A1A88EF13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014903"/>
            <a:ext cx="12192000" cy="427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280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50BC6-AED5-6EC1-A235-BE930435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47C604-6735-DA14-4E8C-01DC716CCC2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Serial Communication (UART, SPI,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I2C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4FA5F-8474-876A-9C24-69874DBDEC47}"/>
              </a:ext>
            </a:extLst>
          </p:cNvPr>
          <p:cNvSpPr txBox="1"/>
          <p:nvPr/>
        </p:nvSpPr>
        <p:spPr>
          <a:xfrm>
            <a:off x="706555" y="1531708"/>
            <a:ext cx="107788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Advantages of I2C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Simplified Wiring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Supports Multiple Devices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Synchronous Data Transfer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Built-in Acknowledgement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2F216-CC21-FDD1-0797-9EB99B68B683}"/>
              </a:ext>
            </a:extLst>
          </p:cNvPr>
          <p:cNvSpPr txBox="1"/>
          <p:nvPr/>
        </p:nvSpPr>
        <p:spPr>
          <a:xfrm>
            <a:off x="744656" y="4158804"/>
            <a:ext cx="107788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Applications of I2C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Sensor Integration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Display Communication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Memory Modules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Embedded Systems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640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080B9-6476-CA09-3860-74995D11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B68C1-508F-A4B9-6300-1AFA493C328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Bluetooth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ZigBee, Wi-Fi, LoRa, GSM/GPRS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65924-3451-2E66-C9F1-3267F2F1177F}"/>
              </a:ext>
            </a:extLst>
          </p:cNvPr>
          <p:cNvSpPr txBox="1"/>
          <p:nvPr/>
        </p:nvSpPr>
        <p:spPr>
          <a:xfrm>
            <a:off x="744656" y="1166842"/>
            <a:ext cx="107788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Best for</a:t>
            </a:r>
            <a:r>
              <a:rPr lang="en-US" sz="3200" dirty="0">
                <a:latin typeface="Futura T OT" panose="02000000000000000000" pitchFamily="50" charset="0"/>
              </a:rPr>
              <a:t>: Direct-to-smartphone connectivity and simple cable replacement.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Design Advantage</a:t>
            </a:r>
            <a:r>
              <a:rPr lang="en-US" sz="3200" dirty="0">
                <a:latin typeface="Futura T OT" panose="02000000000000000000" pitchFamily="50" charset="0"/>
              </a:rPr>
              <a:t>: Native support on almost all modern mobile devices. You don’t need a gateway to talk to a phone.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Latency</a:t>
            </a:r>
            <a:r>
              <a:rPr lang="en-US" sz="3200" dirty="0">
                <a:latin typeface="Futura T OT" panose="02000000000000000000" pitchFamily="50" charset="0"/>
              </a:rPr>
              <a:t>: Optimized for short bursts; has very fast "wake-to-connect" times (~3ms).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Embedded Tip</a:t>
            </a:r>
            <a:r>
              <a:rPr lang="en-US" sz="3200" dirty="0">
                <a:latin typeface="Futura T OT" panose="02000000000000000000" pitchFamily="50" charset="0"/>
              </a:rPr>
              <a:t>: Use BLE 5.0+ features like Coded PHY if you need extra range at the cost of data rate, or 2M PHY for higher throughput.</a:t>
            </a:r>
          </a:p>
        </p:txBody>
      </p:sp>
    </p:spTree>
    <p:extLst>
      <p:ext uri="{BB962C8B-B14F-4D97-AF65-F5344CB8AC3E}">
        <p14:creationId xmlns:p14="http://schemas.microsoft.com/office/powerpoint/2010/main" val="847048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28136-98A9-4F35-E450-CA07CC4D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EB29C1-9684-3261-F241-3DDC124F401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Bluetooth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ZigBee, Wi-Fi, LoRa, GSM/GPRS</a:t>
            </a:r>
          </a:p>
        </p:txBody>
      </p:sp>
      <p:pic>
        <p:nvPicPr>
          <p:cNvPr id="5122" name="Picture 2" descr="Embedded System Project 7 //. ESP32 Tutorial on Bluetooth and… | by Felisa  Aidadora Darmawan | Medium">
            <a:extLst>
              <a:ext uri="{FF2B5EF4-FFF2-40B4-BE49-F238E27FC236}">
                <a16:creationId xmlns:a16="http://schemas.microsoft.com/office/drawing/2014/main" id="{E4E54A6C-2C66-00E5-3D73-12FBCF23C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922" y="1186540"/>
            <a:ext cx="7164156" cy="567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176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69984-4118-7E8B-7903-BD6A6F78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CC64EB-9FDE-DEB9-A21D-606BF5ABAF0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ZigBee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Wi-Fi, LoRa, GSM/GPRS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43CC3-B57A-B519-47AE-E25CB5B8802E}"/>
              </a:ext>
            </a:extLst>
          </p:cNvPr>
          <p:cNvSpPr txBox="1"/>
          <p:nvPr/>
        </p:nvSpPr>
        <p:spPr>
          <a:xfrm>
            <a:off x="744656" y="1012954"/>
            <a:ext cx="107788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Best for</a:t>
            </a:r>
            <a:r>
              <a:rPr lang="en-US" sz="3200" dirty="0">
                <a:latin typeface="Futura T OT" panose="02000000000000000000" pitchFamily="50" charset="0"/>
              </a:rPr>
              <a:t>: Large-scale sensor networks (e.g., 50+ light switches or temperature sensors).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Design Advantage</a:t>
            </a:r>
            <a:r>
              <a:rPr lang="en-US" sz="3200" dirty="0">
                <a:latin typeface="Futura T OT" panose="02000000000000000000" pitchFamily="50" charset="0"/>
              </a:rPr>
              <a:t>: Superior Self-Healing Mesh. If one node fails, data automatically reroutes. It is much more robust for "whole-house" or industrial floor coverage than BLE.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Integration Challenge</a:t>
            </a:r>
            <a:r>
              <a:rPr lang="en-US" sz="3200" dirty="0">
                <a:latin typeface="Futura T OT" panose="02000000000000000000" pitchFamily="50" charset="0"/>
              </a:rPr>
              <a:t>: Requires a Gateway (Hub) to connect to the Internet or a smartphone.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Embedded Tip</a:t>
            </a:r>
            <a:r>
              <a:rPr lang="en-US" sz="3200" dirty="0">
                <a:latin typeface="Futura T OT" panose="02000000000000000000" pitchFamily="50" charset="0"/>
              </a:rPr>
              <a:t>: Ensure you use a "Full Function Device" (FFD) for mains-powered nodes to act as routers, and "Reduced Function Devices" (RFD) for battery-powered end-nodes.</a:t>
            </a:r>
          </a:p>
        </p:txBody>
      </p:sp>
    </p:spTree>
    <p:extLst>
      <p:ext uri="{BB962C8B-B14F-4D97-AF65-F5344CB8AC3E}">
        <p14:creationId xmlns:p14="http://schemas.microsoft.com/office/powerpoint/2010/main" val="3383898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98535-CBDE-911C-9F1A-92982FCA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91E966-F4C9-3827-325B-57948216B23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ZigBee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Wi-Fi, LoRa, GSM/GPRS</a:t>
            </a:r>
          </a:p>
        </p:txBody>
      </p:sp>
      <p:pic>
        <p:nvPicPr>
          <p:cNvPr id="1026" name="Picture 2" descr="Introduction of ZigBee - GeeksforGeeks">
            <a:extLst>
              <a:ext uri="{FF2B5EF4-FFF2-40B4-BE49-F238E27FC236}">
                <a16:creationId xmlns:a16="http://schemas.microsoft.com/office/drawing/2014/main" id="{84F3F2C4-1808-B930-8954-0D63A2B7B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392" y="982287"/>
            <a:ext cx="7884501" cy="496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255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83544-33D7-A1EB-889B-D268F94D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42C65D-027F-1528-998F-0367DB1313F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Wi-Fi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LoRa, GSM/GPRS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DE025-70FE-6F09-A989-43F648C473FB}"/>
              </a:ext>
            </a:extLst>
          </p:cNvPr>
          <p:cNvSpPr txBox="1"/>
          <p:nvPr/>
        </p:nvSpPr>
        <p:spPr>
          <a:xfrm>
            <a:off x="744656" y="958721"/>
            <a:ext cx="107788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Best for</a:t>
            </a:r>
            <a:r>
              <a:rPr lang="en-US" sz="3200" dirty="0">
                <a:latin typeface="Futura T OT" panose="02000000000000000000" pitchFamily="50" charset="0"/>
              </a:rPr>
              <a:t>: High-bandwidth applications like security cameras or devices that must connect directly to the Cloud without a hub.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Power Challenge</a:t>
            </a:r>
            <a:r>
              <a:rPr lang="en-US" sz="3200" dirty="0">
                <a:latin typeface="Futura T OT" panose="02000000000000000000" pitchFamily="50" charset="0"/>
              </a:rPr>
              <a:t>: The "Keeping Alive" overhead of TCP/IP is taxing. It is difficult to run a Wi-Fi device on a coin-cell battery for long periods.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Security</a:t>
            </a:r>
            <a:r>
              <a:rPr lang="en-US" sz="3200" dirty="0">
                <a:latin typeface="Futura T OT" panose="02000000000000000000" pitchFamily="50" charset="0"/>
              </a:rPr>
              <a:t>: Requires WPA2/WPA3 implementation, which is more resource-heavy for the MCU than Zigbee’s AES-128.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Embedded Tip</a:t>
            </a:r>
            <a:r>
              <a:rPr lang="en-US" sz="3200" dirty="0">
                <a:latin typeface="Futura T OT" panose="02000000000000000000" pitchFamily="50" charset="0"/>
              </a:rPr>
              <a:t>: If battery life is critical but Wi-Fi is required, use Wi-Fi 6 (802.11ax) modules that support Target Wake Time (TWT), which allows the device to sleep for long periods.</a:t>
            </a:r>
          </a:p>
        </p:txBody>
      </p:sp>
    </p:spTree>
    <p:extLst>
      <p:ext uri="{BB962C8B-B14F-4D97-AF65-F5344CB8AC3E}">
        <p14:creationId xmlns:p14="http://schemas.microsoft.com/office/powerpoint/2010/main" val="3911066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A7602-921B-601B-73A2-95326F4E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822B9-6282-3AAC-2E75-B930B9B82E9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Wi-Fi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LoRa, GSM/GPRS</a:t>
            </a:r>
          </a:p>
        </p:txBody>
      </p:sp>
      <p:pic>
        <p:nvPicPr>
          <p:cNvPr id="2050" name="Picture 2" descr="Embedded WiFi Modules | Embedded wireless Device Servers-PUSR Store -  Official Store for IoT Devices and IoT Modules">
            <a:extLst>
              <a:ext uri="{FF2B5EF4-FFF2-40B4-BE49-F238E27FC236}">
                <a16:creationId xmlns:a16="http://schemas.microsoft.com/office/drawing/2014/main" id="{2843B363-3B13-C308-EDF7-DA75C38A1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630" y="920548"/>
            <a:ext cx="9349660" cy="509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169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D602BC-BDC9-A4F4-DD4E-D53D59980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175163"/>
              </p:ext>
            </p:extLst>
          </p:nvPr>
        </p:nvGraphicFramePr>
        <p:xfrm>
          <a:off x="457200" y="1330679"/>
          <a:ext cx="11353800" cy="4196642"/>
        </p:xfrm>
        <a:graphic>
          <a:graphicData uri="http://schemas.openxmlformats.org/drawingml/2006/table">
            <a:tbl>
              <a:tblPr/>
              <a:tblGrid>
                <a:gridCol w="2838450">
                  <a:extLst>
                    <a:ext uri="{9D8B030D-6E8A-4147-A177-3AD203B41FA5}">
                      <a16:colId xmlns:a16="http://schemas.microsoft.com/office/drawing/2014/main" val="433938155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3219007055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3887866402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499081694"/>
                    </a:ext>
                  </a:extLst>
                </a:gridCol>
              </a:tblGrid>
              <a:tr h="756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Bluetooth Low Energy (BLE)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Zigbee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Wi-Fi (802.11 b/g/n/ax)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63283"/>
                  </a:ext>
                </a:extLst>
              </a:tr>
              <a:tr h="447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Standard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IEEE 802.15.1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IEEE 802.15.4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IEEE 802.11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021131"/>
                  </a:ext>
                </a:extLst>
              </a:tr>
              <a:tr h="447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Data Rate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1 Mbps to 2 Mbps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250 Kbps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11 Mbps to 10 Gbps+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441650"/>
                  </a:ext>
                </a:extLst>
              </a:tr>
              <a:tr h="447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Power Consumption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Ultra-Low (Months/Years)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Very Low (Months/Years)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High (Days/Weeks)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354279"/>
                  </a:ext>
                </a:extLst>
              </a:tr>
              <a:tr h="447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Network Topology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Star, Point-to-point, Mesh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Mesh, Star, Tree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Star (Access Point)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293791"/>
                  </a:ext>
                </a:extLst>
              </a:tr>
              <a:tr h="756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Max Nodes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~20–30 (Star); 32k (Mesh)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65,000+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~250 per Access Point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434186"/>
                  </a:ext>
                </a:extLst>
              </a:tr>
              <a:tr h="447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Indoor Range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~10–30 meters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~10–100 meters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~50–100 meters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914492"/>
                  </a:ext>
                </a:extLst>
              </a:tr>
              <a:tr h="4471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Primary Use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Wearables, Peripherals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Smart Home, Industrial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Video, Web, Cloud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255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875BE2-AF1C-4EAC-0168-E4B590FBAEC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Bluetooth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ZigBee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Wi-Fi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LoRa, GSM/GPRS</a:t>
            </a:r>
          </a:p>
        </p:txBody>
      </p:sp>
    </p:spTree>
    <p:extLst>
      <p:ext uri="{BB962C8B-B14F-4D97-AF65-F5344CB8AC3E}">
        <p14:creationId xmlns:p14="http://schemas.microsoft.com/office/powerpoint/2010/main" val="361432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D29AF-DC33-4DA4-79D3-BE320E97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0B7FF-D8E3-E44C-A8FA-526E338BC65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Wi-Fi,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LoRa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GSM/GPRS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1DEF8-C8A7-0700-964C-3BE473BD036C}"/>
              </a:ext>
            </a:extLst>
          </p:cNvPr>
          <p:cNvSpPr txBox="1"/>
          <p:nvPr/>
        </p:nvSpPr>
        <p:spPr>
          <a:xfrm>
            <a:off x="744656" y="584775"/>
            <a:ext cx="107788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Best for</a:t>
            </a:r>
            <a:r>
              <a:rPr lang="en-US" sz="3200" dirty="0">
                <a:latin typeface="Futura T OT" panose="02000000000000000000" pitchFamily="50" charset="0"/>
              </a:rPr>
              <a:t>: Battery-powered sensors in remote areas (e.g., soil moisture, tank levels).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Design Advantage</a:t>
            </a:r>
            <a:r>
              <a:rPr lang="en-US" sz="3200" dirty="0">
                <a:latin typeface="Futura T OT" panose="02000000000000000000" pitchFamily="50" charset="0"/>
              </a:rPr>
              <a:t>: Extremely high receiver sensitivity allows signals to travel through buildings or even underground. You can build your own Private Network with a single gateway and zero monthly fees.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Duty Cycle Limits</a:t>
            </a:r>
            <a:r>
              <a:rPr lang="en-US" sz="3200" dirty="0">
                <a:latin typeface="Futura T OT" panose="02000000000000000000" pitchFamily="50" charset="0"/>
              </a:rPr>
              <a:t>: In many regions (like the EU), you are legally restricted to a 1% duty cycle (e.g., transmitting for only 36 seconds per hour).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Embedded Tip</a:t>
            </a:r>
            <a:r>
              <a:rPr lang="en-US" sz="3200" dirty="0">
                <a:latin typeface="Futura T OT" panose="02000000000000000000" pitchFamily="50" charset="0"/>
              </a:rPr>
              <a:t>: Choose your Spreading Factor (SF) carefully. A higher SF increases range but also increases "Time-on-Air," which drains the battery faster and risks packet collisions.</a:t>
            </a:r>
          </a:p>
        </p:txBody>
      </p:sp>
    </p:spTree>
    <p:extLst>
      <p:ext uri="{BB962C8B-B14F-4D97-AF65-F5344CB8AC3E}">
        <p14:creationId xmlns:p14="http://schemas.microsoft.com/office/powerpoint/2010/main" val="2344330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05A09-D3CA-4428-355B-C71C42DE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AFAC2-22C4-CEE0-8D05-901D62DB37C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Wi-Fi,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LoRa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GSM/GPRS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AAD9A-2BFA-8CB6-A945-359CA1E74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9"/>
          <a:stretch>
            <a:fillRect/>
          </a:stretch>
        </p:blipFill>
        <p:spPr>
          <a:xfrm>
            <a:off x="410094" y="1280160"/>
            <a:ext cx="11371811" cy="495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4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2FDA1-FFCB-C0BB-2331-6B462881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3A9DA-96BF-A212-0E0A-D6A7E7198C0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Wi-Fi, LoRa,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GSM/GPRS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14A1B-967E-E9C4-A620-5369E603374B}"/>
              </a:ext>
            </a:extLst>
          </p:cNvPr>
          <p:cNvSpPr txBox="1"/>
          <p:nvPr/>
        </p:nvSpPr>
        <p:spPr>
          <a:xfrm>
            <a:off x="744656" y="856357"/>
            <a:ext cx="107788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Best for</a:t>
            </a:r>
            <a:r>
              <a:rPr lang="en-US" sz="3200" dirty="0">
                <a:latin typeface="Futura T OT" panose="02000000000000000000" pitchFamily="50" charset="0"/>
              </a:rPr>
              <a:t>: Mobile applications that move across cities or countries where you cannot install your own gateways.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Design Advantage</a:t>
            </a:r>
            <a:r>
              <a:rPr lang="en-US" sz="3200" dirty="0">
                <a:latin typeface="Futura T OT" panose="02000000000000000000" pitchFamily="50" charset="0"/>
              </a:rPr>
              <a:t>: "Always-on" connectivity. Unlike LoRa, which is mostly "fire and forget" for small packets, GPRS allows for a persistent TCP/IP connection.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Power Challenge</a:t>
            </a:r>
            <a:r>
              <a:rPr lang="en-US" sz="3200" dirty="0">
                <a:latin typeface="Futura T OT" panose="02000000000000000000" pitchFamily="50" charset="0"/>
              </a:rPr>
              <a:t>: GSM modules (like the SIM800 series) can pull 2A current spikes during transmission. You must design your power supply with large decoupling capacitors (e.g., 1000µF+) to prevent MCU burnouts.</a:t>
            </a:r>
          </a:p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Embedded Tip</a:t>
            </a:r>
            <a:r>
              <a:rPr lang="en-US" sz="3200" dirty="0">
                <a:latin typeface="Futura T OT" panose="02000000000000000000" pitchFamily="50" charset="0"/>
              </a:rPr>
              <a:t>: For modern designs, look into LTE-M or NB-IoT modules. They offer cellular coverage with significantly lower power consumption than traditional 2G/3G.</a:t>
            </a:r>
          </a:p>
        </p:txBody>
      </p:sp>
    </p:spTree>
    <p:extLst>
      <p:ext uri="{BB962C8B-B14F-4D97-AF65-F5344CB8AC3E}">
        <p14:creationId xmlns:p14="http://schemas.microsoft.com/office/powerpoint/2010/main" val="4090058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D5B9D-FFA9-27D5-3C24-30ABCCFE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863DC-FBAE-6B25-A538-FB59BA70A013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Wi-Fi, LoRa,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GSM/GPRS</a:t>
            </a:r>
          </a:p>
        </p:txBody>
      </p:sp>
      <p:pic>
        <p:nvPicPr>
          <p:cNvPr id="4098" name="Picture 2" descr="GPRS/GSM Module Made Easy: Working, AT Commands, and Uses 101 Explained">
            <a:extLst>
              <a:ext uri="{FF2B5EF4-FFF2-40B4-BE49-F238E27FC236}">
                <a16:creationId xmlns:a16="http://schemas.microsoft.com/office/drawing/2014/main" id="{D01F999E-F2E7-9608-981A-AD5AA5830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BC9E2C-DBAB-F54F-005F-11EC33002D08}"/>
              </a:ext>
            </a:extLst>
          </p:cNvPr>
          <p:cNvSpPr txBox="1"/>
          <p:nvPr/>
        </p:nvSpPr>
        <p:spPr>
          <a:xfrm>
            <a:off x="5164493" y="5811560"/>
            <a:ext cx="1863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GSM Module</a:t>
            </a:r>
          </a:p>
        </p:txBody>
      </p:sp>
    </p:spTree>
    <p:extLst>
      <p:ext uri="{BB962C8B-B14F-4D97-AF65-F5344CB8AC3E}">
        <p14:creationId xmlns:p14="http://schemas.microsoft.com/office/powerpoint/2010/main" val="741553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5DDF08-976C-6F41-A6EA-987E50AB5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9173"/>
              </p:ext>
            </p:extLst>
          </p:nvPr>
        </p:nvGraphicFramePr>
        <p:xfrm>
          <a:off x="838200" y="1455420"/>
          <a:ext cx="10515600" cy="4023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445369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9025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83516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Feature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LoRa / LoRaWAN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GSM (2G) / GPRS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720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Network Type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LPWAN (Unlicensed)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Cellular (Licensed)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Range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2–5 km (Urban), 15 km+ (Rural)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Virtually unlimited (Cell tower based)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91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Data Rate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0.3 Kbps to 50 Kbps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~30 Kbps to 115 Kbps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34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Power Consumption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Ultra-Low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(Years on battery)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High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(Needs large battery/mains)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4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Subscription Cost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None (Private) or Low (Public)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Monthly SIM data plan required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74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Hardware Cost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nn-NO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Medium ($3–$10 per module)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Higher ($10–$25 per module)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478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Primary Use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Remote sensors, Smart agriculture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Asset tracking, Remote monitoring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803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2BF82DD-8205-4FAE-2280-538DD36FBF8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Wireless Communication: Bluetooth, ZigBee, Wi-Fi,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LoRa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,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GSM/GPRS</a:t>
            </a:r>
          </a:p>
        </p:txBody>
      </p:sp>
    </p:spTree>
    <p:extLst>
      <p:ext uri="{BB962C8B-B14F-4D97-AF65-F5344CB8AC3E}">
        <p14:creationId xmlns:p14="http://schemas.microsoft.com/office/powerpoint/2010/main" val="2812866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BEC0F-7E8B-19C1-86AC-5226F38D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9F14BF-DF88-602E-FBC0-B6DA939DFFA7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Networking: TCP/IP Basics in Embedded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BB9E5-8C22-0A5E-3433-D716F53A6B74}"/>
              </a:ext>
            </a:extLst>
          </p:cNvPr>
          <p:cNvSpPr txBox="1"/>
          <p:nvPr/>
        </p:nvSpPr>
        <p:spPr>
          <a:xfrm>
            <a:off x="744656" y="1012954"/>
            <a:ext cx="1077888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Key benefits includes: 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High Level Abstraction</a:t>
            </a:r>
            <a:r>
              <a:rPr lang="en-US" sz="2800" dirty="0">
                <a:latin typeface="Futura T OT" panose="02000000000000000000" pitchFamily="50" charset="0"/>
              </a:rPr>
              <a:t>: Digital circuits can be modeled in various levels.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Simulation before Implementation</a:t>
            </a:r>
            <a:r>
              <a:rPr lang="en-US" sz="2800" dirty="0">
                <a:latin typeface="Futura T OT" panose="02000000000000000000" pitchFamily="50" charset="0"/>
              </a:rPr>
              <a:t>: Circuits can be verified through simulation.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Hardware Portability</a:t>
            </a:r>
            <a:r>
              <a:rPr lang="en-US" sz="2800" dirty="0">
                <a:latin typeface="Futura T OT" panose="02000000000000000000" pitchFamily="50" charset="0"/>
              </a:rPr>
              <a:t>: Can be synthesized for different target devices.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Concurrent Design</a:t>
            </a:r>
            <a:r>
              <a:rPr lang="en-US" sz="2800" dirty="0">
                <a:latin typeface="Futura T OT" panose="02000000000000000000" pitchFamily="50" charset="0"/>
              </a:rPr>
              <a:t>: Supports concurrent operations, aligning with nature of digital circuits.</a:t>
            </a:r>
          </a:p>
        </p:txBody>
      </p:sp>
    </p:spTree>
    <p:extLst>
      <p:ext uri="{BB962C8B-B14F-4D97-AF65-F5344CB8AC3E}">
        <p14:creationId xmlns:p14="http://schemas.microsoft.com/office/powerpoint/2010/main" val="994181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19069</TotalTime>
  <Words>1844</Words>
  <Application>Microsoft Office PowerPoint</Application>
  <PresentationFormat>Widescreen</PresentationFormat>
  <Paragraphs>206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Futura T OT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Krishtein Einsna</dc:creator>
  <cp:lastModifiedBy>Krishtein Einsna</cp:lastModifiedBy>
  <cp:revision>394</cp:revision>
  <dcterms:created xsi:type="dcterms:W3CDTF">2025-09-16T01:34:55Z</dcterms:created>
  <dcterms:modified xsi:type="dcterms:W3CDTF">2026-01-28T05:49:41Z</dcterms:modified>
</cp:coreProperties>
</file>