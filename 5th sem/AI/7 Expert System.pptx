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6"/>
  </p:notesMasterIdLst>
  <p:sldIdLst>
    <p:sldId id="256" r:id="rId2"/>
    <p:sldId id="316" r:id="rId3"/>
    <p:sldId id="321" r:id="rId4"/>
    <p:sldId id="325" r:id="rId5"/>
    <p:sldId id="317" r:id="rId6"/>
    <p:sldId id="322" r:id="rId7"/>
    <p:sldId id="324" r:id="rId8"/>
    <p:sldId id="323" r:id="rId9"/>
    <p:sldId id="327" r:id="rId10"/>
    <p:sldId id="326" r:id="rId11"/>
    <p:sldId id="319" r:id="rId12"/>
    <p:sldId id="318" r:id="rId13"/>
    <p:sldId id="320" r:id="rId14"/>
    <p:sldId id="29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85" autoAdjust="0"/>
    <p:restoredTop sz="76517" autoAdjust="0"/>
  </p:normalViewPr>
  <p:slideViewPr>
    <p:cSldViewPr snapToGrid="0">
      <p:cViewPr varScale="1">
        <p:scale>
          <a:sx n="60" d="100"/>
          <a:sy n="60" d="100"/>
        </p:scale>
        <p:origin x="18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59EAF3-D6BF-4509-BDB9-71AF79AE023F}"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63C0F-E2D8-497F-879E-155DA398F7D4}" type="slidenum">
              <a:rPr lang="en-US" smtClean="0"/>
              <a:t>‹#›</a:t>
            </a:fld>
            <a:endParaRPr lang="en-US"/>
          </a:p>
        </p:txBody>
      </p:sp>
    </p:spTree>
    <p:extLst>
      <p:ext uri="{BB962C8B-B14F-4D97-AF65-F5344CB8AC3E}">
        <p14:creationId xmlns:p14="http://schemas.microsoft.com/office/powerpoint/2010/main" val="125848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pPr marL="0" indent="0">
              <a:buNone/>
            </a:pPr>
            <a:r>
              <a:rPr lang="en-US" b="1" dirty="0"/>
              <a:t>What Makes It "Expert"?</a:t>
            </a:r>
          </a:p>
          <a:p>
            <a:pPr lvl="1"/>
            <a:r>
              <a:rPr lang="en-US" b="1" dirty="0"/>
              <a:t>High Performance:</a:t>
            </a:r>
            <a:r>
              <a:rPr lang="en-US" dirty="0"/>
              <a:t> Operates at expert human level in its domain</a:t>
            </a:r>
          </a:p>
          <a:p>
            <a:pPr lvl="1"/>
            <a:r>
              <a:rPr lang="en-US" b="1" dirty="0"/>
              <a:t>Deep Knowledge:</a:t>
            </a:r>
            <a:r>
              <a:rPr lang="en-US" dirty="0"/>
              <a:t> Contains specialized domain knowledge</a:t>
            </a:r>
          </a:p>
          <a:p>
            <a:pPr lvl="1"/>
            <a:r>
              <a:rPr lang="en-US" b="1" dirty="0"/>
              <a:t>Reliability:</a:t>
            </a:r>
            <a:r>
              <a:rPr lang="en-US" dirty="0"/>
              <a:t> Consistent, unbiased decisions</a:t>
            </a:r>
          </a:p>
          <a:p>
            <a:pPr lvl="1"/>
            <a:r>
              <a:rPr lang="en-US" b="1" dirty="0"/>
              <a:t>Availability:</a:t>
            </a:r>
            <a:r>
              <a:rPr lang="en-US" dirty="0"/>
              <a:t> 24/7 access without fatigue</a:t>
            </a:r>
            <a:br>
              <a:rPr lang="en-US" dirty="0"/>
            </a:br>
            <a:endParaRPr lang="en-US" dirty="0"/>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History of Expert System: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history of expert systems can be divided into several phases:</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Early Foundations (1960s):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concept of artificial intelligence (AI) emerged in the 1950s, and by the 1960s, researchers began to explore the idea of encoding human expertise into computer programs.</a:t>
            </a:r>
          </a:p>
          <a:p>
            <a:pPr lvl="0"/>
            <a:r>
              <a:rPr lang="en-US" sz="1200" kern="1200" dirty="0">
                <a:solidFill>
                  <a:schemeClr val="tx1"/>
                </a:solidFill>
                <a:effectLst/>
                <a:latin typeface="+mn-lt"/>
                <a:ea typeface="+mn-ea"/>
                <a:cs typeface="+mn-cs"/>
              </a:rPr>
              <a:t>The first expert system, DENDRAL, was developed in 1965 by Edward Feigenbaum, Bruce Buchanan, and others at Stanford University. It was designed to analyze chemical compounds and determine their molecular structure from mass spectrometry data.</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Growth and Development (1970s):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success of DENDRAL led to the development of other expert systems.</a:t>
            </a:r>
          </a:p>
          <a:p>
            <a:pPr lvl="0"/>
            <a:r>
              <a:rPr lang="en-US" sz="1200" kern="1200" dirty="0">
                <a:solidFill>
                  <a:schemeClr val="tx1"/>
                </a:solidFill>
                <a:effectLst/>
                <a:latin typeface="+mn-lt"/>
                <a:ea typeface="+mn-ea"/>
                <a:cs typeface="+mn-cs"/>
              </a:rPr>
              <a:t>MYCIN, developed in the early 1970s at Stanford, was another landmark expert system. It was designed to diagnose bacterial infections and recommend antibiotics. MYCIN introduced the use of certainty factors to handle uncertainty and had a sophisticated explanation facility.</a:t>
            </a:r>
          </a:p>
          <a:p>
            <a:pPr lvl="0"/>
            <a:r>
              <a:rPr lang="en-US" sz="1200" kern="1200" dirty="0">
                <a:solidFill>
                  <a:schemeClr val="tx1"/>
                </a:solidFill>
                <a:effectLst/>
                <a:latin typeface="+mn-lt"/>
                <a:ea typeface="+mn-ea"/>
                <a:cs typeface="+mn-cs"/>
              </a:rPr>
              <a:t>Other notable systems included PROSPECTOR (for geological exploration) and XCON (for configuring computer systems).</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Commercialization and Expansion (1980s):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1980s saw a boom in the commercialization of expert systems, often referred to as the "AI Winter" precursor because of the hype that eventually led to disappointment when expectations were not met.</a:t>
            </a:r>
          </a:p>
          <a:p>
            <a:pPr lvl="0"/>
            <a:r>
              <a:rPr lang="en-US" sz="1200" kern="1200" dirty="0">
                <a:solidFill>
                  <a:schemeClr val="tx1"/>
                </a:solidFill>
                <a:effectLst/>
                <a:latin typeface="+mn-lt"/>
                <a:ea typeface="+mn-ea"/>
                <a:cs typeface="+mn-cs"/>
              </a:rPr>
              <a:t>Companies began to invest in expert systems for various applications, from medical diagnosis to financial planning.</a:t>
            </a:r>
          </a:p>
          <a:p>
            <a:pPr lvl="0"/>
            <a:r>
              <a:rPr lang="en-US" sz="1200" kern="1200" dirty="0">
                <a:solidFill>
                  <a:schemeClr val="tx1"/>
                </a:solidFill>
                <a:effectLst/>
                <a:latin typeface="+mn-lt"/>
                <a:ea typeface="+mn-ea"/>
                <a:cs typeface="+mn-cs"/>
              </a:rPr>
              <a:t>Tools for building expert systems, known as "shells," became popular. These shells (like CLIPS, OPS5, and later, commercial tools like IBM's Watson) provided a way to build expert systems without programming from scratch.</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Integration and Maturity (1990s - 2000s):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Expert systems became more integrated with other technologies, such as databases and user interfaces.</a:t>
            </a:r>
          </a:p>
          <a:p>
            <a:pPr lvl="0"/>
            <a:r>
              <a:rPr lang="en-US" sz="1200" kern="1200" dirty="0">
                <a:solidFill>
                  <a:schemeClr val="tx1"/>
                </a:solidFill>
                <a:effectLst/>
                <a:latin typeface="+mn-lt"/>
                <a:ea typeface="+mn-ea"/>
                <a:cs typeface="+mn-cs"/>
              </a:rPr>
              <a:t>The rise of the internet and more powerful computers allowed expert systems to be deployed in web-based environments.</a:t>
            </a:r>
          </a:p>
          <a:p>
            <a:pPr lvl="0"/>
            <a:r>
              <a:rPr lang="en-US" sz="1200" kern="1200" dirty="0">
                <a:solidFill>
                  <a:schemeClr val="tx1"/>
                </a:solidFill>
                <a:effectLst/>
                <a:latin typeface="+mn-lt"/>
                <a:ea typeface="+mn-ea"/>
                <a:cs typeface="+mn-cs"/>
              </a:rPr>
              <a:t>The focus shifted from standalone expert systems to incorporating expert system techniques into larger software systems.</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Modern Era (2010s - Present):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Expert system techniques have been absorbed into broader fields like data mining, machine learning, and business rules management.</a:t>
            </a:r>
          </a:p>
          <a:p>
            <a:pPr lvl="0"/>
            <a:r>
              <a:rPr lang="en-US" sz="1200" kern="1200" dirty="0">
                <a:solidFill>
                  <a:schemeClr val="tx1"/>
                </a:solidFill>
                <a:effectLst/>
                <a:latin typeface="+mn-lt"/>
                <a:ea typeface="+mn-ea"/>
                <a:cs typeface="+mn-cs"/>
              </a:rPr>
              <a:t>The principles of expert systems are used in modern AI applications, including decision support systems, recommendation systems, and advanced analytics.</a:t>
            </a:r>
          </a:p>
          <a:p>
            <a:pPr lvl="0"/>
            <a:r>
              <a:rPr lang="en-US" sz="1200" kern="1200" dirty="0">
                <a:solidFill>
                  <a:schemeClr val="tx1"/>
                </a:solidFill>
                <a:effectLst/>
                <a:latin typeface="+mn-lt"/>
                <a:ea typeface="+mn-ea"/>
                <a:cs typeface="+mn-cs"/>
              </a:rPr>
              <a:t>The advent of big data and more sophisticated AI techniques (like deep learning) has complemented and sometimes replaced traditional expert systems, but the core ideas remain influential.</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3</a:t>
            </a:fld>
            <a:endParaRPr lang="en-US"/>
          </a:p>
        </p:txBody>
      </p:sp>
    </p:spTree>
    <p:extLst>
      <p:ext uri="{BB962C8B-B14F-4D97-AF65-F5344CB8AC3E}">
        <p14:creationId xmlns:p14="http://schemas.microsoft.com/office/powerpoint/2010/main" val="347030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1. Knowledge Base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heart of the expert system, storing domain-specific facts and rules.</a:t>
            </a:r>
          </a:p>
          <a:p>
            <a:r>
              <a:rPr lang="en-US" sz="1200" b="1" kern="1200" dirty="0">
                <a:solidFill>
                  <a:schemeClr val="tx1"/>
                </a:solidFill>
                <a:effectLst/>
                <a:latin typeface="+mn-lt"/>
                <a:ea typeface="+mn-ea"/>
                <a:cs typeface="+mn-cs"/>
              </a:rPr>
              <a:t>Components: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Facts:</a:t>
            </a:r>
            <a:r>
              <a:rPr lang="en-US" sz="1200" kern="1200" dirty="0">
                <a:solidFill>
                  <a:schemeClr val="tx1"/>
                </a:solidFill>
                <a:effectLst/>
                <a:latin typeface="+mn-lt"/>
                <a:ea typeface="+mn-ea"/>
                <a:cs typeface="+mn-cs"/>
              </a:rPr>
              <a:t> Declarative information about the domain (e.g., "The patient has a fever").</a:t>
            </a:r>
          </a:p>
          <a:p>
            <a:pPr lvl="0"/>
            <a:r>
              <a:rPr lang="en-US" sz="1200" b="1" kern="1200" dirty="0">
                <a:solidFill>
                  <a:schemeClr val="tx1"/>
                </a:solidFill>
                <a:effectLst/>
                <a:latin typeface="+mn-lt"/>
                <a:ea typeface="+mn-ea"/>
                <a:cs typeface="+mn-cs"/>
              </a:rPr>
              <a:t>Rules (Production Rules):</a:t>
            </a:r>
            <a:r>
              <a:rPr lang="en-US" sz="1200" kern="1200" dirty="0">
                <a:solidFill>
                  <a:schemeClr val="tx1"/>
                </a:solidFill>
                <a:effectLst/>
                <a:latin typeface="+mn-lt"/>
                <a:ea typeface="+mn-ea"/>
                <a:cs typeface="+mn-cs"/>
              </a:rPr>
              <a:t> Conditional "IF-THEN" statements representing heuristic knowledge (e.g., IF fever AND rash THEN suspect measles).</a:t>
            </a:r>
          </a:p>
          <a:p>
            <a:pPr lvl="0"/>
            <a:r>
              <a:rPr lang="en-US" sz="1200" b="1" kern="1200" dirty="0">
                <a:solidFill>
                  <a:schemeClr val="tx1"/>
                </a:solidFill>
                <a:effectLst/>
                <a:latin typeface="+mn-lt"/>
                <a:ea typeface="+mn-ea"/>
                <a:cs typeface="+mn-cs"/>
              </a:rPr>
              <a:t>Representation Methods:</a:t>
            </a:r>
            <a:r>
              <a:rPr lang="en-US" sz="1200" kern="1200" dirty="0">
                <a:solidFill>
                  <a:schemeClr val="tx1"/>
                </a:solidFill>
                <a:effectLst/>
                <a:latin typeface="+mn-lt"/>
                <a:ea typeface="+mn-ea"/>
                <a:cs typeface="+mn-cs"/>
              </a:rPr>
              <a:t> Rules, frames, semantic networks, ontologies. </a:t>
            </a:r>
            <a:r>
              <a:rPr lang="en-US" sz="1200" i="1" kern="1200" dirty="0">
                <a:solidFill>
                  <a:schemeClr val="tx1"/>
                </a:solidFill>
                <a:effectLst/>
                <a:latin typeface="+mn-lt"/>
                <a:ea typeface="+mn-ea"/>
                <a:cs typeface="+mn-cs"/>
              </a:rPr>
              <a:t>Separates domain knowledge from the reasoning process</a:t>
            </a:r>
            <a:r>
              <a:rPr lang="en-US" sz="1200" kern="1200" dirty="0">
                <a:solidFill>
                  <a:schemeClr val="tx1"/>
                </a:solidFill>
                <a:effectLst/>
                <a:latin typeface="+mn-lt"/>
                <a:ea typeface="+mn-ea"/>
                <a:cs typeface="+mn-cs"/>
              </a:rPr>
              <a:t> (a key design principle).</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2. Inference Engine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"brain" or processing unit that applies logical rules to the knowledge base to deduce new information or reach conclusions.</a:t>
            </a:r>
          </a:p>
          <a:p>
            <a:r>
              <a:rPr lang="en-US" sz="1200" b="1" kern="1200" dirty="0">
                <a:solidFill>
                  <a:schemeClr val="tx1"/>
                </a:solidFill>
                <a:effectLst/>
                <a:latin typeface="+mn-lt"/>
                <a:ea typeface="+mn-ea"/>
                <a:cs typeface="+mn-cs"/>
              </a:rPr>
              <a:t>Functions: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Pattern Matching:</a:t>
            </a:r>
            <a:r>
              <a:rPr lang="en-US" sz="1200" kern="1200" dirty="0">
                <a:solidFill>
                  <a:schemeClr val="tx1"/>
                </a:solidFill>
                <a:effectLst/>
                <a:latin typeface="+mn-lt"/>
                <a:ea typeface="+mn-ea"/>
                <a:cs typeface="+mn-cs"/>
              </a:rPr>
              <a:t> Matches facts against rule conditions.</a:t>
            </a:r>
          </a:p>
          <a:p>
            <a:pPr lvl="0"/>
            <a:r>
              <a:rPr lang="en-US" sz="1200" b="1" kern="1200" dirty="0">
                <a:solidFill>
                  <a:schemeClr val="tx1"/>
                </a:solidFill>
                <a:effectLst/>
                <a:latin typeface="+mn-lt"/>
                <a:ea typeface="+mn-ea"/>
                <a:cs typeface="+mn-cs"/>
              </a:rPr>
              <a:t>Control Strategy:</a:t>
            </a:r>
            <a:r>
              <a:rPr lang="en-US" sz="1200" kern="1200" dirty="0">
                <a:solidFill>
                  <a:schemeClr val="tx1"/>
                </a:solidFill>
                <a:effectLst/>
                <a:latin typeface="+mn-lt"/>
                <a:ea typeface="+mn-ea"/>
                <a:cs typeface="+mn-cs"/>
              </a:rPr>
              <a:t> Determines the order of rule execution.</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Major Reasoning Methods: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Forward Chaining (Data-Driven):</a:t>
            </a:r>
            <a:r>
              <a:rPr lang="en-US" sz="1200" kern="1200" dirty="0">
                <a:solidFill>
                  <a:schemeClr val="tx1"/>
                </a:solidFill>
                <a:effectLst/>
                <a:latin typeface="+mn-lt"/>
                <a:ea typeface="+mn-ea"/>
                <a:cs typeface="+mn-cs"/>
              </a:rPr>
              <a:t> Starts with known facts, applies rules to infer new facts until a goal is reached. Good for diagnosis, planning.</a:t>
            </a:r>
          </a:p>
          <a:p>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Backward Chaining (Goal-Driven):</a:t>
            </a:r>
            <a:r>
              <a:rPr lang="en-US" sz="1200" kern="1200" dirty="0">
                <a:solidFill>
                  <a:schemeClr val="tx1"/>
                </a:solidFill>
                <a:effectLst/>
                <a:latin typeface="+mn-lt"/>
                <a:ea typeface="+mn-ea"/>
                <a:cs typeface="+mn-cs"/>
              </a:rPr>
              <a:t> Starts with a hypothesis (goal) and works backward to see if supporting facts exist. Good for classification, recommendation.</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3. User Interface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medium for communication between the user and the system.</a:t>
            </a:r>
          </a:p>
          <a:p>
            <a:r>
              <a:rPr lang="en-US" sz="1200" b="1" kern="1200" dirty="0">
                <a:solidFill>
                  <a:schemeClr val="tx1"/>
                </a:solidFill>
                <a:effectLst/>
                <a:latin typeface="+mn-lt"/>
                <a:ea typeface="+mn-ea"/>
                <a:cs typeface="+mn-cs"/>
              </a:rPr>
              <a:t>Forms: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Natural language queries.</a:t>
            </a:r>
          </a:p>
          <a:p>
            <a:pPr lvl="0"/>
            <a:r>
              <a:rPr lang="en-US" sz="1200" kern="1200" dirty="0">
                <a:solidFill>
                  <a:schemeClr val="tx1"/>
                </a:solidFill>
                <a:effectLst/>
                <a:latin typeface="+mn-lt"/>
                <a:ea typeface="+mn-ea"/>
                <a:cs typeface="+mn-cs"/>
              </a:rPr>
              <a:t>Menus, forms, or graphical interfaces.</a:t>
            </a:r>
          </a:p>
          <a:p>
            <a:pPr lvl="0"/>
            <a:r>
              <a:rPr lang="en-US" sz="1200" kern="1200" dirty="0">
                <a:solidFill>
                  <a:schemeClr val="tx1"/>
                </a:solidFill>
                <a:effectLst/>
                <a:latin typeface="+mn-lt"/>
                <a:ea typeface="+mn-ea"/>
                <a:cs typeface="+mn-cs"/>
              </a:rPr>
              <a:t>Allows users to input data, ask questions, and receive explanations.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4. Explanation Facility (Justifier)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critical transparency module that explains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a conclusion was reached.</a:t>
            </a:r>
          </a:p>
          <a:p>
            <a:r>
              <a:rPr lang="en-US" sz="1200" kern="1200" dirty="0">
                <a:solidFill>
                  <a:schemeClr val="tx1"/>
                </a:solidFill>
                <a:effectLst/>
                <a:latin typeface="+mn-lt"/>
                <a:ea typeface="+mn-ea"/>
                <a:cs typeface="+mn-cs"/>
              </a:rPr>
              <a:t>Answers questions like:</a:t>
            </a:r>
          </a:p>
          <a:p>
            <a:pPr lvl="0"/>
            <a:r>
              <a:rPr lang="en-US" sz="1200" b="1" kern="1200" dirty="0">
                <a:solidFill>
                  <a:schemeClr val="tx1"/>
                </a:solidFill>
                <a:effectLst/>
                <a:latin typeface="+mn-lt"/>
                <a:ea typeface="+mn-ea"/>
                <a:cs typeface="+mn-cs"/>
              </a:rPr>
              <a:t>"How" (How did you conclude X?):</a:t>
            </a:r>
            <a:r>
              <a:rPr lang="en-US" sz="1200" kern="1200" dirty="0">
                <a:solidFill>
                  <a:schemeClr val="tx1"/>
                </a:solidFill>
                <a:effectLst/>
                <a:latin typeface="+mn-lt"/>
                <a:ea typeface="+mn-ea"/>
                <a:cs typeface="+mn-cs"/>
              </a:rPr>
              <a:t> Traces the chain of rules fired.</a:t>
            </a:r>
          </a:p>
          <a:p>
            <a:pPr lvl="0"/>
            <a:r>
              <a:rPr lang="en-US" sz="1200" b="1" kern="1200" dirty="0">
                <a:solidFill>
                  <a:schemeClr val="tx1"/>
                </a:solidFill>
                <a:effectLst/>
                <a:latin typeface="+mn-lt"/>
                <a:ea typeface="+mn-ea"/>
                <a:cs typeface="+mn-cs"/>
              </a:rPr>
              <a:t>"Why" (Why are you asking for this information?):</a:t>
            </a:r>
            <a:r>
              <a:rPr lang="en-US" sz="1200" kern="1200" dirty="0">
                <a:solidFill>
                  <a:schemeClr val="tx1"/>
                </a:solidFill>
                <a:effectLst/>
                <a:latin typeface="+mn-lt"/>
                <a:ea typeface="+mn-ea"/>
                <a:cs typeface="+mn-cs"/>
              </a:rPr>
              <a:t> Explains which rule is currently being tested.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5. Working Memory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global data area that stores:</a:t>
            </a:r>
          </a:p>
          <a:p>
            <a:pPr lvl="0"/>
            <a:r>
              <a:rPr lang="en-US" sz="1200" kern="1200" dirty="0">
                <a:solidFill>
                  <a:schemeClr val="tx1"/>
                </a:solidFill>
                <a:effectLst/>
                <a:latin typeface="+mn-lt"/>
                <a:ea typeface="+mn-ea"/>
                <a:cs typeface="+mn-cs"/>
              </a:rPr>
              <a:t>Initial facts provided by the user.</a:t>
            </a:r>
          </a:p>
          <a:p>
            <a:pPr lvl="0"/>
            <a:r>
              <a:rPr lang="en-US" sz="1200" kern="1200" dirty="0">
                <a:solidFill>
                  <a:schemeClr val="tx1"/>
                </a:solidFill>
                <a:effectLst/>
                <a:latin typeface="+mn-lt"/>
                <a:ea typeface="+mn-ea"/>
                <a:cs typeface="+mn-cs"/>
              </a:rPr>
              <a:t>Intermediate conclusions deduced during the session.</a:t>
            </a:r>
          </a:p>
          <a:p>
            <a:pPr lvl="0"/>
            <a:r>
              <a:rPr lang="en-US" sz="1200" kern="1200" dirty="0">
                <a:solidFill>
                  <a:schemeClr val="tx1"/>
                </a:solidFill>
                <a:effectLst/>
                <a:latin typeface="+mn-lt"/>
                <a:ea typeface="+mn-ea"/>
                <a:cs typeface="+mn-cs"/>
              </a:rPr>
              <a:t>The current state of the problem-solving process.</a:t>
            </a:r>
          </a:p>
          <a:p>
            <a:pPr lvl="0"/>
            <a:r>
              <a:rPr lang="en-US" sz="1200" kern="1200" dirty="0">
                <a:solidFill>
                  <a:schemeClr val="tx1"/>
                </a:solidFill>
                <a:effectLst/>
                <a:latin typeface="+mn-lt"/>
                <a:ea typeface="+mn-ea"/>
                <a:cs typeface="+mn-cs"/>
              </a:rPr>
              <a:t>Acts as a "scratchpad" for the inference engine.</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6. Knowledge Acquisition Facility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tool to help domain experts or knowledge engineers </a:t>
            </a:r>
            <a:r>
              <a:rPr lang="en-US" sz="1200" b="1" kern="1200" dirty="0">
                <a:solidFill>
                  <a:schemeClr val="tx1"/>
                </a:solidFill>
                <a:effectLst/>
                <a:latin typeface="+mn-lt"/>
                <a:ea typeface="+mn-ea"/>
                <a:cs typeface="+mn-cs"/>
              </a:rPr>
              <a:t>build, expand, and refine the knowledge base</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Methods: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Manual entry by experts.</a:t>
            </a:r>
          </a:p>
          <a:p>
            <a:pPr lvl="0"/>
            <a:r>
              <a:rPr lang="en-US" sz="1200" kern="1200" dirty="0">
                <a:solidFill>
                  <a:schemeClr val="tx1"/>
                </a:solidFill>
                <a:effectLst/>
                <a:latin typeface="+mn-lt"/>
                <a:ea typeface="+mn-ea"/>
                <a:cs typeface="+mn-cs"/>
              </a:rPr>
              <a:t>Semi-automated learning from data/cases.</a:t>
            </a:r>
          </a:p>
          <a:p>
            <a:pPr lvl="0"/>
            <a:r>
              <a:rPr lang="en-US" sz="1200" kern="1200" dirty="0">
                <a:solidFill>
                  <a:schemeClr val="tx1"/>
                </a:solidFill>
                <a:effectLst/>
                <a:latin typeface="+mn-lt"/>
                <a:ea typeface="+mn-ea"/>
                <a:cs typeface="+mn-cs"/>
              </a:rPr>
              <a:t>Often the bottleneck in expert system development.</a:t>
            </a:r>
          </a:p>
          <a:p>
            <a:endParaRPr lang="en-US" dirty="0"/>
          </a:p>
          <a:p>
            <a:endParaRPr lang="en-US" dirty="0"/>
          </a:p>
          <a:p>
            <a:r>
              <a:rPr lang="en-US" sz="1200" b="0" i="0" u="none" strike="noStrike" kern="1200" dirty="0">
                <a:solidFill>
                  <a:schemeClr val="tx1"/>
                </a:solidFill>
                <a:effectLst/>
                <a:latin typeface="+mn-lt"/>
                <a:ea typeface="+mn-ea"/>
                <a:cs typeface="+mn-cs"/>
              </a:rPr>
              <a:t>The </a:t>
            </a:r>
            <a:r>
              <a:rPr lang="en-US" sz="1200" b="1" i="0" u="none" strike="noStrike" kern="1200" dirty="0">
                <a:solidFill>
                  <a:schemeClr val="tx1"/>
                </a:solidFill>
                <a:effectLst/>
                <a:latin typeface="+mn-lt"/>
                <a:ea typeface="+mn-ea"/>
                <a:cs typeface="+mn-cs"/>
              </a:rPr>
              <a:t>knowledge base</a:t>
            </a:r>
            <a:r>
              <a:rPr lang="en-US" sz="1200" b="0" i="0" u="none" strike="noStrike" kern="1200" dirty="0">
                <a:solidFill>
                  <a:schemeClr val="tx1"/>
                </a:solidFill>
                <a:effectLst/>
                <a:latin typeface="+mn-lt"/>
                <a:ea typeface="+mn-ea"/>
                <a:cs typeface="+mn-cs"/>
              </a:rPr>
              <a:t> is the repository of facts, rules, and domain-specific information. It is analogous to the expert's knowledge. The knowledge base stores what experts know about the problem domain.</a:t>
            </a:r>
          </a:p>
          <a:p>
            <a:r>
              <a:rPr lang="en-US" sz="1200" b="0" i="0" u="none" strike="noStrike" kern="1200" dirty="0">
                <a:solidFill>
                  <a:schemeClr val="tx1"/>
                </a:solidFill>
                <a:effectLst/>
                <a:latin typeface="+mn-lt"/>
                <a:ea typeface="+mn-ea"/>
                <a:cs typeface="+mn-cs"/>
              </a:rPr>
              <a:t>The </a:t>
            </a:r>
            <a:r>
              <a:rPr lang="en-US" sz="1200" b="1" i="0" u="none" strike="noStrike" kern="1200" dirty="0">
                <a:solidFill>
                  <a:schemeClr val="tx1"/>
                </a:solidFill>
                <a:effectLst/>
                <a:latin typeface="+mn-lt"/>
                <a:ea typeface="+mn-ea"/>
                <a:cs typeface="+mn-cs"/>
              </a:rPr>
              <a:t>inference engine</a:t>
            </a:r>
            <a:r>
              <a:rPr lang="en-US" sz="1200" b="0" i="0" u="none" strike="noStrike" kern="1200" dirty="0">
                <a:solidFill>
                  <a:schemeClr val="tx1"/>
                </a:solidFill>
                <a:effectLst/>
                <a:latin typeface="+mn-lt"/>
                <a:ea typeface="+mn-ea"/>
                <a:cs typeface="+mn-cs"/>
              </a:rPr>
              <a:t> is the reasoning component of the expert system. It processes the information in the knowledge base to solve problems and make decisions. It emulates the cognitive processes that human experts use to arrive at conclusions.</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5</a:t>
            </a:fld>
            <a:endParaRPr lang="en-US"/>
          </a:p>
        </p:txBody>
      </p:sp>
    </p:spTree>
    <p:extLst>
      <p:ext uri="{BB962C8B-B14F-4D97-AF65-F5344CB8AC3E}">
        <p14:creationId xmlns:p14="http://schemas.microsoft.com/office/powerpoint/2010/main" val="3861361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6</a:t>
            </a:fld>
            <a:endParaRPr lang="en-US"/>
          </a:p>
        </p:txBody>
      </p:sp>
    </p:spTree>
    <p:extLst>
      <p:ext uri="{BB962C8B-B14F-4D97-AF65-F5344CB8AC3E}">
        <p14:creationId xmlns:p14="http://schemas.microsoft.com/office/powerpoint/2010/main" val="49830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Factual Knowledge:</a:t>
            </a:r>
            <a:br>
              <a:rPr lang="en-US" dirty="0"/>
            </a:br>
            <a:r>
              <a:rPr lang="en-US" dirty="0"/>
              <a:t>Factual knowledge refers to information based on verified facts and objective data. It consists of well-established truths accepted by domain experts and knowledge engineers.</a:t>
            </a:r>
          </a:p>
          <a:p>
            <a:r>
              <a:rPr lang="en-US" b="1" dirty="0"/>
              <a:t>Heuristic Knowledge:</a:t>
            </a:r>
            <a:br>
              <a:rPr lang="en-US" dirty="0"/>
            </a:br>
            <a:r>
              <a:rPr lang="en-US" dirty="0"/>
              <a:t>Heuristic knowledge is derived from experience, intuition, and practical problem-solving strategies. It involves educated guesses, rules of thumb, and judgment developed through practice rather than formal proof.</a:t>
            </a:r>
          </a:p>
          <a:p>
            <a:r>
              <a:rPr lang="en-US" b="1" dirty="0"/>
              <a:t>Knowledge Representation:</a:t>
            </a:r>
            <a:br>
              <a:rPr lang="en-US" dirty="0"/>
            </a:br>
            <a:r>
              <a:rPr lang="en-US" dirty="0"/>
              <a:t>Knowledge representation is the process of formally structuring and encoding knowledge so that it can be stored in a knowledge base and used by a computer system. Common forms include rules (if–then), semantic networks, frames, and logic-based representations.</a:t>
            </a:r>
          </a:p>
          <a:p>
            <a:r>
              <a:rPr lang="en-US" b="1" dirty="0"/>
              <a:t>Knowledge Acquisition:</a:t>
            </a:r>
            <a:br>
              <a:rPr lang="en-US" dirty="0"/>
            </a:br>
            <a:r>
              <a:rPr lang="en-US" dirty="0"/>
              <a:t>Knowledge acquisition is the process of gathering, organizing, and structuring domain knowledge from experts, documents, or data sources, and converting it into a form suitable for inclusion in a knowledge base for intelligent systems</a:t>
            </a:r>
          </a:p>
          <a:p>
            <a:endParaRPr lang="en-US" dirty="0"/>
          </a:p>
        </p:txBody>
      </p:sp>
      <p:sp>
        <p:nvSpPr>
          <p:cNvPr id="4" name="Slide Number Placeholder 3"/>
          <p:cNvSpPr>
            <a:spLocks noGrp="1"/>
          </p:cNvSpPr>
          <p:nvPr>
            <p:ph type="sldNum" sz="quarter" idx="5"/>
          </p:nvPr>
        </p:nvSpPr>
        <p:spPr/>
        <p:txBody>
          <a:bodyPr/>
          <a:lstStyle/>
          <a:p>
            <a:fld id="{65163C0F-E2D8-497F-879E-155DA398F7D4}" type="slidenum">
              <a:rPr lang="en-US" smtClean="0"/>
              <a:t>10</a:t>
            </a:fld>
            <a:endParaRPr lang="en-US"/>
          </a:p>
        </p:txBody>
      </p:sp>
    </p:spTree>
    <p:extLst>
      <p:ext uri="{BB962C8B-B14F-4D97-AF65-F5344CB8AC3E}">
        <p14:creationId xmlns:p14="http://schemas.microsoft.com/office/powerpoint/2010/main" val="2758319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F42E09-AA2D-4CB1-BBF0-06A4318AD137}"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15869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D8C0F2-9282-4844-BF51-BB57A49E3583}"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924387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D1473B-CB70-4A60-AE9F-FD90C0089AE7}"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5396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92EC06-3D8F-4622-BAA6-76B150F52A11}" type="datetime1">
              <a:rPr lang="en-US" smtClean="0"/>
              <a:t>2/18/2026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897988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43809A-0183-41BD-9787-26D20E9D6263}" type="datetime1">
              <a:rPr lang="en-US" smtClean="0"/>
              <a:t>2/18/2026</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45913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51CEAA-3051-455B-B191-79B50C21DFC1}" type="datetime1">
              <a:rPr lang="en-US" smtClean="0"/>
              <a:t>2/18/2026</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496238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B4572-7CFB-4956-B01B-7E45DE2951E7}" type="datetime1">
              <a:rPr lang="en-US" smtClean="0"/>
              <a:t>2/18/2026</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028420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B5FD61-EBEE-4024-B9AB-11A9B93FDE05}" type="datetime1">
              <a:rPr lang="en-US" smtClean="0"/>
              <a:t>2/18/2026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979311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EDEDB3-F6BD-4134-AC34-04FC7AD5D1E7}" type="datetime1">
              <a:rPr lang="en-US" smtClean="0"/>
              <a:t>2/18/2026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649807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230779-54AA-41D3-A118-165A71C83B0E}"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366512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EB15BC-E92A-44FE-B094-3A979148817E}"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11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540700-6B21-4C91-8EA2-730393C3BAC8}"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596018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F5724D-8168-4591-A833-E0E4F7D9680F}"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10129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4D800B-D1F4-4A9D-9FEB-6C529A89251D}"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3769082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211804-6199-4508-9D5F-FAE07A7F2F63}"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1979192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41F76-564D-4DC7-8065-0A0293F27A49}" type="datetime1">
              <a:rPr lang="en-US" smtClean="0"/>
              <a:t>2/18/2026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BEC04E1-864D-4D36-B278-DF808A5E4573}" type="slidenum">
              <a:rPr lang="en-US" smtClean="0"/>
              <a:t>‹#›</a:t>
            </a:fld>
            <a:endParaRPr lang="en-US"/>
          </a:p>
        </p:txBody>
      </p:sp>
    </p:spTree>
    <p:extLst>
      <p:ext uri="{BB962C8B-B14F-4D97-AF65-F5344CB8AC3E}">
        <p14:creationId xmlns:p14="http://schemas.microsoft.com/office/powerpoint/2010/main" val="265809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E0B44B-1BCB-46CA-B6D6-F8FE070DF63F}" type="datetime1">
              <a:rPr lang="en-US" smtClean="0"/>
              <a:t>2/18/2026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BEC04E1-864D-4D36-B278-DF808A5E4573}" type="slidenum">
              <a:rPr lang="en-US" smtClean="0"/>
              <a:t>‹#›</a:t>
            </a:fld>
            <a:endParaRPr lang="en-US"/>
          </a:p>
        </p:txBody>
      </p:sp>
    </p:spTree>
    <p:extLst>
      <p:ext uri="{BB962C8B-B14F-4D97-AF65-F5344CB8AC3E}">
        <p14:creationId xmlns:p14="http://schemas.microsoft.com/office/powerpoint/2010/main" val="272286805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C59C-F579-DEB3-FE29-CB154F5710AF}"/>
              </a:ext>
            </a:extLst>
          </p:cNvPr>
          <p:cNvSpPr>
            <a:spLocks noGrp="1"/>
          </p:cNvSpPr>
          <p:nvPr>
            <p:ph type="ctrTitle"/>
          </p:nvPr>
        </p:nvSpPr>
        <p:spPr/>
        <p:txBody>
          <a:bodyPr/>
          <a:lstStyle/>
          <a:p>
            <a:r>
              <a:rPr lang="en-US" dirty="0"/>
              <a:t>Expert System</a:t>
            </a:r>
          </a:p>
        </p:txBody>
      </p:sp>
      <p:sp>
        <p:nvSpPr>
          <p:cNvPr id="3" name="Subtitle 2">
            <a:extLst>
              <a:ext uri="{FF2B5EF4-FFF2-40B4-BE49-F238E27FC236}">
                <a16:creationId xmlns:a16="http://schemas.microsoft.com/office/drawing/2014/main" id="{039C84C9-F57A-D0BD-16AE-11506A34115A}"/>
              </a:ext>
            </a:extLst>
          </p:cNvPr>
          <p:cNvSpPr>
            <a:spLocks noGrp="1"/>
          </p:cNvSpPr>
          <p:nvPr>
            <p:ph type="subTitle" idx="1"/>
          </p:nvPr>
        </p:nvSpPr>
        <p:spPr/>
        <p:txBody>
          <a:bodyPr/>
          <a:lstStyle/>
          <a:p>
            <a:r>
              <a:rPr lang="en-US" dirty="0"/>
              <a:t>Kapil Dev Pant (5 </a:t>
            </a:r>
            <a:r>
              <a:rPr lang="en-US" dirty="0" err="1"/>
              <a:t>hrs</a:t>
            </a:r>
            <a:r>
              <a:rPr lang="en-US" dirty="0"/>
              <a:t>)</a:t>
            </a:r>
          </a:p>
        </p:txBody>
      </p:sp>
      <p:sp>
        <p:nvSpPr>
          <p:cNvPr id="4" name="Footer Placeholder 3">
            <a:extLst>
              <a:ext uri="{FF2B5EF4-FFF2-40B4-BE49-F238E27FC236}">
                <a16:creationId xmlns:a16="http://schemas.microsoft.com/office/drawing/2014/main" id="{DA08CB07-3C68-81C9-AA05-AFCEADF3055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033173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8DB13-2528-AD41-9F1D-F0EE8042C077}"/>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8378DC91-EBDC-B46E-F96F-97C6E21D2112}"/>
              </a:ext>
            </a:extLst>
          </p:cNvPr>
          <p:cNvSpPr>
            <a:spLocks noGrp="1"/>
          </p:cNvSpPr>
          <p:nvPr>
            <p:ph idx="1"/>
          </p:nvPr>
        </p:nvSpPr>
        <p:spPr>
          <a:xfrm>
            <a:off x="677334" y="1930400"/>
            <a:ext cx="8596668" cy="4245898"/>
          </a:xfrm>
        </p:spPr>
        <p:txBody>
          <a:bodyPr>
            <a:normAutofit fontScale="92500" lnSpcReduction="10000"/>
          </a:bodyPr>
          <a:lstStyle/>
          <a:p>
            <a:pPr lvl="1" fontAlgn="base"/>
            <a:r>
              <a:rPr lang="en-US" dirty="0"/>
              <a:t>Definition and History of Expert System</a:t>
            </a:r>
          </a:p>
          <a:p>
            <a:pPr lvl="1" fontAlgn="base"/>
            <a:r>
              <a:rPr lang="en-US" dirty="0"/>
              <a:t>Architecture of Expert Systems</a:t>
            </a:r>
          </a:p>
          <a:p>
            <a:pPr lvl="1" fontAlgn="base"/>
            <a:r>
              <a:rPr lang="en-US" dirty="0"/>
              <a:t>Knowledge Representation in expert system</a:t>
            </a:r>
          </a:p>
          <a:p>
            <a:pPr lvl="2" fontAlgn="base"/>
            <a:r>
              <a:rPr lang="en-US" dirty="0"/>
              <a:t>Logic based representation</a:t>
            </a:r>
          </a:p>
          <a:p>
            <a:pPr lvl="2" fontAlgn="base"/>
            <a:r>
              <a:rPr lang="en-US" dirty="0"/>
              <a:t>Rule-based system</a:t>
            </a:r>
          </a:p>
          <a:p>
            <a:pPr lvl="2" fontAlgn="base"/>
            <a:r>
              <a:rPr lang="en-US" dirty="0"/>
              <a:t>Semantic networks</a:t>
            </a:r>
          </a:p>
          <a:p>
            <a:pPr lvl="2" fontAlgn="base"/>
            <a:r>
              <a:rPr lang="en-US" dirty="0"/>
              <a:t>Ontology-based Systems</a:t>
            </a:r>
          </a:p>
          <a:p>
            <a:pPr lvl="2" fontAlgn="base"/>
            <a:r>
              <a:rPr lang="en-US" dirty="0"/>
              <a:t>Frame-based Systems</a:t>
            </a:r>
          </a:p>
          <a:p>
            <a:pPr lvl="1" fontAlgn="base"/>
            <a:r>
              <a:rPr lang="en-US" dirty="0"/>
              <a:t>Inference Mechanisms</a:t>
            </a:r>
          </a:p>
          <a:p>
            <a:pPr lvl="2" fontAlgn="base"/>
            <a:r>
              <a:rPr lang="en-US" dirty="0"/>
              <a:t>Forward Chaining</a:t>
            </a:r>
          </a:p>
          <a:p>
            <a:pPr lvl="2" fontAlgn="base"/>
            <a:r>
              <a:rPr lang="en-US" dirty="0"/>
              <a:t>Backward Chaining</a:t>
            </a:r>
          </a:p>
          <a:p>
            <a:pPr lvl="1" fontAlgn="base"/>
            <a:r>
              <a:rPr lang="en-US" dirty="0"/>
              <a:t>Knowledge Acquisition and Learning</a:t>
            </a:r>
          </a:p>
          <a:p>
            <a:r>
              <a:rPr lang="en-US" dirty="0"/>
              <a:t>Applications of Expert Systems</a:t>
            </a:r>
          </a:p>
        </p:txBody>
      </p:sp>
      <p:sp>
        <p:nvSpPr>
          <p:cNvPr id="4" name="Footer Placeholder 3">
            <a:extLst>
              <a:ext uri="{FF2B5EF4-FFF2-40B4-BE49-F238E27FC236}">
                <a16:creationId xmlns:a16="http://schemas.microsoft.com/office/drawing/2014/main" id="{EBB84FC4-9250-8DBD-19DD-A4A9378D046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00965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198A-330E-1870-05AF-C89087DF512F}"/>
              </a:ext>
            </a:extLst>
          </p:cNvPr>
          <p:cNvSpPr>
            <a:spLocks noGrp="1"/>
          </p:cNvSpPr>
          <p:nvPr>
            <p:ph type="title"/>
          </p:nvPr>
        </p:nvSpPr>
        <p:spPr/>
        <p:txBody>
          <a:bodyPr/>
          <a:lstStyle/>
          <a:p>
            <a:r>
              <a:rPr lang="en-US" dirty="0"/>
              <a:t>Definition and History</a:t>
            </a:r>
          </a:p>
        </p:txBody>
      </p:sp>
      <p:sp>
        <p:nvSpPr>
          <p:cNvPr id="3" name="Content Placeholder 2">
            <a:extLst>
              <a:ext uri="{FF2B5EF4-FFF2-40B4-BE49-F238E27FC236}">
                <a16:creationId xmlns:a16="http://schemas.microsoft.com/office/drawing/2014/main" id="{CA270D03-3AB9-F9AB-4EF5-201983945DE2}"/>
              </a:ext>
            </a:extLst>
          </p:cNvPr>
          <p:cNvSpPr>
            <a:spLocks noGrp="1"/>
          </p:cNvSpPr>
          <p:nvPr>
            <p:ph idx="1"/>
          </p:nvPr>
        </p:nvSpPr>
        <p:spPr>
          <a:xfrm>
            <a:off x="677334" y="1488613"/>
            <a:ext cx="8596668" cy="5369387"/>
          </a:xfrm>
        </p:spPr>
        <p:txBody>
          <a:bodyPr>
            <a:normAutofit/>
          </a:bodyPr>
          <a:lstStyle/>
          <a:p>
            <a:pPr marL="0" indent="0" algn="ctr">
              <a:buNone/>
            </a:pPr>
            <a:r>
              <a:rPr lang="en-US" i="1" u="sng" dirty="0"/>
              <a:t>Expert System = Knowledge Base + Inference Engine + User Interface</a:t>
            </a:r>
            <a:endParaRPr lang="en-US" dirty="0"/>
          </a:p>
          <a:p>
            <a:endParaRPr lang="en-US" dirty="0"/>
          </a:p>
          <a:p>
            <a:r>
              <a:rPr lang="en-US" dirty="0"/>
              <a:t>computer program that emulates the decision-making ability of a human expert in a specific, narrow domain</a:t>
            </a:r>
          </a:p>
          <a:p>
            <a:r>
              <a:rPr lang="en-US" dirty="0"/>
              <a:t> It uses </a:t>
            </a:r>
            <a:r>
              <a:rPr lang="en-US" b="1" dirty="0"/>
              <a:t>knowledge, facts, and reasoning techniques</a:t>
            </a:r>
            <a:r>
              <a:rPr lang="en-US" dirty="0"/>
              <a:t> to solve problems that normally require human expertise.</a:t>
            </a:r>
          </a:p>
          <a:p>
            <a:r>
              <a:rPr lang="en-US" b="1" dirty="0"/>
              <a:t>Knowledge Base:</a:t>
            </a:r>
            <a:r>
              <a:rPr lang="en-US" dirty="0"/>
              <a:t> Repository of domain-specific facts and rules</a:t>
            </a:r>
          </a:p>
          <a:p>
            <a:r>
              <a:rPr lang="en-US" b="1" dirty="0"/>
              <a:t>Inference Engine:</a:t>
            </a:r>
            <a:r>
              <a:rPr lang="en-US" dirty="0"/>
              <a:t> Reasoning mechanism that applies logic</a:t>
            </a:r>
          </a:p>
          <a:p>
            <a:r>
              <a:rPr lang="en-US" b="1" dirty="0"/>
              <a:t>User Interface:</a:t>
            </a:r>
            <a:r>
              <a:rPr lang="en-US" dirty="0"/>
              <a:t> Interaction point between system and user</a:t>
            </a:r>
          </a:p>
          <a:p>
            <a:pPr marL="0" indent="0">
              <a:buNone/>
            </a:pPr>
            <a:r>
              <a:rPr lang="en-US" b="1" dirty="0"/>
              <a:t>	What Makes It "Expert"?</a:t>
            </a:r>
          </a:p>
          <a:p>
            <a:pPr lvl="2"/>
            <a:r>
              <a:rPr lang="en-US" b="1" dirty="0"/>
              <a:t>High Performance</a:t>
            </a:r>
            <a:endParaRPr lang="en-US" dirty="0"/>
          </a:p>
          <a:p>
            <a:pPr lvl="2"/>
            <a:r>
              <a:rPr lang="en-US" b="1" dirty="0"/>
              <a:t>Deep Knowledge</a:t>
            </a:r>
            <a:endParaRPr lang="en-US" dirty="0"/>
          </a:p>
          <a:p>
            <a:pPr lvl="2"/>
            <a:r>
              <a:rPr lang="en-US" b="1" dirty="0"/>
              <a:t>Reliability</a:t>
            </a:r>
            <a:endParaRPr lang="en-US" dirty="0"/>
          </a:p>
          <a:p>
            <a:pPr lvl="2"/>
            <a:r>
              <a:rPr lang="en-US" b="1" dirty="0"/>
              <a:t>Availability</a:t>
            </a:r>
            <a:br>
              <a:rPr lang="en-US" dirty="0"/>
            </a:br>
            <a:endParaRPr lang="en-US" dirty="0"/>
          </a:p>
          <a:p>
            <a:endParaRPr lang="en-US" dirty="0"/>
          </a:p>
        </p:txBody>
      </p:sp>
      <p:sp>
        <p:nvSpPr>
          <p:cNvPr id="4" name="Footer Placeholder 3">
            <a:extLst>
              <a:ext uri="{FF2B5EF4-FFF2-40B4-BE49-F238E27FC236}">
                <a16:creationId xmlns:a16="http://schemas.microsoft.com/office/drawing/2014/main" id="{31F72187-9A10-DC8C-E04E-DC51964BBCD0}"/>
              </a:ext>
            </a:extLst>
          </p:cNvPr>
          <p:cNvSpPr>
            <a:spLocks noGrp="1"/>
          </p:cNvSpPr>
          <p:nvPr>
            <p:ph type="ftr" sz="quarter" idx="11"/>
          </p:nvPr>
        </p:nvSpPr>
        <p:spPr/>
        <p:txBody>
          <a:bodyPr/>
          <a:lstStyle/>
          <a:p>
            <a:r>
              <a:rPr lang="nb-NO" dirty="0"/>
              <a:t>kapil@nast.edu.np || kapilpant157</a:t>
            </a:r>
            <a:endParaRPr lang="en-US" dirty="0"/>
          </a:p>
        </p:txBody>
      </p:sp>
    </p:spTree>
    <p:extLst>
      <p:ext uri="{BB962C8B-B14F-4D97-AF65-F5344CB8AC3E}">
        <p14:creationId xmlns:p14="http://schemas.microsoft.com/office/powerpoint/2010/main" val="2672884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26093-64A9-68D6-02CA-61FB0A095104}"/>
              </a:ext>
            </a:extLst>
          </p:cNvPr>
          <p:cNvSpPr>
            <a:spLocks noGrp="1"/>
          </p:cNvSpPr>
          <p:nvPr>
            <p:ph type="title"/>
          </p:nvPr>
        </p:nvSpPr>
        <p:spPr/>
        <p:txBody>
          <a:bodyPr/>
          <a:lstStyle/>
          <a:p>
            <a:r>
              <a:rPr lang="en-US" dirty="0"/>
              <a:t>History</a:t>
            </a:r>
          </a:p>
        </p:txBody>
      </p:sp>
      <p:sp>
        <p:nvSpPr>
          <p:cNvPr id="3" name="Content Placeholder 2">
            <a:extLst>
              <a:ext uri="{FF2B5EF4-FFF2-40B4-BE49-F238E27FC236}">
                <a16:creationId xmlns:a16="http://schemas.microsoft.com/office/drawing/2014/main" id="{2C0460E4-E0B8-EDF6-A03C-44A1C980E763}"/>
              </a:ext>
            </a:extLst>
          </p:cNvPr>
          <p:cNvSpPr>
            <a:spLocks noGrp="1"/>
          </p:cNvSpPr>
          <p:nvPr>
            <p:ph idx="1"/>
          </p:nvPr>
        </p:nvSpPr>
        <p:spPr>
          <a:xfrm>
            <a:off x="677334" y="1681317"/>
            <a:ext cx="5418666" cy="4360046"/>
          </a:xfrm>
        </p:spPr>
        <p:txBody>
          <a:bodyPr>
            <a:normAutofit fontScale="92500" lnSpcReduction="10000"/>
          </a:bodyPr>
          <a:lstStyle/>
          <a:p>
            <a:pPr marL="0" indent="0" latinLnBrk="1">
              <a:buNone/>
            </a:pPr>
            <a:r>
              <a:rPr lang="en-US" dirty="0"/>
              <a:t>1950s 	</a:t>
            </a:r>
            <a:r>
              <a:rPr lang="en-US" dirty="0">
                <a:sym typeface="Wingdings" panose="05000000000000000000" pitchFamily="2" charset="2"/>
              </a:rPr>
              <a:t></a:t>
            </a:r>
            <a:r>
              <a:rPr lang="en-US" dirty="0"/>
              <a:t>1950: Turing Test proposed</a:t>
            </a:r>
          </a:p>
          <a:p>
            <a:pPr marL="0" indent="0" latinLnBrk="1">
              <a:buNone/>
            </a:pPr>
            <a:r>
              <a:rPr lang="en-US" dirty="0"/>
              <a:t>		</a:t>
            </a:r>
            <a:r>
              <a:rPr lang="en-US" dirty="0">
                <a:sym typeface="Wingdings" panose="05000000000000000000" pitchFamily="2" charset="2"/>
              </a:rPr>
              <a:t>1</a:t>
            </a:r>
            <a:r>
              <a:rPr lang="en-US" dirty="0"/>
              <a:t>956: Dartmouth Conference, AI born</a:t>
            </a:r>
          </a:p>
          <a:p>
            <a:pPr marL="0" indent="0" latinLnBrk="1">
              <a:buNone/>
            </a:pPr>
            <a:r>
              <a:rPr lang="en-US" dirty="0"/>
              <a:t>1960s 	</a:t>
            </a:r>
            <a:r>
              <a:rPr lang="en-US" dirty="0">
                <a:sym typeface="Wingdings" panose="05000000000000000000" pitchFamily="2" charset="2"/>
              </a:rPr>
              <a:t></a:t>
            </a:r>
            <a:r>
              <a:rPr lang="en-US" dirty="0"/>
              <a:t>1965: DENDRAL (first expert system)</a:t>
            </a:r>
          </a:p>
          <a:p>
            <a:pPr marL="0" indent="0" latinLnBrk="1">
              <a:buNone/>
            </a:pPr>
            <a:r>
              <a:rPr lang="en-US" dirty="0"/>
              <a:t>        	</a:t>
            </a:r>
            <a:r>
              <a:rPr lang="en-US" dirty="0">
                <a:sym typeface="Wingdings" panose="05000000000000000000" pitchFamily="2" charset="2"/>
              </a:rPr>
              <a:t></a:t>
            </a:r>
            <a:r>
              <a:rPr lang="en-US" dirty="0"/>
              <a:t>General Problem-Solving focus</a:t>
            </a:r>
          </a:p>
          <a:p>
            <a:pPr marL="0" indent="0" latinLnBrk="1">
              <a:buNone/>
            </a:pPr>
            <a:r>
              <a:rPr lang="en-US" dirty="0"/>
              <a:t>1970s 	</a:t>
            </a:r>
            <a:r>
              <a:rPr lang="en-US" dirty="0">
                <a:sym typeface="Wingdings" panose="05000000000000000000" pitchFamily="2" charset="2"/>
              </a:rPr>
              <a:t></a:t>
            </a:r>
            <a:r>
              <a:rPr lang="en-US" dirty="0"/>
              <a:t>1972: MYCIN (medical diagnosis)</a:t>
            </a:r>
          </a:p>
          <a:p>
            <a:pPr marL="0" indent="0" latinLnBrk="1">
              <a:buNone/>
            </a:pPr>
            <a:r>
              <a:rPr lang="en-US" dirty="0">
                <a:sym typeface="Wingdings" panose="05000000000000000000" pitchFamily="2" charset="2"/>
              </a:rPr>
              <a:t>		 </a:t>
            </a:r>
            <a:r>
              <a:rPr lang="en-US" dirty="0"/>
              <a:t>1976: PROSPECTOR (geology)</a:t>
            </a:r>
          </a:p>
          <a:p>
            <a:pPr marL="0" indent="0" latinLnBrk="1">
              <a:buNone/>
            </a:pPr>
            <a:r>
              <a:rPr lang="en-US" dirty="0">
                <a:sym typeface="Wingdings" panose="05000000000000000000" pitchFamily="2" charset="2"/>
              </a:rPr>
              <a:t>		 </a:t>
            </a:r>
            <a:r>
              <a:rPr lang="en-US" dirty="0"/>
              <a:t>1978: XCON (computer configuration)</a:t>
            </a:r>
          </a:p>
          <a:p>
            <a:pPr marL="0" indent="0" latinLnBrk="1">
              <a:buNone/>
            </a:pPr>
            <a:r>
              <a:rPr lang="en-US" dirty="0">
                <a:sym typeface="Wingdings" panose="05000000000000000000" pitchFamily="2" charset="2"/>
              </a:rPr>
              <a:t>		 </a:t>
            </a:r>
            <a:r>
              <a:rPr lang="en-US" dirty="0"/>
              <a:t>Rule-based architecture matures</a:t>
            </a:r>
          </a:p>
          <a:p>
            <a:pPr marL="0" indent="0" latinLnBrk="1">
              <a:buNone/>
            </a:pPr>
            <a:r>
              <a:rPr lang="en-US" dirty="0"/>
              <a:t>1980s 	</a:t>
            </a:r>
            <a:r>
              <a:rPr lang="en-US" dirty="0">
                <a:sym typeface="Wingdings" panose="05000000000000000000" pitchFamily="2" charset="2"/>
              </a:rPr>
              <a:t> </a:t>
            </a:r>
            <a:r>
              <a:rPr lang="en-US" dirty="0"/>
              <a:t>Early 80s: AI boom, commercial systems</a:t>
            </a:r>
          </a:p>
          <a:p>
            <a:pPr marL="0" indent="0" latinLnBrk="1">
              <a:buNone/>
            </a:pPr>
            <a:r>
              <a:rPr lang="en-US" dirty="0">
                <a:sym typeface="Wingdings" panose="05000000000000000000" pitchFamily="2" charset="2"/>
              </a:rPr>
              <a:t>		 </a:t>
            </a:r>
            <a:r>
              <a:rPr lang="en-US" dirty="0"/>
              <a:t>1983: MYCIN spins off as EMYCIN shell</a:t>
            </a:r>
          </a:p>
          <a:p>
            <a:pPr marL="0" indent="0" latinLnBrk="1">
              <a:buNone/>
            </a:pPr>
            <a:r>
              <a:rPr lang="en-US" dirty="0">
                <a:sym typeface="Wingdings" panose="05000000000000000000" pitchFamily="2" charset="2"/>
              </a:rPr>
              <a:t>		</a:t>
            </a:r>
            <a:r>
              <a:rPr lang="en-US" dirty="0"/>
              <a:t> Mid-80s: Thousands of systems deployed</a:t>
            </a:r>
          </a:p>
          <a:p>
            <a:pPr marL="0" indent="0" latinLnBrk="1">
              <a:buNone/>
            </a:pPr>
            <a:r>
              <a:rPr lang="en-US" dirty="0">
                <a:sym typeface="Wingdings" panose="05000000000000000000" pitchFamily="2" charset="2"/>
              </a:rPr>
              <a:t>		 </a:t>
            </a:r>
            <a:r>
              <a:rPr lang="en-US" dirty="0"/>
              <a:t>Late 80s: AI Winter begins</a:t>
            </a:r>
          </a:p>
          <a:p>
            <a:pPr marL="0" indent="0">
              <a:buNone/>
            </a:pPr>
            <a:endParaRPr lang="en-US" dirty="0"/>
          </a:p>
        </p:txBody>
      </p:sp>
      <p:sp>
        <p:nvSpPr>
          <p:cNvPr id="4" name="Footer Placeholder 3">
            <a:extLst>
              <a:ext uri="{FF2B5EF4-FFF2-40B4-BE49-F238E27FC236}">
                <a16:creationId xmlns:a16="http://schemas.microsoft.com/office/drawing/2014/main" id="{F6D44C16-A60A-82A2-3BEC-0AB6E981EEBB}"/>
              </a:ext>
            </a:extLst>
          </p:cNvPr>
          <p:cNvSpPr>
            <a:spLocks noGrp="1"/>
          </p:cNvSpPr>
          <p:nvPr>
            <p:ph type="ftr" sz="quarter" idx="11"/>
          </p:nvPr>
        </p:nvSpPr>
        <p:spPr/>
        <p:txBody>
          <a:bodyPr/>
          <a:lstStyle/>
          <a:p>
            <a:r>
              <a:rPr lang="nb-NO"/>
              <a:t>kapil@nast.edu.np || kapilpant157</a:t>
            </a:r>
            <a:endParaRPr lang="en-US"/>
          </a:p>
        </p:txBody>
      </p:sp>
      <p:sp>
        <p:nvSpPr>
          <p:cNvPr id="5" name="Content Placeholder 2">
            <a:extLst>
              <a:ext uri="{FF2B5EF4-FFF2-40B4-BE49-F238E27FC236}">
                <a16:creationId xmlns:a16="http://schemas.microsoft.com/office/drawing/2014/main" id="{C3E8667A-2D4E-EC32-6054-FF738261599F}"/>
              </a:ext>
            </a:extLst>
          </p:cNvPr>
          <p:cNvSpPr txBox="1">
            <a:spLocks/>
          </p:cNvSpPr>
          <p:nvPr/>
        </p:nvSpPr>
        <p:spPr>
          <a:xfrm>
            <a:off x="6096000" y="1681315"/>
            <a:ext cx="5850194" cy="4725172"/>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latinLnBrk="1">
              <a:buNone/>
            </a:pPr>
            <a:r>
              <a:rPr lang="en-US" dirty="0"/>
              <a:t>1990s ──┬─ Embedded systems, business rules engines</a:t>
            </a:r>
          </a:p>
          <a:p>
            <a:pPr marL="0" indent="0" latinLnBrk="1">
              <a:buNone/>
            </a:pPr>
            <a:r>
              <a:rPr lang="en-US" dirty="0"/>
              <a:t>        ├─ Integration with databases, GUIs</a:t>
            </a:r>
          </a:p>
          <a:p>
            <a:pPr marL="0" indent="0" latinLnBrk="1">
              <a:buNone/>
            </a:pPr>
            <a:r>
              <a:rPr lang="en-US" dirty="0"/>
              <a:t>        └─ Focus on practical applications</a:t>
            </a:r>
          </a:p>
          <a:p>
            <a:pPr marL="0" indent="0" latinLnBrk="1">
              <a:buNone/>
            </a:pPr>
            <a:r>
              <a:rPr lang="en-US" dirty="0"/>
              <a:t>2000s ──┬─ Web-based expert systems</a:t>
            </a:r>
          </a:p>
          <a:p>
            <a:pPr marL="0" indent="0" latinLnBrk="1">
              <a:buNone/>
            </a:pPr>
            <a:r>
              <a:rPr lang="en-US" dirty="0"/>
              <a:t>        ├─ Open-source tools (Drools, Jess)</a:t>
            </a:r>
          </a:p>
          <a:p>
            <a:pPr marL="0" indent="0" latinLnBrk="1">
              <a:buNone/>
            </a:pPr>
            <a:r>
              <a:rPr lang="en-US" dirty="0"/>
              <a:t>        └─ Clinical decision support mainstream</a:t>
            </a:r>
          </a:p>
          <a:p>
            <a:pPr marL="0" indent="0" latinLnBrk="1">
              <a:buNone/>
            </a:pPr>
            <a:r>
              <a:rPr lang="en-US" dirty="0"/>
              <a:t>2010s ──┬─ 2011: IBM Watson wins Jeopardy!</a:t>
            </a:r>
          </a:p>
          <a:p>
            <a:pPr marL="0" indent="0" latinLnBrk="1">
              <a:buNone/>
            </a:pPr>
            <a:r>
              <a:rPr lang="en-US" dirty="0"/>
              <a:t>        ├─ Hybrid AI systems</a:t>
            </a:r>
          </a:p>
          <a:p>
            <a:pPr marL="0" indent="0" latinLnBrk="1">
              <a:buNone/>
            </a:pPr>
            <a:r>
              <a:rPr lang="en-US" dirty="0"/>
              <a:t>        ├─ Explainable AI movement</a:t>
            </a:r>
          </a:p>
          <a:p>
            <a:pPr marL="0" indent="0" latinLnBrk="1">
              <a:buNone/>
            </a:pPr>
            <a:r>
              <a:rPr lang="en-US" dirty="0"/>
              <a:t>        └─ Cloud-based rule engines</a:t>
            </a:r>
          </a:p>
          <a:p>
            <a:pPr marL="0" indent="0" latinLnBrk="1">
              <a:buNone/>
            </a:pPr>
            <a:r>
              <a:rPr lang="en-US" dirty="0"/>
              <a:t>2020s ──┬─ Low-code AI platforms</a:t>
            </a:r>
          </a:p>
          <a:p>
            <a:pPr marL="0" indent="0" latinLnBrk="1">
              <a:buNone/>
            </a:pPr>
            <a:r>
              <a:rPr lang="en-US" dirty="0"/>
              <a:t>        ├─ Regulatory compliance driving ES adoption</a:t>
            </a:r>
          </a:p>
          <a:p>
            <a:pPr marL="0" indent="0" latinLnBrk="1">
              <a:buNone/>
            </a:pPr>
            <a:r>
              <a:rPr lang="en-US" dirty="0"/>
              <a:t>        └─ Integration with ML for hybrid reasoning</a:t>
            </a:r>
          </a:p>
        </p:txBody>
      </p:sp>
    </p:spTree>
    <p:extLst>
      <p:ext uri="{BB962C8B-B14F-4D97-AF65-F5344CB8AC3E}">
        <p14:creationId xmlns:p14="http://schemas.microsoft.com/office/powerpoint/2010/main" val="35580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DA6857-1F49-3886-A9D0-0566B4297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080" y="451513"/>
            <a:ext cx="9050091" cy="3737761"/>
          </a:xfrm>
          <a:prstGeom prst="rect">
            <a:avLst/>
          </a:prstGeom>
        </p:spPr>
      </p:pic>
      <p:sp>
        <p:nvSpPr>
          <p:cNvPr id="3" name="Content Placeholder 2">
            <a:extLst>
              <a:ext uri="{FF2B5EF4-FFF2-40B4-BE49-F238E27FC236}">
                <a16:creationId xmlns:a16="http://schemas.microsoft.com/office/drawing/2014/main" id="{75A5B1E0-5BB9-1254-9F15-CF86B134533B}"/>
              </a:ext>
            </a:extLst>
          </p:cNvPr>
          <p:cNvSpPr>
            <a:spLocks noGrp="1"/>
          </p:cNvSpPr>
          <p:nvPr>
            <p:ph idx="1"/>
          </p:nvPr>
        </p:nvSpPr>
        <p:spPr>
          <a:xfrm>
            <a:off x="2494252" y="4000105"/>
            <a:ext cx="8596668" cy="2857895"/>
          </a:xfrm>
        </p:spPr>
        <p:txBody>
          <a:bodyPr/>
          <a:lstStyle/>
          <a:p>
            <a:pPr>
              <a:buFont typeface="+mj-lt"/>
              <a:buAutoNum type="arabicPeriod"/>
            </a:pPr>
            <a:r>
              <a:rPr lang="en-US" b="1" dirty="0"/>
              <a:t>Knowledge Engineer</a:t>
            </a:r>
          </a:p>
          <a:p>
            <a:pPr>
              <a:buFont typeface="+mj-lt"/>
              <a:buAutoNum type="arabicPeriod"/>
            </a:pPr>
            <a:r>
              <a:rPr lang="en-US" b="1" dirty="0"/>
              <a:t>User Interface</a:t>
            </a:r>
          </a:p>
          <a:p>
            <a:pPr>
              <a:buFont typeface="+mj-lt"/>
              <a:buAutoNum type="arabicPeriod"/>
            </a:pPr>
            <a:r>
              <a:rPr lang="en-US" b="1" dirty="0"/>
              <a:t>Inference Engine</a:t>
            </a:r>
          </a:p>
          <a:p>
            <a:pPr lvl="1">
              <a:buFont typeface="+mj-lt"/>
              <a:buAutoNum type="arabicPeriod"/>
            </a:pPr>
            <a:r>
              <a:rPr lang="en-US" b="1" dirty="0"/>
              <a:t>Forward Chaining</a:t>
            </a:r>
          </a:p>
          <a:p>
            <a:pPr lvl="1">
              <a:buFont typeface="+mj-lt"/>
              <a:buAutoNum type="arabicPeriod"/>
            </a:pPr>
            <a:r>
              <a:rPr lang="en-US" b="1" dirty="0"/>
              <a:t>Backward chaining</a:t>
            </a:r>
          </a:p>
          <a:p>
            <a:pPr>
              <a:buFont typeface="+mj-lt"/>
              <a:buAutoNum type="arabicPeriod"/>
            </a:pPr>
            <a:r>
              <a:rPr lang="en-US" b="1" dirty="0"/>
              <a:t>Knowledge Base</a:t>
            </a:r>
          </a:p>
          <a:p>
            <a:pPr>
              <a:buFont typeface="+mj-lt"/>
              <a:buAutoNum type="arabicPeriod"/>
            </a:pPr>
            <a:r>
              <a:rPr lang="en-US" b="1" dirty="0"/>
              <a:t>Knowledge Acquisition Facility</a:t>
            </a:r>
          </a:p>
          <a:p>
            <a:pPr>
              <a:buFont typeface="+mj-lt"/>
              <a:buAutoNum type="arabicPeriod"/>
            </a:pPr>
            <a:endParaRPr lang="en-US" b="1" dirty="0"/>
          </a:p>
        </p:txBody>
      </p:sp>
      <p:sp>
        <p:nvSpPr>
          <p:cNvPr id="4" name="Footer Placeholder 3">
            <a:extLst>
              <a:ext uri="{FF2B5EF4-FFF2-40B4-BE49-F238E27FC236}">
                <a16:creationId xmlns:a16="http://schemas.microsoft.com/office/drawing/2014/main" id="{EF1E9209-3A72-0FFA-12DF-2AA5B04BBDB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82114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01D6-1C51-FBB7-8810-677A16839879}"/>
              </a:ext>
            </a:extLst>
          </p:cNvPr>
          <p:cNvSpPr>
            <a:spLocks noGrp="1"/>
          </p:cNvSpPr>
          <p:nvPr>
            <p:ph type="title"/>
          </p:nvPr>
        </p:nvSpPr>
        <p:spPr/>
        <p:txBody>
          <a:bodyPr/>
          <a:lstStyle/>
          <a:p>
            <a:r>
              <a:rPr lang="en-US" dirty="0"/>
              <a:t>Inference Mechanism</a:t>
            </a:r>
          </a:p>
        </p:txBody>
      </p:sp>
      <p:sp>
        <p:nvSpPr>
          <p:cNvPr id="3" name="Content Placeholder 2">
            <a:extLst>
              <a:ext uri="{FF2B5EF4-FFF2-40B4-BE49-F238E27FC236}">
                <a16:creationId xmlns:a16="http://schemas.microsoft.com/office/drawing/2014/main" id="{56D2ACEF-A92E-CC53-D356-A8582055F940}"/>
              </a:ext>
            </a:extLst>
          </p:cNvPr>
          <p:cNvSpPr>
            <a:spLocks noGrp="1"/>
          </p:cNvSpPr>
          <p:nvPr>
            <p:ph idx="1"/>
          </p:nvPr>
        </p:nvSpPr>
        <p:spPr>
          <a:xfrm>
            <a:off x="677334" y="1538868"/>
            <a:ext cx="8596668" cy="5319131"/>
          </a:xfrm>
        </p:spPr>
        <p:txBody>
          <a:bodyPr>
            <a:normAutofit/>
          </a:bodyPr>
          <a:lstStyle/>
          <a:p>
            <a:pPr marL="0" indent="0">
              <a:buNone/>
            </a:pPr>
            <a:r>
              <a:rPr lang="en-US" dirty="0"/>
              <a:t>Inference engine is the brain of expert system </a:t>
            </a:r>
          </a:p>
          <a:p>
            <a:pPr marL="0" indent="0">
              <a:buNone/>
            </a:pPr>
            <a:r>
              <a:rPr lang="en-US" dirty="0"/>
              <a:t>It applies inference rules to the knowledge base to derive a conclusion or deduce new information. </a:t>
            </a:r>
          </a:p>
          <a:p>
            <a:pPr marL="0" indent="0">
              <a:buNone/>
            </a:pPr>
            <a:r>
              <a:rPr lang="en-US" u="sng" dirty="0"/>
              <a:t>Functions:</a:t>
            </a:r>
          </a:p>
          <a:p>
            <a:pPr lvl="0"/>
            <a:r>
              <a:rPr lang="en-US" b="1" dirty="0"/>
              <a:t>Pattern Matching:</a:t>
            </a:r>
            <a:r>
              <a:rPr lang="en-US" dirty="0"/>
              <a:t> Matches facts against rule conditions.</a:t>
            </a:r>
          </a:p>
          <a:p>
            <a:pPr lvl="0"/>
            <a:r>
              <a:rPr lang="en-US" b="1" dirty="0"/>
              <a:t>Control Strategy:</a:t>
            </a:r>
            <a:r>
              <a:rPr lang="en-US" dirty="0"/>
              <a:t> Determines the order of rule execution.</a:t>
            </a:r>
          </a:p>
          <a:p>
            <a:pPr marL="0" indent="0">
              <a:buNone/>
            </a:pPr>
            <a:r>
              <a:rPr lang="en-US" b="1" u="sng" dirty="0"/>
              <a:t>Major Reasoning Methods:</a:t>
            </a:r>
          </a:p>
          <a:p>
            <a:pPr lvl="0"/>
            <a:r>
              <a:rPr lang="en-US" b="1" dirty="0"/>
              <a:t>Forward Chaining (Data-Driven): </a:t>
            </a:r>
          </a:p>
          <a:p>
            <a:pPr marL="457200" lvl="1" indent="0">
              <a:buNone/>
            </a:pPr>
            <a:r>
              <a:rPr lang="en-US" dirty="0"/>
              <a:t>Starts with known facts, applies rules to infer new facts until a goal is reached. Good for diagnosis, planning. </a:t>
            </a:r>
          </a:p>
          <a:p>
            <a:pPr lvl="0"/>
            <a:r>
              <a:rPr lang="en-US" b="1" dirty="0"/>
              <a:t>Backward Chaining (Goal-Driven):</a:t>
            </a:r>
            <a:r>
              <a:rPr lang="en-US" dirty="0"/>
              <a:t> </a:t>
            </a:r>
          </a:p>
          <a:p>
            <a:pPr marL="457200" lvl="1" indent="0">
              <a:buNone/>
            </a:pPr>
            <a:r>
              <a:rPr lang="en-US" dirty="0"/>
              <a:t>Starts with a hypothesis (goal) and works backward to see if supporting facts exist. Good for classification, recommendation.</a:t>
            </a:r>
          </a:p>
          <a:p>
            <a:endParaRPr lang="en-US" dirty="0"/>
          </a:p>
          <a:p>
            <a:endParaRPr lang="en-US" dirty="0"/>
          </a:p>
        </p:txBody>
      </p:sp>
      <p:sp>
        <p:nvSpPr>
          <p:cNvPr id="4" name="Footer Placeholder 3">
            <a:extLst>
              <a:ext uri="{FF2B5EF4-FFF2-40B4-BE49-F238E27FC236}">
                <a16:creationId xmlns:a16="http://schemas.microsoft.com/office/drawing/2014/main" id="{189254B0-35A7-BDF5-5D6D-3CB3D418498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94983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7E737D-E505-6642-0B40-2C2C76057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2509" y="4244899"/>
            <a:ext cx="8649491" cy="2590799"/>
          </a:xfrm>
          <a:prstGeom prst="rect">
            <a:avLst/>
          </a:prstGeom>
        </p:spPr>
      </p:pic>
      <p:sp>
        <p:nvSpPr>
          <p:cNvPr id="2" name="Title 1">
            <a:extLst>
              <a:ext uri="{FF2B5EF4-FFF2-40B4-BE49-F238E27FC236}">
                <a16:creationId xmlns:a16="http://schemas.microsoft.com/office/drawing/2014/main" id="{443C839D-EEA1-1F8C-C5D6-7B70FD27FCCA}"/>
              </a:ext>
            </a:extLst>
          </p:cNvPr>
          <p:cNvSpPr>
            <a:spLocks noGrp="1"/>
          </p:cNvSpPr>
          <p:nvPr>
            <p:ph type="title"/>
          </p:nvPr>
        </p:nvSpPr>
        <p:spPr/>
        <p:txBody>
          <a:bodyPr/>
          <a:lstStyle/>
          <a:p>
            <a:r>
              <a:rPr lang="en-US" b="1" dirty="0"/>
              <a:t>Forward Chaining (Data-Driven)</a:t>
            </a:r>
            <a:endParaRPr lang="en-US" dirty="0"/>
          </a:p>
        </p:txBody>
      </p:sp>
      <p:sp>
        <p:nvSpPr>
          <p:cNvPr id="3" name="Content Placeholder 2">
            <a:extLst>
              <a:ext uri="{FF2B5EF4-FFF2-40B4-BE49-F238E27FC236}">
                <a16:creationId xmlns:a16="http://schemas.microsoft.com/office/drawing/2014/main" id="{D0533440-0CA9-3ABC-09DA-F5D01BE59BF9}"/>
              </a:ext>
            </a:extLst>
          </p:cNvPr>
          <p:cNvSpPr>
            <a:spLocks noGrp="1"/>
          </p:cNvSpPr>
          <p:nvPr>
            <p:ph idx="1"/>
          </p:nvPr>
        </p:nvSpPr>
        <p:spPr>
          <a:xfrm>
            <a:off x="677334" y="1488613"/>
            <a:ext cx="8596668" cy="3880773"/>
          </a:xfrm>
        </p:spPr>
        <p:txBody>
          <a:bodyPr/>
          <a:lstStyle/>
          <a:p>
            <a:r>
              <a:rPr lang="en-US" b="1" dirty="0"/>
              <a:t>How It Works:</a:t>
            </a:r>
            <a:endParaRPr lang="en-US" dirty="0"/>
          </a:p>
          <a:p>
            <a:pPr>
              <a:buFont typeface="+mj-lt"/>
              <a:buAutoNum type="arabicPeriod"/>
            </a:pPr>
            <a:r>
              <a:rPr lang="en-US" dirty="0"/>
              <a:t>Start with known facts in working memory</a:t>
            </a:r>
          </a:p>
          <a:p>
            <a:pPr>
              <a:buFont typeface="+mj-lt"/>
              <a:buAutoNum type="arabicPeriod"/>
            </a:pPr>
            <a:r>
              <a:rPr lang="en-US" dirty="0"/>
              <a:t>Match facts against rule conditions (IF parts)</a:t>
            </a:r>
          </a:p>
          <a:p>
            <a:pPr>
              <a:buFont typeface="+mj-lt"/>
              <a:buAutoNum type="arabicPeriod"/>
            </a:pPr>
            <a:r>
              <a:rPr lang="en-US" dirty="0"/>
              <a:t>Fire all applicable rules whose conditions are satisfied</a:t>
            </a:r>
          </a:p>
          <a:p>
            <a:pPr>
              <a:buFont typeface="+mj-lt"/>
              <a:buAutoNum type="arabicPeriod"/>
            </a:pPr>
            <a:r>
              <a:rPr lang="en-US" dirty="0"/>
              <a:t>Add conclusions (THEN parts)</a:t>
            </a:r>
          </a:p>
          <a:p>
            <a:pPr>
              <a:buFont typeface="+mj-lt"/>
              <a:buAutoNum type="arabicPeriod"/>
            </a:pPr>
            <a:r>
              <a:rPr lang="en-US" dirty="0"/>
              <a:t> to working memory as new facts</a:t>
            </a:r>
          </a:p>
          <a:p>
            <a:pPr>
              <a:buFont typeface="+mj-lt"/>
              <a:buAutoNum type="arabicPeriod"/>
            </a:pPr>
            <a:r>
              <a:rPr lang="en-US" dirty="0"/>
              <a:t>Repeat until:</a:t>
            </a:r>
          </a:p>
          <a:p>
            <a:pPr lvl="1">
              <a:buFont typeface="+mj-lt"/>
              <a:buAutoNum type="arabicPeriod"/>
            </a:pPr>
            <a:r>
              <a:rPr lang="en-US" dirty="0"/>
              <a:t>Goal is reached, OR</a:t>
            </a:r>
          </a:p>
          <a:p>
            <a:pPr lvl="1">
              <a:buFont typeface="+mj-lt"/>
              <a:buAutoNum type="arabicPeriod"/>
            </a:pPr>
            <a:r>
              <a:rPr lang="en-US" dirty="0"/>
              <a:t>No more rules can fire</a:t>
            </a:r>
          </a:p>
          <a:p>
            <a:endParaRPr lang="en-US" dirty="0"/>
          </a:p>
        </p:txBody>
      </p:sp>
      <p:sp>
        <p:nvSpPr>
          <p:cNvPr id="4" name="Footer Placeholder 3">
            <a:extLst>
              <a:ext uri="{FF2B5EF4-FFF2-40B4-BE49-F238E27FC236}">
                <a16:creationId xmlns:a16="http://schemas.microsoft.com/office/drawing/2014/main" id="{8D6D1B2D-626D-BE0D-DE07-86517E807A7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088362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D0FBAF-DED4-1A72-605A-07E2CD957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2714" y="4594302"/>
            <a:ext cx="7557451" cy="2263698"/>
          </a:xfrm>
          <a:prstGeom prst="rect">
            <a:avLst/>
          </a:prstGeom>
        </p:spPr>
      </p:pic>
      <p:sp>
        <p:nvSpPr>
          <p:cNvPr id="2" name="Title 1">
            <a:extLst>
              <a:ext uri="{FF2B5EF4-FFF2-40B4-BE49-F238E27FC236}">
                <a16:creationId xmlns:a16="http://schemas.microsoft.com/office/drawing/2014/main" id="{B65A80FF-3036-1FDD-2834-C50F5FED6350}"/>
              </a:ext>
            </a:extLst>
          </p:cNvPr>
          <p:cNvSpPr>
            <a:spLocks noGrp="1"/>
          </p:cNvSpPr>
          <p:nvPr>
            <p:ph type="title"/>
          </p:nvPr>
        </p:nvSpPr>
        <p:spPr/>
        <p:txBody>
          <a:bodyPr>
            <a:normAutofit/>
          </a:bodyPr>
          <a:lstStyle/>
          <a:p>
            <a:r>
              <a:rPr lang="en-US" b="1" dirty="0"/>
              <a:t>Backward Chaining (Goal-Driven)</a:t>
            </a:r>
            <a:endParaRPr lang="en-US" dirty="0"/>
          </a:p>
        </p:txBody>
      </p:sp>
      <p:sp>
        <p:nvSpPr>
          <p:cNvPr id="3" name="Content Placeholder 2">
            <a:extLst>
              <a:ext uri="{FF2B5EF4-FFF2-40B4-BE49-F238E27FC236}">
                <a16:creationId xmlns:a16="http://schemas.microsoft.com/office/drawing/2014/main" id="{E5F5F87B-B76D-ECFD-31F9-0AE16CC5E494}"/>
              </a:ext>
            </a:extLst>
          </p:cNvPr>
          <p:cNvSpPr>
            <a:spLocks noGrp="1"/>
          </p:cNvSpPr>
          <p:nvPr>
            <p:ph idx="1"/>
          </p:nvPr>
        </p:nvSpPr>
        <p:spPr>
          <a:xfrm>
            <a:off x="677334" y="1659525"/>
            <a:ext cx="8596668" cy="3880773"/>
          </a:xfrm>
        </p:spPr>
        <p:txBody>
          <a:bodyPr/>
          <a:lstStyle/>
          <a:p>
            <a:pPr>
              <a:buFont typeface="+mj-lt"/>
              <a:buAutoNum type="arabicPeriod"/>
            </a:pPr>
            <a:r>
              <a:rPr lang="en-US" dirty="0"/>
              <a:t>Start with a goal/hypothesis to prove</a:t>
            </a:r>
          </a:p>
          <a:p>
            <a:pPr>
              <a:buFont typeface="+mj-lt"/>
              <a:buAutoNum type="arabicPeriod"/>
            </a:pPr>
            <a:r>
              <a:rPr lang="en-US" dirty="0"/>
              <a:t>Find rules whose conclusions match the goal</a:t>
            </a:r>
          </a:p>
          <a:p>
            <a:pPr>
              <a:buFont typeface="+mj-lt"/>
              <a:buAutoNum type="arabicPeriod"/>
            </a:pPr>
            <a:r>
              <a:rPr lang="en-US" dirty="0"/>
              <a:t>Check IF conditions of those rules:</a:t>
            </a:r>
          </a:p>
          <a:p>
            <a:pPr lvl="1">
              <a:buFont typeface="+mj-lt"/>
              <a:buAutoNum type="arabicPeriod"/>
            </a:pPr>
            <a:r>
              <a:rPr lang="en-US" dirty="0"/>
              <a:t>If conditions are known facts → Goal proven</a:t>
            </a:r>
          </a:p>
          <a:p>
            <a:pPr lvl="1">
              <a:buFont typeface="+mj-lt"/>
              <a:buAutoNum type="arabicPeriod"/>
            </a:pPr>
            <a:r>
              <a:rPr lang="en-US" dirty="0"/>
              <a:t>If conditions are unknown → Set them as sub-goals</a:t>
            </a:r>
          </a:p>
          <a:p>
            <a:pPr>
              <a:buFont typeface="+mj-lt"/>
              <a:buAutoNum type="arabicPeriod"/>
            </a:pPr>
            <a:r>
              <a:rPr lang="en-US" dirty="0"/>
              <a:t>Recursively prove sub-goals until:</a:t>
            </a:r>
          </a:p>
          <a:p>
            <a:pPr lvl="1">
              <a:buFont typeface="+mj-lt"/>
              <a:buAutoNum type="arabicPeriod"/>
            </a:pPr>
            <a:r>
              <a:rPr lang="en-US" dirty="0"/>
              <a:t>All conditions satisfied (goal proven), OR</a:t>
            </a:r>
          </a:p>
          <a:p>
            <a:pPr lvl="1">
              <a:buFont typeface="+mj-lt"/>
              <a:buAutoNum type="arabicPeriod"/>
            </a:pPr>
            <a:r>
              <a:rPr lang="en-US" dirty="0"/>
              <a:t>Cannot prove necessary conditions (goal fails)</a:t>
            </a:r>
          </a:p>
          <a:p>
            <a:pPr>
              <a:buFont typeface="+mj-lt"/>
              <a:buAutoNum type="arabicPeriod"/>
            </a:pPr>
            <a:endParaRPr lang="en-US" dirty="0"/>
          </a:p>
        </p:txBody>
      </p:sp>
      <p:sp>
        <p:nvSpPr>
          <p:cNvPr id="4" name="Footer Placeholder 3">
            <a:extLst>
              <a:ext uri="{FF2B5EF4-FFF2-40B4-BE49-F238E27FC236}">
                <a16:creationId xmlns:a16="http://schemas.microsoft.com/office/drawing/2014/main" id="{D30BAE5A-D802-C704-86CA-9FC21387013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432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6485-8C0A-4BC8-DC13-62DC266BD7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51913C-A027-D001-92F8-9082A3FB75B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AB1BD5D-D2FB-0AAB-1708-F0433E64BED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0435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6918C-8A5E-DD53-117B-5A37056CC62E}"/>
              </a:ext>
            </a:extLst>
          </p:cNvPr>
          <p:cNvSpPr>
            <a:spLocks noGrp="1"/>
          </p:cNvSpPr>
          <p:nvPr>
            <p:ph type="title"/>
          </p:nvPr>
        </p:nvSpPr>
        <p:spPr/>
        <p:txBody>
          <a:bodyPr/>
          <a:lstStyle/>
          <a:p>
            <a:r>
              <a:rPr lang="en-US" dirty="0"/>
              <a:t>Knowledge Base</a:t>
            </a:r>
          </a:p>
        </p:txBody>
      </p:sp>
      <p:sp>
        <p:nvSpPr>
          <p:cNvPr id="3" name="Content Placeholder 2">
            <a:extLst>
              <a:ext uri="{FF2B5EF4-FFF2-40B4-BE49-F238E27FC236}">
                <a16:creationId xmlns:a16="http://schemas.microsoft.com/office/drawing/2014/main" id="{A26DD25C-E096-F77E-B065-04B048B89FB1}"/>
              </a:ext>
            </a:extLst>
          </p:cNvPr>
          <p:cNvSpPr>
            <a:spLocks noGrp="1"/>
          </p:cNvSpPr>
          <p:nvPr>
            <p:ph idx="1"/>
          </p:nvPr>
        </p:nvSpPr>
        <p:spPr/>
        <p:txBody>
          <a:bodyPr/>
          <a:lstStyle/>
          <a:p>
            <a:r>
              <a:rPr lang="en-US" dirty="0">
                <a:solidFill>
                  <a:schemeClr val="tx1"/>
                </a:solidFill>
              </a:rPr>
              <a:t>The heart of the expert system, storing domain-specific facts and rules.</a:t>
            </a:r>
          </a:p>
          <a:p>
            <a:pPr marL="0" indent="0">
              <a:buNone/>
            </a:pPr>
            <a:r>
              <a:rPr lang="en-US" b="1" dirty="0">
                <a:solidFill>
                  <a:schemeClr val="tx1"/>
                </a:solidFill>
              </a:rPr>
              <a:t>Components:</a:t>
            </a:r>
          </a:p>
          <a:p>
            <a:pPr lvl="0"/>
            <a:r>
              <a:rPr lang="en-US" b="1" dirty="0">
                <a:solidFill>
                  <a:schemeClr val="tx1"/>
                </a:solidFill>
              </a:rPr>
              <a:t>Facts:</a:t>
            </a:r>
            <a:r>
              <a:rPr lang="en-US" dirty="0">
                <a:solidFill>
                  <a:schemeClr val="tx1"/>
                </a:solidFill>
              </a:rPr>
              <a:t> Declarative information about the domain (e.g., "The patient has a fever").</a:t>
            </a:r>
          </a:p>
          <a:p>
            <a:pPr lvl="0"/>
            <a:r>
              <a:rPr lang="en-US" b="1" dirty="0">
                <a:solidFill>
                  <a:schemeClr val="tx1"/>
                </a:solidFill>
              </a:rPr>
              <a:t>Rules (Production Rules):</a:t>
            </a:r>
            <a:r>
              <a:rPr lang="en-US" dirty="0">
                <a:solidFill>
                  <a:schemeClr val="tx1"/>
                </a:solidFill>
              </a:rPr>
              <a:t> Conditional "IF-THEN" statements representing heuristic knowledge (e.g., IF fever AND rash THEN suspect measles).</a:t>
            </a:r>
          </a:p>
          <a:p>
            <a:pPr lvl="0"/>
            <a:r>
              <a:rPr lang="en-US" b="1" dirty="0">
                <a:solidFill>
                  <a:schemeClr val="tx1"/>
                </a:solidFill>
              </a:rPr>
              <a:t>Representation Methods:</a:t>
            </a:r>
            <a:r>
              <a:rPr lang="en-US" dirty="0">
                <a:solidFill>
                  <a:schemeClr val="tx1"/>
                </a:solidFill>
              </a:rPr>
              <a:t> Rules, frames, semantic networks, ontologies. </a:t>
            </a:r>
            <a:r>
              <a:rPr lang="en-US" i="1" dirty="0">
                <a:solidFill>
                  <a:schemeClr val="tx1"/>
                </a:solidFill>
              </a:rPr>
              <a:t>Separates domain knowledge from the reasoning process</a:t>
            </a:r>
            <a:r>
              <a:rPr lang="en-US" dirty="0">
                <a:solidFill>
                  <a:schemeClr val="tx1"/>
                </a:solidFill>
              </a:rPr>
              <a:t> (a key design principle).</a:t>
            </a:r>
            <a:endParaRPr lang="en-US" dirty="0"/>
          </a:p>
        </p:txBody>
      </p:sp>
      <p:sp>
        <p:nvSpPr>
          <p:cNvPr id="4" name="Footer Placeholder 3">
            <a:extLst>
              <a:ext uri="{FF2B5EF4-FFF2-40B4-BE49-F238E27FC236}">
                <a16:creationId xmlns:a16="http://schemas.microsoft.com/office/drawing/2014/main" id="{97C13D9A-B2D3-F3FA-4F05-320906E4C60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95113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84FD-E911-EF51-DCB1-CCA1029448A3}"/>
              </a:ext>
            </a:extLst>
          </p:cNvPr>
          <p:cNvSpPr>
            <a:spLocks noGrp="1"/>
          </p:cNvSpPr>
          <p:nvPr>
            <p:ph type="title"/>
          </p:nvPr>
        </p:nvSpPr>
        <p:spPr/>
        <p:txBody>
          <a:bodyPr/>
          <a:lstStyle/>
          <a:p>
            <a:r>
              <a:rPr lang="en-US" dirty="0"/>
              <a:t>Characteristics of Expert System</a:t>
            </a:r>
          </a:p>
        </p:txBody>
      </p:sp>
      <p:sp>
        <p:nvSpPr>
          <p:cNvPr id="3" name="Content Placeholder 2">
            <a:extLst>
              <a:ext uri="{FF2B5EF4-FFF2-40B4-BE49-F238E27FC236}">
                <a16:creationId xmlns:a16="http://schemas.microsoft.com/office/drawing/2014/main" id="{07F9B662-7B1D-D60B-5BB9-F7166EDF4E36}"/>
              </a:ext>
            </a:extLst>
          </p:cNvPr>
          <p:cNvSpPr>
            <a:spLocks noGrp="1"/>
          </p:cNvSpPr>
          <p:nvPr>
            <p:ph idx="1"/>
          </p:nvPr>
        </p:nvSpPr>
        <p:spPr/>
        <p:txBody>
          <a:bodyPr>
            <a:normAutofit/>
          </a:bodyPr>
          <a:lstStyle/>
          <a:p>
            <a:r>
              <a:rPr lang="en-US" b="1" dirty="0"/>
              <a:t>Separation of Knowledge and Control: </a:t>
            </a:r>
            <a:r>
              <a:rPr lang="en-US" dirty="0"/>
              <a:t>Knowledge (in the Knowledge Base) is separate from the reasoning logic (Inference Engine). This allows independent updating of knowledge.</a:t>
            </a:r>
            <a:endParaRPr lang="en-US" b="1" dirty="0"/>
          </a:p>
          <a:p>
            <a:r>
              <a:rPr lang="en-US" b="1" dirty="0"/>
              <a:t>Symbolic Reasoning: </a:t>
            </a:r>
            <a:r>
              <a:rPr lang="en-US" dirty="0"/>
              <a:t>Manipulates symbols (facts, rules) rather than numerical calculations.</a:t>
            </a:r>
            <a:endParaRPr lang="en-US" b="1" dirty="0"/>
          </a:p>
          <a:p>
            <a:r>
              <a:rPr lang="en-US" b="1" dirty="0"/>
              <a:t>Heuristic Problem-Solving: </a:t>
            </a:r>
            <a:r>
              <a:rPr lang="en-US" dirty="0"/>
              <a:t>Uses rules-of-thumb (heuristics) for plausible reasoning, not just pure logic.</a:t>
            </a:r>
          </a:p>
          <a:p>
            <a:r>
              <a:rPr lang="en-US" b="1" dirty="0"/>
              <a:t>Transparency: </a:t>
            </a:r>
            <a:r>
              <a:rPr lang="en-US" dirty="0"/>
              <a:t>The explanation facility makes the reasoning process interpretable, unlike many "black-box" ML models.</a:t>
            </a:r>
          </a:p>
        </p:txBody>
      </p:sp>
      <p:sp>
        <p:nvSpPr>
          <p:cNvPr id="4" name="Footer Placeholder 3">
            <a:extLst>
              <a:ext uri="{FF2B5EF4-FFF2-40B4-BE49-F238E27FC236}">
                <a16:creationId xmlns:a16="http://schemas.microsoft.com/office/drawing/2014/main" id="{EACFBEB9-20E6-6D74-BBAA-D023F78841F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50065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CAAB-9F40-B896-23ED-601FB26FCA0D}"/>
              </a:ext>
            </a:extLst>
          </p:cNvPr>
          <p:cNvSpPr>
            <a:spLocks noGrp="1"/>
          </p:cNvSpPr>
          <p:nvPr>
            <p:ph type="title"/>
          </p:nvPr>
        </p:nvSpPr>
        <p:spPr/>
        <p:txBody>
          <a:bodyPr/>
          <a:lstStyle/>
          <a:p>
            <a:r>
              <a:rPr lang="en-US" dirty="0"/>
              <a:t>Example: Medical Diagnosis System</a:t>
            </a:r>
          </a:p>
        </p:txBody>
      </p:sp>
      <p:sp>
        <p:nvSpPr>
          <p:cNvPr id="3" name="Content Placeholder 2">
            <a:extLst>
              <a:ext uri="{FF2B5EF4-FFF2-40B4-BE49-F238E27FC236}">
                <a16:creationId xmlns:a16="http://schemas.microsoft.com/office/drawing/2014/main" id="{DCB238D9-3960-6B60-6FB8-3C05EB2E8929}"/>
              </a:ext>
            </a:extLst>
          </p:cNvPr>
          <p:cNvSpPr>
            <a:spLocks noGrp="1"/>
          </p:cNvSpPr>
          <p:nvPr>
            <p:ph idx="1"/>
          </p:nvPr>
        </p:nvSpPr>
        <p:spPr>
          <a:xfrm>
            <a:off x="677334" y="1930401"/>
            <a:ext cx="8596668" cy="4110962"/>
          </a:xfrm>
        </p:spPr>
        <p:txBody>
          <a:bodyPr>
            <a:normAutofit lnSpcReduction="10000"/>
          </a:bodyPr>
          <a:lstStyle/>
          <a:p>
            <a:pPr marL="0" indent="0">
              <a:buNone/>
            </a:pPr>
            <a:r>
              <a:rPr lang="en-US" b="1" dirty="0"/>
              <a:t>User Input:</a:t>
            </a:r>
            <a:r>
              <a:rPr lang="en-US" dirty="0"/>
              <a:t> Patient has high fever and red spots.</a:t>
            </a:r>
          </a:p>
          <a:p>
            <a:pPr marL="0" indent="0">
              <a:buNone/>
            </a:pPr>
            <a:r>
              <a:rPr lang="en-US" b="1" dirty="0"/>
              <a:t>Working Memory:</a:t>
            </a:r>
            <a:r>
              <a:rPr lang="en-US" dirty="0"/>
              <a:t> Stores these facts.</a:t>
            </a:r>
          </a:p>
          <a:p>
            <a:pPr marL="0" indent="0">
              <a:buNone/>
            </a:pPr>
            <a:r>
              <a:rPr lang="en-US" b="1" dirty="0"/>
              <a:t>Inference Engine (Forward Chaining):</a:t>
            </a:r>
            <a:endParaRPr lang="en-US" dirty="0"/>
          </a:p>
          <a:p>
            <a:pPr marL="457200" lvl="1" indent="0">
              <a:buNone/>
            </a:pPr>
            <a:r>
              <a:rPr lang="en-US" dirty="0"/>
              <a:t>Matches facts with rule: IF </a:t>
            </a:r>
            <a:r>
              <a:rPr lang="en-US" dirty="0" err="1"/>
              <a:t>high_fever</a:t>
            </a:r>
            <a:r>
              <a:rPr lang="en-US" dirty="0"/>
              <a:t> AND </a:t>
            </a:r>
            <a:r>
              <a:rPr lang="en-US" dirty="0" err="1"/>
              <a:t>red_spots</a:t>
            </a:r>
            <a:r>
              <a:rPr lang="en-US" dirty="0"/>
              <a:t> THEN hypothesis = measles.</a:t>
            </a:r>
          </a:p>
          <a:p>
            <a:pPr marL="457200" lvl="1" indent="0">
              <a:buNone/>
            </a:pPr>
            <a:r>
              <a:rPr lang="en-US" dirty="0"/>
              <a:t>Fires the rule, adds hypothesis = measles to working memory.</a:t>
            </a:r>
          </a:p>
          <a:p>
            <a:pPr marL="457200" lvl="1" indent="0">
              <a:buNone/>
            </a:pPr>
            <a:r>
              <a:rPr lang="en-US" dirty="0"/>
              <a:t>Finds another rule: IF measles THEN recommend isolation AND administer </a:t>
            </a:r>
            <a:r>
              <a:rPr lang="en-US" dirty="0" err="1"/>
              <a:t>Vitamin_A</a:t>
            </a:r>
            <a:r>
              <a:rPr lang="en-US" dirty="0"/>
              <a:t>.</a:t>
            </a:r>
          </a:p>
          <a:p>
            <a:pPr marL="0" indent="0">
              <a:buNone/>
            </a:pPr>
            <a:r>
              <a:rPr lang="en-US" b="1" dirty="0"/>
              <a:t>Explanation Facility:</a:t>
            </a:r>
            <a:endParaRPr lang="en-US" dirty="0"/>
          </a:p>
          <a:p>
            <a:pPr marL="457200" lvl="1" indent="0">
              <a:buNone/>
            </a:pPr>
            <a:r>
              <a:rPr lang="en-US" b="1" dirty="0"/>
              <a:t>User asks:</a:t>
            </a:r>
            <a:r>
              <a:rPr lang="en-US" dirty="0"/>
              <a:t> "Why do you think it's measles?"</a:t>
            </a:r>
          </a:p>
          <a:p>
            <a:pPr marL="457200" lvl="1" indent="0">
              <a:buNone/>
            </a:pPr>
            <a:r>
              <a:rPr lang="en-US" b="1" dirty="0"/>
              <a:t>System responds:</a:t>
            </a:r>
            <a:r>
              <a:rPr lang="en-US" dirty="0"/>
              <a:t> "Because you reported high fever and red spots, and Rule 37 states that these symptoms indicate measles."</a:t>
            </a:r>
          </a:p>
          <a:p>
            <a:pPr marL="0" indent="0">
              <a:buNone/>
            </a:pPr>
            <a:r>
              <a:rPr lang="en-US" b="1" dirty="0"/>
              <a:t>Output:</a:t>
            </a:r>
            <a:r>
              <a:rPr lang="en-US" dirty="0"/>
              <a:t> Diagnosis = Measles. Recommendations: Isolate patient, prescribe Vitamin A.</a:t>
            </a:r>
          </a:p>
          <a:p>
            <a:pPr marL="0" indent="0">
              <a:buNone/>
            </a:pPr>
            <a:endParaRPr lang="en-US" dirty="0"/>
          </a:p>
        </p:txBody>
      </p:sp>
      <p:sp>
        <p:nvSpPr>
          <p:cNvPr id="4" name="Footer Placeholder 3">
            <a:extLst>
              <a:ext uri="{FF2B5EF4-FFF2-40B4-BE49-F238E27FC236}">
                <a16:creationId xmlns:a16="http://schemas.microsoft.com/office/drawing/2014/main" id="{E032D4A5-6369-13B1-F068-9C80EEFE0E98}"/>
              </a:ext>
            </a:extLst>
          </p:cNvPr>
          <p:cNvSpPr>
            <a:spLocks noGrp="1"/>
          </p:cNvSpPr>
          <p:nvPr>
            <p:ph type="ftr" sz="quarter" idx="11"/>
          </p:nvPr>
        </p:nvSpPr>
        <p:spPr/>
        <p:txBody>
          <a:bodyPr/>
          <a:lstStyle/>
          <a:p>
            <a:r>
              <a:rPr lang="nb-NO" dirty="0"/>
              <a:t>kapil@nast.edu.np || kapilpant157</a:t>
            </a:r>
            <a:endParaRPr lang="en-US" dirty="0"/>
          </a:p>
        </p:txBody>
      </p:sp>
    </p:spTree>
    <p:extLst>
      <p:ext uri="{BB962C8B-B14F-4D97-AF65-F5344CB8AC3E}">
        <p14:creationId xmlns:p14="http://schemas.microsoft.com/office/powerpoint/2010/main" val="2753861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D9B2-D858-303E-A5B2-B7E5DE16A57E}"/>
              </a:ext>
            </a:extLst>
          </p:cNvPr>
          <p:cNvSpPr>
            <a:spLocks noGrp="1"/>
          </p:cNvSpPr>
          <p:nvPr>
            <p:ph type="title"/>
          </p:nvPr>
        </p:nvSpPr>
        <p:spPr/>
        <p:txBody>
          <a:bodyPr/>
          <a:lstStyle/>
          <a:p>
            <a:r>
              <a:rPr lang="en-US" dirty="0"/>
              <a:t>Various Application Areas</a:t>
            </a:r>
          </a:p>
        </p:txBody>
      </p:sp>
      <p:sp>
        <p:nvSpPr>
          <p:cNvPr id="3" name="Content Placeholder 2">
            <a:extLst>
              <a:ext uri="{FF2B5EF4-FFF2-40B4-BE49-F238E27FC236}">
                <a16:creationId xmlns:a16="http://schemas.microsoft.com/office/drawing/2014/main" id="{2E5430C7-DC0F-EB59-1A4A-673E995CB79F}"/>
              </a:ext>
            </a:extLst>
          </p:cNvPr>
          <p:cNvSpPr>
            <a:spLocks noGrp="1"/>
          </p:cNvSpPr>
          <p:nvPr>
            <p:ph idx="1"/>
          </p:nvPr>
        </p:nvSpPr>
        <p:spPr/>
        <p:txBody>
          <a:bodyPr>
            <a:normAutofit lnSpcReduction="10000"/>
          </a:bodyPr>
          <a:lstStyle/>
          <a:p>
            <a:r>
              <a:rPr lang="en-US" dirty="0"/>
              <a:t>Medical and Healthcare</a:t>
            </a:r>
          </a:p>
          <a:p>
            <a:r>
              <a:rPr lang="en-US" dirty="0"/>
              <a:t>Engineering and Manufacturing</a:t>
            </a:r>
          </a:p>
          <a:p>
            <a:r>
              <a:rPr lang="en-US" dirty="0"/>
              <a:t>Finance and Business</a:t>
            </a:r>
          </a:p>
          <a:p>
            <a:r>
              <a:rPr lang="en-US" dirty="0"/>
              <a:t>Agriculture</a:t>
            </a:r>
          </a:p>
          <a:p>
            <a:r>
              <a:rPr lang="en-US" dirty="0"/>
              <a:t>Education</a:t>
            </a:r>
          </a:p>
          <a:p>
            <a:r>
              <a:rPr lang="en-US" dirty="0"/>
              <a:t>Law and Government</a:t>
            </a:r>
          </a:p>
          <a:p>
            <a:r>
              <a:rPr lang="en-US" dirty="0"/>
              <a:t>Computer Systems and IT</a:t>
            </a:r>
          </a:p>
          <a:p>
            <a:r>
              <a:rPr lang="en-US" dirty="0"/>
              <a:t>Environment and Geology</a:t>
            </a:r>
          </a:p>
          <a:p>
            <a:r>
              <a:rPr lang="en-US" dirty="0"/>
              <a:t>Customer Service</a:t>
            </a:r>
          </a:p>
          <a:p>
            <a:r>
              <a:rPr lang="en-US" dirty="0"/>
              <a:t>Transportation and Aviation</a:t>
            </a:r>
          </a:p>
        </p:txBody>
      </p:sp>
      <p:sp>
        <p:nvSpPr>
          <p:cNvPr id="4" name="Footer Placeholder 3">
            <a:extLst>
              <a:ext uri="{FF2B5EF4-FFF2-40B4-BE49-F238E27FC236}">
                <a16:creationId xmlns:a16="http://schemas.microsoft.com/office/drawing/2014/main" id="{66B4F314-FE1C-F5F1-8401-A18BDD30983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09154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 &amp; Discussion</a:t>
            </a:r>
          </a:p>
        </p:txBody>
      </p:sp>
      <p:sp>
        <p:nvSpPr>
          <p:cNvPr id="3" name="Content Placeholder 2"/>
          <p:cNvSpPr>
            <a:spLocks noGrp="1"/>
          </p:cNvSpPr>
          <p:nvPr>
            <p:ph idx="1"/>
          </p:nvPr>
        </p:nvSpPr>
        <p:spPr/>
        <p:txBody>
          <a:bodyPr/>
          <a:lstStyle/>
          <a:p>
            <a:r>
              <a:rPr dirty="0"/>
              <a:t>Let's discuss </a:t>
            </a:r>
            <a:r>
              <a:rPr lang="en-US" dirty="0"/>
              <a:t>Expert System</a:t>
            </a:r>
            <a:r>
              <a:rPr dirty="0"/>
              <a:t> concepts further!</a:t>
            </a:r>
          </a:p>
        </p:txBody>
      </p:sp>
      <p:sp>
        <p:nvSpPr>
          <p:cNvPr id="4" name="Footer Placeholder 3">
            <a:extLst>
              <a:ext uri="{FF2B5EF4-FFF2-40B4-BE49-F238E27FC236}">
                <a16:creationId xmlns:a16="http://schemas.microsoft.com/office/drawing/2014/main" id="{40F36C3D-65E5-F126-EDAA-923A1D1CBDCE}"/>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2071</TotalTime>
  <Words>2151</Words>
  <Application>Microsoft Office PowerPoint</Application>
  <PresentationFormat>Widescreen</PresentationFormat>
  <Paragraphs>239</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Trebuchet MS</vt:lpstr>
      <vt:lpstr>Wingdings</vt:lpstr>
      <vt:lpstr>Wingdings 3</vt:lpstr>
      <vt:lpstr>Facet</vt:lpstr>
      <vt:lpstr>Expert System</vt:lpstr>
      <vt:lpstr>Contents</vt:lpstr>
      <vt:lpstr>Definition and History</vt:lpstr>
      <vt:lpstr>History</vt:lpstr>
      <vt:lpstr>PowerPoint Presentation</vt:lpstr>
      <vt:lpstr>Inference Mechanism</vt:lpstr>
      <vt:lpstr>Forward Chaining (Data-Driven)</vt:lpstr>
      <vt:lpstr>Backward Chaining (Goal-Driven)</vt:lpstr>
      <vt:lpstr>PowerPoint Presentation</vt:lpstr>
      <vt:lpstr>Knowledge Base</vt:lpstr>
      <vt:lpstr>Characteristics of Expert System</vt:lpstr>
      <vt:lpstr>Example: Medical Diagnosis System</vt:lpstr>
      <vt:lpstr>Various Application Areas</vt:lpstr>
      <vt:lpstr>Questions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Deepa Paneru</cp:lastModifiedBy>
  <cp:revision>261</cp:revision>
  <dcterms:created xsi:type="dcterms:W3CDTF">2025-01-04T18:18:42Z</dcterms:created>
  <dcterms:modified xsi:type="dcterms:W3CDTF">2026-02-18T16:01:44Z</dcterms:modified>
</cp:coreProperties>
</file>