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71"/>
  </p:notesMasterIdLst>
  <p:sldIdLst>
    <p:sldId id="256" r:id="rId2"/>
    <p:sldId id="263" r:id="rId3"/>
    <p:sldId id="257" r:id="rId4"/>
    <p:sldId id="323" r:id="rId5"/>
    <p:sldId id="324" r:id="rId6"/>
    <p:sldId id="318" r:id="rId7"/>
    <p:sldId id="320" r:id="rId8"/>
    <p:sldId id="321" r:id="rId9"/>
    <p:sldId id="259" r:id="rId10"/>
    <p:sldId id="258" r:id="rId11"/>
    <p:sldId id="332" r:id="rId12"/>
    <p:sldId id="326" r:id="rId13"/>
    <p:sldId id="327" r:id="rId14"/>
    <p:sldId id="264" r:id="rId15"/>
    <p:sldId id="265" r:id="rId16"/>
    <p:sldId id="306" r:id="rId17"/>
    <p:sldId id="334" r:id="rId18"/>
    <p:sldId id="307" r:id="rId19"/>
    <p:sldId id="308" r:id="rId20"/>
    <p:sldId id="333" r:id="rId21"/>
    <p:sldId id="309" r:id="rId22"/>
    <p:sldId id="310" r:id="rId23"/>
    <p:sldId id="311" r:id="rId24"/>
    <p:sldId id="312" r:id="rId25"/>
    <p:sldId id="313" r:id="rId26"/>
    <p:sldId id="314" r:id="rId27"/>
    <p:sldId id="315" r:id="rId28"/>
    <p:sldId id="325" r:id="rId29"/>
    <p:sldId id="267" r:id="rId30"/>
    <p:sldId id="270" r:id="rId31"/>
    <p:sldId id="277" r:id="rId32"/>
    <p:sldId id="276" r:id="rId33"/>
    <p:sldId id="275" r:id="rId34"/>
    <p:sldId id="271" r:id="rId35"/>
    <p:sldId id="272" r:id="rId36"/>
    <p:sldId id="273" r:id="rId37"/>
    <p:sldId id="274" r:id="rId38"/>
    <p:sldId id="303" r:id="rId39"/>
    <p:sldId id="281" r:id="rId40"/>
    <p:sldId id="282" r:id="rId41"/>
    <p:sldId id="283" r:id="rId42"/>
    <p:sldId id="305" r:id="rId43"/>
    <p:sldId id="284" r:id="rId44"/>
    <p:sldId id="335" r:id="rId45"/>
    <p:sldId id="285" r:id="rId46"/>
    <p:sldId id="286" r:id="rId47"/>
    <p:sldId id="290" r:id="rId48"/>
    <p:sldId id="291" r:id="rId49"/>
    <p:sldId id="292" r:id="rId50"/>
    <p:sldId id="287" r:id="rId51"/>
    <p:sldId id="288" r:id="rId52"/>
    <p:sldId id="336" r:id="rId53"/>
    <p:sldId id="289" r:id="rId54"/>
    <p:sldId id="293" r:id="rId55"/>
    <p:sldId id="261" r:id="rId56"/>
    <p:sldId id="298" r:id="rId57"/>
    <p:sldId id="294" r:id="rId58"/>
    <p:sldId id="297" r:id="rId59"/>
    <p:sldId id="299" r:id="rId60"/>
    <p:sldId id="304" r:id="rId61"/>
    <p:sldId id="295" r:id="rId62"/>
    <p:sldId id="300" r:id="rId63"/>
    <p:sldId id="296" r:id="rId64"/>
    <p:sldId id="260" r:id="rId65"/>
    <p:sldId id="301" r:id="rId66"/>
    <p:sldId id="302" r:id="rId67"/>
    <p:sldId id="317" r:id="rId68"/>
    <p:sldId id="322" r:id="rId69"/>
    <p:sldId id="266" r:id="rId7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B7A4FD-7682-4DCA-BB61-7CB04380C82A}">
          <p14:sldIdLst>
            <p14:sldId id="256"/>
            <p14:sldId id="263"/>
            <p14:sldId id="257"/>
            <p14:sldId id="323"/>
            <p14:sldId id="324"/>
            <p14:sldId id="318"/>
            <p14:sldId id="320"/>
            <p14:sldId id="321"/>
            <p14:sldId id="259"/>
            <p14:sldId id="258"/>
            <p14:sldId id="332"/>
            <p14:sldId id="326"/>
            <p14:sldId id="327"/>
            <p14:sldId id="264"/>
            <p14:sldId id="265"/>
            <p14:sldId id="306"/>
            <p14:sldId id="334"/>
            <p14:sldId id="307"/>
            <p14:sldId id="308"/>
            <p14:sldId id="333"/>
            <p14:sldId id="309"/>
            <p14:sldId id="310"/>
            <p14:sldId id="311"/>
            <p14:sldId id="312"/>
            <p14:sldId id="313"/>
            <p14:sldId id="314"/>
            <p14:sldId id="315"/>
            <p14:sldId id="325"/>
            <p14:sldId id="267"/>
            <p14:sldId id="270"/>
            <p14:sldId id="277"/>
            <p14:sldId id="276"/>
            <p14:sldId id="275"/>
            <p14:sldId id="271"/>
            <p14:sldId id="272"/>
            <p14:sldId id="273"/>
            <p14:sldId id="274"/>
            <p14:sldId id="303"/>
            <p14:sldId id="281"/>
            <p14:sldId id="282"/>
            <p14:sldId id="283"/>
            <p14:sldId id="305"/>
            <p14:sldId id="284"/>
            <p14:sldId id="335"/>
            <p14:sldId id="285"/>
            <p14:sldId id="286"/>
            <p14:sldId id="290"/>
            <p14:sldId id="291"/>
            <p14:sldId id="292"/>
            <p14:sldId id="287"/>
            <p14:sldId id="288"/>
            <p14:sldId id="336"/>
            <p14:sldId id="289"/>
            <p14:sldId id="293"/>
            <p14:sldId id="261"/>
            <p14:sldId id="298"/>
            <p14:sldId id="294"/>
            <p14:sldId id="297"/>
            <p14:sldId id="299"/>
            <p14:sldId id="304"/>
            <p14:sldId id="295"/>
            <p14:sldId id="300"/>
            <p14:sldId id="296"/>
            <p14:sldId id="260"/>
            <p14:sldId id="301"/>
            <p14:sldId id="302"/>
            <p14:sldId id="317"/>
            <p14:sldId id="322"/>
            <p14:sldId id="26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AED6A1-B6C8-47B4-A03E-6C6A76441594}" v="276" dt="2024-10-01T00:14:41.1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4860" autoAdjust="0"/>
  </p:normalViewPr>
  <p:slideViewPr>
    <p:cSldViewPr snapToGrid="0" snapToObjects="1">
      <p:cViewPr varScale="1">
        <p:scale>
          <a:sx n="41" d="100"/>
          <a:sy n="41" d="100"/>
        </p:scale>
        <p:origin x="1428" y="48"/>
      </p:cViewPr>
      <p:guideLst>
        <p:guide orient="horz" pos="2160"/>
        <p:guide pos="2880"/>
      </p:guideLst>
    </p:cSldViewPr>
  </p:slideViewPr>
  <p:notesTextViewPr>
    <p:cViewPr>
      <p:scale>
        <a:sx n="100" d="100"/>
        <a:sy n="100" d="100"/>
      </p:scale>
      <p:origin x="0" y="-1128"/>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pil Dev Pant" userId="319db07d2c83ec26" providerId="LiveId" clId="{FBAED6A1-B6C8-47B4-A03E-6C6A76441594}"/>
    <pc:docChg chg="undo custSel addSld modSld">
      <pc:chgData name="Kapil Dev Pant" userId="319db07d2c83ec26" providerId="LiveId" clId="{FBAED6A1-B6C8-47B4-A03E-6C6A76441594}" dt="2024-10-01T00:18:09.936" v="611"/>
      <pc:docMkLst>
        <pc:docMk/>
      </pc:docMkLst>
      <pc:sldChg chg="modSp new mod">
        <pc:chgData name="Kapil Dev Pant" userId="319db07d2c83ec26" providerId="LiveId" clId="{FBAED6A1-B6C8-47B4-A03E-6C6A76441594}" dt="2024-10-01T00:00:28.454" v="288" actId="15"/>
        <pc:sldMkLst>
          <pc:docMk/>
          <pc:sldMk cId="2559599209" sldId="263"/>
        </pc:sldMkLst>
        <pc:spChg chg="mod">
          <ac:chgData name="Kapil Dev Pant" userId="319db07d2c83ec26" providerId="LiveId" clId="{FBAED6A1-B6C8-47B4-A03E-6C6A76441594}" dt="2024-09-30T23:56:29.506" v="8" actId="20577"/>
          <ac:spMkLst>
            <pc:docMk/>
            <pc:sldMk cId="2559599209" sldId="263"/>
            <ac:spMk id="2" creationId="{838929F6-58E2-5D7E-2C78-60467FF3390A}"/>
          </ac:spMkLst>
        </pc:spChg>
        <pc:spChg chg="mod">
          <ac:chgData name="Kapil Dev Pant" userId="319db07d2c83ec26" providerId="LiveId" clId="{FBAED6A1-B6C8-47B4-A03E-6C6A76441594}" dt="2024-10-01T00:00:28.454" v="288" actId="15"/>
          <ac:spMkLst>
            <pc:docMk/>
            <pc:sldMk cId="2559599209" sldId="263"/>
            <ac:spMk id="3" creationId="{D8EA07D9-4F31-AF7D-6D57-9AA571B2023F}"/>
          </ac:spMkLst>
        </pc:spChg>
      </pc:sldChg>
      <pc:sldChg chg="addSp delSp modSp new mod modNotesTx">
        <pc:chgData name="Kapil Dev Pant" userId="319db07d2c83ec26" providerId="LiveId" clId="{FBAED6A1-B6C8-47B4-A03E-6C6A76441594}" dt="2024-10-01T00:18:09.936" v="611"/>
        <pc:sldMkLst>
          <pc:docMk/>
          <pc:sldMk cId="350051961" sldId="264"/>
        </pc:sldMkLst>
        <pc:spChg chg="del mod">
          <ac:chgData name="Kapil Dev Pant" userId="319db07d2c83ec26" providerId="LiveId" clId="{FBAED6A1-B6C8-47B4-A03E-6C6A76441594}" dt="2024-10-01T00:15:18.280" v="570" actId="478"/>
          <ac:spMkLst>
            <pc:docMk/>
            <pc:sldMk cId="350051961" sldId="264"/>
            <ac:spMk id="2" creationId="{7617B564-A5CD-B2F4-B7DF-C870CF2E4A59}"/>
          </ac:spMkLst>
        </pc:spChg>
        <pc:spChg chg="del">
          <ac:chgData name="Kapil Dev Pant" userId="319db07d2c83ec26" providerId="LiveId" clId="{FBAED6A1-B6C8-47B4-A03E-6C6A76441594}" dt="2024-10-01T00:05:33.654" v="290" actId="1032"/>
          <ac:spMkLst>
            <pc:docMk/>
            <pc:sldMk cId="350051961" sldId="264"/>
            <ac:spMk id="3" creationId="{8A745BC9-20BA-88D7-531C-E1EA4EC91B44}"/>
          </ac:spMkLst>
        </pc:spChg>
        <pc:spChg chg="add del mod">
          <ac:chgData name="Kapil Dev Pant" userId="319db07d2c83ec26" providerId="LiveId" clId="{FBAED6A1-B6C8-47B4-A03E-6C6A76441594}" dt="2024-10-01T00:15:11.128" v="568" actId="478"/>
          <ac:spMkLst>
            <pc:docMk/>
            <pc:sldMk cId="350051961" sldId="264"/>
            <ac:spMk id="9" creationId="{6BBC9F8C-79AF-A8E7-DFB7-3340FCB56677}"/>
          </ac:spMkLst>
        </pc:spChg>
        <pc:graphicFrameChg chg="add del mod modGraphic">
          <ac:chgData name="Kapil Dev Pant" userId="319db07d2c83ec26" providerId="LiveId" clId="{FBAED6A1-B6C8-47B4-A03E-6C6A76441594}" dt="2024-10-01T00:07:51.801" v="380" actId="478"/>
          <ac:graphicFrameMkLst>
            <pc:docMk/>
            <pc:sldMk cId="350051961" sldId="264"/>
            <ac:graphicFrameMk id="4" creationId="{7B84899E-0873-1C97-CBB6-72E0765E7E0E}"/>
          </ac:graphicFrameMkLst>
        </pc:graphicFrameChg>
        <pc:graphicFrameChg chg="add mod modGraphic">
          <ac:chgData name="Kapil Dev Pant" userId="319db07d2c83ec26" providerId="LiveId" clId="{FBAED6A1-B6C8-47B4-A03E-6C6A76441594}" dt="2024-10-01T00:15:24.621" v="572" actId="14100"/>
          <ac:graphicFrameMkLst>
            <pc:docMk/>
            <pc:sldMk cId="350051961" sldId="264"/>
            <ac:graphicFrameMk id="7" creationId="{7ADA6F2F-72DC-3E80-CF4A-DB8D5C0739EE}"/>
          </ac:graphicFrameMkLst>
        </pc:graphicFrameChg>
        <pc:graphicFrameChg chg="add del modGraphic">
          <ac:chgData name="Kapil Dev Pant" userId="319db07d2c83ec26" providerId="LiveId" clId="{FBAED6A1-B6C8-47B4-A03E-6C6A76441594}" dt="2024-10-01T00:14:17.644" v="566" actId="1032"/>
          <ac:graphicFrameMkLst>
            <pc:docMk/>
            <pc:sldMk cId="350051961" sldId="264"/>
            <ac:graphicFrameMk id="10" creationId="{F6CD7F7E-961B-4353-4416-36B96411B51E}"/>
          </ac:graphicFrameMkLst>
        </pc:graphicFrame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68C270-17B4-4320-B8D6-1576AE695C39}"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BAC95344-50E7-42E2-BF71-C92799988840}">
      <dgm:prSet/>
      <dgm:spPr/>
      <dgm:t>
        <a:bodyPr/>
        <a:lstStyle/>
        <a:p>
          <a:r>
            <a:rPr lang="en-US"/>
            <a:t>- State Space: A set of all possible states</a:t>
          </a:r>
        </a:p>
      </dgm:t>
    </dgm:pt>
    <dgm:pt modelId="{1B093F24-4339-48FC-8F0F-C0833D1A8843}" type="parTrans" cxnId="{8F748A06-2689-4CCE-B17F-95D222EF073B}">
      <dgm:prSet/>
      <dgm:spPr/>
      <dgm:t>
        <a:bodyPr/>
        <a:lstStyle/>
        <a:p>
          <a:endParaRPr lang="en-US"/>
        </a:p>
      </dgm:t>
    </dgm:pt>
    <dgm:pt modelId="{F59799A7-1032-4792-BAA7-400B7C288C8A}" type="sibTrans" cxnId="{8F748A06-2689-4CCE-B17F-95D222EF073B}">
      <dgm:prSet/>
      <dgm:spPr/>
      <dgm:t>
        <a:bodyPr/>
        <a:lstStyle/>
        <a:p>
          <a:endParaRPr lang="en-US"/>
        </a:p>
      </dgm:t>
    </dgm:pt>
    <dgm:pt modelId="{9C20B1F4-55B2-4510-810C-AEF838730AC0}">
      <dgm:prSet/>
      <dgm:spPr/>
      <dgm:t>
        <a:bodyPr/>
        <a:lstStyle/>
        <a:p>
          <a:r>
            <a:rPr lang="en-US"/>
            <a:t>- Initial State: The starting point of the problem</a:t>
          </a:r>
        </a:p>
      </dgm:t>
    </dgm:pt>
    <dgm:pt modelId="{506666C6-6915-4F54-A9EC-0F8DC17E33DD}" type="parTrans" cxnId="{79ED05E7-1DCF-4823-88A3-405C734C670F}">
      <dgm:prSet/>
      <dgm:spPr/>
      <dgm:t>
        <a:bodyPr/>
        <a:lstStyle/>
        <a:p>
          <a:endParaRPr lang="en-US"/>
        </a:p>
      </dgm:t>
    </dgm:pt>
    <dgm:pt modelId="{00B8301C-1FFD-4ABA-BE27-FD6B3E6A4B10}" type="sibTrans" cxnId="{79ED05E7-1DCF-4823-88A3-405C734C670F}">
      <dgm:prSet/>
      <dgm:spPr/>
      <dgm:t>
        <a:bodyPr/>
        <a:lstStyle/>
        <a:p>
          <a:endParaRPr lang="en-US"/>
        </a:p>
      </dgm:t>
    </dgm:pt>
    <dgm:pt modelId="{D6263413-DC8A-4DFA-A090-49CB24F313D1}">
      <dgm:prSet/>
      <dgm:spPr/>
      <dgm:t>
        <a:bodyPr/>
        <a:lstStyle/>
        <a:p>
          <a:r>
            <a:rPr lang="en-US"/>
            <a:t>- Goal State: The desired outcome to reach</a:t>
          </a:r>
        </a:p>
      </dgm:t>
    </dgm:pt>
    <dgm:pt modelId="{DB0E0FCE-80CA-4AB7-8ADE-536E31CC6EF6}" type="parTrans" cxnId="{3A7CFE7E-6272-4916-B1A2-A85AD49FCFD4}">
      <dgm:prSet/>
      <dgm:spPr/>
      <dgm:t>
        <a:bodyPr/>
        <a:lstStyle/>
        <a:p>
          <a:endParaRPr lang="en-US"/>
        </a:p>
      </dgm:t>
    </dgm:pt>
    <dgm:pt modelId="{606E5FE1-6822-41E7-BED8-D9C7C3EDA86A}" type="sibTrans" cxnId="{3A7CFE7E-6272-4916-B1A2-A85AD49FCFD4}">
      <dgm:prSet/>
      <dgm:spPr/>
      <dgm:t>
        <a:bodyPr/>
        <a:lstStyle/>
        <a:p>
          <a:endParaRPr lang="en-US"/>
        </a:p>
      </dgm:t>
    </dgm:pt>
    <dgm:pt modelId="{EA595320-859B-4A94-BC45-F0760AD78C26}">
      <dgm:prSet/>
      <dgm:spPr/>
      <dgm:t>
        <a:bodyPr/>
        <a:lstStyle/>
        <a:p>
          <a:r>
            <a:rPr lang="en-US"/>
            <a:t>- Search: Moving from the initial state to the goal state through valid transitions</a:t>
          </a:r>
        </a:p>
      </dgm:t>
    </dgm:pt>
    <dgm:pt modelId="{912E25AF-662B-4FB6-8DD8-51A845305765}" type="parTrans" cxnId="{C5313B4F-85A4-4CEE-A6F5-B0BB3F731C47}">
      <dgm:prSet/>
      <dgm:spPr/>
      <dgm:t>
        <a:bodyPr/>
        <a:lstStyle/>
        <a:p>
          <a:endParaRPr lang="en-US"/>
        </a:p>
      </dgm:t>
    </dgm:pt>
    <dgm:pt modelId="{41F39AAB-D7FB-47D6-B8D8-42BB355D5A88}" type="sibTrans" cxnId="{C5313B4F-85A4-4CEE-A6F5-B0BB3F731C47}">
      <dgm:prSet/>
      <dgm:spPr/>
      <dgm:t>
        <a:bodyPr/>
        <a:lstStyle/>
        <a:p>
          <a:endParaRPr lang="en-US"/>
        </a:p>
      </dgm:t>
    </dgm:pt>
    <dgm:pt modelId="{ED81158C-9D58-4F47-ABCE-D0DBA51C2E15}" type="pres">
      <dgm:prSet presAssocID="{6368C270-17B4-4320-B8D6-1576AE695C39}" presName="outerComposite" presStyleCnt="0">
        <dgm:presLayoutVars>
          <dgm:chMax val="5"/>
          <dgm:dir/>
          <dgm:resizeHandles val="exact"/>
        </dgm:presLayoutVars>
      </dgm:prSet>
      <dgm:spPr/>
    </dgm:pt>
    <dgm:pt modelId="{3EA5873E-629B-440B-AB8C-0DD2DE6AB7DF}" type="pres">
      <dgm:prSet presAssocID="{6368C270-17B4-4320-B8D6-1576AE695C39}" presName="dummyMaxCanvas" presStyleCnt="0">
        <dgm:presLayoutVars/>
      </dgm:prSet>
      <dgm:spPr/>
    </dgm:pt>
    <dgm:pt modelId="{29942726-CD7D-4E05-89E8-0908889446D1}" type="pres">
      <dgm:prSet presAssocID="{6368C270-17B4-4320-B8D6-1576AE695C39}" presName="FourNodes_1" presStyleLbl="node1" presStyleIdx="0" presStyleCnt="4">
        <dgm:presLayoutVars>
          <dgm:bulletEnabled val="1"/>
        </dgm:presLayoutVars>
      </dgm:prSet>
      <dgm:spPr/>
    </dgm:pt>
    <dgm:pt modelId="{0A0703BF-2710-427D-9F95-D24649F1809B}" type="pres">
      <dgm:prSet presAssocID="{6368C270-17B4-4320-B8D6-1576AE695C39}" presName="FourNodes_2" presStyleLbl="node1" presStyleIdx="1" presStyleCnt="4">
        <dgm:presLayoutVars>
          <dgm:bulletEnabled val="1"/>
        </dgm:presLayoutVars>
      </dgm:prSet>
      <dgm:spPr/>
    </dgm:pt>
    <dgm:pt modelId="{6881B8EA-8D79-4A80-9F2D-CAC22D57607A}" type="pres">
      <dgm:prSet presAssocID="{6368C270-17B4-4320-B8D6-1576AE695C39}" presName="FourNodes_3" presStyleLbl="node1" presStyleIdx="2" presStyleCnt="4">
        <dgm:presLayoutVars>
          <dgm:bulletEnabled val="1"/>
        </dgm:presLayoutVars>
      </dgm:prSet>
      <dgm:spPr/>
    </dgm:pt>
    <dgm:pt modelId="{50F3FB1C-785B-42D9-875E-77F0D09CCD6F}" type="pres">
      <dgm:prSet presAssocID="{6368C270-17B4-4320-B8D6-1576AE695C39}" presName="FourNodes_4" presStyleLbl="node1" presStyleIdx="3" presStyleCnt="4">
        <dgm:presLayoutVars>
          <dgm:bulletEnabled val="1"/>
        </dgm:presLayoutVars>
      </dgm:prSet>
      <dgm:spPr/>
    </dgm:pt>
    <dgm:pt modelId="{2921ED94-65AD-4E98-8173-2CFAEC77F14D}" type="pres">
      <dgm:prSet presAssocID="{6368C270-17B4-4320-B8D6-1576AE695C39}" presName="FourConn_1-2" presStyleLbl="fgAccFollowNode1" presStyleIdx="0" presStyleCnt="3">
        <dgm:presLayoutVars>
          <dgm:bulletEnabled val="1"/>
        </dgm:presLayoutVars>
      </dgm:prSet>
      <dgm:spPr/>
    </dgm:pt>
    <dgm:pt modelId="{AB0C2741-8D66-4B4A-B47E-1FF21B39A78B}" type="pres">
      <dgm:prSet presAssocID="{6368C270-17B4-4320-B8D6-1576AE695C39}" presName="FourConn_2-3" presStyleLbl="fgAccFollowNode1" presStyleIdx="1" presStyleCnt="3">
        <dgm:presLayoutVars>
          <dgm:bulletEnabled val="1"/>
        </dgm:presLayoutVars>
      </dgm:prSet>
      <dgm:spPr/>
    </dgm:pt>
    <dgm:pt modelId="{FD5206BF-51BC-4386-AAC1-5532CB1B529B}" type="pres">
      <dgm:prSet presAssocID="{6368C270-17B4-4320-B8D6-1576AE695C39}" presName="FourConn_3-4" presStyleLbl="fgAccFollowNode1" presStyleIdx="2" presStyleCnt="3">
        <dgm:presLayoutVars>
          <dgm:bulletEnabled val="1"/>
        </dgm:presLayoutVars>
      </dgm:prSet>
      <dgm:spPr/>
    </dgm:pt>
    <dgm:pt modelId="{EAF8379F-16D5-4EC8-BC0B-80554759F39B}" type="pres">
      <dgm:prSet presAssocID="{6368C270-17B4-4320-B8D6-1576AE695C39}" presName="FourNodes_1_text" presStyleLbl="node1" presStyleIdx="3" presStyleCnt="4">
        <dgm:presLayoutVars>
          <dgm:bulletEnabled val="1"/>
        </dgm:presLayoutVars>
      </dgm:prSet>
      <dgm:spPr/>
    </dgm:pt>
    <dgm:pt modelId="{DA8C8D07-B564-45AC-A9EC-4AD29FF4E373}" type="pres">
      <dgm:prSet presAssocID="{6368C270-17B4-4320-B8D6-1576AE695C39}" presName="FourNodes_2_text" presStyleLbl="node1" presStyleIdx="3" presStyleCnt="4">
        <dgm:presLayoutVars>
          <dgm:bulletEnabled val="1"/>
        </dgm:presLayoutVars>
      </dgm:prSet>
      <dgm:spPr/>
    </dgm:pt>
    <dgm:pt modelId="{A39F7E89-B334-4C37-930A-08D706DFFA1F}" type="pres">
      <dgm:prSet presAssocID="{6368C270-17B4-4320-B8D6-1576AE695C39}" presName="FourNodes_3_text" presStyleLbl="node1" presStyleIdx="3" presStyleCnt="4">
        <dgm:presLayoutVars>
          <dgm:bulletEnabled val="1"/>
        </dgm:presLayoutVars>
      </dgm:prSet>
      <dgm:spPr/>
    </dgm:pt>
    <dgm:pt modelId="{654B248F-6719-4D4A-9D3C-707C0A08AD05}" type="pres">
      <dgm:prSet presAssocID="{6368C270-17B4-4320-B8D6-1576AE695C39}" presName="FourNodes_4_text" presStyleLbl="node1" presStyleIdx="3" presStyleCnt="4">
        <dgm:presLayoutVars>
          <dgm:bulletEnabled val="1"/>
        </dgm:presLayoutVars>
      </dgm:prSet>
      <dgm:spPr/>
    </dgm:pt>
  </dgm:ptLst>
  <dgm:cxnLst>
    <dgm:cxn modelId="{8F748A06-2689-4CCE-B17F-95D222EF073B}" srcId="{6368C270-17B4-4320-B8D6-1576AE695C39}" destId="{BAC95344-50E7-42E2-BF71-C92799988840}" srcOrd="0" destOrd="0" parTransId="{1B093F24-4339-48FC-8F0F-C0833D1A8843}" sibTransId="{F59799A7-1032-4792-BAA7-400B7C288C8A}"/>
    <dgm:cxn modelId="{CBC5EF07-1168-45DF-B4D6-D1DCEAD1A087}" type="presOf" srcId="{9C20B1F4-55B2-4510-810C-AEF838730AC0}" destId="{0A0703BF-2710-427D-9F95-D24649F1809B}" srcOrd="0" destOrd="0" presId="urn:microsoft.com/office/officeart/2005/8/layout/vProcess5"/>
    <dgm:cxn modelId="{315D8F1A-E58F-497E-A65B-458D8990F22A}" type="presOf" srcId="{606E5FE1-6822-41E7-BED8-D9C7C3EDA86A}" destId="{FD5206BF-51BC-4386-AAC1-5532CB1B529B}" srcOrd="0" destOrd="0" presId="urn:microsoft.com/office/officeart/2005/8/layout/vProcess5"/>
    <dgm:cxn modelId="{16E9D635-910F-4CFD-9295-A509C4AD83D6}" type="presOf" srcId="{EA595320-859B-4A94-BC45-F0760AD78C26}" destId="{50F3FB1C-785B-42D9-875E-77F0D09CCD6F}" srcOrd="0" destOrd="0" presId="urn:microsoft.com/office/officeart/2005/8/layout/vProcess5"/>
    <dgm:cxn modelId="{FE42BE65-E739-490C-AC09-A623BDA3A387}" type="presOf" srcId="{F59799A7-1032-4792-BAA7-400B7C288C8A}" destId="{2921ED94-65AD-4E98-8173-2CFAEC77F14D}" srcOrd="0" destOrd="0" presId="urn:microsoft.com/office/officeart/2005/8/layout/vProcess5"/>
    <dgm:cxn modelId="{C5313B4F-85A4-4CEE-A6F5-B0BB3F731C47}" srcId="{6368C270-17B4-4320-B8D6-1576AE695C39}" destId="{EA595320-859B-4A94-BC45-F0760AD78C26}" srcOrd="3" destOrd="0" parTransId="{912E25AF-662B-4FB6-8DD8-51A845305765}" sibTransId="{41F39AAB-D7FB-47D6-B8D8-42BB355D5A88}"/>
    <dgm:cxn modelId="{1CCD9B6F-BEEE-4681-B878-4EB85A3DF8A7}" type="presOf" srcId="{9C20B1F4-55B2-4510-810C-AEF838730AC0}" destId="{DA8C8D07-B564-45AC-A9EC-4AD29FF4E373}" srcOrd="1" destOrd="0" presId="urn:microsoft.com/office/officeart/2005/8/layout/vProcess5"/>
    <dgm:cxn modelId="{3A7CFE7E-6272-4916-B1A2-A85AD49FCFD4}" srcId="{6368C270-17B4-4320-B8D6-1576AE695C39}" destId="{D6263413-DC8A-4DFA-A090-49CB24F313D1}" srcOrd="2" destOrd="0" parTransId="{DB0E0FCE-80CA-4AB7-8ADE-536E31CC6EF6}" sibTransId="{606E5FE1-6822-41E7-BED8-D9C7C3EDA86A}"/>
    <dgm:cxn modelId="{E9FC8892-357E-40E2-90B1-5CA1DB18C8F5}" type="presOf" srcId="{6368C270-17B4-4320-B8D6-1576AE695C39}" destId="{ED81158C-9D58-4F47-ABCE-D0DBA51C2E15}" srcOrd="0" destOrd="0" presId="urn:microsoft.com/office/officeart/2005/8/layout/vProcess5"/>
    <dgm:cxn modelId="{EEC3F894-F338-4B01-9DEB-0C3CF765E3AE}" type="presOf" srcId="{D6263413-DC8A-4DFA-A090-49CB24F313D1}" destId="{A39F7E89-B334-4C37-930A-08D706DFFA1F}" srcOrd="1" destOrd="0" presId="urn:microsoft.com/office/officeart/2005/8/layout/vProcess5"/>
    <dgm:cxn modelId="{43DFA9AB-05FA-49DA-8663-97A82D6B7BB6}" type="presOf" srcId="{BAC95344-50E7-42E2-BF71-C92799988840}" destId="{29942726-CD7D-4E05-89E8-0908889446D1}" srcOrd="0" destOrd="0" presId="urn:microsoft.com/office/officeart/2005/8/layout/vProcess5"/>
    <dgm:cxn modelId="{71ACADC3-71EC-4832-9063-81729830FFAF}" type="presOf" srcId="{EA595320-859B-4A94-BC45-F0760AD78C26}" destId="{654B248F-6719-4D4A-9D3C-707C0A08AD05}" srcOrd="1" destOrd="0" presId="urn:microsoft.com/office/officeart/2005/8/layout/vProcess5"/>
    <dgm:cxn modelId="{8591FAD2-2045-4614-BDCA-4ACB96234E0F}" type="presOf" srcId="{BAC95344-50E7-42E2-BF71-C92799988840}" destId="{EAF8379F-16D5-4EC8-BC0B-80554759F39B}" srcOrd="1" destOrd="0" presId="urn:microsoft.com/office/officeart/2005/8/layout/vProcess5"/>
    <dgm:cxn modelId="{7E6333DB-C753-4B15-8584-A681D36204A0}" type="presOf" srcId="{00B8301C-1FFD-4ABA-BE27-FD6B3E6A4B10}" destId="{AB0C2741-8D66-4B4A-B47E-1FF21B39A78B}" srcOrd="0" destOrd="0" presId="urn:microsoft.com/office/officeart/2005/8/layout/vProcess5"/>
    <dgm:cxn modelId="{95A86AE0-95EA-40C8-B43F-876666ED7CF4}" type="presOf" srcId="{D6263413-DC8A-4DFA-A090-49CB24F313D1}" destId="{6881B8EA-8D79-4A80-9F2D-CAC22D57607A}" srcOrd="0" destOrd="0" presId="urn:microsoft.com/office/officeart/2005/8/layout/vProcess5"/>
    <dgm:cxn modelId="{79ED05E7-1DCF-4823-88A3-405C734C670F}" srcId="{6368C270-17B4-4320-B8D6-1576AE695C39}" destId="{9C20B1F4-55B2-4510-810C-AEF838730AC0}" srcOrd="1" destOrd="0" parTransId="{506666C6-6915-4F54-A9EC-0F8DC17E33DD}" sibTransId="{00B8301C-1FFD-4ABA-BE27-FD6B3E6A4B10}"/>
    <dgm:cxn modelId="{04E97090-6DDF-4E11-B085-7EEBD0851841}" type="presParOf" srcId="{ED81158C-9D58-4F47-ABCE-D0DBA51C2E15}" destId="{3EA5873E-629B-440B-AB8C-0DD2DE6AB7DF}" srcOrd="0" destOrd="0" presId="urn:microsoft.com/office/officeart/2005/8/layout/vProcess5"/>
    <dgm:cxn modelId="{453A1476-0E4A-4238-95FD-9AA949124789}" type="presParOf" srcId="{ED81158C-9D58-4F47-ABCE-D0DBA51C2E15}" destId="{29942726-CD7D-4E05-89E8-0908889446D1}" srcOrd="1" destOrd="0" presId="urn:microsoft.com/office/officeart/2005/8/layout/vProcess5"/>
    <dgm:cxn modelId="{94710DDF-2A04-466B-8C04-9F4DFD751F59}" type="presParOf" srcId="{ED81158C-9D58-4F47-ABCE-D0DBA51C2E15}" destId="{0A0703BF-2710-427D-9F95-D24649F1809B}" srcOrd="2" destOrd="0" presId="urn:microsoft.com/office/officeart/2005/8/layout/vProcess5"/>
    <dgm:cxn modelId="{133732D9-D7C3-42F4-B3B0-263C2A19382E}" type="presParOf" srcId="{ED81158C-9D58-4F47-ABCE-D0DBA51C2E15}" destId="{6881B8EA-8D79-4A80-9F2D-CAC22D57607A}" srcOrd="3" destOrd="0" presId="urn:microsoft.com/office/officeart/2005/8/layout/vProcess5"/>
    <dgm:cxn modelId="{6EC0991C-2137-498E-BEBC-115A312BD3C3}" type="presParOf" srcId="{ED81158C-9D58-4F47-ABCE-D0DBA51C2E15}" destId="{50F3FB1C-785B-42D9-875E-77F0D09CCD6F}" srcOrd="4" destOrd="0" presId="urn:microsoft.com/office/officeart/2005/8/layout/vProcess5"/>
    <dgm:cxn modelId="{5789AF1A-A89D-4B0F-8F92-EF74CC162E23}" type="presParOf" srcId="{ED81158C-9D58-4F47-ABCE-D0DBA51C2E15}" destId="{2921ED94-65AD-4E98-8173-2CFAEC77F14D}" srcOrd="5" destOrd="0" presId="urn:microsoft.com/office/officeart/2005/8/layout/vProcess5"/>
    <dgm:cxn modelId="{CE32F35F-D7D1-4368-A675-E5C13A014C4E}" type="presParOf" srcId="{ED81158C-9D58-4F47-ABCE-D0DBA51C2E15}" destId="{AB0C2741-8D66-4B4A-B47E-1FF21B39A78B}" srcOrd="6" destOrd="0" presId="urn:microsoft.com/office/officeart/2005/8/layout/vProcess5"/>
    <dgm:cxn modelId="{6BB56E26-AB58-46D4-9A0A-5EDA1ED59EE1}" type="presParOf" srcId="{ED81158C-9D58-4F47-ABCE-D0DBA51C2E15}" destId="{FD5206BF-51BC-4386-AAC1-5532CB1B529B}" srcOrd="7" destOrd="0" presId="urn:microsoft.com/office/officeart/2005/8/layout/vProcess5"/>
    <dgm:cxn modelId="{B9429DBB-6A45-45CE-B035-6F0D806CA88A}" type="presParOf" srcId="{ED81158C-9D58-4F47-ABCE-D0DBA51C2E15}" destId="{EAF8379F-16D5-4EC8-BC0B-80554759F39B}" srcOrd="8" destOrd="0" presId="urn:microsoft.com/office/officeart/2005/8/layout/vProcess5"/>
    <dgm:cxn modelId="{634A9248-4775-44EE-8334-2814B934E7B4}" type="presParOf" srcId="{ED81158C-9D58-4F47-ABCE-D0DBA51C2E15}" destId="{DA8C8D07-B564-45AC-A9EC-4AD29FF4E373}" srcOrd="9" destOrd="0" presId="urn:microsoft.com/office/officeart/2005/8/layout/vProcess5"/>
    <dgm:cxn modelId="{EFB9061A-E916-4FFE-A935-ACA0E66936E3}" type="presParOf" srcId="{ED81158C-9D58-4F47-ABCE-D0DBA51C2E15}" destId="{A39F7E89-B334-4C37-930A-08D706DFFA1F}" srcOrd="10" destOrd="0" presId="urn:microsoft.com/office/officeart/2005/8/layout/vProcess5"/>
    <dgm:cxn modelId="{6E01842E-BE1A-4E14-A300-5397F38C86C0}" type="presParOf" srcId="{ED81158C-9D58-4F47-ABCE-D0DBA51C2E15}" destId="{654B248F-6719-4D4A-9D3C-707C0A08AD05}"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0F9CA8-31BF-4956-94F0-4E87C74981B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CC8C2EC-5E23-4574-88EE-3726D3DE9B45}">
      <dgm:prSet/>
      <dgm:spPr/>
      <dgm:t>
        <a:bodyPr/>
        <a:lstStyle/>
        <a:p>
          <a:r>
            <a:rPr lang="en-US" dirty="0"/>
            <a:t>Rule-based systems</a:t>
          </a:r>
        </a:p>
      </dgm:t>
    </dgm:pt>
    <dgm:pt modelId="{96451822-7CA3-4373-A94F-E40DE5C34A66}" type="parTrans" cxnId="{7E81F3B2-26A9-412D-A72B-CF0E19A19D1F}">
      <dgm:prSet/>
      <dgm:spPr/>
      <dgm:t>
        <a:bodyPr/>
        <a:lstStyle/>
        <a:p>
          <a:endParaRPr lang="en-US"/>
        </a:p>
      </dgm:t>
    </dgm:pt>
    <dgm:pt modelId="{7DE031AC-5586-4527-BE96-9479097FF193}" type="sibTrans" cxnId="{7E81F3B2-26A9-412D-A72B-CF0E19A19D1F}">
      <dgm:prSet/>
      <dgm:spPr/>
      <dgm:t>
        <a:bodyPr/>
        <a:lstStyle/>
        <a:p>
          <a:endParaRPr lang="en-US"/>
        </a:p>
      </dgm:t>
    </dgm:pt>
    <dgm:pt modelId="{00714614-F1FE-4ECC-80D3-794D0BCF4136}">
      <dgm:prSet/>
      <dgm:spPr/>
      <dgm:t>
        <a:bodyPr/>
        <a:lstStyle/>
        <a:p>
          <a:r>
            <a:rPr lang="en-US" dirty="0"/>
            <a:t>Components: Rule set, Working memory, and Control system</a:t>
          </a:r>
        </a:p>
      </dgm:t>
    </dgm:pt>
    <dgm:pt modelId="{266922FD-A639-4A6B-AF90-E19DAA871A04}" type="parTrans" cxnId="{1E0495F4-FE55-4387-870D-2064FCC59C8F}">
      <dgm:prSet/>
      <dgm:spPr/>
      <dgm:t>
        <a:bodyPr/>
        <a:lstStyle/>
        <a:p>
          <a:endParaRPr lang="en-US"/>
        </a:p>
      </dgm:t>
    </dgm:pt>
    <dgm:pt modelId="{97F946A8-8556-437F-876A-60395C894517}" type="sibTrans" cxnId="{1E0495F4-FE55-4387-870D-2064FCC59C8F}">
      <dgm:prSet/>
      <dgm:spPr/>
      <dgm:t>
        <a:bodyPr/>
        <a:lstStyle/>
        <a:p>
          <a:endParaRPr lang="en-US"/>
        </a:p>
      </dgm:t>
    </dgm:pt>
    <dgm:pt modelId="{F5C9F04C-5903-48FC-8CA1-2B5717F70695}">
      <dgm:prSet/>
      <dgm:spPr/>
      <dgm:t>
        <a:bodyPr/>
        <a:lstStyle/>
        <a:p>
          <a:r>
            <a:rPr lang="en-US" dirty="0"/>
            <a:t>Used in automated reasoning and AI systems</a:t>
          </a:r>
        </a:p>
      </dgm:t>
    </dgm:pt>
    <dgm:pt modelId="{7F5E9009-ECFD-4294-9DD5-8DCEE436B7AB}" type="parTrans" cxnId="{C4372A90-4444-473B-AC43-4203EC6BFE74}">
      <dgm:prSet/>
      <dgm:spPr/>
      <dgm:t>
        <a:bodyPr/>
        <a:lstStyle/>
        <a:p>
          <a:endParaRPr lang="en-US"/>
        </a:p>
      </dgm:t>
    </dgm:pt>
    <dgm:pt modelId="{7246B1C2-1A26-474D-AE9B-0A159425A84A}" type="sibTrans" cxnId="{C4372A90-4444-473B-AC43-4203EC6BFE74}">
      <dgm:prSet/>
      <dgm:spPr/>
      <dgm:t>
        <a:bodyPr/>
        <a:lstStyle/>
        <a:p>
          <a:endParaRPr lang="en-US"/>
        </a:p>
      </dgm:t>
    </dgm:pt>
    <dgm:pt modelId="{831FCD43-0C8B-4636-B004-E4D941E0BF71}" type="pres">
      <dgm:prSet presAssocID="{CF0F9CA8-31BF-4956-94F0-4E87C74981BE}" presName="root" presStyleCnt="0">
        <dgm:presLayoutVars>
          <dgm:dir/>
          <dgm:resizeHandles val="exact"/>
        </dgm:presLayoutVars>
      </dgm:prSet>
      <dgm:spPr/>
    </dgm:pt>
    <dgm:pt modelId="{18F9369F-5F3D-43E7-BF9D-2DAB5764A653}" type="pres">
      <dgm:prSet presAssocID="{DCC8C2EC-5E23-4574-88EE-3726D3DE9B45}" presName="compNode" presStyleCnt="0"/>
      <dgm:spPr/>
    </dgm:pt>
    <dgm:pt modelId="{3B0F4267-E114-46D3-BDE4-90DE865D5D17}" type="pres">
      <dgm:prSet presAssocID="{DCC8C2EC-5E23-4574-88EE-3726D3DE9B45}" presName="bgRect" presStyleLbl="bgShp" presStyleIdx="0" presStyleCnt="3"/>
      <dgm:spPr/>
    </dgm:pt>
    <dgm:pt modelId="{4090F3CB-3030-4D6D-AF19-08D944024507}" type="pres">
      <dgm:prSet presAssocID="{DCC8C2EC-5E23-4574-88EE-3726D3DE9B4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9CCC5C33-A610-45EC-BFE2-8EF44D993EFB}" type="pres">
      <dgm:prSet presAssocID="{DCC8C2EC-5E23-4574-88EE-3726D3DE9B45}" presName="spaceRect" presStyleCnt="0"/>
      <dgm:spPr/>
    </dgm:pt>
    <dgm:pt modelId="{7D6A861B-1470-45A1-9DBA-C4E64FB79506}" type="pres">
      <dgm:prSet presAssocID="{DCC8C2EC-5E23-4574-88EE-3726D3DE9B45}" presName="parTx" presStyleLbl="revTx" presStyleIdx="0" presStyleCnt="3">
        <dgm:presLayoutVars>
          <dgm:chMax val="0"/>
          <dgm:chPref val="0"/>
        </dgm:presLayoutVars>
      </dgm:prSet>
      <dgm:spPr/>
    </dgm:pt>
    <dgm:pt modelId="{9D44321A-2BA8-4EC4-8F0E-BC73AC020007}" type="pres">
      <dgm:prSet presAssocID="{7DE031AC-5586-4527-BE96-9479097FF193}" presName="sibTrans" presStyleCnt="0"/>
      <dgm:spPr/>
    </dgm:pt>
    <dgm:pt modelId="{8C007891-F659-4669-9535-4D1ADA5CAB43}" type="pres">
      <dgm:prSet presAssocID="{00714614-F1FE-4ECC-80D3-794D0BCF4136}" presName="compNode" presStyleCnt="0"/>
      <dgm:spPr/>
    </dgm:pt>
    <dgm:pt modelId="{29544E6E-B044-45A2-B523-1A5952863DAB}" type="pres">
      <dgm:prSet presAssocID="{00714614-F1FE-4ECC-80D3-794D0BCF4136}" presName="bgRect" presStyleLbl="bgShp" presStyleIdx="1" presStyleCnt="3"/>
      <dgm:spPr/>
    </dgm:pt>
    <dgm:pt modelId="{3854B1BD-33BB-4EDF-9213-B4CA6145C3F2}" type="pres">
      <dgm:prSet presAssocID="{00714614-F1FE-4ECC-80D3-794D0BCF413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F2D05A4B-FB67-4C1E-A7D0-2624BD6DADFB}" type="pres">
      <dgm:prSet presAssocID="{00714614-F1FE-4ECC-80D3-794D0BCF4136}" presName="spaceRect" presStyleCnt="0"/>
      <dgm:spPr/>
    </dgm:pt>
    <dgm:pt modelId="{6B3F3DEF-7083-4603-86CA-CBEF49A338FB}" type="pres">
      <dgm:prSet presAssocID="{00714614-F1FE-4ECC-80D3-794D0BCF4136}" presName="parTx" presStyleLbl="revTx" presStyleIdx="1" presStyleCnt="3">
        <dgm:presLayoutVars>
          <dgm:chMax val="0"/>
          <dgm:chPref val="0"/>
        </dgm:presLayoutVars>
      </dgm:prSet>
      <dgm:spPr/>
    </dgm:pt>
    <dgm:pt modelId="{B015E0CA-340D-48D5-A73C-5F563CFBBF34}" type="pres">
      <dgm:prSet presAssocID="{97F946A8-8556-437F-876A-60395C894517}" presName="sibTrans" presStyleCnt="0"/>
      <dgm:spPr/>
    </dgm:pt>
    <dgm:pt modelId="{52B1C7BC-EBFB-4A7B-870A-F518E6FE3513}" type="pres">
      <dgm:prSet presAssocID="{F5C9F04C-5903-48FC-8CA1-2B5717F70695}" presName="compNode" presStyleCnt="0"/>
      <dgm:spPr/>
    </dgm:pt>
    <dgm:pt modelId="{40A96F5A-72E1-4880-B183-0BE4801EBC71}" type="pres">
      <dgm:prSet presAssocID="{F5C9F04C-5903-48FC-8CA1-2B5717F70695}" presName="bgRect" presStyleLbl="bgShp" presStyleIdx="2" presStyleCnt="3"/>
      <dgm:spPr/>
    </dgm:pt>
    <dgm:pt modelId="{0346CC91-77C5-49BF-90AA-424AFAB95131}" type="pres">
      <dgm:prSet presAssocID="{F5C9F04C-5903-48FC-8CA1-2B5717F7069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ot"/>
        </a:ext>
      </dgm:extLst>
    </dgm:pt>
    <dgm:pt modelId="{5FECC60C-C806-4061-AC8B-78B8C58F60C7}" type="pres">
      <dgm:prSet presAssocID="{F5C9F04C-5903-48FC-8CA1-2B5717F70695}" presName="spaceRect" presStyleCnt="0"/>
      <dgm:spPr/>
    </dgm:pt>
    <dgm:pt modelId="{F40ECFE3-FB25-4246-9409-D3945DE011EA}" type="pres">
      <dgm:prSet presAssocID="{F5C9F04C-5903-48FC-8CA1-2B5717F70695}" presName="parTx" presStyleLbl="revTx" presStyleIdx="2" presStyleCnt="3">
        <dgm:presLayoutVars>
          <dgm:chMax val="0"/>
          <dgm:chPref val="0"/>
        </dgm:presLayoutVars>
      </dgm:prSet>
      <dgm:spPr/>
    </dgm:pt>
  </dgm:ptLst>
  <dgm:cxnLst>
    <dgm:cxn modelId="{FAF4E638-7C3E-4A14-BBD7-AD9B5D395595}" type="presOf" srcId="{00714614-F1FE-4ECC-80D3-794D0BCF4136}" destId="{6B3F3DEF-7083-4603-86CA-CBEF49A338FB}" srcOrd="0" destOrd="0" presId="urn:microsoft.com/office/officeart/2018/2/layout/IconVerticalSolidList"/>
    <dgm:cxn modelId="{2AB0A439-B6BB-489E-B7A6-11EA2945D23F}" type="presOf" srcId="{CF0F9CA8-31BF-4956-94F0-4E87C74981BE}" destId="{831FCD43-0C8B-4636-B004-E4D941E0BF71}" srcOrd="0" destOrd="0" presId="urn:microsoft.com/office/officeart/2018/2/layout/IconVerticalSolidList"/>
    <dgm:cxn modelId="{C4372A90-4444-473B-AC43-4203EC6BFE74}" srcId="{CF0F9CA8-31BF-4956-94F0-4E87C74981BE}" destId="{F5C9F04C-5903-48FC-8CA1-2B5717F70695}" srcOrd="2" destOrd="0" parTransId="{7F5E9009-ECFD-4294-9DD5-8DCEE436B7AB}" sibTransId="{7246B1C2-1A26-474D-AE9B-0A159425A84A}"/>
    <dgm:cxn modelId="{7E81F3B2-26A9-412D-A72B-CF0E19A19D1F}" srcId="{CF0F9CA8-31BF-4956-94F0-4E87C74981BE}" destId="{DCC8C2EC-5E23-4574-88EE-3726D3DE9B45}" srcOrd="0" destOrd="0" parTransId="{96451822-7CA3-4373-A94F-E40DE5C34A66}" sibTransId="{7DE031AC-5586-4527-BE96-9479097FF193}"/>
    <dgm:cxn modelId="{33E241C6-D1BA-4BA8-A745-8AD61DD01717}" type="presOf" srcId="{DCC8C2EC-5E23-4574-88EE-3726D3DE9B45}" destId="{7D6A861B-1470-45A1-9DBA-C4E64FB79506}" srcOrd="0" destOrd="0" presId="urn:microsoft.com/office/officeart/2018/2/layout/IconVerticalSolidList"/>
    <dgm:cxn modelId="{EC0E18D3-12AA-43D5-994B-C6199E1CCBF6}" type="presOf" srcId="{F5C9F04C-5903-48FC-8CA1-2B5717F70695}" destId="{F40ECFE3-FB25-4246-9409-D3945DE011EA}" srcOrd="0" destOrd="0" presId="urn:microsoft.com/office/officeart/2018/2/layout/IconVerticalSolidList"/>
    <dgm:cxn modelId="{1E0495F4-FE55-4387-870D-2064FCC59C8F}" srcId="{CF0F9CA8-31BF-4956-94F0-4E87C74981BE}" destId="{00714614-F1FE-4ECC-80D3-794D0BCF4136}" srcOrd="1" destOrd="0" parTransId="{266922FD-A639-4A6B-AF90-E19DAA871A04}" sibTransId="{97F946A8-8556-437F-876A-60395C894517}"/>
    <dgm:cxn modelId="{610F5D15-084D-4066-BEF2-0DB5D6FA6EAF}" type="presParOf" srcId="{831FCD43-0C8B-4636-B004-E4D941E0BF71}" destId="{18F9369F-5F3D-43E7-BF9D-2DAB5764A653}" srcOrd="0" destOrd="0" presId="urn:microsoft.com/office/officeart/2018/2/layout/IconVerticalSolidList"/>
    <dgm:cxn modelId="{02E68B6A-EDC1-45A9-9F2A-91F6F4E5209D}" type="presParOf" srcId="{18F9369F-5F3D-43E7-BF9D-2DAB5764A653}" destId="{3B0F4267-E114-46D3-BDE4-90DE865D5D17}" srcOrd="0" destOrd="0" presId="urn:microsoft.com/office/officeart/2018/2/layout/IconVerticalSolidList"/>
    <dgm:cxn modelId="{EE153E0F-1D79-4841-A643-8B4E90FDE2E6}" type="presParOf" srcId="{18F9369F-5F3D-43E7-BF9D-2DAB5764A653}" destId="{4090F3CB-3030-4D6D-AF19-08D944024507}" srcOrd="1" destOrd="0" presId="urn:microsoft.com/office/officeart/2018/2/layout/IconVerticalSolidList"/>
    <dgm:cxn modelId="{20BAE159-F78B-4198-8BB0-20BBF050CE53}" type="presParOf" srcId="{18F9369F-5F3D-43E7-BF9D-2DAB5764A653}" destId="{9CCC5C33-A610-45EC-BFE2-8EF44D993EFB}" srcOrd="2" destOrd="0" presId="urn:microsoft.com/office/officeart/2018/2/layout/IconVerticalSolidList"/>
    <dgm:cxn modelId="{0C8DB3B4-ABC9-4B00-997E-337CACBA7B5B}" type="presParOf" srcId="{18F9369F-5F3D-43E7-BF9D-2DAB5764A653}" destId="{7D6A861B-1470-45A1-9DBA-C4E64FB79506}" srcOrd="3" destOrd="0" presId="urn:microsoft.com/office/officeart/2018/2/layout/IconVerticalSolidList"/>
    <dgm:cxn modelId="{D8ADAF1E-DA13-4A84-8AB4-B406773B4BFB}" type="presParOf" srcId="{831FCD43-0C8B-4636-B004-E4D941E0BF71}" destId="{9D44321A-2BA8-4EC4-8F0E-BC73AC020007}" srcOrd="1" destOrd="0" presId="urn:microsoft.com/office/officeart/2018/2/layout/IconVerticalSolidList"/>
    <dgm:cxn modelId="{39296F8F-C267-4C93-BED4-71A0B5017837}" type="presParOf" srcId="{831FCD43-0C8B-4636-B004-E4D941E0BF71}" destId="{8C007891-F659-4669-9535-4D1ADA5CAB43}" srcOrd="2" destOrd="0" presId="urn:microsoft.com/office/officeart/2018/2/layout/IconVerticalSolidList"/>
    <dgm:cxn modelId="{53C6B55E-AE81-4B6E-B2C2-EBAA4A338F34}" type="presParOf" srcId="{8C007891-F659-4669-9535-4D1ADA5CAB43}" destId="{29544E6E-B044-45A2-B523-1A5952863DAB}" srcOrd="0" destOrd="0" presId="urn:microsoft.com/office/officeart/2018/2/layout/IconVerticalSolidList"/>
    <dgm:cxn modelId="{0C35DBFD-5508-422E-AEF5-99D159263903}" type="presParOf" srcId="{8C007891-F659-4669-9535-4D1ADA5CAB43}" destId="{3854B1BD-33BB-4EDF-9213-B4CA6145C3F2}" srcOrd="1" destOrd="0" presId="urn:microsoft.com/office/officeart/2018/2/layout/IconVerticalSolidList"/>
    <dgm:cxn modelId="{420D01DC-1689-477C-AEC8-D4DF3818DD05}" type="presParOf" srcId="{8C007891-F659-4669-9535-4D1ADA5CAB43}" destId="{F2D05A4B-FB67-4C1E-A7D0-2624BD6DADFB}" srcOrd="2" destOrd="0" presId="urn:microsoft.com/office/officeart/2018/2/layout/IconVerticalSolidList"/>
    <dgm:cxn modelId="{431CB531-11AE-4D54-B9BD-A86137B29487}" type="presParOf" srcId="{8C007891-F659-4669-9535-4D1ADA5CAB43}" destId="{6B3F3DEF-7083-4603-86CA-CBEF49A338FB}" srcOrd="3" destOrd="0" presId="urn:microsoft.com/office/officeart/2018/2/layout/IconVerticalSolidList"/>
    <dgm:cxn modelId="{E7640AD9-2ACB-4184-B20F-20F498FA1577}" type="presParOf" srcId="{831FCD43-0C8B-4636-B004-E4D941E0BF71}" destId="{B015E0CA-340D-48D5-A73C-5F563CFBBF34}" srcOrd="3" destOrd="0" presId="urn:microsoft.com/office/officeart/2018/2/layout/IconVerticalSolidList"/>
    <dgm:cxn modelId="{1C9F5FCA-949E-48B1-93BE-E9995B792389}" type="presParOf" srcId="{831FCD43-0C8B-4636-B004-E4D941E0BF71}" destId="{52B1C7BC-EBFB-4A7B-870A-F518E6FE3513}" srcOrd="4" destOrd="0" presId="urn:microsoft.com/office/officeart/2018/2/layout/IconVerticalSolidList"/>
    <dgm:cxn modelId="{F9FADA50-87B5-4DFF-B405-DD6777737A42}" type="presParOf" srcId="{52B1C7BC-EBFB-4A7B-870A-F518E6FE3513}" destId="{40A96F5A-72E1-4880-B183-0BE4801EBC71}" srcOrd="0" destOrd="0" presId="urn:microsoft.com/office/officeart/2018/2/layout/IconVerticalSolidList"/>
    <dgm:cxn modelId="{38526A1D-E198-45CF-A911-29A42D7FD085}" type="presParOf" srcId="{52B1C7BC-EBFB-4A7B-870A-F518E6FE3513}" destId="{0346CC91-77C5-49BF-90AA-424AFAB95131}" srcOrd="1" destOrd="0" presId="urn:microsoft.com/office/officeart/2018/2/layout/IconVerticalSolidList"/>
    <dgm:cxn modelId="{A66204DE-D1DA-4F5E-93AF-F2F4C18230FC}" type="presParOf" srcId="{52B1C7BC-EBFB-4A7B-870A-F518E6FE3513}" destId="{5FECC60C-C806-4061-AC8B-78B8C58F60C7}" srcOrd="2" destOrd="0" presId="urn:microsoft.com/office/officeart/2018/2/layout/IconVerticalSolidList"/>
    <dgm:cxn modelId="{063FD2D9-4379-4823-8024-EB95A02D9A74}" type="presParOf" srcId="{52B1C7BC-EBFB-4A7B-870A-F518E6FE3513}" destId="{F40ECFE3-FB25-4246-9409-D3945DE011E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9B0D4A7-8B51-479A-8D40-652E8FF0533E}"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62C7E81-CAE4-4DCB-8EE1-BCB6CDF02F69}">
      <dgm:prSet/>
      <dgm:spPr/>
      <dgm:t>
        <a:bodyPr/>
        <a:lstStyle/>
        <a:p>
          <a:pPr>
            <a:lnSpc>
              <a:spcPct val="100000"/>
            </a:lnSpc>
          </a:pPr>
          <a:r>
            <a:rPr lang="en-US"/>
            <a:t>- A problem with clear states, actions, and goals</a:t>
          </a:r>
        </a:p>
      </dgm:t>
    </dgm:pt>
    <dgm:pt modelId="{80C6527D-038A-4747-8F8E-350FD70A3AC2}" type="parTrans" cxnId="{6363DABE-FC3F-49D0-B673-5E29ADFEE0E9}">
      <dgm:prSet/>
      <dgm:spPr/>
      <dgm:t>
        <a:bodyPr/>
        <a:lstStyle/>
        <a:p>
          <a:endParaRPr lang="en-US"/>
        </a:p>
      </dgm:t>
    </dgm:pt>
    <dgm:pt modelId="{80F8928A-715C-4F3B-8429-B37CC8705D80}" type="sibTrans" cxnId="{6363DABE-FC3F-49D0-B673-5E29ADFEE0E9}">
      <dgm:prSet/>
      <dgm:spPr/>
      <dgm:t>
        <a:bodyPr/>
        <a:lstStyle/>
        <a:p>
          <a:endParaRPr lang="en-US"/>
        </a:p>
      </dgm:t>
    </dgm:pt>
    <dgm:pt modelId="{EC71D5E4-7F3C-40FF-A35C-E383DF7B7E77}">
      <dgm:prSet/>
      <dgm:spPr/>
      <dgm:t>
        <a:bodyPr/>
        <a:lstStyle/>
        <a:p>
          <a:pPr>
            <a:lnSpc>
              <a:spcPct val="100000"/>
            </a:lnSpc>
          </a:pPr>
          <a:r>
            <a:rPr lang="en-US"/>
            <a:t>- Fully observable environment</a:t>
          </a:r>
        </a:p>
      </dgm:t>
    </dgm:pt>
    <dgm:pt modelId="{18C47AFA-45F4-4F64-83E7-7A0ABDCBE4E4}" type="parTrans" cxnId="{39AA4D85-BAB9-456B-A92B-4A9329210704}">
      <dgm:prSet/>
      <dgm:spPr/>
      <dgm:t>
        <a:bodyPr/>
        <a:lstStyle/>
        <a:p>
          <a:endParaRPr lang="en-US"/>
        </a:p>
      </dgm:t>
    </dgm:pt>
    <dgm:pt modelId="{8DBE2830-1FFD-43D3-A01E-13BE051BC9E8}" type="sibTrans" cxnId="{39AA4D85-BAB9-456B-A92B-4A9329210704}">
      <dgm:prSet/>
      <dgm:spPr/>
      <dgm:t>
        <a:bodyPr/>
        <a:lstStyle/>
        <a:p>
          <a:endParaRPr lang="en-US"/>
        </a:p>
      </dgm:t>
    </dgm:pt>
    <dgm:pt modelId="{C7D3EC4B-3EC6-4C8C-A449-65171462E95F}">
      <dgm:prSet/>
      <dgm:spPr/>
      <dgm:t>
        <a:bodyPr/>
        <a:lstStyle/>
        <a:p>
          <a:pPr>
            <a:lnSpc>
              <a:spcPct val="100000"/>
            </a:lnSpc>
          </a:pPr>
          <a:r>
            <a:rPr lang="en-US" dirty="0"/>
            <a:t>- Definite goal test and measurable cost of actions</a:t>
          </a:r>
        </a:p>
      </dgm:t>
    </dgm:pt>
    <dgm:pt modelId="{4E2FF4FE-8516-4D4B-88B0-E09A1B0E301B}" type="parTrans" cxnId="{670EF21D-E2E4-4916-BC4E-063159B1CEFB}">
      <dgm:prSet/>
      <dgm:spPr/>
      <dgm:t>
        <a:bodyPr/>
        <a:lstStyle/>
        <a:p>
          <a:endParaRPr lang="en-US"/>
        </a:p>
      </dgm:t>
    </dgm:pt>
    <dgm:pt modelId="{32F1B5D5-5657-4EF6-9B01-629500CF1E07}" type="sibTrans" cxnId="{670EF21D-E2E4-4916-BC4E-063159B1CEFB}">
      <dgm:prSet/>
      <dgm:spPr/>
      <dgm:t>
        <a:bodyPr/>
        <a:lstStyle/>
        <a:p>
          <a:endParaRPr lang="en-US"/>
        </a:p>
      </dgm:t>
    </dgm:pt>
    <dgm:pt modelId="{AA52622D-49E0-4881-8F4B-E8B453816A47}" type="pres">
      <dgm:prSet presAssocID="{69B0D4A7-8B51-479A-8D40-652E8FF0533E}" presName="root" presStyleCnt="0">
        <dgm:presLayoutVars>
          <dgm:dir/>
          <dgm:resizeHandles val="exact"/>
        </dgm:presLayoutVars>
      </dgm:prSet>
      <dgm:spPr/>
    </dgm:pt>
    <dgm:pt modelId="{5B5283F9-32D0-4A7E-806C-311FEC7B7747}" type="pres">
      <dgm:prSet presAssocID="{D62C7E81-CAE4-4DCB-8EE1-BCB6CDF02F69}" presName="compNode" presStyleCnt="0"/>
      <dgm:spPr/>
    </dgm:pt>
    <dgm:pt modelId="{49B12364-2EE0-440D-8830-F6C568F2C767}" type="pres">
      <dgm:prSet presAssocID="{D62C7E81-CAE4-4DCB-8EE1-BCB6CDF02F6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rget"/>
        </a:ext>
      </dgm:extLst>
    </dgm:pt>
    <dgm:pt modelId="{C05B26F2-F67F-4550-ACD7-CE098625C272}" type="pres">
      <dgm:prSet presAssocID="{D62C7E81-CAE4-4DCB-8EE1-BCB6CDF02F69}" presName="spaceRect" presStyleCnt="0"/>
      <dgm:spPr/>
    </dgm:pt>
    <dgm:pt modelId="{2AD25AA2-32A7-4735-A3F7-0A1E811FC3EC}" type="pres">
      <dgm:prSet presAssocID="{D62C7E81-CAE4-4DCB-8EE1-BCB6CDF02F69}" presName="textRect" presStyleLbl="revTx" presStyleIdx="0" presStyleCnt="3">
        <dgm:presLayoutVars>
          <dgm:chMax val="1"/>
          <dgm:chPref val="1"/>
        </dgm:presLayoutVars>
      </dgm:prSet>
      <dgm:spPr/>
    </dgm:pt>
    <dgm:pt modelId="{8E64B94D-42E3-44CB-8E08-68282E0263D2}" type="pres">
      <dgm:prSet presAssocID="{80F8928A-715C-4F3B-8429-B37CC8705D80}" presName="sibTrans" presStyleCnt="0"/>
      <dgm:spPr/>
    </dgm:pt>
    <dgm:pt modelId="{F5A2F5E5-89AC-4954-A8E0-06B319E5C17B}" type="pres">
      <dgm:prSet presAssocID="{EC71D5E4-7F3C-40FF-A35C-E383DF7B7E77}" presName="compNode" presStyleCnt="0"/>
      <dgm:spPr/>
    </dgm:pt>
    <dgm:pt modelId="{B784E01B-768C-49B4-B506-04964BA566BB}" type="pres">
      <dgm:prSet presAssocID="{EC71D5E4-7F3C-40FF-A35C-E383DF7B7E7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ye"/>
        </a:ext>
      </dgm:extLst>
    </dgm:pt>
    <dgm:pt modelId="{CDA98778-713B-4558-9E3A-4CDDE47ABE6D}" type="pres">
      <dgm:prSet presAssocID="{EC71D5E4-7F3C-40FF-A35C-E383DF7B7E77}" presName="spaceRect" presStyleCnt="0"/>
      <dgm:spPr/>
    </dgm:pt>
    <dgm:pt modelId="{82D9C66A-5C89-4421-8CB7-2B5231D034DA}" type="pres">
      <dgm:prSet presAssocID="{EC71D5E4-7F3C-40FF-A35C-E383DF7B7E77}" presName="textRect" presStyleLbl="revTx" presStyleIdx="1" presStyleCnt="3">
        <dgm:presLayoutVars>
          <dgm:chMax val="1"/>
          <dgm:chPref val="1"/>
        </dgm:presLayoutVars>
      </dgm:prSet>
      <dgm:spPr/>
    </dgm:pt>
    <dgm:pt modelId="{A1464E66-280A-4EDC-AE64-96A900B999A1}" type="pres">
      <dgm:prSet presAssocID="{8DBE2830-1FFD-43D3-A01E-13BE051BC9E8}" presName="sibTrans" presStyleCnt="0"/>
      <dgm:spPr/>
    </dgm:pt>
    <dgm:pt modelId="{011FE07F-7F69-4F11-9928-9C045FBA729D}" type="pres">
      <dgm:prSet presAssocID="{C7D3EC4B-3EC6-4C8C-A449-65171462E95F}" presName="compNode" presStyleCnt="0"/>
      <dgm:spPr/>
    </dgm:pt>
    <dgm:pt modelId="{96A7ED13-4EA4-43C4-AD03-085344DB29E0}" type="pres">
      <dgm:prSet presAssocID="{C7D3EC4B-3EC6-4C8C-A449-65171462E95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llseye"/>
        </a:ext>
      </dgm:extLst>
    </dgm:pt>
    <dgm:pt modelId="{E094D83C-0A38-4D60-A0E9-A98C68C00599}" type="pres">
      <dgm:prSet presAssocID="{C7D3EC4B-3EC6-4C8C-A449-65171462E95F}" presName="spaceRect" presStyleCnt="0"/>
      <dgm:spPr/>
    </dgm:pt>
    <dgm:pt modelId="{3E455102-EB2C-43F3-908F-38DBF5374D9B}" type="pres">
      <dgm:prSet presAssocID="{C7D3EC4B-3EC6-4C8C-A449-65171462E95F}" presName="textRect" presStyleLbl="revTx" presStyleIdx="2" presStyleCnt="3">
        <dgm:presLayoutVars>
          <dgm:chMax val="1"/>
          <dgm:chPref val="1"/>
        </dgm:presLayoutVars>
      </dgm:prSet>
      <dgm:spPr/>
    </dgm:pt>
  </dgm:ptLst>
  <dgm:cxnLst>
    <dgm:cxn modelId="{670EF21D-E2E4-4916-BC4E-063159B1CEFB}" srcId="{69B0D4A7-8B51-479A-8D40-652E8FF0533E}" destId="{C7D3EC4B-3EC6-4C8C-A449-65171462E95F}" srcOrd="2" destOrd="0" parTransId="{4E2FF4FE-8516-4D4B-88B0-E09A1B0E301B}" sibTransId="{32F1B5D5-5657-4EF6-9B01-629500CF1E07}"/>
    <dgm:cxn modelId="{590AF138-FBB1-4EF3-9E88-B022C751786E}" type="presOf" srcId="{D62C7E81-CAE4-4DCB-8EE1-BCB6CDF02F69}" destId="{2AD25AA2-32A7-4735-A3F7-0A1E811FC3EC}" srcOrd="0" destOrd="0" presId="urn:microsoft.com/office/officeart/2018/2/layout/IconLabelList"/>
    <dgm:cxn modelId="{58E50848-611B-4C37-8093-83DF47724CF2}" type="presOf" srcId="{69B0D4A7-8B51-479A-8D40-652E8FF0533E}" destId="{AA52622D-49E0-4881-8F4B-E8B453816A47}" srcOrd="0" destOrd="0" presId="urn:microsoft.com/office/officeart/2018/2/layout/IconLabelList"/>
    <dgm:cxn modelId="{39AA4D85-BAB9-456B-A92B-4A9329210704}" srcId="{69B0D4A7-8B51-479A-8D40-652E8FF0533E}" destId="{EC71D5E4-7F3C-40FF-A35C-E383DF7B7E77}" srcOrd="1" destOrd="0" parTransId="{18C47AFA-45F4-4F64-83E7-7A0ABDCBE4E4}" sibTransId="{8DBE2830-1FFD-43D3-A01E-13BE051BC9E8}"/>
    <dgm:cxn modelId="{285597B6-E4DA-4EE9-9541-4E217B7DACF0}" type="presOf" srcId="{EC71D5E4-7F3C-40FF-A35C-E383DF7B7E77}" destId="{82D9C66A-5C89-4421-8CB7-2B5231D034DA}" srcOrd="0" destOrd="0" presId="urn:microsoft.com/office/officeart/2018/2/layout/IconLabelList"/>
    <dgm:cxn modelId="{6363DABE-FC3F-49D0-B673-5E29ADFEE0E9}" srcId="{69B0D4A7-8B51-479A-8D40-652E8FF0533E}" destId="{D62C7E81-CAE4-4DCB-8EE1-BCB6CDF02F69}" srcOrd="0" destOrd="0" parTransId="{80C6527D-038A-4747-8F8E-350FD70A3AC2}" sibTransId="{80F8928A-715C-4F3B-8429-B37CC8705D80}"/>
    <dgm:cxn modelId="{91EB54CD-6E09-49D4-923B-18C6F91A3635}" type="presOf" srcId="{C7D3EC4B-3EC6-4C8C-A449-65171462E95F}" destId="{3E455102-EB2C-43F3-908F-38DBF5374D9B}" srcOrd="0" destOrd="0" presId="urn:microsoft.com/office/officeart/2018/2/layout/IconLabelList"/>
    <dgm:cxn modelId="{38A3659B-5E2D-44ED-BD8F-183738BF5B08}" type="presParOf" srcId="{AA52622D-49E0-4881-8F4B-E8B453816A47}" destId="{5B5283F9-32D0-4A7E-806C-311FEC7B7747}" srcOrd="0" destOrd="0" presId="urn:microsoft.com/office/officeart/2018/2/layout/IconLabelList"/>
    <dgm:cxn modelId="{EC337CD7-8D64-4B54-AD28-5B248F2E84E0}" type="presParOf" srcId="{5B5283F9-32D0-4A7E-806C-311FEC7B7747}" destId="{49B12364-2EE0-440D-8830-F6C568F2C767}" srcOrd="0" destOrd="0" presId="urn:microsoft.com/office/officeart/2018/2/layout/IconLabelList"/>
    <dgm:cxn modelId="{939262AB-F888-4C2C-9E38-5B7FAD968695}" type="presParOf" srcId="{5B5283F9-32D0-4A7E-806C-311FEC7B7747}" destId="{C05B26F2-F67F-4550-ACD7-CE098625C272}" srcOrd="1" destOrd="0" presId="urn:microsoft.com/office/officeart/2018/2/layout/IconLabelList"/>
    <dgm:cxn modelId="{BBFC316A-5B81-4B23-B439-F67CAC05E0BF}" type="presParOf" srcId="{5B5283F9-32D0-4A7E-806C-311FEC7B7747}" destId="{2AD25AA2-32A7-4735-A3F7-0A1E811FC3EC}" srcOrd="2" destOrd="0" presId="urn:microsoft.com/office/officeart/2018/2/layout/IconLabelList"/>
    <dgm:cxn modelId="{B72D127B-7A6C-4F3C-864C-60E4CE5828C4}" type="presParOf" srcId="{AA52622D-49E0-4881-8F4B-E8B453816A47}" destId="{8E64B94D-42E3-44CB-8E08-68282E0263D2}" srcOrd="1" destOrd="0" presId="urn:microsoft.com/office/officeart/2018/2/layout/IconLabelList"/>
    <dgm:cxn modelId="{97F3D6F6-0210-40F0-AB62-EF8EA0E5EE54}" type="presParOf" srcId="{AA52622D-49E0-4881-8F4B-E8B453816A47}" destId="{F5A2F5E5-89AC-4954-A8E0-06B319E5C17B}" srcOrd="2" destOrd="0" presId="urn:microsoft.com/office/officeart/2018/2/layout/IconLabelList"/>
    <dgm:cxn modelId="{3C8273B5-2BDB-4993-99E4-0849620B8840}" type="presParOf" srcId="{F5A2F5E5-89AC-4954-A8E0-06B319E5C17B}" destId="{B784E01B-768C-49B4-B506-04964BA566BB}" srcOrd="0" destOrd="0" presId="urn:microsoft.com/office/officeart/2018/2/layout/IconLabelList"/>
    <dgm:cxn modelId="{0D850289-B70D-4C40-B14E-D88967612190}" type="presParOf" srcId="{F5A2F5E5-89AC-4954-A8E0-06B319E5C17B}" destId="{CDA98778-713B-4558-9E3A-4CDDE47ABE6D}" srcOrd="1" destOrd="0" presId="urn:microsoft.com/office/officeart/2018/2/layout/IconLabelList"/>
    <dgm:cxn modelId="{89465EB7-0C91-4708-BC1A-99CC43D4A21B}" type="presParOf" srcId="{F5A2F5E5-89AC-4954-A8E0-06B319E5C17B}" destId="{82D9C66A-5C89-4421-8CB7-2B5231D034DA}" srcOrd="2" destOrd="0" presId="urn:microsoft.com/office/officeart/2018/2/layout/IconLabelList"/>
    <dgm:cxn modelId="{F6CB6A4D-8B0E-4BE4-85A6-D97C7A1419C6}" type="presParOf" srcId="{AA52622D-49E0-4881-8F4B-E8B453816A47}" destId="{A1464E66-280A-4EDC-AE64-96A900B999A1}" srcOrd="3" destOrd="0" presId="urn:microsoft.com/office/officeart/2018/2/layout/IconLabelList"/>
    <dgm:cxn modelId="{44DBC765-EBE1-45AF-A0F1-040DA14ADDB5}" type="presParOf" srcId="{AA52622D-49E0-4881-8F4B-E8B453816A47}" destId="{011FE07F-7F69-4F11-9928-9C045FBA729D}" srcOrd="4" destOrd="0" presId="urn:microsoft.com/office/officeart/2018/2/layout/IconLabelList"/>
    <dgm:cxn modelId="{B0166F1B-4769-477E-B801-801814F867FD}" type="presParOf" srcId="{011FE07F-7F69-4F11-9928-9C045FBA729D}" destId="{96A7ED13-4EA4-43C4-AD03-085344DB29E0}" srcOrd="0" destOrd="0" presId="urn:microsoft.com/office/officeart/2018/2/layout/IconLabelList"/>
    <dgm:cxn modelId="{E4E9EB1E-CB0C-4907-BBB9-4314E46B2AB8}" type="presParOf" srcId="{011FE07F-7F69-4F11-9928-9C045FBA729D}" destId="{E094D83C-0A38-4D60-A0E9-A98C68C00599}" srcOrd="1" destOrd="0" presId="urn:microsoft.com/office/officeart/2018/2/layout/IconLabelList"/>
    <dgm:cxn modelId="{3EC7671C-EDAC-4872-AB84-0F810864BBB0}" type="presParOf" srcId="{011FE07F-7F69-4F11-9928-9C045FBA729D}" destId="{3E455102-EB2C-43F3-908F-38DBF5374D9B}"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096E00F-21D8-4E5F-9CC1-D1C951F6193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6D978143-2F16-4357-BB03-B8BF1DEC223E}">
      <dgm:prSet/>
      <dgm:spPr/>
      <dgm:t>
        <a:bodyPr/>
        <a:lstStyle/>
        <a:p>
          <a:r>
            <a:rPr lang="en-US" dirty="0"/>
            <a:t>Uninformed Search</a:t>
          </a:r>
        </a:p>
      </dgm:t>
    </dgm:pt>
    <dgm:pt modelId="{9D01B531-C3D0-42B7-9426-5E6AB5A2FA27}" type="parTrans" cxnId="{426CC6C7-FB48-474F-96A9-4EE0837A728F}">
      <dgm:prSet/>
      <dgm:spPr/>
      <dgm:t>
        <a:bodyPr/>
        <a:lstStyle/>
        <a:p>
          <a:endParaRPr lang="en-US"/>
        </a:p>
      </dgm:t>
    </dgm:pt>
    <dgm:pt modelId="{5BE3C829-8B2F-46C1-AEBD-0E668989EA40}" type="sibTrans" cxnId="{426CC6C7-FB48-474F-96A9-4EE0837A728F}">
      <dgm:prSet/>
      <dgm:spPr/>
      <dgm:t>
        <a:bodyPr/>
        <a:lstStyle/>
        <a:p>
          <a:endParaRPr lang="en-US"/>
        </a:p>
      </dgm:t>
    </dgm:pt>
    <dgm:pt modelId="{1C189532-94B6-4EF1-93CA-5B9A568AB979}">
      <dgm:prSet/>
      <dgm:spPr/>
      <dgm:t>
        <a:bodyPr/>
        <a:lstStyle/>
        <a:p>
          <a:r>
            <a:rPr lang="en-US" dirty="0"/>
            <a:t>Depth First Search (DFS)</a:t>
          </a:r>
        </a:p>
      </dgm:t>
    </dgm:pt>
    <dgm:pt modelId="{809885B0-E72B-4CC4-BD58-C4640779E563}" type="parTrans" cxnId="{446CDE69-B220-4A6F-828F-34D7146B38D1}">
      <dgm:prSet/>
      <dgm:spPr/>
      <dgm:t>
        <a:bodyPr/>
        <a:lstStyle/>
        <a:p>
          <a:endParaRPr lang="en-US"/>
        </a:p>
      </dgm:t>
    </dgm:pt>
    <dgm:pt modelId="{B062E2F3-B6AE-4C0F-8AF1-FBD0C76C1EDE}" type="sibTrans" cxnId="{446CDE69-B220-4A6F-828F-34D7146B38D1}">
      <dgm:prSet/>
      <dgm:spPr/>
      <dgm:t>
        <a:bodyPr/>
        <a:lstStyle/>
        <a:p>
          <a:endParaRPr lang="en-US"/>
        </a:p>
      </dgm:t>
    </dgm:pt>
    <dgm:pt modelId="{E8D52430-B285-43B0-BFE3-0BF9C7720C0B}">
      <dgm:prSet/>
      <dgm:spPr/>
      <dgm:t>
        <a:bodyPr/>
        <a:lstStyle/>
        <a:p>
          <a:r>
            <a:rPr lang="en-US"/>
            <a:t>Breadth First Search (BFS)</a:t>
          </a:r>
        </a:p>
      </dgm:t>
    </dgm:pt>
    <dgm:pt modelId="{8C32F043-157B-4811-91CE-14B85DA84F61}" type="parTrans" cxnId="{144BED99-5089-4444-B092-BEA1D8179BCE}">
      <dgm:prSet/>
      <dgm:spPr/>
      <dgm:t>
        <a:bodyPr/>
        <a:lstStyle/>
        <a:p>
          <a:endParaRPr lang="en-US"/>
        </a:p>
      </dgm:t>
    </dgm:pt>
    <dgm:pt modelId="{A45C2737-8C06-42F0-8A04-237E05C308E9}" type="sibTrans" cxnId="{144BED99-5089-4444-B092-BEA1D8179BCE}">
      <dgm:prSet/>
      <dgm:spPr/>
      <dgm:t>
        <a:bodyPr/>
        <a:lstStyle/>
        <a:p>
          <a:endParaRPr lang="en-US"/>
        </a:p>
      </dgm:t>
    </dgm:pt>
    <dgm:pt modelId="{F1AA6B11-2F5C-43B7-8D1C-C77FE6A2FA5E}">
      <dgm:prSet/>
      <dgm:spPr/>
      <dgm:t>
        <a:bodyPr/>
        <a:lstStyle/>
        <a:p>
          <a:r>
            <a:rPr lang="en-US" dirty="0"/>
            <a:t>Depth limit search</a:t>
          </a:r>
        </a:p>
      </dgm:t>
    </dgm:pt>
    <dgm:pt modelId="{12BCCB95-001E-45CA-85D1-94B1B30580A2}" type="parTrans" cxnId="{83433D87-125E-43B0-BF39-AC19A7D7CFE0}">
      <dgm:prSet/>
      <dgm:spPr/>
      <dgm:t>
        <a:bodyPr/>
        <a:lstStyle/>
        <a:p>
          <a:endParaRPr lang="en-US"/>
        </a:p>
      </dgm:t>
    </dgm:pt>
    <dgm:pt modelId="{433A2DE0-BDF3-41DF-8AF6-080832D3DF2E}" type="sibTrans" cxnId="{83433D87-125E-43B0-BF39-AC19A7D7CFE0}">
      <dgm:prSet/>
      <dgm:spPr/>
      <dgm:t>
        <a:bodyPr/>
        <a:lstStyle/>
        <a:p>
          <a:endParaRPr lang="en-US"/>
        </a:p>
      </dgm:t>
    </dgm:pt>
    <dgm:pt modelId="{E642E3EC-9B27-49B7-AD28-ED3C237F53C5}">
      <dgm:prSet/>
      <dgm:spPr/>
      <dgm:t>
        <a:bodyPr/>
        <a:lstStyle/>
        <a:p>
          <a:r>
            <a:rPr lang="en-US" dirty="0"/>
            <a:t>Informed search</a:t>
          </a:r>
        </a:p>
      </dgm:t>
    </dgm:pt>
    <dgm:pt modelId="{507574C4-8741-4AA4-A8C5-D25A7B69A16F}" type="parTrans" cxnId="{11F888E5-7D40-4307-9AE2-A5FA21E506DC}">
      <dgm:prSet/>
      <dgm:spPr/>
      <dgm:t>
        <a:bodyPr/>
        <a:lstStyle/>
        <a:p>
          <a:endParaRPr lang="en-US"/>
        </a:p>
      </dgm:t>
    </dgm:pt>
    <dgm:pt modelId="{603C9894-4EB0-4355-9B27-35D935534F0E}" type="sibTrans" cxnId="{11F888E5-7D40-4307-9AE2-A5FA21E506DC}">
      <dgm:prSet/>
      <dgm:spPr/>
      <dgm:t>
        <a:bodyPr/>
        <a:lstStyle/>
        <a:p>
          <a:endParaRPr lang="en-US"/>
        </a:p>
      </dgm:t>
    </dgm:pt>
    <dgm:pt modelId="{EBB51D19-0692-47FA-B5E2-612D515693C6}">
      <dgm:prSet/>
      <dgm:spPr/>
      <dgm:t>
        <a:bodyPr/>
        <a:lstStyle/>
        <a:p>
          <a:r>
            <a:rPr lang="en-US"/>
            <a:t>Greedy Search</a:t>
          </a:r>
        </a:p>
      </dgm:t>
    </dgm:pt>
    <dgm:pt modelId="{A20C846E-67A7-4CCE-88F7-87B7107BF1B8}" type="parTrans" cxnId="{5B6EB31F-902F-4E33-A499-1D4D8391CD32}">
      <dgm:prSet/>
      <dgm:spPr/>
      <dgm:t>
        <a:bodyPr/>
        <a:lstStyle/>
        <a:p>
          <a:endParaRPr lang="en-US"/>
        </a:p>
      </dgm:t>
    </dgm:pt>
    <dgm:pt modelId="{EA6AEE8A-9A2E-4926-85DB-EAB8EE01A98B}" type="sibTrans" cxnId="{5B6EB31F-902F-4E33-A499-1D4D8391CD32}">
      <dgm:prSet/>
      <dgm:spPr/>
      <dgm:t>
        <a:bodyPr/>
        <a:lstStyle/>
        <a:p>
          <a:endParaRPr lang="en-US"/>
        </a:p>
      </dgm:t>
    </dgm:pt>
    <dgm:pt modelId="{502AE478-2E62-42D6-B4A8-5D0819568151}">
      <dgm:prSet/>
      <dgm:spPr/>
      <dgm:t>
        <a:bodyPr/>
        <a:lstStyle/>
        <a:p>
          <a:r>
            <a:rPr lang="en-US"/>
            <a:t>Best first search</a:t>
          </a:r>
        </a:p>
      </dgm:t>
    </dgm:pt>
    <dgm:pt modelId="{E7417EA3-5DAA-4DCC-B9EA-3424D5BE5659}" type="parTrans" cxnId="{89EC729F-259A-4338-BC3F-3E73155C233C}">
      <dgm:prSet/>
      <dgm:spPr/>
      <dgm:t>
        <a:bodyPr/>
        <a:lstStyle/>
        <a:p>
          <a:endParaRPr lang="en-US"/>
        </a:p>
      </dgm:t>
    </dgm:pt>
    <dgm:pt modelId="{CBD9F1D7-A9BE-480F-B667-FE633371038A}" type="sibTrans" cxnId="{89EC729F-259A-4338-BC3F-3E73155C233C}">
      <dgm:prSet/>
      <dgm:spPr/>
      <dgm:t>
        <a:bodyPr/>
        <a:lstStyle/>
        <a:p>
          <a:endParaRPr lang="en-US"/>
        </a:p>
      </dgm:t>
    </dgm:pt>
    <dgm:pt modelId="{B9E9059C-D5A6-41E1-B3FE-B9DC2DBF3737}">
      <dgm:prSet/>
      <dgm:spPr/>
      <dgm:t>
        <a:bodyPr/>
        <a:lstStyle/>
        <a:p>
          <a:r>
            <a:rPr lang="en-US"/>
            <a:t>A* Search</a:t>
          </a:r>
        </a:p>
      </dgm:t>
    </dgm:pt>
    <dgm:pt modelId="{B4C97B4A-2871-4CDE-B9C8-311792650F84}" type="parTrans" cxnId="{F2C40188-F38A-4648-9104-4E668D4590CE}">
      <dgm:prSet/>
      <dgm:spPr/>
      <dgm:t>
        <a:bodyPr/>
        <a:lstStyle/>
        <a:p>
          <a:endParaRPr lang="en-US"/>
        </a:p>
      </dgm:t>
    </dgm:pt>
    <dgm:pt modelId="{4BAD0D18-BD59-4D7B-94FF-560D724E7C87}" type="sibTrans" cxnId="{F2C40188-F38A-4648-9104-4E668D4590CE}">
      <dgm:prSet/>
      <dgm:spPr/>
      <dgm:t>
        <a:bodyPr/>
        <a:lstStyle/>
        <a:p>
          <a:endParaRPr lang="en-US"/>
        </a:p>
      </dgm:t>
    </dgm:pt>
    <dgm:pt modelId="{BC1FB10D-BB97-4CA9-943E-51CA14FF9F21}">
      <dgm:prSet/>
      <dgm:spPr/>
      <dgm:t>
        <a:bodyPr/>
        <a:lstStyle/>
        <a:p>
          <a:r>
            <a:rPr lang="en-US" dirty="0"/>
            <a:t>Hill Climbing</a:t>
          </a:r>
        </a:p>
      </dgm:t>
    </dgm:pt>
    <dgm:pt modelId="{73FE5037-ABCD-4EE6-9125-D24FBC47D6E6}" type="parTrans" cxnId="{B1EF99DD-456C-4423-9A7E-DAA16B29CB02}">
      <dgm:prSet/>
      <dgm:spPr/>
      <dgm:t>
        <a:bodyPr/>
        <a:lstStyle/>
        <a:p>
          <a:endParaRPr lang="en-US"/>
        </a:p>
      </dgm:t>
    </dgm:pt>
    <dgm:pt modelId="{79DF5E66-C513-49E8-8A26-A6E0BEFB694B}" type="sibTrans" cxnId="{B1EF99DD-456C-4423-9A7E-DAA16B29CB02}">
      <dgm:prSet/>
      <dgm:spPr/>
      <dgm:t>
        <a:bodyPr/>
        <a:lstStyle/>
        <a:p>
          <a:endParaRPr lang="en-US"/>
        </a:p>
      </dgm:t>
    </dgm:pt>
    <dgm:pt modelId="{3B8276E7-A5F9-4445-846B-328BD02ACE87}">
      <dgm:prSet/>
      <dgm:spPr/>
      <dgm:t>
        <a:bodyPr/>
        <a:lstStyle/>
        <a:p>
          <a:r>
            <a:rPr lang="en-US"/>
            <a:t>Simulated Annealing</a:t>
          </a:r>
        </a:p>
      </dgm:t>
    </dgm:pt>
    <dgm:pt modelId="{6389FF6C-B239-40B7-818F-528DD9971B0C}" type="parTrans" cxnId="{8A1A8F9E-C48F-4D6F-AB5F-72712D133EB5}">
      <dgm:prSet/>
      <dgm:spPr/>
      <dgm:t>
        <a:bodyPr/>
        <a:lstStyle/>
        <a:p>
          <a:endParaRPr lang="en-US"/>
        </a:p>
      </dgm:t>
    </dgm:pt>
    <dgm:pt modelId="{66CAB6E8-F753-477E-AC4C-D990C5CD5D75}" type="sibTrans" cxnId="{8A1A8F9E-C48F-4D6F-AB5F-72712D133EB5}">
      <dgm:prSet/>
      <dgm:spPr/>
      <dgm:t>
        <a:bodyPr/>
        <a:lstStyle/>
        <a:p>
          <a:endParaRPr lang="en-US"/>
        </a:p>
      </dgm:t>
    </dgm:pt>
    <dgm:pt modelId="{A8BBC8B3-6DAE-4B69-B484-29898234DEF3}">
      <dgm:prSet/>
      <dgm:spPr/>
      <dgm:t>
        <a:bodyPr/>
        <a:lstStyle/>
        <a:p>
          <a:r>
            <a:rPr lang="en-US"/>
            <a:t>Genetic Algorithm</a:t>
          </a:r>
        </a:p>
      </dgm:t>
    </dgm:pt>
    <dgm:pt modelId="{5F3E6221-C42B-4C73-8390-73D1892BD341}" type="parTrans" cxnId="{7B566D16-521E-45E2-9D4E-9517BD9EAD8D}">
      <dgm:prSet/>
      <dgm:spPr/>
      <dgm:t>
        <a:bodyPr/>
        <a:lstStyle/>
        <a:p>
          <a:endParaRPr lang="en-US"/>
        </a:p>
      </dgm:t>
    </dgm:pt>
    <dgm:pt modelId="{A768E358-F87B-4994-BE14-3C3F504E2A34}" type="sibTrans" cxnId="{7B566D16-521E-45E2-9D4E-9517BD9EAD8D}">
      <dgm:prSet/>
      <dgm:spPr/>
      <dgm:t>
        <a:bodyPr/>
        <a:lstStyle/>
        <a:p>
          <a:endParaRPr lang="en-US"/>
        </a:p>
      </dgm:t>
    </dgm:pt>
    <dgm:pt modelId="{37A50C77-6569-41FA-BAB9-3710AEEB8502}">
      <dgm:prSet/>
      <dgm:spPr/>
      <dgm:t>
        <a:bodyPr/>
        <a:lstStyle/>
        <a:p>
          <a:r>
            <a:rPr lang="en-US" dirty="0"/>
            <a:t>Adversarial search techniques</a:t>
          </a:r>
        </a:p>
      </dgm:t>
    </dgm:pt>
    <dgm:pt modelId="{6BD1336A-45C0-48BB-B258-6B9FD25DE431}" type="parTrans" cxnId="{7E043086-86DD-4556-A451-648512253AC5}">
      <dgm:prSet/>
      <dgm:spPr/>
      <dgm:t>
        <a:bodyPr/>
        <a:lstStyle/>
        <a:p>
          <a:endParaRPr lang="en-US"/>
        </a:p>
      </dgm:t>
    </dgm:pt>
    <dgm:pt modelId="{A94598F8-843D-4DEB-90F2-6D44F51ACDD6}" type="sibTrans" cxnId="{7E043086-86DD-4556-A451-648512253AC5}">
      <dgm:prSet/>
      <dgm:spPr/>
      <dgm:t>
        <a:bodyPr/>
        <a:lstStyle/>
        <a:p>
          <a:endParaRPr lang="en-US"/>
        </a:p>
      </dgm:t>
    </dgm:pt>
    <dgm:pt modelId="{397A02C7-9E69-491D-A060-6C5588C12A9C}">
      <dgm:prSet/>
      <dgm:spPr/>
      <dgm:t>
        <a:bodyPr/>
        <a:lstStyle/>
        <a:p>
          <a:r>
            <a:rPr lang="en-US" dirty="0"/>
            <a:t>Min-Max Procedure</a:t>
          </a:r>
        </a:p>
      </dgm:t>
    </dgm:pt>
    <dgm:pt modelId="{C504335F-C1AE-4B2B-BB29-471DC66E913D}" type="parTrans" cxnId="{B7E6A4C6-2F53-40E5-9FE3-E81CE3804312}">
      <dgm:prSet/>
      <dgm:spPr/>
      <dgm:t>
        <a:bodyPr/>
        <a:lstStyle/>
        <a:p>
          <a:endParaRPr lang="en-US"/>
        </a:p>
      </dgm:t>
    </dgm:pt>
    <dgm:pt modelId="{C397D06D-BAA4-45F7-808F-4213E6B864E7}" type="sibTrans" cxnId="{B7E6A4C6-2F53-40E5-9FE3-E81CE3804312}">
      <dgm:prSet/>
      <dgm:spPr/>
      <dgm:t>
        <a:bodyPr/>
        <a:lstStyle/>
        <a:p>
          <a:endParaRPr lang="en-US"/>
        </a:p>
      </dgm:t>
    </dgm:pt>
    <dgm:pt modelId="{8389A8C5-4799-4BB7-AFD1-4D701965E9EB}">
      <dgm:prSet/>
      <dgm:spPr/>
      <dgm:t>
        <a:bodyPr/>
        <a:lstStyle/>
        <a:p>
          <a:r>
            <a:rPr lang="en-US" dirty="0"/>
            <a:t>Alpha beta procedure</a:t>
          </a:r>
        </a:p>
      </dgm:t>
    </dgm:pt>
    <dgm:pt modelId="{3DBD1782-4ED4-4350-84D1-195C908DD691}" type="parTrans" cxnId="{15AE3629-91C1-4DFA-9782-018A7F29BF66}">
      <dgm:prSet/>
      <dgm:spPr/>
      <dgm:t>
        <a:bodyPr/>
        <a:lstStyle/>
        <a:p>
          <a:endParaRPr lang="en-US"/>
        </a:p>
      </dgm:t>
    </dgm:pt>
    <dgm:pt modelId="{5DFA1FB7-3C26-426C-86D8-D7F6D528C1A8}" type="sibTrans" cxnId="{15AE3629-91C1-4DFA-9782-018A7F29BF66}">
      <dgm:prSet/>
      <dgm:spPr/>
      <dgm:t>
        <a:bodyPr/>
        <a:lstStyle/>
        <a:p>
          <a:endParaRPr lang="en-US"/>
        </a:p>
      </dgm:t>
    </dgm:pt>
    <dgm:pt modelId="{87E3C037-E93D-4C4C-817B-BA6E9B290185}">
      <dgm:prSet/>
      <dgm:spPr/>
      <dgm:t>
        <a:bodyPr/>
        <a:lstStyle/>
        <a:p>
          <a:r>
            <a:rPr lang="en-US" dirty="0"/>
            <a:t>Iterative Deepening Search</a:t>
          </a:r>
        </a:p>
      </dgm:t>
    </dgm:pt>
    <dgm:pt modelId="{D5008C08-0AA3-4006-8847-1BEB55DB4E97}" type="parTrans" cxnId="{905A3DAD-ACE4-4138-9421-A278D423EF11}">
      <dgm:prSet/>
      <dgm:spPr/>
    </dgm:pt>
    <dgm:pt modelId="{31F1DFE2-C6A5-4AA7-B940-70ED43609013}" type="sibTrans" cxnId="{905A3DAD-ACE4-4138-9421-A278D423EF11}">
      <dgm:prSet/>
      <dgm:spPr/>
    </dgm:pt>
    <dgm:pt modelId="{BF82C99B-3521-4217-89BB-7C15A37AFE80}" type="pres">
      <dgm:prSet presAssocID="{4096E00F-21D8-4E5F-9CC1-D1C951F61930}" presName="Name0" presStyleCnt="0">
        <dgm:presLayoutVars>
          <dgm:dir/>
          <dgm:animLvl val="lvl"/>
          <dgm:resizeHandles val="exact"/>
        </dgm:presLayoutVars>
      </dgm:prSet>
      <dgm:spPr/>
    </dgm:pt>
    <dgm:pt modelId="{DA3E4844-3183-4620-B4F4-4F0FAF8C38DE}" type="pres">
      <dgm:prSet presAssocID="{6D978143-2F16-4357-BB03-B8BF1DEC223E}" presName="composite" presStyleCnt="0"/>
      <dgm:spPr/>
    </dgm:pt>
    <dgm:pt modelId="{2CC7C308-2EDD-42B6-8A3C-E8D094B41C2E}" type="pres">
      <dgm:prSet presAssocID="{6D978143-2F16-4357-BB03-B8BF1DEC223E}" presName="parTx" presStyleLbl="alignNode1" presStyleIdx="0" presStyleCnt="3">
        <dgm:presLayoutVars>
          <dgm:chMax val="0"/>
          <dgm:chPref val="0"/>
          <dgm:bulletEnabled val="1"/>
        </dgm:presLayoutVars>
      </dgm:prSet>
      <dgm:spPr/>
    </dgm:pt>
    <dgm:pt modelId="{6E572359-4AEE-474C-B564-79173CC61CEF}" type="pres">
      <dgm:prSet presAssocID="{6D978143-2F16-4357-BB03-B8BF1DEC223E}" presName="desTx" presStyleLbl="alignAccFollowNode1" presStyleIdx="0" presStyleCnt="3">
        <dgm:presLayoutVars>
          <dgm:bulletEnabled val="1"/>
        </dgm:presLayoutVars>
      </dgm:prSet>
      <dgm:spPr/>
    </dgm:pt>
    <dgm:pt modelId="{8A575EB4-DC98-4484-8A3A-8188EA3268E0}" type="pres">
      <dgm:prSet presAssocID="{5BE3C829-8B2F-46C1-AEBD-0E668989EA40}" presName="space" presStyleCnt="0"/>
      <dgm:spPr/>
    </dgm:pt>
    <dgm:pt modelId="{1E53E4EA-07DC-4813-8509-DC9872D4FED6}" type="pres">
      <dgm:prSet presAssocID="{E642E3EC-9B27-49B7-AD28-ED3C237F53C5}" presName="composite" presStyleCnt="0"/>
      <dgm:spPr/>
    </dgm:pt>
    <dgm:pt modelId="{5C041030-39C9-48DE-B235-1EBCCE30564E}" type="pres">
      <dgm:prSet presAssocID="{E642E3EC-9B27-49B7-AD28-ED3C237F53C5}" presName="parTx" presStyleLbl="alignNode1" presStyleIdx="1" presStyleCnt="3">
        <dgm:presLayoutVars>
          <dgm:chMax val="0"/>
          <dgm:chPref val="0"/>
          <dgm:bulletEnabled val="1"/>
        </dgm:presLayoutVars>
      </dgm:prSet>
      <dgm:spPr/>
    </dgm:pt>
    <dgm:pt modelId="{FA198192-4060-460C-B7B9-3FCAFC26D98F}" type="pres">
      <dgm:prSet presAssocID="{E642E3EC-9B27-49B7-AD28-ED3C237F53C5}" presName="desTx" presStyleLbl="alignAccFollowNode1" presStyleIdx="1" presStyleCnt="3">
        <dgm:presLayoutVars>
          <dgm:bulletEnabled val="1"/>
        </dgm:presLayoutVars>
      </dgm:prSet>
      <dgm:spPr/>
    </dgm:pt>
    <dgm:pt modelId="{85F726F1-008D-494B-A9E4-A9400EB16B7E}" type="pres">
      <dgm:prSet presAssocID="{603C9894-4EB0-4355-9B27-35D935534F0E}" presName="space" presStyleCnt="0"/>
      <dgm:spPr/>
    </dgm:pt>
    <dgm:pt modelId="{EAE3D8C2-92EA-4540-AF71-CAE3FCC37C69}" type="pres">
      <dgm:prSet presAssocID="{37A50C77-6569-41FA-BAB9-3710AEEB8502}" presName="composite" presStyleCnt="0"/>
      <dgm:spPr/>
    </dgm:pt>
    <dgm:pt modelId="{86F6A160-B496-4842-BBA2-55D4024E6C44}" type="pres">
      <dgm:prSet presAssocID="{37A50C77-6569-41FA-BAB9-3710AEEB8502}" presName="parTx" presStyleLbl="alignNode1" presStyleIdx="2" presStyleCnt="3">
        <dgm:presLayoutVars>
          <dgm:chMax val="0"/>
          <dgm:chPref val="0"/>
          <dgm:bulletEnabled val="1"/>
        </dgm:presLayoutVars>
      </dgm:prSet>
      <dgm:spPr/>
    </dgm:pt>
    <dgm:pt modelId="{6C714F36-0DAE-48AD-B271-6B6DD08F3D6E}" type="pres">
      <dgm:prSet presAssocID="{37A50C77-6569-41FA-BAB9-3710AEEB8502}" presName="desTx" presStyleLbl="alignAccFollowNode1" presStyleIdx="2" presStyleCnt="3">
        <dgm:presLayoutVars>
          <dgm:bulletEnabled val="1"/>
        </dgm:presLayoutVars>
      </dgm:prSet>
      <dgm:spPr/>
    </dgm:pt>
  </dgm:ptLst>
  <dgm:cxnLst>
    <dgm:cxn modelId="{12B7A006-5002-4300-ADE2-83DB6BDF409C}" type="presOf" srcId="{1C189532-94B6-4EF1-93CA-5B9A568AB979}" destId="{6E572359-4AEE-474C-B564-79173CC61CEF}" srcOrd="0" destOrd="0" presId="urn:microsoft.com/office/officeart/2005/8/layout/hList1"/>
    <dgm:cxn modelId="{551DCB0E-D79D-4FE8-8177-06FB915EF66D}" type="presOf" srcId="{A8BBC8B3-6DAE-4B69-B484-29898234DEF3}" destId="{FA198192-4060-460C-B7B9-3FCAFC26D98F}" srcOrd="0" destOrd="5" presId="urn:microsoft.com/office/officeart/2005/8/layout/hList1"/>
    <dgm:cxn modelId="{7B566D16-521E-45E2-9D4E-9517BD9EAD8D}" srcId="{E642E3EC-9B27-49B7-AD28-ED3C237F53C5}" destId="{A8BBC8B3-6DAE-4B69-B484-29898234DEF3}" srcOrd="5" destOrd="0" parTransId="{5F3E6221-C42B-4C73-8390-73D1892BD341}" sibTransId="{A768E358-F87B-4994-BE14-3C3F504E2A34}"/>
    <dgm:cxn modelId="{5B6EB31F-902F-4E33-A499-1D4D8391CD32}" srcId="{E642E3EC-9B27-49B7-AD28-ED3C237F53C5}" destId="{EBB51D19-0692-47FA-B5E2-612D515693C6}" srcOrd="0" destOrd="0" parTransId="{A20C846E-67A7-4CCE-88F7-87B7107BF1B8}" sibTransId="{EA6AEE8A-9A2E-4926-85DB-EAB8EE01A98B}"/>
    <dgm:cxn modelId="{6FE03025-1005-4031-8D07-D8EB2EC3418A}" type="presOf" srcId="{F1AA6B11-2F5C-43B7-8D1C-C77FE6A2FA5E}" destId="{6E572359-4AEE-474C-B564-79173CC61CEF}" srcOrd="0" destOrd="2" presId="urn:microsoft.com/office/officeart/2005/8/layout/hList1"/>
    <dgm:cxn modelId="{15AE3629-91C1-4DFA-9782-018A7F29BF66}" srcId="{37A50C77-6569-41FA-BAB9-3710AEEB8502}" destId="{8389A8C5-4799-4BB7-AFD1-4D701965E9EB}" srcOrd="1" destOrd="0" parTransId="{3DBD1782-4ED4-4350-84D1-195C908DD691}" sibTransId="{5DFA1FB7-3C26-426C-86D8-D7F6D528C1A8}"/>
    <dgm:cxn modelId="{18D3D934-F978-4A2B-895C-B98BC2D4BFB3}" type="presOf" srcId="{EBB51D19-0692-47FA-B5E2-612D515693C6}" destId="{FA198192-4060-460C-B7B9-3FCAFC26D98F}" srcOrd="0" destOrd="0" presId="urn:microsoft.com/office/officeart/2005/8/layout/hList1"/>
    <dgm:cxn modelId="{F1B8363A-B7B4-4720-902D-C9006B8DAA3B}" type="presOf" srcId="{8389A8C5-4799-4BB7-AFD1-4D701965E9EB}" destId="{6C714F36-0DAE-48AD-B271-6B6DD08F3D6E}" srcOrd="0" destOrd="1" presId="urn:microsoft.com/office/officeart/2005/8/layout/hList1"/>
    <dgm:cxn modelId="{42936D43-4425-4759-B8A2-F914CBBEAC6C}" type="presOf" srcId="{6D978143-2F16-4357-BB03-B8BF1DEC223E}" destId="{2CC7C308-2EDD-42B6-8A3C-E8D094B41C2E}" srcOrd="0" destOrd="0" presId="urn:microsoft.com/office/officeart/2005/8/layout/hList1"/>
    <dgm:cxn modelId="{92DDD568-E3CB-4B03-B722-A6BB3D385354}" type="presOf" srcId="{37A50C77-6569-41FA-BAB9-3710AEEB8502}" destId="{86F6A160-B496-4842-BBA2-55D4024E6C44}" srcOrd="0" destOrd="0" presId="urn:microsoft.com/office/officeart/2005/8/layout/hList1"/>
    <dgm:cxn modelId="{C2090E49-EBDD-45EF-9C12-D3620CCD855D}" type="presOf" srcId="{4096E00F-21D8-4E5F-9CC1-D1C951F61930}" destId="{BF82C99B-3521-4217-89BB-7C15A37AFE80}" srcOrd="0" destOrd="0" presId="urn:microsoft.com/office/officeart/2005/8/layout/hList1"/>
    <dgm:cxn modelId="{446CDE69-B220-4A6F-828F-34D7146B38D1}" srcId="{6D978143-2F16-4357-BB03-B8BF1DEC223E}" destId="{1C189532-94B6-4EF1-93CA-5B9A568AB979}" srcOrd="0" destOrd="0" parTransId="{809885B0-E72B-4CC4-BD58-C4640779E563}" sibTransId="{B062E2F3-B6AE-4C0F-8AF1-FBD0C76C1EDE}"/>
    <dgm:cxn modelId="{711F884C-EB80-42C1-A84B-94DFFFFA629B}" type="presOf" srcId="{3B8276E7-A5F9-4445-846B-328BD02ACE87}" destId="{FA198192-4060-460C-B7B9-3FCAFC26D98F}" srcOrd="0" destOrd="4" presId="urn:microsoft.com/office/officeart/2005/8/layout/hList1"/>
    <dgm:cxn modelId="{48352A51-C1EE-4669-B1B7-6289307F9512}" type="presOf" srcId="{BC1FB10D-BB97-4CA9-943E-51CA14FF9F21}" destId="{FA198192-4060-460C-B7B9-3FCAFC26D98F}" srcOrd="0" destOrd="3" presId="urn:microsoft.com/office/officeart/2005/8/layout/hList1"/>
    <dgm:cxn modelId="{258F9084-83DB-46BB-BB41-FD03023AC483}" type="presOf" srcId="{502AE478-2E62-42D6-B4A8-5D0819568151}" destId="{FA198192-4060-460C-B7B9-3FCAFC26D98F}" srcOrd="0" destOrd="1" presId="urn:microsoft.com/office/officeart/2005/8/layout/hList1"/>
    <dgm:cxn modelId="{7E043086-86DD-4556-A451-648512253AC5}" srcId="{4096E00F-21D8-4E5F-9CC1-D1C951F61930}" destId="{37A50C77-6569-41FA-BAB9-3710AEEB8502}" srcOrd="2" destOrd="0" parTransId="{6BD1336A-45C0-48BB-B258-6B9FD25DE431}" sibTransId="{A94598F8-843D-4DEB-90F2-6D44F51ACDD6}"/>
    <dgm:cxn modelId="{83433D87-125E-43B0-BF39-AC19A7D7CFE0}" srcId="{6D978143-2F16-4357-BB03-B8BF1DEC223E}" destId="{F1AA6B11-2F5C-43B7-8D1C-C77FE6A2FA5E}" srcOrd="2" destOrd="0" parTransId="{12BCCB95-001E-45CA-85D1-94B1B30580A2}" sibTransId="{433A2DE0-BDF3-41DF-8AF6-080832D3DF2E}"/>
    <dgm:cxn modelId="{F2C40188-F38A-4648-9104-4E668D4590CE}" srcId="{E642E3EC-9B27-49B7-AD28-ED3C237F53C5}" destId="{B9E9059C-D5A6-41E1-B3FE-B9DC2DBF3737}" srcOrd="2" destOrd="0" parTransId="{B4C97B4A-2871-4CDE-B9C8-311792650F84}" sibTransId="{4BAD0D18-BD59-4D7B-94FF-560D724E7C87}"/>
    <dgm:cxn modelId="{144BED99-5089-4444-B092-BEA1D8179BCE}" srcId="{6D978143-2F16-4357-BB03-B8BF1DEC223E}" destId="{E8D52430-B285-43B0-BFE3-0BF9C7720C0B}" srcOrd="1" destOrd="0" parTransId="{8C32F043-157B-4811-91CE-14B85DA84F61}" sibTransId="{A45C2737-8C06-42F0-8A04-237E05C308E9}"/>
    <dgm:cxn modelId="{8A1A8F9E-C48F-4D6F-AB5F-72712D133EB5}" srcId="{E642E3EC-9B27-49B7-AD28-ED3C237F53C5}" destId="{3B8276E7-A5F9-4445-846B-328BD02ACE87}" srcOrd="4" destOrd="0" parTransId="{6389FF6C-B239-40B7-818F-528DD9971B0C}" sibTransId="{66CAB6E8-F753-477E-AC4C-D990C5CD5D75}"/>
    <dgm:cxn modelId="{89EC729F-259A-4338-BC3F-3E73155C233C}" srcId="{E642E3EC-9B27-49B7-AD28-ED3C237F53C5}" destId="{502AE478-2E62-42D6-B4A8-5D0819568151}" srcOrd="1" destOrd="0" parTransId="{E7417EA3-5DAA-4DCC-B9EA-3424D5BE5659}" sibTransId="{CBD9F1D7-A9BE-480F-B667-FE633371038A}"/>
    <dgm:cxn modelId="{A6E9D6A1-FC6A-40C9-A5D3-916CAD4FA375}" type="presOf" srcId="{E642E3EC-9B27-49B7-AD28-ED3C237F53C5}" destId="{5C041030-39C9-48DE-B235-1EBCCE30564E}" srcOrd="0" destOrd="0" presId="urn:microsoft.com/office/officeart/2005/8/layout/hList1"/>
    <dgm:cxn modelId="{5154CBA2-7451-4693-B172-D431110CCC99}" type="presOf" srcId="{87E3C037-E93D-4C4C-817B-BA6E9B290185}" destId="{6E572359-4AEE-474C-B564-79173CC61CEF}" srcOrd="0" destOrd="3" presId="urn:microsoft.com/office/officeart/2005/8/layout/hList1"/>
    <dgm:cxn modelId="{143264A8-EE7A-448E-A07F-0B83EAC24461}" type="presOf" srcId="{E8D52430-B285-43B0-BFE3-0BF9C7720C0B}" destId="{6E572359-4AEE-474C-B564-79173CC61CEF}" srcOrd="0" destOrd="1" presId="urn:microsoft.com/office/officeart/2005/8/layout/hList1"/>
    <dgm:cxn modelId="{905A3DAD-ACE4-4138-9421-A278D423EF11}" srcId="{6D978143-2F16-4357-BB03-B8BF1DEC223E}" destId="{87E3C037-E93D-4C4C-817B-BA6E9B290185}" srcOrd="3" destOrd="0" parTransId="{D5008C08-0AA3-4006-8847-1BEB55DB4E97}" sibTransId="{31F1DFE2-C6A5-4AA7-B940-70ED43609013}"/>
    <dgm:cxn modelId="{C64C33AF-0996-4F57-8797-7E616D3CD2E5}" type="presOf" srcId="{B9E9059C-D5A6-41E1-B3FE-B9DC2DBF3737}" destId="{FA198192-4060-460C-B7B9-3FCAFC26D98F}" srcOrd="0" destOrd="2" presId="urn:microsoft.com/office/officeart/2005/8/layout/hList1"/>
    <dgm:cxn modelId="{B7E6A4C6-2F53-40E5-9FE3-E81CE3804312}" srcId="{37A50C77-6569-41FA-BAB9-3710AEEB8502}" destId="{397A02C7-9E69-491D-A060-6C5588C12A9C}" srcOrd="0" destOrd="0" parTransId="{C504335F-C1AE-4B2B-BB29-471DC66E913D}" sibTransId="{C397D06D-BAA4-45F7-808F-4213E6B864E7}"/>
    <dgm:cxn modelId="{426CC6C7-FB48-474F-96A9-4EE0837A728F}" srcId="{4096E00F-21D8-4E5F-9CC1-D1C951F61930}" destId="{6D978143-2F16-4357-BB03-B8BF1DEC223E}" srcOrd="0" destOrd="0" parTransId="{9D01B531-C3D0-42B7-9426-5E6AB5A2FA27}" sibTransId="{5BE3C829-8B2F-46C1-AEBD-0E668989EA40}"/>
    <dgm:cxn modelId="{F1882DDD-7BC0-4C06-8179-F8CE2738A918}" type="presOf" srcId="{397A02C7-9E69-491D-A060-6C5588C12A9C}" destId="{6C714F36-0DAE-48AD-B271-6B6DD08F3D6E}" srcOrd="0" destOrd="0" presId="urn:microsoft.com/office/officeart/2005/8/layout/hList1"/>
    <dgm:cxn modelId="{B1EF99DD-456C-4423-9A7E-DAA16B29CB02}" srcId="{E642E3EC-9B27-49B7-AD28-ED3C237F53C5}" destId="{BC1FB10D-BB97-4CA9-943E-51CA14FF9F21}" srcOrd="3" destOrd="0" parTransId="{73FE5037-ABCD-4EE6-9125-D24FBC47D6E6}" sibTransId="{79DF5E66-C513-49E8-8A26-A6E0BEFB694B}"/>
    <dgm:cxn modelId="{11F888E5-7D40-4307-9AE2-A5FA21E506DC}" srcId="{4096E00F-21D8-4E5F-9CC1-D1C951F61930}" destId="{E642E3EC-9B27-49B7-AD28-ED3C237F53C5}" srcOrd="1" destOrd="0" parTransId="{507574C4-8741-4AA4-A8C5-D25A7B69A16F}" sibTransId="{603C9894-4EB0-4355-9B27-35D935534F0E}"/>
    <dgm:cxn modelId="{D8BA440E-56E2-4EC3-A2A6-E990A4CDA226}" type="presParOf" srcId="{BF82C99B-3521-4217-89BB-7C15A37AFE80}" destId="{DA3E4844-3183-4620-B4F4-4F0FAF8C38DE}" srcOrd="0" destOrd="0" presId="urn:microsoft.com/office/officeart/2005/8/layout/hList1"/>
    <dgm:cxn modelId="{E8D39D9B-D4E8-4221-AD47-29749345D28E}" type="presParOf" srcId="{DA3E4844-3183-4620-B4F4-4F0FAF8C38DE}" destId="{2CC7C308-2EDD-42B6-8A3C-E8D094B41C2E}" srcOrd="0" destOrd="0" presId="urn:microsoft.com/office/officeart/2005/8/layout/hList1"/>
    <dgm:cxn modelId="{889E75E6-B600-4A19-AD70-D102463D7F31}" type="presParOf" srcId="{DA3E4844-3183-4620-B4F4-4F0FAF8C38DE}" destId="{6E572359-4AEE-474C-B564-79173CC61CEF}" srcOrd="1" destOrd="0" presId="urn:microsoft.com/office/officeart/2005/8/layout/hList1"/>
    <dgm:cxn modelId="{751A1146-B2E1-408C-AAAC-1DED043B8031}" type="presParOf" srcId="{BF82C99B-3521-4217-89BB-7C15A37AFE80}" destId="{8A575EB4-DC98-4484-8A3A-8188EA3268E0}" srcOrd="1" destOrd="0" presId="urn:microsoft.com/office/officeart/2005/8/layout/hList1"/>
    <dgm:cxn modelId="{595B2E75-8DB2-42E1-96E1-74D41C5AD85B}" type="presParOf" srcId="{BF82C99B-3521-4217-89BB-7C15A37AFE80}" destId="{1E53E4EA-07DC-4813-8509-DC9872D4FED6}" srcOrd="2" destOrd="0" presId="urn:microsoft.com/office/officeart/2005/8/layout/hList1"/>
    <dgm:cxn modelId="{1237B0DD-3B10-40FF-B04F-EB17B2651624}" type="presParOf" srcId="{1E53E4EA-07DC-4813-8509-DC9872D4FED6}" destId="{5C041030-39C9-48DE-B235-1EBCCE30564E}" srcOrd="0" destOrd="0" presId="urn:microsoft.com/office/officeart/2005/8/layout/hList1"/>
    <dgm:cxn modelId="{8E50486B-392F-4881-9D59-959F9D252C95}" type="presParOf" srcId="{1E53E4EA-07DC-4813-8509-DC9872D4FED6}" destId="{FA198192-4060-460C-B7B9-3FCAFC26D98F}" srcOrd="1" destOrd="0" presId="urn:microsoft.com/office/officeart/2005/8/layout/hList1"/>
    <dgm:cxn modelId="{90D17FE8-B99C-4FC1-9F42-57C7C8EECD57}" type="presParOf" srcId="{BF82C99B-3521-4217-89BB-7C15A37AFE80}" destId="{85F726F1-008D-494B-A9E4-A9400EB16B7E}" srcOrd="3" destOrd="0" presId="urn:microsoft.com/office/officeart/2005/8/layout/hList1"/>
    <dgm:cxn modelId="{9BE3C6CD-E870-45FA-B911-A1C0BFCFF3E7}" type="presParOf" srcId="{BF82C99B-3521-4217-89BB-7C15A37AFE80}" destId="{EAE3D8C2-92EA-4540-AF71-CAE3FCC37C69}" srcOrd="4" destOrd="0" presId="urn:microsoft.com/office/officeart/2005/8/layout/hList1"/>
    <dgm:cxn modelId="{3EAD18D6-B962-4CDA-B36B-231F6EE8BE85}" type="presParOf" srcId="{EAE3D8C2-92EA-4540-AF71-CAE3FCC37C69}" destId="{86F6A160-B496-4842-BBA2-55D4024E6C44}" srcOrd="0" destOrd="0" presId="urn:microsoft.com/office/officeart/2005/8/layout/hList1"/>
    <dgm:cxn modelId="{2C5C11DF-66E9-4170-8764-C6D40D95F95A}" type="presParOf" srcId="{EAE3D8C2-92EA-4540-AF71-CAE3FCC37C69}" destId="{6C714F36-0DAE-48AD-B271-6B6DD08F3D6E}"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24119D1-54FD-4C39-A61F-04AEC460BC0A}"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FEB161F2-FB7D-41E6-929C-E3B433AA6D8D}">
      <dgm:prSet phldrT="[Text]" custT="1"/>
      <dgm:spPr/>
      <dgm:t>
        <a:bodyPr/>
        <a:lstStyle/>
        <a:p>
          <a:r>
            <a:rPr lang="en-US" sz="2000" dirty="0"/>
            <a:t>Uninformed Search</a:t>
          </a:r>
        </a:p>
      </dgm:t>
    </dgm:pt>
    <dgm:pt modelId="{D52D41F8-F433-4BF5-B0DD-4D940339636E}" type="parTrans" cxnId="{ED2A7D75-9733-42EE-93D7-25DFD4330E06}">
      <dgm:prSet/>
      <dgm:spPr/>
      <dgm:t>
        <a:bodyPr/>
        <a:lstStyle/>
        <a:p>
          <a:endParaRPr lang="en-US"/>
        </a:p>
      </dgm:t>
    </dgm:pt>
    <dgm:pt modelId="{F7C5E112-61F0-4561-B7B9-0BA453D5AEAC}" type="sibTrans" cxnId="{ED2A7D75-9733-42EE-93D7-25DFD4330E06}">
      <dgm:prSet/>
      <dgm:spPr/>
      <dgm:t>
        <a:bodyPr/>
        <a:lstStyle/>
        <a:p>
          <a:endParaRPr lang="en-US"/>
        </a:p>
      </dgm:t>
    </dgm:pt>
    <dgm:pt modelId="{FF3ECFF6-8A6B-4F93-9668-2B94B24EEB5C}">
      <dgm:prSet phldrT="[Text]"/>
      <dgm:spPr/>
      <dgm:t>
        <a:bodyPr/>
        <a:lstStyle/>
        <a:p>
          <a:r>
            <a:rPr lang="en-US" dirty="0"/>
            <a:t>Breadth-First Search</a:t>
          </a:r>
        </a:p>
      </dgm:t>
    </dgm:pt>
    <dgm:pt modelId="{4EA04A1E-A9ED-4491-97F9-E6CF392FEB23}" type="parTrans" cxnId="{42F772A5-859A-46FF-A86E-F6F3C8146E6D}">
      <dgm:prSet/>
      <dgm:spPr/>
      <dgm:t>
        <a:bodyPr/>
        <a:lstStyle/>
        <a:p>
          <a:endParaRPr lang="en-US"/>
        </a:p>
      </dgm:t>
    </dgm:pt>
    <dgm:pt modelId="{6CA101CE-4974-4255-8FD4-659C5B74B2EB}" type="sibTrans" cxnId="{42F772A5-859A-46FF-A86E-F6F3C8146E6D}">
      <dgm:prSet/>
      <dgm:spPr/>
      <dgm:t>
        <a:bodyPr/>
        <a:lstStyle/>
        <a:p>
          <a:endParaRPr lang="en-US"/>
        </a:p>
      </dgm:t>
    </dgm:pt>
    <dgm:pt modelId="{6D5BEBEC-472F-4C6B-B826-120C1E122118}">
      <dgm:prSet phldrT="[Text]"/>
      <dgm:spPr/>
      <dgm:t>
        <a:bodyPr/>
        <a:lstStyle/>
        <a:p>
          <a:r>
            <a:rPr lang="en-US" dirty="0"/>
            <a:t>Depth First Search</a:t>
          </a:r>
        </a:p>
      </dgm:t>
    </dgm:pt>
    <dgm:pt modelId="{0A0794FE-878D-4A48-BF33-6F145716A350}" type="parTrans" cxnId="{593C8B66-FB81-49C5-A8EC-1BF0E78B87E1}">
      <dgm:prSet/>
      <dgm:spPr/>
      <dgm:t>
        <a:bodyPr/>
        <a:lstStyle/>
        <a:p>
          <a:endParaRPr lang="en-US"/>
        </a:p>
      </dgm:t>
    </dgm:pt>
    <dgm:pt modelId="{99A33105-4883-468B-ADFB-DAC86A1DDF6A}" type="sibTrans" cxnId="{593C8B66-FB81-49C5-A8EC-1BF0E78B87E1}">
      <dgm:prSet/>
      <dgm:spPr/>
      <dgm:t>
        <a:bodyPr/>
        <a:lstStyle/>
        <a:p>
          <a:endParaRPr lang="en-US"/>
        </a:p>
      </dgm:t>
    </dgm:pt>
    <dgm:pt modelId="{0B65AF9B-0D7C-4AE7-8C64-1FB53941C3D5}">
      <dgm:prSet phldrT="[Text]"/>
      <dgm:spPr/>
      <dgm:t>
        <a:bodyPr/>
        <a:lstStyle/>
        <a:p>
          <a:r>
            <a:rPr lang="en-US" dirty="0"/>
            <a:t>Iterative Deepening Search</a:t>
          </a:r>
        </a:p>
      </dgm:t>
    </dgm:pt>
    <dgm:pt modelId="{4D48FD42-E05E-491F-B953-ACE95E02992D}" type="parTrans" cxnId="{61C1ADE3-198F-4901-A5F6-A4EB8DA2EB81}">
      <dgm:prSet/>
      <dgm:spPr/>
      <dgm:t>
        <a:bodyPr/>
        <a:lstStyle/>
        <a:p>
          <a:endParaRPr lang="en-US"/>
        </a:p>
      </dgm:t>
    </dgm:pt>
    <dgm:pt modelId="{BCAF2DF3-3825-43E6-882A-8EB45CDE3C4A}" type="sibTrans" cxnId="{61C1ADE3-198F-4901-A5F6-A4EB8DA2EB81}">
      <dgm:prSet/>
      <dgm:spPr/>
      <dgm:t>
        <a:bodyPr/>
        <a:lstStyle/>
        <a:p>
          <a:endParaRPr lang="en-US"/>
        </a:p>
      </dgm:t>
    </dgm:pt>
    <dgm:pt modelId="{529ECD92-D5EA-4589-9604-9DAB658F1FBD}">
      <dgm:prSet phldrT="[Text]"/>
      <dgm:spPr/>
      <dgm:t>
        <a:bodyPr/>
        <a:lstStyle/>
        <a:p>
          <a:r>
            <a:rPr lang="en-US" dirty="0"/>
            <a:t>Depth Limit Search</a:t>
          </a:r>
        </a:p>
      </dgm:t>
    </dgm:pt>
    <dgm:pt modelId="{094AA1CC-F3D3-4D57-B130-20963B659716}" type="parTrans" cxnId="{5617995E-8752-4F79-A695-13DE7446F354}">
      <dgm:prSet/>
      <dgm:spPr/>
      <dgm:t>
        <a:bodyPr/>
        <a:lstStyle/>
        <a:p>
          <a:endParaRPr lang="en-US"/>
        </a:p>
      </dgm:t>
    </dgm:pt>
    <dgm:pt modelId="{79006EEB-C294-4D46-9140-7460A42F78A0}" type="sibTrans" cxnId="{5617995E-8752-4F79-A695-13DE7446F354}">
      <dgm:prSet/>
      <dgm:spPr/>
      <dgm:t>
        <a:bodyPr/>
        <a:lstStyle/>
        <a:p>
          <a:endParaRPr lang="en-US"/>
        </a:p>
      </dgm:t>
    </dgm:pt>
    <dgm:pt modelId="{C814E6EF-D345-40FC-9210-7AE196336B7A}" type="pres">
      <dgm:prSet presAssocID="{324119D1-54FD-4C39-A61F-04AEC460BC0A}" presName="hierChild1" presStyleCnt="0">
        <dgm:presLayoutVars>
          <dgm:orgChart val="1"/>
          <dgm:chPref val="1"/>
          <dgm:dir/>
          <dgm:animOne val="branch"/>
          <dgm:animLvl val="lvl"/>
          <dgm:resizeHandles/>
        </dgm:presLayoutVars>
      </dgm:prSet>
      <dgm:spPr/>
    </dgm:pt>
    <dgm:pt modelId="{52666295-59FD-4E1B-8377-AA62E0DE8576}" type="pres">
      <dgm:prSet presAssocID="{FEB161F2-FB7D-41E6-929C-E3B433AA6D8D}" presName="hierRoot1" presStyleCnt="0">
        <dgm:presLayoutVars>
          <dgm:hierBranch val="init"/>
        </dgm:presLayoutVars>
      </dgm:prSet>
      <dgm:spPr/>
    </dgm:pt>
    <dgm:pt modelId="{D5961407-C556-4C31-88E2-6630DF00C063}" type="pres">
      <dgm:prSet presAssocID="{FEB161F2-FB7D-41E6-929C-E3B433AA6D8D}" presName="rootComposite1" presStyleCnt="0"/>
      <dgm:spPr/>
    </dgm:pt>
    <dgm:pt modelId="{9180F266-C90D-486D-85C6-536439912775}" type="pres">
      <dgm:prSet presAssocID="{FEB161F2-FB7D-41E6-929C-E3B433AA6D8D}" presName="rootText1" presStyleLbl="node0" presStyleIdx="0" presStyleCnt="1" custScaleX="136433" custScaleY="136433" custLinFactY="-49878" custLinFactNeighborX="-11467" custLinFactNeighborY="-100000">
        <dgm:presLayoutVars>
          <dgm:chPref val="3"/>
        </dgm:presLayoutVars>
      </dgm:prSet>
      <dgm:spPr/>
    </dgm:pt>
    <dgm:pt modelId="{2A2AA557-A1C6-4791-9113-D4610C1BEC33}" type="pres">
      <dgm:prSet presAssocID="{FEB161F2-FB7D-41E6-929C-E3B433AA6D8D}" presName="rootConnector1" presStyleLbl="node1" presStyleIdx="0" presStyleCnt="0"/>
      <dgm:spPr/>
    </dgm:pt>
    <dgm:pt modelId="{BCCFCE53-3831-4649-8BC5-839EE8E93AFB}" type="pres">
      <dgm:prSet presAssocID="{FEB161F2-FB7D-41E6-929C-E3B433AA6D8D}" presName="hierChild2" presStyleCnt="0"/>
      <dgm:spPr/>
    </dgm:pt>
    <dgm:pt modelId="{770F65A2-8A8C-4392-A415-688AA892A465}" type="pres">
      <dgm:prSet presAssocID="{4EA04A1E-A9ED-4491-97F9-E6CF392FEB23}" presName="Name37" presStyleLbl="parChTrans1D2" presStyleIdx="0" presStyleCnt="4"/>
      <dgm:spPr/>
    </dgm:pt>
    <dgm:pt modelId="{1E111DF1-9D4B-4110-92BC-D4924A79768A}" type="pres">
      <dgm:prSet presAssocID="{FF3ECFF6-8A6B-4F93-9668-2B94B24EEB5C}" presName="hierRoot2" presStyleCnt="0">
        <dgm:presLayoutVars>
          <dgm:hierBranch val="init"/>
        </dgm:presLayoutVars>
      </dgm:prSet>
      <dgm:spPr/>
    </dgm:pt>
    <dgm:pt modelId="{4371C75D-84CD-44B0-82B7-C2A18751855B}" type="pres">
      <dgm:prSet presAssocID="{FF3ECFF6-8A6B-4F93-9668-2B94B24EEB5C}" presName="rootComposite" presStyleCnt="0"/>
      <dgm:spPr/>
    </dgm:pt>
    <dgm:pt modelId="{6B7AA5D9-719E-4A45-BA19-CFA1976DBB97}" type="pres">
      <dgm:prSet presAssocID="{FF3ECFF6-8A6B-4F93-9668-2B94B24EEB5C}" presName="rootText" presStyleLbl="node2" presStyleIdx="0" presStyleCnt="4" custLinFactY="-12809" custLinFactNeighborX="40136" custLinFactNeighborY="-100000">
        <dgm:presLayoutVars>
          <dgm:chPref val="3"/>
        </dgm:presLayoutVars>
      </dgm:prSet>
      <dgm:spPr/>
    </dgm:pt>
    <dgm:pt modelId="{53DF2121-683D-4A08-AEB8-D8E86AEA65D0}" type="pres">
      <dgm:prSet presAssocID="{FF3ECFF6-8A6B-4F93-9668-2B94B24EEB5C}" presName="rootConnector" presStyleLbl="node2" presStyleIdx="0" presStyleCnt="4"/>
      <dgm:spPr/>
    </dgm:pt>
    <dgm:pt modelId="{DC19E5CB-B61C-4DF5-814B-F113F4D5326A}" type="pres">
      <dgm:prSet presAssocID="{FF3ECFF6-8A6B-4F93-9668-2B94B24EEB5C}" presName="hierChild4" presStyleCnt="0"/>
      <dgm:spPr/>
    </dgm:pt>
    <dgm:pt modelId="{3C3498AD-74B2-4601-95AB-0C8029C717C3}" type="pres">
      <dgm:prSet presAssocID="{FF3ECFF6-8A6B-4F93-9668-2B94B24EEB5C}" presName="hierChild5" presStyleCnt="0"/>
      <dgm:spPr/>
    </dgm:pt>
    <dgm:pt modelId="{26396008-77AE-406A-85F5-A12F25BAA3DA}" type="pres">
      <dgm:prSet presAssocID="{0A0794FE-878D-4A48-BF33-6F145716A350}" presName="Name37" presStyleLbl="parChTrans1D2" presStyleIdx="1" presStyleCnt="4"/>
      <dgm:spPr/>
    </dgm:pt>
    <dgm:pt modelId="{CFCA82EF-39B0-49B6-9050-EE8D31BB2E43}" type="pres">
      <dgm:prSet presAssocID="{6D5BEBEC-472F-4C6B-B826-120C1E122118}" presName="hierRoot2" presStyleCnt="0">
        <dgm:presLayoutVars>
          <dgm:hierBranch val="init"/>
        </dgm:presLayoutVars>
      </dgm:prSet>
      <dgm:spPr/>
    </dgm:pt>
    <dgm:pt modelId="{2068326E-D8E3-448A-A4D7-7EB7C988FEB5}" type="pres">
      <dgm:prSet presAssocID="{6D5BEBEC-472F-4C6B-B826-120C1E122118}" presName="rootComposite" presStyleCnt="0"/>
      <dgm:spPr/>
    </dgm:pt>
    <dgm:pt modelId="{664A9B00-4748-49EA-B33D-E8DCE18FC7A1}" type="pres">
      <dgm:prSet presAssocID="{6D5BEBEC-472F-4C6B-B826-120C1E122118}" presName="rootText" presStyleLbl="node2" presStyleIdx="1" presStyleCnt="4" custLinFactY="11964" custLinFactNeighborX="-43959" custLinFactNeighborY="100000">
        <dgm:presLayoutVars>
          <dgm:chPref val="3"/>
        </dgm:presLayoutVars>
      </dgm:prSet>
      <dgm:spPr/>
    </dgm:pt>
    <dgm:pt modelId="{CBCF9B85-4E36-4739-B340-132FB5C3E781}" type="pres">
      <dgm:prSet presAssocID="{6D5BEBEC-472F-4C6B-B826-120C1E122118}" presName="rootConnector" presStyleLbl="node2" presStyleIdx="1" presStyleCnt="4"/>
      <dgm:spPr/>
    </dgm:pt>
    <dgm:pt modelId="{FAF32187-42D4-498F-8554-FAF0F4EB0607}" type="pres">
      <dgm:prSet presAssocID="{6D5BEBEC-472F-4C6B-B826-120C1E122118}" presName="hierChild4" presStyleCnt="0"/>
      <dgm:spPr/>
    </dgm:pt>
    <dgm:pt modelId="{8C20D425-C408-47C2-9FEF-8747240EC97D}" type="pres">
      <dgm:prSet presAssocID="{6D5BEBEC-472F-4C6B-B826-120C1E122118}" presName="hierChild5" presStyleCnt="0"/>
      <dgm:spPr/>
    </dgm:pt>
    <dgm:pt modelId="{D4981C1F-93FF-448F-A81A-BDDF8738918C}" type="pres">
      <dgm:prSet presAssocID="{4D48FD42-E05E-491F-B953-ACE95E02992D}" presName="Name37" presStyleLbl="parChTrans1D2" presStyleIdx="2" presStyleCnt="4"/>
      <dgm:spPr/>
    </dgm:pt>
    <dgm:pt modelId="{ED143723-3BFC-4408-AF7E-445DA9754A21}" type="pres">
      <dgm:prSet presAssocID="{0B65AF9B-0D7C-4AE7-8C64-1FB53941C3D5}" presName="hierRoot2" presStyleCnt="0">
        <dgm:presLayoutVars>
          <dgm:hierBranch val="init"/>
        </dgm:presLayoutVars>
      </dgm:prSet>
      <dgm:spPr/>
    </dgm:pt>
    <dgm:pt modelId="{61D0008B-9FCD-480C-89A7-5E84E2C258FC}" type="pres">
      <dgm:prSet presAssocID="{0B65AF9B-0D7C-4AE7-8C64-1FB53941C3D5}" presName="rootComposite" presStyleCnt="0"/>
      <dgm:spPr/>
    </dgm:pt>
    <dgm:pt modelId="{73610080-7E54-4ACE-958E-AF0B50E4E96A}" type="pres">
      <dgm:prSet presAssocID="{0B65AF9B-0D7C-4AE7-8C64-1FB53941C3D5}" presName="rootText" presStyleLbl="node2" presStyleIdx="2" presStyleCnt="4" custLinFactNeighborX="53515" custLinFactNeighborY="-62809">
        <dgm:presLayoutVars>
          <dgm:chPref val="3"/>
        </dgm:presLayoutVars>
      </dgm:prSet>
      <dgm:spPr/>
    </dgm:pt>
    <dgm:pt modelId="{EF8A29C4-5F22-407F-ACC3-F4F74076691A}" type="pres">
      <dgm:prSet presAssocID="{0B65AF9B-0D7C-4AE7-8C64-1FB53941C3D5}" presName="rootConnector" presStyleLbl="node2" presStyleIdx="2" presStyleCnt="4"/>
      <dgm:spPr/>
    </dgm:pt>
    <dgm:pt modelId="{323CB44D-0207-494E-9910-720292E151E2}" type="pres">
      <dgm:prSet presAssocID="{0B65AF9B-0D7C-4AE7-8C64-1FB53941C3D5}" presName="hierChild4" presStyleCnt="0"/>
      <dgm:spPr/>
    </dgm:pt>
    <dgm:pt modelId="{A674A5D5-C14B-4398-AAA9-EEFE4FF59819}" type="pres">
      <dgm:prSet presAssocID="{0B65AF9B-0D7C-4AE7-8C64-1FB53941C3D5}" presName="hierChild5" presStyleCnt="0"/>
      <dgm:spPr/>
    </dgm:pt>
    <dgm:pt modelId="{683CF78F-FEC2-4518-BF36-3E4E3FAF60B9}" type="pres">
      <dgm:prSet presAssocID="{094AA1CC-F3D3-4D57-B130-20963B659716}" presName="Name37" presStyleLbl="parChTrans1D2" presStyleIdx="3" presStyleCnt="4"/>
      <dgm:spPr/>
    </dgm:pt>
    <dgm:pt modelId="{E7F7C755-A355-434D-A52F-5A0D0E498655}" type="pres">
      <dgm:prSet presAssocID="{529ECD92-D5EA-4589-9604-9DAB658F1FBD}" presName="hierRoot2" presStyleCnt="0">
        <dgm:presLayoutVars>
          <dgm:hierBranch val="init"/>
        </dgm:presLayoutVars>
      </dgm:prSet>
      <dgm:spPr/>
    </dgm:pt>
    <dgm:pt modelId="{60DBEECA-E01F-45B1-B884-1EFB2BADAEAB}" type="pres">
      <dgm:prSet presAssocID="{529ECD92-D5EA-4589-9604-9DAB658F1FBD}" presName="rootComposite" presStyleCnt="0"/>
      <dgm:spPr/>
    </dgm:pt>
    <dgm:pt modelId="{9962EA2A-1CF7-4A38-80DF-10587F45FAAE}" type="pres">
      <dgm:prSet presAssocID="{529ECD92-D5EA-4589-9604-9DAB658F1FBD}" presName="rootText" presStyleLbl="node2" presStyleIdx="3" presStyleCnt="4" custLinFactX="-29965" custLinFactY="64368" custLinFactNeighborX="-100000" custLinFactNeighborY="100000">
        <dgm:presLayoutVars>
          <dgm:chPref val="3"/>
        </dgm:presLayoutVars>
      </dgm:prSet>
      <dgm:spPr/>
    </dgm:pt>
    <dgm:pt modelId="{DAE352A8-EC13-4D05-BDA6-1243F30B2789}" type="pres">
      <dgm:prSet presAssocID="{529ECD92-D5EA-4589-9604-9DAB658F1FBD}" presName="rootConnector" presStyleLbl="node2" presStyleIdx="3" presStyleCnt="4"/>
      <dgm:spPr/>
    </dgm:pt>
    <dgm:pt modelId="{7094FD93-A9D2-4251-B9E1-1D5324DA9BAC}" type="pres">
      <dgm:prSet presAssocID="{529ECD92-D5EA-4589-9604-9DAB658F1FBD}" presName="hierChild4" presStyleCnt="0"/>
      <dgm:spPr/>
    </dgm:pt>
    <dgm:pt modelId="{0C39F49C-32B7-4F21-AD14-9A3DBE53B46F}" type="pres">
      <dgm:prSet presAssocID="{529ECD92-D5EA-4589-9604-9DAB658F1FBD}" presName="hierChild5" presStyleCnt="0"/>
      <dgm:spPr/>
    </dgm:pt>
    <dgm:pt modelId="{1049D7B2-4C3C-47EA-92CC-381C6F1D0B15}" type="pres">
      <dgm:prSet presAssocID="{FEB161F2-FB7D-41E6-929C-E3B433AA6D8D}" presName="hierChild3" presStyleCnt="0"/>
      <dgm:spPr/>
    </dgm:pt>
  </dgm:ptLst>
  <dgm:cxnLst>
    <dgm:cxn modelId="{D4A6D402-6B50-4178-A4C9-76C7B2D37C34}" type="presOf" srcId="{324119D1-54FD-4C39-A61F-04AEC460BC0A}" destId="{C814E6EF-D345-40FC-9210-7AE196336B7A}" srcOrd="0" destOrd="0" presId="urn:microsoft.com/office/officeart/2005/8/layout/orgChart1"/>
    <dgm:cxn modelId="{06063120-EA33-4EFC-BA43-A0C1B93176EA}" type="presOf" srcId="{529ECD92-D5EA-4589-9604-9DAB658F1FBD}" destId="{DAE352A8-EC13-4D05-BDA6-1243F30B2789}" srcOrd="1" destOrd="0" presId="urn:microsoft.com/office/officeart/2005/8/layout/orgChart1"/>
    <dgm:cxn modelId="{F6E87D26-80A2-4C8F-A3ED-52B458A186F1}" type="presOf" srcId="{6D5BEBEC-472F-4C6B-B826-120C1E122118}" destId="{664A9B00-4748-49EA-B33D-E8DCE18FC7A1}" srcOrd="0" destOrd="0" presId="urn:microsoft.com/office/officeart/2005/8/layout/orgChart1"/>
    <dgm:cxn modelId="{3E8FC033-9D0E-46D4-A7DE-15E29CEF3D7A}" type="presOf" srcId="{FEB161F2-FB7D-41E6-929C-E3B433AA6D8D}" destId="{2A2AA557-A1C6-4791-9113-D4610C1BEC33}" srcOrd="1" destOrd="0" presId="urn:microsoft.com/office/officeart/2005/8/layout/orgChart1"/>
    <dgm:cxn modelId="{5617995E-8752-4F79-A695-13DE7446F354}" srcId="{FEB161F2-FB7D-41E6-929C-E3B433AA6D8D}" destId="{529ECD92-D5EA-4589-9604-9DAB658F1FBD}" srcOrd="3" destOrd="0" parTransId="{094AA1CC-F3D3-4D57-B130-20963B659716}" sibTransId="{79006EEB-C294-4D46-9140-7460A42F78A0}"/>
    <dgm:cxn modelId="{593C8B66-FB81-49C5-A8EC-1BF0E78B87E1}" srcId="{FEB161F2-FB7D-41E6-929C-E3B433AA6D8D}" destId="{6D5BEBEC-472F-4C6B-B826-120C1E122118}" srcOrd="1" destOrd="0" parTransId="{0A0794FE-878D-4A48-BF33-6F145716A350}" sibTransId="{99A33105-4883-468B-ADFB-DAC86A1DDF6A}"/>
    <dgm:cxn modelId="{9FCB3768-2145-4DDB-B4CD-F4C9424EDA60}" type="presOf" srcId="{094AA1CC-F3D3-4D57-B130-20963B659716}" destId="{683CF78F-FEC2-4518-BF36-3E4E3FAF60B9}" srcOrd="0" destOrd="0" presId="urn:microsoft.com/office/officeart/2005/8/layout/orgChart1"/>
    <dgm:cxn modelId="{A3051A4A-1424-4DA9-86CE-B230B2B60679}" type="presOf" srcId="{FF3ECFF6-8A6B-4F93-9668-2B94B24EEB5C}" destId="{6B7AA5D9-719E-4A45-BA19-CFA1976DBB97}" srcOrd="0" destOrd="0" presId="urn:microsoft.com/office/officeart/2005/8/layout/orgChart1"/>
    <dgm:cxn modelId="{B4C5F971-496A-47BB-84F2-003A6EBA533E}" type="presOf" srcId="{0B65AF9B-0D7C-4AE7-8C64-1FB53941C3D5}" destId="{EF8A29C4-5F22-407F-ACC3-F4F74076691A}" srcOrd="1" destOrd="0" presId="urn:microsoft.com/office/officeart/2005/8/layout/orgChart1"/>
    <dgm:cxn modelId="{A115C872-46E0-4954-B02F-0F35770D48FB}" type="presOf" srcId="{0A0794FE-878D-4A48-BF33-6F145716A350}" destId="{26396008-77AE-406A-85F5-A12F25BAA3DA}" srcOrd="0" destOrd="0" presId="urn:microsoft.com/office/officeart/2005/8/layout/orgChart1"/>
    <dgm:cxn modelId="{ED2A7D75-9733-42EE-93D7-25DFD4330E06}" srcId="{324119D1-54FD-4C39-A61F-04AEC460BC0A}" destId="{FEB161F2-FB7D-41E6-929C-E3B433AA6D8D}" srcOrd="0" destOrd="0" parTransId="{D52D41F8-F433-4BF5-B0DD-4D940339636E}" sibTransId="{F7C5E112-61F0-4561-B7B9-0BA453D5AEAC}"/>
    <dgm:cxn modelId="{EF1EB19B-3D23-4DA1-A142-8C7B10384183}" type="presOf" srcId="{4EA04A1E-A9ED-4491-97F9-E6CF392FEB23}" destId="{770F65A2-8A8C-4392-A415-688AA892A465}" srcOrd="0" destOrd="0" presId="urn:microsoft.com/office/officeart/2005/8/layout/orgChart1"/>
    <dgm:cxn modelId="{6106159C-5537-4331-B3A1-9E681FDF8495}" type="presOf" srcId="{0B65AF9B-0D7C-4AE7-8C64-1FB53941C3D5}" destId="{73610080-7E54-4ACE-958E-AF0B50E4E96A}" srcOrd="0" destOrd="0" presId="urn:microsoft.com/office/officeart/2005/8/layout/orgChart1"/>
    <dgm:cxn modelId="{42F772A5-859A-46FF-A86E-F6F3C8146E6D}" srcId="{FEB161F2-FB7D-41E6-929C-E3B433AA6D8D}" destId="{FF3ECFF6-8A6B-4F93-9668-2B94B24EEB5C}" srcOrd="0" destOrd="0" parTransId="{4EA04A1E-A9ED-4491-97F9-E6CF392FEB23}" sibTransId="{6CA101CE-4974-4255-8FD4-659C5B74B2EB}"/>
    <dgm:cxn modelId="{1DD599B0-6382-4497-854A-8A41C0614157}" type="presOf" srcId="{529ECD92-D5EA-4589-9604-9DAB658F1FBD}" destId="{9962EA2A-1CF7-4A38-80DF-10587F45FAAE}" srcOrd="0" destOrd="0" presId="urn:microsoft.com/office/officeart/2005/8/layout/orgChart1"/>
    <dgm:cxn modelId="{171966B9-DA9C-4364-B77E-3DC63ACE580D}" type="presOf" srcId="{4D48FD42-E05E-491F-B953-ACE95E02992D}" destId="{D4981C1F-93FF-448F-A81A-BDDF8738918C}" srcOrd="0" destOrd="0" presId="urn:microsoft.com/office/officeart/2005/8/layout/orgChart1"/>
    <dgm:cxn modelId="{D95984D9-33EF-40FB-8750-54EE01B7377E}" type="presOf" srcId="{FF3ECFF6-8A6B-4F93-9668-2B94B24EEB5C}" destId="{53DF2121-683D-4A08-AEB8-D8E86AEA65D0}" srcOrd="1" destOrd="0" presId="urn:microsoft.com/office/officeart/2005/8/layout/orgChart1"/>
    <dgm:cxn modelId="{61C1ADE3-198F-4901-A5F6-A4EB8DA2EB81}" srcId="{FEB161F2-FB7D-41E6-929C-E3B433AA6D8D}" destId="{0B65AF9B-0D7C-4AE7-8C64-1FB53941C3D5}" srcOrd="2" destOrd="0" parTransId="{4D48FD42-E05E-491F-B953-ACE95E02992D}" sibTransId="{BCAF2DF3-3825-43E6-882A-8EB45CDE3C4A}"/>
    <dgm:cxn modelId="{54DADEEA-2378-435E-9FF9-592B51BC6AFF}" type="presOf" srcId="{6D5BEBEC-472F-4C6B-B826-120C1E122118}" destId="{CBCF9B85-4E36-4739-B340-132FB5C3E781}" srcOrd="1" destOrd="0" presId="urn:microsoft.com/office/officeart/2005/8/layout/orgChart1"/>
    <dgm:cxn modelId="{795AF3FB-2B39-4DCB-86F1-318889DF464B}" type="presOf" srcId="{FEB161F2-FB7D-41E6-929C-E3B433AA6D8D}" destId="{9180F266-C90D-486D-85C6-536439912775}" srcOrd="0" destOrd="0" presId="urn:microsoft.com/office/officeart/2005/8/layout/orgChart1"/>
    <dgm:cxn modelId="{50DDB4F3-F949-4DF0-822B-5995DDA3A45F}" type="presParOf" srcId="{C814E6EF-D345-40FC-9210-7AE196336B7A}" destId="{52666295-59FD-4E1B-8377-AA62E0DE8576}" srcOrd="0" destOrd="0" presId="urn:microsoft.com/office/officeart/2005/8/layout/orgChart1"/>
    <dgm:cxn modelId="{2B8C6E82-174D-4B72-8953-D53A0F622FB1}" type="presParOf" srcId="{52666295-59FD-4E1B-8377-AA62E0DE8576}" destId="{D5961407-C556-4C31-88E2-6630DF00C063}" srcOrd="0" destOrd="0" presId="urn:microsoft.com/office/officeart/2005/8/layout/orgChart1"/>
    <dgm:cxn modelId="{169D7BF2-7D0A-407B-B972-F4535A493614}" type="presParOf" srcId="{D5961407-C556-4C31-88E2-6630DF00C063}" destId="{9180F266-C90D-486D-85C6-536439912775}" srcOrd="0" destOrd="0" presId="urn:microsoft.com/office/officeart/2005/8/layout/orgChart1"/>
    <dgm:cxn modelId="{E1BBC7A4-2B70-41FC-B7AC-368AA1ABF220}" type="presParOf" srcId="{D5961407-C556-4C31-88E2-6630DF00C063}" destId="{2A2AA557-A1C6-4791-9113-D4610C1BEC33}" srcOrd="1" destOrd="0" presId="urn:microsoft.com/office/officeart/2005/8/layout/orgChart1"/>
    <dgm:cxn modelId="{9A750FCC-9FCE-42F5-8C0D-316E524AC326}" type="presParOf" srcId="{52666295-59FD-4E1B-8377-AA62E0DE8576}" destId="{BCCFCE53-3831-4649-8BC5-839EE8E93AFB}" srcOrd="1" destOrd="0" presId="urn:microsoft.com/office/officeart/2005/8/layout/orgChart1"/>
    <dgm:cxn modelId="{A18C5FF0-4FF5-402A-A5B6-9987A26843B2}" type="presParOf" srcId="{BCCFCE53-3831-4649-8BC5-839EE8E93AFB}" destId="{770F65A2-8A8C-4392-A415-688AA892A465}" srcOrd="0" destOrd="0" presId="urn:microsoft.com/office/officeart/2005/8/layout/orgChart1"/>
    <dgm:cxn modelId="{40135E93-6A25-4FEC-B130-A3DACBA6004D}" type="presParOf" srcId="{BCCFCE53-3831-4649-8BC5-839EE8E93AFB}" destId="{1E111DF1-9D4B-4110-92BC-D4924A79768A}" srcOrd="1" destOrd="0" presId="urn:microsoft.com/office/officeart/2005/8/layout/orgChart1"/>
    <dgm:cxn modelId="{2E519C0A-1EFD-46BB-88A2-99A62E1B93A9}" type="presParOf" srcId="{1E111DF1-9D4B-4110-92BC-D4924A79768A}" destId="{4371C75D-84CD-44B0-82B7-C2A18751855B}" srcOrd="0" destOrd="0" presId="urn:microsoft.com/office/officeart/2005/8/layout/orgChart1"/>
    <dgm:cxn modelId="{39140578-804A-4E4A-A4DB-A899E9E45B12}" type="presParOf" srcId="{4371C75D-84CD-44B0-82B7-C2A18751855B}" destId="{6B7AA5D9-719E-4A45-BA19-CFA1976DBB97}" srcOrd="0" destOrd="0" presId="urn:microsoft.com/office/officeart/2005/8/layout/orgChart1"/>
    <dgm:cxn modelId="{16CBFF1E-8DD1-4F70-B740-1E19054D20DF}" type="presParOf" srcId="{4371C75D-84CD-44B0-82B7-C2A18751855B}" destId="{53DF2121-683D-4A08-AEB8-D8E86AEA65D0}" srcOrd="1" destOrd="0" presId="urn:microsoft.com/office/officeart/2005/8/layout/orgChart1"/>
    <dgm:cxn modelId="{43DC948A-C9C1-4401-BD11-EE710F7B9E75}" type="presParOf" srcId="{1E111DF1-9D4B-4110-92BC-D4924A79768A}" destId="{DC19E5CB-B61C-4DF5-814B-F113F4D5326A}" srcOrd="1" destOrd="0" presId="urn:microsoft.com/office/officeart/2005/8/layout/orgChart1"/>
    <dgm:cxn modelId="{C77DE356-AC2D-48C1-8CFE-ED243939EDA8}" type="presParOf" srcId="{1E111DF1-9D4B-4110-92BC-D4924A79768A}" destId="{3C3498AD-74B2-4601-95AB-0C8029C717C3}" srcOrd="2" destOrd="0" presId="urn:microsoft.com/office/officeart/2005/8/layout/orgChart1"/>
    <dgm:cxn modelId="{00D70ED2-597B-4F98-94A1-A8BF242CC4CD}" type="presParOf" srcId="{BCCFCE53-3831-4649-8BC5-839EE8E93AFB}" destId="{26396008-77AE-406A-85F5-A12F25BAA3DA}" srcOrd="2" destOrd="0" presId="urn:microsoft.com/office/officeart/2005/8/layout/orgChart1"/>
    <dgm:cxn modelId="{B753859A-983F-4EB1-80EE-4BE51687F960}" type="presParOf" srcId="{BCCFCE53-3831-4649-8BC5-839EE8E93AFB}" destId="{CFCA82EF-39B0-49B6-9050-EE8D31BB2E43}" srcOrd="3" destOrd="0" presId="urn:microsoft.com/office/officeart/2005/8/layout/orgChart1"/>
    <dgm:cxn modelId="{79E6FCDA-93C9-4D23-99CA-AC5528F805C0}" type="presParOf" srcId="{CFCA82EF-39B0-49B6-9050-EE8D31BB2E43}" destId="{2068326E-D8E3-448A-A4D7-7EB7C988FEB5}" srcOrd="0" destOrd="0" presId="urn:microsoft.com/office/officeart/2005/8/layout/orgChart1"/>
    <dgm:cxn modelId="{DFBFFD7D-5F13-439E-BA22-6C919EE6F5D8}" type="presParOf" srcId="{2068326E-D8E3-448A-A4D7-7EB7C988FEB5}" destId="{664A9B00-4748-49EA-B33D-E8DCE18FC7A1}" srcOrd="0" destOrd="0" presId="urn:microsoft.com/office/officeart/2005/8/layout/orgChart1"/>
    <dgm:cxn modelId="{D6EE771F-14A2-413C-9377-FEE8236B4364}" type="presParOf" srcId="{2068326E-D8E3-448A-A4D7-7EB7C988FEB5}" destId="{CBCF9B85-4E36-4739-B340-132FB5C3E781}" srcOrd="1" destOrd="0" presId="urn:microsoft.com/office/officeart/2005/8/layout/orgChart1"/>
    <dgm:cxn modelId="{BAFC9826-8A14-4F0A-A1C2-268FFE86297B}" type="presParOf" srcId="{CFCA82EF-39B0-49B6-9050-EE8D31BB2E43}" destId="{FAF32187-42D4-498F-8554-FAF0F4EB0607}" srcOrd="1" destOrd="0" presId="urn:microsoft.com/office/officeart/2005/8/layout/orgChart1"/>
    <dgm:cxn modelId="{FCEEF0E0-907E-4301-ADE1-8DDD123B6583}" type="presParOf" srcId="{CFCA82EF-39B0-49B6-9050-EE8D31BB2E43}" destId="{8C20D425-C408-47C2-9FEF-8747240EC97D}" srcOrd="2" destOrd="0" presId="urn:microsoft.com/office/officeart/2005/8/layout/orgChart1"/>
    <dgm:cxn modelId="{770CC584-0DC3-428B-9D75-7D25DEA03820}" type="presParOf" srcId="{BCCFCE53-3831-4649-8BC5-839EE8E93AFB}" destId="{D4981C1F-93FF-448F-A81A-BDDF8738918C}" srcOrd="4" destOrd="0" presId="urn:microsoft.com/office/officeart/2005/8/layout/orgChart1"/>
    <dgm:cxn modelId="{3D0CEA8E-D9EE-4829-92A1-5305AFB63457}" type="presParOf" srcId="{BCCFCE53-3831-4649-8BC5-839EE8E93AFB}" destId="{ED143723-3BFC-4408-AF7E-445DA9754A21}" srcOrd="5" destOrd="0" presId="urn:microsoft.com/office/officeart/2005/8/layout/orgChart1"/>
    <dgm:cxn modelId="{C83B7D20-D14F-4C4B-A343-6ED409DC482E}" type="presParOf" srcId="{ED143723-3BFC-4408-AF7E-445DA9754A21}" destId="{61D0008B-9FCD-480C-89A7-5E84E2C258FC}" srcOrd="0" destOrd="0" presId="urn:microsoft.com/office/officeart/2005/8/layout/orgChart1"/>
    <dgm:cxn modelId="{58F67CCF-DC4B-4675-9EF7-82F6B59CAB4C}" type="presParOf" srcId="{61D0008B-9FCD-480C-89A7-5E84E2C258FC}" destId="{73610080-7E54-4ACE-958E-AF0B50E4E96A}" srcOrd="0" destOrd="0" presId="urn:microsoft.com/office/officeart/2005/8/layout/orgChart1"/>
    <dgm:cxn modelId="{9F26F986-7BA5-4498-882F-2A81499EEE21}" type="presParOf" srcId="{61D0008B-9FCD-480C-89A7-5E84E2C258FC}" destId="{EF8A29C4-5F22-407F-ACC3-F4F74076691A}" srcOrd="1" destOrd="0" presId="urn:microsoft.com/office/officeart/2005/8/layout/orgChart1"/>
    <dgm:cxn modelId="{399C8689-6B20-431E-B0D7-FBF4D6290A55}" type="presParOf" srcId="{ED143723-3BFC-4408-AF7E-445DA9754A21}" destId="{323CB44D-0207-494E-9910-720292E151E2}" srcOrd="1" destOrd="0" presId="urn:microsoft.com/office/officeart/2005/8/layout/orgChart1"/>
    <dgm:cxn modelId="{2FB589D8-57E9-49D1-AC38-3FC27C434C81}" type="presParOf" srcId="{ED143723-3BFC-4408-AF7E-445DA9754A21}" destId="{A674A5D5-C14B-4398-AAA9-EEFE4FF59819}" srcOrd="2" destOrd="0" presId="urn:microsoft.com/office/officeart/2005/8/layout/orgChart1"/>
    <dgm:cxn modelId="{F2C560F4-04F1-4363-83D0-0D507BBA0A66}" type="presParOf" srcId="{BCCFCE53-3831-4649-8BC5-839EE8E93AFB}" destId="{683CF78F-FEC2-4518-BF36-3E4E3FAF60B9}" srcOrd="6" destOrd="0" presId="urn:microsoft.com/office/officeart/2005/8/layout/orgChart1"/>
    <dgm:cxn modelId="{B97056B7-008F-438D-83BB-B17FFCE97AD2}" type="presParOf" srcId="{BCCFCE53-3831-4649-8BC5-839EE8E93AFB}" destId="{E7F7C755-A355-434D-A52F-5A0D0E498655}" srcOrd="7" destOrd="0" presId="urn:microsoft.com/office/officeart/2005/8/layout/orgChart1"/>
    <dgm:cxn modelId="{0AF7DD08-952F-47DB-B7B7-157680039D02}" type="presParOf" srcId="{E7F7C755-A355-434D-A52F-5A0D0E498655}" destId="{60DBEECA-E01F-45B1-B884-1EFB2BADAEAB}" srcOrd="0" destOrd="0" presId="urn:microsoft.com/office/officeart/2005/8/layout/orgChart1"/>
    <dgm:cxn modelId="{08451324-C9F9-4177-8A0F-BF2A007D5402}" type="presParOf" srcId="{60DBEECA-E01F-45B1-B884-1EFB2BADAEAB}" destId="{9962EA2A-1CF7-4A38-80DF-10587F45FAAE}" srcOrd="0" destOrd="0" presId="urn:microsoft.com/office/officeart/2005/8/layout/orgChart1"/>
    <dgm:cxn modelId="{42623D35-708F-4C64-B017-7782643B1A50}" type="presParOf" srcId="{60DBEECA-E01F-45B1-B884-1EFB2BADAEAB}" destId="{DAE352A8-EC13-4D05-BDA6-1243F30B2789}" srcOrd="1" destOrd="0" presId="urn:microsoft.com/office/officeart/2005/8/layout/orgChart1"/>
    <dgm:cxn modelId="{EE33D8D3-F02D-47AC-8C69-974FC1F3403C}" type="presParOf" srcId="{E7F7C755-A355-434D-A52F-5A0D0E498655}" destId="{7094FD93-A9D2-4251-B9E1-1D5324DA9BAC}" srcOrd="1" destOrd="0" presId="urn:microsoft.com/office/officeart/2005/8/layout/orgChart1"/>
    <dgm:cxn modelId="{B44320BA-7B98-49EE-AB9E-A76E0C7B73BE}" type="presParOf" srcId="{E7F7C755-A355-434D-A52F-5A0D0E498655}" destId="{0C39F49C-32B7-4F21-AD14-9A3DBE53B46F}" srcOrd="2" destOrd="0" presId="urn:microsoft.com/office/officeart/2005/8/layout/orgChart1"/>
    <dgm:cxn modelId="{78AA1373-A8EE-40F8-BA33-D9F3B037A9C6}" type="presParOf" srcId="{52666295-59FD-4E1B-8377-AA62E0DE8576}" destId="{1049D7B2-4C3C-47EA-92CC-381C6F1D0B1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8B21D82-7BF9-49EA-AC93-09F5A459100C}"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n-US"/>
        </a:p>
      </dgm:t>
    </dgm:pt>
    <dgm:pt modelId="{3745901F-8FB7-4DD5-A6E8-9B6B2D823502}">
      <dgm:prSet phldrT="[Text]"/>
      <dgm:spPr/>
      <dgm:t>
        <a:bodyPr/>
        <a:lstStyle/>
        <a:p>
          <a:r>
            <a:rPr lang="en-US" dirty="0"/>
            <a:t>5</a:t>
          </a:r>
        </a:p>
      </dgm:t>
    </dgm:pt>
    <dgm:pt modelId="{5F29DACA-08A4-4622-8605-94A0FD32C79E}" type="parTrans" cxnId="{ECAE7621-FA71-4ECA-A959-FA0D9F381930}">
      <dgm:prSet/>
      <dgm:spPr/>
      <dgm:t>
        <a:bodyPr/>
        <a:lstStyle/>
        <a:p>
          <a:endParaRPr lang="en-US"/>
        </a:p>
      </dgm:t>
    </dgm:pt>
    <dgm:pt modelId="{CE1234B4-D074-47C5-941C-6A0010321612}" type="sibTrans" cxnId="{ECAE7621-FA71-4ECA-A959-FA0D9F381930}">
      <dgm:prSet/>
      <dgm:spPr/>
      <dgm:t>
        <a:bodyPr/>
        <a:lstStyle/>
        <a:p>
          <a:endParaRPr lang="en-US"/>
        </a:p>
      </dgm:t>
    </dgm:pt>
    <dgm:pt modelId="{696E7649-503A-473B-86C9-EB189BA5AD2F}">
      <dgm:prSet phldrT="[Text]"/>
      <dgm:spPr/>
      <dgm:t>
        <a:bodyPr/>
        <a:lstStyle/>
        <a:p>
          <a:r>
            <a:rPr lang="en-US" dirty="0"/>
            <a:t>2</a:t>
          </a:r>
        </a:p>
      </dgm:t>
    </dgm:pt>
    <dgm:pt modelId="{FD24F6E3-7C13-4869-AF17-E2AB770542B4}" type="parTrans" cxnId="{CBDCE0CB-9B8F-4371-A4B4-E810A36607B6}">
      <dgm:prSet/>
      <dgm:spPr/>
      <dgm:t>
        <a:bodyPr/>
        <a:lstStyle/>
        <a:p>
          <a:endParaRPr lang="en-US"/>
        </a:p>
      </dgm:t>
    </dgm:pt>
    <dgm:pt modelId="{B1AAC703-CFB5-45A0-A565-ED2BD60B310B}" type="sibTrans" cxnId="{CBDCE0CB-9B8F-4371-A4B4-E810A36607B6}">
      <dgm:prSet/>
      <dgm:spPr/>
      <dgm:t>
        <a:bodyPr/>
        <a:lstStyle/>
        <a:p>
          <a:endParaRPr lang="en-US"/>
        </a:p>
      </dgm:t>
    </dgm:pt>
    <dgm:pt modelId="{7D7A3A43-3897-4756-8862-7FE7642515A8}">
      <dgm:prSet phldrT="[Text]"/>
      <dgm:spPr/>
      <dgm:t>
        <a:bodyPr/>
        <a:lstStyle/>
        <a:p>
          <a:r>
            <a:rPr lang="en-US" dirty="0"/>
            <a:t>4</a:t>
          </a:r>
        </a:p>
      </dgm:t>
    </dgm:pt>
    <dgm:pt modelId="{BB28E8B0-FDF8-4BF1-9132-7CBFDAD0653D}" type="parTrans" cxnId="{1193D32C-5479-4F8D-8228-4AA7C6DE9DC1}">
      <dgm:prSet/>
      <dgm:spPr/>
      <dgm:t>
        <a:bodyPr/>
        <a:lstStyle/>
        <a:p>
          <a:endParaRPr lang="en-US"/>
        </a:p>
      </dgm:t>
    </dgm:pt>
    <dgm:pt modelId="{7734AA67-D319-45F2-9246-D00A83E77230}" type="sibTrans" cxnId="{1193D32C-5479-4F8D-8228-4AA7C6DE9DC1}">
      <dgm:prSet/>
      <dgm:spPr/>
      <dgm:t>
        <a:bodyPr/>
        <a:lstStyle/>
        <a:p>
          <a:endParaRPr lang="en-US"/>
        </a:p>
      </dgm:t>
    </dgm:pt>
    <dgm:pt modelId="{C83231B3-82EC-4B64-A4AA-D68398239F77}">
      <dgm:prSet phldrT="[Text]"/>
      <dgm:spPr/>
      <dgm:t>
        <a:bodyPr/>
        <a:lstStyle/>
        <a:p>
          <a:r>
            <a:rPr lang="en-US" dirty="0"/>
            <a:t>1</a:t>
          </a:r>
        </a:p>
      </dgm:t>
    </dgm:pt>
    <dgm:pt modelId="{4BF4C6CF-FF10-40C4-8FF9-3F282C8DB0A6}" type="parTrans" cxnId="{AA70693D-E072-4DB1-AC80-26F883B10707}">
      <dgm:prSet/>
      <dgm:spPr/>
      <dgm:t>
        <a:bodyPr/>
        <a:lstStyle/>
        <a:p>
          <a:endParaRPr lang="en-US"/>
        </a:p>
      </dgm:t>
    </dgm:pt>
    <dgm:pt modelId="{F561A100-C417-4CF9-9D41-415CB75299D8}" type="sibTrans" cxnId="{AA70693D-E072-4DB1-AC80-26F883B10707}">
      <dgm:prSet/>
      <dgm:spPr/>
      <dgm:t>
        <a:bodyPr/>
        <a:lstStyle/>
        <a:p>
          <a:endParaRPr lang="en-US"/>
        </a:p>
      </dgm:t>
    </dgm:pt>
    <dgm:pt modelId="{8D579369-40DF-4E9F-BB05-DBA55210704C}" type="pres">
      <dgm:prSet presAssocID="{A8B21D82-7BF9-49EA-AC93-09F5A459100C}" presName="cycle" presStyleCnt="0">
        <dgm:presLayoutVars>
          <dgm:chMax val="1"/>
          <dgm:dir/>
          <dgm:animLvl val="ctr"/>
          <dgm:resizeHandles val="exact"/>
        </dgm:presLayoutVars>
      </dgm:prSet>
      <dgm:spPr/>
    </dgm:pt>
    <dgm:pt modelId="{FDBB9F43-2DD5-4202-BB46-F1AA1AF350AE}" type="pres">
      <dgm:prSet presAssocID="{3745901F-8FB7-4DD5-A6E8-9B6B2D823502}" presName="centerShape" presStyleLbl="node0" presStyleIdx="0" presStyleCnt="1" custLinFactNeighborX="1697" custLinFactNeighborY="-35257"/>
      <dgm:spPr/>
    </dgm:pt>
    <dgm:pt modelId="{DB4F9994-C991-41AB-87D6-DED144878337}" type="pres">
      <dgm:prSet presAssocID="{FD24F6E3-7C13-4869-AF17-E2AB770542B4}" presName="Name9" presStyleLbl="parChTrans1D2" presStyleIdx="0" presStyleCnt="3"/>
      <dgm:spPr/>
    </dgm:pt>
    <dgm:pt modelId="{99DA5A62-B2B7-4CD9-B676-39EF17C5F324}" type="pres">
      <dgm:prSet presAssocID="{FD24F6E3-7C13-4869-AF17-E2AB770542B4}" presName="connTx" presStyleLbl="parChTrans1D2" presStyleIdx="0" presStyleCnt="3"/>
      <dgm:spPr/>
    </dgm:pt>
    <dgm:pt modelId="{BFE7E4DE-6FB8-4995-8515-C042872F4779}" type="pres">
      <dgm:prSet presAssocID="{696E7649-503A-473B-86C9-EB189BA5AD2F}" presName="node" presStyleLbl="node1" presStyleIdx="0" presStyleCnt="3" custRadScaleRad="132472" custRadScaleInc="-80525">
        <dgm:presLayoutVars>
          <dgm:bulletEnabled val="1"/>
        </dgm:presLayoutVars>
      </dgm:prSet>
      <dgm:spPr/>
    </dgm:pt>
    <dgm:pt modelId="{4B99B4E7-0924-4568-B7A6-BE5F5BDEB54D}" type="pres">
      <dgm:prSet presAssocID="{BB28E8B0-FDF8-4BF1-9132-7CBFDAD0653D}" presName="Name9" presStyleLbl="parChTrans1D2" presStyleIdx="1" presStyleCnt="3"/>
      <dgm:spPr/>
    </dgm:pt>
    <dgm:pt modelId="{D076E0FE-FF50-45E0-AFEE-A416FA802B11}" type="pres">
      <dgm:prSet presAssocID="{BB28E8B0-FDF8-4BF1-9132-7CBFDAD0653D}" presName="connTx" presStyleLbl="parChTrans1D2" presStyleIdx="1" presStyleCnt="3"/>
      <dgm:spPr/>
    </dgm:pt>
    <dgm:pt modelId="{B32A80B9-EDE1-4790-AABF-9591D38A3FA6}" type="pres">
      <dgm:prSet presAssocID="{7D7A3A43-3897-4756-8862-7FE7642515A8}" presName="node" presStyleLbl="node1" presStyleIdx="1" presStyleCnt="3" custRadScaleRad="67425" custRadScaleInc="54748">
        <dgm:presLayoutVars>
          <dgm:bulletEnabled val="1"/>
        </dgm:presLayoutVars>
      </dgm:prSet>
      <dgm:spPr/>
    </dgm:pt>
    <dgm:pt modelId="{17E39401-7369-45AC-A3E1-CECF340053CF}" type="pres">
      <dgm:prSet presAssocID="{4BF4C6CF-FF10-40C4-8FF9-3F282C8DB0A6}" presName="Name9" presStyleLbl="parChTrans1D2" presStyleIdx="2" presStyleCnt="3"/>
      <dgm:spPr/>
    </dgm:pt>
    <dgm:pt modelId="{E9068F23-0809-48CD-B3E9-21D57315583C}" type="pres">
      <dgm:prSet presAssocID="{4BF4C6CF-FF10-40C4-8FF9-3F282C8DB0A6}" presName="connTx" presStyleLbl="parChTrans1D2" presStyleIdx="2" presStyleCnt="3"/>
      <dgm:spPr/>
    </dgm:pt>
    <dgm:pt modelId="{98FE53C9-6AE5-4D4A-AC8C-F650C4E64AE3}" type="pres">
      <dgm:prSet presAssocID="{C83231B3-82EC-4B64-A4AA-D68398239F77}" presName="node" presStyleLbl="node1" presStyleIdx="2" presStyleCnt="3">
        <dgm:presLayoutVars>
          <dgm:bulletEnabled val="1"/>
        </dgm:presLayoutVars>
      </dgm:prSet>
      <dgm:spPr/>
    </dgm:pt>
  </dgm:ptLst>
  <dgm:cxnLst>
    <dgm:cxn modelId="{B2980807-8355-4B2F-96EC-321D9D073202}" type="presOf" srcId="{BB28E8B0-FDF8-4BF1-9132-7CBFDAD0653D}" destId="{D076E0FE-FF50-45E0-AFEE-A416FA802B11}" srcOrd="1" destOrd="0" presId="urn:microsoft.com/office/officeart/2005/8/layout/radial1"/>
    <dgm:cxn modelId="{B3DC790C-2703-454C-B437-0A021C1C15F9}" type="presOf" srcId="{7D7A3A43-3897-4756-8862-7FE7642515A8}" destId="{B32A80B9-EDE1-4790-AABF-9591D38A3FA6}" srcOrd="0" destOrd="0" presId="urn:microsoft.com/office/officeart/2005/8/layout/radial1"/>
    <dgm:cxn modelId="{ECAE7621-FA71-4ECA-A959-FA0D9F381930}" srcId="{A8B21D82-7BF9-49EA-AC93-09F5A459100C}" destId="{3745901F-8FB7-4DD5-A6E8-9B6B2D823502}" srcOrd="0" destOrd="0" parTransId="{5F29DACA-08A4-4622-8605-94A0FD32C79E}" sibTransId="{CE1234B4-D074-47C5-941C-6A0010321612}"/>
    <dgm:cxn modelId="{1193D32C-5479-4F8D-8228-4AA7C6DE9DC1}" srcId="{3745901F-8FB7-4DD5-A6E8-9B6B2D823502}" destId="{7D7A3A43-3897-4756-8862-7FE7642515A8}" srcOrd="1" destOrd="0" parTransId="{BB28E8B0-FDF8-4BF1-9132-7CBFDAD0653D}" sibTransId="{7734AA67-D319-45F2-9246-D00A83E77230}"/>
    <dgm:cxn modelId="{87B48C2E-5C3A-4FFD-9875-D33146CB9039}" type="presOf" srcId="{C83231B3-82EC-4B64-A4AA-D68398239F77}" destId="{98FE53C9-6AE5-4D4A-AC8C-F650C4E64AE3}" srcOrd="0" destOrd="0" presId="urn:microsoft.com/office/officeart/2005/8/layout/radial1"/>
    <dgm:cxn modelId="{AA70693D-E072-4DB1-AC80-26F883B10707}" srcId="{3745901F-8FB7-4DD5-A6E8-9B6B2D823502}" destId="{C83231B3-82EC-4B64-A4AA-D68398239F77}" srcOrd="2" destOrd="0" parTransId="{4BF4C6CF-FF10-40C4-8FF9-3F282C8DB0A6}" sibTransId="{F561A100-C417-4CF9-9D41-415CB75299D8}"/>
    <dgm:cxn modelId="{AF772A3E-470F-4F86-BBF5-FC0182C0E1E3}" type="presOf" srcId="{FD24F6E3-7C13-4869-AF17-E2AB770542B4}" destId="{99DA5A62-B2B7-4CD9-B676-39EF17C5F324}" srcOrd="1" destOrd="0" presId="urn:microsoft.com/office/officeart/2005/8/layout/radial1"/>
    <dgm:cxn modelId="{4E112E63-6E7A-4250-A2FC-159F2B1E7EF6}" type="presOf" srcId="{4BF4C6CF-FF10-40C4-8FF9-3F282C8DB0A6}" destId="{17E39401-7369-45AC-A3E1-CECF340053CF}" srcOrd="0" destOrd="0" presId="urn:microsoft.com/office/officeart/2005/8/layout/radial1"/>
    <dgm:cxn modelId="{664FB66E-95A9-4376-979D-9427E1CB05AC}" type="presOf" srcId="{A8B21D82-7BF9-49EA-AC93-09F5A459100C}" destId="{8D579369-40DF-4E9F-BB05-DBA55210704C}" srcOrd="0" destOrd="0" presId="urn:microsoft.com/office/officeart/2005/8/layout/radial1"/>
    <dgm:cxn modelId="{38029C51-7BDE-4244-A514-6DC07B235AED}" type="presOf" srcId="{4BF4C6CF-FF10-40C4-8FF9-3F282C8DB0A6}" destId="{E9068F23-0809-48CD-B3E9-21D57315583C}" srcOrd="1" destOrd="0" presId="urn:microsoft.com/office/officeart/2005/8/layout/radial1"/>
    <dgm:cxn modelId="{322BEDB7-8D0C-4C89-8C08-63345494081F}" type="presOf" srcId="{FD24F6E3-7C13-4869-AF17-E2AB770542B4}" destId="{DB4F9994-C991-41AB-87D6-DED144878337}" srcOrd="0" destOrd="0" presId="urn:microsoft.com/office/officeart/2005/8/layout/radial1"/>
    <dgm:cxn modelId="{8FEC7BC5-E1C5-4DA5-8E3D-B1DEBB897753}" type="presOf" srcId="{BB28E8B0-FDF8-4BF1-9132-7CBFDAD0653D}" destId="{4B99B4E7-0924-4568-B7A6-BE5F5BDEB54D}" srcOrd="0" destOrd="0" presId="urn:microsoft.com/office/officeart/2005/8/layout/radial1"/>
    <dgm:cxn modelId="{CBDCE0CB-9B8F-4371-A4B4-E810A36607B6}" srcId="{3745901F-8FB7-4DD5-A6E8-9B6B2D823502}" destId="{696E7649-503A-473B-86C9-EB189BA5AD2F}" srcOrd="0" destOrd="0" parTransId="{FD24F6E3-7C13-4869-AF17-E2AB770542B4}" sibTransId="{B1AAC703-CFB5-45A0-A565-ED2BD60B310B}"/>
    <dgm:cxn modelId="{93BDA6D2-F857-4CF1-A20C-6A5677A3F27D}" type="presOf" srcId="{3745901F-8FB7-4DD5-A6E8-9B6B2D823502}" destId="{FDBB9F43-2DD5-4202-BB46-F1AA1AF350AE}" srcOrd="0" destOrd="0" presId="urn:microsoft.com/office/officeart/2005/8/layout/radial1"/>
    <dgm:cxn modelId="{181263E5-A2DA-45CB-BF08-7ED32E358E55}" type="presOf" srcId="{696E7649-503A-473B-86C9-EB189BA5AD2F}" destId="{BFE7E4DE-6FB8-4995-8515-C042872F4779}" srcOrd="0" destOrd="0" presId="urn:microsoft.com/office/officeart/2005/8/layout/radial1"/>
    <dgm:cxn modelId="{933DDDC1-4C4D-4067-941E-28D44029408D}" type="presParOf" srcId="{8D579369-40DF-4E9F-BB05-DBA55210704C}" destId="{FDBB9F43-2DD5-4202-BB46-F1AA1AF350AE}" srcOrd="0" destOrd="0" presId="urn:microsoft.com/office/officeart/2005/8/layout/radial1"/>
    <dgm:cxn modelId="{2AA3A1C1-80FF-408F-B299-844A6E486CDA}" type="presParOf" srcId="{8D579369-40DF-4E9F-BB05-DBA55210704C}" destId="{DB4F9994-C991-41AB-87D6-DED144878337}" srcOrd="1" destOrd="0" presId="urn:microsoft.com/office/officeart/2005/8/layout/radial1"/>
    <dgm:cxn modelId="{D90C11A0-54BA-4E76-A291-96AEB39DB8C7}" type="presParOf" srcId="{DB4F9994-C991-41AB-87D6-DED144878337}" destId="{99DA5A62-B2B7-4CD9-B676-39EF17C5F324}" srcOrd="0" destOrd="0" presId="urn:microsoft.com/office/officeart/2005/8/layout/radial1"/>
    <dgm:cxn modelId="{66AC47CA-893D-4634-AA62-8D1DFCFB162D}" type="presParOf" srcId="{8D579369-40DF-4E9F-BB05-DBA55210704C}" destId="{BFE7E4DE-6FB8-4995-8515-C042872F4779}" srcOrd="2" destOrd="0" presId="urn:microsoft.com/office/officeart/2005/8/layout/radial1"/>
    <dgm:cxn modelId="{32A4A7AD-29D2-4151-85B8-6CF632D43BF3}" type="presParOf" srcId="{8D579369-40DF-4E9F-BB05-DBA55210704C}" destId="{4B99B4E7-0924-4568-B7A6-BE5F5BDEB54D}" srcOrd="3" destOrd="0" presId="urn:microsoft.com/office/officeart/2005/8/layout/radial1"/>
    <dgm:cxn modelId="{FAE4EF8D-B10A-4120-8B92-AC6F8DB65EBA}" type="presParOf" srcId="{4B99B4E7-0924-4568-B7A6-BE5F5BDEB54D}" destId="{D076E0FE-FF50-45E0-AFEE-A416FA802B11}" srcOrd="0" destOrd="0" presId="urn:microsoft.com/office/officeart/2005/8/layout/radial1"/>
    <dgm:cxn modelId="{0CF04421-5866-448D-BEDB-6918E42CB527}" type="presParOf" srcId="{8D579369-40DF-4E9F-BB05-DBA55210704C}" destId="{B32A80B9-EDE1-4790-AABF-9591D38A3FA6}" srcOrd="4" destOrd="0" presId="urn:microsoft.com/office/officeart/2005/8/layout/radial1"/>
    <dgm:cxn modelId="{DB8CA4B9-FA2D-4890-B46C-56333438D22C}" type="presParOf" srcId="{8D579369-40DF-4E9F-BB05-DBA55210704C}" destId="{17E39401-7369-45AC-A3E1-CECF340053CF}" srcOrd="5" destOrd="0" presId="urn:microsoft.com/office/officeart/2005/8/layout/radial1"/>
    <dgm:cxn modelId="{2E8D3BD2-CE9F-41C0-BF7D-6F096A135535}" type="presParOf" srcId="{17E39401-7369-45AC-A3E1-CECF340053CF}" destId="{E9068F23-0809-48CD-B3E9-21D57315583C}" srcOrd="0" destOrd="0" presId="urn:microsoft.com/office/officeart/2005/8/layout/radial1"/>
    <dgm:cxn modelId="{8B908767-089E-430C-9180-7EEF7C5B273F}" type="presParOf" srcId="{8D579369-40DF-4E9F-BB05-DBA55210704C}" destId="{98FE53C9-6AE5-4D4A-AC8C-F650C4E64AE3}" srcOrd="6"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8B21D82-7BF9-49EA-AC93-09F5A459100C}"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n-US"/>
        </a:p>
      </dgm:t>
    </dgm:pt>
    <dgm:pt modelId="{3745901F-8FB7-4DD5-A6E8-9B6B2D823502}">
      <dgm:prSet phldrT="[Text]"/>
      <dgm:spPr/>
      <dgm:t>
        <a:bodyPr/>
        <a:lstStyle/>
        <a:p>
          <a:r>
            <a:rPr lang="en-US" dirty="0"/>
            <a:t>6</a:t>
          </a:r>
        </a:p>
      </dgm:t>
    </dgm:pt>
    <dgm:pt modelId="{5F29DACA-08A4-4622-8605-94A0FD32C79E}" type="parTrans" cxnId="{ECAE7621-FA71-4ECA-A959-FA0D9F381930}">
      <dgm:prSet/>
      <dgm:spPr/>
      <dgm:t>
        <a:bodyPr/>
        <a:lstStyle/>
        <a:p>
          <a:endParaRPr lang="en-US"/>
        </a:p>
      </dgm:t>
    </dgm:pt>
    <dgm:pt modelId="{CE1234B4-D074-47C5-941C-6A0010321612}" type="sibTrans" cxnId="{ECAE7621-FA71-4ECA-A959-FA0D9F381930}">
      <dgm:prSet/>
      <dgm:spPr/>
      <dgm:t>
        <a:bodyPr/>
        <a:lstStyle/>
        <a:p>
          <a:endParaRPr lang="en-US"/>
        </a:p>
      </dgm:t>
    </dgm:pt>
    <dgm:pt modelId="{696E7649-503A-473B-86C9-EB189BA5AD2F}">
      <dgm:prSet phldrT="[Text]"/>
      <dgm:spPr/>
      <dgm:t>
        <a:bodyPr/>
        <a:lstStyle/>
        <a:p>
          <a:r>
            <a:rPr lang="en-US" dirty="0"/>
            <a:t>3</a:t>
          </a:r>
        </a:p>
      </dgm:t>
    </dgm:pt>
    <dgm:pt modelId="{FD24F6E3-7C13-4869-AF17-E2AB770542B4}" type="parTrans" cxnId="{CBDCE0CB-9B8F-4371-A4B4-E810A36607B6}">
      <dgm:prSet/>
      <dgm:spPr/>
      <dgm:t>
        <a:bodyPr/>
        <a:lstStyle/>
        <a:p>
          <a:endParaRPr lang="en-US"/>
        </a:p>
      </dgm:t>
    </dgm:pt>
    <dgm:pt modelId="{B1AAC703-CFB5-45A0-A565-ED2BD60B310B}" type="sibTrans" cxnId="{CBDCE0CB-9B8F-4371-A4B4-E810A36607B6}">
      <dgm:prSet/>
      <dgm:spPr/>
      <dgm:t>
        <a:bodyPr/>
        <a:lstStyle/>
        <a:p>
          <a:endParaRPr lang="en-US"/>
        </a:p>
      </dgm:t>
    </dgm:pt>
    <dgm:pt modelId="{7D7A3A43-3897-4756-8862-7FE7642515A8}">
      <dgm:prSet phldrT="[Text]"/>
      <dgm:spPr/>
      <dgm:t>
        <a:bodyPr/>
        <a:lstStyle/>
        <a:p>
          <a:r>
            <a:rPr lang="en-US" dirty="0"/>
            <a:t>8</a:t>
          </a:r>
        </a:p>
      </dgm:t>
    </dgm:pt>
    <dgm:pt modelId="{BB28E8B0-FDF8-4BF1-9132-7CBFDAD0653D}" type="parTrans" cxnId="{1193D32C-5479-4F8D-8228-4AA7C6DE9DC1}">
      <dgm:prSet/>
      <dgm:spPr/>
      <dgm:t>
        <a:bodyPr/>
        <a:lstStyle/>
        <a:p>
          <a:endParaRPr lang="en-US"/>
        </a:p>
      </dgm:t>
    </dgm:pt>
    <dgm:pt modelId="{7734AA67-D319-45F2-9246-D00A83E77230}" type="sibTrans" cxnId="{1193D32C-5479-4F8D-8228-4AA7C6DE9DC1}">
      <dgm:prSet/>
      <dgm:spPr/>
      <dgm:t>
        <a:bodyPr/>
        <a:lstStyle/>
        <a:p>
          <a:endParaRPr lang="en-US"/>
        </a:p>
      </dgm:t>
    </dgm:pt>
    <dgm:pt modelId="{C83231B3-82EC-4B64-A4AA-D68398239F77}">
      <dgm:prSet phldrT="[Text]"/>
      <dgm:spPr/>
      <dgm:t>
        <a:bodyPr/>
        <a:lstStyle/>
        <a:p>
          <a:r>
            <a:rPr lang="en-US" dirty="0"/>
            <a:t>7</a:t>
          </a:r>
        </a:p>
      </dgm:t>
    </dgm:pt>
    <dgm:pt modelId="{4BF4C6CF-FF10-40C4-8FF9-3F282C8DB0A6}" type="parTrans" cxnId="{AA70693D-E072-4DB1-AC80-26F883B10707}">
      <dgm:prSet/>
      <dgm:spPr/>
      <dgm:t>
        <a:bodyPr/>
        <a:lstStyle/>
        <a:p>
          <a:endParaRPr lang="en-US"/>
        </a:p>
      </dgm:t>
    </dgm:pt>
    <dgm:pt modelId="{F561A100-C417-4CF9-9D41-415CB75299D8}" type="sibTrans" cxnId="{AA70693D-E072-4DB1-AC80-26F883B10707}">
      <dgm:prSet/>
      <dgm:spPr/>
      <dgm:t>
        <a:bodyPr/>
        <a:lstStyle/>
        <a:p>
          <a:endParaRPr lang="en-US"/>
        </a:p>
      </dgm:t>
    </dgm:pt>
    <dgm:pt modelId="{8D579369-40DF-4E9F-BB05-DBA55210704C}" type="pres">
      <dgm:prSet presAssocID="{A8B21D82-7BF9-49EA-AC93-09F5A459100C}" presName="cycle" presStyleCnt="0">
        <dgm:presLayoutVars>
          <dgm:chMax val="1"/>
          <dgm:dir/>
          <dgm:animLvl val="ctr"/>
          <dgm:resizeHandles val="exact"/>
        </dgm:presLayoutVars>
      </dgm:prSet>
      <dgm:spPr/>
    </dgm:pt>
    <dgm:pt modelId="{FDBB9F43-2DD5-4202-BB46-F1AA1AF350AE}" type="pres">
      <dgm:prSet presAssocID="{3745901F-8FB7-4DD5-A6E8-9B6B2D823502}" presName="centerShape" presStyleLbl="node0" presStyleIdx="0" presStyleCnt="1" custLinFactNeighborX="12084" custLinFactNeighborY="-24220"/>
      <dgm:spPr/>
    </dgm:pt>
    <dgm:pt modelId="{DB4F9994-C991-41AB-87D6-DED144878337}" type="pres">
      <dgm:prSet presAssocID="{FD24F6E3-7C13-4869-AF17-E2AB770542B4}" presName="Name9" presStyleLbl="parChTrans1D2" presStyleIdx="0" presStyleCnt="3"/>
      <dgm:spPr/>
    </dgm:pt>
    <dgm:pt modelId="{99DA5A62-B2B7-4CD9-B676-39EF17C5F324}" type="pres">
      <dgm:prSet presAssocID="{FD24F6E3-7C13-4869-AF17-E2AB770542B4}" presName="connTx" presStyleLbl="parChTrans1D2" presStyleIdx="0" presStyleCnt="3"/>
      <dgm:spPr/>
    </dgm:pt>
    <dgm:pt modelId="{BFE7E4DE-6FB8-4995-8515-C042872F4779}" type="pres">
      <dgm:prSet presAssocID="{696E7649-503A-473B-86C9-EB189BA5AD2F}" presName="node" presStyleLbl="node1" presStyleIdx="0" presStyleCnt="3" custRadScaleRad="131828" custRadScaleInc="-80368">
        <dgm:presLayoutVars>
          <dgm:bulletEnabled val="1"/>
        </dgm:presLayoutVars>
      </dgm:prSet>
      <dgm:spPr/>
    </dgm:pt>
    <dgm:pt modelId="{4B99B4E7-0924-4568-B7A6-BE5F5BDEB54D}" type="pres">
      <dgm:prSet presAssocID="{BB28E8B0-FDF8-4BF1-9132-7CBFDAD0653D}" presName="Name9" presStyleLbl="parChTrans1D2" presStyleIdx="1" presStyleCnt="3"/>
      <dgm:spPr/>
    </dgm:pt>
    <dgm:pt modelId="{D076E0FE-FF50-45E0-AFEE-A416FA802B11}" type="pres">
      <dgm:prSet presAssocID="{BB28E8B0-FDF8-4BF1-9132-7CBFDAD0653D}" presName="connTx" presStyleLbl="parChTrans1D2" presStyleIdx="1" presStyleCnt="3"/>
      <dgm:spPr/>
    </dgm:pt>
    <dgm:pt modelId="{B32A80B9-EDE1-4790-AABF-9591D38A3FA6}" type="pres">
      <dgm:prSet presAssocID="{7D7A3A43-3897-4756-8862-7FE7642515A8}" presName="node" presStyleLbl="node1" presStyleIdx="1" presStyleCnt="3" custRadScaleRad="72528" custRadScaleInc="50458">
        <dgm:presLayoutVars>
          <dgm:bulletEnabled val="1"/>
        </dgm:presLayoutVars>
      </dgm:prSet>
      <dgm:spPr/>
    </dgm:pt>
    <dgm:pt modelId="{17E39401-7369-45AC-A3E1-CECF340053CF}" type="pres">
      <dgm:prSet presAssocID="{4BF4C6CF-FF10-40C4-8FF9-3F282C8DB0A6}" presName="Name9" presStyleLbl="parChTrans1D2" presStyleIdx="2" presStyleCnt="3"/>
      <dgm:spPr/>
    </dgm:pt>
    <dgm:pt modelId="{E9068F23-0809-48CD-B3E9-21D57315583C}" type="pres">
      <dgm:prSet presAssocID="{4BF4C6CF-FF10-40C4-8FF9-3F282C8DB0A6}" presName="connTx" presStyleLbl="parChTrans1D2" presStyleIdx="2" presStyleCnt="3"/>
      <dgm:spPr/>
    </dgm:pt>
    <dgm:pt modelId="{98FE53C9-6AE5-4D4A-AC8C-F650C4E64AE3}" type="pres">
      <dgm:prSet presAssocID="{C83231B3-82EC-4B64-A4AA-D68398239F77}" presName="node" presStyleLbl="node1" presStyleIdx="2" presStyleCnt="3" custRadScaleRad="78601" custRadScaleInc="-17271">
        <dgm:presLayoutVars>
          <dgm:bulletEnabled val="1"/>
        </dgm:presLayoutVars>
      </dgm:prSet>
      <dgm:spPr/>
    </dgm:pt>
  </dgm:ptLst>
  <dgm:cxnLst>
    <dgm:cxn modelId="{B2980807-8355-4B2F-96EC-321D9D073202}" type="presOf" srcId="{BB28E8B0-FDF8-4BF1-9132-7CBFDAD0653D}" destId="{D076E0FE-FF50-45E0-AFEE-A416FA802B11}" srcOrd="1" destOrd="0" presId="urn:microsoft.com/office/officeart/2005/8/layout/radial1"/>
    <dgm:cxn modelId="{B3DC790C-2703-454C-B437-0A021C1C15F9}" type="presOf" srcId="{7D7A3A43-3897-4756-8862-7FE7642515A8}" destId="{B32A80B9-EDE1-4790-AABF-9591D38A3FA6}" srcOrd="0" destOrd="0" presId="urn:microsoft.com/office/officeart/2005/8/layout/radial1"/>
    <dgm:cxn modelId="{ECAE7621-FA71-4ECA-A959-FA0D9F381930}" srcId="{A8B21D82-7BF9-49EA-AC93-09F5A459100C}" destId="{3745901F-8FB7-4DD5-A6E8-9B6B2D823502}" srcOrd="0" destOrd="0" parTransId="{5F29DACA-08A4-4622-8605-94A0FD32C79E}" sibTransId="{CE1234B4-D074-47C5-941C-6A0010321612}"/>
    <dgm:cxn modelId="{1193D32C-5479-4F8D-8228-4AA7C6DE9DC1}" srcId="{3745901F-8FB7-4DD5-A6E8-9B6B2D823502}" destId="{7D7A3A43-3897-4756-8862-7FE7642515A8}" srcOrd="1" destOrd="0" parTransId="{BB28E8B0-FDF8-4BF1-9132-7CBFDAD0653D}" sibTransId="{7734AA67-D319-45F2-9246-D00A83E77230}"/>
    <dgm:cxn modelId="{87B48C2E-5C3A-4FFD-9875-D33146CB9039}" type="presOf" srcId="{C83231B3-82EC-4B64-A4AA-D68398239F77}" destId="{98FE53C9-6AE5-4D4A-AC8C-F650C4E64AE3}" srcOrd="0" destOrd="0" presId="urn:microsoft.com/office/officeart/2005/8/layout/radial1"/>
    <dgm:cxn modelId="{AA70693D-E072-4DB1-AC80-26F883B10707}" srcId="{3745901F-8FB7-4DD5-A6E8-9B6B2D823502}" destId="{C83231B3-82EC-4B64-A4AA-D68398239F77}" srcOrd="2" destOrd="0" parTransId="{4BF4C6CF-FF10-40C4-8FF9-3F282C8DB0A6}" sibTransId="{F561A100-C417-4CF9-9D41-415CB75299D8}"/>
    <dgm:cxn modelId="{AF772A3E-470F-4F86-BBF5-FC0182C0E1E3}" type="presOf" srcId="{FD24F6E3-7C13-4869-AF17-E2AB770542B4}" destId="{99DA5A62-B2B7-4CD9-B676-39EF17C5F324}" srcOrd="1" destOrd="0" presId="urn:microsoft.com/office/officeart/2005/8/layout/radial1"/>
    <dgm:cxn modelId="{4E112E63-6E7A-4250-A2FC-159F2B1E7EF6}" type="presOf" srcId="{4BF4C6CF-FF10-40C4-8FF9-3F282C8DB0A6}" destId="{17E39401-7369-45AC-A3E1-CECF340053CF}" srcOrd="0" destOrd="0" presId="urn:microsoft.com/office/officeart/2005/8/layout/radial1"/>
    <dgm:cxn modelId="{664FB66E-95A9-4376-979D-9427E1CB05AC}" type="presOf" srcId="{A8B21D82-7BF9-49EA-AC93-09F5A459100C}" destId="{8D579369-40DF-4E9F-BB05-DBA55210704C}" srcOrd="0" destOrd="0" presId="urn:microsoft.com/office/officeart/2005/8/layout/radial1"/>
    <dgm:cxn modelId="{38029C51-7BDE-4244-A514-6DC07B235AED}" type="presOf" srcId="{4BF4C6CF-FF10-40C4-8FF9-3F282C8DB0A6}" destId="{E9068F23-0809-48CD-B3E9-21D57315583C}" srcOrd="1" destOrd="0" presId="urn:microsoft.com/office/officeart/2005/8/layout/radial1"/>
    <dgm:cxn modelId="{322BEDB7-8D0C-4C89-8C08-63345494081F}" type="presOf" srcId="{FD24F6E3-7C13-4869-AF17-E2AB770542B4}" destId="{DB4F9994-C991-41AB-87D6-DED144878337}" srcOrd="0" destOrd="0" presId="urn:microsoft.com/office/officeart/2005/8/layout/radial1"/>
    <dgm:cxn modelId="{8FEC7BC5-E1C5-4DA5-8E3D-B1DEBB897753}" type="presOf" srcId="{BB28E8B0-FDF8-4BF1-9132-7CBFDAD0653D}" destId="{4B99B4E7-0924-4568-B7A6-BE5F5BDEB54D}" srcOrd="0" destOrd="0" presId="urn:microsoft.com/office/officeart/2005/8/layout/radial1"/>
    <dgm:cxn modelId="{CBDCE0CB-9B8F-4371-A4B4-E810A36607B6}" srcId="{3745901F-8FB7-4DD5-A6E8-9B6B2D823502}" destId="{696E7649-503A-473B-86C9-EB189BA5AD2F}" srcOrd="0" destOrd="0" parTransId="{FD24F6E3-7C13-4869-AF17-E2AB770542B4}" sibTransId="{B1AAC703-CFB5-45A0-A565-ED2BD60B310B}"/>
    <dgm:cxn modelId="{93BDA6D2-F857-4CF1-A20C-6A5677A3F27D}" type="presOf" srcId="{3745901F-8FB7-4DD5-A6E8-9B6B2D823502}" destId="{FDBB9F43-2DD5-4202-BB46-F1AA1AF350AE}" srcOrd="0" destOrd="0" presId="urn:microsoft.com/office/officeart/2005/8/layout/radial1"/>
    <dgm:cxn modelId="{181263E5-A2DA-45CB-BF08-7ED32E358E55}" type="presOf" srcId="{696E7649-503A-473B-86C9-EB189BA5AD2F}" destId="{BFE7E4DE-6FB8-4995-8515-C042872F4779}" srcOrd="0" destOrd="0" presId="urn:microsoft.com/office/officeart/2005/8/layout/radial1"/>
    <dgm:cxn modelId="{933DDDC1-4C4D-4067-941E-28D44029408D}" type="presParOf" srcId="{8D579369-40DF-4E9F-BB05-DBA55210704C}" destId="{FDBB9F43-2DD5-4202-BB46-F1AA1AF350AE}" srcOrd="0" destOrd="0" presId="urn:microsoft.com/office/officeart/2005/8/layout/radial1"/>
    <dgm:cxn modelId="{2AA3A1C1-80FF-408F-B299-844A6E486CDA}" type="presParOf" srcId="{8D579369-40DF-4E9F-BB05-DBA55210704C}" destId="{DB4F9994-C991-41AB-87D6-DED144878337}" srcOrd="1" destOrd="0" presId="urn:microsoft.com/office/officeart/2005/8/layout/radial1"/>
    <dgm:cxn modelId="{D90C11A0-54BA-4E76-A291-96AEB39DB8C7}" type="presParOf" srcId="{DB4F9994-C991-41AB-87D6-DED144878337}" destId="{99DA5A62-B2B7-4CD9-B676-39EF17C5F324}" srcOrd="0" destOrd="0" presId="urn:microsoft.com/office/officeart/2005/8/layout/radial1"/>
    <dgm:cxn modelId="{66AC47CA-893D-4634-AA62-8D1DFCFB162D}" type="presParOf" srcId="{8D579369-40DF-4E9F-BB05-DBA55210704C}" destId="{BFE7E4DE-6FB8-4995-8515-C042872F4779}" srcOrd="2" destOrd="0" presId="urn:microsoft.com/office/officeart/2005/8/layout/radial1"/>
    <dgm:cxn modelId="{32A4A7AD-29D2-4151-85B8-6CF632D43BF3}" type="presParOf" srcId="{8D579369-40DF-4E9F-BB05-DBA55210704C}" destId="{4B99B4E7-0924-4568-B7A6-BE5F5BDEB54D}" srcOrd="3" destOrd="0" presId="urn:microsoft.com/office/officeart/2005/8/layout/radial1"/>
    <dgm:cxn modelId="{FAE4EF8D-B10A-4120-8B92-AC6F8DB65EBA}" type="presParOf" srcId="{4B99B4E7-0924-4568-B7A6-BE5F5BDEB54D}" destId="{D076E0FE-FF50-45E0-AFEE-A416FA802B11}" srcOrd="0" destOrd="0" presId="urn:microsoft.com/office/officeart/2005/8/layout/radial1"/>
    <dgm:cxn modelId="{0CF04421-5866-448D-BEDB-6918E42CB527}" type="presParOf" srcId="{8D579369-40DF-4E9F-BB05-DBA55210704C}" destId="{B32A80B9-EDE1-4790-AABF-9591D38A3FA6}" srcOrd="4" destOrd="0" presId="urn:microsoft.com/office/officeart/2005/8/layout/radial1"/>
    <dgm:cxn modelId="{DB8CA4B9-FA2D-4890-B46C-56333438D22C}" type="presParOf" srcId="{8D579369-40DF-4E9F-BB05-DBA55210704C}" destId="{17E39401-7369-45AC-A3E1-CECF340053CF}" srcOrd="5" destOrd="0" presId="urn:microsoft.com/office/officeart/2005/8/layout/radial1"/>
    <dgm:cxn modelId="{2E8D3BD2-CE9F-41C0-BF7D-6F096A135535}" type="presParOf" srcId="{17E39401-7369-45AC-A3E1-CECF340053CF}" destId="{E9068F23-0809-48CD-B3E9-21D57315583C}" srcOrd="0" destOrd="0" presId="urn:microsoft.com/office/officeart/2005/8/layout/radial1"/>
    <dgm:cxn modelId="{8B908767-089E-430C-9180-7EEF7C5B273F}" type="presParOf" srcId="{8D579369-40DF-4E9F-BB05-DBA55210704C}" destId="{98FE53C9-6AE5-4D4A-AC8C-F650C4E64AE3}" srcOrd="6" destOrd="0" presId="urn:microsoft.com/office/officeart/2005/8/layout/radial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24119D1-54FD-4C39-A61F-04AEC460BC0A}"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FEB161F2-FB7D-41E6-929C-E3B433AA6D8D}">
      <dgm:prSet phldrT="[Text]"/>
      <dgm:spPr/>
      <dgm:t>
        <a:bodyPr/>
        <a:lstStyle/>
        <a:p>
          <a:r>
            <a:rPr lang="en-US" dirty="0"/>
            <a:t>Informed Search</a:t>
          </a:r>
        </a:p>
      </dgm:t>
    </dgm:pt>
    <dgm:pt modelId="{D52D41F8-F433-4BF5-B0DD-4D940339636E}" type="parTrans" cxnId="{ED2A7D75-9733-42EE-93D7-25DFD4330E06}">
      <dgm:prSet/>
      <dgm:spPr/>
      <dgm:t>
        <a:bodyPr/>
        <a:lstStyle/>
        <a:p>
          <a:endParaRPr lang="en-US"/>
        </a:p>
      </dgm:t>
    </dgm:pt>
    <dgm:pt modelId="{F7C5E112-61F0-4561-B7B9-0BA453D5AEAC}" type="sibTrans" cxnId="{ED2A7D75-9733-42EE-93D7-25DFD4330E06}">
      <dgm:prSet/>
      <dgm:spPr/>
      <dgm:t>
        <a:bodyPr/>
        <a:lstStyle/>
        <a:p>
          <a:endParaRPr lang="en-US"/>
        </a:p>
      </dgm:t>
    </dgm:pt>
    <dgm:pt modelId="{FF3ECFF6-8A6B-4F93-9668-2B94B24EEB5C}">
      <dgm:prSet phldrT="[Text]"/>
      <dgm:spPr/>
      <dgm:t>
        <a:bodyPr/>
        <a:lstStyle/>
        <a:p>
          <a:r>
            <a:rPr lang="en-US" dirty="0"/>
            <a:t>Greedy Best Search</a:t>
          </a:r>
        </a:p>
      </dgm:t>
    </dgm:pt>
    <dgm:pt modelId="{4EA04A1E-A9ED-4491-97F9-E6CF392FEB23}" type="parTrans" cxnId="{42F772A5-859A-46FF-A86E-F6F3C8146E6D}">
      <dgm:prSet/>
      <dgm:spPr/>
      <dgm:t>
        <a:bodyPr/>
        <a:lstStyle/>
        <a:p>
          <a:endParaRPr lang="en-US"/>
        </a:p>
      </dgm:t>
    </dgm:pt>
    <dgm:pt modelId="{6CA101CE-4974-4255-8FD4-659C5B74B2EB}" type="sibTrans" cxnId="{42F772A5-859A-46FF-A86E-F6F3C8146E6D}">
      <dgm:prSet/>
      <dgm:spPr/>
      <dgm:t>
        <a:bodyPr/>
        <a:lstStyle/>
        <a:p>
          <a:endParaRPr lang="en-US"/>
        </a:p>
      </dgm:t>
    </dgm:pt>
    <dgm:pt modelId="{6D5BEBEC-472F-4C6B-B826-120C1E122118}">
      <dgm:prSet phldrT="[Text]"/>
      <dgm:spPr/>
      <dgm:t>
        <a:bodyPr/>
        <a:lstStyle/>
        <a:p>
          <a:r>
            <a:rPr lang="en-US" dirty="0"/>
            <a:t>A* Search</a:t>
          </a:r>
        </a:p>
      </dgm:t>
    </dgm:pt>
    <dgm:pt modelId="{0A0794FE-878D-4A48-BF33-6F145716A350}" type="parTrans" cxnId="{593C8B66-FB81-49C5-A8EC-1BF0E78B87E1}">
      <dgm:prSet/>
      <dgm:spPr/>
      <dgm:t>
        <a:bodyPr/>
        <a:lstStyle/>
        <a:p>
          <a:endParaRPr lang="en-US"/>
        </a:p>
      </dgm:t>
    </dgm:pt>
    <dgm:pt modelId="{99A33105-4883-468B-ADFB-DAC86A1DDF6A}" type="sibTrans" cxnId="{593C8B66-FB81-49C5-A8EC-1BF0E78B87E1}">
      <dgm:prSet/>
      <dgm:spPr/>
      <dgm:t>
        <a:bodyPr/>
        <a:lstStyle/>
        <a:p>
          <a:endParaRPr lang="en-US"/>
        </a:p>
      </dgm:t>
    </dgm:pt>
    <dgm:pt modelId="{C814E6EF-D345-40FC-9210-7AE196336B7A}" type="pres">
      <dgm:prSet presAssocID="{324119D1-54FD-4C39-A61F-04AEC460BC0A}" presName="hierChild1" presStyleCnt="0">
        <dgm:presLayoutVars>
          <dgm:orgChart val="1"/>
          <dgm:chPref val="1"/>
          <dgm:dir/>
          <dgm:animOne val="branch"/>
          <dgm:animLvl val="lvl"/>
          <dgm:resizeHandles/>
        </dgm:presLayoutVars>
      </dgm:prSet>
      <dgm:spPr/>
    </dgm:pt>
    <dgm:pt modelId="{52666295-59FD-4E1B-8377-AA62E0DE8576}" type="pres">
      <dgm:prSet presAssocID="{FEB161F2-FB7D-41E6-929C-E3B433AA6D8D}" presName="hierRoot1" presStyleCnt="0">
        <dgm:presLayoutVars>
          <dgm:hierBranch val="init"/>
        </dgm:presLayoutVars>
      </dgm:prSet>
      <dgm:spPr/>
    </dgm:pt>
    <dgm:pt modelId="{D5961407-C556-4C31-88E2-6630DF00C063}" type="pres">
      <dgm:prSet presAssocID="{FEB161F2-FB7D-41E6-929C-E3B433AA6D8D}" presName="rootComposite1" presStyleCnt="0"/>
      <dgm:spPr/>
    </dgm:pt>
    <dgm:pt modelId="{9180F266-C90D-486D-85C6-536439912775}" type="pres">
      <dgm:prSet presAssocID="{FEB161F2-FB7D-41E6-929C-E3B433AA6D8D}" presName="rootText1" presStyleLbl="node0" presStyleIdx="0" presStyleCnt="1" custLinFactY="-26943" custLinFactNeighborY="-100000">
        <dgm:presLayoutVars>
          <dgm:chPref val="3"/>
        </dgm:presLayoutVars>
      </dgm:prSet>
      <dgm:spPr/>
    </dgm:pt>
    <dgm:pt modelId="{2A2AA557-A1C6-4791-9113-D4610C1BEC33}" type="pres">
      <dgm:prSet presAssocID="{FEB161F2-FB7D-41E6-929C-E3B433AA6D8D}" presName="rootConnector1" presStyleLbl="node1" presStyleIdx="0" presStyleCnt="0"/>
      <dgm:spPr/>
    </dgm:pt>
    <dgm:pt modelId="{BCCFCE53-3831-4649-8BC5-839EE8E93AFB}" type="pres">
      <dgm:prSet presAssocID="{FEB161F2-FB7D-41E6-929C-E3B433AA6D8D}" presName="hierChild2" presStyleCnt="0"/>
      <dgm:spPr/>
    </dgm:pt>
    <dgm:pt modelId="{770F65A2-8A8C-4392-A415-688AA892A465}" type="pres">
      <dgm:prSet presAssocID="{4EA04A1E-A9ED-4491-97F9-E6CF392FEB23}" presName="Name37" presStyleLbl="parChTrans1D2" presStyleIdx="0" presStyleCnt="2"/>
      <dgm:spPr/>
    </dgm:pt>
    <dgm:pt modelId="{1E111DF1-9D4B-4110-92BC-D4924A79768A}" type="pres">
      <dgm:prSet presAssocID="{FF3ECFF6-8A6B-4F93-9668-2B94B24EEB5C}" presName="hierRoot2" presStyleCnt="0">
        <dgm:presLayoutVars>
          <dgm:hierBranch val="init"/>
        </dgm:presLayoutVars>
      </dgm:prSet>
      <dgm:spPr/>
    </dgm:pt>
    <dgm:pt modelId="{4371C75D-84CD-44B0-82B7-C2A18751855B}" type="pres">
      <dgm:prSet presAssocID="{FF3ECFF6-8A6B-4F93-9668-2B94B24EEB5C}" presName="rootComposite" presStyleCnt="0"/>
      <dgm:spPr/>
    </dgm:pt>
    <dgm:pt modelId="{6B7AA5D9-719E-4A45-BA19-CFA1976DBB97}" type="pres">
      <dgm:prSet presAssocID="{FF3ECFF6-8A6B-4F93-9668-2B94B24EEB5C}" presName="rootText" presStyleLbl="node2" presStyleIdx="0" presStyleCnt="2" custLinFactNeighborX="-53" custLinFactNeighborY="-22658">
        <dgm:presLayoutVars>
          <dgm:chPref val="3"/>
        </dgm:presLayoutVars>
      </dgm:prSet>
      <dgm:spPr/>
    </dgm:pt>
    <dgm:pt modelId="{53DF2121-683D-4A08-AEB8-D8E86AEA65D0}" type="pres">
      <dgm:prSet presAssocID="{FF3ECFF6-8A6B-4F93-9668-2B94B24EEB5C}" presName="rootConnector" presStyleLbl="node2" presStyleIdx="0" presStyleCnt="2"/>
      <dgm:spPr/>
    </dgm:pt>
    <dgm:pt modelId="{DC19E5CB-B61C-4DF5-814B-F113F4D5326A}" type="pres">
      <dgm:prSet presAssocID="{FF3ECFF6-8A6B-4F93-9668-2B94B24EEB5C}" presName="hierChild4" presStyleCnt="0"/>
      <dgm:spPr/>
    </dgm:pt>
    <dgm:pt modelId="{3C3498AD-74B2-4601-95AB-0C8029C717C3}" type="pres">
      <dgm:prSet presAssocID="{FF3ECFF6-8A6B-4F93-9668-2B94B24EEB5C}" presName="hierChild5" presStyleCnt="0"/>
      <dgm:spPr/>
    </dgm:pt>
    <dgm:pt modelId="{26396008-77AE-406A-85F5-A12F25BAA3DA}" type="pres">
      <dgm:prSet presAssocID="{0A0794FE-878D-4A48-BF33-6F145716A350}" presName="Name37" presStyleLbl="parChTrans1D2" presStyleIdx="1" presStyleCnt="2"/>
      <dgm:spPr/>
    </dgm:pt>
    <dgm:pt modelId="{CFCA82EF-39B0-49B6-9050-EE8D31BB2E43}" type="pres">
      <dgm:prSet presAssocID="{6D5BEBEC-472F-4C6B-B826-120C1E122118}" presName="hierRoot2" presStyleCnt="0">
        <dgm:presLayoutVars>
          <dgm:hierBranch val="init"/>
        </dgm:presLayoutVars>
      </dgm:prSet>
      <dgm:spPr/>
    </dgm:pt>
    <dgm:pt modelId="{2068326E-D8E3-448A-A4D7-7EB7C988FEB5}" type="pres">
      <dgm:prSet presAssocID="{6D5BEBEC-472F-4C6B-B826-120C1E122118}" presName="rootComposite" presStyleCnt="0"/>
      <dgm:spPr/>
    </dgm:pt>
    <dgm:pt modelId="{664A9B00-4748-49EA-B33D-E8DCE18FC7A1}" type="pres">
      <dgm:prSet presAssocID="{6D5BEBEC-472F-4C6B-B826-120C1E122118}" presName="rootText" presStyleLbl="node2" presStyleIdx="1" presStyleCnt="2" custLinFactNeighborX="53" custLinFactNeighborY="-22659">
        <dgm:presLayoutVars>
          <dgm:chPref val="3"/>
        </dgm:presLayoutVars>
      </dgm:prSet>
      <dgm:spPr/>
    </dgm:pt>
    <dgm:pt modelId="{CBCF9B85-4E36-4739-B340-132FB5C3E781}" type="pres">
      <dgm:prSet presAssocID="{6D5BEBEC-472F-4C6B-B826-120C1E122118}" presName="rootConnector" presStyleLbl="node2" presStyleIdx="1" presStyleCnt="2"/>
      <dgm:spPr/>
    </dgm:pt>
    <dgm:pt modelId="{FAF32187-42D4-498F-8554-FAF0F4EB0607}" type="pres">
      <dgm:prSet presAssocID="{6D5BEBEC-472F-4C6B-B826-120C1E122118}" presName="hierChild4" presStyleCnt="0"/>
      <dgm:spPr/>
    </dgm:pt>
    <dgm:pt modelId="{8C20D425-C408-47C2-9FEF-8747240EC97D}" type="pres">
      <dgm:prSet presAssocID="{6D5BEBEC-472F-4C6B-B826-120C1E122118}" presName="hierChild5" presStyleCnt="0"/>
      <dgm:spPr/>
    </dgm:pt>
    <dgm:pt modelId="{1049D7B2-4C3C-47EA-92CC-381C6F1D0B15}" type="pres">
      <dgm:prSet presAssocID="{FEB161F2-FB7D-41E6-929C-E3B433AA6D8D}" presName="hierChild3" presStyleCnt="0"/>
      <dgm:spPr/>
    </dgm:pt>
  </dgm:ptLst>
  <dgm:cxnLst>
    <dgm:cxn modelId="{D4A6D402-6B50-4178-A4C9-76C7B2D37C34}" type="presOf" srcId="{324119D1-54FD-4C39-A61F-04AEC460BC0A}" destId="{C814E6EF-D345-40FC-9210-7AE196336B7A}" srcOrd="0" destOrd="0" presId="urn:microsoft.com/office/officeart/2005/8/layout/orgChart1"/>
    <dgm:cxn modelId="{F6E87D26-80A2-4C8F-A3ED-52B458A186F1}" type="presOf" srcId="{6D5BEBEC-472F-4C6B-B826-120C1E122118}" destId="{664A9B00-4748-49EA-B33D-E8DCE18FC7A1}" srcOrd="0" destOrd="0" presId="urn:microsoft.com/office/officeart/2005/8/layout/orgChart1"/>
    <dgm:cxn modelId="{3E8FC033-9D0E-46D4-A7DE-15E29CEF3D7A}" type="presOf" srcId="{FEB161F2-FB7D-41E6-929C-E3B433AA6D8D}" destId="{2A2AA557-A1C6-4791-9113-D4610C1BEC33}" srcOrd="1" destOrd="0" presId="urn:microsoft.com/office/officeart/2005/8/layout/orgChart1"/>
    <dgm:cxn modelId="{593C8B66-FB81-49C5-A8EC-1BF0E78B87E1}" srcId="{FEB161F2-FB7D-41E6-929C-E3B433AA6D8D}" destId="{6D5BEBEC-472F-4C6B-B826-120C1E122118}" srcOrd="1" destOrd="0" parTransId="{0A0794FE-878D-4A48-BF33-6F145716A350}" sibTransId="{99A33105-4883-468B-ADFB-DAC86A1DDF6A}"/>
    <dgm:cxn modelId="{A3051A4A-1424-4DA9-86CE-B230B2B60679}" type="presOf" srcId="{FF3ECFF6-8A6B-4F93-9668-2B94B24EEB5C}" destId="{6B7AA5D9-719E-4A45-BA19-CFA1976DBB97}" srcOrd="0" destOrd="0" presId="urn:microsoft.com/office/officeart/2005/8/layout/orgChart1"/>
    <dgm:cxn modelId="{A115C872-46E0-4954-B02F-0F35770D48FB}" type="presOf" srcId="{0A0794FE-878D-4A48-BF33-6F145716A350}" destId="{26396008-77AE-406A-85F5-A12F25BAA3DA}" srcOrd="0" destOrd="0" presId="urn:microsoft.com/office/officeart/2005/8/layout/orgChart1"/>
    <dgm:cxn modelId="{ED2A7D75-9733-42EE-93D7-25DFD4330E06}" srcId="{324119D1-54FD-4C39-A61F-04AEC460BC0A}" destId="{FEB161F2-FB7D-41E6-929C-E3B433AA6D8D}" srcOrd="0" destOrd="0" parTransId="{D52D41F8-F433-4BF5-B0DD-4D940339636E}" sibTransId="{F7C5E112-61F0-4561-B7B9-0BA453D5AEAC}"/>
    <dgm:cxn modelId="{EF1EB19B-3D23-4DA1-A142-8C7B10384183}" type="presOf" srcId="{4EA04A1E-A9ED-4491-97F9-E6CF392FEB23}" destId="{770F65A2-8A8C-4392-A415-688AA892A465}" srcOrd="0" destOrd="0" presId="urn:microsoft.com/office/officeart/2005/8/layout/orgChart1"/>
    <dgm:cxn modelId="{42F772A5-859A-46FF-A86E-F6F3C8146E6D}" srcId="{FEB161F2-FB7D-41E6-929C-E3B433AA6D8D}" destId="{FF3ECFF6-8A6B-4F93-9668-2B94B24EEB5C}" srcOrd="0" destOrd="0" parTransId="{4EA04A1E-A9ED-4491-97F9-E6CF392FEB23}" sibTransId="{6CA101CE-4974-4255-8FD4-659C5B74B2EB}"/>
    <dgm:cxn modelId="{D95984D9-33EF-40FB-8750-54EE01B7377E}" type="presOf" srcId="{FF3ECFF6-8A6B-4F93-9668-2B94B24EEB5C}" destId="{53DF2121-683D-4A08-AEB8-D8E86AEA65D0}" srcOrd="1" destOrd="0" presId="urn:microsoft.com/office/officeart/2005/8/layout/orgChart1"/>
    <dgm:cxn modelId="{54DADEEA-2378-435E-9FF9-592B51BC6AFF}" type="presOf" srcId="{6D5BEBEC-472F-4C6B-B826-120C1E122118}" destId="{CBCF9B85-4E36-4739-B340-132FB5C3E781}" srcOrd="1" destOrd="0" presId="urn:microsoft.com/office/officeart/2005/8/layout/orgChart1"/>
    <dgm:cxn modelId="{795AF3FB-2B39-4DCB-86F1-318889DF464B}" type="presOf" srcId="{FEB161F2-FB7D-41E6-929C-E3B433AA6D8D}" destId="{9180F266-C90D-486D-85C6-536439912775}" srcOrd="0" destOrd="0" presId="urn:microsoft.com/office/officeart/2005/8/layout/orgChart1"/>
    <dgm:cxn modelId="{50DDB4F3-F949-4DF0-822B-5995DDA3A45F}" type="presParOf" srcId="{C814E6EF-D345-40FC-9210-7AE196336B7A}" destId="{52666295-59FD-4E1B-8377-AA62E0DE8576}" srcOrd="0" destOrd="0" presId="urn:microsoft.com/office/officeart/2005/8/layout/orgChart1"/>
    <dgm:cxn modelId="{2B8C6E82-174D-4B72-8953-D53A0F622FB1}" type="presParOf" srcId="{52666295-59FD-4E1B-8377-AA62E0DE8576}" destId="{D5961407-C556-4C31-88E2-6630DF00C063}" srcOrd="0" destOrd="0" presId="urn:microsoft.com/office/officeart/2005/8/layout/orgChart1"/>
    <dgm:cxn modelId="{169D7BF2-7D0A-407B-B972-F4535A493614}" type="presParOf" srcId="{D5961407-C556-4C31-88E2-6630DF00C063}" destId="{9180F266-C90D-486D-85C6-536439912775}" srcOrd="0" destOrd="0" presId="urn:microsoft.com/office/officeart/2005/8/layout/orgChart1"/>
    <dgm:cxn modelId="{E1BBC7A4-2B70-41FC-B7AC-368AA1ABF220}" type="presParOf" srcId="{D5961407-C556-4C31-88E2-6630DF00C063}" destId="{2A2AA557-A1C6-4791-9113-D4610C1BEC33}" srcOrd="1" destOrd="0" presId="urn:microsoft.com/office/officeart/2005/8/layout/orgChart1"/>
    <dgm:cxn modelId="{9A750FCC-9FCE-42F5-8C0D-316E524AC326}" type="presParOf" srcId="{52666295-59FD-4E1B-8377-AA62E0DE8576}" destId="{BCCFCE53-3831-4649-8BC5-839EE8E93AFB}" srcOrd="1" destOrd="0" presId="urn:microsoft.com/office/officeart/2005/8/layout/orgChart1"/>
    <dgm:cxn modelId="{A18C5FF0-4FF5-402A-A5B6-9987A26843B2}" type="presParOf" srcId="{BCCFCE53-3831-4649-8BC5-839EE8E93AFB}" destId="{770F65A2-8A8C-4392-A415-688AA892A465}" srcOrd="0" destOrd="0" presId="urn:microsoft.com/office/officeart/2005/8/layout/orgChart1"/>
    <dgm:cxn modelId="{40135E93-6A25-4FEC-B130-A3DACBA6004D}" type="presParOf" srcId="{BCCFCE53-3831-4649-8BC5-839EE8E93AFB}" destId="{1E111DF1-9D4B-4110-92BC-D4924A79768A}" srcOrd="1" destOrd="0" presId="urn:microsoft.com/office/officeart/2005/8/layout/orgChart1"/>
    <dgm:cxn modelId="{2E519C0A-1EFD-46BB-88A2-99A62E1B93A9}" type="presParOf" srcId="{1E111DF1-9D4B-4110-92BC-D4924A79768A}" destId="{4371C75D-84CD-44B0-82B7-C2A18751855B}" srcOrd="0" destOrd="0" presId="urn:microsoft.com/office/officeart/2005/8/layout/orgChart1"/>
    <dgm:cxn modelId="{39140578-804A-4E4A-A4DB-A899E9E45B12}" type="presParOf" srcId="{4371C75D-84CD-44B0-82B7-C2A18751855B}" destId="{6B7AA5D9-719E-4A45-BA19-CFA1976DBB97}" srcOrd="0" destOrd="0" presId="urn:microsoft.com/office/officeart/2005/8/layout/orgChart1"/>
    <dgm:cxn modelId="{16CBFF1E-8DD1-4F70-B740-1E19054D20DF}" type="presParOf" srcId="{4371C75D-84CD-44B0-82B7-C2A18751855B}" destId="{53DF2121-683D-4A08-AEB8-D8E86AEA65D0}" srcOrd="1" destOrd="0" presId="urn:microsoft.com/office/officeart/2005/8/layout/orgChart1"/>
    <dgm:cxn modelId="{43DC948A-C9C1-4401-BD11-EE710F7B9E75}" type="presParOf" srcId="{1E111DF1-9D4B-4110-92BC-D4924A79768A}" destId="{DC19E5CB-B61C-4DF5-814B-F113F4D5326A}" srcOrd="1" destOrd="0" presId="urn:microsoft.com/office/officeart/2005/8/layout/orgChart1"/>
    <dgm:cxn modelId="{C77DE356-AC2D-48C1-8CFE-ED243939EDA8}" type="presParOf" srcId="{1E111DF1-9D4B-4110-92BC-D4924A79768A}" destId="{3C3498AD-74B2-4601-95AB-0C8029C717C3}" srcOrd="2" destOrd="0" presId="urn:microsoft.com/office/officeart/2005/8/layout/orgChart1"/>
    <dgm:cxn modelId="{00D70ED2-597B-4F98-94A1-A8BF242CC4CD}" type="presParOf" srcId="{BCCFCE53-3831-4649-8BC5-839EE8E93AFB}" destId="{26396008-77AE-406A-85F5-A12F25BAA3DA}" srcOrd="2" destOrd="0" presId="urn:microsoft.com/office/officeart/2005/8/layout/orgChart1"/>
    <dgm:cxn modelId="{B753859A-983F-4EB1-80EE-4BE51687F960}" type="presParOf" srcId="{BCCFCE53-3831-4649-8BC5-839EE8E93AFB}" destId="{CFCA82EF-39B0-49B6-9050-EE8D31BB2E43}" srcOrd="3" destOrd="0" presId="urn:microsoft.com/office/officeart/2005/8/layout/orgChart1"/>
    <dgm:cxn modelId="{79E6FCDA-93C9-4D23-99CA-AC5528F805C0}" type="presParOf" srcId="{CFCA82EF-39B0-49B6-9050-EE8D31BB2E43}" destId="{2068326E-D8E3-448A-A4D7-7EB7C988FEB5}" srcOrd="0" destOrd="0" presId="urn:microsoft.com/office/officeart/2005/8/layout/orgChart1"/>
    <dgm:cxn modelId="{DFBFFD7D-5F13-439E-BA22-6C919EE6F5D8}" type="presParOf" srcId="{2068326E-D8E3-448A-A4D7-7EB7C988FEB5}" destId="{664A9B00-4748-49EA-B33D-E8DCE18FC7A1}" srcOrd="0" destOrd="0" presId="urn:microsoft.com/office/officeart/2005/8/layout/orgChart1"/>
    <dgm:cxn modelId="{D6EE771F-14A2-413C-9377-FEE8236B4364}" type="presParOf" srcId="{2068326E-D8E3-448A-A4D7-7EB7C988FEB5}" destId="{CBCF9B85-4E36-4739-B340-132FB5C3E781}" srcOrd="1" destOrd="0" presId="urn:microsoft.com/office/officeart/2005/8/layout/orgChart1"/>
    <dgm:cxn modelId="{BAFC9826-8A14-4F0A-A1C2-268FFE86297B}" type="presParOf" srcId="{CFCA82EF-39B0-49B6-9050-EE8D31BB2E43}" destId="{FAF32187-42D4-498F-8554-FAF0F4EB0607}" srcOrd="1" destOrd="0" presId="urn:microsoft.com/office/officeart/2005/8/layout/orgChart1"/>
    <dgm:cxn modelId="{FCEEF0E0-907E-4301-ADE1-8DDD123B6583}" type="presParOf" srcId="{CFCA82EF-39B0-49B6-9050-EE8D31BB2E43}" destId="{8C20D425-C408-47C2-9FEF-8747240EC97D}" srcOrd="2" destOrd="0" presId="urn:microsoft.com/office/officeart/2005/8/layout/orgChart1"/>
    <dgm:cxn modelId="{78AA1373-A8EE-40F8-BA33-D9F3B037A9C6}" type="presParOf" srcId="{52666295-59FD-4E1B-8377-AA62E0DE8576}" destId="{1049D7B2-4C3C-47EA-92CC-381C6F1D0B1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27889C4-4925-468F-B653-29D60863C72F}" type="doc">
      <dgm:prSet loTypeId="urn:microsoft.com/office/officeart/2016/7/layout/VerticalDownArrowProcess" loCatId="process" qsTypeId="urn:microsoft.com/office/officeart/2005/8/quickstyle/simple1" qsCatId="simple" csTypeId="urn:microsoft.com/office/officeart/2005/8/colors/accent1_2" csCatId="accent1"/>
      <dgm:spPr/>
      <dgm:t>
        <a:bodyPr/>
        <a:lstStyle/>
        <a:p>
          <a:endParaRPr lang="en-US"/>
        </a:p>
      </dgm:t>
    </dgm:pt>
    <dgm:pt modelId="{278D9078-B326-4D6E-B474-AE7E867FE221}">
      <dgm:prSet/>
      <dgm:spPr/>
      <dgm:t>
        <a:bodyPr/>
        <a:lstStyle/>
        <a:p>
          <a:r>
            <a:rPr lang="en-US"/>
            <a:t>Step 1</a:t>
          </a:r>
        </a:p>
      </dgm:t>
    </dgm:pt>
    <dgm:pt modelId="{557AC410-1811-4D88-87E2-A98021098B69}" type="parTrans" cxnId="{55352B54-2617-4296-8021-6EB3C30E2188}">
      <dgm:prSet/>
      <dgm:spPr/>
      <dgm:t>
        <a:bodyPr/>
        <a:lstStyle/>
        <a:p>
          <a:endParaRPr lang="en-US"/>
        </a:p>
      </dgm:t>
    </dgm:pt>
    <dgm:pt modelId="{99A81185-7B1E-403A-B283-5169D28AA5A5}" type="sibTrans" cxnId="{55352B54-2617-4296-8021-6EB3C30E2188}">
      <dgm:prSet/>
      <dgm:spPr/>
      <dgm:t>
        <a:bodyPr/>
        <a:lstStyle/>
        <a:p>
          <a:endParaRPr lang="en-US"/>
        </a:p>
      </dgm:t>
    </dgm:pt>
    <dgm:pt modelId="{C41D1B17-F079-449A-B604-8AB01F2C5F87}">
      <dgm:prSet/>
      <dgm:spPr/>
      <dgm:t>
        <a:bodyPr/>
        <a:lstStyle/>
        <a:p>
          <a:r>
            <a:rPr lang="en-US"/>
            <a:t>Game Tree Construction</a:t>
          </a:r>
        </a:p>
      </dgm:t>
    </dgm:pt>
    <dgm:pt modelId="{8973F922-348A-436D-92E9-EC95C569D294}" type="parTrans" cxnId="{E75F7BD0-6D29-4022-A9BB-3B5BBF39FC71}">
      <dgm:prSet/>
      <dgm:spPr/>
      <dgm:t>
        <a:bodyPr/>
        <a:lstStyle/>
        <a:p>
          <a:endParaRPr lang="en-US"/>
        </a:p>
      </dgm:t>
    </dgm:pt>
    <dgm:pt modelId="{7FC79399-7867-4873-AF52-67CABA0C5EB4}" type="sibTrans" cxnId="{E75F7BD0-6D29-4022-A9BB-3B5BBF39FC71}">
      <dgm:prSet/>
      <dgm:spPr/>
      <dgm:t>
        <a:bodyPr/>
        <a:lstStyle/>
        <a:p>
          <a:endParaRPr lang="en-US"/>
        </a:p>
      </dgm:t>
    </dgm:pt>
    <dgm:pt modelId="{E1EAF7B7-88DA-4F21-AECC-E6521D9D190B}">
      <dgm:prSet/>
      <dgm:spPr/>
      <dgm:t>
        <a:bodyPr/>
        <a:lstStyle/>
        <a:p>
          <a:r>
            <a:rPr lang="en-US"/>
            <a:t>Step 2</a:t>
          </a:r>
        </a:p>
      </dgm:t>
    </dgm:pt>
    <dgm:pt modelId="{3A807FE0-BB8F-495B-B551-2513AEEEDB6F}" type="parTrans" cxnId="{EDB2BD39-5278-4100-A0B1-1F6CE7B3B302}">
      <dgm:prSet/>
      <dgm:spPr/>
      <dgm:t>
        <a:bodyPr/>
        <a:lstStyle/>
        <a:p>
          <a:endParaRPr lang="en-US"/>
        </a:p>
      </dgm:t>
    </dgm:pt>
    <dgm:pt modelId="{BAA2D560-505D-46E6-A6A3-2513720BA332}" type="sibTrans" cxnId="{EDB2BD39-5278-4100-A0B1-1F6CE7B3B302}">
      <dgm:prSet/>
      <dgm:spPr/>
      <dgm:t>
        <a:bodyPr/>
        <a:lstStyle/>
        <a:p>
          <a:endParaRPr lang="en-US"/>
        </a:p>
      </dgm:t>
    </dgm:pt>
    <dgm:pt modelId="{5FFF0EDB-E7A0-4788-94F2-404361BE5AF2}">
      <dgm:prSet/>
      <dgm:spPr/>
      <dgm:t>
        <a:bodyPr/>
        <a:lstStyle/>
        <a:p>
          <a:r>
            <a:rPr lang="en-US"/>
            <a:t>Terminal State Evaluation</a:t>
          </a:r>
        </a:p>
      </dgm:t>
    </dgm:pt>
    <dgm:pt modelId="{280A7831-CF1D-4D04-BF91-7669B447AD4D}" type="parTrans" cxnId="{6A31A343-2804-4D40-9BE8-4EC8111BC44E}">
      <dgm:prSet/>
      <dgm:spPr/>
      <dgm:t>
        <a:bodyPr/>
        <a:lstStyle/>
        <a:p>
          <a:endParaRPr lang="en-US"/>
        </a:p>
      </dgm:t>
    </dgm:pt>
    <dgm:pt modelId="{62318B1E-5601-4011-980B-E1308F998520}" type="sibTrans" cxnId="{6A31A343-2804-4D40-9BE8-4EC8111BC44E}">
      <dgm:prSet/>
      <dgm:spPr/>
      <dgm:t>
        <a:bodyPr/>
        <a:lstStyle/>
        <a:p>
          <a:endParaRPr lang="en-US"/>
        </a:p>
      </dgm:t>
    </dgm:pt>
    <dgm:pt modelId="{01E3AB14-128A-4582-9225-FE08F68BD05C}">
      <dgm:prSet/>
      <dgm:spPr/>
      <dgm:t>
        <a:bodyPr/>
        <a:lstStyle/>
        <a:p>
          <a:r>
            <a:rPr lang="en-US"/>
            <a:t>Step 3</a:t>
          </a:r>
        </a:p>
      </dgm:t>
    </dgm:pt>
    <dgm:pt modelId="{E42DEC2D-8EC7-4021-81DF-AA0854D44784}" type="parTrans" cxnId="{C2AAAAC5-DFB6-4616-A4C2-A9CC866D2865}">
      <dgm:prSet/>
      <dgm:spPr/>
      <dgm:t>
        <a:bodyPr/>
        <a:lstStyle/>
        <a:p>
          <a:endParaRPr lang="en-US"/>
        </a:p>
      </dgm:t>
    </dgm:pt>
    <dgm:pt modelId="{20219C37-5348-4C43-ABB2-8F783E8809A3}" type="sibTrans" cxnId="{C2AAAAC5-DFB6-4616-A4C2-A9CC866D2865}">
      <dgm:prSet/>
      <dgm:spPr/>
      <dgm:t>
        <a:bodyPr/>
        <a:lstStyle/>
        <a:p>
          <a:endParaRPr lang="en-US"/>
        </a:p>
      </dgm:t>
    </dgm:pt>
    <dgm:pt modelId="{B47067F6-FC4D-4EA9-86F2-D3404B1369F8}">
      <dgm:prSet/>
      <dgm:spPr/>
      <dgm:t>
        <a:bodyPr/>
        <a:lstStyle/>
        <a:p>
          <a:r>
            <a:rPr lang="en-US"/>
            <a:t>Backpropagation of Values</a:t>
          </a:r>
        </a:p>
      </dgm:t>
    </dgm:pt>
    <dgm:pt modelId="{6AC6C621-DF4A-4F49-A5A5-04FA38E00730}" type="parTrans" cxnId="{B6CA512B-FBF3-4731-814D-A2B1B4BBE358}">
      <dgm:prSet/>
      <dgm:spPr/>
      <dgm:t>
        <a:bodyPr/>
        <a:lstStyle/>
        <a:p>
          <a:endParaRPr lang="en-US"/>
        </a:p>
      </dgm:t>
    </dgm:pt>
    <dgm:pt modelId="{CB1A852B-0B16-4DA2-9A56-B0625B54670B}" type="sibTrans" cxnId="{B6CA512B-FBF3-4731-814D-A2B1B4BBE358}">
      <dgm:prSet/>
      <dgm:spPr/>
      <dgm:t>
        <a:bodyPr/>
        <a:lstStyle/>
        <a:p>
          <a:endParaRPr lang="en-US"/>
        </a:p>
      </dgm:t>
    </dgm:pt>
    <dgm:pt modelId="{9BAB0F56-9CDE-4A57-9D5E-52D515E5A69C}">
      <dgm:prSet/>
      <dgm:spPr/>
      <dgm:t>
        <a:bodyPr/>
        <a:lstStyle/>
        <a:p>
          <a:r>
            <a:rPr lang="en-US"/>
            <a:t>Step 4</a:t>
          </a:r>
        </a:p>
      </dgm:t>
    </dgm:pt>
    <dgm:pt modelId="{AF6FCC54-4A44-49C9-A374-946B8F7FC7EB}" type="parTrans" cxnId="{2C3DADF3-B8D9-4637-84EF-C3092B9A8A74}">
      <dgm:prSet/>
      <dgm:spPr/>
      <dgm:t>
        <a:bodyPr/>
        <a:lstStyle/>
        <a:p>
          <a:endParaRPr lang="en-US"/>
        </a:p>
      </dgm:t>
    </dgm:pt>
    <dgm:pt modelId="{07252FDD-9464-4321-B788-5BE3A8082E7D}" type="sibTrans" cxnId="{2C3DADF3-B8D9-4637-84EF-C3092B9A8A74}">
      <dgm:prSet/>
      <dgm:spPr/>
      <dgm:t>
        <a:bodyPr/>
        <a:lstStyle/>
        <a:p>
          <a:endParaRPr lang="en-US"/>
        </a:p>
      </dgm:t>
    </dgm:pt>
    <dgm:pt modelId="{326A2D76-49CC-4B6C-AFE0-D2093617D180}">
      <dgm:prSet/>
      <dgm:spPr/>
      <dgm:t>
        <a:bodyPr/>
        <a:lstStyle/>
        <a:p>
          <a:r>
            <a:rPr lang="en-US"/>
            <a:t>Depth-based Exploration</a:t>
          </a:r>
        </a:p>
      </dgm:t>
    </dgm:pt>
    <dgm:pt modelId="{5F6505ED-15C9-4B51-8E74-E58B2304034B}" type="parTrans" cxnId="{EA8F2A94-311C-4B8A-9DD4-2826518F287D}">
      <dgm:prSet/>
      <dgm:spPr/>
      <dgm:t>
        <a:bodyPr/>
        <a:lstStyle/>
        <a:p>
          <a:endParaRPr lang="en-US"/>
        </a:p>
      </dgm:t>
    </dgm:pt>
    <dgm:pt modelId="{DED59F89-7C8F-4EE6-9DDA-1AB512B589C5}" type="sibTrans" cxnId="{EA8F2A94-311C-4B8A-9DD4-2826518F287D}">
      <dgm:prSet/>
      <dgm:spPr/>
      <dgm:t>
        <a:bodyPr/>
        <a:lstStyle/>
        <a:p>
          <a:endParaRPr lang="en-US"/>
        </a:p>
      </dgm:t>
    </dgm:pt>
    <dgm:pt modelId="{ECD722F6-6767-4F04-81CE-0C0C9FA93371}">
      <dgm:prSet/>
      <dgm:spPr/>
      <dgm:t>
        <a:bodyPr/>
        <a:lstStyle/>
        <a:p>
          <a:r>
            <a:rPr lang="en-US"/>
            <a:t>Step 5</a:t>
          </a:r>
        </a:p>
      </dgm:t>
    </dgm:pt>
    <dgm:pt modelId="{63368207-9769-475F-A8CB-67A9EEC2BF2B}" type="parTrans" cxnId="{C21187F5-23B5-423C-A0E5-20646ED72FA6}">
      <dgm:prSet/>
      <dgm:spPr/>
      <dgm:t>
        <a:bodyPr/>
        <a:lstStyle/>
        <a:p>
          <a:endParaRPr lang="en-US"/>
        </a:p>
      </dgm:t>
    </dgm:pt>
    <dgm:pt modelId="{B01D0C27-EC55-4F67-9A0E-7B1DF3712176}" type="sibTrans" cxnId="{C21187F5-23B5-423C-A0E5-20646ED72FA6}">
      <dgm:prSet/>
      <dgm:spPr/>
      <dgm:t>
        <a:bodyPr/>
        <a:lstStyle/>
        <a:p>
          <a:endParaRPr lang="en-US"/>
        </a:p>
      </dgm:t>
    </dgm:pt>
    <dgm:pt modelId="{39C29559-9707-4D41-9B23-1C8418278E11}">
      <dgm:prSet/>
      <dgm:spPr/>
      <dgm:t>
        <a:bodyPr/>
        <a:lstStyle/>
        <a:p>
          <a:r>
            <a:rPr lang="en-US"/>
            <a:t>Optimal Move Selection</a:t>
          </a:r>
        </a:p>
      </dgm:t>
    </dgm:pt>
    <dgm:pt modelId="{1950AA96-BF26-4089-98EA-5CB224A7813D}" type="parTrans" cxnId="{2EB5343C-CD15-4057-B504-837A54529E83}">
      <dgm:prSet/>
      <dgm:spPr/>
      <dgm:t>
        <a:bodyPr/>
        <a:lstStyle/>
        <a:p>
          <a:endParaRPr lang="en-US"/>
        </a:p>
      </dgm:t>
    </dgm:pt>
    <dgm:pt modelId="{F808539C-8E12-4A36-98D8-66D0871229C8}" type="sibTrans" cxnId="{2EB5343C-CD15-4057-B504-837A54529E83}">
      <dgm:prSet/>
      <dgm:spPr/>
      <dgm:t>
        <a:bodyPr/>
        <a:lstStyle/>
        <a:p>
          <a:endParaRPr lang="en-US"/>
        </a:p>
      </dgm:t>
    </dgm:pt>
    <dgm:pt modelId="{004AFFF5-2FD1-4FC3-BF52-5DE50F19977F}">
      <dgm:prSet/>
      <dgm:spPr/>
      <dgm:t>
        <a:bodyPr/>
        <a:lstStyle/>
        <a:p>
          <a:r>
            <a:rPr lang="en-US"/>
            <a:t>Step 6</a:t>
          </a:r>
        </a:p>
      </dgm:t>
    </dgm:pt>
    <dgm:pt modelId="{603EE2E3-F18A-4810-8C03-D61D3D5B12C9}" type="parTrans" cxnId="{BEE91043-FAEA-4D1E-9FAC-28D15DEAE983}">
      <dgm:prSet/>
      <dgm:spPr/>
      <dgm:t>
        <a:bodyPr/>
        <a:lstStyle/>
        <a:p>
          <a:endParaRPr lang="en-US"/>
        </a:p>
      </dgm:t>
    </dgm:pt>
    <dgm:pt modelId="{EEC20D25-2690-4D0D-A2BE-9D91A9A9F0AF}" type="sibTrans" cxnId="{BEE91043-FAEA-4D1E-9FAC-28D15DEAE983}">
      <dgm:prSet/>
      <dgm:spPr/>
      <dgm:t>
        <a:bodyPr/>
        <a:lstStyle/>
        <a:p>
          <a:endParaRPr lang="en-US"/>
        </a:p>
      </dgm:t>
    </dgm:pt>
    <dgm:pt modelId="{07C52E9F-F7A2-460A-810B-BF8F908BE98B}">
      <dgm:prSet/>
      <dgm:spPr/>
      <dgm:t>
        <a:bodyPr/>
        <a:lstStyle/>
        <a:p>
          <a:r>
            <a:rPr lang="en-US"/>
            <a:t>Alpha Beta Pruning</a:t>
          </a:r>
        </a:p>
      </dgm:t>
    </dgm:pt>
    <dgm:pt modelId="{1B690D8B-1823-4035-8BA6-6B93BC60286E}" type="parTrans" cxnId="{24517476-FEDC-4EA3-9781-C9496C4128AA}">
      <dgm:prSet/>
      <dgm:spPr/>
      <dgm:t>
        <a:bodyPr/>
        <a:lstStyle/>
        <a:p>
          <a:endParaRPr lang="en-US"/>
        </a:p>
      </dgm:t>
    </dgm:pt>
    <dgm:pt modelId="{93103A1B-7E98-468E-91F8-103C98822509}" type="sibTrans" cxnId="{24517476-FEDC-4EA3-9781-C9496C4128AA}">
      <dgm:prSet/>
      <dgm:spPr/>
      <dgm:t>
        <a:bodyPr/>
        <a:lstStyle/>
        <a:p>
          <a:endParaRPr lang="en-US"/>
        </a:p>
      </dgm:t>
    </dgm:pt>
    <dgm:pt modelId="{DBFDFAD7-4E9F-4FD1-88E7-8674B4E99DF4}" type="pres">
      <dgm:prSet presAssocID="{A27889C4-4925-468F-B653-29D60863C72F}" presName="Name0" presStyleCnt="0">
        <dgm:presLayoutVars>
          <dgm:dir/>
          <dgm:animLvl val="lvl"/>
          <dgm:resizeHandles val="exact"/>
        </dgm:presLayoutVars>
      </dgm:prSet>
      <dgm:spPr/>
    </dgm:pt>
    <dgm:pt modelId="{D1373E6C-398D-4267-834E-74345945AAD7}" type="pres">
      <dgm:prSet presAssocID="{004AFFF5-2FD1-4FC3-BF52-5DE50F19977F}" presName="boxAndChildren" presStyleCnt="0"/>
      <dgm:spPr/>
    </dgm:pt>
    <dgm:pt modelId="{543CE3CD-1EF6-4CAB-9FF1-E669A0C99492}" type="pres">
      <dgm:prSet presAssocID="{004AFFF5-2FD1-4FC3-BF52-5DE50F19977F}" presName="parentTextBox" presStyleLbl="alignNode1" presStyleIdx="0" presStyleCnt="6"/>
      <dgm:spPr/>
    </dgm:pt>
    <dgm:pt modelId="{FFEDE830-7EE4-4604-B43F-37182ABE619F}" type="pres">
      <dgm:prSet presAssocID="{004AFFF5-2FD1-4FC3-BF52-5DE50F19977F}" presName="descendantBox" presStyleLbl="bgAccFollowNode1" presStyleIdx="0" presStyleCnt="6"/>
      <dgm:spPr/>
    </dgm:pt>
    <dgm:pt modelId="{45071126-1A18-43C7-BAC2-4F610CB39018}" type="pres">
      <dgm:prSet presAssocID="{B01D0C27-EC55-4F67-9A0E-7B1DF3712176}" presName="sp" presStyleCnt="0"/>
      <dgm:spPr/>
    </dgm:pt>
    <dgm:pt modelId="{E206DF02-89B4-48E1-B71C-F34355B62514}" type="pres">
      <dgm:prSet presAssocID="{ECD722F6-6767-4F04-81CE-0C0C9FA93371}" presName="arrowAndChildren" presStyleCnt="0"/>
      <dgm:spPr/>
    </dgm:pt>
    <dgm:pt modelId="{24A03612-40B3-49E9-8A8D-F27ED836A5EC}" type="pres">
      <dgm:prSet presAssocID="{ECD722F6-6767-4F04-81CE-0C0C9FA93371}" presName="parentTextArrow" presStyleLbl="node1" presStyleIdx="0" presStyleCnt="0"/>
      <dgm:spPr/>
    </dgm:pt>
    <dgm:pt modelId="{39E0D42E-49EB-465A-BAF0-08A6A1933F20}" type="pres">
      <dgm:prSet presAssocID="{ECD722F6-6767-4F04-81CE-0C0C9FA93371}" presName="arrow" presStyleLbl="alignNode1" presStyleIdx="1" presStyleCnt="6"/>
      <dgm:spPr/>
    </dgm:pt>
    <dgm:pt modelId="{ADF99282-7858-48A7-8A5B-3CB49DC9A196}" type="pres">
      <dgm:prSet presAssocID="{ECD722F6-6767-4F04-81CE-0C0C9FA93371}" presName="descendantArrow" presStyleLbl="bgAccFollowNode1" presStyleIdx="1" presStyleCnt="6"/>
      <dgm:spPr/>
    </dgm:pt>
    <dgm:pt modelId="{C17F6E2F-CCEA-44CC-B8BB-CDF34595FE4B}" type="pres">
      <dgm:prSet presAssocID="{07252FDD-9464-4321-B788-5BE3A8082E7D}" presName="sp" presStyleCnt="0"/>
      <dgm:spPr/>
    </dgm:pt>
    <dgm:pt modelId="{9DA13896-CF9F-402A-BA18-E88388037037}" type="pres">
      <dgm:prSet presAssocID="{9BAB0F56-9CDE-4A57-9D5E-52D515E5A69C}" presName="arrowAndChildren" presStyleCnt="0"/>
      <dgm:spPr/>
    </dgm:pt>
    <dgm:pt modelId="{00A5BB0B-9B41-47A7-B849-F57980F6DF72}" type="pres">
      <dgm:prSet presAssocID="{9BAB0F56-9CDE-4A57-9D5E-52D515E5A69C}" presName="parentTextArrow" presStyleLbl="node1" presStyleIdx="0" presStyleCnt="0"/>
      <dgm:spPr/>
    </dgm:pt>
    <dgm:pt modelId="{B1EA9093-FDDF-447C-950F-72FFF9B86389}" type="pres">
      <dgm:prSet presAssocID="{9BAB0F56-9CDE-4A57-9D5E-52D515E5A69C}" presName="arrow" presStyleLbl="alignNode1" presStyleIdx="2" presStyleCnt="6"/>
      <dgm:spPr/>
    </dgm:pt>
    <dgm:pt modelId="{7C21CBE3-9F9E-4805-B913-FCBB7A0468F4}" type="pres">
      <dgm:prSet presAssocID="{9BAB0F56-9CDE-4A57-9D5E-52D515E5A69C}" presName="descendantArrow" presStyleLbl="bgAccFollowNode1" presStyleIdx="2" presStyleCnt="6"/>
      <dgm:spPr/>
    </dgm:pt>
    <dgm:pt modelId="{781AA1BF-DDD5-4FB3-9EBD-C0EF742CFF02}" type="pres">
      <dgm:prSet presAssocID="{20219C37-5348-4C43-ABB2-8F783E8809A3}" presName="sp" presStyleCnt="0"/>
      <dgm:spPr/>
    </dgm:pt>
    <dgm:pt modelId="{B349498E-4AD3-4767-B172-C5C13C7FC23A}" type="pres">
      <dgm:prSet presAssocID="{01E3AB14-128A-4582-9225-FE08F68BD05C}" presName="arrowAndChildren" presStyleCnt="0"/>
      <dgm:spPr/>
    </dgm:pt>
    <dgm:pt modelId="{73994FCD-84B8-4E25-B923-17470898D36D}" type="pres">
      <dgm:prSet presAssocID="{01E3AB14-128A-4582-9225-FE08F68BD05C}" presName="parentTextArrow" presStyleLbl="node1" presStyleIdx="0" presStyleCnt="0"/>
      <dgm:spPr/>
    </dgm:pt>
    <dgm:pt modelId="{6444F19C-145F-40D4-868C-5948C0D1E4CF}" type="pres">
      <dgm:prSet presAssocID="{01E3AB14-128A-4582-9225-FE08F68BD05C}" presName="arrow" presStyleLbl="alignNode1" presStyleIdx="3" presStyleCnt="6"/>
      <dgm:spPr/>
    </dgm:pt>
    <dgm:pt modelId="{114A4B3E-73EC-43D7-9A52-F9034C08D3B2}" type="pres">
      <dgm:prSet presAssocID="{01E3AB14-128A-4582-9225-FE08F68BD05C}" presName="descendantArrow" presStyleLbl="bgAccFollowNode1" presStyleIdx="3" presStyleCnt="6"/>
      <dgm:spPr/>
    </dgm:pt>
    <dgm:pt modelId="{5B026B27-8F46-4652-93B4-C9736FA3454F}" type="pres">
      <dgm:prSet presAssocID="{BAA2D560-505D-46E6-A6A3-2513720BA332}" presName="sp" presStyleCnt="0"/>
      <dgm:spPr/>
    </dgm:pt>
    <dgm:pt modelId="{3C3C7F00-9254-47F2-8EAB-A683230766EC}" type="pres">
      <dgm:prSet presAssocID="{E1EAF7B7-88DA-4F21-AECC-E6521D9D190B}" presName="arrowAndChildren" presStyleCnt="0"/>
      <dgm:spPr/>
    </dgm:pt>
    <dgm:pt modelId="{DA209018-9893-4BCB-9601-39D315CE9CA3}" type="pres">
      <dgm:prSet presAssocID="{E1EAF7B7-88DA-4F21-AECC-E6521D9D190B}" presName="parentTextArrow" presStyleLbl="node1" presStyleIdx="0" presStyleCnt="0"/>
      <dgm:spPr/>
    </dgm:pt>
    <dgm:pt modelId="{BEF72190-067D-4866-85F0-58D707B4D20B}" type="pres">
      <dgm:prSet presAssocID="{E1EAF7B7-88DA-4F21-AECC-E6521D9D190B}" presName="arrow" presStyleLbl="alignNode1" presStyleIdx="4" presStyleCnt="6"/>
      <dgm:spPr/>
    </dgm:pt>
    <dgm:pt modelId="{047DE0A1-CA79-4456-8E83-7B51B095DD8F}" type="pres">
      <dgm:prSet presAssocID="{E1EAF7B7-88DA-4F21-AECC-E6521D9D190B}" presName="descendantArrow" presStyleLbl="bgAccFollowNode1" presStyleIdx="4" presStyleCnt="6"/>
      <dgm:spPr/>
    </dgm:pt>
    <dgm:pt modelId="{340A0C9E-6A3A-45BE-9C49-A083BF722A79}" type="pres">
      <dgm:prSet presAssocID="{99A81185-7B1E-403A-B283-5169D28AA5A5}" presName="sp" presStyleCnt="0"/>
      <dgm:spPr/>
    </dgm:pt>
    <dgm:pt modelId="{CD864589-4DC7-490F-8558-47889F416409}" type="pres">
      <dgm:prSet presAssocID="{278D9078-B326-4D6E-B474-AE7E867FE221}" presName="arrowAndChildren" presStyleCnt="0"/>
      <dgm:spPr/>
    </dgm:pt>
    <dgm:pt modelId="{710E2CFE-922A-4DD7-A33F-63277D271A67}" type="pres">
      <dgm:prSet presAssocID="{278D9078-B326-4D6E-B474-AE7E867FE221}" presName="parentTextArrow" presStyleLbl="node1" presStyleIdx="0" presStyleCnt="0"/>
      <dgm:spPr/>
    </dgm:pt>
    <dgm:pt modelId="{F4E4E2E6-473B-4110-AF8E-0A613A52675B}" type="pres">
      <dgm:prSet presAssocID="{278D9078-B326-4D6E-B474-AE7E867FE221}" presName="arrow" presStyleLbl="alignNode1" presStyleIdx="5" presStyleCnt="6"/>
      <dgm:spPr/>
    </dgm:pt>
    <dgm:pt modelId="{2D4300B1-F44B-4151-9774-A54724072635}" type="pres">
      <dgm:prSet presAssocID="{278D9078-B326-4D6E-B474-AE7E867FE221}" presName="descendantArrow" presStyleLbl="bgAccFollowNode1" presStyleIdx="5" presStyleCnt="6"/>
      <dgm:spPr/>
    </dgm:pt>
  </dgm:ptLst>
  <dgm:cxnLst>
    <dgm:cxn modelId="{01305719-F48D-4427-AEEC-01523B43AFB7}" type="presOf" srcId="{9BAB0F56-9CDE-4A57-9D5E-52D515E5A69C}" destId="{B1EA9093-FDDF-447C-950F-72FFF9B86389}" srcOrd="1" destOrd="0" presId="urn:microsoft.com/office/officeart/2016/7/layout/VerticalDownArrowProcess"/>
    <dgm:cxn modelId="{B6CA512B-FBF3-4731-814D-A2B1B4BBE358}" srcId="{01E3AB14-128A-4582-9225-FE08F68BD05C}" destId="{B47067F6-FC4D-4EA9-86F2-D3404B1369F8}" srcOrd="0" destOrd="0" parTransId="{6AC6C621-DF4A-4F49-A5A5-04FA38E00730}" sibTransId="{CB1A852B-0B16-4DA2-9A56-B0625B54670B}"/>
    <dgm:cxn modelId="{6B6AC733-D9DC-4757-8B01-43BE6E8E94C4}" type="presOf" srcId="{39C29559-9707-4D41-9B23-1C8418278E11}" destId="{ADF99282-7858-48A7-8A5B-3CB49DC9A196}" srcOrd="0" destOrd="0" presId="urn:microsoft.com/office/officeart/2016/7/layout/VerticalDownArrowProcess"/>
    <dgm:cxn modelId="{34FA7737-223C-4A40-B1FF-F38FABBB1E27}" type="presOf" srcId="{07C52E9F-F7A2-460A-810B-BF8F908BE98B}" destId="{FFEDE830-7EE4-4604-B43F-37182ABE619F}" srcOrd="0" destOrd="0" presId="urn:microsoft.com/office/officeart/2016/7/layout/VerticalDownArrowProcess"/>
    <dgm:cxn modelId="{EDB2BD39-5278-4100-A0B1-1F6CE7B3B302}" srcId="{A27889C4-4925-468F-B653-29D60863C72F}" destId="{E1EAF7B7-88DA-4F21-AECC-E6521D9D190B}" srcOrd="1" destOrd="0" parTransId="{3A807FE0-BB8F-495B-B551-2513AEEEDB6F}" sibTransId="{BAA2D560-505D-46E6-A6A3-2513720BA332}"/>
    <dgm:cxn modelId="{2EB5343C-CD15-4057-B504-837A54529E83}" srcId="{ECD722F6-6767-4F04-81CE-0C0C9FA93371}" destId="{39C29559-9707-4D41-9B23-1C8418278E11}" srcOrd="0" destOrd="0" parTransId="{1950AA96-BF26-4089-98EA-5CB224A7813D}" sibTransId="{F808539C-8E12-4A36-98D8-66D0871229C8}"/>
    <dgm:cxn modelId="{7422565F-688F-4A90-884F-A95B0FFC58DC}" type="presOf" srcId="{B47067F6-FC4D-4EA9-86F2-D3404B1369F8}" destId="{114A4B3E-73EC-43D7-9A52-F9034C08D3B2}" srcOrd="0" destOrd="0" presId="urn:microsoft.com/office/officeart/2016/7/layout/VerticalDownArrowProcess"/>
    <dgm:cxn modelId="{09726341-98C9-4C22-87DE-81A8650DFBC5}" type="presOf" srcId="{9BAB0F56-9CDE-4A57-9D5E-52D515E5A69C}" destId="{00A5BB0B-9B41-47A7-B849-F57980F6DF72}" srcOrd="0" destOrd="0" presId="urn:microsoft.com/office/officeart/2016/7/layout/VerticalDownArrowProcess"/>
    <dgm:cxn modelId="{22724A61-0CF3-44CB-AF58-F033FD861836}" type="presOf" srcId="{01E3AB14-128A-4582-9225-FE08F68BD05C}" destId="{6444F19C-145F-40D4-868C-5948C0D1E4CF}" srcOrd="1" destOrd="0" presId="urn:microsoft.com/office/officeart/2016/7/layout/VerticalDownArrowProcess"/>
    <dgm:cxn modelId="{BEE91043-FAEA-4D1E-9FAC-28D15DEAE983}" srcId="{A27889C4-4925-468F-B653-29D60863C72F}" destId="{004AFFF5-2FD1-4FC3-BF52-5DE50F19977F}" srcOrd="5" destOrd="0" parTransId="{603EE2E3-F18A-4810-8C03-D61D3D5B12C9}" sibTransId="{EEC20D25-2690-4D0D-A2BE-9D91A9A9F0AF}"/>
    <dgm:cxn modelId="{6A31A343-2804-4D40-9BE8-4EC8111BC44E}" srcId="{E1EAF7B7-88DA-4F21-AECC-E6521D9D190B}" destId="{5FFF0EDB-E7A0-4788-94F2-404361BE5AF2}" srcOrd="0" destOrd="0" parTransId="{280A7831-CF1D-4D04-BF91-7669B447AD4D}" sibTransId="{62318B1E-5601-4011-980B-E1308F998520}"/>
    <dgm:cxn modelId="{441D9064-E5AA-47D9-B74E-30B831E416B9}" type="presOf" srcId="{278D9078-B326-4D6E-B474-AE7E867FE221}" destId="{F4E4E2E6-473B-4110-AF8E-0A613A52675B}" srcOrd="1" destOrd="0" presId="urn:microsoft.com/office/officeart/2016/7/layout/VerticalDownArrowProcess"/>
    <dgm:cxn modelId="{3D9DEE64-78CF-4D1A-AA2E-593D033D185F}" type="presOf" srcId="{E1EAF7B7-88DA-4F21-AECC-E6521D9D190B}" destId="{DA209018-9893-4BCB-9601-39D315CE9CA3}" srcOrd="0" destOrd="0" presId="urn:microsoft.com/office/officeart/2016/7/layout/VerticalDownArrowProcess"/>
    <dgm:cxn modelId="{87437771-CB3C-4B77-A06F-62890F8967BE}" type="presOf" srcId="{E1EAF7B7-88DA-4F21-AECC-E6521D9D190B}" destId="{BEF72190-067D-4866-85F0-58D707B4D20B}" srcOrd="1" destOrd="0" presId="urn:microsoft.com/office/officeart/2016/7/layout/VerticalDownArrowProcess"/>
    <dgm:cxn modelId="{2E660F74-CFD8-4246-8004-D46C86D96466}" type="presOf" srcId="{278D9078-B326-4D6E-B474-AE7E867FE221}" destId="{710E2CFE-922A-4DD7-A33F-63277D271A67}" srcOrd="0" destOrd="0" presId="urn:microsoft.com/office/officeart/2016/7/layout/VerticalDownArrowProcess"/>
    <dgm:cxn modelId="{55352B54-2617-4296-8021-6EB3C30E2188}" srcId="{A27889C4-4925-468F-B653-29D60863C72F}" destId="{278D9078-B326-4D6E-B474-AE7E867FE221}" srcOrd="0" destOrd="0" parTransId="{557AC410-1811-4D88-87E2-A98021098B69}" sibTransId="{99A81185-7B1E-403A-B283-5169D28AA5A5}"/>
    <dgm:cxn modelId="{24517476-FEDC-4EA3-9781-C9496C4128AA}" srcId="{004AFFF5-2FD1-4FC3-BF52-5DE50F19977F}" destId="{07C52E9F-F7A2-460A-810B-BF8F908BE98B}" srcOrd="0" destOrd="0" parTransId="{1B690D8B-1823-4035-8BA6-6B93BC60286E}" sibTransId="{93103A1B-7E98-468E-91F8-103C98822509}"/>
    <dgm:cxn modelId="{C176FE79-0B97-4886-B534-7594363BA0C9}" type="presOf" srcId="{C41D1B17-F079-449A-B604-8AB01F2C5F87}" destId="{2D4300B1-F44B-4151-9774-A54724072635}" srcOrd="0" destOrd="0" presId="urn:microsoft.com/office/officeart/2016/7/layout/VerticalDownArrowProcess"/>
    <dgm:cxn modelId="{544DA95A-16F8-4CE6-98FD-8CCDB59CC6C6}" type="presOf" srcId="{01E3AB14-128A-4582-9225-FE08F68BD05C}" destId="{73994FCD-84B8-4E25-B923-17470898D36D}" srcOrd="0" destOrd="0" presId="urn:microsoft.com/office/officeart/2016/7/layout/VerticalDownArrowProcess"/>
    <dgm:cxn modelId="{A6F41A7B-8E5A-4A63-BAEC-A014ADCACEA6}" type="presOf" srcId="{ECD722F6-6767-4F04-81CE-0C0C9FA93371}" destId="{24A03612-40B3-49E9-8A8D-F27ED836A5EC}" srcOrd="0" destOrd="0" presId="urn:microsoft.com/office/officeart/2016/7/layout/VerticalDownArrowProcess"/>
    <dgm:cxn modelId="{E0AD687B-AB96-46CD-A294-3DA7AEA3941E}" type="presOf" srcId="{ECD722F6-6767-4F04-81CE-0C0C9FA93371}" destId="{39E0D42E-49EB-465A-BAF0-08A6A1933F20}" srcOrd="1" destOrd="0" presId="urn:microsoft.com/office/officeart/2016/7/layout/VerticalDownArrowProcess"/>
    <dgm:cxn modelId="{440C5785-5AE0-4501-B2A0-060A1628675C}" type="presOf" srcId="{A27889C4-4925-468F-B653-29D60863C72F}" destId="{DBFDFAD7-4E9F-4FD1-88E7-8674B4E99DF4}" srcOrd="0" destOrd="0" presId="urn:microsoft.com/office/officeart/2016/7/layout/VerticalDownArrowProcess"/>
    <dgm:cxn modelId="{7021ED8A-CD21-4ED2-9AB7-F8C2026616BF}" type="presOf" srcId="{5FFF0EDB-E7A0-4788-94F2-404361BE5AF2}" destId="{047DE0A1-CA79-4456-8E83-7B51B095DD8F}" srcOrd="0" destOrd="0" presId="urn:microsoft.com/office/officeart/2016/7/layout/VerticalDownArrowProcess"/>
    <dgm:cxn modelId="{EA8F2A94-311C-4B8A-9DD4-2826518F287D}" srcId="{9BAB0F56-9CDE-4A57-9D5E-52D515E5A69C}" destId="{326A2D76-49CC-4B6C-AFE0-D2093617D180}" srcOrd="0" destOrd="0" parTransId="{5F6505ED-15C9-4B51-8E74-E58B2304034B}" sibTransId="{DED59F89-7C8F-4EE6-9DDA-1AB512B589C5}"/>
    <dgm:cxn modelId="{C2AAAAC5-DFB6-4616-A4C2-A9CC866D2865}" srcId="{A27889C4-4925-468F-B653-29D60863C72F}" destId="{01E3AB14-128A-4582-9225-FE08F68BD05C}" srcOrd="2" destOrd="0" parTransId="{E42DEC2D-8EC7-4021-81DF-AA0854D44784}" sibTransId="{20219C37-5348-4C43-ABB2-8F783E8809A3}"/>
    <dgm:cxn modelId="{E75F7BD0-6D29-4022-A9BB-3B5BBF39FC71}" srcId="{278D9078-B326-4D6E-B474-AE7E867FE221}" destId="{C41D1B17-F079-449A-B604-8AB01F2C5F87}" srcOrd="0" destOrd="0" parTransId="{8973F922-348A-436D-92E9-EC95C569D294}" sibTransId="{7FC79399-7867-4873-AF52-67CABA0C5EB4}"/>
    <dgm:cxn modelId="{8BA0AAD6-CB70-427A-A76F-4E25021445E9}" type="presOf" srcId="{004AFFF5-2FD1-4FC3-BF52-5DE50F19977F}" destId="{543CE3CD-1EF6-4CAB-9FF1-E669A0C99492}" srcOrd="0" destOrd="0" presId="urn:microsoft.com/office/officeart/2016/7/layout/VerticalDownArrowProcess"/>
    <dgm:cxn modelId="{2C3DADF3-B8D9-4637-84EF-C3092B9A8A74}" srcId="{A27889C4-4925-468F-B653-29D60863C72F}" destId="{9BAB0F56-9CDE-4A57-9D5E-52D515E5A69C}" srcOrd="3" destOrd="0" parTransId="{AF6FCC54-4A44-49C9-A374-946B8F7FC7EB}" sibTransId="{07252FDD-9464-4321-B788-5BE3A8082E7D}"/>
    <dgm:cxn modelId="{C21187F5-23B5-423C-A0E5-20646ED72FA6}" srcId="{A27889C4-4925-468F-B653-29D60863C72F}" destId="{ECD722F6-6767-4F04-81CE-0C0C9FA93371}" srcOrd="4" destOrd="0" parTransId="{63368207-9769-475F-A8CB-67A9EEC2BF2B}" sibTransId="{B01D0C27-EC55-4F67-9A0E-7B1DF3712176}"/>
    <dgm:cxn modelId="{C19861FE-9095-41A3-B096-41041AE6B482}" type="presOf" srcId="{326A2D76-49CC-4B6C-AFE0-D2093617D180}" destId="{7C21CBE3-9F9E-4805-B913-FCBB7A0468F4}" srcOrd="0" destOrd="0" presId="urn:microsoft.com/office/officeart/2016/7/layout/VerticalDownArrowProcess"/>
    <dgm:cxn modelId="{C92F886B-8CFC-40AE-A389-C2905E56A2CE}" type="presParOf" srcId="{DBFDFAD7-4E9F-4FD1-88E7-8674B4E99DF4}" destId="{D1373E6C-398D-4267-834E-74345945AAD7}" srcOrd="0" destOrd="0" presId="urn:microsoft.com/office/officeart/2016/7/layout/VerticalDownArrowProcess"/>
    <dgm:cxn modelId="{CD0ABFDA-5A04-4BA0-B532-9415C3584D35}" type="presParOf" srcId="{D1373E6C-398D-4267-834E-74345945AAD7}" destId="{543CE3CD-1EF6-4CAB-9FF1-E669A0C99492}" srcOrd="0" destOrd="0" presId="urn:microsoft.com/office/officeart/2016/7/layout/VerticalDownArrowProcess"/>
    <dgm:cxn modelId="{EBD05B97-856C-4F28-BAC1-194A144C9052}" type="presParOf" srcId="{D1373E6C-398D-4267-834E-74345945AAD7}" destId="{FFEDE830-7EE4-4604-B43F-37182ABE619F}" srcOrd="1" destOrd="0" presId="urn:microsoft.com/office/officeart/2016/7/layout/VerticalDownArrowProcess"/>
    <dgm:cxn modelId="{432C87D4-30C4-44EC-A1E4-8C3979C13D95}" type="presParOf" srcId="{DBFDFAD7-4E9F-4FD1-88E7-8674B4E99DF4}" destId="{45071126-1A18-43C7-BAC2-4F610CB39018}" srcOrd="1" destOrd="0" presId="urn:microsoft.com/office/officeart/2016/7/layout/VerticalDownArrowProcess"/>
    <dgm:cxn modelId="{65A97471-0563-425A-8D44-0D3D48B08D83}" type="presParOf" srcId="{DBFDFAD7-4E9F-4FD1-88E7-8674B4E99DF4}" destId="{E206DF02-89B4-48E1-B71C-F34355B62514}" srcOrd="2" destOrd="0" presId="urn:microsoft.com/office/officeart/2016/7/layout/VerticalDownArrowProcess"/>
    <dgm:cxn modelId="{67BB585D-263A-4DA1-BF79-5118FC2CD987}" type="presParOf" srcId="{E206DF02-89B4-48E1-B71C-F34355B62514}" destId="{24A03612-40B3-49E9-8A8D-F27ED836A5EC}" srcOrd="0" destOrd="0" presId="urn:microsoft.com/office/officeart/2016/7/layout/VerticalDownArrowProcess"/>
    <dgm:cxn modelId="{88E1FE82-F80C-45BF-954E-FA79FC4CD308}" type="presParOf" srcId="{E206DF02-89B4-48E1-B71C-F34355B62514}" destId="{39E0D42E-49EB-465A-BAF0-08A6A1933F20}" srcOrd="1" destOrd="0" presId="urn:microsoft.com/office/officeart/2016/7/layout/VerticalDownArrowProcess"/>
    <dgm:cxn modelId="{F12756A7-7F96-4111-A7D2-4726D5918FBF}" type="presParOf" srcId="{E206DF02-89B4-48E1-B71C-F34355B62514}" destId="{ADF99282-7858-48A7-8A5B-3CB49DC9A196}" srcOrd="2" destOrd="0" presId="urn:microsoft.com/office/officeart/2016/7/layout/VerticalDownArrowProcess"/>
    <dgm:cxn modelId="{DA745F4F-BD80-41F0-8688-09B861E66EAB}" type="presParOf" srcId="{DBFDFAD7-4E9F-4FD1-88E7-8674B4E99DF4}" destId="{C17F6E2F-CCEA-44CC-B8BB-CDF34595FE4B}" srcOrd="3" destOrd="0" presId="urn:microsoft.com/office/officeart/2016/7/layout/VerticalDownArrowProcess"/>
    <dgm:cxn modelId="{BAB230EC-F072-452B-B22B-F57F550A2244}" type="presParOf" srcId="{DBFDFAD7-4E9F-4FD1-88E7-8674B4E99DF4}" destId="{9DA13896-CF9F-402A-BA18-E88388037037}" srcOrd="4" destOrd="0" presId="urn:microsoft.com/office/officeart/2016/7/layout/VerticalDownArrowProcess"/>
    <dgm:cxn modelId="{F9C0A898-273D-425E-9734-B6F0964D048C}" type="presParOf" srcId="{9DA13896-CF9F-402A-BA18-E88388037037}" destId="{00A5BB0B-9B41-47A7-B849-F57980F6DF72}" srcOrd="0" destOrd="0" presId="urn:microsoft.com/office/officeart/2016/7/layout/VerticalDownArrowProcess"/>
    <dgm:cxn modelId="{CAF3C5BE-13FE-4F11-8587-316351853F22}" type="presParOf" srcId="{9DA13896-CF9F-402A-BA18-E88388037037}" destId="{B1EA9093-FDDF-447C-950F-72FFF9B86389}" srcOrd="1" destOrd="0" presId="urn:microsoft.com/office/officeart/2016/7/layout/VerticalDownArrowProcess"/>
    <dgm:cxn modelId="{29ABD328-EE8B-416B-9627-2E2E559C4ED6}" type="presParOf" srcId="{9DA13896-CF9F-402A-BA18-E88388037037}" destId="{7C21CBE3-9F9E-4805-B913-FCBB7A0468F4}" srcOrd="2" destOrd="0" presId="urn:microsoft.com/office/officeart/2016/7/layout/VerticalDownArrowProcess"/>
    <dgm:cxn modelId="{03FB276A-415C-47CC-B225-2A3A84F14089}" type="presParOf" srcId="{DBFDFAD7-4E9F-4FD1-88E7-8674B4E99DF4}" destId="{781AA1BF-DDD5-4FB3-9EBD-C0EF742CFF02}" srcOrd="5" destOrd="0" presId="urn:microsoft.com/office/officeart/2016/7/layout/VerticalDownArrowProcess"/>
    <dgm:cxn modelId="{8123F809-FE29-4158-869D-F2A035A56732}" type="presParOf" srcId="{DBFDFAD7-4E9F-4FD1-88E7-8674B4E99DF4}" destId="{B349498E-4AD3-4767-B172-C5C13C7FC23A}" srcOrd="6" destOrd="0" presId="urn:microsoft.com/office/officeart/2016/7/layout/VerticalDownArrowProcess"/>
    <dgm:cxn modelId="{B0311E9C-01CE-41BB-B9DA-B7DA2B1AC114}" type="presParOf" srcId="{B349498E-4AD3-4767-B172-C5C13C7FC23A}" destId="{73994FCD-84B8-4E25-B923-17470898D36D}" srcOrd="0" destOrd="0" presId="urn:microsoft.com/office/officeart/2016/7/layout/VerticalDownArrowProcess"/>
    <dgm:cxn modelId="{59472BD3-41D7-4859-A3D4-0660937A82BE}" type="presParOf" srcId="{B349498E-4AD3-4767-B172-C5C13C7FC23A}" destId="{6444F19C-145F-40D4-868C-5948C0D1E4CF}" srcOrd="1" destOrd="0" presId="urn:microsoft.com/office/officeart/2016/7/layout/VerticalDownArrowProcess"/>
    <dgm:cxn modelId="{5AFED96B-7304-462A-AC5B-700D34025DC8}" type="presParOf" srcId="{B349498E-4AD3-4767-B172-C5C13C7FC23A}" destId="{114A4B3E-73EC-43D7-9A52-F9034C08D3B2}" srcOrd="2" destOrd="0" presId="urn:microsoft.com/office/officeart/2016/7/layout/VerticalDownArrowProcess"/>
    <dgm:cxn modelId="{F2EA7FD6-F694-4C49-96AB-E89A4CCB5C65}" type="presParOf" srcId="{DBFDFAD7-4E9F-4FD1-88E7-8674B4E99DF4}" destId="{5B026B27-8F46-4652-93B4-C9736FA3454F}" srcOrd="7" destOrd="0" presId="urn:microsoft.com/office/officeart/2016/7/layout/VerticalDownArrowProcess"/>
    <dgm:cxn modelId="{CEA5C255-DB76-49FB-8308-51BBB9A04E19}" type="presParOf" srcId="{DBFDFAD7-4E9F-4FD1-88E7-8674B4E99DF4}" destId="{3C3C7F00-9254-47F2-8EAB-A683230766EC}" srcOrd="8" destOrd="0" presId="urn:microsoft.com/office/officeart/2016/7/layout/VerticalDownArrowProcess"/>
    <dgm:cxn modelId="{49E54A6B-1A25-4263-A29E-DBCE93A98D62}" type="presParOf" srcId="{3C3C7F00-9254-47F2-8EAB-A683230766EC}" destId="{DA209018-9893-4BCB-9601-39D315CE9CA3}" srcOrd="0" destOrd="0" presId="urn:microsoft.com/office/officeart/2016/7/layout/VerticalDownArrowProcess"/>
    <dgm:cxn modelId="{76F4AE90-8F99-4ADF-998B-F325995222CA}" type="presParOf" srcId="{3C3C7F00-9254-47F2-8EAB-A683230766EC}" destId="{BEF72190-067D-4866-85F0-58D707B4D20B}" srcOrd="1" destOrd="0" presId="urn:microsoft.com/office/officeart/2016/7/layout/VerticalDownArrowProcess"/>
    <dgm:cxn modelId="{7A1129DC-C2CF-4F59-9354-4C7A22221D94}" type="presParOf" srcId="{3C3C7F00-9254-47F2-8EAB-A683230766EC}" destId="{047DE0A1-CA79-4456-8E83-7B51B095DD8F}" srcOrd="2" destOrd="0" presId="urn:microsoft.com/office/officeart/2016/7/layout/VerticalDownArrowProcess"/>
    <dgm:cxn modelId="{9A6DFD9B-D2A1-475B-959F-B28EFFA965BB}" type="presParOf" srcId="{DBFDFAD7-4E9F-4FD1-88E7-8674B4E99DF4}" destId="{340A0C9E-6A3A-45BE-9C49-A083BF722A79}" srcOrd="9" destOrd="0" presId="urn:microsoft.com/office/officeart/2016/7/layout/VerticalDownArrowProcess"/>
    <dgm:cxn modelId="{92DA9087-14BF-451E-B3C5-286791BA613A}" type="presParOf" srcId="{DBFDFAD7-4E9F-4FD1-88E7-8674B4E99DF4}" destId="{CD864589-4DC7-490F-8558-47889F416409}" srcOrd="10" destOrd="0" presId="urn:microsoft.com/office/officeart/2016/7/layout/VerticalDownArrowProcess"/>
    <dgm:cxn modelId="{D5E55727-2591-4C12-B94E-DBC0D68F1D77}" type="presParOf" srcId="{CD864589-4DC7-490F-8558-47889F416409}" destId="{710E2CFE-922A-4DD7-A33F-63277D271A67}" srcOrd="0" destOrd="0" presId="urn:microsoft.com/office/officeart/2016/7/layout/VerticalDownArrowProcess"/>
    <dgm:cxn modelId="{092F6800-FB3F-43EA-9601-4E80579CECD2}" type="presParOf" srcId="{CD864589-4DC7-490F-8558-47889F416409}" destId="{F4E4E2E6-473B-4110-AF8E-0A613A52675B}" srcOrd="1" destOrd="0" presId="urn:microsoft.com/office/officeart/2016/7/layout/VerticalDownArrowProcess"/>
    <dgm:cxn modelId="{0F2A1AEB-3CB4-41AF-B9DE-72C80A2EF860}" type="presParOf" srcId="{CD864589-4DC7-490F-8558-47889F416409}" destId="{2D4300B1-F44B-4151-9774-A54724072635}"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5CBEFCB-704E-4821-9651-59D37BBD66B1}" type="doc">
      <dgm:prSet loTypeId="urn:microsoft.com/office/officeart/2005/8/layout/orgChart1" loCatId="hierarchy" qsTypeId="urn:microsoft.com/office/officeart/2005/8/quickstyle/simple1" qsCatId="simple" csTypeId="urn:microsoft.com/office/officeart/2005/8/colors/accent1_2" csCatId="accent1"/>
      <dgm:spPr/>
      <dgm:t>
        <a:bodyPr/>
        <a:lstStyle/>
        <a:p>
          <a:endParaRPr lang="en-US"/>
        </a:p>
      </dgm:t>
    </dgm:pt>
    <dgm:pt modelId="{6D5C189B-09D6-450B-AFF2-E36C2E95F656}">
      <dgm:prSet/>
      <dgm:spPr/>
      <dgm:t>
        <a:bodyPr/>
        <a:lstStyle/>
        <a:p>
          <a:r>
            <a:rPr lang="en-US" dirty="0"/>
            <a:t>Types of CSPs</a:t>
          </a:r>
        </a:p>
      </dgm:t>
    </dgm:pt>
    <dgm:pt modelId="{068FDF14-83E8-4E7D-8D61-E4285B9B6FF0}" type="parTrans" cxnId="{F6498A17-029C-4DBC-BABB-40F272E48388}">
      <dgm:prSet/>
      <dgm:spPr/>
      <dgm:t>
        <a:bodyPr/>
        <a:lstStyle/>
        <a:p>
          <a:endParaRPr lang="en-US"/>
        </a:p>
      </dgm:t>
    </dgm:pt>
    <dgm:pt modelId="{ABB21BB3-0CDD-4692-BE75-B0E5E58B91DF}" type="sibTrans" cxnId="{F6498A17-029C-4DBC-BABB-40F272E48388}">
      <dgm:prSet/>
      <dgm:spPr/>
      <dgm:t>
        <a:bodyPr/>
        <a:lstStyle/>
        <a:p>
          <a:endParaRPr lang="en-US"/>
        </a:p>
      </dgm:t>
    </dgm:pt>
    <dgm:pt modelId="{6153E22A-EB3A-42CD-9EB0-7C88D473910B}">
      <dgm:prSet/>
      <dgm:spPr/>
      <dgm:t>
        <a:bodyPr/>
        <a:lstStyle/>
        <a:p>
          <a:r>
            <a:rPr lang="en-US"/>
            <a:t>Binary CSP</a:t>
          </a:r>
        </a:p>
      </dgm:t>
    </dgm:pt>
    <dgm:pt modelId="{00AA2DF7-00CF-4EEE-876D-5396FFAC9508}" type="parTrans" cxnId="{8D249DD1-9167-4D86-960E-699F643ADFA7}">
      <dgm:prSet/>
      <dgm:spPr/>
      <dgm:t>
        <a:bodyPr/>
        <a:lstStyle/>
        <a:p>
          <a:endParaRPr lang="en-US"/>
        </a:p>
      </dgm:t>
    </dgm:pt>
    <dgm:pt modelId="{78876DDB-4684-4304-ABC3-15BC8F24FEB7}" type="sibTrans" cxnId="{8D249DD1-9167-4D86-960E-699F643ADFA7}">
      <dgm:prSet/>
      <dgm:spPr/>
      <dgm:t>
        <a:bodyPr/>
        <a:lstStyle/>
        <a:p>
          <a:endParaRPr lang="en-US"/>
        </a:p>
      </dgm:t>
    </dgm:pt>
    <dgm:pt modelId="{D052B146-1FCD-4702-B22A-045E73C5BFC1}">
      <dgm:prSet/>
      <dgm:spPr/>
      <dgm:t>
        <a:bodyPr/>
        <a:lstStyle/>
        <a:p>
          <a:r>
            <a:rPr lang="en-US"/>
            <a:t>Non-binary CSPs</a:t>
          </a:r>
        </a:p>
      </dgm:t>
    </dgm:pt>
    <dgm:pt modelId="{B9913CC1-4D37-40EA-B3B3-807F6AF77484}" type="parTrans" cxnId="{115B8144-54DE-431E-96B2-C071D783FD98}">
      <dgm:prSet/>
      <dgm:spPr/>
      <dgm:t>
        <a:bodyPr/>
        <a:lstStyle/>
        <a:p>
          <a:endParaRPr lang="en-US"/>
        </a:p>
      </dgm:t>
    </dgm:pt>
    <dgm:pt modelId="{3BEB1090-CA3D-4ED5-A43D-F82FBF5E36B4}" type="sibTrans" cxnId="{115B8144-54DE-431E-96B2-C071D783FD98}">
      <dgm:prSet/>
      <dgm:spPr/>
      <dgm:t>
        <a:bodyPr/>
        <a:lstStyle/>
        <a:p>
          <a:endParaRPr lang="en-US"/>
        </a:p>
      </dgm:t>
    </dgm:pt>
    <dgm:pt modelId="{7E785044-5BA6-4F03-B616-8CDB23B6AE1F}">
      <dgm:prSet/>
      <dgm:spPr/>
      <dgm:t>
        <a:bodyPr/>
        <a:lstStyle/>
        <a:p>
          <a:r>
            <a:rPr lang="en-US"/>
            <a:t>Hard and Soft CSPs</a:t>
          </a:r>
        </a:p>
      </dgm:t>
    </dgm:pt>
    <dgm:pt modelId="{2ECFE521-0058-48D0-ABA4-D7D54B5DAC1A}" type="parTrans" cxnId="{9995FA38-684B-43C0-BF0F-7476C5547D4B}">
      <dgm:prSet/>
      <dgm:spPr/>
      <dgm:t>
        <a:bodyPr/>
        <a:lstStyle/>
        <a:p>
          <a:endParaRPr lang="en-US"/>
        </a:p>
      </dgm:t>
    </dgm:pt>
    <dgm:pt modelId="{10F70D9A-FA64-4A89-8CF4-0F46018E3C13}" type="sibTrans" cxnId="{9995FA38-684B-43C0-BF0F-7476C5547D4B}">
      <dgm:prSet/>
      <dgm:spPr/>
      <dgm:t>
        <a:bodyPr/>
        <a:lstStyle/>
        <a:p>
          <a:endParaRPr lang="en-US"/>
        </a:p>
      </dgm:t>
    </dgm:pt>
    <dgm:pt modelId="{0E24DBA9-6EF4-4B20-9EB5-A5A7DA407E1C}" type="pres">
      <dgm:prSet presAssocID="{E5CBEFCB-704E-4821-9651-59D37BBD66B1}" presName="hierChild1" presStyleCnt="0">
        <dgm:presLayoutVars>
          <dgm:orgChart val="1"/>
          <dgm:chPref val="1"/>
          <dgm:dir/>
          <dgm:animOne val="branch"/>
          <dgm:animLvl val="lvl"/>
          <dgm:resizeHandles/>
        </dgm:presLayoutVars>
      </dgm:prSet>
      <dgm:spPr/>
    </dgm:pt>
    <dgm:pt modelId="{A9E54020-6F26-41B6-9E83-AB7893AA7BB1}" type="pres">
      <dgm:prSet presAssocID="{6D5C189B-09D6-450B-AFF2-E36C2E95F656}" presName="hierRoot1" presStyleCnt="0">
        <dgm:presLayoutVars>
          <dgm:hierBranch val="init"/>
        </dgm:presLayoutVars>
      </dgm:prSet>
      <dgm:spPr/>
    </dgm:pt>
    <dgm:pt modelId="{6B6FB043-5C3D-4636-B7EF-49FEA5B8CD48}" type="pres">
      <dgm:prSet presAssocID="{6D5C189B-09D6-450B-AFF2-E36C2E95F656}" presName="rootComposite1" presStyleCnt="0"/>
      <dgm:spPr/>
    </dgm:pt>
    <dgm:pt modelId="{B3A2D3BD-54CC-474E-B2D6-D2C5B5313A5C}" type="pres">
      <dgm:prSet presAssocID="{6D5C189B-09D6-450B-AFF2-E36C2E95F656}" presName="rootText1" presStyleLbl="node0" presStyleIdx="0" presStyleCnt="1">
        <dgm:presLayoutVars>
          <dgm:chPref val="3"/>
        </dgm:presLayoutVars>
      </dgm:prSet>
      <dgm:spPr/>
    </dgm:pt>
    <dgm:pt modelId="{30615E57-434E-4192-B914-F1E9766F5576}" type="pres">
      <dgm:prSet presAssocID="{6D5C189B-09D6-450B-AFF2-E36C2E95F656}" presName="rootConnector1" presStyleLbl="node1" presStyleIdx="0" presStyleCnt="0"/>
      <dgm:spPr/>
    </dgm:pt>
    <dgm:pt modelId="{1A70754C-BD2F-47F0-9BD6-D44D147B7D16}" type="pres">
      <dgm:prSet presAssocID="{6D5C189B-09D6-450B-AFF2-E36C2E95F656}" presName="hierChild2" presStyleCnt="0"/>
      <dgm:spPr/>
    </dgm:pt>
    <dgm:pt modelId="{093885B6-0A51-4444-8769-7E8B325C974D}" type="pres">
      <dgm:prSet presAssocID="{00AA2DF7-00CF-4EEE-876D-5396FFAC9508}" presName="Name37" presStyleLbl="parChTrans1D2" presStyleIdx="0" presStyleCnt="3"/>
      <dgm:spPr/>
    </dgm:pt>
    <dgm:pt modelId="{E464D3F0-96FA-4CC6-9B4F-DDE989840058}" type="pres">
      <dgm:prSet presAssocID="{6153E22A-EB3A-42CD-9EB0-7C88D473910B}" presName="hierRoot2" presStyleCnt="0">
        <dgm:presLayoutVars>
          <dgm:hierBranch val="init"/>
        </dgm:presLayoutVars>
      </dgm:prSet>
      <dgm:spPr/>
    </dgm:pt>
    <dgm:pt modelId="{619907CF-B470-4F69-BB99-E786F6DE56ED}" type="pres">
      <dgm:prSet presAssocID="{6153E22A-EB3A-42CD-9EB0-7C88D473910B}" presName="rootComposite" presStyleCnt="0"/>
      <dgm:spPr/>
    </dgm:pt>
    <dgm:pt modelId="{C1C9A3FC-DD33-4DED-85F3-22E8B9E66FA0}" type="pres">
      <dgm:prSet presAssocID="{6153E22A-EB3A-42CD-9EB0-7C88D473910B}" presName="rootText" presStyleLbl="node2" presStyleIdx="0" presStyleCnt="3">
        <dgm:presLayoutVars>
          <dgm:chPref val="3"/>
        </dgm:presLayoutVars>
      </dgm:prSet>
      <dgm:spPr/>
    </dgm:pt>
    <dgm:pt modelId="{54599BAA-FF87-4240-A673-C52B031D30A6}" type="pres">
      <dgm:prSet presAssocID="{6153E22A-EB3A-42CD-9EB0-7C88D473910B}" presName="rootConnector" presStyleLbl="node2" presStyleIdx="0" presStyleCnt="3"/>
      <dgm:spPr/>
    </dgm:pt>
    <dgm:pt modelId="{89F0C724-6802-43D5-8F64-FFD31F4A1E1F}" type="pres">
      <dgm:prSet presAssocID="{6153E22A-EB3A-42CD-9EB0-7C88D473910B}" presName="hierChild4" presStyleCnt="0"/>
      <dgm:spPr/>
    </dgm:pt>
    <dgm:pt modelId="{C244AB15-F12B-40CF-96ED-52D93CD8DEF4}" type="pres">
      <dgm:prSet presAssocID="{6153E22A-EB3A-42CD-9EB0-7C88D473910B}" presName="hierChild5" presStyleCnt="0"/>
      <dgm:spPr/>
    </dgm:pt>
    <dgm:pt modelId="{679D5F43-EADE-451A-AC87-6ED70F670D93}" type="pres">
      <dgm:prSet presAssocID="{B9913CC1-4D37-40EA-B3B3-807F6AF77484}" presName="Name37" presStyleLbl="parChTrans1D2" presStyleIdx="1" presStyleCnt="3"/>
      <dgm:spPr/>
    </dgm:pt>
    <dgm:pt modelId="{09CC702A-13C5-4732-81E5-26FF3FC65595}" type="pres">
      <dgm:prSet presAssocID="{D052B146-1FCD-4702-B22A-045E73C5BFC1}" presName="hierRoot2" presStyleCnt="0">
        <dgm:presLayoutVars>
          <dgm:hierBranch val="init"/>
        </dgm:presLayoutVars>
      </dgm:prSet>
      <dgm:spPr/>
    </dgm:pt>
    <dgm:pt modelId="{B3373AFB-F240-4476-A94E-6AD670F4AB5D}" type="pres">
      <dgm:prSet presAssocID="{D052B146-1FCD-4702-B22A-045E73C5BFC1}" presName="rootComposite" presStyleCnt="0"/>
      <dgm:spPr/>
    </dgm:pt>
    <dgm:pt modelId="{47D8BDC2-10B1-4051-B667-EBB90038B768}" type="pres">
      <dgm:prSet presAssocID="{D052B146-1FCD-4702-B22A-045E73C5BFC1}" presName="rootText" presStyleLbl="node2" presStyleIdx="1" presStyleCnt="3">
        <dgm:presLayoutVars>
          <dgm:chPref val="3"/>
        </dgm:presLayoutVars>
      </dgm:prSet>
      <dgm:spPr/>
    </dgm:pt>
    <dgm:pt modelId="{BE3503D4-0878-4F1B-ACEE-255263949CEC}" type="pres">
      <dgm:prSet presAssocID="{D052B146-1FCD-4702-B22A-045E73C5BFC1}" presName="rootConnector" presStyleLbl="node2" presStyleIdx="1" presStyleCnt="3"/>
      <dgm:spPr/>
    </dgm:pt>
    <dgm:pt modelId="{F80CE024-0992-485E-9612-12192C1B33C5}" type="pres">
      <dgm:prSet presAssocID="{D052B146-1FCD-4702-B22A-045E73C5BFC1}" presName="hierChild4" presStyleCnt="0"/>
      <dgm:spPr/>
    </dgm:pt>
    <dgm:pt modelId="{E9F1D2C6-9937-4279-8762-3416582D89F4}" type="pres">
      <dgm:prSet presAssocID="{D052B146-1FCD-4702-B22A-045E73C5BFC1}" presName="hierChild5" presStyleCnt="0"/>
      <dgm:spPr/>
    </dgm:pt>
    <dgm:pt modelId="{6B444628-6145-4EB1-84DB-8D002A0ABAC6}" type="pres">
      <dgm:prSet presAssocID="{2ECFE521-0058-48D0-ABA4-D7D54B5DAC1A}" presName="Name37" presStyleLbl="parChTrans1D2" presStyleIdx="2" presStyleCnt="3"/>
      <dgm:spPr/>
    </dgm:pt>
    <dgm:pt modelId="{67CE8B87-A32A-4E05-A6BA-91A17FC06C72}" type="pres">
      <dgm:prSet presAssocID="{7E785044-5BA6-4F03-B616-8CDB23B6AE1F}" presName="hierRoot2" presStyleCnt="0">
        <dgm:presLayoutVars>
          <dgm:hierBranch val="init"/>
        </dgm:presLayoutVars>
      </dgm:prSet>
      <dgm:spPr/>
    </dgm:pt>
    <dgm:pt modelId="{E8C6520B-CA19-4C88-AAF1-3C97C1FDEFBB}" type="pres">
      <dgm:prSet presAssocID="{7E785044-5BA6-4F03-B616-8CDB23B6AE1F}" presName="rootComposite" presStyleCnt="0"/>
      <dgm:spPr/>
    </dgm:pt>
    <dgm:pt modelId="{CF587103-B73C-4EB3-B510-0607118DAB98}" type="pres">
      <dgm:prSet presAssocID="{7E785044-5BA6-4F03-B616-8CDB23B6AE1F}" presName="rootText" presStyleLbl="node2" presStyleIdx="2" presStyleCnt="3">
        <dgm:presLayoutVars>
          <dgm:chPref val="3"/>
        </dgm:presLayoutVars>
      </dgm:prSet>
      <dgm:spPr/>
    </dgm:pt>
    <dgm:pt modelId="{B5927EF0-171B-4CFF-9E64-7717F7C0F7DF}" type="pres">
      <dgm:prSet presAssocID="{7E785044-5BA6-4F03-B616-8CDB23B6AE1F}" presName="rootConnector" presStyleLbl="node2" presStyleIdx="2" presStyleCnt="3"/>
      <dgm:spPr/>
    </dgm:pt>
    <dgm:pt modelId="{829DB534-0823-4BFE-96DC-324A37B9A459}" type="pres">
      <dgm:prSet presAssocID="{7E785044-5BA6-4F03-B616-8CDB23B6AE1F}" presName="hierChild4" presStyleCnt="0"/>
      <dgm:spPr/>
    </dgm:pt>
    <dgm:pt modelId="{19CB2E8C-E474-41DE-B131-2ADC810C9DB4}" type="pres">
      <dgm:prSet presAssocID="{7E785044-5BA6-4F03-B616-8CDB23B6AE1F}" presName="hierChild5" presStyleCnt="0"/>
      <dgm:spPr/>
    </dgm:pt>
    <dgm:pt modelId="{27E9FC3C-A347-476C-A74F-5A2A88CF6AAE}" type="pres">
      <dgm:prSet presAssocID="{6D5C189B-09D6-450B-AFF2-E36C2E95F656}" presName="hierChild3" presStyleCnt="0"/>
      <dgm:spPr/>
    </dgm:pt>
  </dgm:ptLst>
  <dgm:cxnLst>
    <dgm:cxn modelId="{38475D07-0C43-4469-8679-8E8FF2D6CB55}" type="presOf" srcId="{E5CBEFCB-704E-4821-9651-59D37BBD66B1}" destId="{0E24DBA9-6EF4-4B20-9EB5-A5A7DA407E1C}" srcOrd="0" destOrd="0" presId="urn:microsoft.com/office/officeart/2005/8/layout/orgChart1"/>
    <dgm:cxn modelId="{9D355509-C7FE-4107-8912-262D2A6337C8}" type="presOf" srcId="{7E785044-5BA6-4F03-B616-8CDB23B6AE1F}" destId="{CF587103-B73C-4EB3-B510-0607118DAB98}" srcOrd="0" destOrd="0" presId="urn:microsoft.com/office/officeart/2005/8/layout/orgChart1"/>
    <dgm:cxn modelId="{F6498A17-029C-4DBC-BABB-40F272E48388}" srcId="{E5CBEFCB-704E-4821-9651-59D37BBD66B1}" destId="{6D5C189B-09D6-450B-AFF2-E36C2E95F656}" srcOrd="0" destOrd="0" parTransId="{068FDF14-83E8-4E7D-8D61-E4285B9B6FF0}" sibTransId="{ABB21BB3-0CDD-4692-BE75-B0E5E58B91DF}"/>
    <dgm:cxn modelId="{F4AEC817-3FE1-4F5C-B373-557322243142}" type="presOf" srcId="{B9913CC1-4D37-40EA-B3B3-807F6AF77484}" destId="{679D5F43-EADE-451A-AC87-6ED70F670D93}" srcOrd="0" destOrd="0" presId="urn:microsoft.com/office/officeart/2005/8/layout/orgChart1"/>
    <dgm:cxn modelId="{25B7C823-D494-49D4-9C0B-B1C5EB83CCFE}" type="presOf" srcId="{6D5C189B-09D6-450B-AFF2-E36C2E95F656}" destId="{B3A2D3BD-54CC-474E-B2D6-D2C5B5313A5C}" srcOrd="0" destOrd="0" presId="urn:microsoft.com/office/officeart/2005/8/layout/orgChart1"/>
    <dgm:cxn modelId="{9995FA38-684B-43C0-BF0F-7476C5547D4B}" srcId="{6D5C189B-09D6-450B-AFF2-E36C2E95F656}" destId="{7E785044-5BA6-4F03-B616-8CDB23B6AE1F}" srcOrd="2" destOrd="0" parTransId="{2ECFE521-0058-48D0-ABA4-D7D54B5DAC1A}" sibTransId="{10F70D9A-FA64-4A89-8CF4-0F46018E3C13}"/>
    <dgm:cxn modelId="{D9F37B63-2943-4FED-BC28-A6D52D9A121D}" type="presOf" srcId="{6153E22A-EB3A-42CD-9EB0-7C88D473910B}" destId="{C1C9A3FC-DD33-4DED-85F3-22E8B9E66FA0}" srcOrd="0" destOrd="0" presId="urn:microsoft.com/office/officeart/2005/8/layout/orgChart1"/>
    <dgm:cxn modelId="{115B8144-54DE-431E-96B2-C071D783FD98}" srcId="{6D5C189B-09D6-450B-AFF2-E36C2E95F656}" destId="{D052B146-1FCD-4702-B22A-045E73C5BFC1}" srcOrd="1" destOrd="0" parTransId="{B9913CC1-4D37-40EA-B3B3-807F6AF77484}" sibTransId="{3BEB1090-CA3D-4ED5-A43D-F82FBF5E36B4}"/>
    <dgm:cxn modelId="{DA34EC6A-C76C-4746-8371-C68F37F3C868}" type="presOf" srcId="{6153E22A-EB3A-42CD-9EB0-7C88D473910B}" destId="{54599BAA-FF87-4240-A673-C52B031D30A6}" srcOrd="1" destOrd="0" presId="urn:microsoft.com/office/officeart/2005/8/layout/orgChart1"/>
    <dgm:cxn modelId="{B0032771-4FC1-4556-BC95-C0A8D357A868}" type="presOf" srcId="{00AA2DF7-00CF-4EEE-876D-5396FFAC9508}" destId="{093885B6-0A51-4444-8769-7E8B325C974D}" srcOrd="0" destOrd="0" presId="urn:microsoft.com/office/officeart/2005/8/layout/orgChart1"/>
    <dgm:cxn modelId="{29BC0779-D3EB-4E87-93D9-0F38765A39C5}" type="presOf" srcId="{D052B146-1FCD-4702-B22A-045E73C5BFC1}" destId="{BE3503D4-0878-4F1B-ACEE-255263949CEC}" srcOrd="1" destOrd="0" presId="urn:microsoft.com/office/officeart/2005/8/layout/orgChart1"/>
    <dgm:cxn modelId="{B92CAE7B-32DA-4BB8-B209-17EF25745F62}" type="presOf" srcId="{6D5C189B-09D6-450B-AFF2-E36C2E95F656}" destId="{30615E57-434E-4192-B914-F1E9766F5576}" srcOrd="1" destOrd="0" presId="urn:microsoft.com/office/officeart/2005/8/layout/orgChart1"/>
    <dgm:cxn modelId="{F701F888-895F-4A91-A917-D8241CF3A77B}" type="presOf" srcId="{2ECFE521-0058-48D0-ABA4-D7D54B5DAC1A}" destId="{6B444628-6145-4EB1-84DB-8D002A0ABAC6}" srcOrd="0" destOrd="0" presId="urn:microsoft.com/office/officeart/2005/8/layout/orgChart1"/>
    <dgm:cxn modelId="{F9370DB4-471B-47E0-B147-575D5A86F1BA}" type="presOf" srcId="{7E785044-5BA6-4F03-B616-8CDB23B6AE1F}" destId="{B5927EF0-171B-4CFF-9E64-7717F7C0F7DF}" srcOrd="1" destOrd="0" presId="urn:microsoft.com/office/officeart/2005/8/layout/orgChart1"/>
    <dgm:cxn modelId="{592E62C1-5710-483F-BE7F-D372E63D234B}" type="presOf" srcId="{D052B146-1FCD-4702-B22A-045E73C5BFC1}" destId="{47D8BDC2-10B1-4051-B667-EBB90038B768}" srcOrd="0" destOrd="0" presId="urn:microsoft.com/office/officeart/2005/8/layout/orgChart1"/>
    <dgm:cxn modelId="{8D249DD1-9167-4D86-960E-699F643ADFA7}" srcId="{6D5C189B-09D6-450B-AFF2-E36C2E95F656}" destId="{6153E22A-EB3A-42CD-9EB0-7C88D473910B}" srcOrd="0" destOrd="0" parTransId="{00AA2DF7-00CF-4EEE-876D-5396FFAC9508}" sibTransId="{78876DDB-4684-4304-ABC3-15BC8F24FEB7}"/>
    <dgm:cxn modelId="{F1DF910E-C44D-446A-B34B-FE73AEDB1221}" type="presParOf" srcId="{0E24DBA9-6EF4-4B20-9EB5-A5A7DA407E1C}" destId="{A9E54020-6F26-41B6-9E83-AB7893AA7BB1}" srcOrd="0" destOrd="0" presId="urn:microsoft.com/office/officeart/2005/8/layout/orgChart1"/>
    <dgm:cxn modelId="{C491CFE5-4410-4DC5-904A-DB888081B0EE}" type="presParOf" srcId="{A9E54020-6F26-41B6-9E83-AB7893AA7BB1}" destId="{6B6FB043-5C3D-4636-B7EF-49FEA5B8CD48}" srcOrd="0" destOrd="0" presId="urn:microsoft.com/office/officeart/2005/8/layout/orgChart1"/>
    <dgm:cxn modelId="{3B264721-268A-4C45-9371-097B6854D8D2}" type="presParOf" srcId="{6B6FB043-5C3D-4636-B7EF-49FEA5B8CD48}" destId="{B3A2D3BD-54CC-474E-B2D6-D2C5B5313A5C}" srcOrd="0" destOrd="0" presId="urn:microsoft.com/office/officeart/2005/8/layout/orgChart1"/>
    <dgm:cxn modelId="{23631EC0-7B41-4F2F-AF5B-4372D2EFF6F2}" type="presParOf" srcId="{6B6FB043-5C3D-4636-B7EF-49FEA5B8CD48}" destId="{30615E57-434E-4192-B914-F1E9766F5576}" srcOrd="1" destOrd="0" presId="urn:microsoft.com/office/officeart/2005/8/layout/orgChart1"/>
    <dgm:cxn modelId="{58DB5BFA-70B4-4383-BD17-DE86982599B0}" type="presParOf" srcId="{A9E54020-6F26-41B6-9E83-AB7893AA7BB1}" destId="{1A70754C-BD2F-47F0-9BD6-D44D147B7D16}" srcOrd="1" destOrd="0" presId="urn:microsoft.com/office/officeart/2005/8/layout/orgChart1"/>
    <dgm:cxn modelId="{EBC2FE35-8D95-43AF-BE5F-B748B0ED0562}" type="presParOf" srcId="{1A70754C-BD2F-47F0-9BD6-D44D147B7D16}" destId="{093885B6-0A51-4444-8769-7E8B325C974D}" srcOrd="0" destOrd="0" presId="urn:microsoft.com/office/officeart/2005/8/layout/orgChart1"/>
    <dgm:cxn modelId="{6485BE16-C65C-480B-AF51-23057C8237DB}" type="presParOf" srcId="{1A70754C-BD2F-47F0-9BD6-D44D147B7D16}" destId="{E464D3F0-96FA-4CC6-9B4F-DDE989840058}" srcOrd="1" destOrd="0" presId="urn:microsoft.com/office/officeart/2005/8/layout/orgChart1"/>
    <dgm:cxn modelId="{6672881E-2743-44A5-8543-892D6819C461}" type="presParOf" srcId="{E464D3F0-96FA-4CC6-9B4F-DDE989840058}" destId="{619907CF-B470-4F69-BB99-E786F6DE56ED}" srcOrd="0" destOrd="0" presId="urn:microsoft.com/office/officeart/2005/8/layout/orgChart1"/>
    <dgm:cxn modelId="{A6B8CBE0-9C51-415A-BA08-49802D76E12A}" type="presParOf" srcId="{619907CF-B470-4F69-BB99-E786F6DE56ED}" destId="{C1C9A3FC-DD33-4DED-85F3-22E8B9E66FA0}" srcOrd="0" destOrd="0" presId="urn:microsoft.com/office/officeart/2005/8/layout/orgChart1"/>
    <dgm:cxn modelId="{743411BF-BB8D-4EED-A1FC-9B1DA51B2079}" type="presParOf" srcId="{619907CF-B470-4F69-BB99-E786F6DE56ED}" destId="{54599BAA-FF87-4240-A673-C52B031D30A6}" srcOrd="1" destOrd="0" presId="urn:microsoft.com/office/officeart/2005/8/layout/orgChart1"/>
    <dgm:cxn modelId="{C170A806-B94F-494B-810E-CCB772E64F23}" type="presParOf" srcId="{E464D3F0-96FA-4CC6-9B4F-DDE989840058}" destId="{89F0C724-6802-43D5-8F64-FFD31F4A1E1F}" srcOrd="1" destOrd="0" presId="urn:microsoft.com/office/officeart/2005/8/layout/orgChart1"/>
    <dgm:cxn modelId="{BF20235B-BA90-4EE1-BFCE-B1B6EAA823D5}" type="presParOf" srcId="{E464D3F0-96FA-4CC6-9B4F-DDE989840058}" destId="{C244AB15-F12B-40CF-96ED-52D93CD8DEF4}" srcOrd="2" destOrd="0" presId="urn:microsoft.com/office/officeart/2005/8/layout/orgChart1"/>
    <dgm:cxn modelId="{C01931CD-8EDE-41CB-8416-2B004973B445}" type="presParOf" srcId="{1A70754C-BD2F-47F0-9BD6-D44D147B7D16}" destId="{679D5F43-EADE-451A-AC87-6ED70F670D93}" srcOrd="2" destOrd="0" presId="urn:microsoft.com/office/officeart/2005/8/layout/orgChart1"/>
    <dgm:cxn modelId="{3EF664FF-275F-4EF9-9EC8-21FB01D8910C}" type="presParOf" srcId="{1A70754C-BD2F-47F0-9BD6-D44D147B7D16}" destId="{09CC702A-13C5-4732-81E5-26FF3FC65595}" srcOrd="3" destOrd="0" presId="urn:microsoft.com/office/officeart/2005/8/layout/orgChart1"/>
    <dgm:cxn modelId="{8576BE37-17ED-4DB1-BD47-78D35432C361}" type="presParOf" srcId="{09CC702A-13C5-4732-81E5-26FF3FC65595}" destId="{B3373AFB-F240-4476-A94E-6AD670F4AB5D}" srcOrd="0" destOrd="0" presId="urn:microsoft.com/office/officeart/2005/8/layout/orgChart1"/>
    <dgm:cxn modelId="{4274B026-B7F9-4A99-B8BF-0E28FCB3A936}" type="presParOf" srcId="{B3373AFB-F240-4476-A94E-6AD670F4AB5D}" destId="{47D8BDC2-10B1-4051-B667-EBB90038B768}" srcOrd="0" destOrd="0" presId="urn:microsoft.com/office/officeart/2005/8/layout/orgChart1"/>
    <dgm:cxn modelId="{83A2C2AF-2135-4CEA-ABDD-BBDBE29792DD}" type="presParOf" srcId="{B3373AFB-F240-4476-A94E-6AD670F4AB5D}" destId="{BE3503D4-0878-4F1B-ACEE-255263949CEC}" srcOrd="1" destOrd="0" presId="urn:microsoft.com/office/officeart/2005/8/layout/orgChart1"/>
    <dgm:cxn modelId="{876AB4C2-E684-4126-A96D-A0616731FC4C}" type="presParOf" srcId="{09CC702A-13C5-4732-81E5-26FF3FC65595}" destId="{F80CE024-0992-485E-9612-12192C1B33C5}" srcOrd="1" destOrd="0" presId="urn:microsoft.com/office/officeart/2005/8/layout/orgChart1"/>
    <dgm:cxn modelId="{8324A8EB-21D1-4D7E-BBA4-321F5FB5E0A9}" type="presParOf" srcId="{09CC702A-13C5-4732-81E5-26FF3FC65595}" destId="{E9F1D2C6-9937-4279-8762-3416582D89F4}" srcOrd="2" destOrd="0" presId="urn:microsoft.com/office/officeart/2005/8/layout/orgChart1"/>
    <dgm:cxn modelId="{104F2D02-E56E-42E5-9B8A-BB282B483D1C}" type="presParOf" srcId="{1A70754C-BD2F-47F0-9BD6-D44D147B7D16}" destId="{6B444628-6145-4EB1-84DB-8D002A0ABAC6}" srcOrd="4" destOrd="0" presId="urn:microsoft.com/office/officeart/2005/8/layout/orgChart1"/>
    <dgm:cxn modelId="{ED616A10-4EBB-430D-90EE-56BB653B75AA}" type="presParOf" srcId="{1A70754C-BD2F-47F0-9BD6-D44D147B7D16}" destId="{67CE8B87-A32A-4E05-A6BA-91A17FC06C72}" srcOrd="5" destOrd="0" presId="urn:microsoft.com/office/officeart/2005/8/layout/orgChart1"/>
    <dgm:cxn modelId="{8C1E7199-8044-4179-9D4F-D3713A0C5F42}" type="presParOf" srcId="{67CE8B87-A32A-4E05-A6BA-91A17FC06C72}" destId="{E8C6520B-CA19-4C88-AAF1-3C97C1FDEFBB}" srcOrd="0" destOrd="0" presId="urn:microsoft.com/office/officeart/2005/8/layout/orgChart1"/>
    <dgm:cxn modelId="{E55230D5-89B4-42B5-A6C2-E056D3DDB131}" type="presParOf" srcId="{E8C6520B-CA19-4C88-AAF1-3C97C1FDEFBB}" destId="{CF587103-B73C-4EB3-B510-0607118DAB98}" srcOrd="0" destOrd="0" presId="urn:microsoft.com/office/officeart/2005/8/layout/orgChart1"/>
    <dgm:cxn modelId="{70D2A3C1-B027-4589-8F34-8D8232118FCC}" type="presParOf" srcId="{E8C6520B-CA19-4C88-AAF1-3C97C1FDEFBB}" destId="{B5927EF0-171B-4CFF-9E64-7717F7C0F7DF}" srcOrd="1" destOrd="0" presId="urn:microsoft.com/office/officeart/2005/8/layout/orgChart1"/>
    <dgm:cxn modelId="{67CAE295-A9F2-494B-B18C-BEB3D6B9477A}" type="presParOf" srcId="{67CE8B87-A32A-4E05-A6BA-91A17FC06C72}" destId="{829DB534-0823-4BFE-96DC-324A37B9A459}" srcOrd="1" destOrd="0" presId="urn:microsoft.com/office/officeart/2005/8/layout/orgChart1"/>
    <dgm:cxn modelId="{60150FB7-0190-4C21-B630-0146F6143CA8}" type="presParOf" srcId="{67CE8B87-A32A-4E05-A6BA-91A17FC06C72}" destId="{19CB2E8C-E474-41DE-B131-2ADC810C9DB4}" srcOrd="2" destOrd="0" presId="urn:microsoft.com/office/officeart/2005/8/layout/orgChart1"/>
    <dgm:cxn modelId="{E1B97A85-25D7-4FE9-9A30-F03BC5DFC11B}" type="presParOf" srcId="{A9E54020-6F26-41B6-9E83-AB7893AA7BB1}" destId="{27E9FC3C-A347-476C-A74F-5A2A88CF6AAE}"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942726-CD7D-4E05-89E8-0908889446D1}">
      <dsp:nvSpPr>
        <dsp:cNvPr id="0" name=""/>
        <dsp:cNvSpPr/>
      </dsp:nvSpPr>
      <dsp:spPr>
        <a:xfrm>
          <a:off x="0" y="0"/>
          <a:ext cx="5770880" cy="900566"/>
        </a:xfrm>
        <a:prstGeom prst="roundRect">
          <a:avLst>
            <a:gd name="adj" fmla="val 10000"/>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State Space: A set of all possible states</a:t>
          </a:r>
        </a:p>
      </dsp:txBody>
      <dsp:txXfrm>
        <a:off x="26377" y="26377"/>
        <a:ext cx="4723000" cy="847812"/>
      </dsp:txXfrm>
    </dsp:sp>
    <dsp:sp modelId="{0A0703BF-2710-427D-9F95-D24649F1809B}">
      <dsp:nvSpPr>
        <dsp:cNvPr id="0" name=""/>
        <dsp:cNvSpPr/>
      </dsp:nvSpPr>
      <dsp:spPr>
        <a:xfrm>
          <a:off x="483311" y="1064305"/>
          <a:ext cx="5770880" cy="900566"/>
        </a:xfrm>
        <a:prstGeom prst="roundRect">
          <a:avLst>
            <a:gd name="adj" fmla="val 10000"/>
          </a:avLst>
        </a:prstGeom>
        <a:solidFill>
          <a:schemeClr val="accent2">
            <a:hueOff val="-1197987"/>
            <a:satOff val="8241"/>
            <a:lumOff val="91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Initial State: The starting point of the problem</a:t>
          </a:r>
        </a:p>
      </dsp:txBody>
      <dsp:txXfrm>
        <a:off x="509688" y="1090682"/>
        <a:ext cx="4649446" cy="847812"/>
      </dsp:txXfrm>
    </dsp:sp>
    <dsp:sp modelId="{6881B8EA-8D79-4A80-9F2D-CAC22D57607A}">
      <dsp:nvSpPr>
        <dsp:cNvPr id="0" name=""/>
        <dsp:cNvSpPr/>
      </dsp:nvSpPr>
      <dsp:spPr>
        <a:xfrm>
          <a:off x="959408" y="2128610"/>
          <a:ext cx="5770880" cy="900566"/>
        </a:xfrm>
        <a:prstGeom prst="roundRect">
          <a:avLst>
            <a:gd name="adj" fmla="val 10000"/>
          </a:avLst>
        </a:prstGeom>
        <a:solidFill>
          <a:schemeClr val="accent2">
            <a:hueOff val="-2395974"/>
            <a:satOff val="16481"/>
            <a:lumOff val="1829"/>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Goal State: The desired outcome to reach</a:t>
          </a:r>
        </a:p>
      </dsp:txBody>
      <dsp:txXfrm>
        <a:off x="985785" y="2154987"/>
        <a:ext cx="4656660" cy="847812"/>
      </dsp:txXfrm>
    </dsp:sp>
    <dsp:sp modelId="{50F3FB1C-785B-42D9-875E-77F0D09CCD6F}">
      <dsp:nvSpPr>
        <dsp:cNvPr id="0" name=""/>
        <dsp:cNvSpPr/>
      </dsp:nvSpPr>
      <dsp:spPr>
        <a:xfrm>
          <a:off x="1442720" y="3192915"/>
          <a:ext cx="5770880" cy="900566"/>
        </a:xfrm>
        <a:prstGeom prst="roundRect">
          <a:avLst>
            <a:gd name="adj" fmla="val 10000"/>
          </a:avLst>
        </a:prstGeom>
        <a:solidFill>
          <a:schemeClr val="accent2">
            <a:hueOff val="-3593961"/>
            <a:satOff val="24722"/>
            <a:lumOff val="274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Search: Moving from the initial state to the goal state through valid transitions</a:t>
          </a:r>
        </a:p>
      </dsp:txBody>
      <dsp:txXfrm>
        <a:off x="1469097" y="3219292"/>
        <a:ext cx="4649446" cy="847812"/>
      </dsp:txXfrm>
    </dsp:sp>
    <dsp:sp modelId="{2921ED94-65AD-4E98-8173-2CFAEC77F14D}">
      <dsp:nvSpPr>
        <dsp:cNvPr id="0" name=""/>
        <dsp:cNvSpPr/>
      </dsp:nvSpPr>
      <dsp:spPr>
        <a:xfrm>
          <a:off x="5185512" y="689751"/>
          <a:ext cx="585367" cy="585367"/>
        </a:xfrm>
        <a:prstGeom prst="downArrow">
          <a:avLst>
            <a:gd name="adj1" fmla="val 55000"/>
            <a:gd name="adj2" fmla="val 45000"/>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5317220" y="689751"/>
        <a:ext cx="321951" cy="440489"/>
      </dsp:txXfrm>
    </dsp:sp>
    <dsp:sp modelId="{AB0C2741-8D66-4B4A-B47E-1FF21B39A78B}">
      <dsp:nvSpPr>
        <dsp:cNvPr id="0" name=""/>
        <dsp:cNvSpPr/>
      </dsp:nvSpPr>
      <dsp:spPr>
        <a:xfrm>
          <a:off x="5668823" y="1754057"/>
          <a:ext cx="585367" cy="585367"/>
        </a:xfrm>
        <a:prstGeom prst="downArrow">
          <a:avLst>
            <a:gd name="adj1" fmla="val 55000"/>
            <a:gd name="adj2" fmla="val 45000"/>
          </a:avLst>
        </a:prstGeom>
        <a:solidFill>
          <a:schemeClr val="accent2">
            <a:tint val="40000"/>
            <a:alpha val="90000"/>
            <a:hueOff val="-2262220"/>
            <a:satOff val="12987"/>
            <a:lumOff val="857"/>
            <a:alphaOff val="0"/>
          </a:schemeClr>
        </a:solidFill>
        <a:ln w="15875" cap="rnd" cmpd="sng" algn="ctr">
          <a:solidFill>
            <a:schemeClr val="accent2">
              <a:tint val="40000"/>
              <a:alpha val="90000"/>
              <a:hueOff val="-2262220"/>
              <a:satOff val="12987"/>
              <a:lumOff val="85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5800531" y="1754057"/>
        <a:ext cx="321951" cy="440489"/>
      </dsp:txXfrm>
    </dsp:sp>
    <dsp:sp modelId="{FD5206BF-51BC-4386-AAC1-5532CB1B529B}">
      <dsp:nvSpPr>
        <dsp:cNvPr id="0" name=""/>
        <dsp:cNvSpPr/>
      </dsp:nvSpPr>
      <dsp:spPr>
        <a:xfrm>
          <a:off x="6144920" y="2818362"/>
          <a:ext cx="585367" cy="585367"/>
        </a:xfrm>
        <a:prstGeom prst="downArrow">
          <a:avLst>
            <a:gd name="adj1" fmla="val 55000"/>
            <a:gd name="adj2" fmla="val 45000"/>
          </a:avLst>
        </a:prstGeom>
        <a:solidFill>
          <a:schemeClr val="accent2">
            <a:tint val="40000"/>
            <a:alpha val="90000"/>
            <a:hueOff val="-4524440"/>
            <a:satOff val="25974"/>
            <a:lumOff val="1714"/>
            <a:alphaOff val="0"/>
          </a:schemeClr>
        </a:solidFill>
        <a:ln w="15875" cap="rnd" cmpd="sng" algn="ctr">
          <a:solidFill>
            <a:schemeClr val="accent2">
              <a:tint val="40000"/>
              <a:alpha val="90000"/>
              <a:hueOff val="-4524440"/>
              <a:satOff val="25974"/>
              <a:lumOff val="171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6276628" y="2818362"/>
        <a:ext cx="321951" cy="4404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F4267-E114-46D3-BDE4-90DE865D5D17}">
      <dsp:nvSpPr>
        <dsp:cNvPr id="0" name=""/>
        <dsp:cNvSpPr/>
      </dsp:nvSpPr>
      <dsp:spPr>
        <a:xfrm>
          <a:off x="0" y="499"/>
          <a:ext cx="7213600" cy="1169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90F3CB-3030-4D6D-AF19-08D944024507}">
      <dsp:nvSpPr>
        <dsp:cNvPr id="0" name=""/>
        <dsp:cNvSpPr/>
      </dsp:nvSpPr>
      <dsp:spPr>
        <a:xfrm>
          <a:off x="353707" y="263587"/>
          <a:ext cx="643104" cy="6431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D6A861B-1470-45A1-9DBA-C4E64FB79506}">
      <dsp:nvSpPr>
        <dsp:cNvPr id="0" name=""/>
        <dsp:cNvSpPr/>
      </dsp:nvSpPr>
      <dsp:spPr>
        <a:xfrm>
          <a:off x="1350519" y="499"/>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111250">
            <a:lnSpc>
              <a:spcPct val="90000"/>
            </a:lnSpc>
            <a:spcBef>
              <a:spcPct val="0"/>
            </a:spcBef>
            <a:spcAft>
              <a:spcPct val="35000"/>
            </a:spcAft>
            <a:buNone/>
          </a:pPr>
          <a:r>
            <a:rPr lang="en-US" sz="2500" kern="1200" dirty="0"/>
            <a:t>Rule-based systems</a:t>
          </a:r>
        </a:p>
      </dsp:txBody>
      <dsp:txXfrm>
        <a:off x="1350519" y="499"/>
        <a:ext cx="5863080" cy="1169280"/>
      </dsp:txXfrm>
    </dsp:sp>
    <dsp:sp modelId="{29544E6E-B044-45A2-B523-1A5952863DAB}">
      <dsp:nvSpPr>
        <dsp:cNvPr id="0" name=""/>
        <dsp:cNvSpPr/>
      </dsp:nvSpPr>
      <dsp:spPr>
        <a:xfrm>
          <a:off x="0" y="1462100"/>
          <a:ext cx="7213600" cy="1169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54B1BD-33BB-4EDF-9213-B4CA6145C3F2}">
      <dsp:nvSpPr>
        <dsp:cNvPr id="0" name=""/>
        <dsp:cNvSpPr/>
      </dsp:nvSpPr>
      <dsp:spPr>
        <a:xfrm>
          <a:off x="353707" y="1725188"/>
          <a:ext cx="643104" cy="6431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B3F3DEF-7083-4603-86CA-CBEF49A338FB}">
      <dsp:nvSpPr>
        <dsp:cNvPr id="0" name=""/>
        <dsp:cNvSpPr/>
      </dsp:nvSpPr>
      <dsp:spPr>
        <a:xfrm>
          <a:off x="1350519" y="1462100"/>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111250">
            <a:lnSpc>
              <a:spcPct val="90000"/>
            </a:lnSpc>
            <a:spcBef>
              <a:spcPct val="0"/>
            </a:spcBef>
            <a:spcAft>
              <a:spcPct val="35000"/>
            </a:spcAft>
            <a:buNone/>
          </a:pPr>
          <a:r>
            <a:rPr lang="en-US" sz="2500" kern="1200" dirty="0"/>
            <a:t>Components: Rule set, Working memory, and Control system</a:t>
          </a:r>
        </a:p>
      </dsp:txBody>
      <dsp:txXfrm>
        <a:off x="1350519" y="1462100"/>
        <a:ext cx="5863080" cy="1169280"/>
      </dsp:txXfrm>
    </dsp:sp>
    <dsp:sp modelId="{40A96F5A-72E1-4880-B183-0BE4801EBC71}">
      <dsp:nvSpPr>
        <dsp:cNvPr id="0" name=""/>
        <dsp:cNvSpPr/>
      </dsp:nvSpPr>
      <dsp:spPr>
        <a:xfrm>
          <a:off x="0" y="2923701"/>
          <a:ext cx="7213600" cy="1169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46CC91-77C5-49BF-90AA-424AFAB95131}">
      <dsp:nvSpPr>
        <dsp:cNvPr id="0" name=""/>
        <dsp:cNvSpPr/>
      </dsp:nvSpPr>
      <dsp:spPr>
        <a:xfrm>
          <a:off x="353707" y="3186789"/>
          <a:ext cx="643104" cy="6431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40ECFE3-FB25-4246-9409-D3945DE011EA}">
      <dsp:nvSpPr>
        <dsp:cNvPr id="0" name=""/>
        <dsp:cNvSpPr/>
      </dsp:nvSpPr>
      <dsp:spPr>
        <a:xfrm>
          <a:off x="1350519" y="2923701"/>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111250">
            <a:lnSpc>
              <a:spcPct val="90000"/>
            </a:lnSpc>
            <a:spcBef>
              <a:spcPct val="0"/>
            </a:spcBef>
            <a:spcAft>
              <a:spcPct val="35000"/>
            </a:spcAft>
            <a:buNone/>
          </a:pPr>
          <a:r>
            <a:rPr lang="en-US" sz="2500" kern="1200" dirty="0"/>
            <a:t>Used in automated reasoning and AI systems</a:t>
          </a:r>
        </a:p>
      </dsp:txBody>
      <dsp:txXfrm>
        <a:off x="1350519" y="2923701"/>
        <a:ext cx="5863080" cy="11692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B12364-2EE0-440D-8830-F6C568F2C767}">
      <dsp:nvSpPr>
        <dsp:cNvPr id="0" name=""/>
        <dsp:cNvSpPr/>
      </dsp:nvSpPr>
      <dsp:spPr>
        <a:xfrm>
          <a:off x="613109" y="1057143"/>
          <a:ext cx="962257" cy="9622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AD25AA2-32A7-4735-A3F7-0A1E811FC3EC}">
      <dsp:nvSpPr>
        <dsp:cNvPr id="0" name=""/>
        <dsp:cNvSpPr/>
      </dsp:nvSpPr>
      <dsp:spPr>
        <a:xfrm>
          <a:off x="25063" y="2316338"/>
          <a:ext cx="21383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 A problem with clear states, actions, and goals</a:t>
          </a:r>
        </a:p>
      </dsp:txBody>
      <dsp:txXfrm>
        <a:off x="25063" y="2316338"/>
        <a:ext cx="2138350" cy="720000"/>
      </dsp:txXfrm>
    </dsp:sp>
    <dsp:sp modelId="{B784E01B-768C-49B4-B506-04964BA566BB}">
      <dsp:nvSpPr>
        <dsp:cNvPr id="0" name=""/>
        <dsp:cNvSpPr/>
      </dsp:nvSpPr>
      <dsp:spPr>
        <a:xfrm>
          <a:off x="3125671" y="1057143"/>
          <a:ext cx="962257" cy="9622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2D9C66A-5C89-4421-8CB7-2B5231D034DA}">
      <dsp:nvSpPr>
        <dsp:cNvPr id="0" name=""/>
        <dsp:cNvSpPr/>
      </dsp:nvSpPr>
      <dsp:spPr>
        <a:xfrm>
          <a:off x="2537625" y="2316338"/>
          <a:ext cx="21383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 Fully observable environment</a:t>
          </a:r>
        </a:p>
      </dsp:txBody>
      <dsp:txXfrm>
        <a:off x="2537625" y="2316338"/>
        <a:ext cx="2138350" cy="720000"/>
      </dsp:txXfrm>
    </dsp:sp>
    <dsp:sp modelId="{96A7ED13-4EA4-43C4-AD03-085344DB29E0}">
      <dsp:nvSpPr>
        <dsp:cNvPr id="0" name=""/>
        <dsp:cNvSpPr/>
      </dsp:nvSpPr>
      <dsp:spPr>
        <a:xfrm>
          <a:off x="5638232" y="1057143"/>
          <a:ext cx="962257" cy="9622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E455102-EB2C-43F3-908F-38DBF5374D9B}">
      <dsp:nvSpPr>
        <dsp:cNvPr id="0" name=""/>
        <dsp:cNvSpPr/>
      </dsp:nvSpPr>
      <dsp:spPr>
        <a:xfrm>
          <a:off x="5050186" y="2316338"/>
          <a:ext cx="21383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 Definite goal test and measurable cost of actions</a:t>
          </a:r>
        </a:p>
      </dsp:txBody>
      <dsp:txXfrm>
        <a:off x="5050186" y="2316338"/>
        <a:ext cx="213835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7C308-2EDD-42B6-8A3C-E8D094B41C2E}">
      <dsp:nvSpPr>
        <dsp:cNvPr id="0" name=""/>
        <dsp:cNvSpPr/>
      </dsp:nvSpPr>
      <dsp:spPr>
        <a:xfrm>
          <a:off x="2577" y="280663"/>
          <a:ext cx="2512712" cy="767415"/>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dirty="0"/>
            <a:t>Uninformed Search</a:t>
          </a:r>
        </a:p>
      </dsp:txBody>
      <dsp:txXfrm>
        <a:off x="2577" y="280663"/>
        <a:ext cx="2512712" cy="767415"/>
      </dsp:txXfrm>
    </dsp:sp>
    <dsp:sp modelId="{6E572359-4AEE-474C-B564-79173CC61CEF}">
      <dsp:nvSpPr>
        <dsp:cNvPr id="0" name=""/>
        <dsp:cNvSpPr/>
      </dsp:nvSpPr>
      <dsp:spPr>
        <a:xfrm>
          <a:off x="2577" y="1048078"/>
          <a:ext cx="2512712" cy="2633655"/>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Depth First Search (DFS)</a:t>
          </a:r>
        </a:p>
        <a:p>
          <a:pPr marL="228600" lvl="1" indent="-228600" algn="l" defTabSz="933450">
            <a:lnSpc>
              <a:spcPct val="90000"/>
            </a:lnSpc>
            <a:spcBef>
              <a:spcPct val="0"/>
            </a:spcBef>
            <a:spcAft>
              <a:spcPct val="15000"/>
            </a:spcAft>
            <a:buChar char="•"/>
          </a:pPr>
          <a:r>
            <a:rPr lang="en-US" sz="2100" kern="1200"/>
            <a:t>Breadth First Search (BFS)</a:t>
          </a:r>
        </a:p>
        <a:p>
          <a:pPr marL="228600" lvl="1" indent="-228600" algn="l" defTabSz="933450">
            <a:lnSpc>
              <a:spcPct val="90000"/>
            </a:lnSpc>
            <a:spcBef>
              <a:spcPct val="0"/>
            </a:spcBef>
            <a:spcAft>
              <a:spcPct val="15000"/>
            </a:spcAft>
            <a:buChar char="•"/>
          </a:pPr>
          <a:r>
            <a:rPr lang="en-US" sz="2100" kern="1200" dirty="0"/>
            <a:t>Depth limit search</a:t>
          </a:r>
        </a:p>
        <a:p>
          <a:pPr marL="228600" lvl="1" indent="-228600" algn="l" defTabSz="933450">
            <a:lnSpc>
              <a:spcPct val="90000"/>
            </a:lnSpc>
            <a:spcBef>
              <a:spcPct val="0"/>
            </a:spcBef>
            <a:spcAft>
              <a:spcPct val="15000"/>
            </a:spcAft>
            <a:buChar char="•"/>
          </a:pPr>
          <a:r>
            <a:rPr lang="en-US" sz="2100" kern="1200" dirty="0"/>
            <a:t>Iterative Deepening Search</a:t>
          </a:r>
        </a:p>
      </dsp:txBody>
      <dsp:txXfrm>
        <a:off x="2577" y="1048078"/>
        <a:ext cx="2512712" cy="2633655"/>
      </dsp:txXfrm>
    </dsp:sp>
    <dsp:sp modelId="{5C041030-39C9-48DE-B235-1EBCCE30564E}">
      <dsp:nvSpPr>
        <dsp:cNvPr id="0" name=""/>
        <dsp:cNvSpPr/>
      </dsp:nvSpPr>
      <dsp:spPr>
        <a:xfrm>
          <a:off x="2867069" y="280663"/>
          <a:ext cx="2512712" cy="767415"/>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dirty="0"/>
            <a:t>Informed search</a:t>
          </a:r>
        </a:p>
      </dsp:txBody>
      <dsp:txXfrm>
        <a:off x="2867069" y="280663"/>
        <a:ext cx="2512712" cy="767415"/>
      </dsp:txXfrm>
    </dsp:sp>
    <dsp:sp modelId="{FA198192-4060-460C-B7B9-3FCAFC26D98F}">
      <dsp:nvSpPr>
        <dsp:cNvPr id="0" name=""/>
        <dsp:cNvSpPr/>
      </dsp:nvSpPr>
      <dsp:spPr>
        <a:xfrm>
          <a:off x="2867069" y="1048078"/>
          <a:ext cx="2512712" cy="2633655"/>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a:t>Greedy Search</a:t>
          </a:r>
        </a:p>
        <a:p>
          <a:pPr marL="228600" lvl="1" indent="-228600" algn="l" defTabSz="933450">
            <a:lnSpc>
              <a:spcPct val="90000"/>
            </a:lnSpc>
            <a:spcBef>
              <a:spcPct val="0"/>
            </a:spcBef>
            <a:spcAft>
              <a:spcPct val="15000"/>
            </a:spcAft>
            <a:buChar char="•"/>
          </a:pPr>
          <a:r>
            <a:rPr lang="en-US" sz="2100" kern="1200"/>
            <a:t>Best first search</a:t>
          </a:r>
        </a:p>
        <a:p>
          <a:pPr marL="228600" lvl="1" indent="-228600" algn="l" defTabSz="933450">
            <a:lnSpc>
              <a:spcPct val="90000"/>
            </a:lnSpc>
            <a:spcBef>
              <a:spcPct val="0"/>
            </a:spcBef>
            <a:spcAft>
              <a:spcPct val="15000"/>
            </a:spcAft>
            <a:buChar char="•"/>
          </a:pPr>
          <a:r>
            <a:rPr lang="en-US" sz="2100" kern="1200"/>
            <a:t>A* Search</a:t>
          </a:r>
        </a:p>
        <a:p>
          <a:pPr marL="228600" lvl="1" indent="-228600" algn="l" defTabSz="933450">
            <a:lnSpc>
              <a:spcPct val="90000"/>
            </a:lnSpc>
            <a:spcBef>
              <a:spcPct val="0"/>
            </a:spcBef>
            <a:spcAft>
              <a:spcPct val="15000"/>
            </a:spcAft>
            <a:buChar char="•"/>
          </a:pPr>
          <a:r>
            <a:rPr lang="en-US" sz="2100" kern="1200" dirty="0"/>
            <a:t>Hill Climbing</a:t>
          </a:r>
        </a:p>
        <a:p>
          <a:pPr marL="228600" lvl="1" indent="-228600" algn="l" defTabSz="933450">
            <a:lnSpc>
              <a:spcPct val="90000"/>
            </a:lnSpc>
            <a:spcBef>
              <a:spcPct val="0"/>
            </a:spcBef>
            <a:spcAft>
              <a:spcPct val="15000"/>
            </a:spcAft>
            <a:buChar char="•"/>
          </a:pPr>
          <a:r>
            <a:rPr lang="en-US" sz="2100" kern="1200"/>
            <a:t>Simulated Annealing</a:t>
          </a:r>
        </a:p>
        <a:p>
          <a:pPr marL="228600" lvl="1" indent="-228600" algn="l" defTabSz="933450">
            <a:lnSpc>
              <a:spcPct val="90000"/>
            </a:lnSpc>
            <a:spcBef>
              <a:spcPct val="0"/>
            </a:spcBef>
            <a:spcAft>
              <a:spcPct val="15000"/>
            </a:spcAft>
            <a:buChar char="•"/>
          </a:pPr>
          <a:r>
            <a:rPr lang="en-US" sz="2100" kern="1200"/>
            <a:t>Genetic Algorithm</a:t>
          </a:r>
        </a:p>
      </dsp:txBody>
      <dsp:txXfrm>
        <a:off x="2867069" y="1048078"/>
        <a:ext cx="2512712" cy="2633655"/>
      </dsp:txXfrm>
    </dsp:sp>
    <dsp:sp modelId="{86F6A160-B496-4842-BBA2-55D4024E6C44}">
      <dsp:nvSpPr>
        <dsp:cNvPr id="0" name=""/>
        <dsp:cNvSpPr/>
      </dsp:nvSpPr>
      <dsp:spPr>
        <a:xfrm>
          <a:off x="5731562" y="280663"/>
          <a:ext cx="2512712" cy="767415"/>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dirty="0"/>
            <a:t>Adversarial search techniques</a:t>
          </a:r>
        </a:p>
      </dsp:txBody>
      <dsp:txXfrm>
        <a:off x="5731562" y="280663"/>
        <a:ext cx="2512712" cy="767415"/>
      </dsp:txXfrm>
    </dsp:sp>
    <dsp:sp modelId="{6C714F36-0DAE-48AD-B271-6B6DD08F3D6E}">
      <dsp:nvSpPr>
        <dsp:cNvPr id="0" name=""/>
        <dsp:cNvSpPr/>
      </dsp:nvSpPr>
      <dsp:spPr>
        <a:xfrm>
          <a:off x="5731562" y="1048078"/>
          <a:ext cx="2512712" cy="2633655"/>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Min-Max Procedure</a:t>
          </a:r>
        </a:p>
        <a:p>
          <a:pPr marL="228600" lvl="1" indent="-228600" algn="l" defTabSz="933450">
            <a:lnSpc>
              <a:spcPct val="90000"/>
            </a:lnSpc>
            <a:spcBef>
              <a:spcPct val="0"/>
            </a:spcBef>
            <a:spcAft>
              <a:spcPct val="15000"/>
            </a:spcAft>
            <a:buChar char="•"/>
          </a:pPr>
          <a:r>
            <a:rPr lang="en-US" sz="2100" kern="1200" dirty="0"/>
            <a:t>Alpha beta procedure</a:t>
          </a:r>
        </a:p>
      </dsp:txBody>
      <dsp:txXfrm>
        <a:off x="5731562" y="1048078"/>
        <a:ext cx="2512712" cy="263365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3CF78F-FEC2-4518-BF36-3E4E3FAF60B9}">
      <dsp:nvSpPr>
        <dsp:cNvPr id="0" name=""/>
        <dsp:cNvSpPr/>
      </dsp:nvSpPr>
      <dsp:spPr>
        <a:xfrm>
          <a:off x="3512828" y="1592579"/>
          <a:ext cx="1004732" cy="2840639"/>
        </a:xfrm>
        <a:custGeom>
          <a:avLst/>
          <a:gdLst/>
          <a:ahLst/>
          <a:cxnLst/>
          <a:rect l="0" t="0" r="0" b="0"/>
          <a:pathLst>
            <a:path>
              <a:moveTo>
                <a:pt x="0" y="0"/>
              </a:moveTo>
              <a:lnTo>
                <a:pt x="0" y="2673189"/>
              </a:lnTo>
              <a:lnTo>
                <a:pt x="1004732" y="2673189"/>
              </a:lnTo>
              <a:lnTo>
                <a:pt x="1004732" y="2840639"/>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981C1F-93FF-448F-A81A-BDDF8738918C}">
      <dsp:nvSpPr>
        <dsp:cNvPr id="0" name=""/>
        <dsp:cNvSpPr/>
      </dsp:nvSpPr>
      <dsp:spPr>
        <a:xfrm>
          <a:off x="3512828" y="1592579"/>
          <a:ext cx="2001140" cy="1029172"/>
        </a:xfrm>
        <a:custGeom>
          <a:avLst/>
          <a:gdLst/>
          <a:ahLst/>
          <a:cxnLst/>
          <a:rect l="0" t="0" r="0" b="0"/>
          <a:pathLst>
            <a:path>
              <a:moveTo>
                <a:pt x="0" y="0"/>
              </a:moveTo>
              <a:lnTo>
                <a:pt x="0" y="861722"/>
              </a:lnTo>
              <a:lnTo>
                <a:pt x="2001140" y="861722"/>
              </a:lnTo>
              <a:lnTo>
                <a:pt x="2001140" y="102917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396008-77AE-406A-85F5-A12F25BAA3DA}">
      <dsp:nvSpPr>
        <dsp:cNvPr id="0" name=""/>
        <dsp:cNvSpPr/>
      </dsp:nvSpPr>
      <dsp:spPr>
        <a:xfrm>
          <a:off x="2029826" y="1592579"/>
          <a:ext cx="1483002" cy="2422780"/>
        </a:xfrm>
        <a:custGeom>
          <a:avLst/>
          <a:gdLst/>
          <a:ahLst/>
          <a:cxnLst/>
          <a:rect l="0" t="0" r="0" b="0"/>
          <a:pathLst>
            <a:path>
              <a:moveTo>
                <a:pt x="1483002" y="0"/>
              </a:moveTo>
              <a:lnTo>
                <a:pt x="1483002" y="2255329"/>
              </a:lnTo>
              <a:lnTo>
                <a:pt x="0" y="2255329"/>
              </a:lnTo>
              <a:lnTo>
                <a:pt x="0" y="242278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0F65A2-8A8C-4392-A415-688AA892A465}">
      <dsp:nvSpPr>
        <dsp:cNvPr id="0" name=""/>
        <dsp:cNvSpPr/>
      </dsp:nvSpPr>
      <dsp:spPr>
        <a:xfrm>
          <a:off x="1441279" y="1592579"/>
          <a:ext cx="2071549" cy="630481"/>
        </a:xfrm>
        <a:custGeom>
          <a:avLst/>
          <a:gdLst/>
          <a:ahLst/>
          <a:cxnLst/>
          <a:rect l="0" t="0" r="0" b="0"/>
          <a:pathLst>
            <a:path>
              <a:moveTo>
                <a:pt x="2071549" y="0"/>
              </a:moveTo>
              <a:lnTo>
                <a:pt x="2071549" y="463031"/>
              </a:lnTo>
              <a:lnTo>
                <a:pt x="0" y="463031"/>
              </a:lnTo>
              <a:lnTo>
                <a:pt x="0" y="630481"/>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80F266-C90D-486D-85C6-536439912775}">
      <dsp:nvSpPr>
        <dsp:cNvPr id="0" name=""/>
        <dsp:cNvSpPr/>
      </dsp:nvSpPr>
      <dsp:spPr>
        <a:xfrm>
          <a:off x="2424936" y="504688"/>
          <a:ext cx="2175783" cy="1087891"/>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Uninformed Search</a:t>
          </a:r>
        </a:p>
      </dsp:txBody>
      <dsp:txXfrm>
        <a:off x="2424936" y="504688"/>
        <a:ext cx="2175783" cy="1087891"/>
      </dsp:txXfrm>
    </dsp:sp>
    <dsp:sp modelId="{6B7AA5D9-719E-4A45-BA19-CFA1976DBB97}">
      <dsp:nvSpPr>
        <dsp:cNvPr id="0" name=""/>
        <dsp:cNvSpPr/>
      </dsp:nvSpPr>
      <dsp:spPr>
        <a:xfrm>
          <a:off x="643897" y="2223061"/>
          <a:ext cx="1594763" cy="797381"/>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Breadth-First Search</a:t>
          </a:r>
        </a:p>
      </dsp:txBody>
      <dsp:txXfrm>
        <a:off x="643897" y="2223061"/>
        <a:ext cx="1594763" cy="797381"/>
      </dsp:txXfrm>
    </dsp:sp>
    <dsp:sp modelId="{664A9B00-4748-49EA-B33D-E8DCE18FC7A1}">
      <dsp:nvSpPr>
        <dsp:cNvPr id="0" name=""/>
        <dsp:cNvSpPr/>
      </dsp:nvSpPr>
      <dsp:spPr>
        <a:xfrm>
          <a:off x="1232444" y="4015359"/>
          <a:ext cx="1594763" cy="797381"/>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Depth First Search</a:t>
          </a:r>
        </a:p>
      </dsp:txBody>
      <dsp:txXfrm>
        <a:off x="1232444" y="4015359"/>
        <a:ext cx="1594763" cy="797381"/>
      </dsp:txXfrm>
    </dsp:sp>
    <dsp:sp modelId="{73610080-7E54-4ACE-958E-AF0B50E4E96A}">
      <dsp:nvSpPr>
        <dsp:cNvPr id="0" name=""/>
        <dsp:cNvSpPr/>
      </dsp:nvSpPr>
      <dsp:spPr>
        <a:xfrm>
          <a:off x="4716587" y="2621752"/>
          <a:ext cx="1594763" cy="797381"/>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Iterative Deepening Search</a:t>
          </a:r>
        </a:p>
      </dsp:txBody>
      <dsp:txXfrm>
        <a:off x="4716587" y="2621752"/>
        <a:ext cx="1594763" cy="797381"/>
      </dsp:txXfrm>
    </dsp:sp>
    <dsp:sp modelId="{9962EA2A-1CF7-4A38-80DF-10587F45FAAE}">
      <dsp:nvSpPr>
        <dsp:cNvPr id="0" name=""/>
        <dsp:cNvSpPr/>
      </dsp:nvSpPr>
      <dsp:spPr>
        <a:xfrm>
          <a:off x="3720179" y="4433219"/>
          <a:ext cx="1594763" cy="797381"/>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Depth Limit Search</a:t>
          </a:r>
        </a:p>
      </dsp:txBody>
      <dsp:txXfrm>
        <a:off x="3720179" y="4433219"/>
        <a:ext cx="1594763" cy="79738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BB9F43-2DD5-4202-BB46-F1AA1AF350AE}">
      <dsp:nvSpPr>
        <dsp:cNvPr id="0" name=""/>
        <dsp:cNvSpPr/>
      </dsp:nvSpPr>
      <dsp:spPr>
        <a:xfrm>
          <a:off x="1433087" y="434561"/>
          <a:ext cx="1127550" cy="1127550"/>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2311400">
            <a:lnSpc>
              <a:spcPct val="90000"/>
            </a:lnSpc>
            <a:spcBef>
              <a:spcPct val="0"/>
            </a:spcBef>
            <a:spcAft>
              <a:spcPct val="35000"/>
            </a:spcAft>
            <a:buNone/>
          </a:pPr>
          <a:r>
            <a:rPr lang="en-US" sz="5200" kern="1200" dirty="0"/>
            <a:t>5</a:t>
          </a:r>
        </a:p>
      </dsp:txBody>
      <dsp:txXfrm>
        <a:off x="1598213" y="599687"/>
        <a:ext cx="797298" cy="797298"/>
      </dsp:txXfrm>
    </dsp:sp>
    <dsp:sp modelId="{DB4F9994-C991-41AB-87D6-DED144878337}">
      <dsp:nvSpPr>
        <dsp:cNvPr id="0" name=""/>
        <dsp:cNvSpPr/>
      </dsp:nvSpPr>
      <dsp:spPr>
        <a:xfrm rot="11412308">
          <a:off x="1116032" y="843284"/>
          <a:ext cx="328573" cy="52119"/>
        </a:xfrm>
        <a:custGeom>
          <a:avLst/>
          <a:gdLst/>
          <a:ahLst/>
          <a:cxnLst/>
          <a:rect l="0" t="0" r="0" b="0"/>
          <a:pathLst>
            <a:path>
              <a:moveTo>
                <a:pt x="0" y="26059"/>
              </a:moveTo>
              <a:lnTo>
                <a:pt x="328573" y="26059"/>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272104" y="861129"/>
        <a:ext cx="16428" cy="16428"/>
      </dsp:txXfrm>
    </dsp:sp>
    <dsp:sp modelId="{BFE7E4DE-6FB8-4995-8515-C042872F4779}">
      <dsp:nvSpPr>
        <dsp:cNvPr id="0" name=""/>
        <dsp:cNvSpPr/>
      </dsp:nvSpPr>
      <dsp:spPr>
        <a:xfrm>
          <a:off x="0" y="176575"/>
          <a:ext cx="1127550" cy="1127550"/>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2311400">
            <a:lnSpc>
              <a:spcPct val="90000"/>
            </a:lnSpc>
            <a:spcBef>
              <a:spcPct val="0"/>
            </a:spcBef>
            <a:spcAft>
              <a:spcPct val="35000"/>
            </a:spcAft>
            <a:buNone/>
          </a:pPr>
          <a:r>
            <a:rPr lang="en-US" sz="5200" kern="1200" dirty="0"/>
            <a:t>2</a:t>
          </a:r>
        </a:p>
      </dsp:txBody>
      <dsp:txXfrm>
        <a:off x="165126" y="341701"/>
        <a:ext cx="797298" cy="797298"/>
      </dsp:txXfrm>
    </dsp:sp>
    <dsp:sp modelId="{4B99B4E7-0924-4568-B7A6-BE5F5BDEB54D}">
      <dsp:nvSpPr>
        <dsp:cNvPr id="0" name=""/>
        <dsp:cNvSpPr/>
      </dsp:nvSpPr>
      <dsp:spPr>
        <a:xfrm rot="4632971">
          <a:off x="1853926" y="1857302"/>
          <a:ext cx="687492" cy="52119"/>
        </a:xfrm>
        <a:custGeom>
          <a:avLst/>
          <a:gdLst/>
          <a:ahLst/>
          <a:cxnLst/>
          <a:rect l="0" t="0" r="0" b="0"/>
          <a:pathLst>
            <a:path>
              <a:moveTo>
                <a:pt x="0" y="26059"/>
              </a:moveTo>
              <a:lnTo>
                <a:pt x="687492" y="26059"/>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80485" y="1866174"/>
        <a:ext cx="34374" cy="34374"/>
      </dsp:txXfrm>
    </dsp:sp>
    <dsp:sp modelId="{B32A80B9-EDE1-4790-AABF-9591D38A3FA6}">
      <dsp:nvSpPr>
        <dsp:cNvPr id="0" name=""/>
        <dsp:cNvSpPr/>
      </dsp:nvSpPr>
      <dsp:spPr>
        <a:xfrm>
          <a:off x="1834707" y="2204612"/>
          <a:ext cx="1127550" cy="1127550"/>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2311400">
            <a:lnSpc>
              <a:spcPct val="90000"/>
            </a:lnSpc>
            <a:spcBef>
              <a:spcPct val="0"/>
            </a:spcBef>
            <a:spcAft>
              <a:spcPct val="35000"/>
            </a:spcAft>
            <a:buNone/>
          </a:pPr>
          <a:r>
            <a:rPr lang="en-US" sz="5200" kern="1200" dirty="0"/>
            <a:t>4</a:t>
          </a:r>
        </a:p>
      </dsp:txBody>
      <dsp:txXfrm>
        <a:off x="1999833" y="2369738"/>
        <a:ext cx="797298" cy="797298"/>
      </dsp:txXfrm>
    </dsp:sp>
    <dsp:sp modelId="{17E39401-7369-45AC-A3E1-CECF340053CF}">
      <dsp:nvSpPr>
        <dsp:cNvPr id="0" name=""/>
        <dsp:cNvSpPr/>
      </dsp:nvSpPr>
      <dsp:spPr>
        <a:xfrm rot="7605082">
          <a:off x="797116" y="1856319"/>
          <a:ext cx="1079135" cy="52119"/>
        </a:xfrm>
        <a:custGeom>
          <a:avLst/>
          <a:gdLst/>
          <a:ahLst/>
          <a:cxnLst/>
          <a:rect l="0" t="0" r="0" b="0"/>
          <a:pathLst>
            <a:path>
              <a:moveTo>
                <a:pt x="0" y="26059"/>
              </a:moveTo>
              <a:lnTo>
                <a:pt x="1079135" y="26059"/>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309705" y="1855400"/>
        <a:ext cx="53956" cy="53956"/>
      </dsp:txXfrm>
    </dsp:sp>
    <dsp:sp modelId="{98FE53C9-6AE5-4D4A-AC8C-F650C4E64AE3}">
      <dsp:nvSpPr>
        <dsp:cNvPr id="0" name=""/>
        <dsp:cNvSpPr/>
      </dsp:nvSpPr>
      <dsp:spPr>
        <a:xfrm>
          <a:off x="112730" y="2202645"/>
          <a:ext cx="1127550" cy="1127550"/>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2311400">
            <a:lnSpc>
              <a:spcPct val="90000"/>
            </a:lnSpc>
            <a:spcBef>
              <a:spcPct val="0"/>
            </a:spcBef>
            <a:spcAft>
              <a:spcPct val="35000"/>
            </a:spcAft>
            <a:buNone/>
          </a:pPr>
          <a:r>
            <a:rPr lang="en-US" sz="5200" kern="1200" dirty="0"/>
            <a:t>1</a:t>
          </a:r>
        </a:p>
      </dsp:txBody>
      <dsp:txXfrm>
        <a:off x="277856" y="2367771"/>
        <a:ext cx="797298" cy="79729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BB9F43-2DD5-4202-BB46-F1AA1AF350AE}">
      <dsp:nvSpPr>
        <dsp:cNvPr id="0" name=""/>
        <dsp:cNvSpPr/>
      </dsp:nvSpPr>
      <dsp:spPr>
        <a:xfrm>
          <a:off x="2253776" y="764599"/>
          <a:ext cx="1119733" cy="1119733"/>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2311400">
            <a:lnSpc>
              <a:spcPct val="90000"/>
            </a:lnSpc>
            <a:spcBef>
              <a:spcPct val="0"/>
            </a:spcBef>
            <a:spcAft>
              <a:spcPct val="35000"/>
            </a:spcAft>
            <a:buNone/>
          </a:pPr>
          <a:r>
            <a:rPr lang="en-US" sz="5200" kern="1200" dirty="0"/>
            <a:t>6</a:t>
          </a:r>
        </a:p>
      </dsp:txBody>
      <dsp:txXfrm>
        <a:off x="2417757" y="928580"/>
        <a:ext cx="791771" cy="791771"/>
      </dsp:txXfrm>
    </dsp:sp>
    <dsp:sp modelId="{DB4F9994-C991-41AB-87D6-DED144878337}">
      <dsp:nvSpPr>
        <dsp:cNvPr id="0" name=""/>
        <dsp:cNvSpPr/>
      </dsp:nvSpPr>
      <dsp:spPr>
        <a:xfrm rot="11869773">
          <a:off x="1543538" y="1016945"/>
          <a:ext cx="755264" cy="40942"/>
        </a:xfrm>
        <a:custGeom>
          <a:avLst/>
          <a:gdLst/>
          <a:ahLst/>
          <a:cxnLst/>
          <a:rect l="0" t="0" r="0" b="0"/>
          <a:pathLst>
            <a:path>
              <a:moveTo>
                <a:pt x="0" y="20471"/>
              </a:moveTo>
              <a:lnTo>
                <a:pt x="755264" y="20471"/>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902288" y="1018535"/>
        <a:ext cx="37763" cy="37763"/>
      </dsp:txXfrm>
    </dsp:sp>
    <dsp:sp modelId="{BFE7E4DE-6FB8-4995-8515-C042872F4779}">
      <dsp:nvSpPr>
        <dsp:cNvPr id="0" name=""/>
        <dsp:cNvSpPr/>
      </dsp:nvSpPr>
      <dsp:spPr>
        <a:xfrm>
          <a:off x="468830" y="190500"/>
          <a:ext cx="1119733" cy="1119733"/>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2311400">
            <a:lnSpc>
              <a:spcPct val="90000"/>
            </a:lnSpc>
            <a:spcBef>
              <a:spcPct val="0"/>
            </a:spcBef>
            <a:spcAft>
              <a:spcPct val="35000"/>
            </a:spcAft>
            <a:buNone/>
          </a:pPr>
          <a:r>
            <a:rPr lang="en-US" sz="5200" kern="1200" dirty="0"/>
            <a:t>3</a:t>
          </a:r>
        </a:p>
      </dsp:txBody>
      <dsp:txXfrm>
        <a:off x="632811" y="354481"/>
        <a:ext cx="791771" cy="791771"/>
      </dsp:txXfrm>
    </dsp:sp>
    <dsp:sp modelId="{4B99B4E7-0924-4568-B7A6-BE5F5BDEB54D}">
      <dsp:nvSpPr>
        <dsp:cNvPr id="0" name=""/>
        <dsp:cNvSpPr/>
      </dsp:nvSpPr>
      <dsp:spPr>
        <a:xfrm rot="4993762">
          <a:off x="2730456" y="2027910"/>
          <a:ext cx="338263" cy="40942"/>
        </a:xfrm>
        <a:custGeom>
          <a:avLst/>
          <a:gdLst/>
          <a:ahLst/>
          <a:cxnLst/>
          <a:rect l="0" t="0" r="0" b="0"/>
          <a:pathLst>
            <a:path>
              <a:moveTo>
                <a:pt x="0" y="20471"/>
              </a:moveTo>
              <a:lnTo>
                <a:pt x="338263" y="20471"/>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1132" y="2039924"/>
        <a:ext cx="16913" cy="16913"/>
      </dsp:txXfrm>
    </dsp:sp>
    <dsp:sp modelId="{B32A80B9-EDE1-4790-AABF-9591D38A3FA6}">
      <dsp:nvSpPr>
        <dsp:cNvPr id="0" name=""/>
        <dsp:cNvSpPr/>
      </dsp:nvSpPr>
      <dsp:spPr>
        <a:xfrm>
          <a:off x="2425667" y="2212429"/>
          <a:ext cx="1119733" cy="1119733"/>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2311400">
            <a:lnSpc>
              <a:spcPct val="90000"/>
            </a:lnSpc>
            <a:spcBef>
              <a:spcPct val="0"/>
            </a:spcBef>
            <a:spcAft>
              <a:spcPct val="35000"/>
            </a:spcAft>
            <a:buNone/>
          </a:pPr>
          <a:r>
            <a:rPr lang="en-US" sz="5200" kern="1200" dirty="0"/>
            <a:t>8</a:t>
          </a:r>
        </a:p>
      </dsp:txBody>
      <dsp:txXfrm>
        <a:off x="2589648" y="2376410"/>
        <a:ext cx="791771" cy="791771"/>
      </dsp:txXfrm>
    </dsp:sp>
    <dsp:sp modelId="{17E39401-7369-45AC-A3E1-CECF340053CF}">
      <dsp:nvSpPr>
        <dsp:cNvPr id="0" name=""/>
        <dsp:cNvSpPr/>
      </dsp:nvSpPr>
      <dsp:spPr>
        <a:xfrm rot="7814167">
          <a:off x="1812681" y="2027910"/>
          <a:ext cx="776847" cy="40942"/>
        </a:xfrm>
        <a:custGeom>
          <a:avLst/>
          <a:gdLst/>
          <a:ahLst/>
          <a:cxnLst/>
          <a:rect l="0" t="0" r="0" b="0"/>
          <a:pathLst>
            <a:path>
              <a:moveTo>
                <a:pt x="0" y="20471"/>
              </a:moveTo>
              <a:lnTo>
                <a:pt x="776847" y="20471"/>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181684" y="2028960"/>
        <a:ext cx="38842" cy="38842"/>
      </dsp:txXfrm>
    </dsp:sp>
    <dsp:sp modelId="{98FE53C9-6AE5-4D4A-AC8C-F650C4E64AE3}">
      <dsp:nvSpPr>
        <dsp:cNvPr id="0" name=""/>
        <dsp:cNvSpPr/>
      </dsp:nvSpPr>
      <dsp:spPr>
        <a:xfrm>
          <a:off x="1028700" y="2212429"/>
          <a:ext cx="1119733" cy="1119733"/>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2311400">
            <a:lnSpc>
              <a:spcPct val="90000"/>
            </a:lnSpc>
            <a:spcBef>
              <a:spcPct val="0"/>
            </a:spcBef>
            <a:spcAft>
              <a:spcPct val="35000"/>
            </a:spcAft>
            <a:buNone/>
          </a:pPr>
          <a:r>
            <a:rPr lang="en-US" sz="5200" kern="1200" dirty="0"/>
            <a:t>7</a:t>
          </a:r>
        </a:p>
      </dsp:txBody>
      <dsp:txXfrm>
        <a:off x="1192681" y="2376410"/>
        <a:ext cx="791771" cy="79177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396008-77AE-406A-85F5-A12F25BAA3DA}">
      <dsp:nvSpPr>
        <dsp:cNvPr id="0" name=""/>
        <dsp:cNvSpPr/>
      </dsp:nvSpPr>
      <dsp:spPr>
        <a:xfrm>
          <a:off x="3695700" y="1671456"/>
          <a:ext cx="2024233" cy="1110688"/>
        </a:xfrm>
        <a:custGeom>
          <a:avLst/>
          <a:gdLst/>
          <a:ahLst/>
          <a:cxnLst/>
          <a:rect l="0" t="0" r="0" b="0"/>
          <a:pathLst>
            <a:path>
              <a:moveTo>
                <a:pt x="0" y="0"/>
              </a:moveTo>
              <a:lnTo>
                <a:pt x="0" y="759683"/>
              </a:lnTo>
              <a:lnTo>
                <a:pt x="2024233" y="759683"/>
              </a:lnTo>
              <a:lnTo>
                <a:pt x="2024233" y="111068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0F65A2-8A8C-4392-A415-688AA892A465}">
      <dsp:nvSpPr>
        <dsp:cNvPr id="0" name=""/>
        <dsp:cNvSpPr/>
      </dsp:nvSpPr>
      <dsp:spPr>
        <a:xfrm>
          <a:off x="1671466" y="1671456"/>
          <a:ext cx="2024233" cy="1110705"/>
        </a:xfrm>
        <a:custGeom>
          <a:avLst/>
          <a:gdLst/>
          <a:ahLst/>
          <a:cxnLst/>
          <a:rect l="0" t="0" r="0" b="0"/>
          <a:pathLst>
            <a:path>
              <a:moveTo>
                <a:pt x="2024233" y="0"/>
              </a:moveTo>
              <a:lnTo>
                <a:pt x="2024233" y="759699"/>
              </a:lnTo>
              <a:lnTo>
                <a:pt x="0" y="759699"/>
              </a:lnTo>
              <a:lnTo>
                <a:pt x="0" y="1110705"/>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80F266-C90D-486D-85C6-536439912775}">
      <dsp:nvSpPr>
        <dsp:cNvPr id="0" name=""/>
        <dsp:cNvSpPr/>
      </dsp:nvSpPr>
      <dsp:spPr>
        <a:xfrm>
          <a:off x="2024243" y="0"/>
          <a:ext cx="3342912" cy="1671456"/>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655" tIns="33655" rIns="33655" bIns="33655" numCol="1" spcCol="1270" anchor="ctr" anchorCtr="0">
          <a:noAutofit/>
        </a:bodyPr>
        <a:lstStyle/>
        <a:p>
          <a:pPr marL="0" lvl="0" indent="0" algn="ctr" defTabSz="2355850">
            <a:lnSpc>
              <a:spcPct val="90000"/>
            </a:lnSpc>
            <a:spcBef>
              <a:spcPct val="0"/>
            </a:spcBef>
            <a:spcAft>
              <a:spcPct val="35000"/>
            </a:spcAft>
            <a:buNone/>
          </a:pPr>
          <a:r>
            <a:rPr lang="en-US" sz="5300" kern="1200" dirty="0"/>
            <a:t>Informed Search</a:t>
          </a:r>
        </a:p>
      </dsp:txBody>
      <dsp:txXfrm>
        <a:off x="2024243" y="0"/>
        <a:ext cx="3342912" cy="1671456"/>
      </dsp:txXfrm>
    </dsp:sp>
    <dsp:sp modelId="{6B7AA5D9-719E-4A45-BA19-CFA1976DBB97}">
      <dsp:nvSpPr>
        <dsp:cNvPr id="0" name=""/>
        <dsp:cNvSpPr/>
      </dsp:nvSpPr>
      <dsp:spPr>
        <a:xfrm>
          <a:off x="10" y="2782161"/>
          <a:ext cx="3342912" cy="1671456"/>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655" tIns="33655" rIns="33655" bIns="33655" numCol="1" spcCol="1270" anchor="ctr" anchorCtr="0">
          <a:noAutofit/>
        </a:bodyPr>
        <a:lstStyle/>
        <a:p>
          <a:pPr marL="0" lvl="0" indent="0" algn="ctr" defTabSz="2355850">
            <a:lnSpc>
              <a:spcPct val="90000"/>
            </a:lnSpc>
            <a:spcBef>
              <a:spcPct val="0"/>
            </a:spcBef>
            <a:spcAft>
              <a:spcPct val="35000"/>
            </a:spcAft>
            <a:buNone/>
          </a:pPr>
          <a:r>
            <a:rPr lang="en-US" sz="5300" kern="1200" dirty="0"/>
            <a:t>Greedy Best Search</a:t>
          </a:r>
        </a:p>
      </dsp:txBody>
      <dsp:txXfrm>
        <a:off x="10" y="2782161"/>
        <a:ext cx="3342912" cy="1671456"/>
      </dsp:txXfrm>
    </dsp:sp>
    <dsp:sp modelId="{664A9B00-4748-49EA-B33D-E8DCE18FC7A1}">
      <dsp:nvSpPr>
        <dsp:cNvPr id="0" name=""/>
        <dsp:cNvSpPr/>
      </dsp:nvSpPr>
      <dsp:spPr>
        <a:xfrm>
          <a:off x="4048477" y="2782145"/>
          <a:ext cx="3342912" cy="1671456"/>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655" tIns="33655" rIns="33655" bIns="33655" numCol="1" spcCol="1270" anchor="ctr" anchorCtr="0">
          <a:noAutofit/>
        </a:bodyPr>
        <a:lstStyle/>
        <a:p>
          <a:pPr marL="0" lvl="0" indent="0" algn="ctr" defTabSz="2355850">
            <a:lnSpc>
              <a:spcPct val="90000"/>
            </a:lnSpc>
            <a:spcBef>
              <a:spcPct val="0"/>
            </a:spcBef>
            <a:spcAft>
              <a:spcPct val="35000"/>
            </a:spcAft>
            <a:buNone/>
          </a:pPr>
          <a:r>
            <a:rPr lang="en-US" sz="5300" kern="1200" dirty="0"/>
            <a:t>A* Search</a:t>
          </a:r>
        </a:p>
      </dsp:txBody>
      <dsp:txXfrm>
        <a:off x="4048477" y="2782145"/>
        <a:ext cx="3342912" cy="167145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3CE3CD-1EF6-4CAB-9FF1-E669A0C99492}">
      <dsp:nvSpPr>
        <dsp:cNvPr id="0" name=""/>
        <dsp:cNvSpPr/>
      </dsp:nvSpPr>
      <dsp:spPr>
        <a:xfrm>
          <a:off x="0" y="3703000"/>
          <a:ext cx="1058231" cy="486016"/>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261" tIns="120904" rIns="75261" bIns="120904" numCol="1" spcCol="1270" anchor="ctr" anchorCtr="0">
          <a:noAutofit/>
        </a:bodyPr>
        <a:lstStyle/>
        <a:p>
          <a:pPr marL="0" lvl="0" indent="0" algn="ctr" defTabSz="755650">
            <a:lnSpc>
              <a:spcPct val="90000"/>
            </a:lnSpc>
            <a:spcBef>
              <a:spcPct val="0"/>
            </a:spcBef>
            <a:spcAft>
              <a:spcPct val="35000"/>
            </a:spcAft>
            <a:buNone/>
          </a:pPr>
          <a:r>
            <a:rPr lang="en-US" sz="1700" kern="1200"/>
            <a:t>Step 6</a:t>
          </a:r>
        </a:p>
      </dsp:txBody>
      <dsp:txXfrm>
        <a:off x="0" y="3703000"/>
        <a:ext cx="1058231" cy="486016"/>
      </dsp:txXfrm>
    </dsp:sp>
    <dsp:sp modelId="{FFEDE830-7EE4-4604-B43F-37182ABE619F}">
      <dsp:nvSpPr>
        <dsp:cNvPr id="0" name=""/>
        <dsp:cNvSpPr/>
      </dsp:nvSpPr>
      <dsp:spPr>
        <a:xfrm>
          <a:off x="1058231" y="3703000"/>
          <a:ext cx="3174694" cy="486016"/>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398" tIns="152400" rIns="64398" bIns="152400" numCol="1" spcCol="1270" anchor="ctr" anchorCtr="0">
          <a:noAutofit/>
        </a:bodyPr>
        <a:lstStyle/>
        <a:p>
          <a:pPr marL="0" lvl="0" indent="0" algn="l" defTabSz="533400">
            <a:lnSpc>
              <a:spcPct val="90000"/>
            </a:lnSpc>
            <a:spcBef>
              <a:spcPct val="0"/>
            </a:spcBef>
            <a:spcAft>
              <a:spcPct val="35000"/>
            </a:spcAft>
            <a:buNone/>
          </a:pPr>
          <a:r>
            <a:rPr lang="en-US" sz="1200" kern="1200"/>
            <a:t>Alpha Beta Pruning</a:t>
          </a:r>
        </a:p>
      </dsp:txBody>
      <dsp:txXfrm>
        <a:off x="1058231" y="3703000"/>
        <a:ext cx="3174694" cy="486016"/>
      </dsp:txXfrm>
    </dsp:sp>
    <dsp:sp modelId="{39E0D42E-49EB-465A-BAF0-08A6A1933F20}">
      <dsp:nvSpPr>
        <dsp:cNvPr id="0" name=""/>
        <dsp:cNvSpPr/>
      </dsp:nvSpPr>
      <dsp:spPr>
        <a:xfrm rot="10800000">
          <a:off x="0" y="2962797"/>
          <a:ext cx="1058231" cy="747493"/>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261" tIns="120904" rIns="75261" bIns="120904" numCol="1" spcCol="1270" anchor="ctr" anchorCtr="0">
          <a:noAutofit/>
        </a:bodyPr>
        <a:lstStyle/>
        <a:p>
          <a:pPr marL="0" lvl="0" indent="0" algn="ctr" defTabSz="755650">
            <a:lnSpc>
              <a:spcPct val="90000"/>
            </a:lnSpc>
            <a:spcBef>
              <a:spcPct val="0"/>
            </a:spcBef>
            <a:spcAft>
              <a:spcPct val="35000"/>
            </a:spcAft>
            <a:buNone/>
          </a:pPr>
          <a:r>
            <a:rPr lang="en-US" sz="1700" kern="1200"/>
            <a:t>Step 5</a:t>
          </a:r>
        </a:p>
      </dsp:txBody>
      <dsp:txXfrm rot="-10800000">
        <a:off x="0" y="2962797"/>
        <a:ext cx="1058231" cy="485871"/>
      </dsp:txXfrm>
    </dsp:sp>
    <dsp:sp modelId="{ADF99282-7858-48A7-8A5B-3CB49DC9A196}">
      <dsp:nvSpPr>
        <dsp:cNvPr id="0" name=""/>
        <dsp:cNvSpPr/>
      </dsp:nvSpPr>
      <dsp:spPr>
        <a:xfrm>
          <a:off x="1058231" y="2962797"/>
          <a:ext cx="3174694" cy="485871"/>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398" tIns="152400" rIns="64398" bIns="152400" numCol="1" spcCol="1270" anchor="ctr" anchorCtr="0">
          <a:noAutofit/>
        </a:bodyPr>
        <a:lstStyle/>
        <a:p>
          <a:pPr marL="0" lvl="0" indent="0" algn="l" defTabSz="533400">
            <a:lnSpc>
              <a:spcPct val="90000"/>
            </a:lnSpc>
            <a:spcBef>
              <a:spcPct val="0"/>
            </a:spcBef>
            <a:spcAft>
              <a:spcPct val="35000"/>
            </a:spcAft>
            <a:buNone/>
          </a:pPr>
          <a:r>
            <a:rPr lang="en-US" sz="1200" kern="1200"/>
            <a:t>Optimal Move Selection</a:t>
          </a:r>
        </a:p>
      </dsp:txBody>
      <dsp:txXfrm>
        <a:off x="1058231" y="2962797"/>
        <a:ext cx="3174694" cy="485871"/>
      </dsp:txXfrm>
    </dsp:sp>
    <dsp:sp modelId="{B1EA9093-FDDF-447C-950F-72FFF9B86389}">
      <dsp:nvSpPr>
        <dsp:cNvPr id="0" name=""/>
        <dsp:cNvSpPr/>
      </dsp:nvSpPr>
      <dsp:spPr>
        <a:xfrm rot="10800000">
          <a:off x="0" y="2222593"/>
          <a:ext cx="1058231" cy="747493"/>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261" tIns="120904" rIns="75261" bIns="120904" numCol="1" spcCol="1270" anchor="ctr" anchorCtr="0">
          <a:noAutofit/>
        </a:bodyPr>
        <a:lstStyle/>
        <a:p>
          <a:pPr marL="0" lvl="0" indent="0" algn="ctr" defTabSz="755650">
            <a:lnSpc>
              <a:spcPct val="90000"/>
            </a:lnSpc>
            <a:spcBef>
              <a:spcPct val="0"/>
            </a:spcBef>
            <a:spcAft>
              <a:spcPct val="35000"/>
            </a:spcAft>
            <a:buNone/>
          </a:pPr>
          <a:r>
            <a:rPr lang="en-US" sz="1700" kern="1200"/>
            <a:t>Step 4</a:t>
          </a:r>
        </a:p>
      </dsp:txBody>
      <dsp:txXfrm rot="-10800000">
        <a:off x="0" y="2222593"/>
        <a:ext cx="1058231" cy="485871"/>
      </dsp:txXfrm>
    </dsp:sp>
    <dsp:sp modelId="{7C21CBE3-9F9E-4805-B913-FCBB7A0468F4}">
      <dsp:nvSpPr>
        <dsp:cNvPr id="0" name=""/>
        <dsp:cNvSpPr/>
      </dsp:nvSpPr>
      <dsp:spPr>
        <a:xfrm>
          <a:off x="1058231" y="2222593"/>
          <a:ext cx="3174694" cy="485871"/>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398" tIns="152400" rIns="64398" bIns="152400" numCol="1" spcCol="1270" anchor="ctr" anchorCtr="0">
          <a:noAutofit/>
        </a:bodyPr>
        <a:lstStyle/>
        <a:p>
          <a:pPr marL="0" lvl="0" indent="0" algn="l" defTabSz="533400">
            <a:lnSpc>
              <a:spcPct val="90000"/>
            </a:lnSpc>
            <a:spcBef>
              <a:spcPct val="0"/>
            </a:spcBef>
            <a:spcAft>
              <a:spcPct val="35000"/>
            </a:spcAft>
            <a:buNone/>
          </a:pPr>
          <a:r>
            <a:rPr lang="en-US" sz="1200" kern="1200"/>
            <a:t>Depth-based Exploration</a:t>
          </a:r>
        </a:p>
      </dsp:txBody>
      <dsp:txXfrm>
        <a:off x="1058231" y="2222593"/>
        <a:ext cx="3174694" cy="485871"/>
      </dsp:txXfrm>
    </dsp:sp>
    <dsp:sp modelId="{6444F19C-145F-40D4-868C-5948C0D1E4CF}">
      <dsp:nvSpPr>
        <dsp:cNvPr id="0" name=""/>
        <dsp:cNvSpPr/>
      </dsp:nvSpPr>
      <dsp:spPr>
        <a:xfrm rot="10800000">
          <a:off x="0" y="1482389"/>
          <a:ext cx="1058231" cy="747493"/>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261" tIns="120904" rIns="75261" bIns="120904" numCol="1" spcCol="1270" anchor="ctr" anchorCtr="0">
          <a:noAutofit/>
        </a:bodyPr>
        <a:lstStyle/>
        <a:p>
          <a:pPr marL="0" lvl="0" indent="0" algn="ctr" defTabSz="755650">
            <a:lnSpc>
              <a:spcPct val="90000"/>
            </a:lnSpc>
            <a:spcBef>
              <a:spcPct val="0"/>
            </a:spcBef>
            <a:spcAft>
              <a:spcPct val="35000"/>
            </a:spcAft>
            <a:buNone/>
          </a:pPr>
          <a:r>
            <a:rPr lang="en-US" sz="1700" kern="1200"/>
            <a:t>Step 3</a:t>
          </a:r>
        </a:p>
      </dsp:txBody>
      <dsp:txXfrm rot="-10800000">
        <a:off x="0" y="1482389"/>
        <a:ext cx="1058231" cy="485871"/>
      </dsp:txXfrm>
    </dsp:sp>
    <dsp:sp modelId="{114A4B3E-73EC-43D7-9A52-F9034C08D3B2}">
      <dsp:nvSpPr>
        <dsp:cNvPr id="0" name=""/>
        <dsp:cNvSpPr/>
      </dsp:nvSpPr>
      <dsp:spPr>
        <a:xfrm>
          <a:off x="1058231" y="1482389"/>
          <a:ext cx="3174694" cy="485871"/>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398" tIns="152400" rIns="64398" bIns="152400" numCol="1" spcCol="1270" anchor="ctr" anchorCtr="0">
          <a:noAutofit/>
        </a:bodyPr>
        <a:lstStyle/>
        <a:p>
          <a:pPr marL="0" lvl="0" indent="0" algn="l" defTabSz="533400">
            <a:lnSpc>
              <a:spcPct val="90000"/>
            </a:lnSpc>
            <a:spcBef>
              <a:spcPct val="0"/>
            </a:spcBef>
            <a:spcAft>
              <a:spcPct val="35000"/>
            </a:spcAft>
            <a:buNone/>
          </a:pPr>
          <a:r>
            <a:rPr lang="en-US" sz="1200" kern="1200"/>
            <a:t>Backpropagation of Values</a:t>
          </a:r>
        </a:p>
      </dsp:txBody>
      <dsp:txXfrm>
        <a:off x="1058231" y="1482389"/>
        <a:ext cx="3174694" cy="485871"/>
      </dsp:txXfrm>
    </dsp:sp>
    <dsp:sp modelId="{BEF72190-067D-4866-85F0-58D707B4D20B}">
      <dsp:nvSpPr>
        <dsp:cNvPr id="0" name=""/>
        <dsp:cNvSpPr/>
      </dsp:nvSpPr>
      <dsp:spPr>
        <a:xfrm rot="10800000">
          <a:off x="0" y="742186"/>
          <a:ext cx="1058231" cy="747493"/>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261" tIns="120904" rIns="75261" bIns="120904" numCol="1" spcCol="1270" anchor="ctr" anchorCtr="0">
          <a:noAutofit/>
        </a:bodyPr>
        <a:lstStyle/>
        <a:p>
          <a:pPr marL="0" lvl="0" indent="0" algn="ctr" defTabSz="755650">
            <a:lnSpc>
              <a:spcPct val="90000"/>
            </a:lnSpc>
            <a:spcBef>
              <a:spcPct val="0"/>
            </a:spcBef>
            <a:spcAft>
              <a:spcPct val="35000"/>
            </a:spcAft>
            <a:buNone/>
          </a:pPr>
          <a:r>
            <a:rPr lang="en-US" sz="1700" kern="1200"/>
            <a:t>Step 2</a:t>
          </a:r>
        </a:p>
      </dsp:txBody>
      <dsp:txXfrm rot="-10800000">
        <a:off x="0" y="742186"/>
        <a:ext cx="1058231" cy="485871"/>
      </dsp:txXfrm>
    </dsp:sp>
    <dsp:sp modelId="{047DE0A1-CA79-4456-8E83-7B51B095DD8F}">
      <dsp:nvSpPr>
        <dsp:cNvPr id="0" name=""/>
        <dsp:cNvSpPr/>
      </dsp:nvSpPr>
      <dsp:spPr>
        <a:xfrm>
          <a:off x="1058231" y="742186"/>
          <a:ext cx="3174694" cy="485871"/>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398" tIns="152400" rIns="64398" bIns="152400" numCol="1" spcCol="1270" anchor="ctr" anchorCtr="0">
          <a:noAutofit/>
        </a:bodyPr>
        <a:lstStyle/>
        <a:p>
          <a:pPr marL="0" lvl="0" indent="0" algn="l" defTabSz="533400">
            <a:lnSpc>
              <a:spcPct val="90000"/>
            </a:lnSpc>
            <a:spcBef>
              <a:spcPct val="0"/>
            </a:spcBef>
            <a:spcAft>
              <a:spcPct val="35000"/>
            </a:spcAft>
            <a:buNone/>
          </a:pPr>
          <a:r>
            <a:rPr lang="en-US" sz="1200" kern="1200"/>
            <a:t>Terminal State Evaluation</a:t>
          </a:r>
        </a:p>
      </dsp:txBody>
      <dsp:txXfrm>
        <a:off x="1058231" y="742186"/>
        <a:ext cx="3174694" cy="485871"/>
      </dsp:txXfrm>
    </dsp:sp>
    <dsp:sp modelId="{F4E4E2E6-473B-4110-AF8E-0A613A52675B}">
      <dsp:nvSpPr>
        <dsp:cNvPr id="0" name=""/>
        <dsp:cNvSpPr/>
      </dsp:nvSpPr>
      <dsp:spPr>
        <a:xfrm rot="10800000">
          <a:off x="0" y="1982"/>
          <a:ext cx="1058231" cy="747493"/>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261" tIns="120904" rIns="75261" bIns="120904" numCol="1" spcCol="1270" anchor="ctr" anchorCtr="0">
          <a:noAutofit/>
        </a:bodyPr>
        <a:lstStyle/>
        <a:p>
          <a:pPr marL="0" lvl="0" indent="0" algn="ctr" defTabSz="755650">
            <a:lnSpc>
              <a:spcPct val="90000"/>
            </a:lnSpc>
            <a:spcBef>
              <a:spcPct val="0"/>
            </a:spcBef>
            <a:spcAft>
              <a:spcPct val="35000"/>
            </a:spcAft>
            <a:buNone/>
          </a:pPr>
          <a:r>
            <a:rPr lang="en-US" sz="1700" kern="1200"/>
            <a:t>Step 1</a:t>
          </a:r>
        </a:p>
      </dsp:txBody>
      <dsp:txXfrm rot="-10800000">
        <a:off x="0" y="1982"/>
        <a:ext cx="1058231" cy="485871"/>
      </dsp:txXfrm>
    </dsp:sp>
    <dsp:sp modelId="{2D4300B1-F44B-4151-9774-A54724072635}">
      <dsp:nvSpPr>
        <dsp:cNvPr id="0" name=""/>
        <dsp:cNvSpPr/>
      </dsp:nvSpPr>
      <dsp:spPr>
        <a:xfrm>
          <a:off x="1058231" y="1982"/>
          <a:ext cx="3174694" cy="485871"/>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398" tIns="152400" rIns="64398" bIns="152400" numCol="1" spcCol="1270" anchor="ctr" anchorCtr="0">
          <a:noAutofit/>
        </a:bodyPr>
        <a:lstStyle/>
        <a:p>
          <a:pPr marL="0" lvl="0" indent="0" algn="l" defTabSz="533400">
            <a:lnSpc>
              <a:spcPct val="90000"/>
            </a:lnSpc>
            <a:spcBef>
              <a:spcPct val="0"/>
            </a:spcBef>
            <a:spcAft>
              <a:spcPct val="35000"/>
            </a:spcAft>
            <a:buNone/>
          </a:pPr>
          <a:r>
            <a:rPr lang="en-US" sz="1200" kern="1200"/>
            <a:t>Game Tree Construction</a:t>
          </a:r>
        </a:p>
      </dsp:txBody>
      <dsp:txXfrm>
        <a:off x="1058231" y="1982"/>
        <a:ext cx="3174694" cy="48587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444628-6145-4EB1-84DB-8D002A0ABAC6}">
      <dsp:nvSpPr>
        <dsp:cNvPr id="0" name=""/>
        <dsp:cNvSpPr/>
      </dsp:nvSpPr>
      <dsp:spPr>
        <a:xfrm>
          <a:off x="3852333" y="2229992"/>
          <a:ext cx="2725554" cy="473030"/>
        </a:xfrm>
        <a:custGeom>
          <a:avLst/>
          <a:gdLst/>
          <a:ahLst/>
          <a:cxnLst/>
          <a:rect l="0" t="0" r="0" b="0"/>
          <a:pathLst>
            <a:path>
              <a:moveTo>
                <a:pt x="0" y="0"/>
              </a:moveTo>
              <a:lnTo>
                <a:pt x="0" y="236515"/>
              </a:lnTo>
              <a:lnTo>
                <a:pt x="2725554" y="236515"/>
              </a:lnTo>
              <a:lnTo>
                <a:pt x="2725554" y="47303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79D5F43-EADE-451A-AC87-6ED70F670D93}">
      <dsp:nvSpPr>
        <dsp:cNvPr id="0" name=""/>
        <dsp:cNvSpPr/>
      </dsp:nvSpPr>
      <dsp:spPr>
        <a:xfrm>
          <a:off x="3806613" y="2229992"/>
          <a:ext cx="91440" cy="473030"/>
        </a:xfrm>
        <a:custGeom>
          <a:avLst/>
          <a:gdLst/>
          <a:ahLst/>
          <a:cxnLst/>
          <a:rect l="0" t="0" r="0" b="0"/>
          <a:pathLst>
            <a:path>
              <a:moveTo>
                <a:pt x="45720" y="0"/>
              </a:moveTo>
              <a:lnTo>
                <a:pt x="45720" y="47303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3885B6-0A51-4444-8769-7E8B325C974D}">
      <dsp:nvSpPr>
        <dsp:cNvPr id="0" name=""/>
        <dsp:cNvSpPr/>
      </dsp:nvSpPr>
      <dsp:spPr>
        <a:xfrm>
          <a:off x="1126779" y="2229992"/>
          <a:ext cx="2725554" cy="473030"/>
        </a:xfrm>
        <a:custGeom>
          <a:avLst/>
          <a:gdLst/>
          <a:ahLst/>
          <a:cxnLst/>
          <a:rect l="0" t="0" r="0" b="0"/>
          <a:pathLst>
            <a:path>
              <a:moveTo>
                <a:pt x="2725554" y="0"/>
              </a:moveTo>
              <a:lnTo>
                <a:pt x="2725554" y="236515"/>
              </a:lnTo>
              <a:lnTo>
                <a:pt x="0" y="236515"/>
              </a:lnTo>
              <a:lnTo>
                <a:pt x="0" y="47303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A2D3BD-54CC-474E-B2D6-D2C5B5313A5C}">
      <dsp:nvSpPr>
        <dsp:cNvPr id="0" name=""/>
        <dsp:cNvSpPr/>
      </dsp:nvSpPr>
      <dsp:spPr>
        <a:xfrm>
          <a:off x="2726071" y="1103730"/>
          <a:ext cx="2252524" cy="11262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r>
            <a:rPr lang="en-US" sz="3700" kern="1200" dirty="0"/>
            <a:t>Types of CSPs</a:t>
          </a:r>
        </a:p>
      </dsp:txBody>
      <dsp:txXfrm>
        <a:off x="2726071" y="1103730"/>
        <a:ext cx="2252524" cy="1126262"/>
      </dsp:txXfrm>
    </dsp:sp>
    <dsp:sp modelId="{C1C9A3FC-DD33-4DED-85F3-22E8B9E66FA0}">
      <dsp:nvSpPr>
        <dsp:cNvPr id="0" name=""/>
        <dsp:cNvSpPr/>
      </dsp:nvSpPr>
      <dsp:spPr>
        <a:xfrm>
          <a:off x="517" y="2703023"/>
          <a:ext cx="2252524" cy="11262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r>
            <a:rPr lang="en-US" sz="3700" kern="1200"/>
            <a:t>Binary CSP</a:t>
          </a:r>
        </a:p>
      </dsp:txBody>
      <dsp:txXfrm>
        <a:off x="517" y="2703023"/>
        <a:ext cx="2252524" cy="1126262"/>
      </dsp:txXfrm>
    </dsp:sp>
    <dsp:sp modelId="{47D8BDC2-10B1-4051-B667-EBB90038B768}">
      <dsp:nvSpPr>
        <dsp:cNvPr id="0" name=""/>
        <dsp:cNvSpPr/>
      </dsp:nvSpPr>
      <dsp:spPr>
        <a:xfrm>
          <a:off x="2726071" y="2703023"/>
          <a:ext cx="2252524" cy="11262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r>
            <a:rPr lang="en-US" sz="3700" kern="1200"/>
            <a:t>Non-binary CSPs</a:t>
          </a:r>
        </a:p>
      </dsp:txBody>
      <dsp:txXfrm>
        <a:off x="2726071" y="2703023"/>
        <a:ext cx="2252524" cy="1126262"/>
      </dsp:txXfrm>
    </dsp:sp>
    <dsp:sp modelId="{CF587103-B73C-4EB3-B510-0607118DAB98}">
      <dsp:nvSpPr>
        <dsp:cNvPr id="0" name=""/>
        <dsp:cNvSpPr/>
      </dsp:nvSpPr>
      <dsp:spPr>
        <a:xfrm>
          <a:off x="5451625" y="2703023"/>
          <a:ext cx="2252524" cy="11262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r>
            <a:rPr lang="en-US" sz="3700" kern="1200"/>
            <a:t>Hard and Soft CSPs</a:t>
          </a:r>
        </a:p>
      </dsp:txBody>
      <dsp:txXfrm>
        <a:off x="5451625" y="2703023"/>
        <a:ext cx="2252524" cy="112626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827CED-6723-426A-BEBC-595855F6A5BF}" type="datetimeFigureOut">
              <a:rPr lang="en-US" smtClean="0"/>
              <a:t>12/15/2025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B19DB7-DDC9-4C8C-8DC3-1D632FA3DF71}" type="slidenum">
              <a:rPr lang="en-US" smtClean="0"/>
              <a:t>‹#›</a:t>
            </a:fld>
            <a:endParaRPr lang="en-US"/>
          </a:p>
        </p:txBody>
      </p:sp>
    </p:spTree>
    <p:extLst>
      <p:ext uri="{BB962C8B-B14F-4D97-AF65-F5344CB8AC3E}">
        <p14:creationId xmlns:p14="http://schemas.microsoft.com/office/powerpoint/2010/main" val="3559329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a:t>
            </a:r>
            <a:endParaRPr lang="en-US" dirty="0"/>
          </a:p>
          <a:p>
            <a:pPr>
              <a:buFont typeface="Arial" panose="020B0604020202020204" pitchFamily="34" charset="0"/>
              <a:buChar char="•"/>
            </a:pPr>
            <a:r>
              <a:rPr lang="en-US" b="1" dirty="0"/>
              <a:t>State Space</a:t>
            </a:r>
            <a:r>
              <a:rPr lang="en-US" dirty="0"/>
              <a:t>: This represents all possible configurations of the problem at hand. Imagine the problem as a collection of states, where each state represents a possible situation or condition.</a:t>
            </a:r>
          </a:p>
          <a:p>
            <a:pPr>
              <a:buFont typeface="Arial" panose="020B0604020202020204" pitchFamily="34" charset="0"/>
              <a:buChar char="•"/>
            </a:pPr>
            <a:r>
              <a:rPr lang="en-US" b="1" dirty="0"/>
              <a:t>Initial State</a:t>
            </a:r>
            <a:r>
              <a:rPr lang="en-US" dirty="0"/>
              <a:t>: The condition from which we begin solving the problem.</a:t>
            </a:r>
          </a:p>
          <a:p>
            <a:pPr>
              <a:buFont typeface="Arial" panose="020B0604020202020204" pitchFamily="34" charset="0"/>
              <a:buChar char="•"/>
            </a:pPr>
            <a:r>
              <a:rPr lang="en-US" b="1" dirty="0"/>
              <a:t>Goal State</a:t>
            </a:r>
            <a:r>
              <a:rPr lang="en-US" dirty="0"/>
              <a:t>: This is the solution to the problem—what we aim to reach.</a:t>
            </a:r>
          </a:p>
          <a:p>
            <a:pPr>
              <a:buFont typeface="Arial" panose="020B0604020202020204" pitchFamily="34" charset="0"/>
              <a:buChar char="•"/>
            </a:pPr>
            <a:r>
              <a:rPr lang="en-US" b="1" dirty="0"/>
              <a:t>State Space Search</a:t>
            </a:r>
            <a:r>
              <a:rPr lang="en-US" dirty="0"/>
              <a:t>: Involves systematically moving through the state space from the initial state to the goal state. Transitions between states occur through valid actions, and solving the problem means finding a sequence of actions that leads to the goal state.</a:t>
            </a:r>
          </a:p>
          <a:p>
            <a:r>
              <a:rPr lang="en-US" b="1" dirty="0"/>
              <a:t>Example</a:t>
            </a:r>
            <a:r>
              <a:rPr lang="en-US" dirty="0"/>
              <a:t>: In a maze-solving problem, the state space consists of all possible positions within the maze. The initial state is the starting point, and the goal state is the exit.</a:t>
            </a:r>
          </a:p>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3</a:t>
            </a:fld>
            <a:endParaRPr lang="en-US"/>
          </a:p>
        </p:txBody>
      </p:sp>
    </p:spTree>
    <p:extLst>
      <p:ext uri="{BB962C8B-B14F-4D97-AF65-F5344CB8AC3E}">
        <p14:creationId xmlns:p14="http://schemas.microsoft.com/office/powerpoint/2010/main" val="3216237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Components of a Problem-Solving Agent:</a:t>
            </a:r>
          </a:p>
          <a:p>
            <a:r>
              <a:rPr lang="en-US" dirty="0"/>
              <a:t>Goal Formulation – What do I want to achieve?</a:t>
            </a:r>
          </a:p>
          <a:p>
            <a:r>
              <a:rPr lang="en-US" dirty="0"/>
              <a:t>Problem Formulation – What actions/states describe the problem?</a:t>
            </a:r>
          </a:p>
          <a:p>
            <a:r>
              <a:rPr lang="en-US" dirty="0"/>
              <a:t>Search – Explore possible actions to reach the goal.</a:t>
            </a:r>
          </a:p>
          <a:p>
            <a:r>
              <a:rPr lang="en-US" dirty="0"/>
              <a:t>Execute the Solution – Perform actions in the real world.</a:t>
            </a:r>
          </a:p>
        </p:txBody>
      </p:sp>
      <p:sp>
        <p:nvSpPr>
          <p:cNvPr id="4" name="Slide Number Placeholder 3"/>
          <p:cNvSpPr>
            <a:spLocks noGrp="1"/>
          </p:cNvSpPr>
          <p:nvPr>
            <p:ph type="sldNum" sz="quarter" idx="5"/>
          </p:nvPr>
        </p:nvSpPr>
        <p:spPr/>
        <p:txBody>
          <a:bodyPr/>
          <a:lstStyle/>
          <a:p>
            <a:fld id="{43B19DB7-DDC9-4C8C-8DC3-1D632FA3DF71}" type="slidenum">
              <a:rPr lang="en-US" smtClean="0"/>
              <a:t>4</a:t>
            </a:fld>
            <a:endParaRPr lang="en-US"/>
          </a:p>
        </p:txBody>
      </p:sp>
    </p:spTree>
    <p:extLst>
      <p:ext uri="{BB962C8B-B14F-4D97-AF65-F5344CB8AC3E}">
        <p14:creationId xmlns:p14="http://schemas.microsoft.com/office/powerpoint/2010/main" val="639885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Production Systems in Artificial Intelligence</a:t>
            </a:r>
          </a:p>
          <a:p>
            <a:pPr>
              <a:buNone/>
            </a:pPr>
            <a:r>
              <a:rPr lang="en-US" b="1" dirty="0"/>
              <a:t>Definition:</a:t>
            </a:r>
            <a:br>
              <a:rPr lang="en-US" dirty="0"/>
            </a:br>
            <a:r>
              <a:rPr lang="en-US" dirty="0"/>
              <a:t>Production systems are a type of rule-based system widely used in Artificial Intelligence for modeling intelligent behavior, especially in </a:t>
            </a:r>
            <a:r>
              <a:rPr lang="en-US" b="1" dirty="0"/>
              <a:t>automated reasoning</a:t>
            </a:r>
            <a:r>
              <a:rPr lang="en-US" dirty="0"/>
              <a:t> and </a:t>
            </a:r>
            <a:r>
              <a:rPr lang="en-US" b="1" dirty="0"/>
              <a:t>decision-making processes</a:t>
            </a:r>
            <a:r>
              <a:rPr lang="en-US" dirty="0"/>
              <a:t>. These systems use predefined rules to manipulate symbolic information and reach conclusions or perform actions.</a:t>
            </a:r>
          </a:p>
          <a:p>
            <a:pPr>
              <a:buNone/>
            </a:pPr>
            <a:r>
              <a:rPr lang="en-US" b="1" dirty="0"/>
              <a:t>Key Components of a Production System</a:t>
            </a:r>
          </a:p>
          <a:p>
            <a:pPr>
              <a:buFont typeface="+mj-lt"/>
              <a:buAutoNum type="arabicPeriod"/>
            </a:pPr>
            <a:r>
              <a:rPr lang="en-US" b="1" dirty="0"/>
              <a:t>Rule Set (Production Rules):</a:t>
            </a:r>
            <a:endParaRPr lang="en-US" dirty="0"/>
          </a:p>
          <a:p>
            <a:pPr marL="742950" lvl="1" indent="-285750">
              <a:buFont typeface="+mj-lt"/>
              <a:buAutoNum type="arabicPeriod"/>
            </a:pPr>
            <a:r>
              <a:rPr lang="en-US" dirty="0"/>
              <a:t>A collection of </a:t>
            </a:r>
            <a:r>
              <a:rPr lang="en-US" b="1" dirty="0"/>
              <a:t>IF-THEN</a:t>
            </a:r>
            <a:r>
              <a:rPr lang="en-US" dirty="0"/>
              <a:t> statements (also called productions).</a:t>
            </a:r>
          </a:p>
          <a:p>
            <a:pPr marL="742950" lvl="1" indent="-285750">
              <a:buFont typeface="+mj-lt"/>
              <a:buAutoNum type="arabicPeriod"/>
            </a:pPr>
            <a:r>
              <a:rPr lang="en-US" dirty="0"/>
              <a:t>Each rule represents a conditional action:</a:t>
            </a:r>
          </a:p>
          <a:p>
            <a:pPr marL="1143000" lvl="2" indent="-228600">
              <a:buFont typeface="+mj-lt"/>
              <a:buAutoNum type="arabicPeriod"/>
            </a:pPr>
            <a:r>
              <a:rPr lang="en-US" b="1" dirty="0"/>
              <a:t>IF</a:t>
            </a:r>
            <a:r>
              <a:rPr lang="en-US" dirty="0"/>
              <a:t> certain conditions are true in the current state,</a:t>
            </a:r>
          </a:p>
          <a:p>
            <a:pPr marL="1143000" lvl="2" indent="-228600">
              <a:buFont typeface="+mj-lt"/>
              <a:buAutoNum type="arabicPeriod"/>
            </a:pPr>
            <a:r>
              <a:rPr lang="en-US" b="1" dirty="0"/>
              <a:t>THEN</a:t>
            </a:r>
            <a:r>
              <a:rPr lang="en-US" dirty="0"/>
              <a:t> perform a specific action or update the state.</a:t>
            </a:r>
          </a:p>
          <a:p>
            <a:pPr marL="742950" lvl="1" indent="-285750">
              <a:buFont typeface="+mj-lt"/>
              <a:buAutoNum type="arabicPeriod"/>
            </a:pPr>
            <a:r>
              <a:rPr lang="en-US" dirty="0"/>
              <a:t>Example Rule:</a:t>
            </a:r>
            <a:br>
              <a:rPr lang="en-US" dirty="0"/>
            </a:br>
            <a:r>
              <a:rPr lang="en-US" dirty="0"/>
              <a:t>IF temperature &gt; 100°F AND </a:t>
            </a:r>
            <a:r>
              <a:rPr lang="en-US" dirty="0" err="1"/>
              <a:t>has_cough</a:t>
            </a:r>
            <a:r>
              <a:rPr lang="en-US" dirty="0"/>
              <a:t> THEN </a:t>
            </a:r>
            <a:r>
              <a:rPr lang="en-US" dirty="0" err="1"/>
              <a:t>suggest_flu_test</a:t>
            </a:r>
            <a:r>
              <a:rPr lang="en-US" dirty="0"/>
              <a:t>.</a:t>
            </a:r>
          </a:p>
          <a:p>
            <a:pPr marL="742950" lvl="1" indent="-285750">
              <a:buFont typeface="+mj-lt"/>
              <a:buAutoNum type="arabicPeriod"/>
            </a:pPr>
            <a:r>
              <a:rPr lang="en-US" dirty="0"/>
              <a:t>Rules are written in a structured way to reflect domain knowledge.</a:t>
            </a:r>
          </a:p>
          <a:p>
            <a:pPr>
              <a:buFont typeface="+mj-lt"/>
              <a:buAutoNum type="arabicPeriod"/>
            </a:pPr>
            <a:r>
              <a:rPr lang="en-US" b="1" dirty="0"/>
              <a:t>Working Memory (Short-term Memory):</a:t>
            </a:r>
            <a:endParaRPr lang="en-US" dirty="0"/>
          </a:p>
          <a:p>
            <a:pPr marL="742950" lvl="1" indent="-285750">
              <a:buFont typeface="+mj-lt"/>
              <a:buAutoNum type="arabicPeriod"/>
            </a:pPr>
            <a:r>
              <a:rPr lang="en-US" dirty="0"/>
              <a:t>Holds the </a:t>
            </a:r>
            <a:r>
              <a:rPr lang="en-US" b="1" dirty="0"/>
              <a:t>current state</a:t>
            </a:r>
            <a:r>
              <a:rPr lang="en-US" dirty="0"/>
              <a:t> of the environment or system.</a:t>
            </a:r>
          </a:p>
          <a:p>
            <a:pPr marL="742950" lvl="1" indent="-285750">
              <a:buFont typeface="+mj-lt"/>
              <a:buAutoNum type="arabicPeriod"/>
            </a:pPr>
            <a:r>
              <a:rPr lang="en-US" dirty="0"/>
              <a:t>Includes </a:t>
            </a:r>
            <a:r>
              <a:rPr lang="en-US" b="1" dirty="0"/>
              <a:t>facts</a:t>
            </a:r>
            <a:r>
              <a:rPr lang="en-US" dirty="0"/>
              <a:t>, </a:t>
            </a:r>
            <a:r>
              <a:rPr lang="en-US" b="1" dirty="0"/>
              <a:t>observations</a:t>
            </a:r>
            <a:r>
              <a:rPr lang="en-US" dirty="0"/>
              <a:t>, or </a:t>
            </a:r>
            <a:r>
              <a:rPr lang="en-US" b="1" dirty="0"/>
              <a:t>intermediate results</a:t>
            </a:r>
            <a:r>
              <a:rPr lang="en-US" dirty="0"/>
              <a:t>.</a:t>
            </a:r>
          </a:p>
          <a:p>
            <a:pPr marL="742950" lvl="1" indent="-285750">
              <a:buFont typeface="+mj-lt"/>
              <a:buAutoNum type="arabicPeriod"/>
            </a:pPr>
            <a:r>
              <a:rPr lang="en-US" dirty="0"/>
              <a:t>Updated dynamically as rules are applied.</a:t>
            </a:r>
          </a:p>
          <a:p>
            <a:pPr marL="742950" lvl="1" indent="-285750">
              <a:buFont typeface="+mj-lt"/>
              <a:buAutoNum type="arabicPeriod"/>
            </a:pPr>
            <a:r>
              <a:rPr lang="en-US" dirty="0"/>
              <a:t>For example, in a medical system, working memory might include symptoms like "fever" and "headache".</a:t>
            </a:r>
          </a:p>
          <a:p>
            <a:pPr>
              <a:buFont typeface="+mj-lt"/>
              <a:buAutoNum type="arabicPeriod"/>
            </a:pPr>
            <a:r>
              <a:rPr lang="en-US" b="1" dirty="0"/>
              <a:t>Control System (Inference Engine):</a:t>
            </a:r>
            <a:endParaRPr lang="en-US" dirty="0"/>
          </a:p>
          <a:p>
            <a:pPr marL="742950" lvl="1" indent="-285750">
              <a:buFont typeface="+mj-lt"/>
              <a:buAutoNum type="arabicPeriod"/>
            </a:pPr>
            <a:r>
              <a:rPr lang="en-US" dirty="0"/>
              <a:t>Manages the </a:t>
            </a:r>
            <a:r>
              <a:rPr lang="en-US" b="1" dirty="0"/>
              <a:t>application of rules</a:t>
            </a:r>
            <a:r>
              <a:rPr lang="en-US" dirty="0"/>
              <a:t>:</a:t>
            </a:r>
          </a:p>
          <a:p>
            <a:pPr marL="1143000" lvl="2" indent="-228600">
              <a:buFont typeface="+mj-lt"/>
              <a:buAutoNum type="arabicPeriod"/>
            </a:pPr>
            <a:r>
              <a:rPr lang="en-US" dirty="0"/>
              <a:t>Selects which rule to apply when multiple rules are applicable.</a:t>
            </a:r>
          </a:p>
          <a:p>
            <a:pPr marL="1143000" lvl="2" indent="-228600">
              <a:buFont typeface="+mj-lt"/>
              <a:buAutoNum type="arabicPeriod"/>
            </a:pPr>
            <a:r>
              <a:rPr lang="en-US" dirty="0"/>
              <a:t>Determines the </a:t>
            </a:r>
            <a:r>
              <a:rPr lang="en-US" b="1" dirty="0"/>
              <a:t>order of execution</a:t>
            </a:r>
            <a:r>
              <a:rPr lang="en-US" dirty="0"/>
              <a:t> (conflict resolution).</a:t>
            </a:r>
          </a:p>
          <a:p>
            <a:pPr marL="1143000" lvl="2" indent="-228600">
              <a:buFont typeface="+mj-lt"/>
              <a:buAutoNum type="arabicPeriod"/>
            </a:pPr>
            <a:r>
              <a:rPr lang="en-US" dirty="0"/>
              <a:t>Handles </a:t>
            </a:r>
            <a:r>
              <a:rPr lang="en-US" b="1" dirty="0"/>
              <a:t>looping</a:t>
            </a:r>
            <a:r>
              <a:rPr lang="en-US" dirty="0"/>
              <a:t>, </a:t>
            </a:r>
            <a:r>
              <a:rPr lang="en-US" b="1" dirty="0"/>
              <a:t>backtracking</a:t>
            </a:r>
            <a:r>
              <a:rPr lang="en-US" dirty="0"/>
              <a:t>, and </a:t>
            </a:r>
            <a:r>
              <a:rPr lang="en-US" b="1" dirty="0"/>
              <a:t>termination conditions</a:t>
            </a:r>
            <a:r>
              <a:rPr lang="en-US" dirty="0"/>
              <a:t>.</a:t>
            </a:r>
          </a:p>
          <a:p>
            <a:pPr marL="742950" lvl="1" indent="-285750">
              <a:buFont typeface="+mj-lt"/>
              <a:buAutoNum type="arabicPeriod"/>
            </a:pPr>
            <a:r>
              <a:rPr lang="en-US" dirty="0"/>
              <a:t>Common strategies:</a:t>
            </a:r>
          </a:p>
          <a:p>
            <a:pPr marL="1143000" lvl="2" indent="-228600">
              <a:buFont typeface="+mj-lt"/>
              <a:buAutoNum type="arabicPeriod"/>
            </a:pPr>
            <a:r>
              <a:rPr lang="en-US" b="1" dirty="0"/>
              <a:t>Forward chaining</a:t>
            </a:r>
            <a:r>
              <a:rPr lang="en-US" dirty="0"/>
              <a:t> (data-driven)</a:t>
            </a:r>
          </a:p>
          <a:p>
            <a:pPr marL="1143000" lvl="2" indent="-228600">
              <a:buFont typeface="+mj-lt"/>
              <a:buAutoNum type="arabicPeriod"/>
            </a:pPr>
            <a:r>
              <a:rPr lang="en-US" b="1" dirty="0"/>
              <a:t>Backward chaining</a:t>
            </a:r>
            <a:r>
              <a:rPr lang="en-US" dirty="0"/>
              <a:t> (goal-driven)</a:t>
            </a:r>
          </a:p>
          <a:p>
            <a:pPr>
              <a:buNone/>
            </a:pPr>
            <a:r>
              <a:rPr lang="en-US" b="1" dirty="0"/>
              <a:t>How It Works</a:t>
            </a:r>
          </a:p>
          <a:p>
            <a:pPr>
              <a:buFont typeface="+mj-lt"/>
              <a:buAutoNum type="arabicPeriod"/>
            </a:pPr>
            <a:r>
              <a:rPr lang="en-US" dirty="0"/>
              <a:t>The system starts with a set of known facts in working memory.</a:t>
            </a:r>
          </a:p>
          <a:p>
            <a:pPr>
              <a:buFont typeface="+mj-lt"/>
              <a:buAutoNum type="arabicPeriod"/>
            </a:pPr>
            <a:r>
              <a:rPr lang="en-US" dirty="0"/>
              <a:t>It checks which rules’ conditions match the current facts.</a:t>
            </a:r>
          </a:p>
          <a:p>
            <a:pPr>
              <a:buFont typeface="+mj-lt"/>
              <a:buAutoNum type="arabicPeriod"/>
            </a:pPr>
            <a:r>
              <a:rPr lang="en-US" dirty="0"/>
              <a:t>One or more matching rules are selected (based on a strategy).</a:t>
            </a:r>
          </a:p>
          <a:p>
            <a:pPr>
              <a:buFont typeface="+mj-lt"/>
              <a:buAutoNum type="arabicPeriod"/>
            </a:pPr>
            <a:r>
              <a:rPr lang="en-US" dirty="0"/>
              <a:t>The selected rule is applied, updating the working memory.</a:t>
            </a:r>
          </a:p>
          <a:p>
            <a:pPr>
              <a:buFont typeface="+mj-lt"/>
              <a:buAutoNum type="arabicPeriod"/>
            </a:pPr>
            <a:r>
              <a:rPr lang="en-US" dirty="0"/>
              <a:t>Steps 2–4 repeat until a goal is reached or no further rules apply.</a:t>
            </a:r>
          </a:p>
          <a:p>
            <a:pPr>
              <a:buNone/>
            </a:pPr>
            <a:r>
              <a:rPr lang="en-US" b="1" dirty="0"/>
              <a:t>Applications of Production Systems</a:t>
            </a:r>
          </a:p>
          <a:p>
            <a:pPr>
              <a:buFont typeface="Arial" panose="020B0604020202020204" pitchFamily="34" charset="0"/>
              <a:buChar char="•"/>
            </a:pPr>
            <a:r>
              <a:rPr lang="en-US" b="1" dirty="0"/>
              <a:t>Expert Systems:</a:t>
            </a:r>
            <a:r>
              <a:rPr lang="en-US" dirty="0"/>
              <a:t> Simulate decision-making of a human expert.</a:t>
            </a:r>
          </a:p>
          <a:p>
            <a:pPr marL="742950" lvl="1" indent="-285750">
              <a:buFont typeface="Arial" panose="020B0604020202020204" pitchFamily="34" charset="0"/>
              <a:buChar char="•"/>
            </a:pPr>
            <a:r>
              <a:rPr lang="en-US" dirty="0"/>
              <a:t>E.g., MYCIN (medical diagnosis), CLIPS (NASA system)</a:t>
            </a:r>
          </a:p>
          <a:p>
            <a:pPr>
              <a:buFont typeface="Arial" panose="020B0604020202020204" pitchFamily="34" charset="0"/>
              <a:buChar char="•"/>
            </a:pPr>
            <a:r>
              <a:rPr lang="en-US" b="1" dirty="0"/>
              <a:t>Robotics and Control Systems</a:t>
            </a:r>
            <a:endParaRPr lang="en-US" dirty="0"/>
          </a:p>
          <a:p>
            <a:pPr>
              <a:buFont typeface="Arial" panose="020B0604020202020204" pitchFamily="34" charset="0"/>
              <a:buChar char="•"/>
            </a:pPr>
            <a:r>
              <a:rPr lang="en-US" b="1" dirty="0"/>
              <a:t>Game AI:</a:t>
            </a:r>
            <a:r>
              <a:rPr lang="en-US" dirty="0"/>
              <a:t> Decision-making in games like chess or simulations.</a:t>
            </a:r>
          </a:p>
          <a:p>
            <a:pPr>
              <a:buFont typeface="Arial" panose="020B0604020202020204" pitchFamily="34" charset="0"/>
              <a:buChar char="•"/>
            </a:pPr>
            <a:r>
              <a:rPr lang="en-US" b="1" dirty="0"/>
              <a:t>Natural Language Processing:</a:t>
            </a:r>
            <a:r>
              <a:rPr lang="en-US" dirty="0"/>
              <a:t> Rule-based grammar parsers.</a:t>
            </a:r>
          </a:p>
          <a:p>
            <a:pPr>
              <a:buFont typeface="Arial" panose="020B0604020202020204" pitchFamily="34" charset="0"/>
              <a:buChar char="•"/>
            </a:pPr>
            <a:r>
              <a:rPr lang="en-US" b="1" dirty="0"/>
              <a:t>Diagnostic Systems:</a:t>
            </a:r>
            <a:r>
              <a:rPr lang="en-US" dirty="0"/>
              <a:t> Fault detection in machinery or software.</a:t>
            </a:r>
          </a:p>
          <a:p>
            <a:pPr>
              <a:buNone/>
            </a:pPr>
            <a:r>
              <a:rPr lang="en-US" b="1" dirty="0"/>
              <a:t>Example: Medical Diagnosis System</a:t>
            </a:r>
          </a:p>
          <a:p>
            <a:pPr>
              <a:buNone/>
            </a:pPr>
            <a:r>
              <a:rPr lang="en-US" dirty="0"/>
              <a:t>Let’s consider a simplified example:</a:t>
            </a:r>
          </a:p>
          <a:p>
            <a:pPr>
              <a:buNone/>
            </a:pPr>
            <a:r>
              <a:rPr lang="en-US" b="1" dirty="0"/>
              <a:t>Working Memory (Facts):</a:t>
            </a:r>
            <a:endParaRPr lang="en-US" dirty="0"/>
          </a:p>
          <a:p>
            <a:pPr>
              <a:buFont typeface="Arial" panose="020B0604020202020204" pitchFamily="34" charset="0"/>
              <a:buChar char="•"/>
            </a:pPr>
            <a:r>
              <a:rPr lang="en-US" dirty="0"/>
              <a:t>Symptom: fever</a:t>
            </a:r>
          </a:p>
          <a:p>
            <a:pPr>
              <a:buFont typeface="Arial" panose="020B0604020202020204" pitchFamily="34" charset="0"/>
              <a:buChar char="•"/>
            </a:pPr>
            <a:r>
              <a:rPr lang="en-US" dirty="0"/>
              <a:t>Symptom: cough</a:t>
            </a:r>
          </a:p>
          <a:p>
            <a:pPr>
              <a:buFont typeface="Arial" panose="020B0604020202020204" pitchFamily="34" charset="0"/>
              <a:buChar char="•"/>
            </a:pPr>
            <a:r>
              <a:rPr lang="en-US" dirty="0"/>
              <a:t>Symptom: fatigue</a:t>
            </a:r>
          </a:p>
          <a:p>
            <a:pPr>
              <a:buNone/>
            </a:pPr>
            <a:endParaRPr lang="en-US" b="1" dirty="0"/>
          </a:p>
          <a:p>
            <a:pPr>
              <a:buNone/>
            </a:pPr>
            <a:endParaRPr lang="en-US" b="1" dirty="0"/>
          </a:p>
          <a:p>
            <a:pPr>
              <a:buNone/>
            </a:pPr>
            <a:r>
              <a:rPr lang="en-US" b="1" dirty="0"/>
              <a:t>Rule Set:</a:t>
            </a:r>
            <a:endParaRPr lang="en-US" dirty="0"/>
          </a:p>
          <a:p>
            <a:pPr>
              <a:buFont typeface="Arial" panose="020B0604020202020204" pitchFamily="34" charset="0"/>
              <a:buChar char="•"/>
            </a:pPr>
            <a:r>
              <a:rPr lang="en-US" dirty="0"/>
              <a:t>IF fever AND cough THEN </a:t>
            </a:r>
            <a:r>
              <a:rPr lang="en-US" dirty="0" err="1"/>
              <a:t>suspect_flu</a:t>
            </a:r>
            <a:endParaRPr lang="en-US" dirty="0"/>
          </a:p>
          <a:p>
            <a:pPr>
              <a:buFont typeface="Arial" panose="020B0604020202020204" pitchFamily="34" charset="0"/>
              <a:buChar char="•"/>
            </a:pPr>
            <a:r>
              <a:rPr lang="en-US" dirty="0"/>
              <a:t>IF fatigue AND </a:t>
            </a:r>
            <a:r>
              <a:rPr lang="en-US" dirty="0" err="1"/>
              <a:t>suspect_flu</a:t>
            </a:r>
            <a:r>
              <a:rPr lang="en-US" dirty="0"/>
              <a:t> THEN </a:t>
            </a:r>
            <a:r>
              <a:rPr lang="en-US" dirty="0" err="1"/>
              <a:t>suggest_test_for_influenza</a:t>
            </a:r>
            <a:endParaRPr lang="en-US" dirty="0"/>
          </a:p>
          <a:p>
            <a:pPr>
              <a:buNone/>
            </a:pPr>
            <a:r>
              <a:rPr lang="en-US" b="1" dirty="0"/>
              <a:t>Inference:</a:t>
            </a:r>
            <a:endParaRPr lang="en-US" dirty="0"/>
          </a:p>
          <a:p>
            <a:pPr>
              <a:buFont typeface="+mj-lt"/>
              <a:buAutoNum type="arabicPeriod"/>
            </a:pPr>
            <a:r>
              <a:rPr lang="en-US" dirty="0"/>
              <a:t>The system detects </a:t>
            </a:r>
            <a:r>
              <a:rPr lang="en-US" b="1" dirty="0"/>
              <a:t>fever</a:t>
            </a:r>
            <a:r>
              <a:rPr lang="en-US" dirty="0"/>
              <a:t> and </a:t>
            </a:r>
            <a:r>
              <a:rPr lang="en-US" b="1" dirty="0"/>
              <a:t>cough</a:t>
            </a:r>
            <a:r>
              <a:rPr lang="en-US" dirty="0"/>
              <a:t> → applies Rule 1 → adds </a:t>
            </a:r>
            <a:r>
              <a:rPr lang="en-US" dirty="0" err="1"/>
              <a:t>suspect_flu</a:t>
            </a:r>
            <a:r>
              <a:rPr lang="en-US" dirty="0"/>
              <a:t> to working memory.</a:t>
            </a:r>
          </a:p>
          <a:p>
            <a:pPr>
              <a:buFont typeface="+mj-lt"/>
              <a:buAutoNum type="arabicPeriod"/>
            </a:pPr>
            <a:r>
              <a:rPr lang="en-US" dirty="0"/>
              <a:t>Now, fatigue and </a:t>
            </a:r>
            <a:r>
              <a:rPr lang="en-US" dirty="0" err="1"/>
              <a:t>suspect_flu</a:t>
            </a:r>
            <a:r>
              <a:rPr lang="en-US" dirty="0"/>
              <a:t> are both present → applies Rule 2 → suggests a flu test.</a:t>
            </a:r>
          </a:p>
          <a:p>
            <a:pPr>
              <a:buFont typeface="+mj-lt"/>
              <a:buAutoNum type="arabicPeriod"/>
            </a:pPr>
            <a:endParaRPr lang="en-US" dirty="0"/>
          </a:p>
          <a:p>
            <a:pPr>
              <a:buFont typeface="+mj-lt"/>
              <a:buAutoNum type="arabicPeriod"/>
            </a:pPr>
            <a:endParaRPr lang="en-US" dirty="0"/>
          </a:p>
          <a:p>
            <a:r>
              <a:rPr lang="en-US" b="1" dirty="0"/>
              <a:t>Types of Production Systems:</a:t>
            </a:r>
          </a:p>
          <a:p>
            <a:r>
              <a:rPr lang="en-US" b="1" dirty="0"/>
              <a:t>Monotonic</a:t>
            </a:r>
            <a:r>
              <a:rPr lang="en-US" dirty="0"/>
              <a:t> – facts never change</a:t>
            </a:r>
          </a:p>
          <a:p>
            <a:r>
              <a:rPr lang="en-US" b="1" dirty="0"/>
              <a:t>Non-monotonic</a:t>
            </a:r>
            <a:r>
              <a:rPr lang="en-US" dirty="0"/>
              <a:t> – facts can be changed/deleted</a:t>
            </a:r>
          </a:p>
          <a:p>
            <a:r>
              <a:rPr lang="en-US" b="1" dirty="0"/>
              <a:t>Deterministic</a:t>
            </a:r>
            <a:r>
              <a:rPr lang="en-US" dirty="0"/>
              <a:t> – rules produce predictable outcomes</a:t>
            </a:r>
          </a:p>
          <a:p>
            <a:r>
              <a:rPr lang="en-US" b="1" dirty="0"/>
              <a:t>Non-deterministic</a:t>
            </a:r>
            <a:r>
              <a:rPr lang="en-US" dirty="0"/>
              <a:t> – outcomes vary</a:t>
            </a:r>
          </a:p>
          <a:p>
            <a:pPr>
              <a:buFont typeface="+mj-lt"/>
              <a:buAutoNum type="arabicPeriod"/>
            </a:pPr>
            <a:endParaRPr lang="en-US" dirty="0"/>
          </a:p>
          <a:p>
            <a:pPr>
              <a:buFont typeface="+mj-lt"/>
              <a:buAutoNum type="arabicPeriod"/>
            </a:pPr>
            <a:endParaRPr lang="en-US" dirty="0"/>
          </a:p>
          <a:p>
            <a:pPr>
              <a:buNone/>
            </a:pPr>
            <a:r>
              <a:rPr lang="en-US" b="1" dirty="0"/>
              <a:t>Advantages of Production Systems</a:t>
            </a:r>
          </a:p>
          <a:p>
            <a:pPr>
              <a:buFont typeface="Arial" panose="020B0604020202020204" pitchFamily="34" charset="0"/>
              <a:buChar char="•"/>
            </a:pPr>
            <a:r>
              <a:rPr lang="en-US" dirty="0"/>
              <a:t>Easy to modify or extend the knowledge base.</a:t>
            </a:r>
          </a:p>
          <a:p>
            <a:pPr>
              <a:buFont typeface="Arial" panose="020B0604020202020204" pitchFamily="34" charset="0"/>
              <a:buChar char="•"/>
            </a:pPr>
            <a:r>
              <a:rPr lang="en-US" dirty="0"/>
              <a:t>Transparent logic: reasoning steps can be traced.</a:t>
            </a:r>
          </a:p>
          <a:p>
            <a:pPr>
              <a:buFont typeface="Arial" panose="020B0604020202020204" pitchFamily="34" charset="0"/>
              <a:buChar char="•"/>
            </a:pPr>
            <a:r>
              <a:rPr lang="en-US" dirty="0"/>
              <a:t>Well-suited for complex decision-making tasks with clear rules.</a:t>
            </a:r>
          </a:p>
          <a:p>
            <a:pPr>
              <a:buNone/>
            </a:pPr>
            <a:r>
              <a:rPr lang="en-US" b="1" dirty="0"/>
              <a:t>Limitations</a:t>
            </a:r>
          </a:p>
          <a:p>
            <a:pPr>
              <a:buFont typeface="Arial" panose="020B0604020202020204" pitchFamily="34" charset="0"/>
              <a:buChar char="•"/>
            </a:pPr>
            <a:r>
              <a:rPr lang="en-US" dirty="0"/>
              <a:t>Can become inefficient if the rule set grows too large.</a:t>
            </a:r>
          </a:p>
          <a:p>
            <a:pPr>
              <a:buFont typeface="Arial" panose="020B0604020202020204" pitchFamily="34" charset="0"/>
              <a:buChar char="•"/>
            </a:pPr>
            <a:r>
              <a:rPr lang="en-US" dirty="0"/>
              <a:t>Lacks learning ability unless integrated with other AI techniques.</a:t>
            </a:r>
          </a:p>
          <a:p>
            <a:pPr>
              <a:buFont typeface="Arial" panose="020B0604020202020204" pitchFamily="34" charset="0"/>
              <a:buChar char="•"/>
            </a:pPr>
            <a:r>
              <a:rPr lang="en-US" dirty="0"/>
              <a:t>Needs complete and correct rules to function reliably.</a:t>
            </a:r>
          </a:p>
        </p:txBody>
      </p:sp>
      <p:sp>
        <p:nvSpPr>
          <p:cNvPr id="4" name="Slide Number Placeholder 3"/>
          <p:cNvSpPr>
            <a:spLocks noGrp="1"/>
          </p:cNvSpPr>
          <p:nvPr>
            <p:ph type="sldNum" sz="quarter" idx="5"/>
          </p:nvPr>
        </p:nvSpPr>
        <p:spPr/>
        <p:txBody>
          <a:bodyPr/>
          <a:lstStyle/>
          <a:p>
            <a:fld id="{43B19DB7-DDC9-4C8C-8DC3-1D632FA3DF71}" type="slidenum">
              <a:rPr lang="en-US" smtClean="0"/>
              <a:t>6</a:t>
            </a:fld>
            <a:endParaRPr lang="en-US"/>
          </a:p>
        </p:txBody>
      </p:sp>
    </p:spTree>
    <p:extLst>
      <p:ext uri="{BB962C8B-B14F-4D97-AF65-F5344CB8AC3E}">
        <p14:creationId xmlns:p14="http://schemas.microsoft.com/office/powerpoint/2010/main" val="2259727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Applications of Rule-Based Systems</a:t>
            </a:r>
          </a:p>
          <a:p>
            <a:r>
              <a:rPr lang="en-US" dirty="0"/>
              <a:t>Automated Reasoning: Derive conclusions automatically.</a:t>
            </a:r>
          </a:p>
          <a:p>
            <a:r>
              <a:rPr lang="en-US" dirty="0"/>
              <a:t>Expert Systems: Emulate decision-making of human experts.</a:t>
            </a:r>
          </a:p>
          <a:p>
            <a:r>
              <a:rPr lang="en-US" dirty="0"/>
              <a:t>AI Systems: Transparency-focused applications.</a:t>
            </a:r>
          </a:p>
          <a:p>
            <a:r>
              <a:rPr lang="en-US" dirty="0"/>
              <a:t>Examples: MYCIN (medical diagnosis), DENDRAL (chemical analysis).</a:t>
            </a:r>
          </a:p>
          <a:p>
            <a:endParaRPr lang="en-US" dirty="0"/>
          </a:p>
          <a:p>
            <a:endParaRPr lang="en-US" dirty="0"/>
          </a:p>
          <a:p>
            <a:r>
              <a:rPr lang="en-US" dirty="0"/>
              <a:t>Example scenario:</a:t>
            </a:r>
          </a:p>
          <a:p>
            <a:r>
              <a:rPr lang="en-US" dirty="0"/>
              <a:t>Medical Diagnosis: IF high fever AND sore throat THEN suggest COVID-19 test.</a:t>
            </a:r>
          </a:p>
          <a:p>
            <a:r>
              <a:rPr lang="en-US" dirty="0"/>
              <a:t>Loan Approval: IF credit score &gt;750 AND income &gt;$50,000 THEN approve loan.</a:t>
            </a:r>
          </a:p>
          <a:p>
            <a:r>
              <a:rPr lang="en-US" dirty="0"/>
              <a:t>Engine Fault Detection: IF oil pressure low AND engine temperature high THEN alert overheating risk.</a:t>
            </a:r>
          </a:p>
          <a:p>
            <a:endParaRPr lang="en-US" dirty="0"/>
          </a:p>
          <a:p>
            <a:r>
              <a:rPr lang="en-US" dirty="0"/>
              <a:t>Advantages:</a:t>
            </a:r>
          </a:p>
          <a:p>
            <a:r>
              <a:rPr lang="en-US" dirty="0"/>
              <a:t>Transparency: Easily understandable decision process.</a:t>
            </a:r>
          </a:p>
          <a:p>
            <a:r>
              <a:rPr lang="en-US" dirty="0"/>
              <a:t>Ease of Modification: Simple rule addition/removal.</a:t>
            </a:r>
          </a:p>
          <a:p>
            <a:r>
              <a:rPr lang="en-US" dirty="0"/>
              <a:t>Simplicity: Straightforward design and operation.</a:t>
            </a:r>
          </a:p>
          <a:p>
            <a:r>
              <a:rPr lang="en-US" dirty="0"/>
              <a:t>Effective for Well-Defined Problems: Works well where knowledge is explicit.</a:t>
            </a:r>
          </a:p>
          <a:p>
            <a:endParaRPr lang="en-US" dirty="0"/>
          </a:p>
          <a:p>
            <a:endParaRPr lang="en-US" dirty="0"/>
          </a:p>
          <a:p>
            <a:r>
              <a:rPr lang="en-US" dirty="0"/>
              <a:t>Limitations:</a:t>
            </a:r>
          </a:p>
          <a:p>
            <a:r>
              <a:rPr lang="en-US" dirty="0"/>
              <a:t>Scalability Issues: Complexity increases with more rules.</a:t>
            </a:r>
          </a:p>
          <a:p>
            <a:r>
              <a:rPr lang="en-US" dirty="0"/>
              <a:t>Conflict Management: Hard to resolve when multiple rules trigger.</a:t>
            </a:r>
          </a:p>
          <a:p>
            <a:r>
              <a:rPr lang="en-US" dirty="0"/>
              <a:t>Lack of Learning: Does not adapt to new situations automatically.</a:t>
            </a:r>
          </a:p>
          <a:p>
            <a:r>
              <a:rPr lang="en-US" dirty="0"/>
              <a:t>Maintenance Challenges: Requires careful updates to avoid inconsistencies.</a:t>
            </a:r>
          </a:p>
          <a:p>
            <a:endParaRPr lang="en-US" dirty="0"/>
          </a:p>
          <a:p>
            <a:r>
              <a:rPr lang="en-US" dirty="0"/>
              <a:t>Conclusion</a:t>
            </a:r>
            <a:br>
              <a:rPr lang="en-US" dirty="0"/>
            </a:br>
            <a:r>
              <a:rPr lang="en-US" dirty="0"/>
              <a:t>Summary: Rule-based systems are foundational in AI, offering transparency and logical decision-making.</a:t>
            </a:r>
          </a:p>
          <a:p>
            <a:r>
              <a:rPr lang="en-US" dirty="0"/>
              <a:t>Current Use: Remain important in fields requiring explainability.</a:t>
            </a:r>
          </a:p>
          <a:p>
            <a:r>
              <a:rPr lang="en-US" dirty="0"/>
              <a:t>Future: Integration with machine learning for hybrid, explainable AI systems.</a:t>
            </a:r>
          </a:p>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8</a:t>
            </a:fld>
            <a:endParaRPr lang="en-US"/>
          </a:p>
        </p:txBody>
      </p:sp>
    </p:spTree>
    <p:extLst>
      <p:ext uri="{BB962C8B-B14F-4D97-AF65-F5344CB8AC3E}">
        <p14:creationId xmlns:p14="http://schemas.microsoft.com/office/powerpoint/2010/main" val="725191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a:buFont typeface="Arial" panose="020B0604020202020204" pitchFamily="34" charset="0"/>
              <a:buChar char="•"/>
            </a:pPr>
            <a:r>
              <a:rPr lang="en-US" b="1" dirty="0"/>
              <a:t>Well-defined Problems</a:t>
            </a:r>
            <a:r>
              <a:rPr lang="en-US" dirty="0"/>
              <a:t> have:</a:t>
            </a:r>
          </a:p>
          <a:p>
            <a:pPr marL="742950" lvl="1" indent="-285750">
              <a:buFont typeface="Arial" panose="020B0604020202020204" pitchFamily="34" charset="0"/>
              <a:buChar char="•"/>
            </a:pPr>
            <a:r>
              <a:rPr lang="en-US" b="1" dirty="0"/>
              <a:t>Clear States</a:t>
            </a:r>
            <a:r>
              <a:rPr lang="en-US" dirty="0"/>
              <a:t>: You know exactly where you are in the problem space at any given time.</a:t>
            </a:r>
          </a:p>
          <a:p>
            <a:pPr marL="742950" lvl="1" indent="-285750">
              <a:buFont typeface="Arial" panose="020B0604020202020204" pitchFamily="34" charset="0"/>
              <a:buChar char="•"/>
            </a:pPr>
            <a:r>
              <a:rPr lang="en-US" b="1" dirty="0"/>
              <a:t>Observable Environment</a:t>
            </a:r>
            <a:r>
              <a:rPr lang="en-US" dirty="0"/>
              <a:t>: You have full information about the problem, and there are no hidden factors.</a:t>
            </a:r>
          </a:p>
          <a:p>
            <a:pPr marL="742950" lvl="1" indent="-285750">
              <a:buFont typeface="Arial" panose="020B0604020202020204" pitchFamily="34" charset="0"/>
              <a:buChar char="•"/>
            </a:pPr>
            <a:r>
              <a:rPr lang="en-US" b="1" dirty="0"/>
              <a:t>Definite Goal Test</a:t>
            </a:r>
            <a:r>
              <a:rPr lang="en-US" dirty="0"/>
              <a:t>: There is a clear way to verify when you have reached the goal.</a:t>
            </a:r>
          </a:p>
          <a:p>
            <a:pPr marL="742950" lvl="1" indent="-285750">
              <a:buFont typeface="Arial" panose="020B0604020202020204" pitchFamily="34" charset="0"/>
              <a:buChar char="•"/>
            </a:pPr>
            <a:r>
              <a:rPr lang="en-US" b="1" dirty="0"/>
              <a:t>Measurable Costs</a:t>
            </a:r>
            <a:r>
              <a:rPr lang="en-US" dirty="0"/>
              <a:t>: You can quantify the cost or value of taking a specific action or transition between states.</a:t>
            </a:r>
          </a:p>
          <a:p>
            <a:r>
              <a:rPr lang="en-US" b="1" dirty="0"/>
              <a:t>Example</a:t>
            </a:r>
            <a:r>
              <a:rPr lang="en-US" dirty="0"/>
              <a:t>: Solving a math problem is well-defined—every step is known, the goal is clear (the answer), and there’s a cost (e.g., time taken or complexity).</a:t>
            </a:r>
          </a:p>
          <a:p>
            <a:endParaRPr lang="en-US" dirty="0"/>
          </a:p>
          <a:p>
            <a:endParaRPr lang="en-US" dirty="0"/>
          </a:p>
          <a:p>
            <a:pPr fontAlgn="base"/>
            <a:r>
              <a:rPr lang="en-US" sz="1200" b="1" i="0" kern="1200" dirty="0">
                <a:solidFill>
                  <a:schemeClr val="tx1"/>
                </a:solidFill>
                <a:effectLst/>
                <a:latin typeface="+mn-lt"/>
                <a:ea typeface="+mn-ea"/>
                <a:cs typeface="+mn-cs"/>
              </a:rPr>
              <a:t>States</a:t>
            </a:r>
            <a:r>
              <a:rPr lang="en-US" sz="1200" b="0" i="0" kern="1200" dirty="0">
                <a:solidFill>
                  <a:schemeClr val="tx1"/>
                </a:solidFill>
                <a:effectLst/>
                <a:latin typeface="+mn-lt"/>
                <a:ea typeface="+mn-ea"/>
                <a:cs typeface="+mn-cs"/>
              </a:rPr>
              <a:t>: Each arrangement of the 3x3 grid consisting of tiles numbered 1 through 8 and a blank space.</a:t>
            </a:r>
          </a:p>
          <a:p>
            <a:pPr fontAlgn="base"/>
            <a:r>
              <a:rPr lang="en-US" sz="1200" b="1" i="0" kern="1200" dirty="0">
                <a:solidFill>
                  <a:schemeClr val="tx1"/>
                </a:solidFill>
                <a:effectLst/>
                <a:latin typeface="+mn-lt"/>
                <a:ea typeface="+mn-ea"/>
                <a:cs typeface="+mn-cs"/>
              </a:rPr>
              <a:t>Initial State</a:t>
            </a:r>
            <a:r>
              <a:rPr lang="en-US" sz="1200" b="0" i="0" kern="1200" dirty="0">
                <a:solidFill>
                  <a:schemeClr val="tx1"/>
                </a:solidFill>
                <a:effectLst/>
                <a:latin typeface="+mn-lt"/>
                <a:ea typeface="+mn-ea"/>
                <a:cs typeface="+mn-cs"/>
              </a:rPr>
              <a:t>: A specific tile layout at the start.</a:t>
            </a:r>
          </a:p>
          <a:p>
            <a:pPr fontAlgn="base"/>
            <a:r>
              <a:rPr lang="en-US" sz="1200" b="1" i="0" kern="1200" dirty="0">
                <a:solidFill>
                  <a:schemeClr val="tx1"/>
                </a:solidFill>
                <a:effectLst/>
                <a:latin typeface="+mn-lt"/>
                <a:ea typeface="+mn-ea"/>
                <a:cs typeface="+mn-cs"/>
              </a:rPr>
              <a:t>Goal State</a:t>
            </a:r>
            <a:r>
              <a:rPr lang="en-US" sz="1200" b="0" i="0" kern="1200" dirty="0">
                <a:solidFill>
                  <a:schemeClr val="tx1"/>
                </a:solidFill>
                <a:effectLst/>
                <a:latin typeface="+mn-lt"/>
                <a:ea typeface="+mn-ea"/>
                <a:cs typeface="+mn-cs"/>
              </a:rPr>
              <a:t>: Arrangements with blank space in the lower-right corner and the tiles arranged in numerical order.</a:t>
            </a:r>
          </a:p>
          <a:p>
            <a:pPr fontAlgn="base"/>
            <a:r>
              <a:rPr lang="en-US" sz="1200" b="1" i="0" kern="1200" dirty="0">
                <a:solidFill>
                  <a:schemeClr val="tx1"/>
                </a:solidFill>
                <a:effectLst/>
                <a:latin typeface="+mn-lt"/>
                <a:ea typeface="+mn-ea"/>
                <a:cs typeface="+mn-cs"/>
              </a:rPr>
              <a:t>Actions</a:t>
            </a:r>
            <a:r>
              <a:rPr lang="en-US" sz="1200" b="0" i="0" kern="1200" dirty="0">
                <a:solidFill>
                  <a:schemeClr val="tx1"/>
                </a:solidFill>
                <a:effectLst/>
                <a:latin typeface="+mn-lt"/>
                <a:ea typeface="+mn-ea"/>
                <a:cs typeface="+mn-cs"/>
              </a:rPr>
              <a:t>: Up, down, left or right movement of the empty space.</a:t>
            </a:r>
          </a:p>
          <a:p>
            <a:pPr fontAlgn="base"/>
            <a:r>
              <a:rPr lang="en-US" sz="1200" b="1" i="0" kern="1200" dirty="0">
                <a:solidFill>
                  <a:schemeClr val="tx1"/>
                </a:solidFill>
                <a:effectLst/>
                <a:latin typeface="+mn-lt"/>
                <a:ea typeface="+mn-ea"/>
                <a:cs typeface="+mn-cs"/>
              </a:rPr>
              <a:t>Transition Model</a:t>
            </a:r>
            <a:r>
              <a:rPr lang="en-US" sz="1200" b="0" i="0" kern="1200" dirty="0">
                <a:solidFill>
                  <a:schemeClr val="tx1"/>
                </a:solidFill>
                <a:effectLst/>
                <a:latin typeface="+mn-lt"/>
                <a:ea typeface="+mn-ea"/>
                <a:cs typeface="+mn-cs"/>
              </a:rPr>
              <a:t>: Describes the state generated after performing an action.</a:t>
            </a:r>
          </a:p>
          <a:p>
            <a:pPr fontAlgn="base"/>
            <a:r>
              <a:rPr lang="en-US" sz="1200" b="1" i="0" kern="1200" dirty="0">
                <a:solidFill>
                  <a:schemeClr val="tx1"/>
                </a:solidFill>
                <a:effectLst/>
                <a:latin typeface="+mn-lt"/>
                <a:ea typeface="+mn-ea"/>
                <a:cs typeface="+mn-cs"/>
              </a:rPr>
              <a:t>Path Cost</a:t>
            </a:r>
            <a:r>
              <a:rPr lang="en-US" sz="1200" b="0" i="0" kern="1200" dirty="0">
                <a:solidFill>
                  <a:schemeClr val="tx1"/>
                </a:solidFill>
                <a:effectLst/>
                <a:latin typeface="+mn-lt"/>
                <a:ea typeface="+mn-ea"/>
                <a:cs typeface="+mn-cs"/>
              </a:rPr>
              <a:t>: Cost of each move is uniform and equals one.</a:t>
            </a: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a:p>
            <a:r>
              <a:rPr lang="en-US" b="1" dirty="0"/>
              <a:t>Ill-Defined Problems</a:t>
            </a:r>
          </a:p>
          <a:p>
            <a:r>
              <a:rPr lang="en-US" dirty="0"/>
              <a:t>These lack formal structure. Goals, states, and actions are unclear or vague.</a:t>
            </a:r>
          </a:p>
          <a:p>
            <a:r>
              <a:rPr lang="en-US" b="1" dirty="0"/>
              <a:t>✔ Characteristics:</a:t>
            </a:r>
          </a:p>
          <a:p>
            <a:r>
              <a:rPr lang="en-US" dirty="0"/>
              <a:t>Incomplete or vague goals</a:t>
            </a:r>
          </a:p>
          <a:p>
            <a:r>
              <a:rPr lang="en-US" dirty="0"/>
              <a:t>Unclear initial state</a:t>
            </a:r>
          </a:p>
          <a:p>
            <a:r>
              <a:rPr lang="en-US" dirty="0"/>
              <a:t>No defined operators</a:t>
            </a:r>
          </a:p>
          <a:p>
            <a:r>
              <a:rPr lang="en-US" dirty="0"/>
              <a:t>No evaluation function</a:t>
            </a:r>
          </a:p>
          <a:p>
            <a:r>
              <a:rPr lang="en-US" b="1" dirty="0"/>
              <a:t>✔ Examples:</a:t>
            </a:r>
          </a:p>
          <a:p>
            <a:r>
              <a:rPr lang="en-US" dirty="0"/>
              <a:t>Writing an essay</a:t>
            </a:r>
          </a:p>
          <a:p>
            <a:r>
              <a:rPr lang="en-US" dirty="0"/>
              <a:t>Designing a building</a:t>
            </a:r>
          </a:p>
          <a:p>
            <a:r>
              <a:rPr lang="en-US" dirty="0"/>
              <a:t>Planning a wedding</a:t>
            </a:r>
          </a:p>
          <a:p>
            <a:r>
              <a:rPr lang="en-US" dirty="0"/>
              <a:t>Creativity-based tasks</a:t>
            </a:r>
          </a:p>
          <a:p>
            <a:r>
              <a:rPr lang="en-US" b="1" dirty="0"/>
              <a:t>✔ Why difficult?</a:t>
            </a:r>
          </a:p>
          <a:p>
            <a:r>
              <a:rPr lang="en-US" dirty="0"/>
              <a:t>AI cannot apply standard search; requires reasoning, knowledge, creativity</a:t>
            </a:r>
          </a:p>
          <a:p>
            <a:pPr fontAlgn="base"/>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9</a:t>
            </a:fld>
            <a:endParaRPr lang="en-US"/>
          </a:p>
        </p:txBody>
      </p:sp>
    </p:spTree>
    <p:extLst>
      <p:ext uri="{BB962C8B-B14F-4D97-AF65-F5344CB8AC3E}">
        <p14:creationId xmlns:p14="http://schemas.microsoft.com/office/powerpoint/2010/main" val="2484976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a:t>
            </a:r>
            <a:endParaRPr lang="en-US" dirty="0"/>
          </a:p>
          <a:p>
            <a:pPr>
              <a:buFont typeface="Arial" panose="020B0604020202020204" pitchFamily="34" charset="0"/>
              <a:buChar char="•"/>
            </a:pPr>
            <a:r>
              <a:rPr lang="en-US" b="1" dirty="0"/>
              <a:t>Problem Formulation</a:t>
            </a:r>
            <a:r>
              <a:rPr lang="en-US" dirty="0"/>
              <a:t>: A critical step where we explicitly define:</a:t>
            </a:r>
          </a:p>
          <a:p>
            <a:pPr marL="742950" lvl="1" indent="-285750">
              <a:buFont typeface="Arial" panose="020B0604020202020204" pitchFamily="34" charset="0"/>
              <a:buChar char="•"/>
            </a:pPr>
            <a:r>
              <a:rPr lang="en-US" dirty="0"/>
              <a:t>States: Different configurations or situations.</a:t>
            </a:r>
          </a:p>
          <a:p>
            <a:pPr marL="742950" lvl="1" indent="-285750">
              <a:buFont typeface="Arial" panose="020B0604020202020204" pitchFamily="34" charset="0"/>
              <a:buChar char="•"/>
            </a:pPr>
            <a:r>
              <a:rPr lang="en-US" dirty="0"/>
              <a:t>Actions: Moves or operations that can be performed.</a:t>
            </a:r>
          </a:p>
          <a:p>
            <a:pPr marL="742950" lvl="1" indent="-285750">
              <a:buFont typeface="Arial" panose="020B0604020202020204" pitchFamily="34" charset="0"/>
              <a:buChar char="•"/>
            </a:pPr>
            <a:r>
              <a:rPr lang="en-US" dirty="0"/>
              <a:t>Goal: The end condition we aim for.</a:t>
            </a:r>
          </a:p>
          <a:p>
            <a:pPr>
              <a:buFont typeface="Arial" panose="020B0604020202020204" pitchFamily="34" charset="0"/>
              <a:buChar char="•"/>
            </a:pPr>
            <a:r>
              <a:rPr lang="en-US" b="1" dirty="0"/>
              <a:t>Problem Types</a:t>
            </a:r>
            <a:r>
              <a:rPr lang="en-US" dirty="0"/>
              <a:t>:</a:t>
            </a:r>
          </a:p>
          <a:p>
            <a:pPr marL="742950" lvl="1" indent="-285750">
              <a:buFont typeface="Arial" panose="020B0604020202020204" pitchFamily="34" charset="0"/>
              <a:buChar char="•"/>
            </a:pPr>
            <a:r>
              <a:rPr lang="en-US" b="1" dirty="0"/>
              <a:t>Deterministic</a:t>
            </a:r>
            <a:r>
              <a:rPr lang="en-US" dirty="0"/>
              <a:t>: The result of an action is predictable (e.g., Chess).</a:t>
            </a:r>
          </a:p>
          <a:p>
            <a:pPr marL="742950" lvl="1" indent="-285750">
              <a:buFont typeface="Arial" panose="020B0604020202020204" pitchFamily="34" charset="0"/>
              <a:buChar char="•"/>
            </a:pPr>
            <a:r>
              <a:rPr lang="en-US" b="1" dirty="0"/>
              <a:t>Stochastic</a:t>
            </a:r>
            <a:r>
              <a:rPr lang="en-US" dirty="0"/>
              <a:t>: Outcomes involve randomness (e.g., Poker).</a:t>
            </a:r>
          </a:p>
          <a:p>
            <a:pPr marL="742950" lvl="1" indent="-285750">
              <a:buFont typeface="Arial" panose="020B0604020202020204" pitchFamily="34" charset="0"/>
              <a:buChar char="•"/>
            </a:pPr>
            <a:r>
              <a:rPr lang="en-US" b="1" dirty="0"/>
              <a:t>Single-agent</a:t>
            </a:r>
            <a:r>
              <a:rPr lang="en-US" dirty="0"/>
              <a:t>: One agent attempts to achieve a goal (e.g., a puzzle-solving robot).</a:t>
            </a:r>
          </a:p>
          <a:p>
            <a:pPr marL="742950" lvl="1" indent="-285750">
              <a:buFont typeface="Arial" panose="020B0604020202020204" pitchFamily="34" charset="0"/>
              <a:buChar char="•"/>
            </a:pPr>
            <a:r>
              <a:rPr lang="en-US" b="1" dirty="0"/>
              <a:t>Multi-agent</a:t>
            </a:r>
            <a:r>
              <a:rPr lang="en-US" dirty="0"/>
              <a:t>: Multiple agents, often competing or cooperating (e.g., multiplayer games).</a:t>
            </a:r>
          </a:p>
          <a:p>
            <a:pPr marL="742950" lvl="1" indent="-285750">
              <a:buFont typeface="Arial" panose="020B0604020202020204" pitchFamily="34" charset="0"/>
              <a:buChar char="•"/>
            </a:pPr>
            <a:r>
              <a:rPr lang="en-US" b="1" dirty="0"/>
              <a:t>Static</a:t>
            </a:r>
            <a:r>
              <a:rPr lang="en-US" dirty="0"/>
              <a:t>: The environment doesn't change while the problem is being solved.</a:t>
            </a:r>
          </a:p>
          <a:p>
            <a:pPr marL="742950" lvl="1" indent="-285750">
              <a:buFont typeface="Arial" panose="020B0604020202020204" pitchFamily="34" charset="0"/>
              <a:buChar char="•"/>
            </a:pPr>
            <a:r>
              <a:rPr lang="en-US" b="1" dirty="0"/>
              <a:t>Dynamic</a:t>
            </a:r>
            <a:r>
              <a:rPr lang="en-US" dirty="0"/>
              <a:t>: The environment evolves or changes (e.g., traffic flow).</a:t>
            </a:r>
          </a:p>
          <a:p>
            <a:pPr marL="742950" lvl="1" indent="-285750">
              <a:buFont typeface="Arial" panose="020B0604020202020204" pitchFamily="34" charset="0"/>
              <a:buChar char="•"/>
            </a:pPr>
            <a:endParaRPr lang="en-US" dirty="0"/>
          </a:p>
          <a:p>
            <a:r>
              <a:rPr lang="en-US" b="1" dirty="0"/>
              <a:t>Example</a:t>
            </a:r>
            <a:r>
              <a:rPr lang="en-US" dirty="0"/>
              <a:t>: In Chess (deterministic, multi-agent, static), a player can predict the outcome of their move, knowing that the opponent will respond with another move.</a:t>
            </a:r>
          </a:p>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10</a:t>
            </a:fld>
            <a:endParaRPr lang="en-US"/>
          </a:p>
        </p:txBody>
      </p:sp>
    </p:spTree>
    <p:extLst>
      <p:ext uri="{BB962C8B-B14F-4D97-AF65-F5344CB8AC3E}">
        <p14:creationId xmlns:p14="http://schemas.microsoft.com/office/powerpoint/2010/main" val="260853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FFFFF"/>
                </a:solidFill>
                <a:effectLst/>
                <a:latin typeface="Nunito" pitchFamily="2" charset="0"/>
              </a:rPr>
              <a:t>Here, the algorithms have information on the goal state, which helps in more efficient searching. This information is obtained by something called a </a:t>
            </a:r>
            <a:r>
              <a:rPr lang="en-US" b="0" i="1" dirty="0">
                <a:solidFill>
                  <a:srgbClr val="FFFFFF"/>
                </a:solidFill>
                <a:effectLst/>
                <a:latin typeface="Nunito" pitchFamily="2" charset="0"/>
              </a:rPr>
              <a:t>heuristic.</a:t>
            </a:r>
            <a:r>
              <a:rPr lang="en-US" b="0" i="0" dirty="0">
                <a:solidFill>
                  <a:srgbClr val="FFFFFF"/>
                </a:solidFill>
                <a:effectLst/>
                <a:latin typeface="Nunito" pitchFamily="2" charset="0"/>
              </a:rPr>
              <a:t> </a:t>
            </a:r>
          </a:p>
          <a:p>
            <a:endParaRPr lang="en-US" b="0" i="0" dirty="0">
              <a:solidFill>
                <a:srgbClr val="FFFFFF"/>
              </a:solidFill>
              <a:effectLst/>
              <a:latin typeface="Nunito" pitchFamily="2" charset="0"/>
            </a:endParaRPr>
          </a:p>
          <a:p>
            <a:endParaRPr lang="en-US" b="0" i="0" dirty="0">
              <a:solidFill>
                <a:srgbClr val="FFFFFF"/>
              </a:solidFill>
              <a:effectLst/>
              <a:latin typeface="Nunito" pitchFamily="2" charset="0"/>
            </a:endParaRPr>
          </a:p>
          <a:p>
            <a:r>
              <a:rPr lang="en-US" b="0" i="0" dirty="0">
                <a:solidFill>
                  <a:srgbClr val="FFFFFF"/>
                </a:solidFill>
                <a:effectLst/>
                <a:latin typeface="Nunito" pitchFamily="2" charset="0"/>
              </a:rPr>
              <a:t>The uninformed search algorithms in this section have no additional information on the goal node other than the one provided in the problem definition</a:t>
            </a:r>
          </a:p>
          <a:p>
            <a:r>
              <a:rPr lang="en-US" b="0" i="0" dirty="0">
                <a:solidFill>
                  <a:srgbClr val="FFFFFF"/>
                </a:solidFill>
                <a:effectLst/>
                <a:latin typeface="Nunito" pitchFamily="2" charset="0"/>
              </a:rPr>
              <a:t>E.g. : Maze</a:t>
            </a:r>
          </a:p>
          <a:p>
            <a:r>
              <a:rPr lang="en-US" b="0" i="0" dirty="0">
                <a:solidFill>
                  <a:srgbClr val="FFFFFF"/>
                </a:solidFill>
                <a:effectLst/>
                <a:latin typeface="Nunito" pitchFamily="2" charset="0"/>
              </a:rPr>
              <a:t>Uninformed search is also called </a:t>
            </a:r>
            <a:r>
              <a:rPr lang="en-US" b="1" i="0" dirty="0">
                <a:solidFill>
                  <a:srgbClr val="FFFFFF"/>
                </a:solidFill>
                <a:effectLst/>
                <a:latin typeface="Nunito" pitchFamily="2" charset="0"/>
              </a:rPr>
              <a:t>Blind search</a:t>
            </a:r>
            <a:endParaRPr lang="en-US" b="0" i="0" dirty="0">
              <a:solidFill>
                <a:srgbClr val="FFFFFF"/>
              </a:solidFill>
              <a:effectLst/>
              <a:latin typeface="Nunito" pitchFamily="2" charset="0"/>
            </a:endParaRPr>
          </a:p>
          <a:p>
            <a:r>
              <a:rPr lang="en-US" b="0" i="0" dirty="0">
                <a:solidFill>
                  <a:srgbClr val="FFFFFF"/>
                </a:solidFill>
                <a:effectLst/>
                <a:latin typeface="Nunito" pitchFamily="2" charset="0"/>
              </a:rPr>
              <a:t>These algorithms can only generate the successors and differentiate between the goal state and non goal state</a:t>
            </a:r>
          </a:p>
          <a:p>
            <a:pPr algn="l" fontAlgn="base">
              <a:buFont typeface="Arial" panose="020B0604020202020204" pitchFamily="34" charset="0"/>
              <a:buChar char="•"/>
            </a:pPr>
            <a:r>
              <a:rPr lang="en-US" b="0" i="0" dirty="0">
                <a:solidFill>
                  <a:srgbClr val="FFFFFF"/>
                </a:solidFill>
                <a:effectLst/>
                <a:latin typeface="Nunito" pitchFamily="2" charset="0"/>
              </a:rPr>
              <a:t>A problem </a:t>
            </a:r>
            <a:r>
              <a:rPr lang="en-US" b="1" i="0" dirty="0">
                <a:solidFill>
                  <a:srgbClr val="FFFFFF"/>
                </a:solidFill>
                <a:effectLst/>
                <a:latin typeface="Nunito" pitchFamily="2" charset="0"/>
              </a:rPr>
              <a:t>graph, </a:t>
            </a:r>
            <a:r>
              <a:rPr lang="en-US" b="0" i="0" dirty="0">
                <a:solidFill>
                  <a:srgbClr val="FFFFFF"/>
                </a:solidFill>
                <a:effectLst/>
                <a:latin typeface="Nunito" pitchFamily="2" charset="0"/>
              </a:rPr>
              <a:t>containing the start node S and the goal node G.</a:t>
            </a:r>
          </a:p>
          <a:p>
            <a:pPr algn="l" fontAlgn="base">
              <a:buFont typeface="Arial" panose="020B0604020202020204" pitchFamily="34" charset="0"/>
              <a:buChar char="•"/>
            </a:pPr>
            <a:r>
              <a:rPr lang="en-US" b="0" i="0" dirty="0">
                <a:solidFill>
                  <a:srgbClr val="FFFFFF"/>
                </a:solidFill>
                <a:effectLst/>
                <a:latin typeface="Nunito" pitchFamily="2" charset="0"/>
              </a:rPr>
              <a:t>A </a:t>
            </a:r>
            <a:r>
              <a:rPr lang="en-US" b="1" i="0" dirty="0">
                <a:solidFill>
                  <a:srgbClr val="FFFFFF"/>
                </a:solidFill>
                <a:effectLst/>
                <a:latin typeface="Nunito" pitchFamily="2" charset="0"/>
              </a:rPr>
              <a:t>strategy, </a:t>
            </a:r>
            <a:r>
              <a:rPr lang="en-US" b="0" i="0" dirty="0">
                <a:solidFill>
                  <a:srgbClr val="FFFFFF"/>
                </a:solidFill>
                <a:effectLst/>
                <a:latin typeface="Nunito" pitchFamily="2" charset="0"/>
              </a:rPr>
              <a:t>describing the manner in which the graph will be traversed to get to G.</a:t>
            </a:r>
          </a:p>
          <a:p>
            <a:pPr algn="l" fontAlgn="base">
              <a:buFont typeface="Arial" panose="020B0604020202020204" pitchFamily="34" charset="0"/>
              <a:buChar char="•"/>
            </a:pPr>
            <a:r>
              <a:rPr lang="en-US" b="0" i="0" dirty="0">
                <a:solidFill>
                  <a:srgbClr val="FFFFFF"/>
                </a:solidFill>
                <a:effectLst/>
                <a:latin typeface="Nunito" pitchFamily="2" charset="0"/>
              </a:rPr>
              <a:t>A </a:t>
            </a:r>
            <a:r>
              <a:rPr lang="en-US" b="1" i="0" dirty="0">
                <a:solidFill>
                  <a:srgbClr val="FFFFFF"/>
                </a:solidFill>
                <a:effectLst/>
                <a:latin typeface="Nunito" pitchFamily="2" charset="0"/>
              </a:rPr>
              <a:t>fringe, </a:t>
            </a:r>
            <a:r>
              <a:rPr lang="en-US" b="0" i="0" dirty="0">
                <a:solidFill>
                  <a:srgbClr val="FFFFFF"/>
                </a:solidFill>
                <a:effectLst/>
                <a:latin typeface="Nunito" pitchFamily="2" charset="0"/>
              </a:rPr>
              <a:t>which is a data structure used to store all the possible states (nodes) that you can go from the current states.</a:t>
            </a:r>
          </a:p>
          <a:p>
            <a:pPr algn="l" fontAlgn="base">
              <a:buFont typeface="Arial" panose="020B0604020202020204" pitchFamily="34" charset="0"/>
              <a:buChar char="•"/>
            </a:pPr>
            <a:r>
              <a:rPr lang="en-US" b="0" i="0" dirty="0">
                <a:solidFill>
                  <a:srgbClr val="FFFFFF"/>
                </a:solidFill>
                <a:effectLst/>
                <a:latin typeface="Nunito" pitchFamily="2" charset="0"/>
              </a:rPr>
              <a:t>A </a:t>
            </a:r>
            <a:r>
              <a:rPr lang="en-US" b="1" i="0" dirty="0">
                <a:solidFill>
                  <a:srgbClr val="FFFFFF"/>
                </a:solidFill>
                <a:effectLst/>
                <a:latin typeface="Nunito" pitchFamily="2" charset="0"/>
              </a:rPr>
              <a:t>tree, </a:t>
            </a:r>
            <a:r>
              <a:rPr lang="en-US" b="0" i="0" dirty="0">
                <a:solidFill>
                  <a:srgbClr val="FFFFFF"/>
                </a:solidFill>
                <a:effectLst/>
                <a:latin typeface="Nunito" pitchFamily="2" charset="0"/>
              </a:rPr>
              <a:t>that results while traversing to the goal node.</a:t>
            </a:r>
          </a:p>
          <a:p>
            <a:pPr algn="l" fontAlgn="base">
              <a:buFont typeface="Arial" panose="020B0604020202020204" pitchFamily="34" charset="0"/>
              <a:buChar char="•"/>
            </a:pPr>
            <a:r>
              <a:rPr lang="en-US" b="0" i="0" dirty="0">
                <a:solidFill>
                  <a:srgbClr val="FFFFFF"/>
                </a:solidFill>
                <a:effectLst/>
                <a:latin typeface="Nunito" pitchFamily="2" charset="0"/>
              </a:rPr>
              <a:t>A solution </a:t>
            </a:r>
            <a:r>
              <a:rPr lang="en-US" b="1" i="0" dirty="0">
                <a:solidFill>
                  <a:srgbClr val="FFFFFF"/>
                </a:solidFill>
                <a:effectLst/>
                <a:latin typeface="Nunito" pitchFamily="2" charset="0"/>
              </a:rPr>
              <a:t>plan, </a:t>
            </a:r>
            <a:r>
              <a:rPr lang="en-US" b="0" i="0" dirty="0">
                <a:solidFill>
                  <a:srgbClr val="FFFFFF"/>
                </a:solidFill>
                <a:effectLst/>
                <a:latin typeface="Nunito" pitchFamily="2" charset="0"/>
              </a:rPr>
              <a:t>which the sequence of nodes from S to G.</a:t>
            </a:r>
          </a:p>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14</a:t>
            </a:fld>
            <a:endParaRPr lang="en-US"/>
          </a:p>
        </p:txBody>
      </p:sp>
    </p:spTree>
    <p:extLst>
      <p:ext uri="{BB962C8B-B14F-4D97-AF65-F5344CB8AC3E}">
        <p14:creationId xmlns:p14="http://schemas.microsoft.com/office/powerpoint/2010/main" val="1538224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15</a:t>
            </a:fld>
            <a:endParaRPr lang="en-US"/>
          </a:p>
        </p:txBody>
      </p:sp>
    </p:spTree>
    <p:extLst>
      <p:ext uri="{BB962C8B-B14F-4D97-AF65-F5344CB8AC3E}">
        <p14:creationId xmlns:p14="http://schemas.microsoft.com/office/powerpoint/2010/main" val="311939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a:t>
            </a:r>
          </a:p>
          <a:p>
            <a:r>
              <a:rPr lang="en-US" dirty="0"/>
              <a:t>Undirected Graph</a:t>
            </a:r>
          </a:p>
          <a:p>
            <a:r>
              <a:rPr lang="en-US" dirty="0"/>
              <a:t> representation:  Adjacency List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202020"/>
                </a:solidFill>
                <a:effectLst/>
                <a:latin typeface="__Inter_d65c78"/>
              </a:rPr>
              <a:t>BFS</a:t>
            </a:r>
            <a:r>
              <a:rPr lang="en-US" b="0" i="0" dirty="0">
                <a:solidFill>
                  <a:srgbClr val="202020"/>
                </a:solidFill>
                <a:effectLst/>
                <a:latin typeface="__Inter_d65c78"/>
              </a:rPr>
              <a:t> is an algorithm for traversing or searching through a graph. It explores all immediate neighbors of a node before moving on to their neighbors, ensuring that the closest nodes are visited first</a:t>
            </a:r>
          </a:p>
          <a:p>
            <a:endParaRPr lang="en-US" dirty="0"/>
          </a:p>
          <a:p>
            <a:endParaRPr lang="en-US" dirty="0"/>
          </a:p>
          <a:p>
            <a:pPr algn="l"/>
            <a:r>
              <a:rPr lang="en-US" b="1" i="0" dirty="0">
                <a:solidFill>
                  <a:srgbClr val="202020"/>
                </a:solidFill>
                <a:effectLst/>
                <a:latin typeface="__Inter_d65c78"/>
              </a:rPr>
              <a:t>Key Points</a:t>
            </a:r>
          </a:p>
          <a:p>
            <a:pPr algn="l">
              <a:buFont typeface="Arial" panose="020B0604020202020204" pitchFamily="34" charset="0"/>
              <a:buChar char="•"/>
            </a:pPr>
            <a:r>
              <a:rPr lang="en-US" b="0" i="0" dirty="0">
                <a:solidFill>
                  <a:srgbClr val="202020"/>
                </a:solidFill>
                <a:effectLst/>
                <a:latin typeface="__Inter_d65c78"/>
              </a:rPr>
              <a:t>BFS uses a </a:t>
            </a:r>
            <a:r>
              <a:rPr lang="en-US" b="1" i="0" dirty="0">
                <a:solidFill>
                  <a:srgbClr val="202020"/>
                </a:solidFill>
                <a:effectLst/>
                <a:latin typeface="__Inter_d65c78"/>
              </a:rPr>
              <a:t>queue</a:t>
            </a:r>
            <a:r>
              <a:rPr lang="en-US" b="0" i="0" dirty="0">
                <a:solidFill>
                  <a:srgbClr val="202020"/>
                </a:solidFill>
                <a:effectLst/>
                <a:latin typeface="__Inter_d65c78"/>
              </a:rPr>
              <a:t> to keep track of nodes to visit next and a </a:t>
            </a:r>
            <a:r>
              <a:rPr lang="en-US" b="1" i="0" dirty="0">
                <a:solidFill>
                  <a:srgbClr val="202020"/>
                </a:solidFill>
                <a:effectLst/>
                <a:latin typeface="__Inter_d65c78"/>
              </a:rPr>
              <a:t>set</a:t>
            </a:r>
            <a:r>
              <a:rPr lang="en-US" b="0" i="0" dirty="0">
                <a:solidFill>
                  <a:srgbClr val="202020"/>
                </a:solidFill>
                <a:effectLst/>
                <a:latin typeface="__Inter_d65c78"/>
              </a:rPr>
              <a:t> to track visited nodes, preventing cycles and redundant visits</a:t>
            </a:r>
          </a:p>
          <a:p>
            <a:pPr algn="l">
              <a:buFont typeface="Arial" panose="020B0604020202020204" pitchFamily="34" charset="0"/>
              <a:buChar char="•"/>
            </a:pPr>
            <a:r>
              <a:rPr lang="en-US" b="0" i="0" dirty="0">
                <a:solidFill>
                  <a:srgbClr val="202020"/>
                </a:solidFill>
                <a:effectLst/>
                <a:latin typeface="__Inter_d65c78"/>
              </a:rPr>
              <a:t>The order of visitation is determined by the proximity of nodes to the starting point, ensuring that nodes closer to the start are processed first</a:t>
            </a:r>
          </a:p>
          <a:p>
            <a:endParaRPr lang="en-US" dirty="0"/>
          </a:p>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16</a:t>
            </a:fld>
            <a:endParaRPr lang="en-US"/>
          </a:p>
        </p:txBody>
      </p:sp>
    </p:spTree>
    <p:extLst>
      <p:ext uri="{BB962C8B-B14F-4D97-AF65-F5344CB8AC3E}">
        <p14:creationId xmlns:p14="http://schemas.microsoft.com/office/powerpoint/2010/main" val="3453818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38421-312C-D793-B7C7-D1FB0D175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63506-BFB8-573B-5FD6-4C6D5AE6A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51576F-85C0-87E2-AADF-4972BF46B7F4}"/>
              </a:ext>
            </a:extLst>
          </p:cNvPr>
          <p:cNvSpPr>
            <a:spLocks noGrp="1"/>
          </p:cNvSpPr>
          <p:nvPr>
            <p:ph type="body" idx="1"/>
          </p:nvPr>
        </p:nvSpPr>
        <p:spPr/>
        <p:txBody>
          <a:bodyPr/>
          <a:lstStyle/>
          <a:p>
            <a:r>
              <a:rPr lang="en-US" dirty="0"/>
              <a:t>Graph</a:t>
            </a:r>
          </a:p>
          <a:p>
            <a:r>
              <a:rPr lang="en-US" dirty="0"/>
              <a:t>Undirected Graph</a:t>
            </a:r>
          </a:p>
          <a:p>
            <a:r>
              <a:rPr lang="en-US" dirty="0"/>
              <a:t> representation:  </a:t>
            </a:r>
            <a:r>
              <a:rPr lang="en-US" dirty="0" err="1"/>
              <a:t>Adjancency</a:t>
            </a:r>
            <a:r>
              <a:rPr lang="en-US" dirty="0"/>
              <a:t> List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202020"/>
                </a:solidFill>
                <a:effectLst/>
                <a:latin typeface="__Inter_d65c78"/>
              </a:rPr>
              <a:t>BFS</a:t>
            </a:r>
            <a:r>
              <a:rPr lang="en-US" b="0" i="0" dirty="0">
                <a:solidFill>
                  <a:srgbClr val="202020"/>
                </a:solidFill>
                <a:effectLst/>
                <a:latin typeface="__Inter_d65c78"/>
              </a:rPr>
              <a:t> is an algorithm for traversing or searching through a graph. It explores all immediate neighbors of a node before moving on to their neighbors, ensuring that the closest nodes are visited first</a:t>
            </a:r>
          </a:p>
          <a:p>
            <a:endParaRPr lang="en-US" dirty="0"/>
          </a:p>
          <a:p>
            <a:endParaRPr lang="en-US" dirty="0"/>
          </a:p>
          <a:p>
            <a:pPr algn="l"/>
            <a:r>
              <a:rPr lang="en-US" b="1" i="0" dirty="0">
                <a:solidFill>
                  <a:srgbClr val="202020"/>
                </a:solidFill>
                <a:effectLst/>
                <a:latin typeface="__Inter_d65c78"/>
              </a:rPr>
              <a:t>Key Points</a:t>
            </a:r>
          </a:p>
          <a:p>
            <a:pPr algn="l">
              <a:buFont typeface="Arial" panose="020B0604020202020204" pitchFamily="34" charset="0"/>
              <a:buChar char="•"/>
            </a:pPr>
            <a:r>
              <a:rPr lang="en-US" b="0" i="0" dirty="0">
                <a:solidFill>
                  <a:srgbClr val="202020"/>
                </a:solidFill>
                <a:effectLst/>
                <a:latin typeface="__Inter_d65c78"/>
              </a:rPr>
              <a:t>BFS uses a </a:t>
            </a:r>
            <a:r>
              <a:rPr lang="en-US" b="1" i="0" dirty="0">
                <a:solidFill>
                  <a:srgbClr val="202020"/>
                </a:solidFill>
                <a:effectLst/>
                <a:latin typeface="__Inter_d65c78"/>
              </a:rPr>
              <a:t>queue</a:t>
            </a:r>
            <a:r>
              <a:rPr lang="en-US" b="0" i="0" dirty="0">
                <a:solidFill>
                  <a:srgbClr val="202020"/>
                </a:solidFill>
                <a:effectLst/>
                <a:latin typeface="__Inter_d65c78"/>
              </a:rPr>
              <a:t> to keep track of nodes to visit next and a </a:t>
            </a:r>
            <a:r>
              <a:rPr lang="en-US" b="1" i="0" dirty="0">
                <a:solidFill>
                  <a:srgbClr val="202020"/>
                </a:solidFill>
                <a:effectLst/>
                <a:latin typeface="__Inter_d65c78"/>
              </a:rPr>
              <a:t>set</a:t>
            </a:r>
            <a:r>
              <a:rPr lang="en-US" b="0" i="0" dirty="0">
                <a:solidFill>
                  <a:srgbClr val="202020"/>
                </a:solidFill>
                <a:effectLst/>
                <a:latin typeface="__Inter_d65c78"/>
              </a:rPr>
              <a:t> to track visited nodes, preventing cycles and redundant visits</a:t>
            </a:r>
          </a:p>
          <a:p>
            <a:pPr algn="l">
              <a:buFont typeface="Arial" panose="020B0604020202020204" pitchFamily="34" charset="0"/>
              <a:buChar char="•"/>
            </a:pPr>
            <a:r>
              <a:rPr lang="en-US" b="0" i="0" dirty="0">
                <a:solidFill>
                  <a:srgbClr val="202020"/>
                </a:solidFill>
                <a:effectLst/>
                <a:latin typeface="__Inter_d65c78"/>
              </a:rPr>
              <a:t>The order of visitation is determined by the proximity of nodes to the starting point, ensuring that nodes closer to the start are processed first</a:t>
            </a:r>
          </a:p>
          <a:p>
            <a:endParaRPr lang="en-US" dirty="0"/>
          </a:p>
          <a:p>
            <a:endParaRPr lang="en-US" dirty="0"/>
          </a:p>
        </p:txBody>
      </p:sp>
      <p:sp>
        <p:nvSpPr>
          <p:cNvPr id="4" name="Slide Number Placeholder 3">
            <a:extLst>
              <a:ext uri="{FF2B5EF4-FFF2-40B4-BE49-F238E27FC236}">
                <a16:creationId xmlns:a16="http://schemas.microsoft.com/office/drawing/2014/main" id="{0A615F70-1D40-B978-93AA-051A92004C5E}"/>
              </a:ext>
            </a:extLst>
          </p:cNvPr>
          <p:cNvSpPr>
            <a:spLocks noGrp="1"/>
          </p:cNvSpPr>
          <p:nvPr>
            <p:ph type="sldNum" sz="quarter" idx="5"/>
          </p:nvPr>
        </p:nvSpPr>
        <p:spPr/>
        <p:txBody>
          <a:bodyPr/>
          <a:lstStyle/>
          <a:p>
            <a:fld id="{43B19DB7-DDC9-4C8C-8DC3-1D632FA3DF71}" type="slidenum">
              <a:rPr lang="en-US" smtClean="0"/>
              <a:t>19</a:t>
            </a:fld>
            <a:endParaRPr lang="en-US"/>
          </a:p>
        </p:txBody>
      </p:sp>
    </p:spTree>
    <p:extLst>
      <p:ext uri="{BB962C8B-B14F-4D97-AF65-F5344CB8AC3E}">
        <p14:creationId xmlns:p14="http://schemas.microsoft.com/office/powerpoint/2010/main" val="89011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2ADBD-C72B-F657-369A-3AFA40D494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A172D-EFE2-FAA3-4804-E92D8EF3AC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6AF6C3-BFB9-1C98-2559-8D1450079CC3}"/>
              </a:ext>
            </a:extLst>
          </p:cNvPr>
          <p:cNvSpPr>
            <a:spLocks noGrp="1"/>
          </p:cNvSpPr>
          <p:nvPr>
            <p:ph type="body" idx="1"/>
          </p:nvPr>
        </p:nvSpPr>
        <p:spPr/>
        <p:txBody>
          <a:bodyPr/>
          <a:lstStyle/>
          <a:p>
            <a:r>
              <a:rPr lang="en-US" dirty="0"/>
              <a:t>Graph</a:t>
            </a:r>
          </a:p>
          <a:p>
            <a:r>
              <a:rPr lang="en-US" dirty="0"/>
              <a:t>Undirected Graph</a:t>
            </a:r>
          </a:p>
          <a:p>
            <a:r>
              <a:rPr lang="en-US" dirty="0"/>
              <a:t> representation:  </a:t>
            </a:r>
            <a:r>
              <a:rPr lang="en-US" dirty="0" err="1"/>
              <a:t>Adjancency</a:t>
            </a:r>
            <a:r>
              <a:rPr lang="en-US" dirty="0"/>
              <a:t> List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202020"/>
                </a:solidFill>
                <a:effectLst/>
                <a:latin typeface="__Inter_d65c78"/>
              </a:rPr>
              <a:t>BFS</a:t>
            </a:r>
            <a:r>
              <a:rPr lang="en-US" b="0" i="0" dirty="0">
                <a:solidFill>
                  <a:srgbClr val="202020"/>
                </a:solidFill>
                <a:effectLst/>
                <a:latin typeface="__Inter_d65c78"/>
              </a:rPr>
              <a:t> is an algorithm for traversing or searching through a graph. It explores all immediate neighbors of a node before moving on to their neighbors, ensuring that the closest nodes are visited first</a:t>
            </a:r>
          </a:p>
          <a:p>
            <a:endParaRPr lang="en-US" dirty="0"/>
          </a:p>
          <a:p>
            <a:endParaRPr lang="en-US" dirty="0"/>
          </a:p>
          <a:p>
            <a:pPr algn="l"/>
            <a:r>
              <a:rPr lang="en-US" b="1" i="0" dirty="0">
                <a:solidFill>
                  <a:srgbClr val="202020"/>
                </a:solidFill>
                <a:effectLst/>
                <a:latin typeface="__Inter_d65c78"/>
              </a:rPr>
              <a:t>Key Points</a:t>
            </a:r>
          </a:p>
          <a:p>
            <a:pPr algn="l">
              <a:buFont typeface="Arial" panose="020B0604020202020204" pitchFamily="34" charset="0"/>
              <a:buChar char="•"/>
            </a:pPr>
            <a:r>
              <a:rPr lang="en-US" b="0" i="0" dirty="0">
                <a:solidFill>
                  <a:srgbClr val="202020"/>
                </a:solidFill>
                <a:effectLst/>
                <a:latin typeface="__Inter_d65c78"/>
              </a:rPr>
              <a:t>BFS uses a </a:t>
            </a:r>
            <a:r>
              <a:rPr lang="en-US" b="1" i="0" dirty="0">
                <a:solidFill>
                  <a:srgbClr val="202020"/>
                </a:solidFill>
                <a:effectLst/>
                <a:latin typeface="__Inter_d65c78"/>
              </a:rPr>
              <a:t>queue</a:t>
            </a:r>
            <a:r>
              <a:rPr lang="en-US" b="0" i="0" dirty="0">
                <a:solidFill>
                  <a:srgbClr val="202020"/>
                </a:solidFill>
                <a:effectLst/>
                <a:latin typeface="__Inter_d65c78"/>
              </a:rPr>
              <a:t> to keep track of nodes to visit next and a </a:t>
            </a:r>
            <a:r>
              <a:rPr lang="en-US" b="1" i="0" dirty="0">
                <a:solidFill>
                  <a:srgbClr val="202020"/>
                </a:solidFill>
                <a:effectLst/>
                <a:latin typeface="__Inter_d65c78"/>
              </a:rPr>
              <a:t>set</a:t>
            </a:r>
            <a:r>
              <a:rPr lang="en-US" b="0" i="0" dirty="0">
                <a:solidFill>
                  <a:srgbClr val="202020"/>
                </a:solidFill>
                <a:effectLst/>
                <a:latin typeface="__Inter_d65c78"/>
              </a:rPr>
              <a:t> to track visited nodes, preventing cycles and redundant visits</a:t>
            </a:r>
          </a:p>
          <a:p>
            <a:pPr algn="l">
              <a:buFont typeface="Arial" panose="020B0604020202020204" pitchFamily="34" charset="0"/>
              <a:buChar char="•"/>
            </a:pPr>
            <a:r>
              <a:rPr lang="en-US" b="0" i="0" dirty="0">
                <a:solidFill>
                  <a:srgbClr val="202020"/>
                </a:solidFill>
                <a:effectLst/>
                <a:latin typeface="__Inter_d65c78"/>
              </a:rPr>
              <a:t>The order of visitation is determined by the proximity of nodes to the starting point, ensuring that nodes closer to the start are processed first</a:t>
            </a:r>
          </a:p>
          <a:p>
            <a:endParaRPr lang="en-US" dirty="0"/>
          </a:p>
          <a:p>
            <a:endParaRPr lang="en-US" dirty="0"/>
          </a:p>
        </p:txBody>
      </p:sp>
      <p:sp>
        <p:nvSpPr>
          <p:cNvPr id="4" name="Slide Number Placeholder 3">
            <a:extLst>
              <a:ext uri="{FF2B5EF4-FFF2-40B4-BE49-F238E27FC236}">
                <a16:creationId xmlns:a16="http://schemas.microsoft.com/office/drawing/2014/main" id="{C1DC3F66-57BE-29E0-1BD8-263B15501CD7}"/>
              </a:ext>
            </a:extLst>
          </p:cNvPr>
          <p:cNvSpPr>
            <a:spLocks noGrp="1"/>
          </p:cNvSpPr>
          <p:nvPr>
            <p:ph type="sldNum" sz="quarter" idx="5"/>
          </p:nvPr>
        </p:nvSpPr>
        <p:spPr/>
        <p:txBody>
          <a:bodyPr/>
          <a:lstStyle/>
          <a:p>
            <a:fld id="{43B19DB7-DDC9-4C8C-8DC3-1D632FA3DF71}" type="slidenum">
              <a:rPr lang="en-US" smtClean="0"/>
              <a:t>22</a:t>
            </a:fld>
            <a:endParaRPr lang="en-US"/>
          </a:p>
        </p:txBody>
      </p:sp>
    </p:spTree>
    <p:extLst>
      <p:ext uri="{BB962C8B-B14F-4D97-AF65-F5344CB8AC3E}">
        <p14:creationId xmlns:p14="http://schemas.microsoft.com/office/powerpoint/2010/main" val="3479687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B9B02-077E-F50F-727F-9BC70D301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18790-799D-C787-8229-8774C36316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504F92-FEB8-5273-AB0D-18D3C67E69F8}"/>
              </a:ext>
            </a:extLst>
          </p:cNvPr>
          <p:cNvSpPr>
            <a:spLocks noGrp="1"/>
          </p:cNvSpPr>
          <p:nvPr>
            <p:ph type="body" idx="1"/>
          </p:nvPr>
        </p:nvSpPr>
        <p:spPr/>
        <p:txBody>
          <a:bodyPr/>
          <a:lstStyle/>
          <a:p>
            <a:r>
              <a:rPr lang="en-US" b="0" i="0" dirty="0">
                <a:solidFill>
                  <a:srgbClr val="BFBFBF"/>
                </a:solidFill>
                <a:effectLst/>
                <a:latin typeface="Google Sans"/>
              </a:rPr>
              <a:t>It is </a:t>
            </a:r>
            <a:r>
              <a:rPr lang="en-US" b="0" i="0" dirty="0">
                <a:solidFill>
                  <a:srgbClr val="FFFFFF"/>
                </a:solidFill>
                <a:effectLst/>
                <a:latin typeface="Google Sans"/>
              </a:rPr>
              <a:t>a search algorithm used to find the shortest path between an initial and a final point</a:t>
            </a:r>
            <a:r>
              <a:rPr lang="en-US" b="0" i="0" dirty="0">
                <a:solidFill>
                  <a:srgbClr val="BFBFBF"/>
                </a:solidFill>
                <a:effectLst/>
                <a:latin typeface="Google Sans"/>
              </a:rPr>
              <a:t>. It is often used for map traversal to find the shortest path. A* was initially designed as a graph traversal problem to help build a robot that can find its own course</a:t>
            </a:r>
            <a:endParaRPr lang="en-US" dirty="0"/>
          </a:p>
        </p:txBody>
      </p:sp>
      <p:sp>
        <p:nvSpPr>
          <p:cNvPr id="4" name="Slide Number Placeholder 3">
            <a:extLst>
              <a:ext uri="{FF2B5EF4-FFF2-40B4-BE49-F238E27FC236}">
                <a16:creationId xmlns:a16="http://schemas.microsoft.com/office/drawing/2014/main" id="{54723423-1D1F-2E4D-4464-1D8FCBE11768}"/>
              </a:ext>
            </a:extLst>
          </p:cNvPr>
          <p:cNvSpPr>
            <a:spLocks noGrp="1"/>
          </p:cNvSpPr>
          <p:nvPr>
            <p:ph type="sldNum" sz="quarter" idx="5"/>
          </p:nvPr>
        </p:nvSpPr>
        <p:spPr/>
        <p:txBody>
          <a:bodyPr/>
          <a:lstStyle/>
          <a:p>
            <a:fld id="{43B19DB7-DDC9-4C8C-8DC3-1D632FA3DF71}" type="slidenum">
              <a:rPr lang="en-US" smtClean="0"/>
              <a:t>30</a:t>
            </a:fld>
            <a:endParaRPr lang="en-US"/>
          </a:p>
        </p:txBody>
      </p:sp>
    </p:spTree>
    <p:extLst>
      <p:ext uri="{BB962C8B-B14F-4D97-AF65-F5344CB8AC3E}">
        <p14:creationId xmlns:p14="http://schemas.microsoft.com/office/powerpoint/2010/main" val="730607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directed </a:t>
            </a:r>
            <a:r>
              <a:rPr lang="en-US"/>
              <a:t>and undirected</a:t>
            </a:r>
          </a:p>
        </p:txBody>
      </p:sp>
      <p:sp>
        <p:nvSpPr>
          <p:cNvPr id="4" name="Slide Number Placeholder 3"/>
          <p:cNvSpPr>
            <a:spLocks noGrp="1"/>
          </p:cNvSpPr>
          <p:nvPr>
            <p:ph type="sldNum" sz="quarter" idx="5"/>
          </p:nvPr>
        </p:nvSpPr>
        <p:spPr/>
        <p:txBody>
          <a:bodyPr/>
          <a:lstStyle/>
          <a:p>
            <a:fld id="{43B19DB7-DDC9-4C8C-8DC3-1D632FA3DF71}" type="slidenum">
              <a:rPr lang="en-US" smtClean="0"/>
              <a:t>33</a:t>
            </a:fld>
            <a:endParaRPr lang="en-US"/>
          </a:p>
        </p:txBody>
      </p:sp>
    </p:spTree>
    <p:extLst>
      <p:ext uri="{BB962C8B-B14F-4D97-AF65-F5344CB8AC3E}">
        <p14:creationId xmlns:p14="http://schemas.microsoft.com/office/powerpoint/2010/main" val="1719066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Initialization</a:t>
            </a:r>
          </a:p>
          <a:p>
            <a:r>
              <a:rPr lang="en-US" b="1" dirty="0"/>
              <a:t>Data Structures</a:t>
            </a:r>
          </a:p>
          <a:p>
            <a:r>
              <a:rPr lang="en-US" b="1" dirty="0"/>
              <a:t>Open List</a:t>
            </a:r>
            <a:r>
              <a:rPr lang="en-US" dirty="0"/>
              <a:t>:</a:t>
            </a:r>
            <a:br>
              <a:rPr lang="en-US" dirty="0"/>
            </a:br>
            <a:r>
              <a:rPr lang="en-US" dirty="0"/>
              <a:t>Contains nodes that have been discovered but not yet evaluated.</a:t>
            </a:r>
            <a:br>
              <a:rPr lang="en-US" dirty="0"/>
            </a:br>
            <a:r>
              <a:rPr lang="en-US" dirty="0"/>
              <a:t>(Often implemented as a priority queue sorted by f(n))</a:t>
            </a:r>
          </a:p>
          <a:p>
            <a:r>
              <a:rPr lang="en-US" b="1" dirty="0"/>
              <a:t>Closed List</a:t>
            </a:r>
            <a:r>
              <a:rPr lang="en-US" dirty="0"/>
              <a:t>:</a:t>
            </a:r>
            <a:br>
              <a:rPr lang="en-US" dirty="0"/>
            </a:br>
            <a:r>
              <a:rPr lang="en-US" dirty="0"/>
              <a:t>Contains nodes that have already been fully evaluated.</a:t>
            </a:r>
          </a:p>
          <a:p>
            <a:r>
              <a:rPr lang="en-US" b="1" dirty="0"/>
              <a:t>Start Node Setup</a:t>
            </a:r>
          </a:p>
          <a:p>
            <a:r>
              <a:rPr lang="en-US" dirty="0"/>
              <a:t>Begin with the </a:t>
            </a:r>
            <a:r>
              <a:rPr lang="en-US" b="1" dirty="0"/>
              <a:t>initial (start) node</a:t>
            </a:r>
            <a:r>
              <a:rPr lang="en-US" dirty="0"/>
              <a:t>.</a:t>
            </a:r>
          </a:p>
          <a:p>
            <a:r>
              <a:rPr lang="en-US" dirty="0"/>
              <a:t>Set:</a:t>
            </a:r>
          </a:p>
          <a:p>
            <a:pPr lvl="1"/>
            <a:r>
              <a:rPr lang="en-US" b="1" dirty="0"/>
              <a:t>g(n) = 0</a:t>
            </a:r>
            <a:r>
              <a:rPr lang="en-US" dirty="0"/>
              <a:t> </a:t>
            </a:r>
            <a:r>
              <a:rPr lang="en-US" dirty="0">
                <a:sym typeface="Wingdings" panose="05000000000000000000" pitchFamily="2" charset="2"/>
              </a:rPr>
              <a:t></a:t>
            </a:r>
            <a:r>
              <a:rPr lang="en-US" dirty="0"/>
              <a:t> actual cost from the start to node </a:t>
            </a:r>
            <a:r>
              <a:rPr lang="en-US" i="1" dirty="0"/>
              <a:t>n</a:t>
            </a:r>
            <a:r>
              <a:rPr lang="en-US" dirty="0"/>
              <a:t>.</a:t>
            </a:r>
          </a:p>
          <a:p>
            <a:pPr lvl="1"/>
            <a:r>
              <a:rPr lang="en-US" b="1" dirty="0"/>
              <a:t>h(n)</a:t>
            </a:r>
            <a:r>
              <a:rPr lang="en-US" dirty="0"/>
              <a:t> </a:t>
            </a:r>
            <a:r>
              <a:rPr lang="en-US" dirty="0">
                <a:sym typeface="Wingdings" panose="05000000000000000000" pitchFamily="2" charset="2"/>
              </a:rPr>
              <a:t></a:t>
            </a:r>
            <a:r>
              <a:rPr lang="en-US" dirty="0"/>
              <a:t>  heuristic estimate of the cost from node </a:t>
            </a:r>
            <a:r>
              <a:rPr lang="en-US" i="1" dirty="0"/>
              <a:t>n</a:t>
            </a:r>
            <a:r>
              <a:rPr lang="en-US" dirty="0"/>
              <a:t> to the goal.</a:t>
            </a:r>
          </a:p>
          <a:p>
            <a:pPr lvl="1"/>
            <a:r>
              <a:rPr lang="en-US" b="1" dirty="0"/>
              <a:t>f(n) = g(n) + h(n)</a:t>
            </a:r>
            <a:r>
              <a:rPr lang="en-US" dirty="0"/>
              <a:t> </a:t>
            </a:r>
            <a:r>
              <a:rPr lang="en-US" dirty="0">
                <a:sym typeface="Wingdings" panose="05000000000000000000" pitchFamily="2" charset="2"/>
              </a:rPr>
              <a:t></a:t>
            </a:r>
            <a:r>
              <a:rPr lang="en-US" dirty="0"/>
              <a:t> total estimated cost.</a:t>
            </a:r>
          </a:p>
          <a:p>
            <a:r>
              <a:rPr lang="en-US" dirty="0"/>
              <a:t>Insert the start node into the </a:t>
            </a:r>
            <a:r>
              <a:rPr lang="en-US" b="1" dirty="0"/>
              <a:t>open list</a:t>
            </a:r>
            <a:r>
              <a:rPr lang="en-US" dirty="0"/>
              <a:t>.</a:t>
            </a:r>
          </a:p>
          <a:p>
            <a:br>
              <a:rPr lang="en-US" dirty="0"/>
            </a:br>
            <a:endParaRPr lang="en-US" dirty="0"/>
          </a:p>
          <a:p>
            <a:r>
              <a:rPr lang="en-US" b="1" dirty="0"/>
              <a:t>2. Iteration Loop</a:t>
            </a:r>
          </a:p>
          <a:p>
            <a:r>
              <a:rPr lang="en-US" dirty="0"/>
              <a:t>Repeat until the open list becomes empty:</a:t>
            </a:r>
          </a:p>
          <a:p>
            <a:r>
              <a:rPr lang="en-US" b="1" dirty="0"/>
              <a:t>Step A: Select Node</a:t>
            </a:r>
          </a:p>
          <a:p>
            <a:r>
              <a:rPr lang="en-US" dirty="0"/>
              <a:t>Pick the node from the open list that has the </a:t>
            </a:r>
            <a:r>
              <a:rPr lang="en-US" b="1" dirty="0"/>
              <a:t>lowest f(n)</a:t>
            </a:r>
            <a:r>
              <a:rPr lang="en-US" dirty="0"/>
              <a:t> value.</a:t>
            </a:r>
          </a:p>
          <a:p>
            <a:r>
              <a:rPr lang="en-US" dirty="0"/>
              <a:t>Call this node </a:t>
            </a:r>
            <a:r>
              <a:rPr lang="en-US" b="1" dirty="0"/>
              <a:t>current</a:t>
            </a:r>
            <a:r>
              <a:rPr lang="en-US" dirty="0"/>
              <a:t>.</a:t>
            </a:r>
          </a:p>
          <a:p>
            <a:r>
              <a:rPr lang="en-US" dirty="0"/>
              <a:t>Move </a:t>
            </a:r>
            <a:r>
              <a:rPr lang="en-US" b="1" dirty="0"/>
              <a:t>current</a:t>
            </a:r>
            <a:r>
              <a:rPr lang="en-US" dirty="0"/>
              <a:t> to the </a:t>
            </a:r>
            <a:r>
              <a:rPr lang="en-US" b="1" dirty="0"/>
              <a:t>closed list</a:t>
            </a:r>
            <a:r>
              <a:rPr lang="en-US" dirty="0"/>
              <a:t>.</a:t>
            </a:r>
          </a:p>
          <a:p>
            <a:br>
              <a:rPr lang="en-US" dirty="0"/>
            </a:br>
            <a:endParaRPr lang="en-US" dirty="0"/>
          </a:p>
          <a:p>
            <a:r>
              <a:rPr lang="en-US" b="1" dirty="0"/>
              <a:t>3. Evaluate Neighbors of Current Node</a:t>
            </a:r>
          </a:p>
          <a:p>
            <a:r>
              <a:rPr lang="en-US" dirty="0"/>
              <a:t>For each neighbor:</a:t>
            </a:r>
          </a:p>
          <a:p>
            <a:r>
              <a:rPr lang="en-US" b="1" dirty="0"/>
              <a:t>If neighbor is in closed list </a:t>
            </a:r>
            <a:r>
              <a:rPr lang="en-US" b="1" dirty="0">
                <a:sym typeface="Wingdings" panose="05000000000000000000" pitchFamily="2" charset="2"/>
              </a:rPr>
              <a:t></a:t>
            </a:r>
            <a:r>
              <a:rPr lang="en-US" b="1" dirty="0"/>
              <a:t> skip</a:t>
            </a:r>
            <a:br>
              <a:rPr lang="en-US" dirty="0"/>
            </a:br>
            <a:r>
              <a:rPr lang="en-US" dirty="0"/>
              <a:t>(Already evaluated)</a:t>
            </a:r>
          </a:p>
          <a:p>
            <a:r>
              <a:rPr lang="en-US" b="1" dirty="0"/>
              <a:t>Compute:</a:t>
            </a:r>
            <a:endParaRPr lang="en-US" dirty="0"/>
          </a:p>
          <a:p>
            <a:pPr lvl="1"/>
            <a:r>
              <a:rPr lang="en-US" dirty="0"/>
              <a:t>Tentative g-value:</a:t>
            </a:r>
            <a:br>
              <a:rPr lang="en-US" dirty="0"/>
            </a:br>
            <a:r>
              <a:rPr lang="en-US" sz="1200" kern="1200" dirty="0" err="1">
                <a:solidFill>
                  <a:schemeClr val="tx1"/>
                </a:solidFill>
                <a:latin typeface="+mn-lt"/>
                <a:ea typeface="+mn-ea"/>
                <a:cs typeface="+mn-cs"/>
              </a:rPr>
              <a:t>g_temp</a:t>
            </a:r>
            <a:r>
              <a:rPr lang="en-US" sz="1200" kern="1200" dirty="0">
                <a:solidFill>
                  <a:schemeClr val="tx1"/>
                </a:solidFill>
                <a:latin typeface="+mn-lt"/>
                <a:ea typeface="+mn-ea"/>
                <a:cs typeface="+mn-cs"/>
              </a:rPr>
              <a:t> = g(current) + cost(current, neighbor)</a:t>
            </a:r>
            <a:endParaRPr lang="en-US" dirty="0"/>
          </a:p>
          <a:p>
            <a:pPr lvl="1"/>
            <a:r>
              <a:rPr lang="en-US" dirty="0"/>
              <a:t>Compute h(neighbor)</a:t>
            </a:r>
          </a:p>
          <a:p>
            <a:pPr lvl="1"/>
            <a:r>
              <a:rPr lang="en-US" dirty="0"/>
              <a:t>Compute f(neighbor) = </a:t>
            </a:r>
            <a:r>
              <a:rPr lang="en-US" dirty="0" err="1"/>
              <a:t>g_temp</a:t>
            </a:r>
            <a:r>
              <a:rPr lang="en-US" dirty="0"/>
              <a:t> + h(neighbor)</a:t>
            </a:r>
          </a:p>
          <a:p>
            <a:r>
              <a:rPr lang="en-US" b="1" dirty="0"/>
              <a:t>If neighbor is not in open list:</a:t>
            </a:r>
            <a:endParaRPr lang="en-US" dirty="0"/>
          </a:p>
          <a:p>
            <a:pPr lvl="1"/>
            <a:r>
              <a:rPr lang="en-US" dirty="0"/>
              <a:t>Add it to open list.</a:t>
            </a:r>
          </a:p>
          <a:p>
            <a:pPr lvl="1"/>
            <a:r>
              <a:rPr lang="en-US" dirty="0"/>
              <a:t>Store:</a:t>
            </a:r>
          </a:p>
          <a:p>
            <a:pPr lvl="2"/>
            <a:r>
              <a:rPr lang="en-US" dirty="0"/>
              <a:t>g(neighbor) = </a:t>
            </a:r>
            <a:r>
              <a:rPr lang="en-US" dirty="0" err="1"/>
              <a:t>g_temp</a:t>
            </a:r>
            <a:endParaRPr lang="en-US" dirty="0"/>
          </a:p>
          <a:p>
            <a:pPr lvl="2"/>
            <a:r>
              <a:rPr lang="en-US" dirty="0"/>
              <a:t>Parent(neighbor) = current</a:t>
            </a:r>
          </a:p>
          <a:p>
            <a:r>
              <a:rPr lang="en-US" b="1" dirty="0"/>
              <a:t>If neighbor is in open list but new g-value is smaller:</a:t>
            </a:r>
            <a:endParaRPr lang="en-US" dirty="0"/>
          </a:p>
          <a:p>
            <a:pPr lvl="1"/>
            <a:r>
              <a:rPr lang="en-US" dirty="0"/>
              <a:t>Update g(neighbor) = </a:t>
            </a:r>
            <a:r>
              <a:rPr lang="en-US" dirty="0" err="1"/>
              <a:t>g_temp</a:t>
            </a:r>
            <a:endParaRPr lang="en-US" dirty="0"/>
          </a:p>
          <a:p>
            <a:pPr lvl="1"/>
            <a:r>
              <a:rPr lang="en-US" dirty="0"/>
              <a:t>Recalculate f(neighbor)</a:t>
            </a:r>
          </a:p>
          <a:p>
            <a:pPr lvl="1"/>
            <a:r>
              <a:rPr lang="en-US" dirty="0"/>
              <a:t>Update parent pointer</a:t>
            </a:r>
          </a:p>
          <a:p>
            <a:br>
              <a:rPr lang="en-US" dirty="0"/>
            </a:br>
            <a:endParaRPr lang="en-US" dirty="0"/>
          </a:p>
          <a:p>
            <a:r>
              <a:rPr lang="en-US" b="1" dirty="0"/>
              <a:t>4. Goal Test</a:t>
            </a:r>
          </a:p>
          <a:p>
            <a:r>
              <a:rPr lang="en-US" dirty="0"/>
              <a:t>If the </a:t>
            </a:r>
            <a:r>
              <a:rPr lang="en-US" b="1" dirty="0"/>
              <a:t>current node is the goal</a:t>
            </a:r>
            <a:r>
              <a:rPr lang="en-US" dirty="0"/>
              <a:t>, stop the algorithm.</a:t>
            </a:r>
          </a:p>
          <a:p>
            <a:r>
              <a:rPr lang="en-US" dirty="0"/>
              <a:t>The optimal path has been found.</a:t>
            </a:r>
          </a:p>
          <a:p>
            <a:br>
              <a:rPr lang="en-US" dirty="0"/>
            </a:br>
            <a:endParaRPr lang="en-US" dirty="0"/>
          </a:p>
          <a:p>
            <a:r>
              <a:rPr lang="en-US" b="1" dirty="0"/>
              <a:t>5. Path Reconstruction</a:t>
            </a:r>
          </a:p>
          <a:p>
            <a:r>
              <a:rPr lang="en-US" dirty="0"/>
              <a:t>Start from the </a:t>
            </a:r>
            <a:r>
              <a:rPr lang="en-US" b="1" dirty="0"/>
              <a:t>goal node</a:t>
            </a:r>
            <a:r>
              <a:rPr lang="en-US" dirty="0"/>
              <a:t>.</a:t>
            </a:r>
          </a:p>
          <a:p>
            <a:r>
              <a:rPr lang="en-US" dirty="0"/>
              <a:t>Follow the </a:t>
            </a:r>
            <a:r>
              <a:rPr lang="en-US" b="1" dirty="0"/>
              <a:t>parent pointers</a:t>
            </a:r>
            <a:r>
              <a:rPr lang="en-US" dirty="0"/>
              <a:t> backwards:</a:t>
            </a:r>
          </a:p>
          <a:p>
            <a:pPr rtl="0"/>
            <a:r>
              <a:rPr lang="en-US" sz="1200" kern="1200" dirty="0">
                <a:solidFill>
                  <a:schemeClr val="tx1"/>
                </a:solidFill>
                <a:latin typeface="+mn-lt"/>
                <a:ea typeface="+mn-ea"/>
                <a:cs typeface="+mn-cs"/>
              </a:rPr>
              <a:t>goal </a:t>
            </a:r>
            <a:r>
              <a:rPr lang="en-US" sz="1200" kern="1200" dirty="0">
                <a:solidFill>
                  <a:schemeClr val="tx1"/>
                </a:solidFill>
                <a:latin typeface="+mn-lt"/>
                <a:ea typeface="+mn-ea"/>
                <a:cs typeface="+mn-cs"/>
                <a:sym typeface="Wingdings" panose="05000000000000000000" pitchFamily="2" charset="2"/>
              </a:rPr>
              <a:t></a:t>
            </a:r>
            <a:r>
              <a:rPr lang="en-US" sz="1200" kern="1200" dirty="0">
                <a:solidFill>
                  <a:schemeClr val="tx1"/>
                </a:solidFill>
                <a:latin typeface="+mn-lt"/>
                <a:ea typeface="+mn-ea"/>
                <a:cs typeface="+mn-cs"/>
              </a:rPr>
              <a:t> parent </a:t>
            </a:r>
            <a:r>
              <a:rPr lang="en-US" sz="1200" kern="1200" dirty="0">
                <a:solidFill>
                  <a:schemeClr val="tx1"/>
                </a:solidFill>
                <a:latin typeface="+mn-lt"/>
                <a:ea typeface="+mn-ea"/>
                <a:cs typeface="+mn-cs"/>
                <a:sym typeface="Wingdings" panose="05000000000000000000" pitchFamily="2" charset="2"/>
              </a:rPr>
              <a:t></a:t>
            </a:r>
            <a:r>
              <a:rPr lang="en-US" sz="1200" kern="1200" dirty="0">
                <a:solidFill>
                  <a:schemeClr val="tx1"/>
                </a:solidFill>
                <a:latin typeface="+mn-lt"/>
                <a:ea typeface="+mn-ea"/>
                <a:cs typeface="+mn-cs"/>
              </a:rPr>
              <a:t> parent </a:t>
            </a:r>
            <a:r>
              <a:rPr lang="en-US" sz="1200" kern="1200" dirty="0">
                <a:solidFill>
                  <a:schemeClr val="tx1"/>
                </a:solidFill>
                <a:latin typeface="+mn-lt"/>
                <a:ea typeface="+mn-ea"/>
                <a:cs typeface="+mn-cs"/>
                <a:sym typeface="Wingdings" panose="05000000000000000000" pitchFamily="2" charset="2"/>
              </a:rPr>
              <a:t></a:t>
            </a:r>
            <a:r>
              <a:rPr lang="en-US" sz="1200" kern="1200" dirty="0">
                <a:solidFill>
                  <a:schemeClr val="tx1"/>
                </a:solidFill>
                <a:latin typeface="+mn-lt"/>
                <a:ea typeface="+mn-ea"/>
                <a:cs typeface="+mn-cs"/>
              </a:rPr>
              <a:t> ... </a:t>
            </a:r>
            <a:r>
              <a:rPr lang="en-US" sz="1200" kern="1200" dirty="0">
                <a:solidFill>
                  <a:schemeClr val="tx1"/>
                </a:solidFill>
                <a:latin typeface="+mn-lt"/>
                <a:ea typeface="+mn-ea"/>
                <a:cs typeface="+mn-cs"/>
                <a:sym typeface="Wingdings" panose="05000000000000000000" pitchFamily="2" charset="2"/>
              </a:rPr>
              <a:t></a:t>
            </a:r>
            <a:r>
              <a:rPr lang="en-US" sz="1200" kern="1200" dirty="0">
                <a:solidFill>
                  <a:schemeClr val="tx1"/>
                </a:solidFill>
                <a:latin typeface="+mn-lt"/>
                <a:ea typeface="+mn-ea"/>
                <a:cs typeface="+mn-cs"/>
              </a:rPr>
              <a:t> start</a:t>
            </a:r>
          </a:p>
          <a:p>
            <a:r>
              <a:rPr lang="en-US" dirty="0"/>
              <a:t>Reverse this sequence to obtain the final optimal path.</a:t>
            </a:r>
          </a:p>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36</a:t>
            </a:fld>
            <a:endParaRPr lang="en-US"/>
          </a:p>
        </p:txBody>
      </p:sp>
    </p:spTree>
    <p:extLst>
      <p:ext uri="{BB962C8B-B14F-4D97-AF65-F5344CB8AC3E}">
        <p14:creationId xmlns:p14="http://schemas.microsoft.com/office/powerpoint/2010/main" val="28569944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kern="1200" dirty="0">
                <a:solidFill>
                  <a:schemeClr val="tx1"/>
                </a:solidFill>
                <a:effectLst/>
                <a:latin typeface="+mn-lt"/>
                <a:ea typeface="+mn-ea"/>
                <a:cs typeface="+mn-cs"/>
              </a:rPr>
              <a:t>Hill climbing is a local search technique that iteratively improves a candidate solution by moving to neighboring states with better objective values. "Simple" (also called first-choice or greedy) hill climbing and "steepest-ascent" hill climbing differ in how they select the next neighbor.</a:t>
            </a:r>
          </a:p>
          <a:p>
            <a:pPr rtl="0"/>
            <a:r>
              <a:rPr lang="en-US" sz="1200" b="0" i="0" kern="1200" dirty="0">
                <a:solidFill>
                  <a:schemeClr val="tx1"/>
                </a:solidFill>
                <a:effectLst/>
                <a:latin typeface="+mn-lt"/>
                <a:ea typeface="+mn-ea"/>
                <a:cs typeface="+mn-cs"/>
              </a:rPr>
              <a:t>Key differences</a:t>
            </a:r>
          </a:p>
          <a:p>
            <a:pPr rtl="0"/>
            <a:r>
              <a:rPr lang="en-US" sz="1200" b="0" i="0" kern="1200" dirty="0">
                <a:solidFill>
                  <a:schemeClr val="tx1"/>
                </a:solidFill>
                <a:effectLst/>
                <a:latin typeface="+mn-lt"/>
                <a:ea typeface="+mn-ea"/>
                <a:cs typeface="+mn-cs"/>
              </a:rPr>
              <a:t>Neighbor selection rule</a:t>
            </a:r>
          </a:p>
          <a:p>
            <a:pPr lvl="1" rtl="0"/>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Simple hill climbing: Examine neighbors sequentially (in some order) and accept the first neighbor that improves the current state. Stop searching neighbors once an improvement is found.</a:t>
            </a:r>
          </a:p>
          <a:p>
            <a:pPr lvl="1" rtl="0"/>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Steepest-ascent hill climbing: Evaluate all neighbors and choose the one with the largest improvement (best objective value) before moving.</a:t>
            </a:r>
          </a:p>
          <a:p>
            <a:pPr rtl="0"/>
            <a:r>
              <a:rPr lang="en-US" sz="1200" b="0" i="0" kern="1200" dirty="0">
                <a:solidFill>
                  <a:schemeClr val="tx1"/>
                </a:solidFill>
                <a:effectLst/>
                <a:latin typeface="+mn-lt"/>
                <a:ea typeface="+mn-ea"/>
                <a:cs typeface="+mn-cs"/>
              </a:rPr>
              <a:t>Computational cost per step</a:t>
            </a:r>
          </a:p>
          <a:p>
            <a:pPr lvl="1" rtl="0"/>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Simple: Low — may evaluate only a small subset of neighbors until an improving one is found.</a:t>
            </a:r>
          </a:p>
          <a:p>
            <a:pPr lvl="1" rtl="0"/>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Steepest: Higher — must evaluate all neighbors each iteration.</a:t>
            </a:r>
          </a:p>
          <a:p>
            <a:pPr rtl="0"/>
            <a:r>
              <a:rPr lang="en-US" sz="1200" b="0" i="0" kern="1200" dirty="0">
                <a:solidFill>
                  <a:schemeClr val="tx1"/>
                </a:solidFill>
                <a:effectLst/>
                <a:latin typeface="+mn-lt"/>
                <a:ea typeface="+mn-ea"/>
                <a:cs typeface="+mn-cs"/>
              </a:rPr>
              <a:t>Quality of moves</a:t>
            </a:r>
          </a:p>
          <a:p>
            <a:pPr lvl="1" rtl="0"/>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Simple: May make smaller or suboptimal improvements because it stops at the first improving neighbor.</a:t>
            </a:r>
          </a:p>
          <a:p>
            <a:pPr lvl="1" rtl="0"/>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Steepest: Chooses the largest immediate improvement, often producing larger, more directed steps.</a:t>
            </a:r>
          </a:p>
          <a:p>
            <a:pPr rtl="0"/>
            <a:r>
              <a:rPr lang="en-US" sz="1200" b="0" i="0" kern="1200" dirty="0">
                <a:solidFill>
                  <a:schemeClr val="tx1"/>
                </a:solidFill>
                <a:effectLst/>
                <a:latin typeface="+mn-lt"/>
                <a:ea typeface="+mn-ea"/>
                <a:cs typeface="+mn-cs"/>
              </a:rPr>
              <a:t>Convergence behavior</a:t>
            </a:r>
          </a:p>
          <a:p>
            <a:pPr lvl="1" rtl="0"/>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Simple: Typically faster per iteration and can escape some plateaus if an early neighbor improves, but more prone to getting stuck in different local optima depending on neighbor ordering.</a:t>
            </a:r>
          </a:p>
          <a:p>
            <a:pPr lvl="1" rtl="0"/>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Steepest: More consistent and less sensitive to neighbor ordering; can reach better local maxima but still can get trapped in local optima and plateaus.</a:t>
            </a:r>
          </a:p>
          <a:p>
            <a:pPr rtl="0"/>
            <a:r>
              <a:rPr lang="en-US" sz="1200" b="0" i="0" kern="1200" dirty="0">
                <a:solidFill>
                  <a:schemeClr val="tx1"/>
                </a:solidFill>
                <a:effectLst/>
                <a:latin typeface="+mn-lt"/>
                <a:ea typeface="+mn-ea"/>
                <a:cs typeface="+mn-cs"/>
              </a:rPr>
              <a:t>Sensitivity to neighbor ordering</a:t>
            </a:r>
          </a:p>
          <a:p>
            <a:pPr lvl="1" rtl="0"/>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Simple: Highly sensitive—ordering can change final solution and runtime.</a:t>
            </a:r>
          </a:p>
          <a:p>
            <a:pPr lvl="1" rtl="0"/>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Steepest: Ordering-insensitive (ties aside), deterministic given the neighborhood.</a:t>
            </a:r>
          </a:p>
          <a:p>
            <a:pPr rtl="0"/>
            <a:r>
              <a:rPr lang="en-US" sz="1200" b="0" i="0" kern="1200" dirty="0">
                <a:solidFill>
                  <a:schemeClr val="tx1"/>
                </a:solidFill>
                <a:effectLst/>
                <a:latin typeface="+mn-lt"/>
                <a:ea typeface="+mn-ea"/>
                <a:cs typeface="+mn-cs"/>
              </a:rPr>
              <a:t>Use cases and trade-offs</a:t>
            </a:r>
          </a:p>
          <a:p>
            <a:pPr lvl="1" rtl="0"/>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Simple: When neighborhood size is large or evaluations are expensive, or when a fast approximate improvement is sufficient.</a:t>
            </a:r>
          </a:p>
          <a:p>
            <a:pPr lvl="1" rtl="0"/>
            <a:r>
              <a:rPr lang="en-US" sz="1200" b="0" i="0" kern="1200" dirty="0">
                <a:solidFill>
                  <a:schemeClr val="tx1"/>
                </a:solidFill>
                <a:effectLst/>
                <a:latin typeface="+mn-lt"/>
                <a:ea typeface="+mn-ea"/>
                <a:cs typeface="+mn-cs"/>
                <a:sym typeface="Wingdings" panose="05000000000000000000" pitchFamily="2" charset="2"/>
              </a:rPr>
              <a:t></a:t>
            </a:r>
            <a:r>
              <a:rPr lang="en-US" sz="1200" b="0" i="0" kern="1200" dirty="0">
                <a:solidFill>
                  <a:schemeClr val="tx1"/>
                </a:solidFill>
                <a:effectLst/>
                <a:latin typeface="+mn-lt"/>
                <a:ea typeface="+mn-ea"/>
                <a:cs typeface="+mn-cs"/>
              </a:rPr>
              <a:t>Steepest: When solution quality per move matters and full neighborhood evaluation is affordable; useful when fewer but more informed moves are desired.</a:t>
            </a:r>
          </a:p>
          <a:p>
            <a:pPr rtl="0"/>
            <a:r>
              <a:rPr lang="en-US" sz="1200" b="0" i="0" kern="1200" dirty="0">
                <a:solidFill>
                  <a:schemeClr val="tx1"/>
                </a:solidFill>
                <a:effectLst/>
                <a:latin typeface="+mn-lt"/>
                <a:ea typeface="+mn-ea"/>
                <a:cs typeface="+mn-cs"/>
              </a:rPr>
              <a:t>Practical notes</a:t>
            </a:r>
          </a:p>
          <a:p>
            <a:pPr rtl="0"/>
            <a:r>
              <a:rPr lang="en-US" sz="1200" b="0" i="0" kern="1200" dirty="0">
                <a:solidFill>
                  <a:schemeClr val="tx1"/>
                </a:solidFill>
                <a:effectLst/>
                <a:latin typeface="+mn-lt"/>
                <a:ea typeface="+mn-ea"/>
                <a:cs typeface="+mn-cs"/>
              </a:rPr>
              <a:t>Both are greedy and may require random restarts, simulated annealing, or tabu search to escape local optima.</a:t>
            </a:r>
          </a:p>
          <a:p>
            <a:pPr rtl="0"/>
            <a:r>
              <a:rPr lang="en-US" sz="1200" b="0" i="0" kern="1200" dirty="0">
                <a:solidFill>
                  <a:schemeClr val="tx1"/>
                </a:solidFill>
                <a:effectLst/>
                <a:latin typeface="+mn-lt"/>
                <a:ea typeface="+mn-ea"/>
                <a:cs typeface="+mn-cs"/>
              </a:rPr>
              <a:t>Hybrid strategies exist: sample a subset of neighbors (stochastic hill climbing) to balance cost and quality.</a:t>
            </a:r>
          </a:p>
          <a:p>
            <a:pPr rtl="0"/>
            <a:r>
              <a:rPr lang="en-US" sz="1200" b="0" i="0" kern="1200" dirty="0">
                <a:solidFill>
                  <a:schemeClr val="tx1"/>
                </a:solidFill>
                <a:effectLst/>
                <a:latin typeface="+mn-lt"/>
                <a:ea typeface="+mn-ea"/>
                <a:cs typeface="+mn-cs"/>
              </a:rPr>
              <a:t>In discrete problems with small neighborhoods, steepest-ascent often gives better results; in high-dimensional or expensive-evaluation problems, simple or stochastic variants are preferred.</a:t>
            </a:r>
          </a:p>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41</a:t>
            </a:fld>
            <a:endParaRPr lang="en-US"/>
          </a:p>
        </p:txBody>
      </p:sp>
    </p:spTree>
    <p:extLst>
      <p:ext uri="{BB962C8B-B14F-4D97-AF65-F5344CB8AC3E}">
        <p14:creationId xmlns:p14="http://schemas.microsoft.com/office/powerpoint/2010/main" val="3564535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Gradient Descent in Machine Learning</a:t>
            </a:r>
          </a:p>
          <a:p>
            <a:r>
              <a:rPr lang="en-US" dirty="0"/>
              <a:t>Gradient Descent is an optimization </a:t>
            </a:r>
            <a:r>
              <a:rPr lang="en-US" dirty="0" err="1"/>
              <a:t>algoMrithm</a:t>
            </a:r>
            <a:r>
              <a:rPr lang="en-US" dirty="0"/>
              <a:t> used to minimize a loss (cost) function in machine learning models. It helps the model find the best parameters (weights and bias) by iteratively moving in the direction of minimum error.</a:t>
            </a:r>
          </a:p>
          <a:p>
            <a:endParaRPr lang="en-US" dirty="0"/>
          </a:p>
          <a:p>
            <a:r>
              <a:rPr lang="en-US" dirty="0"/>
              <a:t>Think of standing on a mountain and trying to reach the lowest point (valley):</a:t>
            </a:r>
          </a:p>
          <a:p>
            <a:r>
              <a:rPr lang="en-US" dirty="0"/>
              <a:t>You look at the slope (gradient) around you</a:t>
            </a:r>
          </a:p>
          <a:p>
            <a:r>
              <a:rPr lang="en-US" dirty="0"/>
              <a:t>Take a small step downhill</a:t>
            </a:r>
          </a:p>
          <a:p>
            <a:r>
              <a:rPr lang="en-US" dirty="0"/>
              <a:t>Repeat until you reach the bottom</a:t>
            </a:r>
          </a:p>
          <a:p>
            <a:r>
              <a:rPr lang="en-US" dirty="0"/>
              <a:t>That downhill movement is gradient descent.</a:t>
            </a:r>
          </a:p>
        </p:txBody>
      </p:sp>
      <p:sp>
        <p:nvSpPr>
          <p:cNvPr id="4" name="Slide Number Placeholder 3"/>
          <p:cNvSpPr>
            <a:spLocks noGrp="1"/>
          </p:cNvSpPr>
          <p:nvPr>
            <p:ph type="sldNum" sz="quarter" idx="5"/>
          </p:nvPr>
        </p:nvSpPr>
        <p:spPr/>
        <p:txBody>
          <a:bodyPr/>
          <a:lstStyle/>
          <a:p>
            <a:fld id="{43B19DB7-DDC9-4C8C-8DC3-1D632FA3DF71}" type="slidenum">
              <a:rPr lang="en-US" smtClean="0"/>
              <a:t>51</a:t>
            </a:fld>
            <a:endParaRPr lang="en-US"/>
          </a:p>
        </p:txBody>
      </p:sp>
    </p:spTree>
    <p:extLst>
      <p:ext uri="{BB962C8B-B14F-4D97-AF65-F5344CB8AC3E}">
        <p14:creationId xmlns:p14="http://schemas.microsoft.com/office/powerpoint/2010/main" val="23916223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1. Gradient Descent in Linear Regression</a:t>
                </a:r>
              </a:p>
              <a:p>
                <a:r>
                  <a:rPr lang="en-US" b="1" dirty="0"/>
                  <a:t>Purpose</a:t>
                </a:r>
              </a:p>
              <a:p>
                <a:r>
                  <a:rPr lang="en-US" dirty="0"/>
                  <a:t>To find the </a:t>
                </a:r>
                <a:r>
                  <a:rPr lang="en-US" b="1" dirty="0"/>
                  <a:t>best-fit line</a:t>
                </a:r>
                <a:r>
                  <a:rPr lang="en-US" dirty="0"/>
                  <a:t> by minimizing the </a:t>
                </a:r>
                <a:r>
                  <a:rPr lang="en-US" b="1" dirty="0"/>
                  <a:t>Mean Squared Error (MSE)</a:t>
                </a:r>
                <a:r>
                  <a:rPr lang="en-US" dirty="0"/>
                  <a:t>.</a:t>
                </a:r>
              </a:p>
              <a:p>
                <a:r>
                  <a:rPr lang="en-US" b="1" dirty="0"/>
                  <a:t>Model</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𝑦</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𝑤𝑥</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𝑏</m:t>
                      </m:r>
                    </m:oMath>
                  </m:oMathPara>
                </a14:m>
                <a:endParaRPr lang="en-US" dirty="0"/>
              </a:p>
              <a:p>
                <a:r>
                  <a:rPr lang="en-US" b="1" dirty="0"/>
                  <a:t>Cost Function</a:t>
                </a:r>
              </a:p>
              <a:p>
                <a:r>
                  <a:rPr lang="en-US" b="1" dirty="0"/>
                  <a:t>Role of Gradient Descent</a:t>
                </a:r>
              </a:p>
              <a:p>
                <a:r>
                  <a:rPr lang="en-US" dirty="0"/>
                  <a:t>Computes gradients with respect to </a:t>
                </a:r>
                <a:r>
                  <a:rPr lang="en-US" b="1" dirty="0"/>
                  <a:t>w</a:t>
                </a:r>
                <a:r>
                  <a:rPr lang="en-US" dirty="0"/>
                  <a:t> and </a:t>
                </a:r>
                <a:r>
                  <a:rPr lang="en-US" b="1" dirty="0"/>
                  <a:t>b</a:t>
                </a:r>
                <a:endParaRPr lang="en-US" dirty="0"/>
              </a:p>
              <a:p>
                <a:r>
                  <a:rPr lang="en-US" dirty="0"/>
                  <a:t>Updates parameters iteratively:</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𝑤</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𝑤</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𝛼</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𝐽</m:t>
                          </m:r>
                        </m:num>
                        <m:den>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𝑤</m:t>
                          </m:r>
                        </m:den>
                      </m:f>
                    </m:oMath>
                  </m:oMathPara>
                </a14:m>
                <a:endParaRPr lang="ar-AE" dirty="0"/>
              </a:p>
              <a:p>
                <a:r>
                  <a:rPr lang="en-US" b="1" dirty="0"/>
                  <a:t>Why Needed?</a:t>
                </a:r>
              </a:p>
              <a:p>
                <a:r>
                  <a:rPr lang="en-US" dirty="0"/>
                  <a:t>Closed-form solution becomes expensive for </a:t>
                </a:r>
                <a:r>
                  <a:rPr lang="en-US" b="1" dirty="0"/>
                  <a:t>large datasets</a:t>
                </a:r>
                <a:endParaRPr lang="en-US" dirty="0"/>
              </a:p>
              <a:p>
                <a:r>
                  <a:rPr lang="en-US" dirty="0"/>
                  <a:t>Gradient descent is </a:t>
                </a:r>
                <a:r>
                  <a:rPr lang="en-US" b="1" dirty="0"/>
                  <a:t>faster and scalable</a:t>
                </a:r>
                <a:endParaRPr lang="en-US" dirty="0"/>
              </a:p>
              <a:p>
                <a:r>
                  <a:rPr lang="en-US" dirty="0"/>
                  <a:t>✔ Used in </a:t>
                </a:r>
                <a:r>
                  <a:rPr lang="en-US" b="1" dirty="0"/>
                  <a:t>large-scale linear regression problems</a:t>
                </a:r>
                <a:endParaRPr lang="en-US" dirty="0"/>
              </a:p>
              <a:p>
                <a:br>
                  <a:rPr lang="en-US" dirty="0"/>
                </a:br>
                <a:endParaRPr lang="en-US" dirty="0"/>
              </a:p>
              <a:p>
                <a:r>
                  <a:rPr lang="en-US" b="1" dirty="0"/>
                  <a:t>2. Gradient Descent in Logistic Regression</a:t>
                </a:r>
              </a:p>
              <a:p>
                <a:r>
                  <a:rPr lang="en-US" b="1" dirty="0"/>
                  <a:t>Purpose</a:t>
                </a:r>
              </a:p>
              <a:p>
                <a:r>
                  <a:rPr lang="en-US" dirty="0"/>
                  <a:t>To learn parameters for </a:t>
                </a:r>
                <a:r>
                  <a:rPr lang="en-US" b="1" dirty="0"/>
                  <a:t>binary or multi-class classification</a:t>
                </a:r>
                <a:r>
                  <a:rPr lang="en-US" dirty="0"/>
                  <a:t>.</a:t>
                </a:r>
              </a:p>
              <a:p>
                <a:r>
                  <a:rPr lang="en-US" b="1" dirty="0"/>
                  <a:t>Model</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𝑦</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𝜎</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𝑤𝑥</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𝑏</m:t>
                          </m:r>
                        </m:e>
                      </m:d>
                    </m:oMath>
                  </m:oMathPara>
                </a14:m>
                <a:endParaRPr lang="ar-AE" dirty="0"/>
              </a:p>
              <a:p>
                <a:r>
                  <a:rPr lang="en-US" b="1"/>
                  <a:t>Role </a:t>
                </a:r>
                <a:r>
                  <a:rPr lang="en-US" b="1" dirty="0"/>
                  <a:t>of Gradient Descent</a:t>
                </a:r>
              </a:p>
              <a:p>
                <a:r>
                  <a:rPr lang="en-US" dirty="0"/>
                  <a:t>Minimizes </a:t>
                </a:r>
                <a:r>
                  <a:rPr lang="en-US" b="1" dirty="0"/>
                  <a:t>cross-entropy loss</a:t>
                </a:r>
                <a:endParaRPr lang="en-US" dirty="0"/>
              </a:p>
              <a:p>
                <a:r>
                  <a:rPr lang="en-US" dirty="0"/>
                  <a:t>Adjusts weights so predicted probabilities match actual labels</a:t>
                </a:r>
              </a:p>
              <a:p>
                <a:r>
                  <a:rPr lang="en-US" b="1" dirty="0"/>
                  <a:t>Why Gradient Descent?</a:t>
                </a:r>
              </a:p>
              <a:p>
                <a:r>
                  <a:rPr lang="en-US" dirty="0"/>
                  <a:t>Loss function is </a:t>
                </a:r>
                <a:r>
                  <a:rPr lang="en-US" b="1" dirty="0"/>
                  <a:t>non-linear</a:t>
                </a:r>
                <a:endParaRPr lang="en-US" dirty="0"/>
              </a:p>
              <a:p>
                <a:r>
                  <a:rPr lang="en-US" dirty="0"/>
                  <a:t>No direct mathematical solution</a:t>
                </a:r>
              </a:p>
              <a:p>
                <a:r>
                  <a:rPr lang="en-US" dirty="0"/>
                  <a:t>✔ Essential for </a:t>
                </a:r>
                <a:r>
                  <a:rPr lang="en-US" b="1" dirty="0"/>
                  <a:t>classification problems</a:t>
                </a:r>
                <a:endParaRPr lang="en-US" dirty="0"/>
              </a:p>
              <a:p>
                <a:br>
                  <a:rPr lang="en-US" dirty="0"/>
                </a:br>
                <a:endParaRPr lang="en-US" dirty="0"/>
              </a:p>
              <a:p>
                <a:r>
                  <a:rPr lang="en-US" b="1" dirty="0"/>
                  <a:t>3. Gradient Descent in Neural Networks</a:t>
                </a:r>
              </a:p>
              <a:p>
                <a:r>
                  <a:rPr lang="en-US" b="1" dirty="0"/>
                  <a:t>Purpose</a:t>
                </a:r>
              </a:p>
              <a:p>
                <a:r>
                  <a:rPr lang="en-US" dirty="0"/>
                  <a:t>To train networks with </a:t>
                </a:r>
                <a:r>
                  <a:rPr lang="en-US" b="1" dirty="0"/>
                  <a:t>multiple layers and millions of parameters</a:t>
                </a:r>
                <a:endParaRPr lang="en-US" dirty="0"/>
              </a:p>
              <a:p>
                <a:r>
                  <a:rPr lang="en-US" b="1" dirty="0"/>
                  <a:t>Components</a:t>
                </a:r>
              </a:p>
              <a:p>
                <a:r>
                  <a:rPr lang="en-US" dirty="0"/>
                  <a:t>Weights</a:t>
                </a:r>
              </a:p>
              <a:p>
                <a:r>
                  <a:rPr lang="en-US" dirty="0"/>
                  <a:t>Biases</a:t>
                </a:r>
              </a:p>
              <a:p>
                <a:r>
                  <a:rPr lang="en-US" dirty="0"/>
                  <a:t>Activation functions</a:t>
                </a:r>
              </a:p>
              <a:p>
                <a:r>
                  <a:rPr lang="en-US" b="1" dirty="0"/>
                  <a:t>Role of Gradient Descent</a:t>
                </a:r>
              </a:p>
              <a:p>
                <a:r>
                  <a:rPr lang="en-US" dirty="0"/>
                  <a:t>Uses </a:t>
                </a:r>
                <a:r>
                  <a:rPr lang="en-US" b="1" dirty="0"/>
                  <a:t>Backpropagation</a:t>
                </a:r>
                <a:r>
                  <a:rPr lang="en-US" dirty="0"/>
                  <a:t> to compute gradients</a:t>
                </a:r>
              </a:p>
              <a:p>
                <a:r>
                  <a:rPr lang="en-US" dirty="0"/>
                  <a:t>Updates parameters layer by layer</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𝑤</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𝑤</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𝛼</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𝐿𝑜𝑠𝑠</m:t>
                          </m:r>
                        </m:num>
                        <m:den>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𝑤</m:t>
                          </m:r>
                        </m:den>
                      </m:f>
                    </m:oMath>
                  </m:oMathPara>
                </a14:m>
                <a:endParaRPr lang="ar-AE" dirty="0"/>
              </a:p>
              <a:p>
                <a:r>
                  <a:rPr lang="en-US" b="1" dirty="0"/>
                  <a:t>Why Critical?</a:t>
                </a:r>
              </a:p>
              <a:p>
                <a:r>
                  <a:rPr lang="en-US" dirty="0"/>
                  <a:t>Neural networks cannot be trained </a:t>
                </a:r>
                <a:r>
                  <a:rPr lang="en-US" b="1" dirty="0"/>
                  <a:t>without gradient descent</a:t>
                </a:r>
                <a:endParaRPr lang="en-US" dirty="0"/>
              </a:p>
              <a:p>
                <a:r>
                  <a:rPr lang="en-US" dirty="0"/>
                  <a:t>Enables learning of </a:t>
                </a:r>
                <a:r>
                  <a:rPr lang="en-US" b="1" dirty="0"/>
                  <a:t>complex patterns</a:t>
                </a:r>
                <a:endParaRPr lang="en-US" dirty="0"/>
              </a:p>
              <a:p>
                <a:r>
                  <a:rPr lang="en-US" dirty="0"/>
                  <a:t>✔ Backbone of </a:t>
                </a:r>
                <a:r>
                  <a:rPr lang="en-US" b="1" dirty="0"/>
                  <a:t>AI learning process</a:t>
                </a:r>
                <a:endParaRPr lang="en-US" dirty="0"/>
              </a:p>
              <a:p>
                <a:br>
                  <a:rPr lang="en-US" dirty="0"/>
                </a:br>
                <a:endParaRPr lang="en-US" dirty="0"/>
              </a:p>
              <a:p>
                <a:r>
                  <a:rPr lang="en-US" b="1" dirty="0"/>
                  <a:t>4. Gradient Descent in Support Vector Machines (SVM)</a:t>
                </a:r>
              </a:p>
              <a:p>
                <a:r>
                  <a:rPr lang="en-US" b="1" dirty="0"/>
                  <a:t>Purpose</a:t>
                </a:r>
              </a:p>
              <a:p>
                <a:r>
                  <a:rPr lang="en-US" dirty="0"/>
                  <a:t>To find the </a:t>
                </a:r>
                <a:r>
                  <a:rPr lang="en-US" b="1" dirty="0"/>
                  <a:t>optimal separating hyperplane</a:t>
                </a:r>
                <a:endParaRPr lang="en-US" dirty="0"/>
              </a:p>
              <a:p>
                <a:r>
                  <a:rPr lang="en-US" b="1" dirty="0"/>
                  <a:t>Loss Function</a:t>
                </a:r>
              </a:p>
              <a:p>
                <a:r>
                  <a:rPr lang="en-US" b="1" dirty="0"/>
                  <a:t>Hinge loss</a:t>
                </a:r>
                <a:endParaRPr lang="en-US" dirty="0"/>
              </a:p>
              <a:p>
                <a:r>
                  <a:rPr lang="en-US" b="1" dirty="0"/>
                  <a:t>Role of Gradient Descent</a:t>
                </a:r>
              </a:p>
              <a:p>
                <a:r>
                  <a:rPr lang="en-US" dirty="0"/>
                  <a:t>Minimizes hinge loss</a:t>
                </a:r>
              </a:p>
              <a:p>
                <a:r>
                  <a:rPr lang="en-US" dirty="0"/>
                  <a:t>Used especially in:</a:t>
                </a:r>
              </a:p>
              <a:p>
                <a:pPr lvl="1"/>
                <a:r>
                  <a:rPr lang="en-US" b="1" dirty="0"/>
                  <a:t>Large-scale SVM</a:t>
                </a:r>
                <a:endParaRPr lang="en-US" dirty="0"/>
              </a:p>
              <a:p>
                <a:pPr lvl="1"/>
                <a:r>
                  <a:rPr lang="en-US" b="1" dirty="0"/>
                  <a:t>Soft-margin SVM</a:t>
                </a:r>
                <a:endParaRPr lang="en-US" dirty="0"/>
              </a:p>
              <a:p>
                <a:r>
                  <a:rPr lang="en-US" b="1" dirty="0"/>
                  <a:t>Why Gradient Descent?</a:t>
                </a:r>
              </a:p>
              <a:p>
                <a:r>
                  <a:rPr lang="en-US" dirty="0"/>
                  <a:t>Quadratic programming is expensive for big datasets</a:t>
                </a:r>
              </a:p>
              <a:p>
                <a:r>
                  <a:rPr lang="en-US" dirty="0"/>
                  <a:t>Gradient-based methods are faster</a:t>
                </a:r>
              </a:p>
              <a:p>
                <a:r>
                  <a:rPr lang="en-US" dirty="0"/>
                  <a:t>✔ Used in </a:t>
                </a:r>
                <a:r>
                  <a:rPr lang="en-US" b="1" dirty="0"/>
                  <a:t>practical, large-data SVMs</a:t>
                </a:r>
                <a:endParaRPr lang="en-US" dirty="0"/>
              </a:p>
              <a:p>
                <a:br>
                  <a:rPr lang="en-US" dirty="0"/>
                </a:br>
                <a:endParaRPr lang="en-US" dirty="0"/>
              </a:p>
              <a:p>
                <a:r>
                  <a:rPr lang="en-US" b="1" dirty="0"/>
                  <a:t>5. Gradient Descent in Deep Learning Models</a:t>
                </a:r>
              </a:p>
              <a:p>
                <a:r>
                  <a:rPr lang="en-US" b="1" dirty="0"/>
                  <a:t>Examples</a:t>
                </a:r>
              </a:p>
              <a:p>
                <a:r>
                  <a:rPr lang="en-US" dirty="0"/>
                  <a:t>CNN (Image recognition)</a:t>
                </a:r>
              </a:p>
              <a:p>
                <a:r>
                  <a:rPr lang="en-US" dirty="0"/>
                  <a:t>RNN (Speech, text)</a:t>
                </a:r>
              </a:p>
              <a:p>
                <a:r>
                  <a:rPr lang="en-US" dirty="0"/>
                  <a:t>Transformers</a:t>
                </a:r>
              </a:p>
              <a:p>
                <a:r>
                  <a:rPr lang="en-US" b="1" dirty="0"/>
                  <a:t>Role</a:t>
                </a:r>
              </a:p>
              <a:p>
                <a:r>
                  <a:rPr lang="en-US" dirty="0"/>
                  <a:t>Optimizes </a:t>
                </a:r>
                <a:r>
                  <a:rPr lang="en-US" b="1" dirty="0"/>
                  <a:t>millions to billions of parameters</a:t>
                </a:r>
                <a:endParaRPr lang="en-US" dirty="0"/>
              </a:p>
              <a:p>
                <a:r>
                  <a:rPr lang="en-US" dirty="0"/>
                  <a:t>Uses advanced variants:</a:t>
                </a:r>
              </a:p>
              <a:p>
                <a:pPr lvl="1"/>
                <a:r>
                  <a:rPr lang="en-US" dirty="0"/>
                  <a:t>SGD</a:t>
                </a:r>
              </a:p>
              <a:p>
                <a:pPr lvl="1"/>
                <a:r>
                  <a:rPr lang="en-US" dirty="0"/>
                  <a:t>Adam</a:t>
                </a:r>
              </a:p>
              <a:p>
                <a:pPr lvl="1"/>
                <a:r>
                  <a:rPr lang="en-US" dirty="0" err="1"/>
                  <a:t>RMSProp</a:t>
                </a:r>
                <a:endParaRPr lang="en-US" dirty="0"/>
              </a:p>
              <a:p>
                <a:r>
                  <a:rPr lang="en-US" b="1" dirty="0"/>
                  <a:t>Why Gradient Descent is Essential?</a:t>
                </a:r>
              </a:p>
              <a:p>
                <a:r>
                  <a:rPr lang="en-US" dirty="0"/>
                  <a:t>Deep models have </a:t>
                </a:r>
                <a:r>
                  <a:rPr lang="en-US" b="1" dirty="0"/>
                  <a:t>high-dimensional loss surfaces</a:t>
                </a:r>
                <a:endParaRPr lang="en-US" dirty="0"/>
              </a:p>
              <a:p>
                <a:r>
                  <a:rPr lang="en-US" dirty="0"/>
                  <a:t>Only iterative optimization is feasible</a:t>
                </a:r>
              </a:p>
              <a:p>
                <a:r>
                  <a:rPr lang="en-US" dirty="0"/>
                  <a:t>✔ Makes </a:t>
                </a:r>
                <a:r>
                  <a:rPr lang="en-US" b="1" dirty="0"/>
                  <a:t>modern AI systems </a:t>
                </a:r>
                <a:r>
                  <a:rPr lang="en-US" b="1" dirty="0" err="1"/>
                  <a:t>possibl</a:t>
                </a:r>
                <a:endParaRPr lang="en-US" dirty="0"/>
              </a:p>
              <a:p>
                <a:endParaRPr lang="en-US" dirty="0"/>
              </a:p>
            </p:txBody>
          </p:sp>
        </mc:Choice>
        <mc:Fallback xmlns="">
          <p:sp>
            <p:nvSpPr>
              <p:cNvPr id="3" name="Notes Placeholder 2"/>
              <p:cNvSpPr>
                <a:spLocks noGrp="1"/>
              </p:cNvSpPr>
              <p:nvPr>
                <p:ph type="body" idx="1"/>
              </p:nvPr>
            </p:nvSpPr>
            <p:spPr/>
            <p:txBody>
              <a:bodyPr/>
              <a:lstStyle/>
              <a:p>
                <a:r>
                  <a:rPr lang="en-US" b="1" dirty="0"/>
                  <a:t>1. Gradient Descent in Linear Regression</a:t>
                </a:r>
              </a:p>
              <a:p>
                <a:r>
                  <a:rPr lang="en-US" b="1" dirty="0"/>
                  <a:t>Purpose</a:t>
                </a:r>
              </a:p>
              <a:p>
                <a:r>
                  <a:rPr lang="en-US" dirty="0"/>
                  <a:t>To find the </a:t>
                </a:r>
                <a:r>
                  <a:rPr lang="en-US" b="1" dirty="0"/>
                  <a:t>best-fit line</a:t>
                </a:r>
                <a:r>
                  <a:rPr lang="en-US" dirty="0"/>
                  <a:t> by minimizing the </a:t>
                </a:r>
                <a:r>
                  <a:rPr lang="en-US" b="1" dirty="0"/>
                  <a:t>Mean Squared Error (MSE)</a:t>
                </a:r>
                <a:r>
                  <a:rPr lang="en-US" dirty="0"/>
                  <a:t>.</a:t>
                </a:r>
              </a:p>
              <a:p>
                <a:r>
                  <a:rPr lang="en-US" b="1" dirty="0"/>
                  <a:t>Model</a:t>
                </a:r>
              </a:p>
              <a:p>
                <a:r>
                  <a:rPr lang="en-US" sz="1200" i="0" kern="1200">
                    <a:solidFill>
                      <a:schemeClr val="tx1"/>
                    </a:solidFill>
                    <a:latin typeface="+mn-lt"/>
                    <a:ea typeface="+mn-ea"/>
                    <a:cs typeface="+mn-cs"/>
                  </a:rPr>
                  <a:t>𝑦=𝑤𝑥+𝑏</a:t>
                </a:r>
                <a:endParaRPr lang="en-US" dirty="0"/>
              </a:p>
              <a:p>
                <a:r>
                  <a:rPr lang="en-US" b="1" dirty="0"/>
                  <a:t>Cost Function</a:t>
                </a:r>
              </a:p>
              <a:p>
                <a:r>
                  <a:rPr lang="en-US" b="1" dirty="0"/>
                  <a:t>Role of Gradient Descent</a:t>
                </a:r>
              </a:p>
              <a:p>
                <a:r>
                  <a:rPr lang="en-US" dirty="0"/>
                  <a:t>Computes gradients with respect to </a:t>
                </a:r>
                <a:r>
                  <a:rPr lang="en-US" b="1" dirty="0"/>
                  <a:t>w</a:t>
                </a:r>
                <a:r>
                  <a:rPr lang="en-US" dirty="0"/>
                  <a:t> and </a:t>
                </a:r>
                <a:r>
                  <a:rPr lang="en-US" b="1" dirty="0"/>
                  <a:t>b</a:t>
                </a:r>
                <a:endParaRPr lang="en-US" dirty="0"/>
              </a:p>
              <a:p>
                <a:r>
                  <a:rPr lang="en-US" dirty="0"/>
                  <a:t>Updates parameters iteratively:</a:t>
                </a:r>
              </a:p>
              <a:p>
                <a:r>
                  <a:rPr lang="en-US" sz="1200" i="0" kern="1200">
                    <a:solidFill>
                      <a:schemeClr val="tx1"/>
                    </a:solidFill>
                    <a:latin typeface="+mn-lt"/>
                    <a:ea typeface="+mn-ea"/>
                    <a:cs typeface="+mn-cs"/>
                  </a:rPr>
                  <a:t>𝑤=𝑤−𝛼</a:t>
                </a:r>
                <a:r>
                  <a:rPr lang="ar-AE" sz="1200" i="0" kern="1200">
                    <a:solidFill>
                      <a:schemeClr val="tx1"/>
                    </a:solidFill>
                    <a:latin typeface="+mn-lt"/>
                    <a:ea typeface="+mn-ea"/>
                    <a:cs typeface="+mn-cs"/>
                  </a:rPr>
                  <a:t> ∂𝐽/∂𝑤</a:t>
                </a:r>
                <a:endParaRPr lang="ar-AE" dirty="0"/>
              </a:p>
              <a:p>
                <a:r>
                  <a:rPr lang="en-US" b="1" dirty="0"/>
                  <a:t>Why Needed?</a:t>
                </a:r>
              </a:p>
              <a:p>
                <a:r>
                  <a:rPr lang="en-US" dirty="0"/>
                  <a:t>Closed-form solution becomes expensive for </a:t>
                </a:r>
                <a:r>
                  <a:rPr lang="en-US" b="1" dirty="0"/>
                  <a:t>large datasets</a:t>
                </a:r>
                <a:endParaRPr lang="en-US" dirty="0"/>
              </a:p>
              <a:p>
                <a:r>
                  <a:rPr lang="en-US" dirty="0"/>
                  <a:t>Gradient descent is </a:t>
                </a:r>
                <a:r>
                  <a:rPr lang="en-US" b="1" dirty="0"/>
                  <a:t>faster and scalable</a:t>
                </a:r>
                <a:endParaRPr lang="en-US" dirty="0"/>
              </a:p>
              <a:p>
                <a:r>
                  <a:rPr lang="en-US" dirty="0"/>
                  <a:t>✔ Used in </a:t>
                </a:r>
                <a:r>
                  <a:rPr lang="en-US" b="1" dirty="0"/>
                  <a:t>large-scale linear regression problems</a:t>
                </a:r>
                <a:endParaRPr lang="en-US" dirty="0"/>
              </a:p>
              <a:p>
                <a:br>
                  <a:rPr lang="en-US" dirty="0"/>
                </a:br>
                <a:endParaRPr lang="en-US" dirty="0"/>
              </a:p>
              <a:p>
                <a:r>
                  <a:rPr lang="en-US" b="1" dirty="0"/>
                  <a:t>2. Gradient Descent in Logistic Regression</a:t>
                </a:r>
              </a:p>
              <a:p>
                <a:r>
                  <a:rPr lang="en-US" b="1" dirty="0"/>
                  <a:t>Purpose</a:t>
                </a:r>
              </a:p>
              <a:p>
                <a:r>
                  <a:rPr lang="en-US" dirty="0"/>
                  <a:t>To learn parameters for </a:t>
                </a:r>
                <a:r>
                  <a:rPr lang="en-US" b="1" dirty="0"/>
                  <a:t>binary or multi-class classification</a:t>
                </a:r>
                <a:r>
                  <a:rPr lang="en-US" dirty="0"/>
                  <a:t>.</a:t>
                </a:r>
              </a:p>
              <a:p>
                <a:r>
                  <a:rPr lang="en-US" b="1" dirty="0"/>
                  <a:t>Model</a:t>
                </a:r>
              </a:p>
              <a:p>
                <a:r>
                  <a:rPr lang="en-US" sz="1200" i="0" kern="1200">
                    <a:solidFill>
                      <a:schemeClr val="tx1"/>
                    </a:solidFill>
                    <a:latin typeface="+mn-lt"/>
                    <a:ea typeface="+mn-ea"/>
                    <a:cs typeface="+mn-cs"/>
                  </a:rPr>
                  <a:t>𝑦=𝜎</a:t>
                </a:r>
                <a:r>
                  <a:rPr lang="ar-AE" sz="1200" i="0" kern="1200">
                    <a:solidFill>
                      <a:schemeClr val="tx1"/>
                    </a:solidFill>
                    <a:latin typeface="+mn-lt"/>
                    <a:ea typeface="+mn-ea"/>
                    <a:cs typeface="+mn-cs"/>
                  </a:rPr>
                  <a:t>(𝑤𝑥+𝑏)</a:t>
                </a:r>
                <a:endParaRPr lang="ar-AE" dirty="0"/>
              </a:p>
              <a:p>
                <a:r>
                  <a:rPr lang="en-US" b="1"/>
                  <a:t>Role </a:t>
                </a:r>
                <a:r>
                  <a:rPr lang="en-US" b="1" dirty="0"/>
                  <a:t>of Gradient Descent</a:t>
                </a:r>
              </a:p>
              <a:p>
                <a:r>
                  <a:rPr lang="en-US" dirty="0"/>
                  <a:t>Minimizes </a:t>
                </a:r>
                <a:r>
                  <a:rPr lang="en-US" b="1" dirty="0"/>
                  <a:t>cross-entropy loss</a:t>
                </a:r>
                <a:endParaRPr lang="en-US" dirty="0"/>
              </a:p>
              <a:p>
                <a:r>
                  <a:rPr lang="en-US" dirty="0"/>
                  <a:t>Adjusts weights so predicted probabilities match actual labels</a:t>
                </a:r>
              </a:p>
              <a:p>
                <a:r>
                  <a:rPr lang="en-US" b="1" dirty="0"/>
                  <a:t>Why Gradient Descent?</a:t>
                </a:r>
              </a:p>
              <a:p>
                <a:r>
                  <a:rPr lang="en-US" dirty="0"/>
                  <a:t>Loss function is </a:t>
                </a:r>
                <a:r>
                  <a:rPr lang="en-US" b="1" dirty="0"/>
                  <a:t>non-linear</a:t>
                </a:r>
                <a:endParaRPr lang="en-US" dirty="0"/>
              </a:p>
              <a:p>
                <a:r>
                  <a:rPr lang="en-US" dirty="0"/>
                  <a:t>No direct mathematical solution</a:t>
                </a:r>
              </a:p>
              <a:p>
                <a:r>
                  <a:rPr lang="en-US" dirty="0"/>
                  <a:t>✔ Essential for </a:t>
                </a:r>
                <a:r>
                  <a:rPr lang="en-US" b="1" dirty="0"/>
                  <a:t>classification problems</a:t>
                </a:r>
                <a:endParaRPr lang="en-US" dirty="0"/>
              </a:p>
              <a:p>
                <a:br>
                  <a:rPr lang="en-US" dirty="0"/>
                </a:br>
                <a:endParaRPr lang="en-US" dirty="0"/>
              </a:p>
              <a:p>
                <a:r>
                  <a:rPr lang="en-US" b="1" dirty="0"/>
                  <a:t>3. Gradient Descent in Neural Networks</a:t>
                </a:r>
              </a:p>
              <a:p>
                <a:r>
                  <a:rPr lang="en-US" b="1" dirty="0"/>
                  <a:t>Purpose</a:t>
                </a:r>
              </a:p>
              <a:p>
                <a:r>
                  <a:rPr lang="en-US" dirty="0"/>
                  <a:t>To train networks with </a:t>
                </a:r>
                <a:r>
                  <a:rPr lang="en-US" b="1" dirty="0"/>
                  <a:t>multiple layers and millions of parameters</a:t>
                </a:r>
                <a:endParaRPr lang="en-US" dirty="0"/>
              </a:p>
              <a:p>
                <a:r>
                  <a:rPr lang="en-US" b="1" dirty="0"/>
                  <a:t>Components</a:t>
                </a:r>
              </a:p>
              <a:p>
                <a:r>
                  <a:rPr lang="en-US" dirty="0"/>
                  <a:t>Weights</a:t>
                </a:r>
              </a:p>
              <a:p>
                <a:r>
                  <a:rPr lang="en-US" dirty="0"/>
                  <a:t>Biases</a:t>
                </a:r>
              </a:p>
              <a:p>
                <a:r>
                  <a:rPr lang="en-US" dirty="0"/>
                  <a:t>Activation functions</a:t>
                </a:r>
              </a:p>
              <a:p>
                <a:r>
                  <a:rPr lang="en-US" b="1" dirty="0"/>
                  <a:t>Role of Gradient Descent</a:t>
                </a:r>
              </a:p>
              <a:p>
                <a:r>
                  <a:rPr lang="en-US" dirty="0"/>
                  <a:t>Uses </a:t>
                </a:r>
                <a:r>
                  <a:rPr lang="en-US" b="1" dirty="0"/>
                  <a:t>Backpropagation</a:t>
                </a:r>
                <a:r>
                  <a:rPr lang="en-US" dirty="0"/>
                  <a:t> to compute gradients</a:t>
                </a:r>
              </a:p>
              <a:p>
                <a:r>
                  <a:rPr lang="en-US" dirty="0"/>
                  <a:t>Updates parameters layer by layer</a:t>
                </a:r>
              </a:p>
              <a:p>
                <a:r>
                  <a:rPr lang="en-US" sz="1200" i="0" kern="1200">
                    <a:solidFill>
                      <a:schemeClr val="tx1"/>
                    </a:solidFill>
                    <a:latin typeface="+mn-lt"/>
                    <a:ea typeface="+mn-ea"/>
                    <a:cs typeface="+mn-cs"/>
                  </a:rPr>
                  <a:t>𝑤=𝑤−𝛼</a:t>
                </a:r>
                <a:r>
                  <a:rPr lang="ar-AE" sz="1200" i="0" kern="1200">
                    <a:solidFill>
                      <a:schemeClr val="tx1"/>
                    </a:solidFill>
                    <a:latin typeface="+mn-lt"/>
                    <a:ea typeface="+mn-ea"/>
                    <a:cs typeface="+mn-cs"/>
                  </a:rPr>
                  <a:t> ∂𝐿𝑜𝑠𝑠/∂𝑤</a:t>
                </a:r>
                <a:endParaRPr lang="ar-AE" dirty="0"/>
              </a:p>
              <a:p>
                <a:r>
                  <a:rPr lang="en-US" b="1" dirty="0"/>
                  <a:t>Why Critical?</a:t>
                </a:r>
              </a:p>
              <a:p>
                <a:r>
                  <a:rPr lang="en-US" dirty="0"/>
                  <a:t>Neural networks cannot be trained </a:t>
                </a:r>
                <a:r>
                  <a:rPr lang="en-US" b="1" dirty="0"/>
                  <a:t>without gradient descent</a:t>
                </a:r>
                <a:endParaRPr lang="en-US" dirty="0"/>
              </a:p>
              <a:p>
                <a:r>
                  <a:rPr lang="en-US" dirty="0"/>
                  <a:t>Enables learning of </a:t>
                </a:r>
                <a:r>
                  <a:rPr lang="en-US" b="1" dirty="0"/>
                  <a:t>complex patterns</a:t>
                </a:r>
                <a:endParaRPr lang="en-US" dirty="0"/>
              </a:p>
              <a:p>
                <a:r>
                  <a:rPr lang="en-US" dirty="0"/>
                  <a:t>✔ Backbone of </a:t>
                </a:r>
                <a:r>
                  <a:rPr lang="en-US" b="1" dirty="0"/>
                  <a:t>AI learning process</a:t>
                </a:r>
                <a:endParaRPr lang="en-US" dirty="0"/>
              </a:p>
              <a:p>
                <a:br>
                  <a:rPr lang="en-US" dirty="0"/>
                </a:br>
                <a:endParaRPr lang="en-US" dirty="0"/>
              </a:p>
              <a:p>
                <a:r>
                  <a:rPr lang="en-US" b="1" dirty="0"/>
                  <a:t>4. Gradient Descent in Support Vector Machines (SVM)</a:t>
                </a:r>
              </a:p>
              <a:p>
                <a:r>
                  <a:rPr lang="en-US" b="1" dirty="0"/>
                  <a:t>Purpose</a:t>
                </a:r>
              </a:p>
              <a:p>
                <a:r>
                  <a:rPr lang="en-US" dirty="0"/>
                  <a:t>To find the </a:t>
                </a:r>
                <a:r>
                  <a:rPr lang="en-US" b="1" dirty="0"/>
                  <a:t>optimal separating hyperplane</a:t>
                </a:r>
                <a:endParaRPr lang="en-US" dirty="0"/>
              </a:p>
              <a:p>
                <a:r>
                  <a:rPr lang="en-US" b="1" dirty="0"/>
                  <a:t>Loss Function</a:t>
                </a:r>
              </a:p>
              <a:p>
                <a:r>
                  <a:rPr lang="en-US" b="1" dirty="0"/>
                  <a:t>Hinge loss</a:t>
                </a:r>
                <a:endParaRPr lang="en-US" dirty="0"/>
              </a:p>
              <a:p>
                <a:r>
                  <a:rPr lang="en-US" b="1" dirty="0"/>
                  <a:t>Role of Gradient Descent</a:t>
                </a:r>
              </a:p>
              <a:p>
                <a:r>
                  <a:rPr lang="en-US" dirty="0"/>
                  <a:t>Minimizes hinge loss</a:t>
                </a:r>
              </a:p>
              <a:p>
                <a:r>
                  <a:rPr lang="en-US" dirty="0"/>
                  <a:t>Used especially in:</a:t>
                </a:r>
              </a:p>
              <a:p>
                <a:pPr lvl="1"/>
                <a:r>
                  <a:rPr lang="en-US" b="1" dirty="0"/>
                  <a:t>Large-scale SVM</a:t>
                </a:r>
                <a:endParaRPr lang="en-US" dirty="0"/>
              </a:p>
              <a:p>
                <a:pPr lvl="1"/>
                <a:r>
                  <a:rPr lang="en-US" b="1" dirty="0"/>
                  <a:t>Soft-margin SVM</a:t>
                </a:r>
                <a:endParaRPr lang="en-US" dirty="0"/>
              </a:p>
              <a:p>
                <a:r>
                  <a:rPr lang="en-US" b="1" dirty="0"/>
                  <a:t>Why Gradient Descent?</a:t>
                </a:r>
              </a:p>
              <a:p>
                <a:r>
                  <a:rPr lang="en-US" dirty="0"/>
                  <a:t>Quadratic programming is expensive for big datasets</a:t>
                </a:r>
              </a:p>
              <a:p>
                <a:r>
                  <a:rPr lang="en-US" dirty="0"/>
                  <a:t>Gradient-based methods are faster</a:t>
                </a:r>
              </a:p>
              <a:p>
                <a:r>
                  <a:rPr lang="en-US" dirty="0"/>
                  <a:t>✔ Used in </a:t>
                </a:r>
                <a:r>
                  <a:rPr lang="en-US" b="1" dirty="0"/>
                  <a:t>practical, large-data SVMs</a:t>
                </a:r>
                <a:endParaRPr lang="en-US" dirty="0"/>
              </a:p>
              <a:p>
                <a:br>
                  <a:rPr lang="en-US" dirty="0"/>
                </a:br>
                <a:endParaRPr lang="en-US" dirty="0"/>
              </a:p>
              <a:p>
                <a:r>
                  <a:rPr lang="en-US" b="1" dirty="0"/>
                  <a:t>5. Gradient Descent in Deep Learning Models</a:t>
                </a:r>
              </a:p>
              <a:p>
                <a:r>
                  <a:rPr lang="en-US" b="1" dirty="0"/>
                  <a:t>Examples</a:t>
                </a:r>
              </a:p>
              <a:p>
                <a:r>
                  <a:rPr lang="en-US" dirty="0"/>
                  <a:t>CNN (Image recognition)</a:t>
                </a:r>
              </a:p>
              <a:p>
                <a:r>
                  <a:rPr lang="en-US" dirty="0"/>
                  <a:t>RNN (Speech, text)</a:t>
                </a:r>
              </a:p>
              <a:p>
                <a:r>
                  <a:rPr lang="en-US" dirty="0"/>
                  <a:t>Transformers</a:t>
                </a:r>
              </a:p>
              <a:p>
                <a:r>
                  <a:rPr lang="en-US" b="1" dirty="0"/>
                  <a:t>Role</a:t>
                </a:r>
              </a:p>
              <a:p>
                <a:r>
                  <a:rPr lang="en-US" dirty="0"/>
                  <a:t>Optimizes </a:t>
                </a:r>
                <a:r>
                  <a:rPr lang="en-US" b="1" dirty="0"/>
                  <a:t>millions to billions of parameters</a:t>
                </a:r>
                <a:endParaRPr lang="en-US" dirty="0"/>
              </a:p>
              <a:p>
                <a:r>
                  <a:rPr lang="en-US" dirty="0"/>
                  <a:t>Uses advanced variants:</a:t>
                </a:r>
              </a:p>
              <a:p>
                <a:pPr lvl="1"/>
                <a:r>
                  <a:rPr lang="en-US" dirty="0"/>
                  <a:t>SGD</a:t>
                </a:r>
              </a:p>
              <a:p>
                <a:pPr lvl="1"/>
                <a:r>
                  <a:rPr lang="en-US" dirty="0"/>
                  <a:t>Adam</a:t>
                </a:r>
              </a:p>
              <a:p>
                <a:pPr lvl="1"/>
                <a:r>
                  <a:rPr lang="en-US" dirty="0" err="1"/>
                  <a:t>RMSProp</a:t>
                </a:r>
                <a:endParaRPr lang="en-US" dirty="0"/>
              </a:p>
              <a:p>
                <a:r>
                  <a:rPr lang="en-US" b="1" dirty="0"/>
                  <a:t>Why Gradient Descent is Essential?</a:t>
                </a:r>
              </a:p>
              <a:p>
                <a:r>
                  <a:rPr lang="en-US" dirty="0"/>
                  <a:t>Deep models have </a:t>
                </a:r>
                <a:r>
                  <a:rPr lang="en-US" b="1" dirty="0"/>
                  <a:t>high-dimensional loss surfaces</a:t>
                </a:r>
                <a:endParaRPr lang="en-US" dirty="0"/>
              </a:p>
              <a:p>
                <a:r>
                  <a:rPr lang="en-US" dirty="0"/>
                  <a:t>Only iterative optimization is feasible</a:t>
                </a:r>
              </a:p>
              <a:p>
                <a:r>
                  <a:rPr lang="en-US" dirty="0"/>
                  <a:t>✔ Makes </a:t>
                </a:r>
                <a:r>
                  <a:rPr lang="en-US" b="1" dirty="0"/>
                  <a:t>modern AI systems </a:t>
                </a:r>
                <a:r>
                  <a:rPr lang="en-US" b="1" dirty="0" err="1"/>
                  <a:t>possibl</a:t>
                </a:r>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43B19DB7-DDC9-4C8C-8DC3-1D632FA3DF71}" type="slidenum">
              <a:rPr lang="en-US" smtClean="0"/>
              <a:t>52</a:t>
            </a:fld>
            <a:endParaRPr lang="en-US"/>
          </a:p>
        </p:txBody>
      </p:sp>
    </p:spTree>
    <p:extLst>
      <p:ext uri="{BB962C8B-B14F-4D97-AF65-F5344CB8AC3E}">
        <p14:creationId xmlns:p14="http://schemas.microsoft.com/office/powerpoint/2010/main" val="1865275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Definition</a:t>
            </a:r>
            <a:r>
              <a:rPr lang="en-US" dirty="0"/>
              <a:t>:</a:t>
            </a:r>
            <a:br>
              <a:rPr lang="en-US" dirty="0"/>
            </a:br>
            <a:r>
              <a:rPr lang="en-US" dirty="0"/>
              <a:t>Adversarial search deals with situations where two or more entities (players) compete, each aiming to maximize their own outcomes while minimizing the opponent's. This contrasts with other types of searches (like pathfinding) that focus on achieving a single objective.</a:t>
            </a:r>
          </a:p>
          <a:p>
            <a:r>
              <a:rPr lang="en-US" b="1" dirty="0"/>
              <a:t>How it Works</a:t>
            </a:r>
            <a:r>
              <a:rPr lang="en-US" dirty="0"/>
              <a:t>:</a:t>
            </a:r>
          </a:p>
          <a:p>
            <a:pPr>
              <a:buFont typeface="Arial" panose="020B0604020202020204" pitchFamily="34" charset="0"/>
              <a:buChar char="•"/>
            </a:pPr>
            <a:r>
              <a:rPr lang="en-US" dirty="0"/>
              <a:t>Each player alternates turns.</a:t>
            </a:r>
          </a:p>
          <a:p>
            <a:pPr>
              <a:buFont typeface="Arial" panose="020B0604020202020204" pitchFamily="34" charset="0"/>
              <a:buChar char="•"/>
            </a:pPr>
            <a:r>
              <a:rPr lang="en-US" dirty="0"/>
              <a:t>Decisions are made considering not just immediate gains but also potential future consequences.</a:t>
            </a:r>
          </a:p>
          <a:p>
            <a:pPr>
              <a:buFont typeface="Arial" panose="020B0604020202020204" pitchFamily="34" charset="0"/>
              <a:buChar char="•"/>
            </a:pPr>
            <a:r>
              <a:rPr lang="en-US" dirty="0"/>
              <a:t>Outcomes depend on both players’ decisions.</a:t>
            </a:r>
          </a:p>
          <a:p>
            <a:endParaRPr lang="en-US" dirty="0"/>
          </a:p>
          <a:p>
            <a:r>
              <a:rPr lang="en-US" b="1" dirty="0"/>
              <a:t>Examples of Adversarial Search</a:t>
            </a:r>
          </a:p>
          <a:p>
            <a:pPr>
              <a:buFont typeface="+mj-lt"/>
              <a:buAutoNum type="arabicPeriod"/>
            </a:pPr>
            <a:r>
              <a:rPr lang="en-US" b="1" dirty="0"/>
              <a:t>Chess</a:t>
            </a:r>
            <a:r>
              <a:rPr lang="en-US" dirty="0"/>
              <a:t>:</a:t>
            </a:r>
          </a:p>
          <a:p>
            <a:pPr marL="742950" lvl="1" indent="-285750">
              <a:buFont typeface="+mj-lt"/>
              <a:buAutoNum type="arabicPeriod"/>
            </a:pPr>
            <a:r>
              <a:rPr lang="en-US" dirty="0"/>
              <a:t>Two players, alternating turns, aim to checkmate the opponent’s king.</a:t>
            </a:r>
          </a:p>
          <a:p>
            <a:pPr>
              <a:buFont typeface="+mj-lt"/>
              <a:buAutoNum type="arabicPeriod"/>
            </a:pPr>
            <a:r>
              <a:rPr lang="en-US" b="1" dirty="0"/>
              <a:t>Tic-Tac-Toe</a:t>
            </a:r>
            <a:r>
              <a:rPr lang="en-US" dirty="0"/>
              <a:t>:</a:t>
            </a:r>
          </a:p>
          <a:p>
            <a:pPr marL="742950" lvl="1" indent="-285750">
              <a:buFont typeface="+mj-lt"/>
              <a:buAutoNum type="arabicPeriod"/>
            </a:pPr>
            <a:r>
              <a:rPr lang="en-US" dirty="0"/>
              <a:t>Simple two-player game where the goal is to align three markers in a row.</a:t>
            </a:r>
          </a:p>
          <a:p>
            <a:pPr>
              <a:buFont typeface="+mj-lt"/>
              <a:buAutoNum type="arabicPeriod"/>
            </a:pPr>
            <a:r>
              <a:rPr lang="en-US" b="1" dirty="0"/>
              <a:t>Go</a:t>
            </a:r>
            <a:r>
              <a:rPr lang="en-US" dirty="0"/>
              <a:t>:</a:t>
            </a:r>
          </a:p>
          <a:p>
            <a:pPr marL="742950" lvl="1" indent="-285750">
              <a:buFont typeface="+mj-lt"/>
              <a:buAutoNum type="arabicPeriod"/>
            </a:pPr>
            <a:r>
              <a:rPr lang="en-US" dirty="0"/>
              <a:t>Players take turns placing stones on a grid, aiming to control more territory than the opponent.</a:t>
            </a:r>
          </a:p>
          <a:p>
            <a:pPr>
              <a:buFont typeface="+mj-lt"/>
              <a:buAutoNum type="arabicPeriod"/>
            </a:pPr>
            <a:r>
              <a:rPr lang="en-US" b="1" dirty="0"/>
              <a:t>Card Games </a:t>
            </a:r>
            <a:r>
              <a:rPr lang="en-US" dirty="0"/>
              <a:t>:</a:t>
            </a:r>
          </a:p>
          <a:p>
            <a:pPr marL="742950" lvl="1" indent="-285750">
              <a:buFont typeface="+mj-lt"/>
              <a:buAutoNum type="arabicPeriod"/>
            </a:pPr>
            <a:r>
              <a:rPr lang="en-US" dirty="0"/>
              <a:t>Incorporates imperfect information, adding complexity.</a:t>
            </a:r>
          </a:p>
          <a:p>
            <a:endParaRPr lang="en-US" dirty="0"/>
          </a:p>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54</a:t>
            </a:fld>
            <a:endParaRPr lang="en-US"/>
          </a:p>
        </p:txBody>
      </p:sp>
    </p:spTree>
    <p:extLst>
      <p:ext uri="{BB962C8B-B14F-4D97-AF65-F5344CB8AC3E}">
        <p14:creationId xmlns:p14="http://schemas.microsoft.com/office/powerpoint/2010/main" val="24270230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a:t>
            </a:r>
            <a:r>
              <a:rPr lang="en-US" dirty="0"/>
              <a:t>:</a:t>
            </a:r>
          </a:p>
          <a:p>
            <a:pPr>
              <a:buFont typeface="Arial" panose="020B0604020202020204" pitchFamily="34" charset="0"/>
              <a:buChar char="•"/>
            </a:pPr>
            <a:r>
              <a:rPr lang="en-US" b="1" dirty="0"/>
              <a:t>Multi-agent Environments</a:t>
            </a:r>
            <a:r>
              <a:rPr lang="en-US" dirty="0"/>
              <a:t>: These involve two or more agents, often in competition (e.g., a player versus an opponent in chess).</a:t>
            </a:r>
          </a:p>
          <a:p>
            <a:pPr>
              <a:buFont typeface="Arial" panose="020B0604020202020204" pitchFamily="34" charset="0"/>
              <a:buChar char="•"/>
            </a:pPr>
            <a:r>
              <a:rPr lang="en-US" b="1" dirty="0"/>
              <a:t>Adversarial Search</a:t>
            </a:r>
            <a:r>
              <a:rPr lang="en-US" dirty="0"/>
              <a:t>: Involves strategies where agents oppose each other. Algorithms like </a:t>
            </a:r>
            <a:r>
              <a:rPr lang="en-US" b="1" dirty="0"/>
              <a:t>Minimax</a:t>
            </a:r>
            <a:r>
              <a:rPr lang="en-US" dirty="0"/>
              <a:t> and </a:t>
            </a:r>
            <a:r>
              <a:rPr lang="en-US" b="1" dirty="0"/>
              <a:t>Alpha-Beta pruning</a:t>
            </a:r>
            <a:r>
              <a:rPr lang="en-US" dirty="0"/>
              <a:t> are used in perfect-information games to anticipate an opponent's moves and counter them.</a:t>
            </a:r>
          </a:p>
          <a:p>
            <a:pPr>
              <a:buFont typeface="Arial" panose="020B0604020202020204" pitchFamily="34" charset="0"/>
              <a:buChar char="•"/>
            </a:pPr>
            <a:r>
              <a:rPr lang="en-US" b="1" dirty="0"/>
              <a:t>Perfect Information Games</a:t>
            </a:r>
            <a:r>
              <a:rPr lang="en-US" dirty="0"/>
              <a:t>: Games where all players know the entire state of the game (e.g., Chess, Tic-Tac-Toe).</a:t>
            </a:r>
          </a:p>
          <a:p>
            <a:pPr>
              <a:buFont typeface="Arial" panose="020B0604020202020204" pitchFamily="34" charset="0"/>
              <a:buChar char="•"/>
            </a:pPr>
            <a:r>
              <a:rPr lang="en-US" b="1" dirty="0"/>
              <a:t>Imperfect Information Games</a:t>
            </a:r>
            <a:r>
              <a:rPr lang="en-US" dirty="0"/>
              <a:t>: Games where some information is hidden (e.g., Poker).</a:t>
            </a:r>
          </a:p>
          <a:p>
            <a:r>
              <a:rPr lang="en-US" b="1" dirty="0"/>
              <a:t>Example</a:t>
            </a:r>
            <a:r>
              <a:rPr lang="en-US" dirty="0"/>
              <a:t>: In Chess, players take turns, and each player has full visibility of the board, making it a perfect-information game. Poker, on the other hand, is imperfect information since some cards are hidden.</a:t>
            </a:r>
          </a:p>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55</a:t>
            </a:fld>
            <a:endParaRPr lang="en-US"/>
          </a:p>
        </p:txBody>
      </p:sp>
    </p:spTree>
    <p:extLst>
      <p:ext uri="{BB962C8B-B14F-4D97-AF65-F5344CB8AC3E}">
        <p14:creationId xmlns:p14="http://schemas.microsoft.com/office/powerpoint/2010/main" val="15411962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57</a:t>
            </a:fld>
            <a:endParaRPr lang="en-US"/>
          </a:p>
        </p:txBody>
      </p:sp>
    </p:spTree>
    <p:extLst>
      <p:ext uri="{BB962C8B-B14F-4D97-AF65-F5344CB8AC3E}">
        <p14:creationId xmlns:p14="http://schemas.microsoft.com/office/powerpoint/2010/main" val="23768739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59</a:t>
            </a:fld>
            <a:endParaRPr lang="en-US"/>
          </a:p>
        </p:txBody>
      </p:sp>
    </p:spTree>
    <p:extLst>
      <p:ext uri="{BB962C8B-B14F-4D97-AF65-F5344CB8AC3E}">
        <p14:creationId xmlns:p14="http://schemas.microsoft.com/office/powerpoint/2010/main" val="1238446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60</a:t>
            </a:fld>
            <a:endParaRPr lang="en-US"/>
          </a:p>
        </p:txBody>
      </p:sp>
    </p:spTree>
    <p:extLst>
      <p:ext uri="{BB962C8B-B14F-4D97-AF65-F5344CB8AC3E}">
        <p14:creationId xmlns:p14="http://schemas.microsoft.com/office/powerpoint/2010/main" val="35312397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Alpha-beta pruning is an optimization technique for the minimax algorithm used in artificial intelligence for two-player games (adversarial search). It significantly reduces the number of nodes evaluated in the game tree by eliminating branches that cannot possibly influence the final decision, without affecting the optimal result.</a:t>
            </a:r>
          </a:p>
          <a:p>
            <a:r>
              <a:rPr lang="en-US" dirty="0"/>
              <a:t> How it Works </a:t>
            </a:r>
          </a:p>
          <a:p>
            <a:r>
              <a:rPr lang="en-US" dirty="0"/>
              <a:t>The algorithm uses a depth-first search approach and maintains two threshold values, alpha and beta, to determine when a branch can be "pruned" (cut off): </a:t>
            </a:r>
          </a:p>
          <a:p>
            <a:r>
              <a:rPr lang="en-US" dirty="0"/>
              <a:t>Alpha: The best (highest) value that the maximizing player can guarantee for themselves so far at any point along the path to the root. It is initialized to negative infinity.</a:t>
            </a:r>
          </a:p>
          <a:p>
            <a:r>
              <a:rPr lang="en-US" dirty="0"/>
              <a:t>Beta : The best (lowest) value that the minimizing player can guarantee for themselves so far at any point along the path to the root. It is initialized to positive infinity. </a:t>
            </a:r>
          </a:p>
          <a:p>
            <a:r>
              <a:rPr lang="en-US" dirty="0"/>
              <a:t>The core condition for pruning is when alpha &gt;=beta. At this point, the algorithm stops evaluating the current branch because it is guaranteed that the optimal player (either maximizer or minimizer) will choose a better path found earlier in the tree.</a:t>
            </a:r>
          </a:p>
          <a:p>
            <a:endParaRPr lang="en-US" dirty="0"/>
          </a:p>
          <a:p>
            <a:endParaRPr lang="en-US" dirty="0"/>
          </a:p>
          <a:p>
            <a:r>
              <a:rPr lang="en-US" sz="1200" b="1" i="0" kern="1200" dirty="0">
                <a:solidFill>
                  <a:schemeClr val="tx1"/>
                </a:solidFill>
                <a:effectLst/>
                <a:latin typeface="+mn-lt"/>
                <a:ea typeface="+mn-ea"/>
                <a:cs typeface="+mn-cs"/>
              </a:rPr>
              <a:t>Efficiency:</a:t>
            </a:r>
            <a:r>
              <a:rPr lang="en-US" sz="1200" b="0" i="0" kern="1200" dirty="0">
                <a:solidFill>
                  <a:schemeClr val="tx1"/>
                </a:solidFill>
                <a:effectLst/>
                <a:latin typeface="+mn-lt"/>
                <a:ea typeface="+mn-ea"/>
                <a:cs typeface="+mn-cs"/>
              </a:rPr>
              <a:t> By pruning unnecessary branches, it drastically speeds up the search process compared to the standard minimax, allowing AI to search deeper into the game tree within the same time constraints.</a:t>
            </a:r>
          </a:p>
          <a:p>
            <a:r>
              <a:rPr lang="en-US" sz="1200" b="1" i="0" kern="1200" dirty="0">
                <a:solidFill>
                  <a:schemeClr val="tx1"/>
                </a:solidFill>
                <a:effectLst/>
                <a:latin typeface="+mn-lt"/>
                <a:ea typeface="+mn-ea"/>
                <a:cs typeface="+mn-cs"/>
              </a:rPr>
              <a:t>Optimality:</a:t>
            </a:r>
            <a:r>
              <a:rPr lang="en-US" sz="1200" b="0" i="0" kern="1200" dirty="0">
                <a:solidFill>
                  <a:schemeClr val="tx1"/>
                </a:solidFill>
                <a:effectLst/>
                <a:latin typeface="+mn-lt"/>
                <a:ea typeface="+mn-ea"/>
                <a:cs typeface="+mn-cs"/>
              </a:rPr>
              <a:t> The crucial advantage of alpha-beta pruning is that it still returns the same optimal move as the full minimax search.</a:t>
            </a:r>
          </a:p>
          <a:p>
            <a:r>
              <a:rPr lang="en-US" sz="1200" b="1" i="0" kern="1200" dirty="0">
                <a:solidFill>
                  <a:schemeClr val="tx1"/>
                </a:solidFill>
                <a:effectLst/>
                <a:latin typeface="+mn-lt"/>
                <a:ea typeface="+mn-ea"/>
                <a:cs typeface="+mn-cs"/>
              </a:rPr>
              <a:t>Move Ordering:</a:t>
            </a:r>
            <a:r>
              <a:rPr lang="en-US" sz="1200" b="0" i="0" kern="1200" dirty="0">
                <a:solidFill>
                  <a:schemeClr val="tx1"/>
                </a:solidFill>
                <a:effectLst/>
                <a:latin typeface="+mn-lt"/>
                <a:ea typeface="+mn-ea"/>
                <a:cs typeface="+mn-cs"/>
              </a:rPr>
              <a:t> The effectiveness of the pruning is highly dependent on the order in which moves are evaluated. If the best moves are examined first, more branches can be pruned early, maximizing efficiency.</a:t>
            </a:r>
          </a:p>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61</a:t>
            </a:fld>
            <a:endParaRPr lang="en-US"/>
          </a:p>
        </p:txBody>
      </p:sp>
    </p:spTree>
    <p:extLst>
      <p:ext uri="{BB962C8B-B14F-4D97-AF65-F5344CB8AC3E}">
        <p14:creationId xmlns:p14="http://schemas.microsoft.com/office/powerpoint/2010/main" val="39449699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alpha &gt;= beta prune</a:t>
            </a:r>
          </a:p>
        </p:txBody>
      </p:sp>
      <p:sp>
        <p:nvSpPr>
          <p:cNvPr id="4" name="Slide Number Placeholder 3"/>
          <p:cNvSpPr>
            <a:spLocks noGrp="1"/>
          </p:cNvSpPr>
          <p:nvPr>
            <p:ph type="sldNum" sz="quarter" idx="5"/>
          </p:nvPr>
        </p:nvSpPr>
        <p:spPr/>
        <p:txBody>
          <a:bodyPr/>
          <a:lstStyle/>
          <a:p>
            <a:fld id="{43B19DB7-DDC9-4C8C-8DC3-1D632FA3DF71}" type="slidenum">
              <a:rPr lang="en-US" smtClean="0"/>
              <a:t>62</a:t>
            </a:fld>
            <a:endParaRPr lang="en-US"/>
          </a:p>
        </p:txBody>
      </p:sp>
    </p:spTree>
    <p:extLst>
      <p:ext uri="{BB962C8B-B14F-4D97-AF65-F5344CB8AC3E}">
        <p14:creationId xmlns:p14="http://schemas.microsoft.com/office/powerpoint/2010/main" val="23259655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Main Areas of Application of Alpha-Beta Pruning:</a:t>
            </a:r>
          </a:p>
          <a:p>
            <a:r>
              <a:rPr lang="en-US" b="1" dirty="0"/>
              <a:t>🎮 1. Game Playing (AI for Two-Player Games)</a:t>
            </a:r>
          </a:p>
          <a:p>
            <a:r>
              <a:rPr lang="en-US" dirty="0"/>
              <a:t>Alpha-beta pruning is most commonly used in games that are modeled as adversarial search problems:</a:t>
            </a:r>
          </a:p>
          <a:p>
            <a:r>
              <a:rPr lang="en-US" b="1" dirty="0"/>
              <a:t>Chess</a:t>
            </a:r>
            <a:endParaRPr lang="en-US" dirty="0"/>
          </a:p>
          <a:p>
            <a:r>
              <a:rPr lang="en-US" b="1" dirty="0"/>
              <a:t>Checkers</a:t>
            </a:r>
            <a:endParaRPr lang="en-US" dirty="0"/>
          </a:p>
          <a:p>
            <a:r>
              <a:rPr lang="en-US" b="1" dirty="0"/>
              <a:t>Tic-Tac-Toe</a:t>
            </a:r>
            <a:endParaRPr lang="en-US" dirty="0"/>
          </a:p>
          <a:p>
            <a:r>
              <a:rPr lang="en-US" b="1" dirty="0"/>
              <a:t>Go</a:t>
            </a:r>
            <a:endParaRPr lang="en-US" dirty="0"/>
          </a:p>
          <a:p>
            <a:r>
              <a:rPr lang="en-US" b="1" dirty="0"/>
              <a:t>Othello (</a:t>
            </a:r>
            <a:r>
              <a:rPr lang="en-US" b="1" dirty="0" err="1"/>
              <a:t>Reversi</a:t>
            </a:r>
            <a:r>
              <a:rPr lang="en-US" b="1" dirty="0"/>
              <a:t>)</a:t>
            </a:r>
            <a:endParaRPr lang="en-US" dirty="0"/>
          </a:p>
          <a:p>
            <a:r>
              <a:rPr lang="en-US" b="1" dirty="0"/>
              <a:t>Connect Four</a:t>
            </a:r>
            <a:endParaRPr lang="en-US" dirty="0"/>
          </a:p>
          <a:p>
            <a:r>
              <a:rPr lang="en-US" b="1" dirty="0"/>
              <a:t>Shogi</a:t>
            </a:r>
            <a:endParaRPr lang="en-US" dirty="0"/>
          </a:p>
          <a:p>
            <a:r>
              <a:rPr lang="en-US" b="1" dirty="0"/>
              <a:t>Backgammon</a:t>
            </a:r>
            <a:endParaRPr lang="en-US" dirty="0"/>
          </a:p>
          <a:p>
            <a:r>
              <a:rPr lang="en-US" dirty="0"/>
              <a:t>👉 These games use </a:t>
            </a:r>
            <a:r>
              <a:rPr lang="en-US" b="1" dirty="0"/>
              <a:t>minimax search trees</a:t>
            </a:r>
            <a:r>
              <a:rPr lang="en-US" dirty="0"/>
              <a:t>, where alpha-beta pruning helps reduce computation time.</a:t>
            </a:r>
          </a:p>
          <a:p>
            <a:r>
              <a:rPr lang="en-US" b="1" dirty="0"/>
              <a:t>🤖 2. Artificial Intelligence and Machine Learning (Adversarial Agents)</a:t>
            </a:r>
          </a:p>
          <a:p>
            <a:r>
              <a:rPr lang="en-US" dirty="0"/>
              <a:t>Used in AI agents where </a:t>
            </a:r>
            <a:r>
              <a:rPr lang="en-US" b="1" dirty="0"/>
              <a:t>opponent modeling</a:t>
            </a:r>
            <a:r>
              <a:rPr lang="en-US" dirty="0"/>
              <a:t> is required:</a:t>
            </a:r>
          </a:p>
          <a:p>
            <a:r>
              <a:rPr lang="en-US" dirty="0"/>
              <a:t>Strategic simulations</a:t>
            </a:r>
          </a:p>
          <a:p>
            <a:r>
              <a:rPr lang="en-US" dirty="0"/>
              <a:t>AI bots for board or card games</a:t>
            </a:r>
          </a:p>
          <a:p>
            <a:r>
              <a:rPr lang="en-US" dirty="0"/>
              <a:t>Adversarial learning environments (e.g., reinforcement learning with multiple agents)</a:t>
            </a:r>
          </a:p>
          <a:p>
            <a:r>
              <a:rPr lang="en-US" b="1" dirty="0"/>
              <a:t>🛡️ 3. Decision-Making Systems with Competing Objectives</a:t>
            </a:r>
          </a:p>
          <a:p>
            <a:r>
              <a:rPr lang="en-US" dirty="0"/>
              <a:t>Any system where decisions are made in an adversarial or competitive setting can use alpha-beta pruning:</a:t>
            </a:r>
          </a:p>
          <a:p>
            <a:r>
              <a:rPr lang="en-US" dirty="0"/>
              <a:t>Economic simulations involving negotiation</a:t>
            </a:r>
          </a:p>
          <a:p>
            <a:r>
              <a:rPr lang="en-US" dirty="0"/>
              <a:t>Security systems simulating attacker-defender scenarios</a:t>
            </a:r>
          </a:p>
          <a:p>
            <a:r>
              <a:rPr lang="en-US" dirty="0"/>
              <a:t>Cybersecurity games (defense vs attacker)</a:t>
            </a:r>
          </a:p>
          <a:p>
            <a:r>
              <a:rPr lang="en-US" b="1" dirty="0"/>
              <a:t>🧠 4. Robot Motion Planning in Adversarial Settings</a:t>
            </a:r>
          </a:p>
          <a:p>
            <a:r>
              <a:rPr lang="en-US" dirty="0"/>
              <a:t>In multi-robot systems where one robot tries to block or intercept another:</a:t>
            </a:r>
          </a:p>
          <a:p>
            <a:r>
              <a:rPr lang="en-US" dirty="0"/>
              <a:t>Alpha-beta can reduce unnecessary path exploration</a:t>
            </a:r>
          </a:p>
          <a:p>
            <a:r>
              <a:rPr lang="en-US" dirty="0"/>
              <a:t>Used in AI planning with adversarial obstacles</a:t>
            </a:r>
          </a:p>
          <a:p>
            <a:r>
              <a:rPr lang="en-US" b="1" dirty="0"/>
              <a:t>📊 5. Game Theory and Strategic Planning</a:t>
            </a:r>
          </a:p>
          <a:p>
            <a:r>
              <a:rPr lang="en-US" dirty="0"/>
              <a:t>In theoretical or computational models of </a:t>
            </a:r>
            <a:r>
              <a:rPr lang="en-US" b="1" dirty="0"/>
              <a:t>zero-sum</a:t>
            </a:r>
            <a:r>
              <a:rPr lang="en-US" dirty="0"/>
              <a:t> games:</a:t>
            </a:r>
          </a:p>
          <a:p>
            <a:r>
              <a:rPr lang="en-US" dirty="0"/>
              <a:t>Business or military strategies</a:t>
            </a:r>
          </a:p>
          <a:p>
            <a:r>
              <a:rPr lang="en-US" dirty="0"/>
              <a:t>Resource allocation under adversarial conditions</a:t>
            </a:r>
          </a:p>
          <a:p>
            <a:r>
              <a:rPr lang="en-US" b="1" dirty="0"/>
              <a:t>🚀 Summary:</a:t>
            </a:r>
          </a:p>
          <a:p>
            <a:r>
              <a:rPr lang="en-US" dirty="0"/>
              <a:t>Area				Example Use Case</a:t>
            </a:r>
          </a:p>
          <a:p>
            <a:r>
              <a:rPr lang="en-US" dirty="0"/>
              <a:t>Game AI				Chess engine move decision</a:t>
            </a:r>
          </a:p>
          <a:p>
            <a:r>
              <a:rPr lang="en-US" dirty="0"/>
              <a:t>Competitive AI agents			Reinforcement learning in adversarial games</a:t>
            </a:r>
          </a:p>
          <a:p>
            <a:r>
              <a:rPr lang="en-US" dirty="0"/>
              <a:t>Security planning			Intrusion detection simulations</a:t>
            </a:r>
          </a:p>
          <a:p>
            <a:r>
              <a:rPr lang="en-US" dirty="0"/>
              <a:t>Robot planning			Movement planning in adversarial environments</a:t>
            </a:r>
          </a:p>
          <a:p>
            <a:r>
              <a:rPr lang="en-US" dirty="0"/>
              <a:t>Game theory simulations			Strategic modeling of zero-sum games</a:t>
            </a:r>
          </a:p>
          <a:p>
            <a:endParaRPr lang="en-US" dirty="0"/>
          </a:p>
          <a:p>
            <a:r>
              <a:rPr lang="en-US" b="1" dirty="0"/>
              <a:t>Example: Chess</a:t>
            </a:r>
          </a:p>
          <a:p>
            <a:r>
              <a:rPr lang="en-US" b="1" dirty="0"/>
              <a:t>🔍 The Problem</a:t>
            </a:r>
          </a:p>
          <a:p>
            <a:r>
              <a:rPr lang="en-US" dirty="0"/>
              <a:t>Chess is a two-player </a:t>
            </a:r>
            <a:r>
              <a:rPr lang="en-US" b="1" dirty="0"/>
              <a:t>zero-sum game</a:t>
            </a:r>
            <a:r>
              <a:rPr lang="en-US" dirty="0"/>
              <a:t>, where one player's gain is the other's loss. The goal of a chess AI is to decide the best move by evaluating all possible moves, then all possible opponent responses, and so on. This creates a huge </a:t>
            </a:r>
            <a:r>
              <a:rPr lang="en-US" b="1" dirty="0"/>
              <a:t>search tree</a:t>
            </a:r>
            <a:r>
              <a:rPr lang="en-US" dirty="0"/>
              <a:t> of possible game states.</a:t>
            </a:r>
          </a:p>
          <a:p>
            <a:r>
              <a:rPr lang="en-US" b="1" dirty="0"/>
              <a:t>🧠 Without Alpha-Beta Pruning: Minimax</a:t>
            </a:r>
          </a:p>
          <a:p>
            <a:r>
              <a:rPr lang="en-US" dirty="0"/>
              <a:t>Minimax explores the entire tree up to a certain depth:</a:t>
            </a:r>
          </a:p>
          <a:p>
            <a:r>
              <a:rPr lang="en-US" b="1" dirty="0"/>
              <a:t>Max node</a:t>
            </a:r>
            <a:r>
              <a:rPr lang="en-US" dirty="0"/>
              <a:t> (AI’s move): Selects the maximum score move.</a:t>
            </a:r>
          </a:p>
          <a:p>
            <a:r>
              <a:rPr lang="en-US" b="1" dirty="0"/>
              <a:t>Min node</a:t>
            </a:r>
            <a:r>
              <a:rPr lang="en-US" dirty="0"/>
              <a:t> (Opponent’s move): Selects the minimum score move.</a:t>
            </a:r>
          </a:p>
          <a:p>
            <a:r>
              <a:rPr lang="en-US" dirty="0"/>
              <a:t>But the number of game states increases </a:t>
            </a:r>
            <a:r>
              <a:rPr lang="en-US" b="1" dirty="0"/>
              <a:t>exponentially</a:t>
            </a:r>
            <a:r>
              <a:rPr lang="en-US" dirty="0"/>
              <a:t>:</a:t>
            </a:r>
          </a:p>
          <a:p>
            <a:r>
              <a:rPr lang="en-US" dirty="0"/>
              <a:t>If each player has ~35 legal moves and you look 5 moves ahead:</a:t>
            </a:r>
            <a:br>
              <a:rPr lang="en-US" dirty="0"/>
            </a:br>
            <a:r>
              <a:rPr lang="en-US" dirty="0"/>
              <a:t>That's about 35^5 = 52,521,875  game states! 😵</a:t>
            </a:r>
          </a:p>
          <a:p>
            <a:r>
              <a:rPr lang="en-US" b="1" dirty="0"/>
              <a:t>⚡ With Alpha-Beta Pruning: Efficiency</a:t>
            </a:r>
          </a:p>
          <a:p>
            <a:r>
              <a:rPr lang="en-US" dirty="0"/>
              <a:t>Alpha-beta pruning </a:t>
            </a:r>
            <a:r>
              <a:rPr lang="en-US" b="1" dirty="0"/>
              <a:t>cuts off</a:t>
            </a:r>
            <a:r>
              <a:rPr lang="en-US" dirty="0"/>
              <a:t> branches that </a:t>
            </a:r>
            <a:r>
              <a:rPr lang="en-US" b="1" dirty="0"/>
              <a:t>cannot possibly influence the final decision</a:t>
            </a:r>
            <a:r>
              <a:rPr lang="en-US" dirty="0"/>
              <a:t>, thus avoiding evaluating unnecessary nodes.</a:t>
            </a:r>
          </a:p>
          <a:p>
            <a:r>
              <a:rPr lang="en-US" b="1" dirty="0"/>
              <a:t>Alpha (α)</a:t>
            </a:r>
            <a:r>
              <a:rPr lang="en-US" dirty="0"/>
              <a:t>: Best value that the maximizer (AI) can guarantee so far.</a:t>
            </a:r>
          </a:p>
          <a:p>
            <a:r>
              <a:rPr lang="en-US" b="1" dirty="0"/>
              <a:t>Beta (β)</a:t>
            </a:r>
            <a:r>
              <a:rPr lang="en-US" dirty="0"/>
              <a:t>: Best value that the minimizer (opponent) can guarantee so far.</a:t>
            </a:r>
          </a:p>
          <a:p>
            <a:r>
              <a:rPr lang="en-US" dirty="0"/>
              <a:t>If at any point </a:t>
            </a:r>
            <a:r>
              <a:rPr lang="en-US" b="1" dirty="0"/>
              <a:t>β ≤ α</a:t>
            </a:r>
            <a:r>
              <a:rPr lang="en-US" dirty="0"/>
              <a:t>, the algorithm </a:t>
            </a:r>
            <a:r>
              <a:rPr lang="en-US" b="1" dirty="0"/>
              <a:t>prunes</a:t>
            </a:r>
            <a:r>
              <a:rPr lang="en-US" dirty="0"/>
              <a:t> (doesn’t explore) that branch.</a:t>
            </a:r>
          </a:p>
          <a:p>
            <a:r>
              <a:rPr lang="en-US" b="1" dirty="0"/>
              <a:t>✅ Benefit in Chess AI</a:t>
            </a:r>
          </a:p>
          <a:p>
            <a:r>
              <a:rPr lang="en-US" dirty="0"/>
              <a:t>Reduces time complexity </a:t>
            </a:r>
            <a:r>
              <a:rPr lang="en-US" b="1" dirty="0"/>
              <a:t>from O(</a:t>
            </a:r>
            <a:r>
              <a:rPr lang="en-US" b="1" dirty="0" err="1"/>
              <a:t>b^d</a:t>
            </a:r>
            <a:r>
              <a:rPr lang="en-US" b="1" dirty="0"/>
              <a:t>) to O(b^(d/2))</a:t>
            </a:r>
            <a:r>
              <a:rPr lang="en-US" dirty="0"/>
              <a:t> in best case</a:t>
            </a:r>
          </a:p>
          <a:p>
            <a:pPr lvl="1"/>
            <a:r>
              <a:rPr lang="en-US" dirty="0"/>
              <a:t>b = branching factor (avg moves)</a:t>
            </a:r>
          </a:p>
          <a:p>
            <a:pPr lvl="1"/>
            <a:r>
              <a:rPr lang="en-US" dirty="0"/>
              <a:t>d = depth</a:t>
            </a:r>
          </a:p>
          <a:p>
            <a:r>
              <a:rPr lang="en-US" dirty="0"/>
              <a:t>Allows AI to </a:t>
            </a:r>
            <a:r>
              <a:rPr lang="en-US" b="1" dirty="0"/>
              <a:t>search deeper</a:t>
            </a:r>
            <a:r>
              <a:rPr lang="en-US" dirty="0"/>
              <a:t> in the same amount of time</a:t>
            </a:r>
          </a:p>
          <a:p>
            <a:r>
              <a:rPr lang="en-US" dirty="0"/>
              <a:t>Enables </a:t>
            </a:r>
            <a:r>
              <a:rPr lang="en-US" b="1" dirty="0"/>
              <a:t>real-time decision-making</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63</a:t>
            </a:fld>
            <a:endParaRPr lang="en-US"/>
          </a:p>
        </p:txBody>
      </p:sp>
    </p:spTree>
    <p:extLst>
      <p:ext uri="{BB962C8B-B14F-4D97-AF65-F5344CB8AC3E}">
        <p14:creationId xmlns:p14="http://schemas.microsoft.com/office/powerpoint/2010/main" val="2185194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a:t>
            </a:r>
            <a:endParaRPr lang="en-US" dirty="0"/>
          </a:p>
          <a:p>
            <a:pPr>
              <a:buFont typeface="Arial" panose="020B0604020202020204" pitchFamily="34" charset="0"/>
              <a:buChar char="•"/>
            </a:pPr>
            <a:r>
              <a:rPr lang="en-US" dirty="0"/>
              <a:t>In a </a:t>
            </a:r>
            <a:r>
              <a:rPr lang="en-US" b="1" dirty="0"/>
              <a:t>Constraint Satisfaction Problem (CSP)</a:t>
            </a:r>
            <a:r>
              <a:rPr lang="en-US" dirty="0"/>
              <a:t>, you need to find a solution that satisfies a set of constraints (rules that must not be violated).</a:t>
            </a:r>
          </a:p>
          <a:p>
            <a:pPr>
              <a:buFont typeface="Arial" panose="020B0604020202020204" pitchFamily="34" charset="0"/>
              <a:buChar char="•"/>
            </a:pPr>
            <a:r>
              <a:rPr lang="en-US" b="1" dirty="0"/>
              <a:t>Components</a:t>
            </a:r>
            <a:r>
              <a:rPr lang="en-US" dirty="0"/>
              <a:t>:</a:t>
            </a:r>
          </a:p>
          <a:p>
            <a:pPr marL="742950" lvl="1" indent="-285750">
              <a:buFont typeface="Arial" panose="020B0604020202020204" pitchFamily="34" charset="0"/>
              <a:buChar char="•"/>
            </a:pPr>
            <a:r>
              <a:rPr lang="en-US" b="1" dirty="0"/>
              <a:t>Variables</a:t>
            </a:r>
            <a:r>
              <a:rPr lang="en-US" dirty="0"/>
              <a:t>: Elements you are trying to assign values to (e.g., in Sudoku, the cells).</a:t>
            </a:r>
          </a:p>
          <a:p>
            <a:pPr marL="742950" lvl="1" indent="-285750">
              <a:buFont typeface="Arial" panose="020B0604020202020204" pitchFamily="34" charset="0"/>
              <a:buChar char="•"/>
            </a:pPr>
            <a:r>
              <a:rPr lang="en-US" b="1" dirty="0"/>
              <a:t>Domains</a:t>
            </a:r>
            <a:r>
              <a:rPr lang="en-US" dirty="0"/>
              <a:t>: Possible values each variable can take.</a:t>
            </a:r>
          </a:p>
          <a:p>
            <a:pPr marL="742950" lvl="1" indent="-285750">
              <a:buFont typeface="Arial" panose="020B0604020202020204" pitchFamily="34" charset="0"/>
              <a:buChar char="•"/>
            </a:pPr>
            <a:r>
              <a:rPr lang="en-US" b="1" dirty="0"/>
              <a:t>Constraints</a:t>
            </a:r>
            <a:r>
              <a:rPr lang="en-US" dirty="0"/>
              <a:t>: Rules that restrict how variables can be assigned (e.g., in Sudoku, numbers cannot repeat in a row, column, or grid).</a:t>
            </a:r>
          </a:p>
          <a:p>
            <a:r>
              <a:rPr lang="en-US" b="1" dirty="0"/>
              <a:t>Example</a:t>
            </a:r>
            <a:r>
              <a:rPr lang="en-US" dirty="0"/>
              <a:t>: Sudoku is a typical CSP—each cell must contain a number between 1 and 9, and there are constraints on the placement of numbers.</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64</a:t>
            </a:fld>
            <a:endParaRPr lang="en-US"/>
          </a:p>
        </p:txBody>
      </p:sp>
    </p:spTree>
    <p:extLst>
      <p:ext uri="{BB962C8B-B14F-4D97-AF65-F5344CB8AC3E}">
        <p14:creationId xmlns:p14="http://schemas.microsoft.com/office/powerpoint/2010/main" val="30425489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FFFFF"/>
                </a:solidFill>
                <a:effectLst/>
                <a:latin typeface="Nunito" pitchFamily="2" charset="0"/>
              </a:rPr>
              <a:t>Binary CSP&gt;&gt;&gt; each constraint involves only two variables. For example, in a scheduling problem, the constraint could specify that task A must be completed before task B. </a:t>
            </a:r>
          </a:p>
          <a:p>
            <a:endParaRPr lang="en-US" b="0" i="0" dirty="0">
              <a:solidFill>
                <a:srgbClr val="FFFFFF"/>
              </a:solidFill>
              <a:effectLst/>
              <a:latin typeface="Nunito" pitchFamily="2" charset="0"/>
            </a:endParaRPr>
          </a:p>
          <a:p>
            <a:r>
              <a:rPr lang="en-US" b="0" i="0" dirty="0">
                <a:solidFill>
                  <a:srgbClr val="FFFFFF"/>
                </a:solidFill>
                <a:effectLst/>
                <a:latin typeface="Nunito" pitchFamily="2" charset="0"/>
              </a:rPr>
              <a:t>Non Binary &gt;&gt; have constraints that involve more than two variables. For instance, in a seating arrangement problem, a constraint could state that three people cannot sit next to each other</a:t>
            </a:r>
          </a:p>
          <a:p>
            <a:endParaRPr lang="en-US" b="0" i="0" dirty="0">
              <a:solidFill>
                <a:srgbClr val="FFFFFF"/>
              </a:solidFill>
              <a:effectLst/>
              <a:latin typeface="Nunito"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FFFFFF"/>
                </a:solidFill>
                <a:effectLst/>
                <a:latin typeface="Nunito" pitchFamily="2" charset="0"/>
              </a:rPr>
              <a:t>Hard and Soft Constraints</a:t>
            </a:r>
            <a:r>
              <a:rPr lang="en-US" b="0" i="0" dirty="0">
                <a:solidFill>
                  <a:srgbClr val="FFFFFF"/>
                </a:solidFill>
                <a:effectLst/>
                <a:latin typeface="Nunito" pitchFamily="2" charset="0"/>
              </a:rPr>
              <a:t>: Hard constraints must be strictly satisfied, while soft constraints can be violated, but at a certain cost. This distinction is often used in real-world applications where not all constraints are equally important.</a:t>
            </a:r>
          </a:p>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65</a:t>
            </a:fld>
            <a:endParaRPr lang="en-US"/>
          </a:p>
        </p:txBody>
      </p:sp>
    </p:spTree>
    <p:extLst>
      <p:ext uri="{BB962C8B-B14F-4D97-AF65-F5344CB8AC3E}">
        <p14:creationId xmlns:p14="http://schemas.microsoft.com/office/powerpoint/2010/main" val="21269421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Search Algorithms for CSPs</a:t>
            </a:r>
          </a:p>
          <a:p>
            <a:pPr>
              <a:buFont typeface="Arial" panose="020B0604020202020204" pitchFamily="34" charset="0"/>
              <a:buChar char="•"/>
            </a:pPr>
            <a:r>
              <a:rPr lang="en-US" b="1" dirty="0"/>
              <a:t>Overview</a:t>
            </a:r>
            <a:r>
              <a:rPr lang="en-US" dirty="0"/>
              <a:t>: Explores techniques to find solutions for CSPs.</a:t>
            </a:r>
          </a:p>
          <a:p>
            <a:pPr>
              <a:buFont typeface="Arial" panose="020B0604020202020204" pitchFamily="34" charset="0"/>
              <a:buChar char="•"/>
            </a:pPr>
            <a:r>
              <a:rPr lang="en-US" b="1" dirty="0"/>
              <a:t>Algorithms</a:t>
            </a:r>
            <a:r>
              <a:rPr lang="en-US" dirty="0"/>
              <a:t>:</a:t>
            </a:r>
          </a:p>
          <a:p>
            <a:pPr marL="742950" lvl="1" indent="-285750">
              <a:buFont typeface="Arial" panose="020B0604020202020204" pitchFamily="34" charset="0"/>
              <a:buChar char="•"/>
            </a:pPr>
            <a:r>
              <a:rPr lang="en-US" b="1" dirty="0"/>
              <a:t>Backtracking Search</a:t>
            </a:r>
            <a:r>
              <a:rPr lang="en-US" dirty="0"/>
              <a:t>: Simple and direct approach but can be slow.</a:t>
            </a:r>
          </a:p>
          <a:p>
            <a:pPr marL="742950" lvl="1" indent="-285750">
              <a:buFont typeface="Arial" panose="020B0604020202020204" pitchFamily="34" charset="0"/>
              <a:buChar char="•"/>
            </a:pPr>
            <a:r>
              <a:rPr lang="en-US" b="1" dirty="0"/>
              <a:t>Constraint Propagation</a:t>
            </a:r>
            <a:r>
              <a:rPr lang="en-US" dirty="0"/>
              <a:t>: Pre-processes the problem to reduce complexity, improving efficiency.</a:t>
            </a:r>
          </a:p>
          <a:p>
            <a:endParaRPr lang="en-US" b="1" dirty="0"/>
          </a:p>
          <a:p>
            <a:r>
              <a:rPr lang="en-US" b="1" dirty="0"/>
              <a:t>Backtracking Search</a:t>
            </a:r>
          </a:p>
          <a:p>
            <a:pPr>
              <a:buFont typeface="Arial" panose="020B0604020202020204" pitchFamily="34" charset="0"/>
              <a:buChar char="•"/>
            </a:pPr>
            <a:r>
              <a:rPr lang="en-US" b="1" dirty="0"/>
              <a:t>Details</a:t>
            </a:r>
            <a:r>
              <a:rPr lang="en-US" dirty="0"/>
              <a:t>:</a:t>
            </a:r>
          </a:p>
          <a:p>
            <a:pPr marL="742950" lvl="1" indent="-285750">
              <a:buFont typeface="Arial" panose="020B0604020202020204" pitchFamily="34" charset="0"/>
              <a:buChar char="•"/>
            </a:pPr>
            <a:r>
              <a:rPr lang="en-US" dirty="0"/>
              <a:t>The algorithm incrementally assigns values to variables and checks constraints at each step.</a:t>
            </a:r>
          </a:p>
          <a:p>
            <a:pPr marL="742950" lvl="1" indent="-285750">
              <a:buFont typeface="Arial" panose="020B0604020202020204" pitchFamily="34" charset="0"/>
              <a:buChar char="•"/>
            </a:pPr>
            <a:r>
              <a:rPr lang="en-US" dirty="0"/>
              <a:t>If constraints are violated, it backtracks to try different values.</a:t>
            </a:r>
          </a:p>
          <a:p>
            <a:pPr>
              <a:buFont typeface="Arial" panose="020B0604020202020204" pitchFamily="34" charset="0"/>
              <a:buChar char="•"/>
            </a:pPr>
            <a:r>
              <a:rPr lang="en-US" b="1" dirty="0"/>
              <a:t>Steps</a:t>
            </a:r>
            <a:r>
              <a:rPr lang="en-US" dirty="0"/>
              <a:t>:</a:t>
            </a:r>
          </a:p>
          <a:p>
            <a:pPr marL="742950" lvl="1" indent="-285750">
              <a:buFont typeface="Arial" panose="020B0604020202020204" pitchFamily="34" charset="0"/>
              <a:buChar char="•"/>
            </a:pPr>
            <a:r>
              <a:rPr lang="en-US" dirty="0"/>
              <a:t>Start with the first variable.</a:t>
            </a:r>
          </a:p>
          <a:p>
            <a:pPr marL="742950" lvl="1" indent="-285750">
              <a:buFont typeface="Arial" panose="020B0604020202020204" pitchFamily="34" charset="0"/>
              <a:buChar char="•"/>
            </a:pPr>
            <a:r>
              <a:rPr lang="en-US" dirty="0"/>
              <a:t>Assign a value from its domain.</a:t>
            </a:r>
          </a:p>
          <a:p>
            <a:pPr marL="742950" lvl="1" indent="-285750">
              <a:buFont typeface="Arial" panose="020B0604020202020204" pitchFamily="34" charset="0"/>
              <a:buChar char="•"/>
            </a:pPr>
            <a:r>
              <a:rPr lang="en-US" dirty="0"/>
              <a:t>Move to the next variable.</a:t>
            </a:r>
          </a:p>
          <a:p>
            <a:pPr marL="742950" lvl="1" indent="-285750">
              <a:buFont typeface="Arial" panose="020B0604020202020204" pitchFamily="34" charset="0"/>
              <a:buChar char="•"/>
            </a:pPr>
            <a:r>
              <a:rPr lang="en-US" dirty="0"/>
              <a:t>Backtrack if no value satisfies the constraints.</a:t>
            </a:r>
          </a:p>
          <a:p>
            <a:pPr>
              <a:buFont typeface="Arial" panose="020B0604020202020204" pitchFamily="34" charset="0"/>
              <a:buChar char="•"/>
            </a:pPr>
            <a:r>
              <a:rPr lang="en-US" b="1" dirty="0"/>
              <a:t>Challenges</a:t>
            </a:r>
            <a:r>
              <a:rPr lang="en-US" dirty="0"/>
              <a:t>: Can lead to combinatorial explosion in larger problems.</a:t>
            </a:r>
          </a:p>
          <a:p>
            <a:pPr>
              <a:buFont typeface="Arial" panose="020B0604020202020204" pitchFamily="34" charset="0"/>
              <a:buChar char="•"/>
            </a:pPr>
            <a:r>
              <a:rPr lang="en-US" b="1" dirty="0"/>
              <a:t>Optimizations</a:t>
            </a:r>
            <a:r>
              <a:rPr lang="en-US" dirty="0"/>
              <a:t>: Use heuristics like </a:t>
            </a:r>
            <a:r>
              <a:rPr lang="en-US" b="1" dirty="0"/>
              <a:t>minimum remaining values (MRV)</a:t>
            </a:r>
            <a:r>
              <a:rPr lang="en-US" dirty="0"/>
              <a:t> to choose variables more intelligently.</a:t>
            </a:r>
          </a:p>
          <a:p>
            <a:r>
              <a:rPr lang="en-US" b="1" dirty="0"/>
              <a:t>Slide 9: Constraint Propagation</a:t>
            </a:r>
          </a:p>
          <a:p>
            <a:pPr>
              <a:buFont typeface="Arial" panose="020B0604020202020204" pitchFamily="34" charset="0"/>
              <a:buChar char="•"/>
            </a:pPr>
            <a:r>
              <a:rPr lang="en-US" b="1" dirty="0"/>
              <a:t>Details</a:t>
            </a:r>
            <a:r>
              <a:rPr lang="en-US" dirty="0"/>
              <a:t>: Improves search by enforcing constraints during the search process.</a:t>
            </a:r>
          </a:p>
          <a:p>
            <a:pPr>
              <a:buFont typeface="Arial" panose="020B0604020202020204" pitchFamily="34" charset="0"/>
              <a:buChar char="•"/>
            </a:pPr>
            <a:r>
              <a:rPr lang="en-US" b="1" dirty="0"/>
              <a:t>Techniques</a:t>
            </a:r>
            <a:r>
              <a:rPr lang="en-US" dirty="0"/>
              <a:t>:</a:t>
            </a:r>
          </a:p>
          <a:p>
            <a:pPr marL="742950" lvl="1" indent="-285750">
              <a:buFont typeface="Arial" panose="020B0604020202020204" pitchFamily="34" charset="0"/>
              <a:buChar char="•"/>
            </a:pPr>
            <a:r>
              <a:rPr lang="en-US" b="1" dirty="0"/>
              <a:t>Arc Consistency</a:t>
            </a:r>
            <a:r>
              <a:rPr lang="en-US" dirty="0"/>
              <a:t>:</a:t>
            </a:r>
          </a:p>
          <a:p>
            <a:pPr marL="1143000" lvl="2" indent="-228600">
              <a:buFont typeface="Arial" panose="020B0604020202020204" pitchFamily="34" charset="0"/>
              <a:buChar char="•"/>
            </a:pPr>
            <a:r>
              <a:rPr lang="en-US" dirty="0"/>
              <a:t>If a variable’s domain value conflicts with all values of a connected variable, it’s removed from the domain.</a:t>
            </a:r>
          </a:p>
          <a:p>
            <a:pPr marL="742950" lvl="1" indent="-285750">
              <a:buFont typeface="Arial" panose="020B0604020202020204" pitchFamily="34" charset="0"/>
              <a:buChar char="•"/>
            </a:pPr>
            <a:r>
              <a:rPr lang="en-US" b="1" dirty="0"/>
              <a:t>Forward Checking</a:t>
            </a:r>
            <a:r>
              <a:rPr lang="en-US" dirty="0"/>
              <a:t>:</a:t>
            </a:r>
          </a:p>
          <a:p>
            <a:pPr marL="1143000" lvl="2" indent="-228600">
              <a:buFont typeface="Arial" panose="020B0604020202020204" pitchFamily="34" charset="0"/>
              <a:buChar char="•"/>
            </a:pPr>
            <a:r>
              <a:rPr lang="en-US" dirty="0"/>
              <a:t>When a variable is assigned, incompatible values are removed from the domains of future variables.</a:t>
            </a:r>
          </a:p>
          <a:p>
            <a:pPr>
              <a:buFont typeface="Arial" panose="020B0604020202020204" pitchFamily="34" charset="0"/>
              <a:buChar char="•"/>
            </a:pPr>
            <a:r>
              <a:rPr lang="en-US" b="1" dirty="0"/>
              <a:t>Example</a:t>
            </a:r>
            <a:r>
              <a:rPr lang="en-US" dirty="0"/>
              <a:t>:</a:t>
            </a:r>
          </a:p>
          <a:p>
            <a:pPr marL="742950" lvl="1" indent="-285750">
              <a:buFont typeface="Arial" panose="020B0604020202020204" pitchFamily="34" charset="0"/>
              <a:buChar char="•"/>
            </a:pPr>
            <a:r>
              <a:rPr lang="en-US" dirty="0"/>
              <a:t>In map coloring, if one region is assigned "Red," adjacent regions cannot have "Red," reducing their domains.</a:t>
            </a:r>
          </a:p>
          <a:p>
            <a:pPr>
              <a:buFont typeface="Arial" panose="020B0604020202020204" pitchFamily="34" charset="0"/>
              <a:buChar char="•"/>
            </a:pPr>
            <a:r>
              <a:rPr lang="en-US" b="1" dirty="0"/>
              <a:t>Advantages</a:t>
            </a:r>
            <a:r>
              <a:rPr lang="en-US" dirty="0"/>
              <a:t>:</a:t>
            </a:r>
          </a:p>
          <a:p>
            <a:pPr marL="742950" lvl="1" indent="-285750">
              <a:buFont typeface="Arial" panose="020B0604020202020204" pitchFamily="34" charset="0"/>
              <a:buChar char="•"/>
            </a:pPr>
            <a:r>
              <a:rPr lang="en-US" dirty="0"/>
              <a:t>Speeds up search by pruning invalid paths early.</a:t>
            </a:r>
          </a:p>
          <a:p>
            <a:endParaRPr lang="en-US" dirty="0"/>
          </a:p>
        </p:txBody>
      </p:sp>
      <p:sp>
        <p:nvSpPr>
          <p:cNvPr id="4" name="Slide Number Placeholder 3"/>
          <p:cNvSpPr>
            <a:spLocks noGrp="1"/>
          </p:cNvSpPr>
          <p:nvPr>
            <p:ph type="sldNum" sz="quarter" idx="5"/>
          </p:nvPr>
        </p:nvSpPr>
        <p:spPr/>
        <p:txBody>
          <a:bodyPr/>
          <a:lstStyle/>
          <a:p>
            <a:fld id="{43B19DB7-DDC9-4C8C-8DC3-1D632FA3DF71}" type="slidenum">
              <a:rPr lang="en-US" smtClean="0"/>
              <a:t>66</a:t>
            </a:fld>
            <a:endParaRPr lang="en-US"/>
          </a:p>
        </p:txBody>
      </p:sp>
    </p:spTree>
    <p:extLst>
      <p:ext uri="{BB962C8B-B14F-4D97-AF65-F5344CB8AC3E}">
        <p14:creationId xmlns:p14="http://schemas.microsoft.com/office/powerpoint/2010/main" val="4187868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D1888FA5-680B-4A33-9E5E-5FB199B206F6}" type="datetime1">
              <a:rPr lang="en-US" smtClean="0"/>
              <a:t>12/15/2025</a:t>
            </a:fld>
            <a:endParaRPr lang="en-US"/>
          </a:p>
        </p:txBody>
      </p:sp>
      <p:sp>
        <p:nvSpPr>
          <p:cNvPr id="5" name="Footer Placeholder 4"/>
          <p:cNvSpPr>
            <a:spLocks noGrp="1"/>
          </p:cNvSpPr>
          <p:nvPr>
            <p:ph type="ftr" sz="quarter" idx="11"/>
          </p:nvPr>
        </p:nvSpPr>
        <p:spPr>
          <a:xfrm>
            <a:off x="3623733" y="6117336"/>
            <a:ext cx="3609438" cy="365125"/>
          </a:xfrm>
        </p:spPr>
        <p:txBody>
          <a:bodyPr/>
          <a:lstStyle/>
          <a:p>
            <a:r>
              <a:rPr lang="nb-NO"/>
              <a:t>kapil@nast.edu.np || kapilpant157</a:t>
            </a:r>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2975022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8EDD54CE-096F-4442-974B-1ADF8A5FFB63}" type="datetime1">
              <a:rPr lang="en-US" smtClean="0"/>
              <a:t>12/15/2025</a:t>
            </a:fld>
            <a:endParaRPr lang="en-US"/>
          </a:p>
        </p:txBody>
      </p:sp>
      <p:sp>
        <p:nvSpPr>
          <p:cNvPr id="5" name="Footer Placeholder 4"/>
          <p:cNvSpPr>
            <a:spLocks noGrp="1"/>
          </p:cNvSpPr>
          <p:nvPr>
            <p:ph type="ftr" sz="quarter" idx="11"/>
          </p:nvPr>
        </p:nvSpPr>
        <p:spPr>
          <a:xfrm>
            <a:off x="1972647" y="6108173"/>
            <a:ext cx="5314517" cy="365125"/>
          </a:xfrm>
        </p:spPr>
        <p:txBody>
          <a:bodyPr/>
          <a:lstStyle/>
          <a:p>
            <a:r>
              <a:rPr lang="nb-NO"/>
              <a:t>kapil@nast.edu.np || kapilpant157</a:t>
            </a:r>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59972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5739F6-AA22-4AB8-B9A0-46E7D844FC30}" type="datetime1">
              <a:rPr lang="en-US" smtClean="0"/>
              <a:t>12/15/2025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33639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4D85FB-AA28-4CF4-BB61-A1D3E9A1AB0F}" type="datetime1">
              <a:rPr lang="en-US" smtClean="0"/>
              <a:t>12/15/2025</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7467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849DE6-A3EB-4FDD-A00D-B5D22B378719}" type="datetime1">
              <a:rPr lang="en-US" smtClean="0"/>
              <a:t>12/15/2025</a:t>
            </a:fld>
            <a:endParaRPr lang="en-US"/>
          </a:p>
        </p:txBody>
      </p:sp>
      <p:sp>
        <p:nvSpPr>
          <p:cNvPr id="8" name="Footer Placeholder 7"/>
          <p:cNvSpPr>
            <a:spLocks noGrp="1"/>
          </p:cNvSpPr>
          <p:nvPr>
            <p:ph type="ftr" sz="quarter" idx="11"/>
          </p:nvPr>
        </p:nvSpPr>
        <p:spPr/>
        <p:txBody>
          <a:bodyPr/>
          <a:lstStyle/>
          <a:p>
            <a:r>
              <a:rPr lang="nb-NO"/>
              <a:t>kapil@nast.edu.np || kapilpant157</a:t>
            </a:r>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3190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CEEE0E-AEF3-4FD2-B7B7-94E65985C4BD}" type="datetime1">
              <a:rPr lang="en-US" smtClean="0"/>
              <a:t>12/15/2025</a:t>
            </a:fld>
            <a:endParaRPr lang="en-US"/>
          </a:p>
        </p:txBody>
      </p:sp>
      <p:sp>
        <p:nvSpPr>
          <p:cNvPr id="4" name="Footer Placeholder 3"/>
          <p:cNvSpPr>
            <a:spLocks noGrp="1"/>
          </p:cNvSpPr>
          <p:nvPr>
            <p:ph type="ftr" sz="quarter" idx="11"/>
          </p:nvPr>
        </p:nvSpPr>
        <p:spPr/>
        <p:txBody>
          <a:bodyPr/>
          <a:lstStyle/>
          <a:p>
            <a:r>
              <a:rPr lang="nb-NO"/>
              <a:t>kapil@nast.edu.np || kapilpant157</a:t>
            </a:r>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57627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EBA5D4-BB0D-408E-92BE-B1951AFAE81A}" type="datetime1">
              <a:rPr lang="en-US" smtClean="0"/>
              <a:t>12/15/2025</a:t>
            </a:fld>
            <a:endParaRPr lang="en-US"/>
          </a:p>
        </p:txBody>
      </p:sp>
      <p:sp>
        <p:nvSpPr>
          <p:cNvPr id="3" name="Footer Placeholder 2"/>
          <p:cNvSpPr>
            <a:spLocks noGrp="1"/>
          </p:cNvSpPr>
          <p:nvPr>
            <p:ph type="ftr" sz="quarter" idx="11"/>
          </p:nvPr>
        </p:nvSpPr>
        <p:spPr/>
        <p:txBody>
          <a:bodyPr/>
          <a:lstStyle/>
          <a:p>
            <a:r>
              <a:rPr lang="nb-NO"/>
              <a:t>kapil@nast.edu.np || kapilpant157</a:t>
            </a:r>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87621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71B15F-6FD3-43F8-9ACB-FCBF5BD5A74B}" type="datetime1">
              <a:rPr lang="en-US" smtClean="0"/>
              <a:t>12/15/2025</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4380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B1BAAC-9402-469F-AF30-90162E59B1E2}" type="datetime1">
              <a:rPr lang="en-US" smtClean="0"/>
              <a:t>12/15/2025</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10570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C7D019-4942-4A63-96F6-843943AD5388}" type="datetime1">
              <a:rPr lang="en-US" smtClean="0"/>
              <a:t>12/15/2025</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7950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10B9B8-AC24-49FF-9926-17AF9FEA6714}" type="datetime1">
              <a:rPr lang="en-US" smtClean="0"/>
              <a:t>12/15/2025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56847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D1C9D9-3546-4AF5-9DBC-0B5A04D0D9D8}" type="datetime1">
              <a:rPr lang="en-US" smtClean="0"/>
              <a:t>12/15/2025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36015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DB2768-6FE9-48AF-BB27-B060BD4A2C72}" type="datetime1">
              <a:rPr lang="en-US" smtClean="0"/>
              <a:t>12/15/2025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70435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930C01-49CA-4C9B-AFA1-40A2E3DFE8B3}" type="datetime1">
              <a:rPr lang="en-US" smtClean="0"/>
              <a:t>12/15/2025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549534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E742F0-E72F-459F-B269-75C4D070D701}" type="datetime1">
              <a:rPr lang="en-US" smtClean="0"/>
              <a:t>12/15/2025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10895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4B0722-8017-4AE3-A47F-BA2469CAC1CC}" type="datetime1">
              <a:rPr lang="en-US" smtClean="0"/>
              <a:t>12/15/2025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019451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16F7F9-AFC0-4471-853C-5167A3FA16CD}" type="datetime1">
              <a:rPr lang="en-US" smtClean="0"/>
              <a:t>12/15/2025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389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CB2BC8C-D20F-414E-94FF-95292E2DD7BA}" type="datetime1">
              <a:rPr lang="en-US" smtClean="0"/>
              <a:t>12/15/2025</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nb-NO"/>
              <a:t>kapil@nast.edu.np || kapilpant157</a:t>
            </a:r>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77873498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hf sldNum="0" hd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65.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Problem Solving</a:t>
            </a:r>
          </a:p>
        </p:txBody>
      </p:sp>
      <p:sp>
        <p:nvSpPr>
          <p:cNvPr id="3" name="Subtitle 2"/>
          <p:cNvSpPr>
            <a:spLocks noGrp="1"/>
          </p:cNvSpPr>
          <p:nvPr>
            <p:ph type="subTitle" idx="1"/>
          </p:nvPr>
        </p:nvSpPr>
        <p:spPr/>
        <p:txBody>
          <a:bodyPr/>
          <a:lstStyle/>
          <a:p>
            <a:r>
              <a:t>An Overview of Key Concepts in AI Problem Solving</a:t>
            </a:r>
          </a:p>
        </p:txBody>
      </p:sp>
      <p:sp>
        <p:nvSpPr>
          <p:cNvPr id="4" name="Footer Placeholder 3">
            <a:extLst>
              <a:ext uri="{FF2B5EF4-FFF2-40B4-BE49-F238E27FC236}">
                <a16:creationId xmlns:a16="http://schemas.microsoft.com/office/drawing/2014/main" id="{9875B845-2EC2-E112-2E44-62A5414E2243}"/>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929F6-58E2-5D7E-2C78-60467FF3390A}"/>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D8EA07D9-4F31-AF7D-6D57-9AA571B2023F}"/>
              </a:ext>
            </a:extLst>
          </p:cNvPr>
          <p:cNvSpPr>
            <a:spLocks noGrp="1"/>
          </p:cNvSpPr>
          <p:nvPr>
            <p:ph idx="1"/>
          </p:nvPr>
        </p:nvSpPr>
        <p:spPr/>
        <p:txBody>
          <a:bodyPr>
            <a:normAutofit fontScale="70000" lnSpcReduction="20000"/>
          </a:bodyPr>
          <a:lstStyle/>
          <a:p>
            <a:r>
              <a:rPr lang="en-US" dirty="0"/>
              <a:t>Problem Solving</a:t>
            </a:r>
          </a:p>
          <a:p>
            <a:r>
              <a:rPr lang="en-US" dirty="0"/>
              <a:t>Search Algorithms</a:t>
            </a:r>
          </a:p>
          <a:p>
            <a:pPr lvl="1"/>
            <a:r>
              <a:rPr lang="en-US" dirty="0"/>
              <a:t>Informed Search</a:t>
            </a:r>
          </a:p>
          <a:p>
            <a:pPr lvl="1"/>
            <a:r>
              <a:rPr lang="en-US" dirty="0"/>
              <a:t>Uninformed search</a:t>
            </a:r>
          </a:p>
          <a:p>
            <a:r>
              <a:rPr lang="en-US" dirty="0"/>
              <a:t>Local search and Optimization Problems</a:t>
            </a:r>
          </a:p>
          <a:p>
            <a:r>
              <a:rPr lang="en-US" dirty="0"/>
              <a:t>Adversarial search and game playing</a:t>
            </a:r>
          </a:p>
          <a:p>
            <a:r>
              <a:rPr lang="en-US" dirty="0"/>
              <a:t>Constraints Satisfaction Problems</a:t>
            </a:r>
          </a:p>
          <a:p>
            <a:pPr lvl="1"/>
            <a:r>
              <a:rPr lang="en-US" dirty="0"/>
              <a:t>Representation of CSP</a:t>
            </a:r>
          </a:p>
          <a:p>
            <a:pPr lvl="1"/>
            <a:r>
              <a:rPr lang="en-US" dirty="0"/>
              <a:t>Search algos for CSP</a:t>
            </a:r>
          </a:p>
          <a:p>
            <a:pPr lvl="1"/>
            <a:r>
              <a:rPr lang="en-US" dirty="0"/>
              <a:t>Optimization Technique</a:t>
            </a:r>
          </a:p>
        </p:txBody>
      </p:sp>
      <p:sp>
        <p:nvSpPr>
          <p:cNvPr id="4" name="Footer Placeholder 3">
            <a:extLst>
              <a:ext uri="{FF2B5EF4-FFF2-40B4-BE49-F238E27FC236}">
                <a16:creationId xmlns:a16="http://schemas.microsoft.com/office/drawing/2014/main" id="{BFEE20D5-F4D9-49BB-A919-990BD0196AA8}"/>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559599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5199" y="609600"/>
            <a:ext cx="7648121" cy="1099457"/>
          </a:xfrm>
        </p:spPr>
        <p:txBody>
          <a:bodyPr>
            <a:normAutofit fontScale="90000"/>
          </a:bodyPr>
          <a:lstStyle/>
          <a:p>
            <a:pPr>
              <a:lnSpc>
                <a:spcPct val="90000"/>
              </a:lnSpc>
            </a:pPr>
            <a:r>
              <a:t>Defining Problems as a State Space Search</a:t>
            </a:r>
            <a:endParaRPr lang="en-US"/>
          </a:p>
        </p:txBody>
      </p:sp>
      <p:graphicFrame>
        <p:nvGraphicFramePr>
          <p:cNvPr id="5" name="Content Placeholder 2">
            <a:extLst>
              <a:ext uri="{FF2B5EF4-FFF2-40B4-BE49-F238E27FC236}">
                <a16:creationId xmlns:a16="http://schemas.microsoft.com/office/drawing/2014/main" id="{0BC5D9F1-EABB-5948-2F3A-1A3571BB33CD}"/>
              </a:ext>
            </a:extLst>
          </p:cNvPr>
          <p:cNvGraphicFramePr>
            <a:graphicFrameLocks noGrp="1"/>
          </p:cNvGraphicFramePr>
          <p:nvPr>
            <p:ph idx="1"/>
            <p:extLst>
              <p:ext uri="{D42A27DB-BD31-4B8C-83A1-F6EECF244321}">
                <p14:modId xmlns:p14="http://schemas.microsoft.com/office/powerpoint/2010/main" val="1868344710"/>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19FC93CF-52F0-33F3-40EC-6AA3FDA580B3}"/>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75DD8-BAEA-F7DD-E2BF-819BF8AF5FA5}"/>
              </a:ext>
            </a:extLst>
          </p:cNvPr>
          <p:cNvSpPr>
            <a:spLocks noGrp="1"/>
          </p:cNvSpPr>
          <p:nvPr>
            <p:ph type="title"/>
          </p:nvPr>
        </p:nvSpPr>
        <p:spPr/>
        <p:txBody>
          <a:bodyPr/>
          <a:lstStyle/>
          <a:p>
            <a:r>
              <a:rPr lang="en-US" dirty="0"/>
              <a:t>Problem Solving Agents</a:t>
            </a:r>
          </a:p>
        </p:txBody>
      </p:sp>
      <p:sp>
        <p:nvSpPr>
          <p:cNvPr id="3" name="Content Placeholder 2">
            <a:extLst>
              <a:ext uri="{FF2B5EF4-FFF2-40B4-BE49-F238E27FC236}">
                <a16:creationId xmlns:a16="http://schemas.microsoft.com/office/drawing/2014/main" id="{40F73063-48B7-A9EB-95C1-F3552F00C1AE}"/>
              </a:ext>
            </a:extLst>
          </p:cNvPr>
          <p:cNvSpPr>
            <a:spLocks noGrp="1"/>
          </p:cNvSpPr>
          <p:nvPr>
            <p:ph idx="1"/>
          </p:nvPr>
        </p:nvSpPr>
        <p:spPr/>
        <p:txBody>
          <a:bodyPr>
            <a:normAutofit fontScale="85000" lnSpcReduction="20000"/>
          </a:bodyPr>
          <a:lstStyle/>
          <a:p>
            <a:r>
              <a:rPr lang="en-US" dirty="0"/>
              <a:t>It is an AI agent that decides what actions to take by formulating, searching, and executing a sequence of actions that lead to the desired goal.</a:t>
            </a:r>
          </a:p>
          <a:p>
            <a:r>
              <a:rPr lang="en-US" dirty="0"/>
              <a:t>Characteristics:</a:t>
            </a:r>
          </a:p>
          <a:p>
            <a:pPr lvl="1"/>
            <a:r>
              <a:rPr lang="en-US" dirty="0"/>
              <a:t>Goal-oriented</a:t>
            </a:r>
          </a:p>
          <a:p>
            <a:pPr lvl="1"/>
            <a:r>
              <a:rPr lang="en-US" dirty="0"/>
              <a:t>Uses search algorithms to find solutions</a:t>
            </a:r>
          </a:p>
          <a:p>
            <a:pPr lvl="1"/>
            <a:r>
              <a:rPr lang="en-US" dirty="0"/>
              <a:t>Takes decisions based on knowledge of states and actions</a:t>
            </a:r>
          </a:p>
          <a:p>
            <a:pPr lvl="1"/>
            <a:r>
              <a:rPr lang="en-US" dirty="0"/>
              <a:t>Operates in a deterministic, fully observable, and static environment</a:t>
            </a:r>
          </a:p>
          <a:p>
            <a:pPr marL="0" indent="0">
              <a:buNone/>
            </a:pPr>
            <a:r>
              <a:rPr lang="en-US" dirty="0"/>
              <a:t>Example: A navigation agent (Google Maps AI) setting origin and destination → computing path → following it</a:t>
            </a:r>
          </a:p>
        </p:txBody>
      </p:sp>
      <p:sp>
        <p:nvSpPr>
          <p:cNvPr id="4" name="Footer Placeholder 3">
            <a:extLst>
              <a:ext uri="{FF2B5EF4-FFF2-40B4-BE49-F238E27FC236}">
                <a16:creationId xmlns:a16="http://schemas.microsoft.com/office/drawing/2014/main" id="{45466B74-317B-A60C-6C5C-090AB86B4DD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747526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4EE25-1B9E-EFAE-EC98-04320A345420}"/>
              </a:ext>
            </a:extLst>
          </p:cNvPr>
          <p:cNvSpPr>
            <a:spLocks noGrp="1"/>
          </p:cNvSpPr>
          <p:nvPr>
            <p:ph type="title"/>
          </p:nvPr>
        </p:nvSpPr>
        <p:spPr/>
        <p:txBody>
          <a:bodyPr/>
          <a:lstStyle/>
          <a:p>
            <a:r>
              <a:rPr lang="en-US" dirty="0"/>
              <a:t>Problem Solving Processes</a:t>
            </a:r>
          </a:p>
        </p:txBody>
      </p:sp>
      <p:sp>
        <p:nvSpPr>
          <p:cNvPr id="3" name="Content Placeholder 2">
            <a:extLst>
              <a:ext uri="{FF2B5EF4-FFF2-40B4-BE49-F238E27FC236}">
                <a16:creationId xmlns:a16="http://schemas.microsoft.com/office/drawing/2014/main" id="{1537C264-56F1-CF42-20D4-ECD3A6341597}"/>
              </a:ext>
            </a:extLst>
          </p:cNvPr>
          <p:cNvSpPr>
            <a:spLocks noGrp="1"/>
          </p:cNvSpPr>
          <p:nvPr>
            <p:ph idx="1"/>
          </p:nvPr>
        </p:nvSpPr>
        <p:spPr/>
        <p:txBody>
          <a:bodyPr>
            <a:normAutofit fontScale="62500" lnSpcReduction="20000"/>
          </a:bodyPr>
          <a:lstStyle/>
          <a:p>
            <a:r>
              <a:rPr lang="en-US" b="1" dirty="0"/>
              <a:t>It includes the major steps an agent follows to reach a goal.</a:t>
            </a:r>
          </a:p>
          <a:p>
            <a:pPr marL="0" indent="0">
              <a:buNone/>
            </a:pPr>
            <a:r>
              <a:rPr lang="en-US" dirty="0"/>
              <a:t>Step 1: </a:t>
            </a:r>
            <a:r>
              <a:rPr lang="en-US" b="1" dirty="0"/>
              <a:t>Goal Formulation</a:t>
            </a:r>
          </a:p>
          <a:p>
            <a:pPr marL="0" indent="0">
              <a:buNone/>
            </a:pPr>
            <a:r>
              <a:rPr lang="en-US" dirty="0"/>
              <a:t>	Define what the agent wants to achieve.</a:t>
            </a:r>
          </a:p>
          <a:p>
            <a:pPr marL="0" indent="0">
              <a:buNone/>
            </a:pPr>
            <a:r>
              <a:rPr lang="en-US" dirty="0"/>
              <a:t>Step 2: </a:t>
            </a:r>
            <a:r>
              <a:rPr lang="en-US" b="1" dirty="0"/>
              <a:t>Problem Formulation</a:t>
            </a:r>
          </a:p>
          <a:p>
            <a:pPr marL="0" indent="0">
              <a:buNone/>
            </a:pPr>
            <a:r>
              <a:rPr lang="en-US" dirty="0"/>
              <a:t>	Translate the goal into a problem that can be solved by search.</a:t>
            </a:r>
          </a:p>
          <a:p>
            <a:pPr marL="0" indent="0">
              <a:buNone/>
            </a:pPr>
            <a:r>
              <a:rPr lang="en-US" dirty="0"/>
              <a:t>Step 3: </a:t>
            </a:r>
            <a:r>
              <a:rPr lang="en-US" b="1" dirty="0"/>
              <a:t>Search for a Solution</a:t>
            </a:r>
          </a:p>
          <a:p>
            <a:pPr marL="0" indent="0">
              <a:buNone/>
            </a:pPr>
            <a:r>
              <a:rPr lang="en-US" dirty="0"/>
              <a:t>	Use algorithms like BFS, DFS, A*, etc., to find a sequence of actions.</a:t>
            </a:r>
          </a:p>
          <a:p>
            <a:pPr marL="0" indent="0">
              <a:buNone/>
            </a:pPr>
            <a:r>
              <a:rPr lang="en-US" dirty="0"/>
              <a:t>Step 4: </a:t>
            </a:r>
            <a:r>
              <a:rPr lang="en-US" b="1" dirty="0"/>
              <a:t>Execution of Solution</a:t>
            </a:r>
          </a:p>
          <a:p>
            <a:pPr marL="0" indent="0">
              <a:buNone/>
            </a:pPr>
            <a:r>
              <a:rPr lang="en-US" dirty="0"/>
              <a:t>	Implement the actions one by one in the environment.</a:t>
            </a:r>
          </a:p>
          <a:p>
            <a:pPr marL="0" indent="0">
              <a:buNone/>
            </a:pPr>
            <a:r>
              <a:rPr lang="en-US" dirty="0"/>
              <a:t>Step 5: </a:t>
            </a:r>
            <a:r>
              <a:rPr lang="en-US" b="1" dirty="0"/>
              <a:t>Evaluation</a:t>
            </a:r>
          </a:p>
          <a:p>
            <a:pPr marL="0" indent="0">
              <a:buNone/>
            </a:pPr>
            <a:r>
              <a:rPr lang="en-US" dirty="0"/>
              <a:t>	Check if the goal is achieved; if not, re-plan.</a:t>
            </a:r>
          </a:p>
        </p:txBody>
      </p:sp>
      <p:sp>
        <p:nvSpPr>
          <p:cNvPr id="4" name="Footer Placeholder 3">
            <a:extLst>
              <a:ext uri="{FF2B5EF4-FFF2-40B4-BE49-F238E27FC236}">
                <a16:creationId xmlns:a16="http://schemas.microsoft.com/office/drawing/2014/main" id="{CCF5DE5A-C154-7C6E-90B6-815CCD73122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723015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5199" y="609600"/>
            <a:ext cx="7648121" cy="1099457"/>
          </a:xfrm>
        </p:spPr>
        <p:txBody>
          <a:bodyPr>
            <a:normAutofit/>
          </a:bodyPr>
          <a:lstStyle/>
          <a:p>
            <a:r>
              <a:t>Production Systems</a:t>
            </a:r>
          </a:p>
        </p:txBody>
      </p:sp>
      <p:graphicFrame>
        <p:nvGraphicFramePr>
          <p:cNvPr id="5" name="Content Placeholder 2">
            <a:extLst>
              <a:ext uri="{FF2B5EF4-FFF2-40B4-BE49-F238E27FC236}">
                <a16:creationId xmlns:a16="http://schemas.microsoft.com/office/drawing/2014/main" id="{874BEA68-A194-A78C-48B4-E772C59B345B}"/>
              </a:ext>
            </a:extLst>
          </p:cNvPr>
          <p:cNvGraphicFramePr>
            <a:graphicFrameLocks noGrp="1"/>
          </p:cNvGraphicFramePr>
          <p:nvPr>
            <p:ph idx="1"/>
            <p:extLst>
              <p:ext uri="{D42A27DB-BD31-4B8C-83A1-F6EECF244321}">
                <p14:modId xmlns:p14="http://schemas.microsoft.com/office/powerpoint/2010/main" val="291352872"/>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2542B110-75AF-8784-C2A3-E27C6EF1ED52}"/>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66072-DAF2-68D1-D426-7DD32156F01B}"/>
              </a:ext>
            </a:extLst>
          </p:cNvPr>
          <p:cNvSpPr>
            <a:spLocks noGrp="1"/>
          </p:cNvSpPr>
          <p:nvPr>
            <p:ph type="title"/>
          </p:nvPr>
        </p:nvSpPr>
        <p:spPr/>
        <p:txBody>
          <a:bodyPr/>
          <a:lstStyle/>
          <a:p>
            <a:r>
              <a:rPr lang="en-US" dirty="0"/>
              <a:t>Introduction to Rule-Based Systems</a:t>
            </a:r>
          </a:p>
        </p:txBody>
      </p:sp>
      <p:sp>
        <p:nvSpPr>
          <p:cNvPr id="3" name="Content Placeholder 2">
            <a:extLst>
              <a:ext uri="{FF2B5EF4-FFF2-40B4-BE49-F238E27FC236}">
                <a16:creationId xmlns:a16="http://schemas.microsoft.com/office/drawing/2014/main" id="{756C4B85-8838-B65E-D027-17836C6BAE75}"/>
              </a:ext>
            </a:extLst>
          </p:cNvPr>
          <p:cNvSpPr>
            <a:spLocks noGrp="1"/>
          </p:cNvSpPr>
          <p:nvPr>
            <p:ph idx="1"/>
          </p:nvPr>
        </p:nvSpPr>
        <p:spPr/>
        <p:txBody>
          <a:bodyPr/>
          <a:lstStyle/>
          <a:p>
            <a:r>
              <a:rPr lang="en-US" dirty="0"/>
              <a:t>Systems that use logical 'IF-THEN' rules to process knowledge and make decisions.</a:t>
            </a:r>
          </a:p>
          <a:p>
            <a:r>
              <a:rPr lang="en-US" dirty="0"/>
              <a:t>Simulate expert decision-making processes.</a:t>
            </a:r>
          </a:p>
          <a:p>
            <a:r>
              <a:rPr lang="en-US" dirty="0"/>
              <a:t>Examples: Medical diagnosis systems, Fault detection systems, Recommendation engines.</a:t>
            </a:r>
          </a:p>
          <a:p>
            <a:endParaRPr lang="en-US" dirty="0"/>
          </a:p>
        </p:txBody>
      </p:sp>
      <p:sp>
        <p:nvSpPr>
          <p:cNvPr id="4" name="Footer Placeholder 3">
            <a:extLst>
              <a:ext uri="{FF2B5EF4-FFF2-40B4-BE49-F238E27FC236}">
                <a16:creationId xmlns:a16="http://schemas.microsoft.com/office/drawing/2014/main" id="{06060EC6-C746-1BFF-FB86-B881AABEF19C}"/>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017517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4214C-C111-1BAC-7864-E169EA816A06}"/>
              </a:ext>
            </a:extLst>
          </p:cNvPr>
          <p:cNvSpPr>
            <a:spLocks noGrp="1"/>
          </p:cNvSpPr>
          <p:nvPr>
            <p:ph type="title"/>
          </p:nvPr>
        </p:nvSpPr>
        <p:spPr/>
        <p:txBody>
          <a:bodyPr/>
          <a:lstStyle/>
          <a:p>
            <a:r>
              <a:rPr lang="en-US" dirty="0"/>
              <a:t>Key Components of Rule-Based Systems</a:t>
            </a:r>
          </a:p>
        </p:txBody>
      </p:sp>
      <p:sp>
        <p:nvSpPr>
          <p:cNvPr id="3" name="Content Placeholder 2">
            <a:extLst>
              <a:ext uri="{FF2B5EF4-FFF2-40B4-BE49-F238E27FC236}">
                <a16:creationId xmlns:a16="http://schemas.microsoft.com/office/drawing/2014/main" id="{364A742D-2778-20F9-54C1-3F1CAE4B5D40}"/>
              </a:ext>
            </a:extLst>
          </p:cNvPr>
          <p:cNvSpPr>
            <a:spLocks noGrp="1"/>
          </p:cNvSpPr>
          <p:nvPr>
            <p:ph idx="1"/>
          </p:nvPr>
        </p:nvSpPr>
        <p:spPr/>
        <p:txBody>
          <a:bodyPr/>
          <a:lstStyle/>
          <a:p>
            <a:r>
              <a:rPr lang="en-US" dirty="0"/>
              <a:t>Rule Set: Collection of logical 'IF-THEN' statements.</a:t>
            </a:r>
          </a:p>
          <a:p>
            <a:r>
              <a:rPr lang="en-US" dirty="0"/>
              <a:t>Working Memory: Dynamic storage of facts related to the problem.</a:t>
            </a:r>
          </a:p>
          <a:p>
            <a:r>
              <a:rPr lang="en-US" dirty="0"/>
              <a:t>Control System: Manages the selection, application, and sequencing of rules.</a:t>
            </a:r>
          </a:p>
          <a:p>
            <a:endParaRPr lang="en-US" dirty="0"/>
          </a:p>
        </p:txBody>
      </p:sp>
      <p:sp>
        <p:nvSpPr>
          <p:cNvPr id="4" name="Footer Placeholder 3">
            <a:extLst>
              <a:ext uri="{FF2B5EF4-FFF2-40B4-BE49-F238E27FC236}">
                <a16:creationId xmlns:a16="http://schemas.microsoft.com/office/drawing/2014/main" id="{55955E79-7BE8-9D32-8556-2B2C28DF737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223238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5199" y="609600"/>
            <a:ext cx="7648121" cy="1099457"/>
          </a:xfrm>
        </p:spPr>
        <p:txBody>
          <a:bodyPr>
            <a:normAutofit/>
          </a:bodyPr>
          <a:lstStyle/>
          <a:p>
            <a:r>
              <a:rPr lang="en-US" dirty="0"/>
              <a:t>Well-Defined Problems</a:t>
            </a:r>
          </a:p>
        </p:txBody>
      </p:sp>
      <p:graphicFrame>
        <p:nvGraphicFramePr>
          <p:cNvPr id="5" name="Content Placeholder 2">
            <a:extLst>
              <a:ext uri="{FF2B5EF4-FFF2-40B4-BE49-F238E27FC236}">
                <a16:creationId xmlns:a16="http://schemas.microsoft.com/office/drawing/2014/main" id="{48B6D8E1-DAB0-D0A3-A9E7-7E2600523B33}"/>
              </a:ext>
            </a:extLst>
          </p:cNvPr>
          <p:cNvGraphicFramePr>
            <a:graphicFrameLocks noGrp="1"/>
          </p:cNvGraphicFramePr>
          <p:nvPr>
            <p:ph idx="1"/>
            <p:extLst>
              <p:ext uri="{D42A27DB-BD31-4B8C-83A1-F6EECF244321}">
                <p14:modId xmlns:p14="http://schemas.microsoft.com/office/powerpoint/2010/main" val="3260818586"/>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8F5CF7B1-3D14-3D29-14CC-CFBB3C5F1D88}"/>
              </a:ext>
            </a:extLst>
          </p:cNvPr>
          <p:cNvSpPr>
            <a:spLocks noGrp="1"/>
          </p:cNvSpPr>
          <p:nvPr>
            <p:ph type="ftr" sz="quarter" idx="11"/>
          </p:nvPr>
        </p:nvSpPr>
        <p:spPr/>
        <p:txBody>
          <a:bodyPr/>
          <a:lstStyle/>
          <a:p>
            <a:r>
              <a:rPr lang="nb-NO"/>
              <a:t>kapil@nast.edu.np || kapilpant157</a:t>
            </a:r>
            <a:endParaRPr lang="en-US"/>
          </a:p>
        </p:txBody>
      </p:sp>
      <p:sp>
        <p:nvSpPr>
          <p:cNvPr id="6" name="TextBox 5">
            <a:extLst>
              <a:ext uri="{FF2B5EF4-FFF2-40B4-BE49-F238E27FC236}">
                <a16:creationId xmlns:a16="http://schemas.microsoft.com/office/drawing/2014/main" id="{6FAFC7A0-F97E-6E82-CC38-FC9C48C9132F}"/>
              </a:ext>
            </a:extLst>
          </p:cNvPr>
          <p:cNvSpPr txBox="1"/>
          <p:nvPr/>
        </p:nvSpPr>
        <p:spPr>
          <a:xfrm>
            <a:off x="1280160" y="5520447"/>
            <a:ext cx="2427268" cy="369332"/>
          </a:xfrm>
          <a:prstGeom prst="rect">
            <a:avLst/>
          </a:prstGeom>
          <a:noFill/>
        </p:spPr>
        <p:txBody>
          <a:bodyPr wrap="none" rtlCol="0">
            <a:spAutoFit/>
          </a:bodyPr>
          <a:lstStyle/>
          <a:p>
            <a:r>
              <a:rPr lang="en-US" dirty="0"/>
              <a:t>Example 8 puzzle game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Formulation and Problem Types</a:t>
            </a:r>
          </a:p>
        </p:txBody>
      </p:sp>
      <p:sp>
        <p:nvSpPr>
          <p:cNvPr id="3" name="Content Placeholder 2"/>
          <p:cNvSpPr>
            <a:spLocks noGrp="1"/>
          </p:cNvSpPr>
          <p:nvPr>
            <p:ph idx="1"/>
          </p:nvPr>
        </p:nvSpPr>
        <p:spPr/>
        <p:txBody>
          <a:bodyPr/>
          <a:lstStyle/>
          <a:p>
            <a:pPr marL="0" indent="0">
              <a:buNone/>
            </a:pPr>
            <a:r>
              <a:rPr lang="en-US" dirty="0"/>
              <a:t>	</a:t>
            </a:r>
            <a:r>
              <a:rPr lang="en-US" b="1" u="sng" dirty="0"/>
              <a:t>Deciding what actions and states to consider</a:t>
            </a:r>
            <a:r>
              <a:rPr lang="en-US" dirty="0"/>
              <a:t>.</a:t>
            </a:r>
          </a:p>
          <a:p>
            <a:pPr marL="0" indent="0">
              <a:buNone/>
            </a:pPr>
            <a:r>
              <a:rPr lang="en-US" dirty="0"/>
              <a:t>Initial state | Actions | Transition model | Goal | Path cost</a:t>
            </a:r>
            <a:endParaRPr dirty="0"/>
          </a:p>
          <a:p>
            <a:pPr marL="0" indent="0">
              <a:buNone/>
            </a:pPr>
            <a:r>
              <a:rPr b="1" dirty="0"/>
              <a:t>Types:</a:t>
            </a:r>
          </a:p>
          <a:p>
            <a:pPr marL="457200" lvl="1" indent="0">
              <a:buNone/>
            </a:pPr>
            <a:r>
              <a:rPr dirty="0"/>
              <a:t>1. Deterministic vs Stochastic Problems</a:t>
            </a:r>
            <a:endParaRPr lang="en-US" dirty="0"/>
          </a:p>
          <a:p>
            <a:pPr marL="457200" lvl="1" indent="0">
              <a:buNone/>
            </a:pPr>
            <a:r>
              <a:rPr dirty="0"/>
              <a:t>2. Single-agent vs Multi-agent Problems</a:t>
            </a:r>
          </a:p>
          <a:p>
            <a:pPr marL="457200" lvl="1" indent="0">
              <a:buNone/>
            </a:pPr>
            <a:r>
              <a:rPr dirty="0"/>
              <a:t>3. Static vs Dynamic Problems</a:t>
            </a:r>
          </a:p>
        </p:txBody>
      </p:sp>
      <p:sp>
        <p:nvSpPr>
          <p:cNvPr id="4" name="Footer Placeholder 3">
            <a:extLst>
              <a:ext uri="{FF2B5EF4-FFF2-40B4-BE49-F238E27FC236}">
                <a16:creationId xmlns:a16="http://schemas.microsoft.com/office/drawing/2014/main" id="{7C510F68-D9A1-53A3-2549-8D42E32467FB}"/>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E7358-03B6-A4F3-5DB8-971208D7AB37}"/>
              </a:ext>
            </a:extLst>
          </p:cNvPr>
          <p:cNvSpPr>
            <a:spLocks noGrp="1"/>
          </p:cNvSpPr>
          <p:nvPr>
            <p:ph type="title"/>
          </p:nvPr>
        </p:nvSpPr>
        <p:spPr/>
        <p:txBody>
          <a:bodyPr/>
          <a:lstStyle/>
          <a:p>
            <a:r>
              <a:rPr lang="en-US" dirty="0"/>
              <a:t>Puzzle problem</a:t>
            </a:r>
          </a:p>
        </p:txBody>
      </p:sp>
      <p:sp>
        <p:nvSpPr>
          <p:cNvPr id="3" name="Content Placeholder 2">
            <a:extLst>
              <a:ext uri="{FF2B5EF4-FFF2-40B4-BE49-F238E27FC236}">
                <a16:creationId xmlns:a16="http://schemas.microsoft.com/office/drawing/2014/main" id="{72BB0285-841B-610C-D85E-49F6E4494E9F}"/>
              </a:ext>
            </a:extLst>
          </p:cNvPr>
          <p:cNvSpPr>
            <a:spLocks noGrp="1"/>
          </p:cNvSpPr>
          <p:nvPr>
            <p:ph idx="1"/>
          </p:nvPr>
        </p:nvSpPr>
        <p:spPr/>
        <p:txBody>
          <a:bodyPr/>
          <a:lstStyle/>
          <a:p>
            <a:r>
              <a:rPr lang="en-US" dirty="0"/>
              <a:t>Given a 3×3 board with 8 tiles (each numbered from 1 to 8) and one empty space, the objective is to place the numbers to match the final configuration using the empty space. We can slide four adjacent tiles (left, right, above, and below) into the empty space</a:t>
            </a:r>
          </a:p>
          <a:p>
            <a:r>
              <a:rPr lang="en-US" dirty="0"/>
              <a:t>Question: </a:t>
            </a:r>
            <a:r>
              <a:rPr lang="en-US" b="1" dirty="0"/>
              <a:t>How can we move number such that we can get empty box at last?</a:t>
            </a:r>
          </a:p>
          <a:p>
            <a:r>
              <a:rPr lang="en-US" b="1" dirty="0"/>
              <a:t>States, initial state, goal state, production rules</a:t>
            </a:r>
            <a:endParaRPr lang="en-US" dirty="0"/>
          </a:p>
        </p:txBody>
      </p:sp>
      <p:sp>
        <p:nvSpPr>
          <p:cNvPr id="4" name="Footer Placeholder 3">
            <a:extLst>
              <a:ext uri="{FF2B5EF4-FFF2-40B4-BE49-F238E27FC236}">
                <a16:creationId xmlns:a16="http://schemas.microsoft.com/office/drawing/2014/main" id="{1381E607-65E3-1B2F-03FD-F51BEB1D333F}"/>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982405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9EBB2-62FC-7B4F-B8C6-80B383D84321}"/>
              </a:ext>
            </a:extLst>
          </p:cNvPr>
          <p:cNvSpPr>
            <a:spLocks noGrp="1"/>
          </p:cNvSpPr>
          <p:nvPr>
            <p:ph type="title"/>
          </p:nvPr>
        </p:nvSpPr>
        <p:spPr/>
        <p:txBody>
          <a:bodyPr/>
          <a:lstStyle/>
          <a:p>
            <a:r>
              <a:rPr lang="en-US" dirty="0"/>
              <a:t>Missionaries and cannibal </a:t>
            </a:r>
          </a:p>
        </p:txBody>
      </p:sp>
      <p:sp>
        <p:nvSpPr>
          <p:cNvPr id="3" name="Content Placeholder 2">
            <a:extLst>
              <a:ext uri="{FF2B5EF4-FFF2-40B4-BE49-F238E27FC236}">
                <a16:creationId xmlns:a16="http://schemas.microsoft.com/office/drawing/2014/main" id="{25E82511-AFED-3D0A-7209-507587093FAD}"/>
              </a:ext>
            </a:extLst>
          </p:cNvPr>
          <p:cNvSpPr>
            <a:spLocks noGrp="1"/>
          </p:cNvSpPr>
          <p:nvPr>
            <p:ph idx="1"/>
          </p:nvPr>
        </p:nvSpPr>
        <p:spPr/>
        <p:txBody>
          <a:bodyPr>
            <a:normAutofit fontScale="92500"/>
          </a:bodyPr>
          <a:lstStyle/>
          <a:p>
            <a:r>
              <a:rPr lang="en-US" dirty="0"/>
              <a:t>3 missionaries and 3 cannibals on one side of river, all are to be moved to another side of river via boat, boat can take only two  passengers.  The condition is that the no. of cannibals should not exceed then no. of missionaries in either of the banks. If exceeded the missionaries will be eaten.</a:t>
            </a:r>
          </a:p>
          <a:p>
            <a:pPr marL="0" indent="0">
              <a:buNone/>
            </a:pPr>
            <a:r>
              <a:rPr lang="en-US" b="1" dirty="0"/>
              <a:t>Question : How can the boat be used to carry all missionaries and cannibals to another bank safely? </a:t>
            </a:r>
          </a:p>
          <a:p>
            <a:r>
              <a:rPr lang="en-US" b="1" dirty="0"/>
              <a:t>States, Initial state, Goal state, Production rules </a:t>
            </a:r>
          </a:p>
          <a:p>
            <a:endParaRPr lang="en-US" dirty="0"/>
          </a:p>
        </p:txBody>
      </p:sp>
      <p:sp>
        <p:nvSpPr>
          <p:cNvPr id="4" name="Footer Placeholder 3">
            <a:extLst>
              <a:ext uri="{FF2B5EF4-FFF2-40B4-BE49-F238E27FC236}">
                <a16:creationId xmlns:a16="http://schemas.microsoft.com/office/drawing/2014/main" id="{AC93582D-A278-6B0E-426A-C0FEC38BDC34}"/>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994504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59F1E-7CBC-C72A-C1E4-F8A5629E9991}"/>
              </a:ext>
            </a:extLst>
          </p:cNvPr>
          <p:cNvSpPr>
            <a:spLocks noGrp="1"/>
          </p:cNvSpPr>
          <p:nvPr>
            <p:ph type="title"/>
          </p:nvPr>
        </p:nvSpPr>
        <p:spPr/>
        <p:txBody>
          <a:bodyPr/>
          <a:lstStyle/>
          <a:p>
            <a:r>
              <a:rPr lang="en-US" dirty="0"/>
              <a:t>Water Jug problem</a:t>
            </a:r>
          </a:p>
        </p:txBody>
      </p:sp>
      <p:sp>
        <p:nvSpPr>
          <p:cNvPr id="3" name="Content Placeholder 2">
            <a:extLst>
              <a:ext uri="{FF2B5EF4-FFF2-40B4-BE49-F238E27FC236}">
                <a16:creationId xmlns:a16="http://schemas.microsoft.com/office/drawing/2014/main" id="{DC8CBC1B-47CA-E43F-CDD9-73D6E3BBF584}"/>
              </a:ext>
            </a:extLst>
          </p:cNvPr>
          <p:cNvSpPr>
            <a:spLocks noGrp="1"/>
          </p:cNvSpPr>
          <p:nvPr>
            <p:ph idx="1"/>
          </p:nvPr>
        </p:nvSpPr>
        <p:spPr/>
        <p:txBody>
          <a:bodyPr/>
          <a:lstStyle/>
          <a:p>
            <a:r>
              <a:rPr lang="en-US" dirty="0"/>
              <a:t>You have two jugs, one of 4 liters and another of 3 liters. There is no any measurement level on either of jugs, now your objective is to get 2 liters of water in  4liter jug. You can get any amount of water from tap and can drop any amount of water in ground.</a:t>
            </a:r>
          </a:p>
          <a:p>
            <a:pPr marL="0" indent="0">
              <a:buNone/>
            </a:pPr>
            <a:r>
              <a:rPr lang="en-US" b="1" dirty="0"/>
              <a:t>Question: What are state representations.</a:t>
            </a:r>
          </a:p>
          <a:p>
            <a:pPr marL="0" indent="0">
              <a:buNone/>
            </a:pPr>
            <a:r>
              <a:rPr lang="en-US" b="1" dirty="0"/>
              <a:t>States, initial state, goal state, and production rules.</a:t>
            </a:r>
          </a:p>
        </p:txBody>
      </p:sp>
      <p:sp>
        <p:nvSpPr>
          <p:cNvPr id="4" name="Footer Placeholder 3">
            <a:extLst>
              <a:ext uri="{FF2B5EF4-FFF2-40B4-BE49-F238E27FC236}">
                <a16:creationId xmlns:a16="http://schemas.microsoft.com/office/drawing/2014/main" id="{F8BD97FD-8FFB-0F3E-7955-824CE448CB6C}"/>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265454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3">
            <a:extLst>
              <a:ext uri="{FF2B5EF4-FFF2-40B4-BE49-F238E27FC236}">
                <a16:creationId xmlns:a16="http://schemas.microsoft.com/office/drawing/2014/main" id="{9B9A2760-0439-803A-B242-EDFA17F65E7C}"/>
              </a:ext>
            </a:extLst>
          </p:cNvPr>
          <p:cNvGraphicFramePr>
            <a:graphicFrameLocks noGrp="1"/>
          </p:cNvGraphicFramePr>
          <p:nvPr>
            <p:ph idx="1"/>
            <p:extLst>
              <p:ext uri="{D42A27DB-BD31-4B8C-83A1-F6EECF244321}">
                <p14:modId xmlns:p14="http://schemas.microsoft.com/office/powerpoint/2010/main" val="1694064100"/>
              </p:ext>
            </p:extLst>
          </p:nvPr>
        </p:nvGraphicFramePr>
        <p:xfrm>
          <a:off x="707367" y="1894115"/>
          <a:ext cx="8246852" cy="39623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1">
            <a:extLst>
              <a:ext uri="{FF2B5EF4-FFF2-40B4-BE49-F238E27FC236}">
                <a16:creationId xmlns:a16="http://schemas.microsoft.com/office/drawing/2014/main" id="{6CBC979E-7AD1-A3A2-96EA-F890BE8874AD}"/>
              </a:ext>
            </a:extLst>
          </p:cNvPr>
          <p:cNvSpPr>
            <a:spLocks noGrp="1"/>
          </p:cNvSpPr>
          <p:nvPr>
            <p:ph type="title"/>
          </p:nvPr>
        </p:nvSpPr>
        <p:spPr>
          <a:xfrm>
            <a:off x="982133" y="457201"/>
            <a:ext cx="7704667" cy="1981200"/>
          </a:xfrm>
        </p:spPr>
        <p:txBody>
          <a:bodyPr/>
          <a:lstStyle/>
          <a:p>
            <a:r>
              <a:rPr lang="en-US" dirty="0"/>
              <a:t>Searching</a:t>
            </a:r>
          </a:p>
        </p:txBody>
      </p:sp>
      <p:sp>
        <p:nvSpPr>
          <p:cNvPr id="4" name="Footer Placeholder 3">
            <a:extLst>
              <a:ext uri="{FF2B5EF4-FFF2-40B4-BE49-F238E27FC236}">
                <a16:creationId xmlns:a16="http://schemas.microsoft.com/office/drawing/2014/main" id="{C2867792-5C02-34D6-6659-A3F613EFC6A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50051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E605D2B1-13E6-E546-B41F-6610550022C8}"/>
              </a:ext>
            </a:extLst>
          </p:cNvPr>
          <p:cNvGraphicFramePr/>
          <p:nvPr>
            <p:extLst>
              <p:ext uri="{D42A27DB-BD31-4B8C-83A1-F6EECF244321}">
                <p14:modId xmlns:p14="http://schemas.microsoft.com/office/powerpoint/2010/main" val="1496443923"/>
              </p:ext>
            </p:extLst>
          </p:nvPr>
        </p:nvGraphicFramePr>
        <p:xfrm>
          <a:off x="952499" y="669471"/>
          <a:ext cx="7391400" cy="56197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AEAB4C76-79F4-DF63-9EC6-3D4507ECF17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093771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07B71-EF7C-9E4A-0826-611B118B113F}"/>
              </a:ext>
            </a:extLst>
          </p:cNvPr>
          <p:cNvSpPr>
            <a:spLocks noGrp="1"/>
          </p:cNvSpPr>
          <p:nvPr>
            <p:ph type="title"/>
          </p:nvPr>
        </p:nvSpPr>
        <p:spPr>
          <a:xfrm>
            <a:off x="982133" y="457201"/>
            <a:ext cx="7704667" cy="1047749"/>
          </a:xfrm>
        </p:spPr>
        <p:txBody>
          <a:bodyPr/>
          <a:lstStyle/>
          <a:p>
            <a:r>
              <a:rPr lang="en-US" b="1" dirty="0"/>
              <a:t>Breadth-First Search</a:t>
            </a:r>
          </a:p>
        </p:txBody>
      </p:sp>
      <p:sp>
        <p:nvSpPr>
          <p:cNvPr id="15" name="TextBox 14">
            <a:extLst>
              <a:ext uri="{FF2B5EF4-FFF2-40B4-BE49-F238E27FC236}">
                <a16:creationId xmlns:a16="http://schemas.microsoft.com/office/drawing/2014/main" id="{DFDA0C9F-E9B4-153A-78B8-9AB2DCFCDFB0}"/>
              </a:ext>
            </a:extLst>
          </p:cNvPr>
          <p:cNvSpPr txBox="1"/>
          <p:nvPr/>
        </p:nvSpPr>
        <p:spPr>
          <a:xfrm>
            <a:off x="982133" y="1548265"/>
            <a:ext cx="7990418" cy="480131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rgbClr val="202020"/>
                </a:solidFill>
                <a:latin typeface="__Inter_d65c78"/>
              </a:rPr>
              <a:t>Looks for the goal node among all the nodes at a given level before using the children of those nodes to Expand shallowest unexpanded node fringe is implemented as a FIFO queue.</a:t>
            </a:r>
          </a:p>
          <a:p>
            <a:pPr marL="0" marR="0" lvl="0" indent="0" algn="l" defTabSz="914400" rtl="0" eaLnBrk="0" fontAlgn="base" latinLnBrk="0" hangingPunct="0">
              <a:lnSpc>
                <a:spcPct val="100000"/>
              </a:lnSpc>
              <a:spcBef>
                <a:spcPct val="0"/>
              </a:spcBef>
              <a:spcAft>
                <a:spcPct val="0"/>
              </a:spcAft>
              <a:buClrTx/>
              <a:buSzTx/>
              <a:tabLst/>
            </a:pPr>
            <a:endParaRPr lang="en-US" altLang="en-US" b="1" dirty="0">
              <a:solidFill>
                <a:srgbClr val="202020"/>
              </a:solidFill>
              <a:latin typeface="__Inter_d65c78"/>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lang="en-US" altLang="en-US" b="1" dirty="0">
                <a:solidFill>
                  <a:srgbClr val="202020"/>
                </a:solidFill>
                <a:latin typeface="__Inter_d65c78"/>
              </a:rPr>
              <a:t>Initialization: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202020"/>
                </a:solidFill>
                <a:effectLst/>
                <a:latin typeface="__Inter_d65c78"/>
              </a:rPr>
              <a:t>Start by marking the initial node as visited and adding it to a queue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rgbClr val="202020"/>
                </a:solidFill>
                <a:effectLst/>
                <a:latin typeface="__Inter_d65c78"/>
              </a:rPr>
              <a:t>Processing Nodes</a:t>
            </a:r>
            <a:r>
              <a:rPr kumimoji="0" lang="en-US" altLang="en-US" sz="1800" b="0" i="0" u="none" strike="noStrike" cap="none" normalizeH="0" baseline="0" dirty="0">
                <a:ln>
                  <a:noFill/>
                </a:ln>
                <a:solidFill>
                  <a:srgbClr val="202020"/>
                </a:solidFill>
                <a:effectLst/>
                <a:latin typeface="__Inter_d65c78"/>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202020"/>
                </a:solidFill>
                <a:effectLst/>
                <a:latin typeface="__Inter_d65c78"/>
              </a:rPr>
              <a:t>While the queue is not empty:</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202020"/>
                </a:solidFill>
                <a:effectLst/>
                <a:latin typeface="__Inter_d65c78"/>
              </a:rPr>
              <a:t>Dequeue a node from the front of the queue.</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202020"/>
                </a:solidFill>
                <a:effectLst/>
                <a:latin typeface="__Inter_d65c78"/>
              </a:rPr>
              <a:t>Process the node (e.g., print it, store it).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202020"/>
                </a:solidFill>
                <a:effectLst/>
                <a:latin typeface="__Inter_d65c78"/>
              </a:rPr>
              <a:t>Check its neighbors using the adjacency list. For each unvisited neighbor:</a:t>
            </a:r>
          </a:p>
          <a:p>
            <a:pPr marL="1371600" marR="0" lvl="3"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202020"/>
                </a:solidFill>
                <a:effectLst/>
                <a:latin typeface="__Inter_d65c78"/>
              </a:rPr>
              <a:t>Mark it as visited.</a:t>
            </a:r>
          </a:p>
          <a:p>
            <a:pPr marL="1371600" marR="0" lvl="3"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202020"/>
                </a:solidFill>
                <a:effectLst/>
                <a:latin typeface="__Inter_d65c78"/>
              </a:rPr>
              <a:t>Enqueue it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rgbClr val="202020"/>
                </a:solidFill>
                <a:effectLst/>
                <a:latin typeface="__Inter_d65c78"/>
              </a:rPr>
              <a:t>Completion</a:t>
            </a:r>
            <a:r>
              <a:rPr kumimoji="0" lang="en-US" altLang="en-US" sz="1800" b="0" i="0" u="none" strike="noStrike" cap="none" normalizeH="0" baseline="0" dirty="0">
                <a:ln>
                  <a:noFill/>
                </a:ln>
                <a:solidFill>
                  <a:srgbClr val="202020"/>
                </a:solidFill>
                <a:effectLst/>
                <a:latin typeface="__Inter_d65c78"/>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202020"/>
                </a:solidFill>
                <a:effectLst/>
                <a:latin typeface="__Inter_d65c78"/>
              </a:rPr>
              <a:t>The algorithm continues until all nodes have been visited, resulting in a complete traversal of the graph .</a:t>
            </a:r>
          </a:p>
          <a:p>
            <a:endParaRPr lang="en-US" dirty="0"/>
          </a:p>
        </p:txBody>
      </p:sp>
      <p:sp>
        <p:nvSpPr>
          <p:cNvPr id="3" name="Footer Placeholder 2">
            <a:extLst>
              <a:ext uri="{FF2B5EF4-FFF2-40B4-BE49-F238E27FC236}">
                <a16:creationId xmlns:a16="http://schemas.microsoft.com/office/drawing/2014/main" id="{E7798AAF-41FD-2DEC-503D-09A60239D91C}"/>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047185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2035F-6B65-331E-B705-03BCF33C7F5E}"/>
              </a:ext>
            </a:extLst>
          </p:cNvPr>
          <p:cNvSpPr>
            <a:spLocks noGrp="1"/>
          </p:cNvSpPr>
          <p:nvPr>
            <p:ph type="title"/>
          </p:nvPr>
        </p:nvSpPr>
        <p:spPr>
          <a:xfrm>
            <a:off x="982133" y="457201"/>
            <a:ext cx="7704667" cy="1028699"/>
          </a:xfrm>
        </p:spPr>
        <p:txBody>
          <a:bodyPr/>
          <a:lstStyle/>
          <a:p>
            <a:r>
              <a:rPr lang="en-US" dirty="0"/>
              <a:t>BFS Algorithm</a:t>
            </a:r>
          </a:p>
        </p:txBody>
      </p:sp>
      <p:sp>
        <p:nvSpPr>
          <p:cNvPr id="3" name="Content Placeholder 2">
            <a:extLst>
              <a:ext uri="{FF2B5EF4-FFF2-40B4-BE49-F238E27FC236}">
                <a16:creationId xmlns:a16="http://schemas.microsoft.com/office/drawing/2014/main" id="{09630F52-7E05-BC9C-FD74-454B0F278013}"/>
              </a:ext>
            </a:extLst>
          </p:cNvPr>
          <p:cNvSpPr>
            <a:spLocks noGrp="1"/>
          </p:cNvSpPr>
          <p:nvPr>
            <p:ph idx="1"/>
          </p:nvPr>
        </p:nvSpPr>
        <p:spPr>
          <a:xfrm>
            <a:off x="982133" y="1619251"/>
            <a:ext cx="4275667" cy="4781548"/>
          </a:xfrm>
        </p:spPr>
        <p:txBody>
          <a:bodyPr>
            <a:normAutofit fontScale="47500" lnSpcReduction="20000"/>
          </a:bodyPr>
          <a:lstStyle/>
          <a:p>
            <a:pPr marL="457200" indent="-457200">
              <a:buFont typeface="+mj-lt"/>
              <a:buAutoNum type="arabicPeriod"/>
            </a:pPr>
            <a:r>
              <a:rPr lang="en-US" dirty="0"/>
              <a:t>Start</a:t>
            </a:r>
          </a:p>
          <a:p>
            <a:pPr marL="457200" indent="-457200">
              <a:buFont typeface="+mj-lt"/>
              <a:buAutoNum type="arabicPeriod"/>
            </a:pPr>
            <a:r>
              <a:rPr lang="en-US" dirty="0"/>
              <a:t>Point out the pointer to root node</a:t>
            </a:r>
          </a:p>
          <a:p>
            <a:pPr marL="457200" lvl="1" indent="0">
              <a:buNone/>
            </a:pPr>
            <a:r>
              <a:rPr lang="en-US" dirty="0"/>
              <a:t>Mark node as visited</a:t>
            </a:r>
          </a:p>
          <a:p>
            <a:pPr marL="457200" lvl="1" indent="0">
              <a:buNone/>
            </a:pPr>
            <a:r>
              <a:rPr lang="en-US" dirty="0"/>
              <a:t>Print root node in output sequence</a:t>
            </a:r>
          </a:p>
          <a:p>
            <a:pPr marL="457200" indent="-457200">
              <a:buFont typeface="+mj-lt"/>
              <a:buAutoNum type="arabicPeriod"/>
            </a:pPr>
            <a:r>
              <a:rPr lang="en-US" dirty="0"/>
              <a:t>Search pointer and check for its adjacent nodes</a:t>
            </a:r>
          </a:p>
          <a:p>
            <a:pPr marL="457200" lvl="1" indent="0">
              <a:buNone/>
            </a:pPr>
            <a:r>
              <a:rPr lang="en-US" dirty="0"/>
              <a:t>If (adjacent == not_ visited)</a:t>
            </a:r>
          </a:p>
          <a:p>
            <a:pPr marL="457200" lvl="1" indent="0">
              <a:buNone/>
            </a:pPr>
            <a:r>
              <a:rPr lang="en-US" dirty="0"/>
              <a:t>	Enqueue node into the queue</a:t>
            </a:r>
          </a:p>
          <a:p>
            <a:pPr marL="457200" lvl="1" indent="0">
              <a:buNone/>
            </a:pPr>
            <a:r>
              <a:rPr lang="en-US" dirty="0"/>
              <a:t>	Mark it as visited node</a:t>
            </a:r>
          </a:p>
          <a:p>
            <a:pPr marL="457200" lvl="1" indent="0">
              <a:buNone/>
            </a:pPr>
            <a:r>
              <a:rPr lang="en-US" dirty="0"/>
              <a:t>	Goto step 3</a:t>
            </a:r>
          </a:p>
          <a:p>
            <a:pPr marL="457200" lvl="1" indent="0">
              <a:buNone/>
            </a:pPr>
            <a:r>
              <a:rPr lang="en-US" dirty="0"/>
              <a:t>Else </a:t>
            </a:r>
          </a:p>
          <a:p>
            <a:pPr marL="457200" lvl="1" indent="0">
              <a:buNone/>
            </a:pPr>
            <a:r>
              <a:rPr lang="en-US" dirty="0"/>
              <a:t>	Update the pointer to the top of the queue</a:t>
            </a:r>
          </a:p>
          <a:p>
            <a:pPr marL="457200" lvl="1" indent="0">
              <a:buNone/>
            </a:pPr>
            <a:r>
              <a:rPr lang="en-US" dirty="0"/>
              <a:t>	Dequeue top of the queue</a:t>
            </a:r>
          </a:p>
          <a:p>
            <a:pPr marL="457200" lvl="1" indent="0">
              <a:buNone/>
            </a:pPr>
            <a:r>
              <a:rPr lang="en-US" dirty="0"/>
              <a:t>	Print node in output sequence</a:t>
            </a:r>
          </a:p>
          <a:p>
            <a:pPr marL="457200" indent="-457200">
              <a:buFont typeface="+mj-lt"/>
              <a:buAutoNum type="arabicPeriod"/>
            </a:pPr>
            <a:r>
              <a:rPr lang="en-US" dirty="0"/>
              <a:t>Check for empty queue and pointer node has visited adjacent node</a:t>
            </a:r>
          </a:p>
          <a:p>
            <a:pPr marL="457200" lvl="1" indent="0">
              <a:buNone/>
            </a:pPr>
            <a:r>
              <a:rPr lang="en-US" dirty="0"/>
              <a:t>	If (Queue == Empty) &amp;&amp; pointer == visited))</a:t>
            </a:r>
          </a:p>
          <a:p>
            <a:pPr marL="457200" lvl="1" indent="0">
              <a:buNone/>
            </a:pPr>
            <a:r>
              <a:rPr lang="en-US" dirty="0"/>
              <a:t>		Goto 5</a:t>
            </a:r>
          </a:p>
          <a:p>
            <a:pPr marL="457200" lvl="1" indent="0">
              <a:buNone/>
            </a:pPr>
            <a:r>
              <a:rPr lang="en-US" dirty="0"/>
              <a:t>	Else </a:t>
            </a:r>
          </a:p>
          <a:p>
            <a:pPr marL="457200" lvl="1" indent="0">
              <a:buNone/>
            </a:pPr>
            <a:r>
              <a:rPr lang="en-US" dirty="0"/>
              <a:t>		Goto 4</a:t>
            </a:r>
          </a:p>
          <a:p>
            <a:pPr marL="457200" indent="-457200">
              <a:buFont typeface="+mj-lt"/>
              <a:buAutoNum type="arabicPeriod"/>
            </a:pPr>
            <a:r>
              <a:rPr lang="en-US" dirty="0"/>
              <a:t>Stop</a:t>
            </a:r>
          </a:p>
          <a:p>
            <a:pPr marL="914400" lvl="1" indent="-457200">
              <a:buFont typeface="+mj-lt"/>
              <a:buAutoNum type="arabicPeriod"/>
            </a:pPr>
            <a:endParaRPr lang="en-US" dirty="0"/>
          </a:p>
          <a:p>
            <a:pPr marL="914400" lvl="1" indent="-457200">
              <a:buFont typeface="+mj-lt"/>
              <a:buAutoNum type="arabicPeriod"/>
            </a:pPr>
            <a:endParaRPr lang="en-US" dirty="0"/>
          </a:p>
          <a:p>
            <a:pPr marL="914400" lvl="1" indent="-457200">
              <a:buFont typeface="+mj-lt"/>
              <a:buAutoNum type="arabicPeriod"/>
            </a:pPr>
            <a:endParaRPr lang="en-US" dirty="0"/>
          </a:p>
        </p:txBody>
      </p:sp>
      <p:sp>
        <p:nvSpPr>
          <p:cNvPr id="4" name="Footer Placeholder 3">
            <a:extLst>
              <a:ext uri="{FF2B5EF4-FFF2-40B4-BE49-F238E27FC236}">
                <a16:creationId xmlns:a16="http://schemas.microsoft.com/office/drawing/2014/main" id="{E00335A1-FB69-A555-D5BA-495D132E8DB9}"/>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96449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373AA0-466C-F3B0-9180-6FF7768B95D1}"/>
              </a:ext>
            </a:extLst>
          </p:cNvPr>
          <p:cNvSpPr>
            <a:spLocks noGrp="1"/>
          </p:cNvSpPr>
          <p:nvPr>
            <p:ph idx="1"/>
          </p:nvPr>
        </p:nvSpPr>
        <p:spPr>
          <a:xfrm>
            <a:off x="982133" y="3718560"/>
            <a:ext cx="7704667" cy="3332816"/>
          </a:xfrm>
        </p:spPr>
        <p:txBody>
          <a:bodyPr/>
          <a:lstStyle/>
          <a:p>
            <a:pPr marL="692785" marR="0" indent="-6350" algn="l">
              <a:lnSpc>
                <a:spcPct val="103000"/>
              </a:lnSpc>
              <a:spcAft>
                <a:spcPts val="75"/>
              </a:spcAft>
              <a:buNone/>
            </a:pPr>
            <a:r>
              <a:rPr lang="en-US" sz="1800" b="1" kern="100" dirty="0">
                <a:solidFill>
                  <a:srgbClr val="000000"/>
                </a:solidFill>
                <a:effectLst/>
                <a:latin typeface="Times New Roman" panose="02020603050405020304" pitchFamily="18" charset="0"/>
                <a:ea typeface="Times New Roman" panose="02020603050405020304" pitchFamily="18" charset="0"/>
              </a:rPr>
              <a:t>Completeness: </a:t>
            </a:r>
            <a:endParaRPr lang="en-US" sz="1800" kern="100" dirty="0">
              <a:solidFill>
                <a:srgbClr val="000000"/>
              </a:solidFill>
              <a:effectLst/>
              <a:latin typeface="Times New Roman" panose="02020603050405020304" pitchFamily="18" charset="0"/>
              <a:ea typeface="Times New Roman" panose="02020603050405020304" pitchFamily="18" charset="0"/>
            </a:endParaRPr>
          </a:p>
          <a:p>
            <a:pPr marR="0" lvl="0" algn="l">
              <a:lnSpc>
                <a:spcPct val="103000"/>
              </a:lnSpc>
              <a:buFont typeface="Arial" panose="020B0604020202020204" pitchFamily="34" charset="0"/>
              <a:buChar char="•"/>
            </a:pPr>
            <a:r>
              <a:rPr lang="en-US" sz="1800" i="1" kern="100" dirty="0">
                <a:solidFill>
                  <a:srgbClr val="000000"/>
                </a:solidFill>
                <a:effectLst/>
                <a:latin typeface="Times New Roman" panose="02020603050405020304" pitchFamily="18" charset="0"/>
                <a:ea typeface="Times New Roman" panose="02020603050405020304" pitchFamily="18" charset="0"/>
              </a:rPr>
              <a:t>Does it always find a solution if one exists? </a:t>
            </a:r>
          </a:p>
          <a:p>
            <a:pPr marR="0" lvl="0" algn="l">
              <a:lnSpc>
                <a:spcPct val="103000"/>
              </a:lnSpc>
              <a:buFont typeface="Arial" panose="020B0604020202020204" pitchFamily="34" charset="0"/>
              <a:buChar char="•"/>
            </a:pPr>
            <a:r>
              <a:rPr lang="en-US" sz="1800" kern="100" dirty="0">
                <a:solidFill>
                  <a:srgbClr val="000000"/>
                </a:solidFill>
                <a:effectLst/>
                <a:latin typeface="Times New Roman" panose="02020603050405020304" pitchFamily="18" charset="0"/>
                <a:ea typeface="Times New Roman" panose="02020603050405020304" pitchFamily="18" charset="0"/>
              </a:rPr>
              <a:t>YES </a:t>
            </a:r>
          </a:p>
          <a:p>
            <a:pPr marL="692785" marR="0" indent="-6350" algn="l">
              <a:lnSpc>
                <a:spcPct val="103000"/>
              </a:lnSpc>
              <a:spcAft>
                <a:spcPts val="75"/>
              </a:spcAft>
            </a:pPr>
            <a:r>
              <a:rPr lang="en-US" sz="1800" kern="100" dirty="0">
                <a:solidFill>
                  <a:srgbClr val="000000"/>
                </a:solidFill>
                <a:effectLst/>
                <a:latin typeface="Times New Roman" panose="02020603050405020304" pitchFamily="18" charset="0"/>
                <a:ea typeface="Times New Roman" panose="02020603050405020304" pitchFamily="18" charset="0"/>
              </a:rPr>
              <a:t>If the shallowest goal node is at some finite depth d and If </a:t>
            </a:r>
            <a:r>
              <a:rPr lang="en-US" sz="1800" i="1" kern="100" dirty="0">
                <a:solidFill>
                  <a:srgbClr val="000000"/>
                </a:solidFill>
                <a:effectLst/>
                <a:latin typeface="Times New Roman" panose="02020603050405020304" pitchFamily="18" charset="0"/>
                <a:ea typeface="Times New Roman" panose="02020603050405020304" pitchFamily="18" charset="0"/>
              </a:rPr>
              <a:t>b</a:t>
            </a:r>
            <a:r>
              <a:rPr lang="en-US" sz="1800" kern="100" dirty="0">
                <a:solidFill>
                  <a:srgbClr val="000000"/>
                </a:solidFill>
                <a:effectLst/>
                <a:latin typeface="Times New Roman" panose="02020603050405020304" pitchFamily="18" charset="0"/>
                <a:ea typeface="Times New Roman" panose="02020603050405020304" pitchFamily="18" charset="0"/>
              </a:rPr>
              <a:t> is finite  </a:t>
            </a:r>
          </a:p>
          <a:p>
            <a:endParaRPr lang="en-US" dirty="0"/>
          </a:p>
        </p:txBody>
      </p:sp>
      <p:pic>
        <p:nvPicPr>
          <p:cNvPr id="6" name="Picture 5">
            <a:extLst>
              <a:ext uri="{FF2B5EF4-FFF2-40B4-BE49-F238E27FC236}">
                <a16:creationId xmlns:a16="http://schemas.microsoft.com/office/drawing/2014/main" id="{4EDF738E-B72E-E6BD-2C0A-134DE27B71BF}"/>
              </a:ext>
            </a:extLst>
          </p:cNvPr>
          <p:cNvPicPr>
            <a:picLocks noChangeAspect="1"/>
          </p:cNvPicPr>
          <p:nvPr/>
        </p:nvPicPr>
        <p:blipFill>
          <a:blip r:embed="rId2"/>
          <a:stretch>
            <a:fillRect/>
          </a:stretch>
        </p:blipFill>
        <p:spPr>
          <a:xfrm>
            <a:off x="1588748" y="435093"/>
            <a:ext cx="5616793" cy="3816867"/>
          </a:xfrm>
          <a:prstGeom prst="rect">
            <a:avLst/>
          </a:prstGeom>
        </p:spPr>
      </p:pic>
      <p:sp>
        <p:nvSpPr>
          <p:cNvPr id="2" name="Footer Placeholder 1">
            <a:extLst>
              <a:ext uri="{FF2B5EF4-FFF2-40B4-BE49-F238E27FC236}">
                <a16:creationId xmlns:a16="http://schemas.microsoft.com/office/drawing/2014/main" id="{795AD1C6-3EA1-D439-6C1C-E04F1E08AD1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775024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F9224-4218-7965-1965-7CA53A1AA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509D26-A2EA-E622-D80B-2A2EA3596D7D}"/>
              </a:ext>
            </a:extLst>
          </p:cNvPr>
          <p:cNvSpPr>
            <a:spLocks noGrp="1"/>
          </p:cNvSpPr>
          <p:nvPr>
            <p:ph type="title"/>
          </p:nvPr>
        </p:nvSpPr>
        <p:spPr>
          <a:xfrm>
            <a:off x="982133" y="457201"/>
            <a:ext cx="7704667" cy="1047749"/>
          </a:xfrm>
        </p:spPr>
        <p:txBody>
          <a:bodyPr/>
          <a:lstStyle/>
          <a:p>
            <a:r>
              <a:rPr lang="en-US" b="1" dirty="0"/>
              <a:t>Depth-First Search</a:t>
            </a:r>
          </a:p>
        </p:txBody>
      </p:sp>
      <p:sp>
        <p:nvSpPr>
          <p:cNvPr id="15" name="TextBox 14">
            <a:extLst>
              <a:ext uri="{FF2B5EF4-FFF2-40B4-BE49-F238E27FC236}">
                <a16:creationId xmlns:a16="http://schemas.microsoft.com/office/drawing/2014/main" id="{34375AFD-88CE-EE0E-C002-D5DF4C6B17CC}"/>
              </a:ext>
            </a:extLst>
          </p:cNvPr>
          <p:cNvSpPr txBox="1"/>
          <p:nvPr/>
        </p:nvSpPr>
        <p:spPr>
          <a:xfrm>
            <a:off x="982133" y="1713684"/>
            <a:ext cx="8323178" cy="3769622"/>
          </a:xfrm>
          <a:prstGeom prst="rect">
            <a:avLst/>
          </a:prstGeom>
          <a:noFill/>
        </p:spPr>
        <p:txBody>
          <a:bodyPr wrap="square" rtlCol="0">
            <a:spAutoFit/>
          </a:bodyPr>
          <a:lstStyle/>
          <a:p>
            <a:pPr algn="l">
              <a:lnSpc>
                <a:spcPts val="2400"/>
              </a:lnSpc>
            </a:pPr>
            <a:r>
              <a:rPr lang="en-US" b="1" i="0" dirty="0">
                <a:solidFill>
                  <a:srgbClr val="242424"/>
                </a:solidFill>
                <a:effectLst/>
                <a:latin typeface="source-serif-pro"/>
              </a:rPr>
              <a:t>Looks for the goal node among all the children of the current node before using the sibling of this node </a:t>
            </a:r>
          </a:p>
          <a:p>
            <a:pPr algn="l">
              <a:lnSpc>
                <a:spcPts val="2400"/>
              </a:lnSpc>
            </a:pPr>
            <a:r>
              <a:rPr lang="en-US" b="1" i="0" dirty="0">
                <a:solidFill>
                  <a:srgbClr val="242424"/>
                </a:solidFill>
                <a:effectLst/>
                <a:latin typeface="source-serif-pro"/>
              </a:rPr>
              <a:t>Expand deepest unexpanded node </a:t>
            </a:r>
          </a:p>
          <a:p>
            <a:pPr algn="l">
              <a:lnSpc>
                <a:spcPts val="2400"/>
              </a:lnSpc>
            </a:pPr>
            <a:r>
              <a:rPr lang="en-US" b="1" dirty="0">
                <a:solidFill>
                  <a:srgbClr val="242424"/>
                </a:solidFill>
                <a:latin typeface="source-serif-pro"/>
              </a:rPr>
              <a:t>W</a:t>
            </a:r>
            <a:r>
              <a:rPr lang="en-US" b="1" i="0" dirty="0">
                <a:solidFill>
                  <a:srgbClr val="242424"/>
                </a:solidFill>
                <a:effectLst/>
                <a:latin typeface="source-serif-pro"/>
              </a:rPr>
              <a:t>orking Logic</a:t>
            </a:r>
          </a:p>
          <a:p>
            <a:pPr lvl="1">
              <a:lnSpc>
                <a:spcPts val="2400"/>
              </a:lnSpc>
              <a:buFont typeface="Arial" panose="020B0604020202020204" pitchFamily="34" charset="0"/>
              <a:buChar char="•"/>
            </a:pPr>
            <a:r>
              <a:rPr lang="en-US" b="0" i="0" dirty="0">
                <a:solidFill>
                  <a:srgbClr val="242424"/>
                </a:solidFill>
                <a:effectLst/>
                <a:latin typeface="source-serif-pro"/>
              </a:rPr>
              <a:t>Select the start node.</a:t>
            </a:r>
          </a:p>
          <a:p>
            <a:pPr lvl="1">
              <a:lnSpc>
                <a:spcPts val="2400"/>
              </a:lnSpc>
              <a:buFont typeface="Arial" panose="020B0604020202020204" pitchFamily="34" charset="0"/>
              <a:buChar char="•"/>
            </a:pPr>
            <a:r>
              <a:rPr lang="en-US" b="0" i="0" dirty="0">
                <a:solidFill>
                  <a:srgbClr val="242424"/>
                </a:solidFill>
                <a:effectLst/>
                <a:latin typeface="source-serif-pro"/>
              </a:rPr>
              <a:t>Visit the start node.</a:t>
            </a:r>
          </a:p>
          <a:p>
            <a:pPr lvl="1">
              <a:lnSpc>
                <a:spcPts val="2400"/>
              </a:lnSpc>
              <a:buFont typeface="Arial" panose="020B0604020202020204" pitchFamily="34" charset="0"/>
              <a:buChar char="•"/>
            </a:pPr>
            <a:r>
              <a:rPr lang="en-US" b="0" i="0" dirty="0">
                <a:solidFill>
                  <a:srgbClr val="242424"/>
                </a:solidFill>
                <a:effectLst/>
                <a:latin typeface="source-serif-pro"/>
              </a:rPr>
              <a:t>Explore the neighbors of the start node.</a:t>
            </a:r>
          </a:p>
          <a:p>
            <a:pPr lvl="1">
              <a:lnSpc>
                <a:spcPts val="2400"/>
              </a:lnSpc>
              <a:buFont typeface="Arial" panose="020B0604020202020204" pitchFamily="34" charset="0"/>
              <a:buChar char="•"/>
            </a:pPr>
            <a:r>
              <a:rPr lang="en-US" b="0" i="0" dirty="0">
                <a:solidFill>
                  <a:srgbClr val="242424"/>
                </a:solidFill>
                <a:effectLst/>
                <a:latin typeface="source-serif-pro"/>
              </a:rPr>
              <a:t>If there are undiscovered neighbor nodes, switch to that node and repeat the steps (recursively or using a chunk data structure).</a:t>
            </a:r>
          </a:p>
          <a:p>
            <a:pPr lvl="1">
              <a:lnSpc>
                <a:spcPts val="2400"/>
              </a:lnSpc>
              <a:buFont typeface="Arial" panose="020B0604020202020204" pitchFamily="34" charset="0"/>
              <a:buChar char="•"/>
            </a:pPr>
            <a:r>
              <a:rPr lang="en-US" b="0" i="0" dirty="0">
                <a:solidFill>
                  <a:srgbClr val="242424"/>
                </a:solidFill>
                <a:effectLst/>
                <a:latin typeface="source-serif-pro"/>
              </a:rPr>
              <a:t>When there are no undiscovered neighbor nodes, go back and return to the previous node.</a:t>
            </a:r>
          </a:p>
          <a:p>
            <a:pPr lvl="1">
              <a:lnSpc>
                <a:spcPts val="2400"/>
              </a:lnSpc>
              <a:buFont typeface="Arial" panose="020B0604020202020204" pitchFamily="34" charset="0"/>
              <a:buChar char="•"/>
            </a:pPr>
            <a:r>
              <a:rPr lang="en-US" b="0" i="0" dirty="0">
                <a:solidFill>
                  <a:srgbClr val="242424"/>
                </a:solidFill>
                <a:effectLst/>
                <a:latin typeface="source-serif-pro"/>
              </a:rPr>
              <a:t>Repeat the steps until all nodes have been visited.</a:t>
            </a:r>
          </a:p>
        </p:txBody>
      </p:sp>
      <p:sp>
        <p:nvSpPr>
          <p:cNvPr id="3" name="Footer Placeholder 2">
            <a:extLst>
              <a:ext uri="{FF2B5EF4-FFF2-40B4-BE49-F238E27FC236}">
                <a16:creationId xmlns:a16="http://schemas.microsoft.com/office/drawing/2014/main" id="{F4483FBA-EBCA-B62A-4F9F-677F77B41AC9}"/>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64851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3B4EC-BE80-B1B5-6EDC-3BB1F371673E}"/>
              </a:ext>
            </a:extLst>
          </p:cNvPr>
          <p:cNvSpPr>
            <a:spLocks noGrp="1"/>
          </p:cNvSpPr>
          <p:nvPr>
            <p:ph type="title"/>
          </p:nvPr>
        </p:nvSpPr>
        <p:spPr>
          <a:xfrm>
            <a:off x="982133" y="457201"/>
            <a:ext cx="7704667" cy="1200149"/>
          </a:xfrm>
        </p:spPr>
        <p:txBody>
          <a:bodyPr/>
          <a:lstStyle/>
          <a:p>
            <a:r>
              <a:rPr lang="en-US" dirty="0"/>
              <a:t>DFS Algorithms</a:t>
            </a:r>
          </a:p>
        </p:txBody>
      </p:sp>
      <p:sp>
        <p:nvSpPr>
          <p:cNvPr id="3" name="Content Placeholder 2">
            <a:extLst>
              <a:ext uri="{FF2B5EF4-FFF2-40B4-BE49-F238E27FC236}">
                <a16:creationId xmlns:a16="http://schemas.microsoft.com/office/drawing/2014/main" id="{21AB7C60-0229-B0F9-2057-83A81FF78316}"/>
              </a:ext>
            </a:extLst>
          </p:cNvPr>
          <p:cNvSpPr>
            <a:spLocks noGrp="1"/>
          </p:cNvSpPr>
          <p:nvPr>
            <p:ph idx="1"/>
          </p:nvPr>
        </p:nvSpPr>
        <p:spPr>
          <a:xfrm>
            <a:off x="982133" y="1577712"/>
            <a:ext cx="3437467" cy="4610099"/>
          </a:xfrm>
        </p:spPr>
        <p:txBody>
          <a:bodyPr>
            <a:normAutofit lnSpcReduction="10000"/>
          </a:bodyPr>
          <a:lstStyle/>
          <a:p>
            <a:pPr marL="457200" indent="-457200">
              <a:buFont typeface="+mj-lt"/>
              <a:buAutoNum type="arabicPeriod"/>
            </a:pPr>
            <a:r>
              <a:rPr lang="en-US" sz="1400" dirty="0"/>
              <a:t>Start</a:t>
            </a:r>
          </a:p>
          <a:p>
            <a:pPr marL="457200" indent="-457200">
              <a:buFont typeface="+mj-lt"/>
              <a:buAutoNum type="arabicPeriod"/>
            </a:pPr>
            <a:r>
              <a:rPr lang="en-US" sz="1400" dirty="0"/>
              <a:t>Push root node to stack</a:t>
            </a:r>
          </a:p>
          <a:p>
            <a:pPr marL="457200" lvl="1" indent="0">
              <a:buNone/>
            </a:pPr>
            <a:r>
              <a:rPr lang="en-US" sz="1200" dirty="0"/>
              <a:t>	Mark root node as visited</a:t>
            </a:r>
          </a:p>
          <a:p>
            <a:pPr marL="457200" lvl="1" indent="0">
              <a:buNone/>
            </a:pPr>
            <a:r>
              <a:rPr lang="en-US" sz="1200" dirty="0"/>
              <a:t>	Print root node in output sequence</a:t>
            </a:r>
          </a:p>
          <a:p>
            <a:pPr marL="457200" indent="-457200">
              <a:buFont typeface="+mj-lt"/>
              <a:buAutoNum type="arabicPeriod"/>
            </a:pPr>
            <a:r>
              <a:rPr lang="en-US" sz="1400" dirty="0"/>
              <a:t>Check top stack</a:t>
            </a:r>
          </a:p>
          <a:p>
            <a:pPr marL="457200" lvl="1" indent="0">
              <a:buNone/>
            </a:pPr>
            <a:r>
              <a:rPr lang="en-US" sz="1200" dirty="0"/>
              <a:t>	If stack == empty go to stem 6</a:t>
            </a:r>
          </a:p>
          <a:p>
            <a:pPr marL="457200" indent="-457200">
              <a:buFont typeface="+mj-lt"/>
              <a:buAutoNum type="arabicPeriod"/>
            </a:pPr>
            <a:r>
              <a:rPr lang="en-US" sz="1400" dirty="0"/>
              <a:t>Check adjacent of top stack</a:t>
            </a:r>
          </a:p>
          <a:p>
            <a:pPr marL="457200" lvl="1" indent="0">
              <a:buNone/>
            </a:pPr>
            <a:r>
              <a:rPr lang="en-US" sz="1200" dirty="0"/>
              <a:t>	If (adjacent == not visited) </a:t>
            </a:r>
          </a:p>
          <a:p>
            <a:pPr marL="914400" lvl="2" indent="0">
              <a:buNone/>
            </a:pPr>
            <a:r>
              <a:rPr lang="en-US" sz="1100" dirty="0"/>
              <a:t>	Push node to the top of the stack</a:t>
            </a:r>
          </a:p>
          <a:p>
            <a:pPr marL="914400" lvl="2" indent="0">
              <a:buNone/>
            </a:pPr>
            <a:r>
              <a:rPr lang="en-US" sz="1100" dirty="0"/>
              <a:t>	Mark node as visited</a:t>
            </a:r>
          </a:p>
          <a:p>
            <a:pPr marL="914400" lvl="2" indent="0">
              <a:buNone/>
            </a:pPr>
            <a:r>
              <a:rPr lang="en-US" sz="1100" dirty="0"/>
              <a:t>	Printed node in output sequence</a:t>
            </a:r>
          </a:p>
          <a:p>
            <a:pPr marL="457200" lvl="1" indent="0">
              <a:buNone/>
            </a:pPr>
            <a:r>
              <a:rPr lang="en-US" sz="1200" dirty="0"/>
              <a:t>	Else</a:t>
            </a:r>
          </a:p>
          <a:p>
            <a:pPr marL="914400" lvl="2" indent="0">
              <a:buNone/>
            </a:pPr>
            <a:r>
              <a:rPr lang="en-US" sz="1100" dirty="0"/>
              <a:t>	 pop top stack</a:t>
            </a:r>
          </a:p>
          <a:p>
            <a:pPr marL="457200" indent="-457200">
              <a:buFont typeface="+mj-lt"/>
              <a:buAutoNum type="arabicPeriod"/>
            </a:pPr>
            <a:r>
              <a:rPr lang="en-US" sz="1400" dirty="0"/>
              <a:t>Go to step 3</a:t>
            </a:r>
          </a:p>
          <a:p>
            <a:pPr marL="457200" indent="-457200">
              <a:buFont typeface="+mj-lt"/>
              <a:buAutoNum type="arabicPeriod"/>
            </a:pPr>
            <a:r>
              <a:rPr lang="en-US" sz="1400" dirty="0"/>
              <a:t>stop</a:t>
            </a:r>
          </a:p>
        </p:txBody>
      </p:sp>
      <p:sp>
        <p:nvSpPr>
          <p:cNvPr id="4" name="Footer Placeholder 3">
            <a:extLst>
              <a:ext uri="{FF2B5EF4-FFF2-40B4-BE49-F238E27FC236}">
                <a16:creationId xmlns:a16="http://schemas.microsoft.com/office/drawing/2014/main" id="{C082B21C-5032-98D3-E475-A43DDEA279D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555551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FDD4CD-7704-2F9A-7284-59C71CD07889}"/>
              </a:ext>
            </a:extLst>
          </p:cNvPr>
          <p:cNvSpPr>
            <a:spLocks noGrp="1"/>
          </p:cNvSpPr>
          <p:nvPr>
            <p:ph idx="1"/>
          </p:nvPr>
        </p:nvSpPr>
        <p:spPr>
          <a:xfrm>
            <a:off x="1119293" y="3794760"/>
            <a:ext cx="7704667" cy="3332816"/>
          </a:xfrm>
        </p:spPr>
        <p:txBody>
          <a:bodyPr/>
          <a:lstStyle/>
          <a:p>
            <a:pPr marL="692785" marR="0" indent="-6350" algn="l">
              <a:lnSpc>
                <a:spcPct val="103000"/>
              </a:lnSpc>
              <a:spcAft>
                <a:spcPts val="75"/>
              </a:spcAft>
              <a:buNone/>
            </a:pPr>
            <a:r>
              <a:rPr lang="en-US" sz="1800" b="1" kern="100" dirty="0">
                <a:solidFill>
                  <a:srgbClr val="000000"/>
                </a:solidFill>
                <a:effectLst/>
                <a:latin typeface="Times New Roman" panose="02020603050405020304" pitchFamily="18" charset="0"/>
                <a:ea typeface="Times New Roman" panose="02020603050405020304" pitchFamily="18" charset="0"/>
              </a:rPr>
              <a:t>Completeness; </a:t>
            </a:r>
            <a:endParaRPr lang="en-US" sz="1800" kern="1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l">
              <a:lnSpc>
                <a:spcPct val="103000"/>
              </a:lnSpc>
              <a:buFont typeface="Times New Roman" panose="02020603050405020304" pitchFamily="18" charset="0"/>
              <a:buChar char="-"/>
            </a:pPr>
            <a:r>
              <a:rPr lang="en-US" sz="1800" i="1" kern="100" dirty="0">
                <a:solidFill>
                  <a:srgbClr val="000000"/>
                </a:solidFill>
                <a:effectLst/>
                <a:latin typeface="Times New Roman" panose="02020603050405020304" pitchFamily="18" charset="0"/>
                <a:ea typeface="Times New Roman" panose="02020603050405020304" pitchFamily="18" charset="0"/>
              </a:rPr>
              <a:t>Does it always find a solution if one exists? </a:t>
            </a:r>
            <a:endParaRPr lang="en-US" sz="1800" kern="1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l">
              <a:lnSpc>
                <a:spcPct val="103000"/>
              </a:lnSpc>
              <a:spcAft>
                <a:spcPts val="75"/>
              </a:spcAft>
              <a:buFont typeface="Times New Roman" panose="02020603050405020304" pitchFamily="18" charset="0"/>
              <a:buChar char="-"/>
            </a:pPr>
            <a:r>
              <a:rPr lang="en-US" sz="1800" kern="100" dirty="0">
                <a:solidFill>
                  <a:srgbClr val="000000"/>
                </a:solidFill>
                <a:effectLst/>
                <a:latin typeface="Times New Roman" panose="02020603050405020304" pitchFamily="18" charset="0"/>
                <a:ea typeface="Times New Roman" panose="02020603050405020304" pitchFamily="18" charset="0"/>
              </a:rPr>
              <a:t>NO </a:t>
            </a:r>
          </a:p>
          <a:p>
            <a:pPr marL="692785" marR="0" indent="-6350" algn="l">
              <a:lnSpc>
                <a:spcPct val="103000"/>
              </a:lnSpc>
              <a:spcAft>
                <a:spcPts val="75"/>
              </a:spcAft>
            </a:pPr>
            <a:r>
              <a:rPr lang="en-US" sz="1800" kern="100" dirty="0">
                <a:solidFill>
                  <a:srgbClr val="000000"/>
                </a:solidFill>
                <a:effectLst/>
                <a:latin typeface="Times New Roman" panose="02020603050405020304" pitchFamily="18" charset="0"/>
                <a:ea typeface="Times New Roman" panose="02020603050405020304" pitchFamily="18" charset="0"/>
              </a:rPr>
              <a:t>If search space is infinite and search space contains loops then DFS may not find solution. </a:t>
            </a:r>
          </a:p>
          <a:p>
            <a:endParaRPr lang="en-US" dirty="0"/>
          </a:p>
        </p:txBody>
      </p:sp>
      <p:pic>
        <p:nvPicPr>
          <p:cNvPr id="4" name="Picture 3">
            <a:extLst>
              <a:ext uri="{FF2B5EF4-FFF2-40B4-BE49-F238E27FC236}">
                <a16:creationId xmlns:a16="http://schemas.microsoft.com/office/drawing/2014/main" id="{A51AF48C-EFED-1257-F024-7EF6ADF1B06F}"/>
              </a:ext>
            </a:extLst>
          </p:cNvPr>
          <p:cNvPicPr>
            <a:picLocks noChangeAspect="1"/>
          </p:cNvPicPr>
          <p:nvPr/>
        </p:nvPicPr>
        <p:blipFill>
          <a:blip r:embed="rId2"/>
          <a:stretch>
            <a:fillRect/>
          </a:stretch>
        </p:blipFill>
        <p:spPr>
          <a:xfrm>
            <a:off x="2541448" y="609600"/>
            <a:ext cx="4061104" cy="3296795"/>
          </a:xfrm>
          <a:prstGeom prst="rect">
            <a:avLst/>
          </a:prstGeom>
        </p:spPr>
      </p:pic>
      <p:sp>
        <p:nvSpPr>
          <p:cNvPr id="2" name="Footer Placeholder 1">
            <a:extLst>
              <a:ext uri="{FF2B5EF4-FFF2-40B4-BE49-F238E27FC236}">
                <a16:creationId xmlns:a16="http://schemas.microsoft.com/office/drawing/2014/main" id="{31EB54C6-76AB-4E37-9B3A-71A4CE98B050}"/>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231686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30122-14CD-6B08-EE27-B7DB86B22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F2A65E-A493-D584-37BD-319EE63AA04D}"/>
              </a:ext>
            </a:extLst>
          </p:cNvPr>
          <p:cNvSpPr>
            <a:spLocks noGrp="1"/>
          </p:cNvSpPr>
          <p:nvPr>
            <p:ph type="title"/>
          </p:nvPr>
        </p:nvSpPr>
        <p:spPr>
          <a:xfrm>
            <a:off x="982133" y="457201"/>
            <a:ext cx="7704667" cy="1047749"/>
          </a:xfrm>
        </p:spPr>
        <p:txBody>
          <a:bodyPr/>
          <a:lstStyle/>
          <a:p>
            <a:r>
              <a:rPr lang="en-US" b="1" dirty="0"/>
              <a:t>Depth Limited Search (DLS)</a:t>
            </a:r>
          </a:p>
        </p:txBody>
      </p:sp>
      <p:sp>
        <p:nvSpPr>
          <p:cNvPr id="15" name="TextBox 14">
            <a:extLst>
              <a:ext uri="{FF2B5EF4-FFF2-40B4-BE49-F238E27FC236}">
                <a16:creationId xmlns:a16="http://schemas.microsoft.com/office/drawing/2014/main" id="{E3903004-07AC-804C-975E-77F6C27A5FF5}"/>
              </a:ext>
            </a:extLst>
          </p:cNvPr>
          <p:cNvSpPr txBox="1"/>
          <p:nvPr/>
        </p:nvSpPr>
        <p:spPr>
          <a:xfrm>
            <a:off x="1127760" y="1713684"/>
            <a:ext cx="6339840" cy="691856"/>
          </a:xfrm>
          <a:prstGeom prst="rect">
            <a:avLst/>
          </a:prstGeom>
          <a:noFill/>
        </p:spPr>
        <p:txBody>
          <a:bodyPr wrap="square" rtlCol="0">
            <a:spAutoFit/>
          </a:bodyPr>
          <a:lstStyle/>
          <a:p>
            <a:pPr marL="285750" indent="-285750" algn="l">
              <a:lnSpc>
                <a:spcPts val="2400"/>
              </a:lnSpc>
              <a:buFont typeface="Arial" panose="020B0604020202020204" pitchFamily="34" charset="0"/>
              <a:buChar char="•"/>
            </a:pPr>
            <a:r>
              <a:rPr lang="en-US" b="1" dirty="0">
                <a:solidFill>
                  <a:srgbClr val="242424"/>
                </a:solidFill>
                <a:latin typeface="source-serif-pro"/>
              </a:rPr>
              <a:t>W</a:t>
            </a:r>
            <a:r>
              <a:rPr lang="en-US" b="1" i="0" dirty="0">
                <a:solidFill>
                  <a:srgbClr val="242424"/>
                </a:solidFill>
                <a:effectLst/>
                <a:latin typeface="source-serif-pro"/>
              </a:rPr>
              <a:t>orking Logic</a:t>
            </a:r>
          </a:p>
          <a:p>
            <a:pPr algn="l">
              <a:lnSpc>
                <a:spcPts val="2400"/>
              </a:lnSpc>
            </a:pPr>
            <a:r>
              <a:rPr lang="en-US" b="1" dirty="0">
                <a:solidFill>
                  <a:srgbClr val="242424"/>
                </a:solidFill>
                <a:latin typeface="source-serif-pro"/>
              </a:rPr>
              <a:t>A</a:t>
            </a:r>
            <a:r>
              <a:rPr lang="en-US" b="1" i="0" dirty="0">
                <a:solidFill>
                  <a:srgbClr val="242424"/>
                </a:solidFill>
                <a:effectLst/>
                <a:latin typeface="source-serif-pro"/>
              </a:rPr>
              <a:t>lgorithm will only explore nodes up to a certain depth</a:t>
            </a:r>
          </a:p>
        </p:txBody>
      </p:sp>
      <p:sp>
        <p:nvSpPr>
          <p:cNvPr id="5" name="TextBox 4">
            <a:extLst>
              <a:ext uri="{FF2B5EF4-FFF2-40B4-BE49-F238E27FC236}">
                <a16:creationId xmlns:a16="http://schemas.microsoft.com/office/drawing/2014/main" id="{14B52CC3-4656-4221-C451-5B72F8C806AA}"/>
              </a:ext>
            </a:extLst>
          </p:cNvPr>
          <p:cNvSpPr txBox="1"/>
          <p:nvPr/>
        </p:nvSpPr>
        <p:spPr>
          <a:xfrm>
            <a:off x="1127760" y="2830477"/>
            <a:ext cx="6546427" cy="2634888"/>
          </a:xfrm>
          <a:prstGeom prst="rect">
            <a:avLst/>
          </a:prstGeom>
          <a:noFill/>
        </p:spPr>
        <p:txBody>
          <a:bodyPr wrap="square">
            <a:spAutoFit/>
          </a:bodyPr>
          <a:lstStyle/>
          <a:p>
            <a:pPr marL="692785" marR="0" indent="-6350" algn="l">
              <a:lnSpc>
                <a:spcPct val="103000"/>
              </a:lnSpc>
              <a:spcAft>
                <a:spcPts val="75"/>
              </a:spcAft>
              <a:buNone/>
            </a:pPr>
            <a:r>
              <a:rPr lang="en-US" sz="2000" b="1" kern="100" dirty="0">
                <a:solidFill>
                  <a:srgbClr val="000000"/>
                </a:solidFill>
                <a:effectLst/>
                <a:latin typeface="Times New Roman" panose="02020603050405020304" pitchFamily="18" charset="0"/>
                <a:ea typeface="Times New Roman" panose="02020603050405020304" pitchFamily="18" charset="0"/>
              </a:rPr>
              <a:t>It is DF-search with depth limit </a:t>
            </a:r>
            <a:r>
              <a:rPr lang="en-US" sz="2000" b="1" i="1" kern="100" dirty="0">
                <a:solidFill>
                  <a:srgbClr val="000000"/>
                </a:solidFill>
                <a:effectLst/>
                <a:latin typeface="Times New Roman" panose="02020603050405020304" pitchFamily="18" charset="0"/>
                <a:ea typeface="Times New Roman" panose="02020603050405020304" pitchFamily="18" charset="0"/>
              </a:rPr>
              <a:t>l</a:t>
            </a:r>
            <a:r>
              <a:rPr lang="en-US" sz="2000" kern="100" dirty="0">
                <a:solidFill>
                  <a:srgbClr val="000000"/>
                </a:solidFill>
                <a:effectLst/>
                <a:latin typeface="Times New Roman" panose="02020603050405020304" pitchFamily="18" charset="0"/>
                <a:ea typeface="Times New Roman" panose="02020603050405020304" pitchFamily="18" charset="0"/>
              </a:rPr>
              <a:t>. </a:t>
            </a:r>
          </a:p>
          <a:p>
            <a:pPr marR="0" lvl="0" algn="l">
              <a:lnSpc>
                <a:spcPct val="103000"/>
              </a:lnSpc>
            </a:pPr>
            <a:r>
              <a:rPr lang="en-US" sz="2000" kern="100" dirty="0">
                <a:solidFill>
                  <a:srgbClr val="000000"/>
                </a:solidFill>
                <a:effectLst/>
                <a:latin typeface="Times New Roman" panose="02020603050405020304" pitchFamily="18" charset="0"/>
                <a:ea typeface="Times New Roman" panose="02020603050405020304" pitchFamily="18" charset="0"/>
              </a:rPr>
              <a:t>i.e. nodes at depth </a:t>
            </a:r>
            <a:r>
              <a:rPr lang="en-US" sz="2000" i="1" kern="100" dirty="0">
                <a:solidFill>
                  <a:srgbClr val="000000"/>
                </a:solidFill>
                <a:effectLst/>
                <a:latin typeface="Times New Roman" panose="02020603050405020304" pitchFamily="18" charset="0"/>
                <a:ea typeface="Times New Roman" panose="02020603050405020304" pitchFamily="18" charset="0"/>
              </a:rPr>
              <a:t>l is assumed to  </a:t>
            </a:r>
            <a:r>
              <a:rPr lang="en-US" sz="2000" kern="100" dirty="0">
                <a:solidFill>
                  <a:srgbClr val="000000"/>
                </a:solidFill>
                <a:effectLst/>
                <a:latin typeface="Times New Roman" panose="02020603050405020304" pitchFamily="18" charset="0"/>
                <a:ea typeface="Times New Roman" panose="02020603050405020304" pitchFamily="18" charset="0"/>
              </a:rPr>
              <a:t>have no successors. </a:t>
            </a:r>
          </a:p>
          <a:p>
            <a:pPr marL="342900" marR="0" lvl="0" indent="-342900" algn="l">
              <a:lnSpc>
                <a:spcPct val="103000"/>
              </a:lnSpc>
              <a:spcAft>
                <a:spcPts val="75"/>
              </a:spcAft>
              <a:buFont typeface="Times New Roman" panose="02020603050405020304" pitchFamily="18" charset="0"/>
              <a:buChar char="-"/>
            </a:pPr>
            <a:r>
              <a:rPr lang="en-US" sz="2000" kern="100" dirty="0">
                <a:solidFill>
                  <a:srgbClr val="000000"/>
                </a:solidFill>
                <a:effectLst/>
                <a:latin typeface="Times New Roman" panose="02020603050405020304" pitchFamily="18" charset="0"/>
                <a:ea typeface="Times New Roman" panose="02020603050405020304" pitchFamily="18" charset="0"/>
              </a:rPr>
              <a:t>Problem knowledge can be used to guess the value of </a:t>
            </a:r>
            <a:r>
              <a:rPr lang="en-US" sz="2000" i="1" kern="100" dirty="0">
                <a:solidFill>
                  <a:srgbClr val="000000"/>
                </a:solidFill>
                <a:effectLst/>
                <a:latin typeface="Times New Roman" panose="02020603050405020304" pitchFamily="18" charset="0"/>
                <a:ea typeface="Times New Roman" panose="02020603050405020304" pitchFamily="18" charset="0"/>
              </a:rPr>
              <a:t>l </a:t>
            </a:r>
            <a:r>
              <a:rPr lang="en-US" sz="2000" kern="1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r>
              <a:rPr lang="en-US" sz="2000" kern="100" dirty="0">
                <a:solidFill>
                  <a:srgbClr val="000000"/>
                </a:solidFill>
                <a:effectLst/>
                <a:latin typeface="Times New Roman" panose="02020603050405020304" pitchFamily="18" charset="0"/>
                <a:ea typeface="Times New Roman" panose="02020603050405020304" pitchFamily="18" charset="0"/>
              </a:rPr>
              <a:t>Solves the infinite-path problem of DFS. Yet it introduces another source of problem if we are unable to find good guess of </a:t>
            </a:r>
            <a:r>
              <a:rPr lang="en-US" sz="2000" i="1" kern="100" dirty="0">
                <a:solidFill>
                  <a:srgbClr val="000000"/>
                </a:solidFill>
                <a:effectLst/>
                <a:latin typeface="Times New Roman" panose="02020603050405020304" pitchFamily="18" charset="0"/>
                <a:ea typeface="Times New Roman" panose="02020603050405020304" pitchFamily="18" charset="0"/>
              </a:rPr>
              <a:t>l. </a:t>
            </a:r>
            <a:r>
              <a:rPr lang="en-US" sz="2000" kern="100" dirty="0">
                <a:solidFill>
                  <a:srgbClr val="000000"/>
                </a:solidFill>
                <a:effectLst/>
                <a:latin typeface="Times New Roman" panose="02020603050405020304" pitchFamily="18" charset="0"/>
                <a:ea typeface="Times New Roman" panose="02020603050405020304" pitchFamily="18" charset="0"/>
              </a:rPr>
              <a:t>Let d is the depth of shallowest solution.</a:t>
            </a:r>
            <a:r>
              <a:rPr lang="en-US" sz="2000" i="1" kern="100" dirty="0">
                <a:solidFill>
                  <a:srgbClr val="000000"/>
                </a:solidFill>
                <a:effectLst/>
                <a:latin typeface="Times New Roman" panose="02020603050405020304" pitchFamily="18" charset="0"/>
                <a:ea typeface="Times New Roman" panose="02020603050405020304" pitchFamily="18" charset="0"/>
              </a:rPr>
              <a:t> </a:t>
            </a:r>
            <a:endParaRPr lang="en-US" sz="2000" kern="1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gn="l">
              <a:lnSpc>
                <a:spcPct val="103000"/>
              </a:lnSpc>
              <a:buFont typeface="Times New Roman" panose="02020603050405020304" pitchFamily="18" charset="0"/>
              <a:buChar char="-"/>
            </a:pPr>
            <a:r>
              <a:rPr lang="en-US" sz="2000" kern="100" dirty="0">
                <a:solidFill>
                  <a:srgbClr val="000000"/>
                </a:solidFill>
                <a:effectLst/>
                <a:latin typeface="Times New Roman" panose="02020603050405020304" pitchFamily="18" charset="0"/>
                <a:ea typeface="Times New Roman" panose="02020603050405020304" pitchFamily="18" charset="0"/>
              </a:rPr>
              <a:t>If </a:t>
            </a:r>
            <a:r>
              <a:rPr lang="en-US" sz="2000" i="1" kern="100" dirty="0">
                <a:solidFill>
                  <a:srgbClr val="000000"/>
                </a:solidFill>
                <a:effectLst/>
                <a:latin typeface="Times New Roman" panose="02020603050405020304" pitchFamily="18" charset="0"/>
                <a:ea typeface="Times New Roman" panose="02020603050405020304" pitchFamily="18" charset="0"/>
              </a:rPr>
              <a:t>l &lt; d</a:t>
            </a:r>
            <a:r>
              <a:rPr lang="en-US" sz="2000" kern="100" dirty="0">
                <a:solidFill>
                  <a:srgbClr val="000000"/>
                </a:solidFill>
                <a:effectLst/>
                <a:latin typeface="Times New Roman" panose="02020603050405020304" pitchFamily="18" charset="0"/>
                <a:ea typeface="Times New Roman" panose="02020603050405020304" pitchFamily="18" charset="0"/>
              </a:rPr>
              <a:t> then incompleteness results.</a:t>
            </a:r>
          </a:p>
          <a:p>
            <a:pPr marL="342900" marR="0" lvl="0" indent="-342900" algn="l">
              <a:lnSpc>
                <a:spcPct val="103000"/>
              </a:lnSpc>
              <a:spcAft>
                <a:spcPts val="75"/>
              </a:spcAft>
              <a:buFont typeface="Times New Roman" panose="02020603050405020304" pitchFamily="18" charset="0"/>
              <a:buChar char="-"/>
            </a:pPr>
            <a:r>
              <a:rPr lang="en-US" sz="2000" kern="100" dirty="0">
                <a:solidFill>
                  <a:srgbClr val="000000"/>
                </a:solidFill>
                <a:effectLst/>
                <a:latin typeface="Times New Roman" panose="02020603050405020304" pitchFamily="18" charset="0"/>
                <a:ea typeface="Times New Roman" panose="02020603050405020304" pitchFamily="18" charset="0"/>
              </a:rPr>
              <a:t>If </a:t>
            </a:r>
            <a:r>
              <a:rPr lang="en-US" sz="2000" i="1" kern="100" dirty="0">
                <a:solidFill>
                  <a:srgbClr val="000000"/>
                </a:solidFill>
                <a:effectLst/>
                <a:latin typeface="Times New Roman" panose="02020603050405020304" pitchFamily="18" charset="0"/>
                <a:ea typeface="Times New Roman" panose="02020603050405020304" pitchFamily="18" charset="0"/>
              </a:rPr>
              <a:t>l &gt; d</a:t>
            </a:r>
            <a:r>
              <a:rPr lang="en-US" sz="2000" kern="100" dirty="0">
                <a:solidFill>
                  <a:srgbClr val="000000"/>
                </a:solidFill>
                <a:effectLst/>
                <a:latin typeface="Times New Roman" panose="02020603050405020304" pitchFamily="18" charset="0"/>
                <a:ea typeface="Times New Roman" panose="02020603050405020304" pitchFamily="18" charset="0"/>
              </a:rPr>
              <a:t> then not optimal. </a:t>
            </a:r>
          </a:p>
        </p:txBody>
      </p:sp>
      <p:sp>
        <p:nvSpPr>
          <p:cNvPr id="4" name="Footer Placeholder 3">
            <a:extLst>
              <a:ext uri="{FF2B5EF4-FFF2-40B4-BE49-F238E27FC236}">
                <a16:creationId xmlns:a16="http://schemas.microsoft.com/office/drawing/2014/main" id="{5852874D-A802-8620-CC39-447724505A11}"/>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451017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A1709-44E4-999D-D950-9D9191C533CC}"/>
              </a:ext>
            </a:extLst>
          </p:cNvPr>
          <p:cNvSpPr>
            <a:spLocks noGrp="1"/>
          </p:cNvSpPr>
          <p:nvPr>
            <p:ph type="title"/>
          </p:nvPr>
        </p:nvSpPr>
        <p:spPr/>
        <p:txBody>
          <a:bodyPr/>
          <a:lstStyle/>
          <a:p>
            <a:r>
              <a:rPr kumimoji="0" lang="en-US" altLang="en-US" sz="4000" b="0" i="0" u="none" strike="noStrike" cap="none" normalizeH="0" baseline="0" dirty="0">
                <a:ln>
                  <a:noFill/>
                </a:ln>
                <a:solidFill>
                  <a:schemeClr val="tx1"/>
                </a:solidFill>
                <a:effectLst/>
              </a:rPr>
              <a:t>How Depth Limited Search Works?</a:t>
            </a:r>
            <a:endParaRPr lang="en-US" dirty="0"/>
          </a:p>
        </p:txBody>
      </p:sp>
      <p:sp>
        <p:nvSpPr>
          <p:cNvPr id="3" name="Content Placeholder 2">
            <a:extLst>
              <a:ext uri="{FF2B5EF4-FFF2-40B4-BE49-F238E27FC236}">
                <a16:creationId xmlns:a16="http://schemas.microsoft.com/office/drawing/2014/main" id="{588A369D-94B5-D2CB-6A3C-8BB0AD9B4BE5}"/>
              </a:ext>
            </a:extLst>
          </p:cNvPr>
          <p:cNvSpPr>
            <a:spLocks noGrp="1"/>
          </p:cNvSpPr>
          <p:nvPr>
            <p:ph idx="1"/>
          </p:nvPr>
        </p:nvSpPr>
        <p:spPr/>
        <p:txBody>
          <a:bodyPr>
            <a:normAutofit fontScale="92500" lnSpcReduction="20000"/>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rPr>
              <a:t>Initialization:</a:t>
            </a:r>
            <a:r>
              <a:rPr kumimoji="0" lang="en-US" altLang="en-US" sz="2400" b="0" i="0" u="none" strike="noStrike" cap="none" normalizeH="0" baseline="0" dirty="0">
                <a:ln>
                  <a:noFill/>
                </a:ln>
                <a:solidFill>
                  <a:schemeClr val="tx1"/>
                </a:solidFill>
                <a:effectLst/>
              </a:rPr>
              <a:t> Begin at the root node with a specified depth limit.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rPr>
              <a:t>Exploration: </a:t>
            </a:r>
            <a:r>
              <a:rPr kumimoji="0" lang="en-US" altLang="en-US" sz="2400" b="0" i="0" u="none" strike="noStrike" cap="none" normalizeH="0" baseline="0" dirty="0">
                <a:ln>
                  <a:noFill/>
                </a:ln>
                <a:solidFill>
                  <a:schemeClr val="tx1"/>
                </a:solidFill>
                <a:effectLst/>
              </a:rPr>
              <a:t>Traverse the tree or graph, exploring each node's children.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rPr>
              <a:t>Depth Check:</a:t>
            </a:r>
            <a:r>
              <a:rPr kumimoji="0" lang="en-US" altLang="en-US" sz="2400" b="0" i="0" u="none" strike="noStrike" cap="none" normalizeH="0" baseline="0" dirty="0">
                <a:ln>
                  <a:noFill/>
                </a:ln>
                <a:solidFill>
                  <a:schemeClr val="tx1"/>
                </a:solidFill>
                <a:effectLst/>
              </a:rPr>
              <a:t> If the current depth exceeds the set limit, stop exploring that path and backtrack.</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rPr>
              <a:t>Goal Check: </a:t>
            </a:r>
            <a:r>
              <a:rPr kumimoji="0" lang="en-US" altLang="en-US" sz="2400" b="0" i="0" u="none" strike="noStrike" cap="none" normalizeH="0" baseline="0" dirty="0">
                <a:ln>
                  <a:noFill/>
                </a:ln>
                <a:solidFill>
                  <a:schemeClr val="tx1"/>
                </a:solidFill>
                <a:effectLst/>
              </a:rPr>
              <a:t>If the goal node is found within the depth limit, the search is successful.</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rPr>
              <a:t>Backtracking:</a:t>
            </a:r>
            <a:r>
              <a:rPr kumimoji="0" lang="en-US" altLang="en-US" sz="2400" b="0" i="0" u="none" strike="noStrike" cap="none" normalizeH="0" baseline="0" dirty="0">
                <a:ln>
                  <a:noFill/>
                </a:ln>
                <a:solidFill>
                  <a:schemeClr val="tx1"/>
                </a:solidFill>
                <a:effectLst/>
              </a:rPr>
              <a:t> If the search reaches the depth limit or a leaf node without finding the goal, backtrack and explore other branches.</a:t>
            </a:r>
          </a:p>
          <a:p>
            <a:endParaRPr lang="en-US" dirty="0"/>
          </a:p>
        </p:txBody>
      </p:sp>
      <p:sp>
        <p:nvSpPr>
          <p:cNvPr id="4" name="Footer Placeholder 3">
            <a:extLst>
              <a:ext uri="{FF2B5EF4-FFF2-40B4-BE49-F238E27FC236}">
                <a16:creationId xmlns:a16="http://schemas.microsoft.com/office/drawing/2014/main" id="{9B25FE47-13BF-8F83-F49F-4EA09BE4A479}"/>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9495029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420F2-78CD-40D8-817F-898C59C1BA96}"/>
              </a:ext>
            </a:extLst>
          </p:cNvPr>
          <p:cNvSpPr>
            <a:spLocks noGrp="1"/>
          </p:cNvSpPr>
          <p:nvPr>
            <p:ph type="title"/>
          </p:nvPr>
        </p:nvSpPr>
        <p:spPr/>
        <p:txBody>
          <a:bodyPr/>
          <a:lstStyle/>
          <a:p>
            <a:r>
              <a:rPr lang="en-US" dirty="0"/>
              <a:t>Iterative deepening search</a:t>
            </a:r>
          </a:p>
        </p:txBody>
      </p:sp>
      <p:sp>
        <p:nvSpPr>
          <p:cNvPr id="3" name="Content Placeholder 2">
            <a:extLst>
              <a:ext uri="{FF2B5EF4-FFF2-40B4-BE49-F238E27FC236}">
                <a16:creationId xmlns:a16="http://schemas.microsoft.com/office/drawing/2014/main" id="{FE0E8623-3A94-3CF8-D95F-CFAACC67F9EA}"/>
              </a:ext>
            </a:extLst>
          </p:cNvPr>
          <p:cNvSpPr>
            <a:spLocks noGrp="1"/>
          </p:cNvSpPr>
          <p:nvPr>
            <p:ph idx="1"/>
          </p:nvPr>
        </p:nvSpPr>
        <p:spPr>
          <a:xfrm>
            <a:off x="807721" y="2438401"/>
            <a:ext cx="7879080" cy="3561415"/>
          </a:xfrm>
        </p:spPr>
        <p:txBody>
          <a:bodyPr>
            <a:normAutofit fontScale="92500"/>
          </a:bodyPr>
          <a:lstStyle/>
          <a:p>
            <a:r>
              <a:rPr lang="en-US" dirty="0"/>
              <a:t>A general strategy to find best depth limit l. </a:t>
            </a:r>
          </a:p>
          <a:p>
            <a:pPr marL="0" indent="0">
              <a:buNone/>
            </a:pPr>
            <a:r>
              <a:rPr lang="en-US"/>
              <a:t>	Goals </a:t>
            </a:r>
            <a:r>
              <a:rPr lang="en-US" dirty="0"/>
              <a:t>is found at depth d, the depth of the shallowest goal-node. </a:t>
            </a:r>
          </a:p>
          <a:p>
            <a:r>
              <a:rPr lang="en-US" dirty="0"/>
              <a:t>Often used in combination with DF-search </a:t>
            </a:r>
          </a:p>
          <a:p>
            <a:r>
              <a:rPr lang="en-US" dirty="0"/>
              <a:t>Combines benefits of DFS and BFS </a:t>
            </a:r>
          </a:p>
          <a:p>
            <a:r>
              <a:rPr lang="en-US" dirty="0"/>
              <a:t>It does this by gradually increasing the limit, first 0, then 1, then 2, and so on until the goal is found. This will occur when depth d is reached: that is depth of shallowest goal node. </a:t>
            </a:r>
          </a:p>
          <a:p>
            <a:endParaRPr lang="en-US" dirty="0"/>
          </a:p>
        </p:txBody>
      </p:sp>
      <p:sp>
        <p:nvSpPr>
          <p:cNvPr id="4" name="Footer Placeholder 3">
            <a:extLst>
              <a:ext uri="{FF2B5EF4-FFF2-40B4-BE49-F238E27FC236}">
                <a16:creationId xmlns:a16="http://schemas.microsoft.com/office/drawing/2014/main" id="{072C78DC-8D46-B71A-1F64-D218CA48F83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4068531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503CC42-0210-4C70-92B6-67186F79032B}"/>
              </a:ext>
            </a:extLst>
          </p:cNvPr>
          <p:cNvGrpSpPr/>
          <p:nvPr/>
        </p:nvGrpSpPr>
        <p:grpSpPr>
          <a:xfrm>
            <a:off x="982133" y="1854516"/>
            <a:ext cx="5882640" cy="1574484"/>
            <a:chOff x="0" y="0"/>
            <a:chExt cx="4927219" cy="515899"/>
          </a:xfrm>
        </p:grpSpPr>
        <p:sp>
          <p:nvSpPr>
            <p:cNvPr id="5" name="Rectangle 4">
              <a:extLst>
                <a:ext uri="{FF2B5EF4-FFF2-40B4-BE49-F238E27FC236}">
                  <a16:creationId xmlns:a16="http://schemas.microsoft.com/office/drawing/2014/main" id="{949AD695-ED09-2473-4056-1F76A7D680E8}"/>
                </a:ext>
              </a:extLst>
            </p:cNvPr>
            <p:cNvSpPr/>
            <p:nvPr/>
          </p:nvSpPr>
          <p:spPr>
            <a:xfrm>
              <a:off x="921385" y="0"/>
              <a:ext cx="50673" cy="224380"/>
            </a:xfrm>
            <a:prstGeom prst="rect">
              <a:avLst/>
            </a:prstGeom>
            <a:ln>
              <a:noFill/>
            </a:ln>
          </p:spPr>
          <p:txBody>
            <a:bodyPr vert="horz" lIns="0" tIns="0" rIns="0" bIns="0" rtlCol="0">
              <a:noAutofit/>
            </a:bodyPr>
            <a:lstStyle/>
            <a:p>
              <a:pPr marL="0" marR="0" indent="0" algn="l">
                <a:lnSpc>
                  <a:spcPct val="107000"/>
                </a:lnSpc>
                <a:spcAft>
                  <a:spcPts val="800"/>
                </a:spcAft>
              </a:pPr>
              <a:r>
                <a:rPr lang="en-US" sz="1200" kern="100">
                  <a:solidFill>
                    <a:srgbClr val="000000"/>
                  </a:solidFill>
                  <a:effectLst/>
                  <a:latin typeface="Times New Roman" panose="02020603050405020304" pitchFamily="18" charset="0"/>
                  <a:ea typeface="Times New Roman" panose="02020603050405020304" pitchFamily="18" charset="0"/>
                </a:rPr>
                <a:t> </a:t>
              </a:r>
            </a:p>
          </p:txBody>
        </p:sp>
        <p:sp>
          <p:nvSpPr>
            <p:cNvPr id="6" name="Rectangle 5">
              <a:extLst>
                <a:ext uri="{FF2B5EF4-FFF2-40B4-BE49-F238E27FC236}">
                  <a16:creationId xmlns:a16="http://schemas.microsoft.com/office/drawing/2014/main" id="{421875E9-5807-8CF0-8A7D-B34B594A2DF3}"/>
                </a:ext>
              </a:extLst>
            </p:cNvPr>
            <p:cNvSpPr/>
            <p:nvPr/>
          </p:nvSpPr>
          <p:spPr>
            <a:xfrm>
              <a:off x="6731" y="173737"/>
              <a:ext cx="50673" cy="224379"/>
            </a:xfrm>
            <a:prstGeom prst="rect">
              <a:avLst/>
            </a:prstGeom>
            <a:ln>
              <a:noFill/>
            </a:ln>
          </p:spPr>
          <p:txBody>
            <a:bodyPr vert="horz" lIns="0" tIns="0" rIns="0" bIns="0" rtlCol="0">
              <a:noAutofit/>
            </a:bodyPr>
            <a:lstStyle/>
            <a:p>
              <a:pPr marL="0" marR="0" indent="0" algn="l">
                <a:lnSpc>
                  <a:spcPct val="107000"/>
                </a:lnSpc>
                <a:spcAft>
                  <a:spcPts val="800"/>
                </a:spcAft>
              </a:pPr>
              <a:r>
                <a:rPr lang="en-US" sz="1200" kern="100">
                  <a:solidFill>
                    <a:srgbClr val="000000"/>
                  </a:solidFill>
                  <a:effectLst/>
                  <a:latin typeface="Times New Roman" panose="02020603050405020304" pitchFamily="18" charset="0"/>
                  <a:ea typeface="Times New Roman" panose="02020603050405020304" pitchFamily="18" charset="0"/>
                </a:rPr>
                <a:t> </a:t>
              </a:r>
            </a:p>
          </p:txBody>
        </p:sp>
        <p:pic>
          <p:nvPicPr>
            <p:cNvPr id="7" name="Picture 6">
              <a:extLst>
                <a:ext uri="{FF2B5EF4-FFF2-40B4-BE49-F238E27FC236}">
                  <a16:creationId xmlns:a16="http://schemas.microsoft.com/office/drawing/2014/main" id="{C73DCEE8-3905-AF4E-9134-49953971AA5F}"/>
                </a:ext>
              </a:extLst>
            </p:cNvPr>
            <p:cNvPicPr/>
            <p:nvPr/>
          </p:nvPicPr>
          <p:blipFill>
            <a:blip r:embed="rId2"/>
            <a:stretch>
              <a:fillRect/>
            </a:stretch>
          </p:blipFill>
          <p:spPr>
            <a:xfrm>
              <a:off x="6096" y="52604"/>
              <a:ext cx="4914900" cy="457200"/>
            </a:xfrm>
            <a:prstGeom prst="rect">
              <a:avLst/>
            </a:prstGeom>
          </p:spPr>
        </p:pic>
        <p:sp>
          <p:nvSpPr>
            <p:cNvPr id="8" name="Shape 1181">
              <a:extLst>
                <a:ext uri="{FF2B5EF4-FFF2-40B4-BE49-F238E27FC236}">
                  <a16:creationId xmlns:a16="http://schemas.microsoft.com/office/drawing/2014/main" id="{40FCB8F7-EA01-5413-5021-2B315ABCE278}"/>
                </a:ext>
              </a:extLst>
            </p:cNvPr>
            <p:cNvSpPr/>
            <p:nvPr/>
          </p:nvSpPr>
          <p:spPr>
            <a:xfrm>
              <a:off x="0" y="46507"/>
              <a:ext cx="4927219" cy="469392"/>
            </a:xfrm>
            <a:custGeom>
              <a:avLst/>
              <a:gdLst/>
              <a:ahLst/>
              <a:cxnLst/>
              <a:rect l="0" t="0" r="0" b="0"/>
              <a:pathLst>
                <a:path w="4927219" h="469392">
                  <a:moveTo>
                    <a:pt x="0" y="469392"/>
                  </a:moveTo>
                  <a:lnTo>
                    <a:pt x="4927219" y="469392"/>
                  </a:lnTo>
                  <a:lnTo>
                    <a:pt x="4927219" y="0"/>
                  </a:lnTo>
                  <a:lnTo>
                    <a:pt x="0" y="0"/>
                  </a:lnTo>
                  <a:close/>
                </a:path>
              </a:pathLst>
            </a:custGeom>
            <a:ln w="9525" cap="rnd">
              <a:miter lim="127000"/>
            </a:ln>
          </p:spPr>
          <p:style>
            <a:lnRef idx="1">
              <a:srgbClr val="000000"/>
            </a:lnRef>
            <a:fillRef idx="0">
              <a:srgbClr val="000000">
                <a:alpha val="0"/>
              </a:srgbClr>
            </a:fillRef>
            <a:effectRef idx="0">
              <a:scrgbClr r="0" g="0" b="0"/>
            </a:effectRef>
            <a:fontRef idx="none"/>
          </p:style>
          <p:txBody>
            <a:bodyPr/>
            <a:lstStyle/>
            <a:p>
              <a:endParaRPr lang="en-US"/>
            </a:p>
          </p:txBody>
        </p:sp>
      </p:grpSp>
      <p:sp>
        <p:nvSpPr>
          <p:cNvPr id="2" name="Title 1">
            <a:extLst>
              <a:ext uri="{FF2B5EF4-FFF2-40B4-BE49-F238E27FC236}">
                <a16:creationId xmlns:a16="http://schemas.microsoft.com/office/drawing/2014/main" id="{CF4530B2-9F43-25D0-219F-FB84944A6318}"/>
              </a:ext>
            </a:extLst>
          </p:cNvPr>
          <p:cNvSpPr>
            <a:spLocks noGrp="1"/>
          </p:cNvSpPr>
          <p:nvPr>
            <p:ph type="title"/>
          </p:nvPr>
        </p:nvSpPr>
        <p:spPr>
          <a:xfrm>
            <a:off x="4832332" y="2196911"/>
            <a:ext cx="1842810" cy="684790"/>
          </a:xfrm>
        </p:spPr>
        <p:txBody>
          <a:bodyPr>
            <a:normAutofit/>
          </a:bodyPr>
          <a:lstStyle/>
          <a:p>
            <a:r>
              <a:rPr lang="en-US" sz="2800" dirty="0"/>
              <a:t>Limit 0</a:t>
            </a:r>
          </a:p>
        </p:txBody>
      </p:sp>
      <p:grpSp>
        <p:nvGrpSpPr>
          <p:cNvPr id="9" name="Group 8">
            <a:extLst>
              <a:ext uri="{FF2B5EF4-FFF2-40B4-BE49-F238E27FC236}">
                <a16:creationId xmlns:a16="http://schemas.microsoft.com/office/drawing/2014/main" id="{B254ADE1-6136-EC6B-D968-08ECF82FF28F}"/>
              </a:ext>
            </a:extLst>
          </p:cNvPr>
          <p:cNvGrpSpPr/>
          <p:nvPr/>
        </p:nvGrpSpPr>
        <p:grpSpPr>
          <a:xfrm>
            <a:off x="929977" y="3780087"/>
            <a:ext cx="6423334" cy="1981200"/>
            <a:chOff x="0" y="0"/>
            <a:chExt cx="5146294" cy="786892"/>
          </a:xfrm>
        </p:grpSpPr>
        <p:pic>
          <p:nvPicPr>
            <p:cNvPr id="10" name="Picture 9">
              <a:extLst>
                <a:ext uri="{FF2B5EF4-FFF2-40B4-BE49-F238E27FC236}">
                  <a16:creationId xmlns:a16="http://schemas.microsoft.com/office/drawing/2014/main" id="{91AF1A01-CAB7-47BD-521C-4791C13BDAC5}"/>
                </a:ext>
              </a:extLst>
            </p:cNvPr>
            <p:cNvPicPr/>
            <p:nvPr/>
          </p:nvPicPr>
          <p:blipFill>
            <a:blip r:embed="rId3"/>
            <a:stretch>
              <a:fillRect/>
            </a:stretch>
          </p:blipFill>
          <p:spPr>
            <a:xfrm>
              <a:off x="6223" y="6097"/>
              <a:ext cx="5133975" cy="774700"/>
            </a:xfrm>
            <a:prstGeom prst="rect">
              <a:avLst/>
            </a:prstGeom>
          </p:spPr>
        </p:pic>
        <p:sp>
          <p:nvSpPr>
            <p:cNvPr id="11" name="Shape 1216">
              <a:extLst>
                <a:ext uri="{FF2B5EF4-FFF2-40B4-BE49-F238E27FC236}">
                  <a16:creationId xmlns:a16="http://schemas.microsoft.com/office/drawing/2014/main" id="{F6159F94-4D7C-BEC3-4D3D-14648B0DD153}"/>
                </a:ext>
              </a:extLst>
            </p:cNvPr>
            <p:cNvSpPr/>
            <p:nvPr/>
          </p:nvSpPr>
          <p:spPr>
            <a:xfrm>
              <a:off x="0" y="0"/>
              <a:ext cx="5146294" cy="786892"/>
            </a:xfrm>
            <a:custGeom>
              <a:avLst/>
              <a:gdLst/>
              <a:ahLst/>
              <a:cxnLst/>
              <a:rect l="0" t="0" r="0" b="0"/>
              <a:pathLst>
                <a:path w="5146294" h="786892">
                  <a:moveTo>
                    <a:pt x="0" y="786892"/>
                  </a:moveTo>
                  <a:lnTo>
                    <a:pt x="5146294" y="786892"/>
                  </a:lnTo>
                  <a:lnTo>
                    <a:pt x="5146294" y="0"/>
                  </a:lnTo>
                  <a:lnTo>
                    <a:pt x="0" y="0"/>
                  </a:lnTo>
                  <a:close/>
                </a:path>
              </a:pathLst>
            </a:custGeom>
            <a:ln w="9525" cap="rnd">
              <a:miter lim="127000"/>
            </a:ln>
          </p:spPr>
          <p:style>
            <a:lnRef idx="1">
              <a:srgbClr val="000000"/>
            </a:lnRef>
            <a:fillRef idx="0">
              <a:srgbClr val="000000">
                <a:alpha val="0"/>
              </a:srgbClr>
            </a:fillRef>
            <a:effectRef idx="0">
              <a:scrgbClr r="0" g="0" b="0"/>
            </a:effectRef>
            <a:fontRef idx="none"/>
          </p:style>
          <p:txBody>
            <a:bodyPr/>
            <a:lstStyle/>
            <a:p>
              <a:endParaRPr lang="en-US"/>
            </a:p>
          </p:txBody>
        </p:sp>
      </p:grpSp>
      <p:sp>
        <p:nvSpPr>
          <p:cNvPr id="12" name="Title 1">
            <a:extLst>
              <a:ext uri="{FF2B5EF4-FFF2-40B4-BE49-F238E27FC236}">
                <a16:creationId xmlns:a16="http://schemas.microsoft.com/office/drawing/2014/main" id="{D1679954-F128-8FF7-4C12-7699144538A0}"/>
              </a:ext>
            </a:extLst>
          </p:cNvPr>
          <p:cNvSpPr txBox="1">
            <a:spLocks/>
          </p:cNvSpPr>
          <p:nvPr/>
        </p:nvSpPr>
        <p:spPr>
          <a:xfrm>
            <a:off x="7133572" y="4137833"/>
            <a:ext cx="1842810" cy="684790"/>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t>Limit 1</a:t>
            </a:r>
          </a:p>
        </p:txBody>
      </p:sp>
      <p:sp>
        <p:nvSpPr>
          <p:cNvPr id="3" name="Footer Placeholder 2">
            <a:extLst>
              <a:ext uri="{FF2B5EF4-FFF2-40B4-BE49-F238E27FC236}">
                <a16:creationId xmlns:a16="http://schemas.microsoft.com/office/drawing/2014/main" id="{CAE606C5-B98E-9AAF-834E-09C88B8D8ED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6540042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003A475-3EF3-9D64-B25F-D917595C1BC1}"/>
              </a:ext>
            </a:extLst>
          </p:cNvPr>
          <p:cNvGrpSpPr/>
          <p:nvPr/>
        </p:nvGrpSpPr>
        <p:grpSpPr>
          <a:xfrm>
            <a:off x="1101785" y="1788662"/>
            <a:ext cx="6705984" cy="3830379"/>
            <a:chOff x="0" y="0"/>
            <a:chExt cx="5203571" cy="2732454"/>
          </a:xfrm>
        </p:grpSpPr>
        <p:sp>
          <p:nvSpPr>
            <p:cNvPr id="5" name="Rectangle 4">
              <a:extLst>
                <a:ext uri="{FF2B5EF4-FFF2-40B4-BE49-F238E27FC236}">
                  <a16:creationId xmlns:a16="http://schemas.microsoft.com/office/drawing/2014/main" id="{643C25D0-E9F3-7833-AC2E-976171AC1C81}"/>
                </a:ext>
              </a:extLst>
            </p:cNvPr>
            <p:cNvSpPr/>
            <p:nvPr/>
          </p:nvSpPr>
          <p:spPr>
            <a:xfrm>
              <a:off x="0" y="0"/>
              <a:ext cx="50673" cy="224380"/>
            </a:xfrm>
            <a:prstGeom prst="rect">
              <a:avLst/>
            </a:prstGeom>
            <a:ln>
              <a:noFill/>
            </a:ln>
          </p:spPr>
          <p:txBody>
            <a:bodyPr vert="horz" lIns="0" tIns="0" rIns="0" bIns="0" rtlCol="0">
              <a:noAutofit/>
            </a:bodyPr>
            <a:lstStyle/>
            <a:p>
              <a:pPr marL="0" marR="0" indent="0" algn="l">
                <a:lnSpc>
                  <a:spcPct val="107000"/>
                </a:lnSpc>
                <a:spcAft>
                  <a:spcPts val="800"/>
                </a:spcAft>
              </a:pPr>
              <a:r>
                <a:rPr lang="en-US" sz="1200" kern="100">
                  <a:solidFill>
                    <a:srgbClr val="000000"/>
                  </a:solidFill>
                  <a:effectLst/>
                  <a:latin typeface="Times New Roman" panose="02020603050405020304" pitchFamily="18" charset="0"/>
                  <a:ea typeface="Times New Roman" panose="02020603050405020304" pitchFamily="18" charset="0"/>
                </a:rPr>
                <a:t> </a:t>
              </a:r>
            </a:p>
          </p:txBody>
        </p:sp>
        <p:sp>
          <p:nvSpPr>
            <p:cNvPr id="6" name="Rectangle 5">
              <a:extLst>
                <a:ext uri="{FF2B5EF4-FFF2-40B4-BE49-F238E27FC236}">
                  <a16:creationId xmlns:a16="http://schemas.microsoft.com/office/drawing/2014/main" id="{1B3B6873-4223-00FD-5379-F297BAD6365A}"/>
                </a:ext>
              </a:extLst>
            </p:cNvPr>
            <p:cNvSpPr/>
            <p:nvPr/>
          </p:nvSpPr>
          <p:spPr>
            <a:xfrm>
              <a:off x="0" y="173736"/>
              <a:ext cx="50673" cy="224380"/>
            </a:xfrm>
            <a:prstGeom prst="rect">
              <a:avLst/>
            </a:prstGeom>
            <a:ln>
              <a:noFill/>
            </a:ln>
          </p:spPr>
          <p:txBody>
            <a:bodyPr vert="horz" lIns="0" tIns="0" rIns="0" bIns="0" rtlCol="0">
              <a:noAutofit/>
            </a:bodyPr>
            <a:lstStyle/>
            <a:p>
              <a:pPr marL="0" marR="0" indent="0" algn="l">
                <a:lnSpc>
                  <a:spcPct val="107000"/>
                </a:lnSpc>
                <a:spcAft>
                  <a:spcPts val="800"/>
                </a:spcAft>
              </a:pPr>
              <a:r>
                <a:rPr lang="en-US" sz="1200" kern="100">
                  <a:solidFill>
                    <a:srgbClr val="000000"/>
                  </a:solidFill>
                  <a:effectLst/>
                  <a:latin typeface="Times New Roman" panose="02020603050405020304" pitchFamily="18" charset="0"/>
                  <a:ea typeface="Times New Roman" panose="02020603050405020304" pitchFamily="18" charset="0"/>
                </a:rPr>
                <a:t> </a:t>
              </a:r>
            </a:p>
          </p:txBody>
        </p:sp>
        <p:sp>
          <p:nvSpPr>
            <p:cNvPr id="7" name="Rectangle 6">
              <a:extLst>
                <a:ext uri="{FF2B5EF4-FFF2-40B4-BE49-F238E27FC236}">
                  <a16:creationId xmlns:a16="http://schemas.microsoft.com/office/drawing/2014/main" id="{AD176E80-A984-1831-20E5-7B416EF1CAC5}"/>
                </a:ext>
              </a:extLst>
            </p:cNvPr>
            <p:cNvSpPr/>
            <p:nvPr/>
          </p:nvSpPr>
          <p:spPr>
            <a:xfrm>
              <a:off x="5152898" y="2128139"/>
              <a:ext cx="50673" cy="224380"/>
            </a:xfrm>
            <a:prstGeom prst="rect">
              <a:avLst/>
            </a:prstGeom>
            <a:ln>
              <a:noFill/>
            </a:ln>
          </p:spPr>
          <p:txBody>
            <a:bodyPr vert="horz" lIns="0" tIns="0" rIns="0" bIns="0" rtlCol="0">
              <a:noAutofit/>
            </a:bodyPr>
            <a:lstStyle/>
            <a:p>
              <a:pPr marL="0" marR="0" indent="0" algn="l">
                <a:lnSpc>
                  <a:spcPct val="107000"/>
                </a:lnSpc>
                <a:spcAft>
                  <a:spcPts val="800"/>
                </a:spcAft>
              </a:pPr>
              <a:r>
                <a:rPr lang="en-US" sz="1200" kern="100">
                  <a:solidFill>
                    <a:srgbClr val="000000"/>
                  </a:solidFill>
                  <a:effectLst/>
                  <a:latin typeface="Times New Roman" panose="02020603050405020304" pitchFamily="18" charset="0"/>
                  <a:ea typeface="Times New Roman" panose="02020603050405020304" pitchFamily="18" charset="0"/>
                </a:rPr>
                <a:t> </a:t>
              </a:r>
            </a:p>
          </p:txBody>
        </p:sp>
        <p:sp>
          <p:nvSpPr>
            <p:cNvPr id="8" name="Rectangle 7">
              <a:extLst>
                <a:ext uri="{FF2B5EF4-FFF2-40B4-BE49-F238E27FC236}">
                  <a16:creationId xmlns:a16="http://schemas.microsoft.com/office/drawing/2014/main" id="{736F79EC-3F3C-F8CF-8B8D-D4563A1BF55F}"/>
                </a:ext>
              </a:extLst>
            </p:cNvPr>
            <p:cNvSpPr/>
            <p:nvPr/>
          </p:nvSpPr>
          <p:spPr>
            <a:xfrm>
              <a:off x="0" y="2267957"/>
              <a:ext cx="58781" cy="260281"/>
            </a:xfrm>
            <a:prstGeom prst="rect">
              <a:avLst/>
            </a:prstGeom>
            <a:ln>
              <a:noFill/>
            </a:ln>
          </p:spPr>
          <p:txBody>
            <a:bodyPr vert="horz" lIns="0" tIns="0" rIns="0" bIns="0" rtlCol="0">
              <a:noAutofit/>
            </a:bodyPr>
            <a:lstStyle/>
            <a:p>
              <a:pPr marL="0" marR="0" indent="0" algn="l">
                <a:lnSpc>
                  <a:spcPct val="107000"/>
                </a:lnSpc>
                <a:spcAft>
                  <a:spcPts val="800"/>
                </a:spcAft>
              </a:pPr>
              <a:r>
                <a:rPr lang="en-US" sz="1400" kern="100">
                  <a:solidFill>
                    <a:srgbClr val="000000"/>
                  </a:solidFill>
                  <a:effectLst/>
                  <a:latin typeface="Times New Roman" panose="02020603050405020304" pitchFamily="18" charset="0"/>
                  <a:ea typeface="Times New Roman" panose="02020603050405020304" pitchFamily="18" charset="0"/>
                </a:rPr>
                <a:t> </a:t>
              </a:r>
              <a:endParaRPr lang="en-US" sz="1200" kern="100">
                <a:solidFill>
                  <a:srgbClr val="000000"/>
                </a:solidFill>
                <a:effectLst/>
                <a:latin typeface="Times New Roman" panose="02020603050405020304" pitchFamily="18" charset="0"/>
                <a:ea typeface="Times New Roman" panose="02020603050405020304" pitchFamily="18" charset="0"/>
              </a:endParaRPr>
            </a:p>
          </p:txBody>
        </p:sp>
        <p:sp>
          <p:nvSpPr>
            <p:cNvPr id="9" name="Rectangle 8">
              <a:extLst>
                <a:ext uri="{FF2B5EF4-FFF2-40B4-BE49-F238E27FC236}">
                  <a16:creationId xmlns:a16="http://schemas.microsoft.com/office/drawing/2014/main" id="{CFAAC879-55B9-84DF-8BF4-4DC55B3240B2}"/>
                </a:ext>
              </a:extLst>
            </p:cNvPr>
            <p:cNvSpPr/>
            <p:nvPr/>
          </p:nvSpPr>
          <p:spPr>
            <a:xfrm>
              <a:off x="0" y="2472173"/>
              <a:ext cx="58781" cy="260281"/>
            </a:xfrm>
            <a:prstGeom prst="rect">
              <a:avLst/>
            </a:prstGeom>
            <a:ln>
              <a:noFill/>
            </a:ln>
          </p:spPr>
          <p:txBody>
            <a:bodyPr vert="horz" lIns="0" tIns="0" rIns="0" bIns="0" rtlCol="0">
              <a:noAutofit/>
            </a:bodyPr>
            <a:lstStyle/>
            <a:p>
              <a:pPr marL="0" marR="0" indent="0" algn="l">
                <a:lnSpc>
                  <a:spcPct val="107000"/>
                </a:lnSpc>
                <a:spcAft>
                  <a:spcPts val="800"/>
                </a:spcAft>
              </a:pPr>
              <a:r>
                <a:rPr lang="en-US" sz="1400" kern="100">
                  <a:solidFill>
                    <a:srgbClr val="000000"/>
                  </a:solidFill>
                  <a:effectLst/>
                  <a:latin typeface="Times New Roman" panose="02020603050405020304" pitchFamily="18" charset="0"/>
                  <a:ea typeface="Times New Roman" panose="02020603050405020304" pitchFamily="18" charset="0"/>
                </a:rPr>
                <a:t> </a:t>
              </a:r>
              <a:endParaRPr lang="en-US" sz="1200" kern="100">
                <a:solidFill>
                  <a:srgbClr val="000000"/>
                </a:solidFill>
                <a:effectLst/>
                <a:latin typeface="Times New Roman" panose="02020603050405020304" pitchFamily="18" charset="0"/>
                <a:ea typeface="Times New Roman" panose="02020603050405020304" pitchFamily="18" charset="0"/>
              </a:endParaRPr>
            </a:p>
          </p:txBody>
        </p:sp>
        <p:pic>
          <p:nvPicPr>
            <p:cNvPr id="10" name="Picture 9">
              <a:extLst>
                <a:ext uri="{FF2B5EF4-FFF2-40B4-BE49-F238E27FC236}">
                  <a16:creationId xmlns:a16="http://schemas.microsoft.com/office/drawing/2014/main" id="{2B62A471-24D4-91B9-1972-FF8DF901FAA7}"/>
                </a:ext>
              </a:extLst>
            </p:cNvPr>
            <p:cNvPicPr/>
            <p:nvPr/>
          </p:nvPicPr>
          <p:blipFill>
            <a:blip r:embed="rId2"/>
            <a:stretch>
              <a:fillRect/>
            </a:stretch>
          </p:blipFill>
          <p:spPr>
            <a:xfrm>
              <a:off x="8890" y="357276"/>
              <a:ext cx="5133975" cy="1894205"/>
            </a:xfrm>
            <a:prstGeom prst="rect">
              <a:avLst/>
            </a:prstGeom>
          </p:spPr>
        </p:pic>
        <p:sp>
          <p:nvSpPr>
            <p:cNvPr id="11" name="Shape 1213">
              <a:extLst>
                <a:ext uri="{FF2B5EF4-FFF2-40B4-BE49-F238E27FC236}">
                  <a16:creationId xmlns:a16="http://schemas.microsoft.com/office/drawing/2014/main" id="{CDCD86FC-4014-9180-DA82-EF99A7661DFC}"/>
                </a:ext>
              </a:extLst>
            </p:cNvPr>
            <p:cNvSpPr/>
            <p:nvPr/>
          </p:nvSpPr>
          <p:spPr>
            <a:xfrm>
              <a:off x="2667" y="351054"/>
              <a:ext cx="5146294" cy="1906524"/>
            </a:xfrm>
            <a:custGeom>
              <a:avLst/>
              <a:gdLst/>
              <a:ahLst/>
              <a:cxnLst/>
              <a:rect l="0" t="0" r="0" b="0"/>
              <a:pathLst>
                <a:path w="5146294" h="1906524">
                  <a:moveTo>
                    <a:pt x="0" y="1906524"/>
                  </a:moveTo>
                  <a:lnTo>
                    <a:pt x="5146294" y="1906524"/>
                  </a:lnTo>
                  <a:lnTo>
                    <a:pt x="5146294" y="0"/>
                  </a:lnTo>
                  <a:lnTo>
                    <a:pt x="0" y="0"/>
                  </a:lnTo>
                  <a:close/>
                </a:path>
              </a:pathLst>
            </a:custGeom>
            <a:ln w="9525" cap="rnd">
              <a:miter lim="127000"/>
            </a:ln>
          </p:spPr>
          <p:style>
            <a:lnRef idx="1">
              <a:srgbClr val="000000"/>
            </a:lnRef>
            <a:fillRef idx="0">
              <a:srgbClr val="000000">
                <a:alpha val="0"/>
              </a:srgbClr>
            </a:fillRef>
            <a:effectRef idx="0">
              <a:scrgbClr r="0" g="0" b="0"/>
            </a:effectRef>
            <a:fontRef idx="none"/>
          </p:style>
          <p:txBody>
            <a:bodyPr/>
            <a:lstStyle/>
            <a:p>
              <a:endParaRPr lang="en-US"/>
            </a:p>
          </p:txBody>
        </p:sp>
      </p:grpSp>
      <p:sp>
        <p:nvSpPr>
          <p:cNvPr id="18" name="Title 1">
            <a:extLst>
              <a:ext uri="{FF2B5EF4-FFF2-40B4-BE49-F238E27FC236}">
                <a16:creationId xmlns:a16="http://schemas.microsoft.com/office/drawing/2014/main" id="{0FA42BDF-D5D1-FF14-2D9C-88B42D85B6CD}"/>
              </a:ext>
            </a:extLst>
          </p:cNvPr>
          <p:cNvSpPr txBox="1">
            <a:spLocks/>
          </p:cNvSpPr>
          <p:nvPr/>
        </p:nvSpPr>
        <p:spPr>
          <a:xfrm>
            <a:off x="2734079" y="1410963"/>
            <a:ext cx="1842810" cy="684790"/>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t>Limit 2</a:t>
            </a:r>
          </a:p>
        </p:txBody>
      </p:sp>
      <p:sp>
        <p:nvSpPr>
          <p:cNvPr id="2" name="Footer Placeholder 1">
            <a:extLst>
              <a:ext uri="{FF2B5EF4-FFF2-40B4-BE49-F238E27FC236}">
                <a16:creationId xmlns:a16="http://schemas.microsoft.com/office/drawing/2014/main" id="{8DBB5F4E-DDCC-40FA-1A45-929773EE9D94}"/>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9343721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3CBD4-A102-D269-0D1D-AD5F791BB1FB}"/>
              </a:ext>
            </a:extLst>
          </p:cNvPr>
          <p:cNvSpPr>
            <a:spLocks noGrp="1"/>
          </p:cNvSpPr>
          <p:nvPr>
            <p:ph type="title"/>
          </p:nvPr>
        </p:nvSpPr>
        <p:spPr>
          <a:xfrm>
            <a:off x="982133" y="141937"/>
            <a:ext cx="7704667" cy="1981200"/>
          </a:xfrm>
        </p:spPr>
        <p:txBody>
          <a:bodyPr/>
          <a:lstStyle/>
          <a:p>
            <a:r>
              <a:rPr lang="en-US" dirty="0"/>
              <a:t>Limit 3</a:t>
            </a:r>
          </a:p>
        </p:txBody>
      </p:sp>
      <p:pic>
        <p:nvPicPr>
          <p:cNvPr id="16" name="Picture 15">
            <a:extLst>
              <a:ext uri="{FF2B5EF4-FFF2-40B4-BE49-F238E27FC236}">
                <a16:creationId xmlns:a16="http://schemas.microsoft.com/office/drawing/2014/main" id="{880DC64D-A524-6B0C-F80C-673876515425}"/>
              </a:ext>
            </a:extLst>
          </p:cNvPr>
          <p:cNvPicPr/>
          <p:nvPr/>
        </p:nvPicPr>
        <p:blipFill>
          <a:blip r:embed="rId2"/>
          <a:stretch>
            <a:fillRect/>
          </a:stretch>
        </p:blipFill>
        <p:spPr>
          <a:xfrm>
            <a:off x="1076959" y="1665937"/>
            <a:ext cx="7704667" cy="4277662"/>
          </a:xfrm>
          <a:prstGeom prst="rect">
            <a:avLst/>
          </a:prstGeom>
        </p:spPr>
      </p:pic>
      <p:sp>
        <p:nvSpPr>
          <p:cNvPr id="3" name="Footer Placeholder 2">
            <a:extLst>
              <a:ext uri="{FF2B5EF4-FFF2-40B4-BE49-F238E27FC236}">
                <a16:creationId xmlns:a16="http://schemas.microsoft.com/office/drawing/2014/main" id="{DD7AB697-B6AB-26E0-515B-47C46F9CEB9F}"/>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722620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5A947-5229-AF0D-3351-AC44359473D1}"/>
              </a:ext>
            </a:extLst>
          </p:cNvPr>
          <p:cNvSpPr>
            <a:spLocks noGrp="1"/>
          </p:cNvSpPr>
          <p:nvPr>
            <p:ph type="title"/>
          </p:nvPr>
        </p:nvSpPr>
        <p:spPr>
          <a:xfrm>
            <a:off x="982133" y="0"/>
            <a:ext cx="7704667" cy="1226364"/>
          </a:xfrm>
        </p:spPr>
        <p:txBody>
          <a:bodyPr/>
          <a:lstStyle/>
          <a:p>
            <a:r>
              <a:rPr lang="en-US" dirty="0"/>
              <a:t>Comparison table</a:t>
            </a:r>
          </a:p>
        </p:txBody>
      </p:sp>
      <p:graphicFrame>
        <p:nvGraphicFramePr>
          <p:cNvPr id="5" name="Content Placeholder 4">
            <a:extLst>
              <a:ext uri="{FF2B5EF4-FFF2-40B4-BE49-F238E27FC236}">
                <a16:creationId xmlns:a16="http://schemas.microsoft.com/office/drawing/2014/main" id="{D06B838E-67E4-F9EE-E203-05220907B252}"/>
              </a:ext>
            </a:extLst>
          </p:cNvPr>
          <p:cNvGraphicFramePr>
            <a:graphicFrameLocks noGrp="1"/>
          </p:cNvGraphicFramePr>
          <p:nvPr>
            <p:ph idx="1"/>
            <p:extLst>
              <p:ext uri="{D42A27DB-BD31-4B8C-83A1-F6EECF244321}">
                <p14:modId xmlns:p14="http://schemas.microsoft.com/office/powerpoint/2010/main" val="1139216757"/>
              </p:ext>
            </p:extLst>
          </p:nvPr>
        </p:nvGraphicFramePr>
        <p:xfrm>
          <a:off x="0" y="1607388"/>
          <a:ext cx="9144000" cy="5217136"/>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884912997"/>
                    </a:ext>
                  </a:extLst>
                </a:gridCol>
                <a:gridCol w="1524000">
                  <a:extLst>
                    <a:ext uri="{9D8B030D-6E8A-4147-A177-3AD203B41FA5}">
                      <a16:colId xmlns:a16="http://schemas.microsoft.com/office/drawing/2014/main" val="3091935507"/>
                    </a:ext>
                  </a:extLst>
                </a:gridCol>
                <a:gridCol w="1524000">
                  <a:extLst>
                    <a:ext uri="{9D8B030D-6E8A-4147-A177-3AD203B41FA5}">
                      <a16:colId xmlns:a16="http://schemas.microsoft.com/office/drawing/2014/main" val="3516852304"/>
                    </a:ext>
                  </a:extLst>
                </a:gridCol>
                <a:gridCol w="1524000">
                  <a:extLst>
                    <a:ext uri="{9D8B030D-6E8A-4147-A177-3AD203B41FA5}">
                      <a16:colId xmlns:a16="http://schemas.microsoft.com/office/drawing/2014/main" val="3551961654"/>
                    </a:ext>
                  </a:extLst>
                </a:gridCol>
                <a:gridCol w="1524000">
                  <a:extLst>
                    <a:ext uri="{9D8B030D-6E8A-4147-A177-3AD203B41FA5}">
                      <a16:colId xmlns:a16="http://schemas.microsoft.com/office/drawing/2014/main" val="2331728816"/>
                    </a:ext>
                  </a:extLst>
                </a:gridCol>
                <a:gridCol w="1524000">
                  <a:extLst>
                    <a:ext uri="{9D8B030D-6E8A-4147-A177-3AD203B41FA5}">
                      <a16:colId xmlns:a16="http://schemas.microsoft.com/office/drawing/2014/main" val="2562261507"/>
                    </a:ext>
                  </a:extLst>
                </a:gridCol>
              </a:tblGrid>
              <a:tr h="370840">
                <a:tc>
                  <a:txBody>
                    <a:bodyPr/>
                    <a:lstStyle/>
                    <a:p>
                      <a:r>
                        <a:rPr lang="en-US" sz="1400" b="1" dirty="0"/>
                        <a:t>Criteria</a:t>
                      </a:r>
                      <a:endParaRPr lang="en-US" sz="1400" dirty="0"/>
                    </a:p>
                  </a:txBody>
                  <a:tcPr marL="26033" marR="26033" marT="13016" marB="13016" anchor="ctr"/>
                </a:tc>
                <a:tc>
                  <a:txBody>
                    <a:bodyPr/>
                    <a:lstStyle/>
                    <a:p>
                      <a:r>
                        <a:rPr lang="en-US" sz="1400" b="1" dirty="0"/>
                        <a:t>Breadth-First Search (BFS)</a:t>
                      </a:r>
                      <a:endParaRPr lang="en-US" sz="1400" dirty="0"/>
                    </a:p>
                  </a:txBody>
                  <a:tcPr marL="26033" marR="26033" marT="13016" marB="13016" anchor="ctr"/>
                </a:tc>
                <a:tc>
                  <a:txBody>
                    <a:bodyPr/>
                    <a:lstStyle/>
                    <a:p>
                      <a:r>
                        <a:rPr lang="en-US" sz="1400" b="1"/>
                        <a:t>Depth-First Search (DFS)</a:t>
                      </a:r>
                      <a:endParaRPr lang="en-US" sz="1400"/>
                    </a:p>
                  </a:txBody>
                  <a:tcPr marL="26033" marR="26033" marT="13016" marB="13016" anchor="ctr"/>
                </a:tc>
                <a:tc>
                  <a:txBody>
                    <a:bodyPr/>
                    <a:lstStyle/>
                    <a:p>
                      <a:r>
                        <a:rPr lang="en-US" sz="1400" b="1"/>
                        <a:t>Depth-Limited Search (DLS)</a:t>
                      </a:r>
                      <a:endParaRPr lang="en-US" sz="1400"/>
                    </a:p>
                  </a:txBody>
                  <a:tcPr marL="26033" marR="26033" marT="13016" marB="13016" anchor="ctr"/>
                </a:tc>
                <a:tc>
                  <a:txBody>
                    <a:bodyPr/>
                    <a:lstStyle/>
                    <a:p>
                      <a:r>
                        <a:rPr lang="en-US" sz="1400" b="1"/>
                        <a:t>Uniform Cost Search (UCS)</a:t>
                      </a:r>
                      <a:endParaRPr lang="en-US" sz="1400"/>
                    </a:p>
                  </a:txBody>
                  <a:tcPr marL="26033" marR="26033" marT="13016" marB="13016" anchor="ctr"/>
                </a:tc>
                <a:tc>
                  <a:txBody>
                    <a:bodyPr/>
                    <a:lstStyle/>
                    <a:p>
                      <a:r>
                        <a:rPr lang="en-US" sz="1400" b="1" dirty="0"/>
                        <a:t>Iterative Deepening Search (IDS)</a:t>
                      </a:r>
                      <a:endParaRPr lang="en-US" sz="1400" dirty="0"/>
                    </a:p>
                  </a:txBody>
                  <a:tcPr marL="26033" marR="26033" marT="13016" marB="13016" anchor="ctr"/>
                </a:tc>
                <a:extLst>
                  <a:ext uri="{0D108BD9-81ED-4DB2-BD59-A6C34878D82A}">
                    <a16:rowId xmlns:a16="http://schemas.microsoft.com/office/drawing/2014/main" val="3816514854"/>
                  </a:ext>
                </a:extLst>
              </a:tr>
              <a:tr h="370840">
                <a:tc>
                  <a:txBody>
                    <a:bodyPr/>
                    <a:lstStyle/>
                    <a:p>
                      <a:r>
                        <a:rPr lang="en-US" sz="1400" b="1" dirty="0"/>
                        <a:t>Strategy</a:t>
                      </a:r>
                      <a:endParaRPr lang="en-US" sz="1400" dirty="0"/>
                    </a:p>
                  </a:txBody>
                  <a:tcPr marL="26033" marR="26033" marT="13016" marB="13016" anchor="ctr"/>
                </a:tc>
                <a:tc>
                  <a:txBody>
                    <a:bodyPr/>
                    <a:lstStyle/>
                    <a:p>
                      <a:r>
                        <a:rPr lang="en-US" sz="1400"/>
                        <a:t>Expand shallowest node first</a:t>
                      </a:r>
                    </a:p>
                  </a:txBody>
                  <a:tcPr marL="26033" marR="26033" marT="13016" marB="13016" anchor="ctr"/>
                </a:tc>
                <a:tc>
                  <a:txBody>
                    <a:bodyPr/>
                    <a:lstStyle/>
                    <a:p>
                      <a:r>
                        <a:rPr lang="en-US" sz="1400"/>
                        <a:t>Expand deepest node first</a:t>
                      </a:r>
                    </a:p>
                  </a:txBody>
                  <a:tcPr marL="26033" marR="26033" marT="13016" marB="13016" anchor="ctr"/>
                </a:tc>
                <a:tc>
                  <a:txBody>
                    <a:bodyPr/>
                    <a:lstStyle/>
                    <a:p>
                      <a:r>
                        <a:rPr lang="en-US" sz="1400"/>
                        <a:t>DFS with a depth limit</a:t>
                      </a:r>
                    </a:p>
                  </a:txBody>
                  <a:tcPr marL="26033" marR="26033" marT="13016" marB="13016" anchor="ctr"/>
                </a:tc>
                <a:tc>
                  <a:txBody>
                    <a:bodyPr/>
                    <a:lstStyle/>
                    <a:p>
                      <a:r>
                        <a:rPr lang="en-US" sz="1400"/>
                        <a:t>Expand least-cost node first</a:t>
                      </a:r>
                    </a:p>
                  </a:txBody>
                  <a:tcPr marL="26033" marR="26033" marT="13016" marB="13016" anchor="ctr"/>
                </a:tc>
                <a:tc>
                  <a:txBody>
                    <a:bodyPr/>
                    <a:lstStyle/>
                    <a:p>
                      <a:r>
                        <a:rPr lang="en-US" sz="1400"/>
                        <a:t>Repeated DLS with increasing limits</a:t>
                      </a:r>
                    </a:p>
                  </a:txBody>
                  <a:tcPr marL="26033" marR="26033" marT="13016" marB="13016" anchor="ctr"/>
                </a:tc>
                <a:extLst>
                  <a:ext uri="{0D108BD9-81ED-4DB2-BD59-A6C34878D82A}">
                    <a16:rowId xmlns:a16="http://schemas.microsoft.com/office/drawing/2014/main" val="3667727904"/>
                  </a:ext>
                </a:extLst>
              </a:tr>
              <a:tr h="370840">
                <a:tc>
                  <a:txBody>
                    <a:bodyPr/>
                    <a:lstStyle/>
                    <a:p>
                      <a:r>
                        <a:rPr lang="en-US" sz="1400" b="1"/>
                        <a:t>Data Structure</a:t>
                      </a:r>
                      <a:endParaRPr lang="en-US" sz="1400"/>
                    </a:p>
                  </a:txBody>
                  <a:tcPr marL="26033" marR="26033" marT="13016" marB="13016" anchor="ctr"/>
                </a:tc>
                <a:tc>
                  <a:txBody>
                    <a:bodyPr/>
                    <a:lstStyle/>
                    <a:p>
                      <a:r>
                        <a:rPr lang="en-US" sz="1400" dirty="0"/>
                        <a:t>Queue (FIFO)</a:t>
                      </a:r>
                    </a:p>
                  </a:txBody>
                  <a:tcPr marL="26033" marR="26033" marT="13016" marB="13016" anchor="ctr"/>
                </a:tc>
                <a:tc>
                  <a:txBody>
                    <a:bodyPr/>
                    <a:lstStyle/>
                    <a:p>
                      <a:r>
                        <a:rPr lang="en-US" sz="1400" dirty="0"/>
                        <a:t>Stack (LIFO)</a:t>
                      </a:r>
                    </a:p>
                  </a:txBody>
                  <a:tcPr marL="26033" marR="26033" marT="13016" marB="13016" anchor="ctr"/>
                </a:tc>
                <a:tc>
                  <a:txBody>
                    <a:bodyPr/>
                    <a:lstStyle/>
                    <a:p>
                      <a:r>
                        <a:rPr lang="en-US" sz="1400" dirty="0"/>
                        <a:t>Stack with depth check</a:t>
                      </a:r>
                    </a:p>
                  </a:txBody>
                  <a:tcPr marL="26033" marR="26033" marT="13016" marB="13016" anchor="ctr"/>
                </a:tc>
                <a:tc>
                  <a:txBody>
                    <a:bodyPr/>
                    <a:lstStyle/>
                    <a:p>
                      <a:r>
                        <a:rPr lang="en-US" sz="1400"/>
                        <a:t>Priority Queue</a:t>
                      </a:r>
                    </a:p>
                  </a:txBody>
                  <a:tcPr marL="26033" marR="26033" marT="13016" marB="13016" anchor="ctr"/>
                </a:tc>
                <a:tc>
                  <a:txBody>
                    <a:bodyPr/>
                    <a:lstStyle/>
                    <a:p>
                      <a:r>
                        <a:rPr lang="en-US" sz="1400"/>
                        <a:t>Stack (repeated)</a:t>
                      </a:r>
                    </a:p>
                  </a:txBody>
                  <a:tcPr marL="26033" marR="26033" marT="13016" marB="13016" anchor="ctr"/>
                </a:tc>
                <a:extLst>
                  <a:ext uri="{0D108BD9-81ED-4DB2-BD59-A6C34878D82A}">
                    <a16:rowId xmlns:a16="http://schemas.microsoft.com/office/drawing/2014/main" val="2417913534"/>
                  </a:ext>
                </a:extLst>
              </a:tr>
              <a:tr h="370840">
                <a:tc>
                  <a:txBody>
                    <a:bodyPr/>
                    <a:lstStyle/>
                    <a:p>
                      <a:r>
                        <a:rPr lang="en-US" sz="1400" b="1"/>
                        <a:t>Completeness</a:t>
                      </a:r>
                      <a:endParaRPr lang="en-US" sz="1400"/>
                    </a:p>
                  </a:txBody>
                  <a:tcPr marL="26033" marR="26033" marT="13016" marB="13016" anchor="ctr"/>
                </a:tc>
                <a:tc>
                  <a:txBody>
                    <a:bodyPr/>
                    <a:lstStyle/>
                    <a:p>
                      <a:r>
                        <a:rPr lang="en-US" sz="1400" dirty="0"/>
                        <a:t>✔ Yes</a:t>
                      </a:r>
                    </a:p>
                  </a:txBody>
                  <a:tcPr marL="26033" marR="26033" marT="13016" marB="13016" anchor="ctr"/>
                </a:tc>
                <a:tc>
                  <a:txBody>
                    <a:bodyPr/>
                    <a:lstStyle/>
                    <a:p>
                      <a:r>
                        <a:rPr lang="en-US" sz="1400"/>
                        <a:t>✘ No (fails in infinite trees)</a:t>
                      </a:r>
                    </a:p>
                  </a:txBody>
                  <a:tcPr marL="26033" marR="26033" marT="13016" marB="13016" anchor="ctr"/>
                </a:tc>
                <a:tc>
                  <a:txBody>
                    <a:bodyPr/>
                    <a:lstStyle/>
                    <a:p>
                      <a:r>
                        <a:rPr lang="en-US" sz="1400"/>
                        <a:t>✔ If limit ≥ goal depth</a:t>
                      </a:r>
                    </a:p>
                  </a:txBody>
                  <a:tcPr marL="26033" marR="26033" marT="13016" marB="13016" anchor="ctr"/>
                </a:tc>
                <a:tc>
                  <a:txBody>
                    <a:bodyPr/>
                    <a:lstStyle/>
                    <a:p>
                      <a:r>
                        <a:rPr lang="en-US" sz="1400" dirty="0"/>
                        <a:t>✔ Yes</a:t>
                      </a:r>
                    </a:p>
                  </a:txBody>
                  <a:tcPr marL="26033" marR="26033" marT="13016" marB="13016" anchor="ctr"/>
                </a:tc>
                <a:tc>
                  <a:txBody>
                    <a:bodyPr/>
                    <a:lstStyle/>
                    <a:p>
                      <a:r>
                        <a:rPr lang="en-US" sz="1400"/>
                        <a:t>✔ Yes</a:t>
                      </a:r>
                    </a:p>
                  </a:txBody>
                  <a:tcPr marL="26033" marR="26033" marT="13016" marB="13016" anchor="ctr"/>
                </a:tc>
                <a:extLst>
                  <a:ext uri="{0D108BD9-81ED-4DB2-BD59-A6C34878D82A}">
                    <a16:rowId xmlns:a16="http://schemas.microsoft.com/office/drawing/2014/main" val="3577874358"/>
                  </a:ext>
                </a:extLst>
              </a:tr>
              <a:tr h="370840">
                <a:tc>
                  <a:txBody>
                    <a:bodyPr/>
                    <a:lstStyle/>
                    <a:p>
                      <a:r>
                        <a:rPr lang="en-US" sz="1400" b="1"/>
                        <a:t>Optimality</a:t>
                      </a:r>
                      <a:endParaRPr lang="en-US" sz="1400"/>
                    </a:p>
                  </a:txBody>
                  <a:tcPr marL="26033" marR="26033" marT="13016" marB="13016" anchor="ctr"/>
                </a:tc>
                <a:tc>
                  <a:txBody>
                    <a:bodyPr/>
                    <a:lstStyle/>
                    <a:p>
                      <a:r>
                        <a:rPr lang="en-US" sz="1400"/>
                        <a:t>✔ Yes (if uniform cost)</a:t>
                      </a:r>
                    </a:p>
                  </a:txBody>
                  <a:tcPr marL="26033" marR="26033" marT="13016" marB="13016" anchor="ctr"/>
                </a:tc>
                <a:tc>
                  <a:txBody>
                    <a:bodyPr/>
                    <a:lstStyle/>
                    <a:p>
                      <a:r>
                        <a:rPr lang="en-US" sz="1400" dirty="0"/>
                        <a:t>✘ No</a:t>
                      </a:r>
                    </a:p>
                  </a:txBody>
                  <a:tcPr marL="26033" marR="26033" marT="13016" marB="13016" anchor="ctr"/>
                </a:tc>
                <a:tc>
                  <a:txBody>
                    <a:bodyPr/>
                    <a:lstStyle/>
                    <a:p>
                      <a:r>
                        <a:rPr lang="en-US" sz="1400"/>
                        <a:t>✘ No</a:t>
                      </a:r>
                    </a:p>
                  </a:txBody>
                  <a:tcPr marL="26033" marR="26033" marT="13016" marB="13016" anchor="ctr"/>
                </a:tc>
                <a:tc>
                  <a:txBody>
                    <a:bodyPr/>
                    <a:lstStyle/>
                    <a:p>
                      <a:r>
                        <a:rPr lang="en-US" sz="1400"/>
                        <a:t>✔ Yes</a:t>
                      </a:r>
                    </a:p>
                  </a:txBody>
                  <a:tcPr marL="26033" marR="26033" marT="13016" marB="13016" anchor="ctr"/>
                </a:tc>
                <a:tc>
                  <a:txBody>
                    <a:bodyPr/>
                    <a:lstStyle/>
                    <a:p>
                      <a:r>
                        <a:rPr lang="en-US" sz="1400"/>
                        <a:t>✔ Yes (if step cost = 1)</a:t>
                      </a:r>
                    </a:p>
                  </a:txBody>
                  <a:tcPr marL="26033" marR="26033" marT="13016" marB="13016" anchor="ctr"/>
                </a:tc>
                <a:extLst>
                  <a:ext uri="{0D108BD9-81ED-4DB2-BD59-A6C34878D82A}">
                    <a16:rowId xmlns:a16="http://schemas.microsoft.com/office/drawing/2014/main" val="747002424"/>
                  </a:ext>
                </a:extLst>
              </a:tr>
              <a:tr h="370840">
                <a:tc>
                  <a:txBody>
                    <a:bodyPr/>
                    <a:lstStyle/>
                    <a:p>
                      <a:r>
                        <a:rPr lang="en-US" sz="1400" b="1"/>
                        <a:t>Time Complexity</a:t>
                      </a:r>
                      <a:endParaRPr lang="en-US" sz="1400"/>
                    </a:p>
                  </a:txBody>
                  <a:tcPr marL="26033" marR="26033" marT="13016" marB="13016" anchor="ctr"/>
                </a:tc>
                <a:tc>
                  <a:txBody>
                    <a:bodyPr/>
                    <a:lstStyle/>
                    <a:p>
                      <a:r>
                        <a:rPr lang="en-US" sz="1400"/>
                        <a:t>O(b^d)</a:t>
                      </a:r>
                    </a:p>
                  </a:txBody>
                  <a:tcPr marL="26033" marR="26033" marT="13016" marB="13016" anchor="ctr"/>
                </a:tc>
                <a:tc>
                  <a:txBody>
                    <a:bodyPr/>
                    <a:lstStyle/>
                    <a:p>
                      <a:r>
                        <a:rPr lang="en-US" sz="1400"/>
                        <a:t>O(b^m)</a:t>
                      </a:r>
                    </a:p>
                  </a:txBody>
                  <a:tcPr marL="26033" marR="26033" marT="13016" marB="13016" anchor="ctr"/>
                </a:tc>
                <a:tc>
                  <a:txBody>
                    <a:bodyPr/>
                    <a:lstStyle/>
                    <a:p>
                      <a:r>
                        <a:rPr lang="en-US" sz="1400"/>
                        <a:t>O(b^l)</a:t>
                      </a:r>
                    </a:p>
                  </a:txBody>
                  <a:tcPr marL="26033" marR="26033" marT="13016" marB="13016" anchor="ctr"/>
                </a:tc>
                <a:tc>
                  <a:txBody>
                    <a:bodyPr/>
                    <a:lstStyle/>
                    <a:p>
                      <a:r>
                        <a:rPr lang="en-US" sz="1400"/>
                        <a:t>O(b^d)</a:t>
                      </a:r>
                    </a:p>
                  </a:txBody>
                  <a:tcPr marL="26033" marR="26033" marT="13016" marB="13016" anchor="ctr"/>
                </a:tc>
                <a:tc>
                  <a:txBody>
                    <a:bodyPr/>
                    <a:lstStyle/>
                    <a:p>
                      <a:r>
                        <a:rPr lang="en-US" sz="1400"/>
                        <a:t>O(b^d)</a:t>
                      </a:r>
                    </a:p>
                  </a:txBody>
                  <a:tcPr marL="26033" marR="26033" marT="13016" marB="13016" anchor="ctr"/>
                </a:tc>
                <a:extLst>
                  <a:ext uri="{0D108BD9-81ED-4DB2-BD59-A6C34878D82A}">
                    <a16:rowId xmlns:a16="http://schemas.microsoft.com/office/drawing/2014/main" val="1750696199"/>
                  </a:ext>
                </a:extLst>
              </a:tr>
              <a:tr h="370840">
                <a:tc>
                  <a:txBody>
                    <a:bodyPr/>
                    <a:lstStyle/>
                    <a:p>
                      <a:r>
                        <a:rPr lang="en-US" sz="1400" b="1"/>
                        <a:t>Space Complexity</a:t>
                      </a:r>
                      <a:endParaRPr lang="en-US" sz="1400"/>
                    </a:p>
                  </a:txBody>
                  <a:tcPr marL="26033" marR="26033" marT="13016" marB="13016" anchor="ctr"/>
                </a:tc>
                <a:tc>
                  <a:txBody>
                    <a:bodyPr/>
                    <a:lstStyle/>
                    <a:p>
                      <a:r>
                        <a:rPr lang="en-US" sz="1400"/>
                        <a:t>O(b^d)</a:t>
                      </a:r>
                    </a:p>
                  </a:txBody>
                  <a:tcPr marL="26033" marR="26033" marT="13016" marB="13016" anchor="ctr"/>
                </a:tc>
                <a:tc>
                  <a:txBody>
                    <a:bodyPr/>
                    <a:lstStyle/>
                    <a:p>
                      <a:r>
                        <a:rPr lang="en-US" sz="1400"/>
                        <a:t>O(bm)</a:t>
                      </a:r>
                    </a:p>
                  </a:txBody>
                  <a:tcPr marL="26033" marR="26033" marT="13016" marB="13016" anchor="ctr"/>
                </a:tc>
                <a:tc>
                  <a:txBody>
                    <a:bodyPr/>
                    <a:lstStyle/>
                    <a:p>
                      <a:r>
                        <a:rPr lang="en-US" sz="1400"/>
                        <a:t>O(bl)</a:t>
                      </a:r>
                    </a:p>
                  </a:txBody>
                  <a:tcPr marL="26033" marR="26033" marT="13016" marB="13016" anchor="ctr"/>
                </a:tc>
                <a:tc>
                  <a:txBody>
                    <a:bodyPr/>
                    <a:lstStyle/>
                    <a:p>
                      <a:r>
                        <a:rPr lang="en-US" sz="1400"/>
                        <a:t>O(b^d)</a:t>
                      </a:r>
                    </a:p>
                  </a:txBody>
                  <a:tcPr marL="26033" marR="26033" marT="13016" marB="13016" anchor="ctr"/>
                </a:tc>
                <a:tc>
                  <a:txBody>
                    <a:bodyPr/>
                    <a:lstStyle/>
                    <a:p>
                      <a:r>
                        <a:rPr lang="en-US" sz="1400"/>
                        <a:t>O(bd)</a:t>
                      </a:r>
                    </a:p>
                  </a:txBody>
                  <a:tcPr marL="26033" marR="26033" marT="13016" marB="13016" anchor="ctr"/>
                </a:tc>
                <a:extLst>
                  <a:ext uri="{0D108BD9-81ED-4DB2-BD59-A6C34878D82A}">
                    <a16:rowId xmlns:a16="http://schemas.microsoft.com/office/drawing/2014/main" val="1199824153"/>
                  </a:ext>
                </a:extLst>
              </a:tr>
              <a:tr h="370840">
                <a:tc>
                  <a:txBody>
                    <a:bodyPr/>
                    <a:lstStyle/>
                    <a:p>
                      <a:r>
                        <a:rPr lang="en-US" sz="1400" b="1"/>
                        <a:t>Avoids Repeated States</a:t>
                      </a:r>
                      <a:endParaRPr lang="en-US" sz="1400"/>
                    </a:p>
                  </a:txBody>
                  <a:tcPr marL="26033" marR="26033" marT="13016" marB="13016" anchor="ctr"/>
                </a:tc>
                <a:tc>
                  <a:txBody>
                    <a:bodyPr/>
                    <a:lstStyle/>
                    <a:p>
                      <a:r>
                        <a:rPr lang="en-US" sz="1400"/>
                        <a:t>Only if implemented carefully</a:t>
                      </a:r>
                    </a:p>
                  </a:txBody>
                  <a:tcPr marL="26033" marR="26033" marT="13016" marB="13016" anchor="ctr"/>
                </a:tc>
                <a:tc>
                  <a:txBody>
                    <a:bodyPr/>
                    <a:lstStyle/>
                    <a:p>
                      <a:r>
                        <a:rPr lang="en-US" sz="1400"/>
                        <a:t>No</a:t>
                      </a:r>
                    </a:p>
                  </a:txBody>
                  <a:tcPr marL="26033" marR="26033" marT="13016" marB="13016" anchor="ctr"/>
                </a:tc>
                <a:tc>
                  <a:txBody>
                    <a:bodyPr/>
                    <a:lstStyle/>
                    <a:p>
                      <a:r>
                        <a:rPr lang="en-US" sz="1400"/>
                        <a:t>No</a:t>
                      </a:r>
                    </a:p>
                  </a:txBody>
                  <a:tcPr marL="26033" marR="26033" marT="13016" marB="13016" anchor="ctr"/>
                </a:tc>
                <a:tc>
                  <a:txBody>
                    <a:bodyPr/>
                    <a:lstStyle/>
                    <a:p>
                      <a:r>
                        <a:rPr lang="en-US" sz="1400"/>
                        <a:t>Yes (with closed list)</a:t>
                      </a:r>
                    </a:p>
                  </a:txBody>
                  <a:tcPr marL="26033" marR="26033" marT="13016" marB="13016" anchor="ctr"/>
                </a:tc>
                <a:tc>
                  <a:txBody>
                    <a:bodyPr/>
                    <a:lstStyle/>
                    <a:p>
                      <a:r>
                        <a:rPr lang="en-US" sz="1400"/>
                        <a:t>Yes (effectively in final iteration)</a:t>
                      </a:r>
                    </a:p>
                  </a:txBody>
                  <a:tcPr marL="26033" marR="26033" marT="13016" marB="13016" anchor="ctr"/>
                </a:tc>
                <a:extLst>
                  <a:ext uri="{0D108BD9-81ED-4DB2-BD59-A6C34878D82A}">
                    <a16:rowId xmlns:a16="http://schemas.microsoft.com/office/drawing/2014/main" val="777820798"/>
                  </a:ext>
                </a:extLst>
              </a:tr>
              <a:tr h="370840">
                <a:tc>
                  <a:txBody>
                    <a:bodyPr/>
                    <a:lstStyle/>
                    <a:p>
                      <a:r>
                        <a:rPr lang="en-US" sz="1400" b="1"/>
                        <a:t>Use Case</a:t>
                      </a:r>
                      <a:endParaRPr lang="en-US" sz="1400"/>
                    </a:p>
                  </a:txBody>
                  <a:tcPr marL="26033" marR="26033" marT="13016" marB="13016" anchor="ctr"/>
                </a:tc>
                <a:tc>
                  <a:txBody>
                    <a:bodyPr/>
                    <a:lstStyle/>
                    <a:p>
                      <a:r>
                        <a:rPr lang="en-US" sz="1400"/>
                        <a:t>Shortest path problems</a:t>
                      </a:r>
                    </a:p>
                  </a:txBody>
                  <a:tcPr marL="26033" marR="26033" marT="13016" marB="13016" anchor="ctr"/>
                </a:tc>
                <a:tc>
                  <a:txBody>
                    <a:bodyPr/>
                    <a:lstStyle/>
                    <a:p>
                      <a:r>
                        <a:rPr lang="en-US" sz="1400"/>
                        <a:t>Large trees with solutions at deep levels</a:t>
                      </a:r>
                    </a:p>
                  </a:txBody>
                  <a:tcPr marL="26033" marR="26033" marT="13016" marB="13016" anchor="ctr"/>
                </a:tc>
                <a:tc>
                  <a:txBody>
                    <a:bodyPr/>
                    <a:lstStyle/>
                    <a:p>
                      <a:r>
                        <a:rPr lang="en-US" sz="1400" dirty="0"/>
                        <a:t>Bounded depth trees</a:t>
                      </a:r>
                    </a:p>
                  </a:txBody>
                  <a:tcPr marL="26033" marR="26033" marT="13016" marB="13016" anchor="ctr"/>
                </a:tc>
                <a:tc>
                  <a:txBody>
                    <a:bodyPr/>
                    <a:lstStyle/>
                    <a:p>
                      <a:r>
                        <a:rPr lang="en-US" sz="1400"/>
                        <a:t>Cost-sensitive paths</a:t>
                      </a:r>
                    </a:p>
                  </a:txBody>
                  <a:tcPr marL="26033" marR="26033" marT="13016" marB="13016" anchor="ctr"/>
                </a:tc>
                <a:tc>
                  <a:txBody>
                    <a:bodyPr/>
                    <a:lstStyle/>
                    <a:p>
                      <a:r>
                        <a:rPr lang="en-US" sz="1400" dirty="0"/>
                        <a:t>Optimal search with depth sensitivity</a:t>
                      </a:r>
                    </a:p>
                  </a:txBody>
                  <a:tcPr marL="26033" marR="26033" marT="13016" marB="13016" anchor="ctr"/>
                </a:tc>
                <a:extLst>
                  <a:ext uri="{0D108BD9-81ED-4DB2-BD59-A6C34878D82A}">
                    <a16:rowId xmlns:a16="http://schemas.microsoft.com/office/drawing/2014/main" val="517697082"/>
                  </a:ext>
                </a:extLst>
              </a:tr>
              <a:tr h="370840">
                <a:tc>
                  <a:txBody>
                    <a:bodyPr/>
                    <a:lstStyle/>
                    <a:p>
                      <a:r>
                        <a:rPr lang="en-US" sz="1400" b="1"/>
                        <a:t>Limitations</a:t>
                      </a:r>
                      <a:endParaRPr lang="en-US" sz="1400"/>
                    </a:p>
                  </a:txBody>
                  <a:tcPr marL="26033" marR="26033" marT="13016" marB="13016" anchor="ctr"/>
                </a:tc>
                <a:tc>
                  <a:txBody>
                    <a:bodyPr/>
                    <a:lstStyle/>
                    <a:p>
                      <a:r>
                        <a:rPr lang="en-US" sz="1400"/>
                        <a:t>Memory intensive</a:t>
                      </a:r>
                    </a:p>
                  </a:txBody>
                  <a:tcPr marL="26033" marR="26033" marT="13016" marB="13016" anchor="ctr"/>
                </a:tc>
                <a:tc>
                  <a:txBody>
                    <a:bodyPr/>
                    <a:lstStyle/>
                    <a:p>
                      <a:r>
                        <a:rPr lang="en-US" sz="1400"/>
                        <a:t>May go deep into irrelevant paths</a:t>
                      </a:r>
                    </a:p>
                  </a:txBody>
                  <a:tcPr marL="26033" marR="26033" marT="13016" marB="13016" anchor="ctr"/>
                </a:tc>
                <a:tc>
                  <a:txBody>
                    <a:bodyPr/>
                    <a:lstStyle/>
                    <a:p>
                      <a:r>
                        <a:rPr lang="en-US" sz="1400" dirty="0"/>
                        <a:t>Requires setting a good limit</a:t>
                      </a:r>
                    </a:p>
                  </a:txBody>
                  <a:tcPr marL="26033" marR="26033" marT="13016" marB="13016" anchor="ctr"/>
                </a:tc>
                <a:tc>
                  <a:txBody>
                    <a:bodyPr/>
                    <a:lstStyle/>
                    <a:p>
                      <a:r>
                        <a:rPr lang="en-US" sz="1400"/>
                        <a:t>Memory &amp; performance cost</a:t>
                      </a:r>
                    </a:p>
                  </a:txBody>
                  <a:tcPr marL="26033" marR="26033" marT="13016" marB="13016" anchor="ctr"/>
                </a:tc>
                <a:tc>
                  <a:txBody>
                    <a:bodyPr/>
                    <a:lstStyle/>
                    <a:p>
                      <a:r>
                        <a:rPr lang="en-US" sz="1400" dirty="0"/>
                        <a:t>Recomputes shallow nodes repeatedly</a:t>
                      </a:r>
                    </a:p>
                  </a:txBody>
                  <a:tcPr marL="26033" marR="26033" marT="13016" marB="13016" anchor="ctr"/>
                </a:tc>
                <a:extLst>
                  <a:ext uri="{0D108BD9-81ED-4DB2-BD59-A6C34878D82A}">
                    <a16:rowId xmlns:a16="http://schemas.microsoft.com/office/drawing/2014/main" val="1709809930"/>
                  </a:ext>
                </a:extLst>
              </a:tr>
            </a:tbl>
          </a:graphicData>
        </a:graphic>
      </p:graphicFrame>
      <p:sp>
        <p:nvSpPr>
          <p:cNvPr id="4" name="Footer Placeholder 3">
            <a:extLst>
              <a:ext uri="{FF2B5EF4-FFF2-40B4-BE49-F238E27FC236}">
                <a16:creationId xmlns:a16="http://schemas.microsoft.com/office/drawing/2014/main" id="{E547F28B-F2CE-BCBF-24CF-A467F72E628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6768919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7BDAF-08D1-2907-8B6C-5665F979DDD6}"/>
              </a:ext>
            </a:extLst>
          </p:cNvPr>
          <p:cNvSpPr>
            <a:spLocks noGrp="1"/>
          </p:cNvSpPr>
          <p:nvPr>
            <p:ph type="title"/>
          </p:nvPr>
        </p:nvSpPr>
        <p:spPr/>
        <p:txBody>
          <a:bodyPr/>
          <a:lstStyle/>
          <a:p>
            <a:r>
              <a:rPr lang="en-US" dirty="0"/>
              <a:t>Example BFS</a:t>
            </a:r>
          </a:p>
        </p:txBody>
      </p:sp>
      <p:graphicFrame>
        <p:nvGraphicFramePr>
          <p:cNvPr id="4" name="Content Placeholder 3">
            <a:extLst>
              <a:ext uri="{FF2B5EF4-FFF2-40B4-BE49-F238E27FC236}">
                <a16:creationId xmlns:a16="http://schemas.microsoft.com/office/drawing/2014/main" id="{104D1ABD-A855-6F0E-205B-295E569761EC}"/>
              </a:ext>
            </a:extLst>
          </p:cNvPr>
          <p:cNvGraphicFramePr>
            <a:graphicFrameLocks noGrp="1"/>
          </p:cNvGraphicFramePr>
          <p:nvPr>
            <p:ph idx="1"/>
            <p:extLst>
              <p:ext uri="{D42A27DB-BD31-4B8C-83A1-F6EECF244321}">
                <p14:modId xmlns:p14="http://schemas.microsoft.com/office/powerpoint/2010/main" val="581019466"/>
              </p:ext>
            </p:extLst>
          </p:nvPr>
        </p:nvGraphicFramePr>
        <p:xfrm>
          <a:off x="982663" y="2667000"/>
          <a:ext cx="3894137" cy="3332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a:extLst>
              <a:ext uri="{FF2B5EF4-FFF2-40B4-BE49-F238E27FC236}">
                <a16:creationId xmlns:a16="http://schemas.microsoft.com/office/drawing/2014/main" id="{E8EB6931-1B7E-C787-8EEA-52850FC54BBD}"/>
              </a:ext>
            </a:extLst>
          </p:cNvPr>
          <p:cNvGraphicFramePr>
            <a:graphicFrameLocks/>
          </p:cNvGraphicFramePr>
          <p:nvPr>
            <p:extLst>
              <p:ext uri="{D42A27DB-BD31-4B8C-83A1-F6EECF244321}">
                <p14:modId xmlns:p14="http://schemas.microsoft.com/office/powerpoint/2010/main" val="4287539110"/>
              </p:ext>
            </p:extLst>
          </p:nvPr>
        </p:nvGraphicFramePr>
        <p:xfrm>
          <a:off x="3543300" y="2247900"/>
          <a:ext cx="4922837" cy="333216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9" name="Straight Connector 8">
            <a:extLst>
              <a:ext uri="{FF2B5EF4-FFF2-40B4-BE49-F238E27FC236}">
                <a16:creationId xmlns:a16="http://schemas.microsoft.com/office/drawing/2014/main" id="{4989AB14-B99C-6733-7466-CA156B9BCBCD}"/>
              </a:ext>
            </a:extLst>
          </p:cNvPr>
          <p:cNvCxnSpPr>
            <a:cxnSpLocks/>
          </p:cNvCxnSpPr>
          <p:nvPr/>
        </p:nvCxnSpPr>
        <p:spPr>
          <a:xfrm flipV="1">
            <a:off x="3322637" y="3429000"/>
            <a:ext cx="1169987" cy="167640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Footer Placeholder 2">
            <a:extLst>
              <a:ext uri="{FF2B5EF4-FFF2-40B4-BE49-F238E27FC236}">
                <a16:creationId xmlns:a16="http://schemas.microsoft.com/office/drawing/2014/main" id="{D6ACE52C-A0B3-0B33-ABD1-37F9D377C904}"/>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9882974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E38B5-BB5D-C35D-0FB6-5954B99DBA88}"/>
            </a:ext>
          </a:extLst>
        </p:cNvPr>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D6281B0D-7DDB-90FC-CD1C-36E7994DC142}"/>
              </a:ext>
            </a:extLst>
          </p:cNvPr>
          <p:cNvGraphicFramePr/>
          <p:nvPr>
            <p:extLst>
              <p:ext uri="{D42A27DB-BD31-4B8C-83A1-F6EECF244321}">
                <p14:modId xmlns:p14="http://schemas.microsoft.com/office/powerpoint/2010/main" val="2064893631"/>
              </p:ext>
            </p:extLst>
          </p:nvPr>
        </p:nvGraphicFramePr>
        <p:xfrm>
          <a:off x="1409700" y="952500"/>
          <a:ext cx="7391400" cy="56197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a:extLst>
              <a:ext uri="{FF2B5EF4-FFF2-40B4-BE49-F238E27FC236}">
                <a16:creationId xmlns:a16="http://schemas.microsoft.com/office/drawing/2014/main" id="{14AC1D21-3B0C-56A7-A811-F71F3A0A1BB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9101450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5B8B6-D577-BA64-2506-58225102B4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C00B0-FA93-6642-B71E-5979E9279AD0}"/>
              </a:ext>
            </a:extLst>
          </p:cNvPr>
          <p:cNvSpPr>
            <a:spLocks noGrp="1"/>
          </p:cNvSpPr>
          <p:nvPr>
            <p:ph type="title"/>
          </p:nvPr>
        </p:nvSpPr>
        <p:spPr/>
        <p:txBody>
          <a:bodyPr/>
          <a:lstStyle/>
          <a:p>
            <a:r>
              <a:rPr lang="en-US" dirty="0"/>
              <a:t>Greedy Best-First Search</a:t>
            </a:r>
          </a:p>
        </p:txBody>
      </p:sp>
      <p:sp>
        <p:nvSpPr>
          <p:cNvPr id="3" name="Content Placeholder 2">
            <a:extLst>
              <a:ext uri="{FF2B5EF4-FFF2-40B4-BE49-F238E27FC236}">
                <a16:creationId xmlns:a16="http://schemas.microsoft.com/office/drawing/2014/main" id="{43EE1B7F-0916-2C01-A0E5-38813629F110}"/>
              </a:ext>
            </a:extLst>
          </p:cNvPr>
          <p:cNvSpPr>
            <a:spLocks noGrp="1"/>
          </p:cNvSpPr>
          <p:nvPr>
            <p:ph idx="1"/>
          </p:nvPr>
        </p:nvSpPr>
        <p:spPr>
          <a:xfrm>
            <a:off x="982133" y="1932317"/>
            <a:ext cx="7704667" cy="4067499"/>
          </a:xfrm>
        </p:spPr>
        <p:txBody>
          <a:bodyPr>
            <a:normAutofit fontScale="62500" lnSpcReduction="20000"/>
          </a:bodyPr>
          <a:lstStyle/>
          <a:p>
            <a:r>
              <a:rPr lang="en-US" dirty="0"/>
              <a:t>A search algorithm that expands the node estimated to be closest to the goal based on a heuristic function.</a:t>
            </a:r>
          </a:p>
          <a:p>
            <a:r>
              <a:rPr lang="en-US" altLang="en-US" dirty="0"/>
              <a:t>Effective for problems with good heuristic functions. </a:t>
            </a:r>
          </a:p>
          <a:p>
            <a:r>
              <a:rPr lang="en-US" altLang="en-US" dirty="0"/>
              <a:t>Faster than exhaustive search methods like BFS and DFS.</a:t>
            </a:r>
          </a:p>
          <a:p>
            <a:pPr marL="0" indent="0">
              <a:buNone/>
            </a:pPr>
            <a:r>
              <a:rPr lang="en-US" altLang="en-US" b="1" dirty="0"/>
              <a:t>CON</a:t>
            </a:r>
            <a:r>
              <a:rPr lang="en-US" altLang="en-US" dirty="0"/>
              <a:t>: </a:t>
            </a:r>
            <a:endParaRPr lang="en-US" altLang="en-US" sz="2000" dirty="0"/>
          </a:p>
          <a:p>
            <a:pPr lvl="1"/>
            <a:r>
              <a:rPr lang="en-US" altLang="en-US" dirty="0"/>
              <a:t>Quickly finds a path to the goal but doe not guarantee the shortest path or goal (doesn’t backtrack).</a:t>
            </a:r>
          </a:p>
          <a:p>
            <a:pPr lvl="1"/>
            <a:r>
              <a:rPr lang="en-US" altLang="en-US" dirty="0"/>
              <a:t>Non optimal (does not gives best solution)</a:t>
            </a:r>
          </a:p>
          <a:p>
            <a:pPr lvl="1"/>
            <a:r>
              <a:rPr lang="en-US" altLang="en-US" dirty="0"/>
              <a:t>(Incomplete) Goal might be not found if loop is present  or no path ahead.</a:t>
            </a:r>
          </a:p>
          <a:p>
            <a:pPr marL="0" indent="0">
              <a:buNone/>
            </a:pPr>
            <a:r>
              <a:rPr lang="en-US" b="1" dirty="0"/>
              <a:t>Applications:</a:t>
            </a:r>
          </a:p>
          <a:p>
            <a:r>
              <a:rPr lang="en-US" dirty="0"/>
              <a:t>Robotics</a:t>
            </a:r>
          </a:p>
          <a:p>
            <a:r>
              <a:rPr lang="en-US" dirty="0"/>
              <a:t>Game development</a:t>
            </a:r>
          </a:p>
          <a:p>
            <a:r>
              <a:rPr lang="en-US" dirty="0"/>
              <a:t>Network routing</a:t>
            </a:r>
          </a:p>
          <a:p>
            <a:r>
              <a:rPr lang="en-US" dirty="0"/>
              <a:t>Puzzle solving in AI</a:t>
            </a:r>
          </a:p>
        </p:txBody>
      </p:sp>
      <p:sp>
        <p:nvSpPr>
          <p:cNvPr id="4" name="Footer Placeholder 3">
            <a:extLst>
              <a:ext uri="{FF2B5EF4-FFF2-40B4-BE49-F238E27FC236}">
                <a16:creationId xmlns:a16="http://schemas.microsoft.com/office/drawing/2014/main" id="{C7C61509-FCDC-617F-44A3-F04F53D6811F}"/>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6257975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C04C2C3B-7A38-D03C-3325-23197DC443E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8F1F7B6-A3C0-FFC9-4DE7-80A57EA27A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B29D0531-1261-236F-1E66-6049F9B1BE47}"/>
              </a:ext>
            </a:extLst>
          </p:cNvPr>
          <p:cNvSpPr>
            <a:spLocks noGrp="1"/>
          </p:cNvSpPr>
          <p:nvPr>
            <p:ph type="title"/>
          </p:nvPr>
        </p:nvSpPr>
        <p:spPr>
          <a:xfrm>
            <a:off x="512706" y="764372"/>
            <a:ext cx="2380266" cy="5216013"/>
          </a:xfrm>
        </p:spPr>
        <p:txBody>
          <a:bodyPr>
            <a:normAutofit/>
          </a:bodyPr>
          <a:lstStyle/>
          <a:p>
            <a:pPr algn="l"/>
            <a:r>
              <a:rPr lang="en-US"/>
              <a:t>Algorithm</a:t>
            </a:r>
          </a:p>
        </p:txBody>
      </p:sp>
      <p:cxnSp>
        <p:nvCxnSpPr>
          <p:cNvPr id="10" name="Straight Connector 9">
            <a:extLst>
              <a:ext uri="{FF2B5EF4-FFF2-40B4-BE49-F238E27FC236}">
                <a16:creationId xmlns:a16="http://schemas.microsoft.com/office/drawing/2014/main" id="{BE8F555D-F36E-3526-0EE9-22121BE74E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95397" y="1923563"/>
            <a:ext cx="0" cy="301752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F153AF4-3E1F-AA78-A324-3F34DC19BB7F}"/>
              </a:ext>
            </a:extLst>
          </p:cNvPr>
          <p:cNvSpPr>
            <a:spLocks noGrp="1"/>
          </p:cNvSpPr>
          <p:nvPr>
            <p:ph idx="1"/>
          </p:nvPr>
        </p:nvSpPr>
        <p:spPr>
          <a:xfrm>
            <a:off x="3277603" y="764372"/>
            <a:ext cx="5314950" cy="5216013"/>
          </a:xfrm>
        </p:spPr>
        <p:txBody>
          <a:bodyPr anchor="ctr">
            <a:normAutofit/>
          </a:bodyPr>
          <a:lstStyle/>
          <a:p>
            <a:pPr marL="457200" indent="-457200">
              <a:lnSpc>
                <a:spcPct val="90000"/>
              </a:lnSpc>
              <a:buFont typeface="+mj-lt"/>
              <a:buAutoNum type="arabicPeriod"/>
            </a:pPr>
            <a:r>
              <a:rPr lang="en-US" sz="1400" dirty="0"/>
              <a:t>Initialize:</a:t>
            </a:r>
          </a:p>
          <a:p>
            <a:pPr lvl="1">
              <a:lnSpc>
                <a:spcPct val="90000"/>
              </a:lnSpc>
            </a:pPr>
            <a:r>
              <a:rPr lang="en-US" sz="1400" dirty="0"/>
              <a:t>Open list (nodes to be evaluated).</a:t>
            </a:r>
          </a:p>
          <a:p>
            <a:pPr lvl="1">
              <a:lnSpc>
                <a:spcPct val="90000"/>
              </a:lnSpc>
            </a:pPr>
            <a:r>
              <a:rPr lang="en-US" sz="1400" dirty="0"/>
              <a:t>Closed list (evaluated nodes).</a:t>
            </a:r>
          </a:p>
          <a:p>
            <a:pPr marL="457200" indent="-457200">
              <a:lnSpc>
                <a:spcPct val="90000"/>
              </a:lnSpc>
              <a:buFont typeface="+mj-lt"/>
              <a:buAutoNum type="arabicPeriod"/>
            </a:pPr>
            <a:r>
              <a:rPr lang="en-US" sz="1400" dirty="0"/>
              <a:t>Start from the initial node.</a:t>
            </a:r>
          </a:p>
          <a:p>
            <a:pPr lvl="1">
              <a:lnSpc>
                <a:spcPct val="90000"/>
              </a:lnSpc>
            </a:pPr>
            <a:r>
              <a:rPr lang="en-US" sz="1400" dirty="0"/>
              <a:t>calculate ℎ(𝑛) for the start node.</a:t>
            </a:r>
          </a:p>
          <a:p>
            <a:pPr marL="457200" indent="-457200">
              <a:lnSpc>
                <a:spcPct val="90000"/>
              </a:lnSpc>
              <a:buFont typeface="+mj-lt"/>
              <a:buAutoNum type="arabicPeriod"/>
            </a:pPr>
            <a:r>
              <a:rPr lang="en-US" sz="1400" dirty="0"/>
              <a:t>Iterate:</a:t>
            </a:r>
          </a:p>
          <a:p>
            <a:pPr lvl="1">
              <a:lnSpc>
                <a:spcPct val="90000"/>
              </a:lnSpc>
            </a:pPr>
            <a:r>
              <a:rPr lang="en-US" sz="1400" dirty="0"/>
              <a:t>Pick the node with the lowest h(n) in the open list.</a:t>
            </a:r>
          </a:p>
          <a:p>
            <a:pPr lvl="1">
              <a:lnSpc>
                <a:spcPct val="90000"/>
              </a:lnSpc>
            </a:pPr>
            <a:r>
              <a:rPr lang="en-US" sz="1400" dirty="0"/>
              <a:t>Move it to the closed list.</a:t>
            </a:r>
          </a:p>
          <a:p>
            <a:pPr lvl="1">
              <a:lnSpc>
                <a:spcPct val="90000"/>
              </a:lnSpc>
            </a:pPr>
            <a:r>
              <a:rPr lang="en-US" sz="1400" dirty="0"/>
              <a:t>Evaluate neighbors:</a:t>
            </a:r>
          </a:p>
          <a:p>
            <a:pPr lvl="2">
              <a:lnSpc>
                <a:spcPct val="90000"/>
              </a:lnSpc>
            </a:pPr>
            <a:r>
              <a:rPr lang="en-US" sz="1400" dirty="0"/>
              <a:t>Calculate h(n).</a:t>
            </a:r>
          </a:p>
          <a:p>
            <a:pPr lvl="2">
              <a:lnSpc>
                <a:spcPct val="90000"/>
              </a:lnSpc>
            </a:pPr>
            <a:r>
              <a:rPr lang="en-US" sz="1400" dirty="0"/>
              <a:t>Add neighbors to the open list if not already present.</a:t>
            </a:r>
          </a:p>
          <a:p>
            <a:pPr marL="457200" indent="-457200">
              <a:lnSpc>
                <a:spcPct val="90000"/>
              </a:lnSpc>
              <a:buFont typeface="+mj-lt"/>
              <a:buAutoNum type="arabicPeriod"/>
            </a:pPr>
            <a:r>
              <a:rPr lang="en-US" sz="1400" dirty="0"/>
              <a:t>Goal Test:</a:t>
            </a:r>
          </a:p>
          <a:p>
            <a:pPr lvl="1">
              <a:lnSpc>
                <a:spcPct val="90000"/>
              </a:lnSpc>
            </a:pPr>
            <a:r>
              <a:rPr lang="en-US" sz="1400" dirty="0"/>
              <a:t>Stop when the target node is reached.</a:t>
            </a:r>
          </a:p>
        </p:txBody>
      </p:sp>
      <p:sp>
        <p:nvSpPr>
          <p:cNvPr id="4" name="Footer Placeholder 3">
            <a:extLst>
              <a:ext uri="{FF2B5EF4-FFF2-40B4-BE49-F238E27FC236}">
                <a16:creationId xmlns:a16="http://schemas.microsoft.com/office/drawing/2014/main" id="{7DB27D6F-DAD8-36E3-E2F0-C90A8CBAA544}"/>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0776993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FFDC8-37F5-E8AC-828F-F280DB07361F}"/>
              </a:ext>
            </a:extLst>
          </p:cNvPr>
          <p:cNvSpPr>
            <a:spLocks noGrp="1"/>
          </p:cNvSpPr>
          <p:nvPr>
            <p:ph type="title"/>
          </p:nvPr>
        </p:nvSpPr>
        <p:spPr/>
        <p:txBody>
          <a:bodyPr/>
          <a:lstStyle/>
          <a:p>
            <a:r>
              <a:rPr lang="en-US" dirty="0"/>
              <a:t>Greedy Best-First Search</a:t>
            </a:r>
          </a:p>
        </p:txBody>
      </p:sp>
      <p:pic>
        <p:nvPicPr>
          <p:cNvPr id="5" name="Content Placeholder 4" descr="A diagram of a network&#10;&#10;Description automatically generated">
            <a:extLst>
              <a:ext uri="{FF2B5EF4-FFF2-40B4-BE49-F238E27FC236}">
                <a16:creationId xmlns:a16="http://schemas.microsoft.com/office/drawing/2014/main" id="{D6A78B76-0700-921E-245E-53CFE4CF9E47}"/>
              </a:ext>
            </a:extLst>
          </p:cNvPr>
          <p:cNvPicPr>
            <a:picLocks noGrp="1" noChangeAspect="1"/>
          </p:cNvPicPr>
          <p:nvPr>
            <p:ph idx="1"/>
          </p:nvPr>
        </p:nvPicPr>
        <p:blipFill>
          <a:blip r:embed="rId3"/>
          <a:stretch>
            <a:fillRect/>
          </a:stretch>
        </p:blipFill>
        <p:spPr>
          <a:xfrm>
            <a:off x="2211572" y="1963353"/>
            <a:ext cx="4381976" cy="4437446"/>
          </a:xfrm>
        </p:spPr>
      </p:pic>
      <p:sp>
        <p:nvSpPr>
          <p:cNvPr id="3" name="Footer Placeholder 2">
            <a:extLst>
              <a:ext uri="{FF2B5EF4-FFF2-40B4-BE49-F238E27FC236}">
                <a16:creationId xmlns:a16="http://schemas.microsoft.com/office/drawing/2014/main" id="{162129E2-C324-B515-E7BA-94FA283967F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2227930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C6FB4-E6E5-A67A-EA24-6A1B36DB88DC}"/>
              </a:ext>
            </a:extLst>
          </p:cNvPr>
          <p:cNvSpPr>
            <a:spLocks noGrp="1"/>
          </p:cNvSpPr>
          <p:nvPr>
            <p:ph type="title"/>
          </p:nvPr>
        </p:nvSpPr>
        <p:spPr/>
        <p:txBody>
          <a:bodyPr/>
          <a:lstStyle/>
          <a:p>
            <a:r>
              <a:rPr lang="en-US" dirty="0"/>
              <a:t>A* Algorithm</a:t>
            </a:r>
          </a:p>
        </p:txBody>
      </p:sp>
      <p:sp>
        <p:nvSpPr>
          <p:cNvPr id="3" name="Content Placeholder 2">
            <a:extLst>
              <a:ext uri="{FF2B5EF4-FFF2-40B4-BE49-F238E27FC236}">
                <a16:creationId xmlns:a16="http://schemas.microsoft.com/office/drawing/2014/main" id="{3821845C-70BF-0F75-4DCD-8380626220FD}"/>
              </a:ext>
            </a:extLst>
          </p:cNvPr>
          <p:cNvSpPr>
            <a:spLocks noGrp="1"/>
          </p:cNvSpPr>
          <p:nvPr>
            <p:ph idx="1"/>
          </p:nvPr>
        </p:nvSpPr>
        <p:spPr>
          <a:xfrm>
            <a:off x="982133" y="2438401"/>
            <a:ext cx="7704667" cy="3561415"/>
          </a:xfrm>
        </p:spPr>
        <p:txBody>
          <a:bodyPr>
            <a:normAutofit lnSpcReduction="10000"/>
          </a:bodyPr>
          <a:lstStyle/>
          <a:p>
            <a:r>
              <a:rPr lang="en-US" dirty="0"/>
              <a:t>A* is a popular pathfinding and graph traversal algorithm known for its efficiency and accuracy.</a:t>
            </a:r>
          </a:p>
          <a:p>
            <a:r>
              <a:rPr lang="en-US" dirty="0"/>
              <a:t>Finds the shortest path from a start node to a target node</a:t>
            </a:r>
          </a:p>
          <a:p>
            <a:pPr>
              <a:buFont typeface="Arial" panose="020B0604020202020204" pitchFamily="34" charset="0"/>
              <a:buChar char="•"/>
            </a:pPr>
            <a:r>
              <a:rPr lang="en-US" b="1" dirty="0"/>
              <a:t>Applications:</a:t>
            </a:r>
          </a:p>
          <a:p>
            <a:pPr lvl="1">
              <a:buFont typeface="Arial" panose="020B0604020202020204" pitchFamily="34" charset="0"/>
              <a:buChar char="•"/>
            </a:pPr>
            <a:r>
              <a:rPr lang="en-US" dirty="0"/>
              <a:t>Robotics: Navigation for autonomous robots</a:t>
            </a:r>
          </a:p>
          <a:p>
            <a:pPr lvl="1">
              <a:buFont typeface="Arial" panose="020B0604020202020204" pitchFamily="34" charset="0"/>
              <a:buChar char="•"/>
            </a:pPr>
            <a:r>
              <a:rPr lang="en-US" dirty="0"/>
              <a:t>Game development: NPC pathfinding in video games.</a:t>
            </a:r>
          </a:p>
          <a:p>
            <a:pPr lvl="1">
              <a:buFont typeface="Arial" panose="020B0604020202020204" pitchFamily="34" charset="0"/>
              <a:buChar char="•"/>
            </a:pPr>
            <a:r>
              <a:rPr lang="en-US" dirty="0"/>
              <a:t>Network routing: GPS routing</a:t>
            </a:r>
          </a:p>
          <a:p>
            <a:pPr lvl="1">
              <a:buFont typeface="Arial" panose="020B0604020202020204" pitchFamily="34" charset="0"/>
              <a:buChar char="•"/>
            </a:pPr>
            <a:r>
              <a:rPr lang="en-US" dirty="0"/>
              <a:t>Puzzle solving: 8-puzzle or 15-puzzle problems</a:t>
            </a:r>
          </a:p>
        </p:txBody>
      </p:sp>
      <p:sp>
        <p:nvSpPr>
          <p:cNvPr id="4" name="Footer Placeholder 3">
            <a:extLst>
              <a:ext uri="{FF2B5EF4-FFF2-40B4-BE49-F238E27FC236}">
                <a16:creationId xmlns:a16="http://schemas.microsoft.com/office/drawing/2014/main" id="{A365AF43-4E2A-165E-CDB2-377A11C03CF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4287646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5A2AC-5576-35D0-1EF6-3552F6DBFC61}"/>
              </a:ext>
            </a:extLst>
          </p:cNvPr>
          <p:cNvSpPr>
            <a:spLocks noGrp="1"/>
          </p:cNvSpPr>
          <p:nvPr>
            <p:ph type="title"/>
          </p:nvPr>
        </p:nvSpPr>
        <p:spPr/>
        <p:txBody>
          <a:bodyPr/>
          <a:lstStyle/>
          <a:p>
            <a:r>
              <a:rPr lang="en-US" dirty="0"/>
              <a:t>Core Concept</a:t>
            </a:r>
          </a:p>
        </p:txBody>
      </p:sp>
      <p:sp>
        <p:nvSpPr>
          <p:cNvPr id="3" name="Content Placeholder 2">
            <a:extLst>
              <a:ext uri="{FF2B5EF4-FFF2-40B4-BE49-F238E27FC236}">
                <a16:creationId xmlns:a16="http://schemas.microsoft.com/office/drawing/2014/main" id="{CEDBF442-9CAC-ADA6-6C40-BB95B627F77E}"/>
              </a:ext>
            </a:extLst>
          </p:cNvPr>
          <p:cNvSpPr>
            <a:spLocks noGrp="1"/>
          </p:cNvSpPr>
          <p:nvPr>
            <p:ph idx="1"/>
          </p:nvPr>
        </p:nvSpPr>
        <p:spPr>
          <a:xfrm>
            <a:off x="1630392" y="5762625"/>
            <a:ext cx="7704667" cy="1242077"/>
          </a:xfrm>
        </p:spPr>
        <p:txBody>
          <a:bodyPr/>
          <a:lstStyle/>
          <a:p>
            <a:pPr>
              <a:buFont typeface="Arial" panose="020B0604020202020204" pitchFamily="34" charset="0"/>
              <a:buChar char="•"/>
            </a:pPr>
            <a:r>
              <a:rPr lang="en-US" dirty="0"/>
              <a:t>What we will do is </a:t>
            </a:r>
            <a:r>
              <a:rPr lang="en-US" b="1" dirty="0"/>
              <a:t>Expand node with lowest f(n)</a:t>
            </a:r>
          </a:p>
          <a:p>
            <a:endParaRPr lang="en-US" dirty="0"/>
          </a:p>
        </p:txBody>
      </p:sp>
      <p:sp>
        <p:nvSpPr>
          <p:cNvPr id="5" name="TextBox 4">
            <a:extLst>
              <a:ext uri="{FF2B5EF4-FFF2-40B4-BE49-F238E27FC236}">
                <a16:creationId xmlns:a16="http://schemas.microsoft.com/office/drawing/2014/main" id="{D893E881-8CDA-40D9-B2E0-3C61D86017AD}"/>
              </a:ext>
            </a:extLst>
          </p:cNvPr>
          <p:cNvSpPr txBox="1"/>
          <p:nvPr/>
        </p:nvSpPr>
        <p:spPr>
          <a:xfrm>
            <a:off x="2285999" y="2633662"/>
            <a:ext cx="4572000" cy="584775"/>
          </a:xfrm>
          <a:prstGeom prst="rect">
            <a:avLst/>
          </a:prstGeom>
          <a:noFill/>
        </p:spPr>
        <p:txBody>
          <a:bodyPr wrap="square">
            <a:spAutoFit/>
          </a:bodyPr>
          <a:lstStyle/>
          <a:p>
            <a:pPr algn="ctr"/>
            <a:r>
              <a:rPr lang="en-US" sz="3200" dirty="0">
                <a:solidFill>
                  <a:srgbClr val="FF0000"/>
                </a:solidFill>
              </a:rPr>
              <a:t>f(n) </a:t>
            </a:r>
            <a:r>
              <a:rPr lang="en-US" sz="3200" dirty="0"/>
              <a:t>= </a:t>
            </a:r>
            <a:r>
              <a:rPr lang="en-US" sz="3200" dirty="0">
                <a:solidFill>
                  <a:schemeClr val="accent1">
                    <a:lumMod val="75000"/>
                  </a:schemeClr>
                </a:solidFill>
              </a:rPr>
              <a:t>g(n) </a:t>
            </a:r>
            <a:r>
              <a:rPr lang="en-US" sz="3200" dirty="0"/>
              <a:t>+ h(n) </a:t>
            </a:r>
          </a:p>
        </p:txBody>
      </p:sp>
      <p:sp>
        <p:nvSpPr>
          <p:cNvPr id="6" name="Rectangle 5">
            <a:extLst>
              <a:ext uri="{FF2B5EF4-FFF2-40B4-BE49-F238E27FC236}">
                <a16:creationId xmlns:a16="http://schemas.microsoft.com/office/drawing/2014/main" id="{EB64B0E1-39DB-1D5D-9537-C87A2970C157}"/>
              </a:ext>
            </a:extLst>
          </p:cNvPr>
          <p:cNvSpPr/>
          <p:nvPr/>
        </p:nvSpPr>
        <p:spPr>
          <a:xfrm>
            <a:off x="3948523" y="4402843"/>
            <a:ext cx="1771886" cy="11594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Cost to reach node n from the start.</a:t>
            </a:r>
          </a:p>
        </p:txBody>
      </p:sp>
      <p:sp>
        <p:nvSpPr>
          <p:cNvPr id="7" name="Rectangle 6">
            <a:extLst>
              <a:ext uri="{FF2B5EF4-FFF2-40B4-BE49-F238E27FC236}">
                <a16:creationId xmlns:a16="http://schemas.microsoft.com/office/drawing/2014/main" id="{84ECD5EC-D928-E17F-0557-9C5A61329608}"/>
              </a:ext>
            </a:extLst>
          </p:cNvPr>
          <p:cNvSpPr/>
          <p:nvPr/>
        </p:nvSpPr>
        <p:spPr>
          <a:xfrm>
            <a:off x="6627667" y="3645695"/>
            <a:ext cx="1914762" cy="11594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Heuristic estimate of the cost to reach the goal from n</a:t>
            </a:r>
          </a:p>
        </p:txBody>
      </p:sp>
      <p:sp>
        <p:nvSpPr>
          <p:cNvPr id="8" name="Rectangle 7">
            <a:extLst>
              <a:ext uri="{FF2B5EF4-FFF2-40B4-BE49-F238E27FC236}">
                <a16:creationId xmlns:a16="http://schemas.microsoft.com/office/drawing/2014/main" id="{8CEBB4C0-B629-10F3-2F65-B47D68231322}"/>
              </a:ext>
            </a:extLst>
          </p:cNvPr>
          <p:cNvSpPr/>
          <p:nvPr/>
        </p:nvSpPr>
        <p:spPr>
          <a:xfrm>
            <a:off x="744449" y="3352546"/>
            <a:ext cx="1771886" cy="1242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Total estimated cost of the path through n</a:t>
            </a:r>
          </a:p>
        </p:txBody>
      </p:sp>
      <p:cxnSp>
        <p:nvCxnSpPr>
          <p:cNvPr id="10" name="Straight Arrow Connector 9">
            <a:extLst>
              <a:ext uri="{FF2B5EF4-FFF2-40B4-BE49-F238E27FC236}">
                <a16:creationId xmlns:a16="http://schemas.microsoft.com/office/drawing/2014/main" id="{0B0BE28C-3E11-6595-9830-3AF208E43B1A}"/>
              </a:ext>
            </a:extLst>
          </p:cNvPr>
          <p:cNvCxnSpPr/>
          <p:nvPr/>
        </p:nvCxnSpPr>
        <p:spPr>
          <a:xfrm flipH="1">
            <a:off x="2680643" y="3267121"/>
            <a:ext cx="742950" cy="757148"/>
          </a:xfrm>
          <a:prstGeom prst="straightConnector1">
            <a:avLst/>
          </a:prstGeom>
          <a:ln w="762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 name="Straight Arrow Connector 10">
            <a:extLst>
              <a:ext uri="{FF2B5EF4-FFF2-40B4-BE49-F238E27FC236}">
                <a16:creationId xmlns:a16="http://schemas.microsoft.com/office/drawing/2014/main" id="{9B5E70F9-12D4-2242-1EB0-C09A5325A60E}"/>
              </a:ext>
            </a:extLst>
          </p:cNvPr>
          <p:cNvCxnSpPr>
            <a:cxnSpLocks/>
          </p:cNvCxnSpPr>
          <p:nvPr/>
        </p:nvCxnSpPr>
        <p:spPr>
          <a:xfrm>
            <a:off x="4489847" y="3419521"/>
            <a:ext cx="82152" cy="805920"/>
          </a:xfrm>
          <a:prstGeom prst="straightConnector1">
            <a:avLst/>
          </a:prstGeom>
          <a:ln w="762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a:extLst>
              <a:ext uri="{FF2B5EF4-FFF2-40B4-BE49-F238E27FC236}">
                <a16:creationId xmlns:a16="http://schemas.microsoft.com/office/drawing/2014/main" id="{89713518-C729-509E-87E6-03BF2732EFC5}"/>
              </a:ext>
            </a:extLst>
          </p:cNvPr>
          <p:cNvCxnSpPr>
            <a:cxnSpLocks/>
          </p:cNvCxnSpPr>
          <p:nvPr/>
        </p:nvCxnSpPr>
        <p:spPr>
          <a:xfrm>
            <a:off x="5586296" y="3267121"/>
            <a:ext cx="771642" cy="555360"/>
          </a:xfrm>
          <a:prstGeom prst="straightConnector1">
            <a:avLst/>
          </a:prstGeom>
          <a:ln w="762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 name="Footer Placeholder 3">
            <a:extLst>
              <a:ext uri="{FF2B5EF4-FFF2-40B4-BE49-F238E27FC236}">
                <a16:creationId xmlns:a16="http://schemas.microsoft.com/office/drawing/2014/main" id="{EB3AB203-FB58-C94F-985B-8C74B1910320}"/>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5877419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C41CF4-4A13-4AA9-9300-CB7A2E37C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C6B61049-5012-3CD1-140B-2991EFE5F991}"/>
              </a:ext>
            </a:extLst>
          </p:cNvPr>
          <p:cNvSpPr>
            <a:spLocks noGrp="1"/>
          </p:cNvSpPr>
          <p:nvPr>
            <p:ph type="title"/>
          </p:nvPr>
        </p:nvSpPr>
        <p:spPr>
          <a:xfrm>
            <a:off x="512706" y="764372"/>
            <a:ext cx="2380266" cy="5216013"/>
          </a:xfrm>
        </p:spPr>
        <p:txBody>
          <a:bodyPr>
            <a:normAutofit/>
          </a:bodyPr>
          <a:lstStyle/>
          <a:p>
            <a:pPr algn="l"/>
            <a:r>
              <a:rPr lang="en-US"/>
              <a:t>Algorithm</a:t>
            </a:r>
          </a:p>
        </p:txBody>
      </p:sp>
      <p:cxnSp>
        <p:nvCxnSpPr>
          <p:cNvPr id="10" name="Straight Connector 9">
            <a:extLst>
              <a:ext uri="{FF2B5EF4-FFF2-40B4-BE49-F238E27FC236}">
                <a16:creationId xmlns:a16="http://schemas.microsoft.com/office/drawing/2014/main" id="{7A77B115-9FF3-46AE-AE08-826DEB9A62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95397" y="1923563"/>
            <a:ext cx="0" cy="301752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D59ECAF-C4C1-E4B0-2610-89C61D252407}"/>
              </a:ext>
            </a:extLst>
          </p:cNvPr>
          <p:cNvSpPr>
            <a:spLocks noGrp="1"/>
          </p:cNvSpPr>
          <p:nvPr>
            <p:ph idx="1"/>
          </p:nvPr>
        </p:nvSpPr>
        <p:spPr>
          <a:xfrm>
            <a:off x="3277603" y="764372"/>
            <a:ext cx="5314950" cy="5216013"/>
          </a:xfrm>
        </p:spPr>
        <p:txBody>
          <a:bodyPr anchor="ctr">
            <a:noAutofit/>
          </a:bodyPr>
          <a:lstStyle/>
          <a:p>
            <a:pPr marL="0" indent="0">
              <a:lnSpc>
                <a:spcPct val="90000"/>
              </a:lnSpc>
              <a:spcBef>
                <a:spcPts val="0"/>
              </a:spcBef>
              <a:spcAft>
                <a:spcPts val="0"/>
              </a:spcAft>
              <a:buNone/>
            </a:pPr>
            <a:r>
              <a:rPr lang="en-US" sz="1000" dirty="0"/>
              <a:t>Initialize lists:</a:t>
            </a:r>
          </a:p>
          <a:p>
            <a:pPr marL="457200" lvl="1" indent="0">
              <a:lnSpc>
                <a:spcPct val="90000"/>
              </a:lnSpc>
              <a:spcBef>
                <a:spcPts val="0"/>
              </a:spcBef>
              <a:spcAft>
                <a:spcPts val="0"/>
              </a:spcAft>
              <a:buNone/>
            </a:pPr>
            <a:r>
              <a:rPr lang="en-US" sz="1000" dirty="0"/>
              <a:t>Open ← {start}</a:t>
            </a:r>
          </a:p>
          <a:p>
            <a:pPr marL="457200" lvl="1" indent="0">
              <a:lnSpc>
                <a:spcPct val="90000"/>
              </a:lnSpc>
              <a:spcBef>
                <a:spcPts val="0"/>
              </a:spcBef>
              <a:spcAft>
                <a:spcPts val="0"/>
              </a:spcAft>
              <a:buNone/>
            </a:pPr>
            <a:r>
              <a:rPr lang="en-US" sz="1000" dirty="0"/>
              <a:t>Closed ← ∅</a:t>
            </a:r>
          </a:p>
          <a:p>
            <a:pPr marL="0" indent="0">
              <a:lnSpc>
                <a:spcPct val="90000"/>
              </a:lnSpc>
              <a:spcBef>
                <a:spcPts val="0"/>
              </a:spcBef>
              <a:spcAft>
                <a:spcPts val="0"/>
              </a:spcAft>
              <a:buNone/>
            </a:pPr>
            <a:r>
              <a:rPr lang="en-US" sz="1000" dirty="0"/>
              <a:t>Initialize start node:</a:t>
            </a:r>
          </a:p>
          <a:p>
            <a:pPr marL="457200" lvl="1" indent="0">
              <a:lnSpc>
                <a:spcPct val="90000"/>
              </a:lnSpc>
              <a:spcBef>
                <a:spcPts val="0"/>
              </a:spcBef>
              <a:spcAft>
                <a:spcPts val="0"/>
              </a:spcAft>
              <a:buNone/>
            </a:pPr>
            <a:r>
              <a:rPr lang="en-US" sz="1000" dirty="0"/>
              <a:t>g(start) ← 0</a:t>
            </a:r>
          </a:p>
          <a:p>
            <a:pPr marL="457200" lvl="1" indent="0">
              <a:lnSpc>
                <a:spcPct val="90000"/>
              </a:lnSpc>
              <a:spcBef>
                <a:spcPts val="0"/>
              </a:spcBef>
              <a:spcAft>
                <a:spcPts val="0"/>
              </a:spcAft>
              <a:buNone/>
            </a:pPr>
            <a:r>
              <a:rPr lang="en-US" sz="1000" dirty="0"/>
              <a:t>h(start) ← heuristic(start, goal)</a:t>
            </a:r>
          </a:p>
          <a:p>
            <a:pPr marL="457200" lvl="1" indent="0">
              <a:lnSpc>
                <a:spcPct val="90000"/>
              </a:lnSpc>
              <a:spcBef>
                <a:spcPts val="0"/>
              </a:spcBef>
              <a:spcAft>
                <a:spcPts val="0"/>
              </a:spcAft>
              <a:buNone/>
            </a:pPr>
            <a:r>
              <a:rPr lang="en-US" sz="1000" dirty="0"/>
              <a:t>f(start) ← g(start) + h(start)</a:t>
            </a:r>
          </a:p>
          <a:p>
            <a:pPr marL="457200" lvl="1" indent="0">
              <a:lnSpc>
                <a:spcPct val="90000"/>
              </a:lnSpc>
              <a:spcBef>
                <a:spcPts val="0"/>
              </a:spcBef>
              <a:spcAft>
                <a:spcPts val="0"/>
              </a:spcAft>
              <a:buNone/>
            </a:pPr>
            <a:r>
              <a:rPr lang="en-US" sz="1000" dirty="0"/>
              <a:t>parent(start) ← null</a:t>
            </a:r>
          </a:p>
          <a:p>
            <a:pPr marL="0" indent="0">
              <a:lnSpc>
                <a:spcPct val="90000"/>
              </a:lnSpc>
              <a:spcBef>
                <a:spcPts val="0"/>
              </a:spcBef>
              <a:spcAft>
                <a:spcPts val="0"/>
              </a:spcAft>
              <a:buNone/>
            </a:pPr>
            <a:r>
              <a:rPr lang="en-US" sz="1000" dirty="0"/>
              <a:t>Loop: while Open is not empty, do:</a:t>
            </a:r>
          </a:p>
          <a:p>
            <a:pPr marL="0" indent="0">
              <a:lnSpc>
                <a:spcPct val="90000"/>
              </a:lnSpc>
              <a:spcBef>
                <a:spcPts val="0"/>
              </a:spcBef>
              <a:spcAft>
                <a:spcPts val="0"/>
              </a:spcAft>
              <a:buNone/>
            </a:pPr>
            <a:r>
              <a:rPr lang="en-US" sz="1000" dirty="0"/>
              <a:t>Select current:</a:t>
            </a:r>
          </a:p>
          <a:p>
            <a:pPr marL="0" indent="0">
              <a:lnSpc>
                <a:spcPct val="90000"/>
              </a:lnSpc>
              <a:spcBef>
                <a:spcPts val="0"/>
              </a:spcBef>
              <a:spcAft>
                <a:spcPts val="0"/>
              </a:spcAft>
              <a:buNone/>
            </a:pPr>
            <a:r>
              <a:rPr lang="en-US" sz="1000" dirty="0"/>
              <a:t>current ← node in Open with lowest f(n) (break ties by lower h or other rule)</a:t>
            </a:r>
          </a:p>
          <a:p>
            <a:pPr marL="0" indent="0">
              <a:lnSpc>
                <a:spcPct val="90000"/>
              </a:lnSpc>
              <a:spcBef>
                <a:spcPts val="0"/>
              </a:spcBef>
              <a:spcAft>
                <a:spcPts val="0"/>
              </a:spcAft>
              <a:buNone/>
            </a:pPr>
            <a:r>
              <a:rPr lang="en-US" sz="1000" dirty="0"/>
              <a:t>Goal test:</a:t>
            </a:r>
          </a:p>
          <a:p>
            <a:pPr marL="0" indent="0">
              <a:lnSpc>
                <a:spcPct val="90000"/>
              </a:lnSpc>
              <a:spcBef>
                <a:spcPts val="0"/>
              </a:spcBef>
              <a:spcAft>
                <a:spcPts val="0"/>
              </a:spcAft>
              <a:buNone/>
            </a:pPr>
            <a:r>
              <a:rPr lang="en-US" sz="1000" dirty="0"/>
              <a:t>	If current == goal → go to step 11</a:t>
            </a:r>
          </a:p>
          <a:p>
            <a:pPr marL="0" indent="0">
              <a:lnSpc>
                <a:spcPct val="90000"/>
              </a:lnSpc>
              <a:spcBef>
                <a:spcPts val="0"/>
              </a:spcBef>
              <a:spcAft>
                <a:spcPts val="0"/>
              </a:spcAft>
              <a:buNone/>
            </a:pPr>
            <a:r>
              <a:rPr lang="en-US" sz="1000" dirty="0"/>
              <a:t>Move current:</a:t>
            </a:r>
          </a:p>
          <a:p>
            <a:pPr marL="0" indent="0">
              <a:lnSpc>
                <a:spcPct val="90000"/>
              </a:lnSpc>
              <a:spcBef>
                <a:spcPts val="0"/>
              </a:spcBef>
              <a:spcAft>
                <a:spcPts val="0"/>
              </a:spcAft>
              <a:buNone/>
            </a:pPr>
            <a:r>
              <a:rPr lang="en-US" sz="1000" dirty="0"/>
              <a:t>	Remove current from Open</a:t>
            </a:r>
          </a:p>
          <a:p>
            <a:pPr marL="0" indent="0">
              <a:lnSpc>
                <a:spcPct val="90000"/>
              </a:lnSpc>
              <a:spcBef>
                <a:spcPts val="0"/>
              </a:spcBef>
              <a:spcAft>
                <a:spcPts val="0"/>
              </a:spcAft>
              <a:buNone/>
            </a:pPr>
            <a:r>
              <a:rPr lang="en-US" sz="1000" dirty="0"/>
              <a:t>	Add current to Closed</a:t>
            </a:r>
          </a:p>
          <a:p>
            <a:pPr marL="0" indent="0">
              <a:lnSpc>
                <a:spcPct val="90000"/>
              </a:lnSpc>
              <a:spcBef>
                <a:spcPts val="0"/>
              </a:spcBef>
              <a:spcAft>
                <a:spcPts val="0"/>
              </a:spcAft>
              <a:buNone/>
            </a:pPr>
            <a:r>
              <a:rPr lang="en-US" sz="1000" dirty="0"/>
              <a:t>For each neighbor of current: do:</a:t>
            </a:r>
          </a:p>
          <a:p>
            <a:pPr marL="0" indent="0">
              <a:lnSpc>
                <a:spcPct val="90000"/>
              </a:lnSpc>
              <a:spcBef>
                <a:spcPts val="0"/>
              </a:spcBef>
              <a:spcAft>
                <a:spcPts val="0"/>
              </a:spcAft>
              <a:buNone/>
            </a:pPr>
            <a:r>
              <a:rPr lang="en-US" sz="1000" dirty="0"/>
              <a:t>Skip if closed:</a:t>
            </a:r>
          </a:p>
          <a:p>
            <a:pPr marL="0" indent="0">
              <a:lnSpc>
                <a:spcPct val="90000"/>
              </a:lnSpc>
              <a:spcBef>
                <a:spcPts val="0"/>
              </a:spcBef>
              <a:spcAft>
                <a:spcPts val="0"/>
              </a:spcAft>
              <a:buNone/>
            </a:pPr>
            <a:r>
              <a:rPr lang="en-US" sz="1000" dirty="0"/>
              <a:t>	If neighbor ∈ Closed → continue</a:t>
            </a:r>
          </a:p>
          <a:p>
            <a:pPr marL="0" indent="0">
              <a:lnSpc>
                <a:spcPct val="90000"/>
              </a:lnSpc>
              <a:spcBef>
                <a:spcPts val="0"/>
              </a:spcBef>
              <a:spcAft>
                <a:spcPts val="0"/>
              </a:spcAft>
              <a:buNone/>
            </a:pPr>
            <a:r>
              <a:rPr lang="en-US" sz="1000" dirty="0"/>
              <a:t>Compute tentative cost:</a:t>
            </a:r>
          </a:p>
          <a:p>
            <a:pPr marL="0" indent="0">
              <a:lnSpc>
                <a:spcPct val="90000"/>
              </a:lnSpc>
              <a:spcBef>
                <a:spcPts val="0"/>
              </a:spcBef>
              <a:spcAft>
                <a:spcPts val="0"/>
              </a:spcAft>
              <a:buNone/>
            </a:pPr>
            <a:r>
              <a:rPr lang="en-US" sz="1000" dirty="0"/>
              <a:t>	</a:t>
            </a:r>
            <a:r>
              <a:rPr lang="en-US" sz="1000" dirty="0" err="1"/>
              <a:t>tentative_g</a:t>
            </a:r>
            <a:r>
              <a:rPr lang="en-US" sz="1000" dirty="0"/>
              <a:t> ← g(current) + cost(current, neighbor)</a:t>
            </a:r>
          </a:p>
          <a:p>
            <a:pPr marL="0" indent="0">
              <a:lnSpc>
                <a:spcPct val="90000"/>
              </a:lnSpc>
              <a:spcBef>
                <a:spcPts val="0"/>
              </a:spcBef>
              <a:spcAft>
                <a:spcPts val="0"/>
              </a:spcAft>
              <a:buNone/>
            </a:pPr>
            <a:r>
              <a:rPr lang="en-US" sz="1000" dirty="0"/>
              <a:t>If neighbor not in Open:</a:t>
            </a:r>
          </a:p>
          <a:p>
            <a:pPr marL="0" indent="0">
              <a:lnSpc>
                <a:spcPct val="90000"/>
              </a:lnSpc>
              <a:spcBef>
                <a:spcPts val="0"/>
              </a:spcBef>
              <a:spcAft>
                <a:spcPts val="0"/>
              </a:spcAft>
              <a:buNone/>
            </a:pPr>
            <a:r>
              <a:rPr lang="en-US" sz="1000" dirty="0"/>
              <a:t>	Add neighbor to Open</a:t>
            </a:r>
          </a:p>
          <a:p>
            <a:pPr marL="0" indent="0">
              <a:lnSpc>
                <a:spcPct val="90000"/>
              </a:lnSpc>
              <a:spcBef>
                <a:spcPts val="0"/>
              </a:spcBef>
              <a:spcAft>
                <a:spcPts val="0"/>
              </a:spcAft>
              <a:buNone/>
            </a:pPr>
            <a:r>
              <a:rPr lang="en-US" sz="1000" dirty="0"/>
              <a:t>	</a:t>
            </a:r>
            <a:r>
              <a:rPr lang="en-US" sz="1000" dirty="0" err="1"/>
              <a:t>update_needed</a:t>
            </a:r>
            <a:r>
              <a:rPr lang="en-US" sz="1000" dirty="0"/>
              <a:t> ← true</a:t>
            </a:r>
            <a:br>
              <a:rPr lang="en-US" sz="1000" dirty="0"/>
            </a:br>
            <a:r>
              <a:rPr lang="en-US" sz="1000" dirty="0"/>
              <a:t>	Else if </a:t>
            </a:r>
            <a:r>
              <a:rPr lang="en-US" sz="1000" dirty="0" err="1"/>
              <a:t>tentative_g</a:t>
            </a:r>
            <a:r>
              <a:rPr lang="en-US" sz="1000" dirty="0"/>
              <a:t> &lt; g(neighbor):</a:t>
            </a:r>
          </a:p>
          <a:p>
            <a:pPr marL="0" indent="0">
              <a:lnSpc>
                <a:spcPct val="90000"/>
              </a:lnSpc>
              <a:spcBef>
                <a:spcPts val="0"/>
              </a:spcBef>
              <a:spcAft>
                <a:spcPts val="0"/>
              </a:spcAft>
              <a:buNone/>
            </a:pPr>
            <a:r>
              <a:rPr lang="en-US" sz="1000" dirty="0"/>
              <a:t>	</a:t>
            </a:r>
            <a:r>
              <a:rPr lang="en-US" sz="1000" dirty="0" err="1"/>
              <a:t>update_needed</a:t>
            </a:r>
            <a:r>
              <a:rPr lang="en-US" sz="1000" dirty="0"/>
              <a:t> ← true</a:t>
            </a:r>
            <a:br>
              <a:rPr lang="en-US" sz="1000" dirty="0"/>
            </a:br>
            <a:r>
              <a:rPr lang="en-US" sz="1000" dirty="0"/>
              <a:t>	Else:</a:t>
            </a:r>
          </a:p>
          <a:p>
            <a:pPr marL="0" indent="0">
              <a:lnSpc>
                <a:spcPct val="90000"/>
              </a:lnSpc>
              <a:spcBef>
                <a:spcPts val="0"/>
              </a:spcBef>
              <a:spcAft>
                <a:spcPts val="0"/>
              </a:spcAft>
              <a:buNone/>
            </a:pPr>
            <a:r>
              <a:rPr lang="en-US" sz="1000" dirty="0"/>
              <a:t>	</a:t>
            </a:r>
            <a:r>
              <a:rPr lang="en-US" sz="1000" dirty="0" err="1"/>
              <a:t>update_needed</a:t>
            </a:r>
            <a:r>
              <a:rPr lang="en-US" sz="1000" dirty="0"/>
              <a:t> ← false</a:t>
            </a:r>
          </a:p>
          <a:p>
            <a:pPr marL="0" indent="0">
              <a:lnSpc>
                <a:spcPct val="90000"/>
              </a:lnSpc>
              <a:spcBef>
                <a:spcPts val="0"/>
              </a:spcBef>
              <a:spcAft>
                <a:spcPts val="0"/>
              </a:spcAft>
              <a:buNone/>
            </a:pPr>
            <a:r>
              <a:rPr lang="en-US" sz="1000" dirty="0"/>
              <a:t>If </a:t>
            </a:r>
            <a:r>
              <a:rPr lang="en-US" sz="1000" dirty="0" err="1"/>
              <a:t>update_needed</a:t>
            </a:r>
            <a:r>
              <a:rPr lang="en-US" sz="1000" dirty="0"/>
              <a:t> (neighbor improved):</a:t>
            </a:r>
          </a:p>
          <a:p>
            <a:pPr marL="0" indent="0">
              <a:lnSpc>
                <a:spcPct val="90000"/>
              </a:lnSpc>
              <a:spcBef>
                <a:spcPts val="0"/>
              </a:spcBef>
              <a:spcAft>
                <a:spcPts val="0"/>
              </a:spcAft>
              <a:buNone/>
            </a:pPr>
            <a:r>
              <a:rPr lang="en-US" sz="1000" dirty="0"/>
              <a:t>	parent(neighbor) ← current</a:t>
            </a:r>
          </a:p>
          <a:p>
            <a:pPr marL="0" indent="0">
              <a:lnSpc>
                <a:spcPct val="90000"/>
              </a:lnSpc>
              <a:spcBef>
                <a:spcPts val="0"/>
              </a:spcBef>
              <a:spcAft>
                <a:spcPts val="0"/>
              </a:spcAft>
              <a:buNone/>
            </a:pPr>
            <a:r>
              <a:rPr lang="en-US" sz="1000" dirty="0"/>
              <a:t>	g(neighbor) ← </a:t>
            </a:r>
            <a:r>
              <a:rPr lang="en-US" sz="1000" dirty="0" err="1"/>
              <a:t>tentative_g</a:t>
            </a:r>
            <a:endParaRPr lang="en-US" sz="1000" dirty="0"/>
          </a:p>
          <a:p>
            <a:pPr marL="0" indent="0">
              <a:lnSpc>
                <a:spcPct val="90000"/>
              </a:lnSpc>
              <a:spcBef>
                <a:spcPts val="0"/>
              </a:spcBef>
              <a:spcAft>
                <a:spcPts val="0"/>
              </a:spcAft>
              <a:buNone/>
            </a:pPr>
            <a:r>
              <a:rPr lang="en-US" sz="1000" dirty="0"/>
              <a:t>	h(neighbor) ← heuristic(neighbor, goal)</a:t>
            </a:r>
          </a:p>
          <a:p>
            <a:pPr marL="0" indent="0">
              <a:lnSpc>
                <a:spcPct val="90000"/>
              </a:lnSpc>
              <a:spcBef>
                <a:spcPts val="0"/>
              </a:spcBef>
              <a:spcAft>
                <a:spcPts val="0"/>
              </a:spcAft>
              <a:buNone/>
            </a:pPr>
            <a:r>
              <a:rPr lang="en-US" sz="1000" dirty="0"/>
              <a:t>	f(neighbor) ← g(neighbor) + h(neighbor)</a:t>
            </a:r>
          </a:p>
          <a:p>
            <a:pPr marL="0" indent="0">
              <a:lnSpc>
                <a:spcPct val="90000"/>
              </a:lnSpc>
              <a:spcBef>
                <a:spcPts val="0"/>
              </a:spcBef>
              <a:spcAft>
                <a:spcPts val="0"/>
              </a:spcAft>
              <a:buNone/>
            </a:pPr>
            <a:r>
              <a:rPr lang="en-US" sz="1000" dirty="0"/>
              <a:t>Repeat loop (back to step 3).</a:t>
            </a:r>
          </a:p>
          <a:p>
            <a:pPr marL="0" indent="0">
              <a:lnSpc>
                <a:spcPct val="90000"/>
              </a:lnSpc>
              <a:spcBef>
                <a:spcPts val="0"/>
              </a:spcBef>
              <a:spcAft>
                <a:spcPts val="0"/>
              </a:spcAft>
              <a:buNone/>
            </a:pPr>
            <a:r>
              <a:rPr lang="en-US" sz="1000" dirty="0"/>
              <a:t>If goal found (from step 5): Reconstruct path:</a:t>
            </a:r>
          </a:p>
          <a:p>
            <a:pPr marL="0" indent="0">
              <a:lnSpc>
                <a:spcPct val="90000"/>
              </a:lnSpc>
              <a:spcBef>
                <a:spcPts val="0"/>
              </a:spcBef>
              <a:spcAft>
                <a:spcPts val="0"/>
              </a:spcAft>
              <a:buNone/>
            </a:pPr>
            <a:r>
              <a:rPr lang="en-US" sz="1000" dirty="0"/>
              <a:t>	path ← []</a:t>
            </a:r>
          </a:p>
          <a:p>
            <a:pPr marL="0" indent="0">
              <a:lnSpc>
                <a:spcPct val="90000"/>
              </a:lnSpc>
              <a:spcBef>
                <a:spcPts val="0"/>
              </a:spcBef>
              <a:spcAft>
                <a:spcPts val="0"/>
              </a:spcAft>
              <a:buNone/>
            </a:pPr>
            <a:r>
              <a:rPr lang="en-US" sz="1000" dirty="0"/>
              <a:t>	node ← goal</a:t>
            </a:r>
          </a:p>
          <a:p>
            <a:pPr marL="0" indent="0">
              <a:lnSpc>
                <a:spcPct val="90000"/>
              </a:lnSpc>
              <a:spcBef>
                <a:spcPts val="0"/>
              </a:spcBef>
              <a:spcAft>
                <a:spcPts val="0"/>
              </a:spcAft>
              <a:buNone/>
            </a:pPr>
            <a:r>
              <a:rPr lang="en-US" sz="1000" dirty="0"/>
              <a:t>	while node ≠ null: prepend node to path; node ← parent(node)</a:t>
            </a:r>
          </a:p>
          <a:p>
            <a:pPr marL="0" indent="0">
              <a:lnSpc>
                <a:spcPct val="90000"/>
              </a:lnSpc>
              <a:spcBef>
                <a:spcPts val="0"/>
              </a:spcBef>
              <a:spcAft>
                <a:spcPts val="0"/>
              </a:spcAft>
              <a:buNone/>
            </a:pPr>
            <a:r>
              <a:rPr lang="en-US" sz="1000" dirty="0"/>
              <a:t>	return path</a:t>
            </a:r>
          </a:p>
          <a:p>
            <a:pPr marL="0" indent="0">
              <a:lnSpc>
                <a:spcPct val="90000"/>
              </a:lnSpc>
              <a:spcBef>
                <a:spcPts val="0"/>
              </a:spcBef>
              <a:spcAft>
                <a:spcPts val="0"/>
              </a:spcAft>
              <a:buNone/>
            </a:pPr>
            <a:r>
              <a:rPr lang="en-US" sz="1000" dirty="0"/>
              <a:t>If Open becomes empty and goal not found:</a:t>
            </a:r>
          </a:p>
          <a:p>
            <a:pPr marL="0" indent="0">
              <a:lnSpc>
                <a:spcPct val="90000"/>
              </a:lnSpc>
              <a:spcBef>
                <a:spcPts val="0"/>
              </a:spcBef>
              <a:spcAft>
                <a:spcPts val="0"/>
              </a:spcAft>
              <a:buNone/>
            </a:pPr>
            <a:r>
              <a:rPr lang="en-US" sz="1000" dirty="0"/>
              <a:t>	return “failure” (no path exists)</a:t>
            </a:r>
          </a:p>
          <a:p>
            <a:pPr marL="0" indent="0">
              <a:lnSpc>
                <a:spcPct val="90000"/>
              </a:lnSpc>
              <a:spcBef>
                <a:spcPts val="0"/>
              </a:spcBef>
              <a:spcAft>
                <a:spcPts val="0"/>
              </a:spcAft>
              <a:buNone/>
            </a:pPr>
            <a:endParaRPr lang="en-US" sz="1000" dirty="0"/>
          </a:p>
        </p:txBody>
      </p:sp>
      <p:sp>
        <p:nvSpPr>
          <p:cNvPr id="4" name="Footer Placeholder 3">
            <a:extLst>
              <a:ext uri="{FF2B5EF4-FFF2-40B4-BE49-F238E27FC236}">
                <a16:creationId xmlns:a16="http://schemas.microsoft.com/office/drawing/2014/main" id="{8599FCCA-81BD-0590-C756-B26D873BE15A}"/>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0617004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5F97C-D2E4-300D-0C96-6FD2417F9E45}"/>
              </a:ext>
            </a:extLst>
          </p:cNvPr>
          <p:cNvSpPr>
            <a:spLocks noGrp="1"/>
          </p:cNvSpPr>
          <p:nvPr>
            <p:ph type="title"/>
          </p:nvPr>
        </p:nvSpPr>
        <p:spPr/>
        <p:txBody>
          <a:bodyPr/>
          <a:lstStyle/>
          <a:p>
            <a:r>
              <a:rPr lang="en-US" dirty="0"/>
              <a:t> </a:t>
            </a:r>
          </a:p>
        </p:txBody>
      </p:sp>
      <p:pic>
        <p:nvPicPr>
          <p:cNvPr id="5" name="Content Placeholder 4" descr="A diagram of a network&#10;&#10;Description automatically generated">
            <a:extLst>
              <a:ext uri="{FF2B5EF4-FFF2-40B4-BE49-F238E27FC236}">
                <a16:creationId xmlns:a16="http://schemas.microsoft.com/office/drawing/2014/main" id="{C1645F14-EE14-6E16-59D0-FEFC8E04219F}"/>
              </a:ext>
            </a:extLst>
          </p:cNvPr>
          <p:cNvPicPr>
            <a:picLocks noGrp="1" noChangeAspect="1"/>
          </p:cNvPicPr>
          <p:nvPr>
            <p:ph idx="1"/>
          </p:nvPr>
        </p:nvPicPr>
        <p:blipFill>
          <a:blip r:embed="rId2"/>
          <a:stretch>
            <a:fillRect/>
          </a:stretch>
        </p:blipFill>
        <p:spPr>
          <a:xfrm>
            <a:off x="1698359" y="2637471"/>
            <a:ext cx="6272213" cy="3763328"/>
          </a:xfrm>
        </p:spPr>
      </p:pic>
      <p:sp>
        <p:nvSpPr>
          <p:cNvPr id="3" name="Footer Placeholder 2">
            <a:extLst>
              <a:ext uri="{FF2B5EF4-FFF2-40B4-BE49-F238E27FC236}">
                <a16:creationId xmlns:a16="http://schemas.microsoft.com/office/drawing/2014/main" id="{3C4F51AD-1376-9C4B-CF90-B1296DFCFCA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1725450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B8B1D3B-81B8-1590-DFEE-38DA08C02292}"/>
              </a:ext>
            </a:extLst>
          </p:cNvPr>
          <p:cNvPicPr>
            <a:picLocks noGrp="1" noChangeAspect="1"/>
          </p:cNvPicPr>
          <p:nvPr>
            <p:ph idx="1"/>
          </p:nvPr>
        </p:nvPicPr>
        <p:blipFill>
          <a:blip r:embed="rId2"/>
          <a:stretch>
            <a:fillRect/>
          </a:stretch>
        </p:blipFill>
        <p:spPr>
          <a:xfrm>
            <a:off x="983460" y="0"/>
            <a:ext cx="6721420" cy="3624943"/>
          </a:xfrm>
        </p:spPr>
      </p:pic>
      <p:graphicFrame>
        <p:nvGraphicFramePr>
          <p:cNvPr id="6" name="Table 5">
            <a:extLst>
              <a:ext uri="{FF2B5EF4-FFF2-40B4-BE49-F238E27FC236}">
                <a16:creationId xmlns:a16="http://schemas.microsoft.com/office/drawing/2014/main" id="{60D5B4E3-9199-F086-1F4D-BEE3D5256C2E}"/>
              </a:ext>
            </a:extLst>
          </p:cNvPr>
          <p:cNvGraphicFramePr>
            <a:graphicFrameLocks noGrp="1"/>
          </p:cNvGraphicFramePr>
          <p:nvPr>
            <p:extLst>
              <p:ext uri="{D42A27DB-BD31-4B8C-83A1-F6EECF244321}">
                <p14:modId xmlns:p14="http://schemas.microsoft.com/office/powerpoint/2010/main" val="467550752"/>
              </p:ext>
            </p:extLst>
          </p:nvPr>
        </p:nvGraphicFramePr>
        <p:xfrm>
          <a:off x="1146627" y="3624943"/>
          <a:ext cx="6416222" cy="2966720"/>
        </p:xfrm>
        <a:graphic>
          <a:graphicData uri="http://schemas.openxmlformats.org/drawingml/2006/table">
            <a:tbl>
              <a:tblPr firstRow="1" bandRow="1">
                <a:tableStyleId>{5C22544A-7EE6-4342-B048-85BDC9FD1C3A}</a:tableStyleId>
              </a:tblPr>
              <a:tblGrid>
                <a:gridCol w="1069370">
                  <a:extLst>
                    <a:ext uri="{9D8B030D-6E8A-4147-A177-3AD203B41FA5}">
                      <a16:colId xmlns:a16="http://schemas.microsoft.com/office/drawing/2014/main" val="363524384"/>
                    </a:ext>
                  </a:extLst>
                </a:gridCol>
                <a:gridCol w="1045233">
                  <a:extLst>
                    <a:ext uri="{9D8B030D-6E8A-4147-A177-3AD203B41FA5}">
                      <a16:colId xmlns:a16="http://schemas.microsoft.com/office/drawing/2014/main" val="1306727258"/>
                    </a:ext>
                  </a:extLst>
                </a:gridCol>
                <a:gridCol w="1093509">
                  <a:extLst>
                    <a:ext uri="{9D8B030D-6E8A-4147-A177-3AD203B41FA5}">
                      <a16:colId xmlns:a16="http://schemas.microsoft.com/office/drawing/2014/main" val="4085310886"/>
                    </a:ext>
                  </a:extLst>
                </a:gridCol>
                <a:gridCol w="1069370">
                  <a:extLst>
                    <a:ext uri="{9D8B030D-6E8A-4147-A177-3AD203B41FA5}">
                      <a16:colId xmlns:a16="http://schemas.microsoft.com/office/drawing/2014/main" val="3328883708"/>
                    </a:ext>
                  </a:extLst>
                </a:gridCol>
                <a:gridCol w="1069370">
                  <a:extLst>
                    <a:ext uri="{9D8B030D-6E8A-4147-A177-3AD203B41FA5}">
                      <a16:colId xmlns:a16="http://schemas.microsoft.com/office/drawing/2014/main" val="1930904623"/>
                    </a:ext>
                  </a:extLst>
                </a:gridCol>
                <a:gridCol w="1069370">
                  <a:extLst>
                    <a:ext uri="{9D8B030D-6E8A-4147-A177-3AD203B41FA5}">
                      <a16:colId xmlns:a16="http://schemas.microsoft.com/office/drawing/2014/main" val="4021771525"/>
                    </a:ext>
                  </a:extLst>
                </a:gridCol>
              </a:tblGrid>
              <a:tr h="370840">
                <a:tc>
                  <a:txBody>
                    <a:bodyPr/>
                    <a:lstStyle/>
                    <a:p>
                      <a:r>
                        <a:rPr lang="en-US" dirty="0"/>
                        <a:t>A</a:t>
                      </a:r>
                    </a:p>
                  </a:txBody>
                  <a:tcPr/>
                </a:tc>
                <a:tc>
                  <a:txBody>
                    <a:bodyPr/>
                    <a:lstStyle/>
                    <a:p>
                      <a:r>
                        <a:rPr lang="en-US" dirty="0"/>
                        <a:t>C  | V </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endParaRPr lang="en-US"/>
                    </a:p>
                  </a:txBody>
                  <a:tcPr/>
                </a:tc>
                <a:extLst>
                  <a:ext uri="{0D108BD9-81ED-4DB2-BD59-A6C34878D82A}">
                    <a16:rowId xmlns:a16="http://schemas.microsoft.com/office/drawing/2014/main" val="2427083585"/>
                  </a:ext>
                </a:extLst>
              </a:tr>
              <a:tr h="370840">
                <a:tc>
                  <a:txBody>
                    <a:bodyPr/>
                    <a:lstStyle/>
                    <a:p>
                      <a:r>
                        <a:rPr lang="en-US" dirty="0"/>
                        <a:t>B</a:t>
                      </a:r>
                    </a:p>
                  </a:txBody>
                  <a:tcPr/>
                </a:tc>
                <a:tc>
                  <a:txBody>
                    <a:bodyPr/>
                    <a:lstStyle/>
                    <a:p>
                      <a:endParaRPr lang="en-US" dirty="0"/>
                    </a:p>
                  </a:txBody>
                  <a:tcPr/>
                </a:tc>
                <a:tc>
                  <a:txBody>
                    <a:bodyPr/>
                    <a:lstStyle/>
                    <a:p>
                      <a:r>
                        <a:rPr lang="en-US" dirty="0"/>
                        <a:t>inf</a:t>
                      </a:r>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03000085"/>
                  </a:ext>
                </a:extLst>
              </a:tr>
              <a:tr h="370840">
                <a:tc>
                  <a:txBody>
                    <a:bodyPr/>
                    <a:lstStyle/>
                    <a:p>
                      <a:r>
                        <a:rPr lang="en-US" dirty="0"/>
                        <a:t>C</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387279085"/>
                  </a:ext>
                </a:extLst>
              </a:tr>
              <a:tr h="370840">
                <a:tc>
                  <a:txBody>
                    <a:bodyPr/>
                    <a:lstStyle/>
                    <a:p>
                      <a:r>
                        <a:rPr lang="en-US" dirty="0"/>
                        <a:t>D</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182167495"/>
                  </a:ext>
                </a:extLst>
              </a:tr>
              <a:tr h="370840">
                <a:tc>
                  <a:txBody>
                    <a:bodyPr/>
                    <a:lstStyle/>
                    <a:p>
                      <a:r>
                        <a:rPr lang="en-US" dirty="0"/>
                        <a:t>E</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57764316"/>
                  </a:ext>
                </a:extLst>
              </a:tr>
              <a:tr h="370840">
                <a:tc>
                  <a:txBody>
                    <a:bodyPr/>
                    <a:lstStyle/>
                    <a:p>
                      <a:r>
                        <a:rPr lang="en-US" dirty="0"/>
                        <a:t>F</a:t>
                      </a:r>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685632"/>
                  </a:ext>
                </a:extLst>
              </a:tr>
              <a:tr h="370840">
                <a:tc>
                  <a:txBody>
                    <a:bodyPr/>
                    <a:lstStyle/>
                    <a:p>
                      <a:r>
                        <a:rPr lang="en-US" dirty="0"/>
                        <a:t>Z</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67197514"/>
                  </a:ext>
                </a:extLst>
              </a:tr>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506601120"/>
                  </a:ext>
                </a:extLst>
              </a:tr>
            </a:tbl>
          </a:graphicData>
        </a:graphic>
      </p:graphicFrame>
      <p:sp>
        <p:nvSpPr>
          <p:cNvPr id="2" name="Footer Placeholder 1">
            <a:extLst>
              <a:ext uri="{FF2B5EF4-FFF2-40B4-BE49-F238E27FC236}">
                <a16:creationId xmlns:a16="http://schemas.microsoft.com/office/drawing/2014/main" id="{8D8A72A7-CC11-F62D-60BE-3D0717C7750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6012276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C6F89-509A-B44B-649E-FBFC1AEBB43A}"/>
              </a:ext>
            </a:extLst>
          </p:cNvPr>
          <p:cNvSpPr>
            <a:spLocks noGrp="1"/>
          </p:cNvSpPr>
          <p:nvPr>
            <p:ph type="title"/>
          </p:nvPr>
        </p:nvSpPr>
        <p:spPr/>
        <p:txBody>
          <a:bodyPr/>
          <a:lstStyle/>
          <a:p>
            <a:r>
              <a:rPr lang="en-US" dirty="0"/>
              <a:t>Local Search and Optimization Problems</a:t>
            </a:r>
          </a:p>
        </p:txBody>
      </p:sp>
      <p:sp>
        <p:nvSpPr>
          <p:cNvPr id="3" name="Content Placeholder 2">
            <a:extLst>
              <a:ext uri="{FF2B5EF4-FFF2-40B4-BE49-F238E27FC236}">
                <a16:creationId xmlns:a16="http://schemas.microsoft.com/office/drawing/2014/main" id="{61CD3D29-B68B-79A2-981F-FD3C65855F27}"/>
              </a:ext>
            </a:extLst>
          </p:cNvPr>
          <p:cNvSpPr>
            <a:spLocks noGrp="1"/>
          </p:cNvSpPr>
          <p:nvPr>
            <p:ph idx="1"/>
          </p:nvPr>
        </p:nvSpPr>
        <p:spPr/>
        <p:txBody>
          <a:bodyPr>
            <a:normAutofit fontScale="92500" lnSpcReduction="20000"/>
          </a:bodyPr>
          <a:lstStyle/>
          <a:p>
            <a:r>
              <a:rPr lang="en-US" dirty="0"/>
              <a:t>Local search algorithms operate by moving from one solution to a neighboring solution, aiming to improve the solution quality.</a:t>
            </a:r>
          </a:p>
          <a:p>
            <a:pPr lvl="1"/>
            <a:r>
              <a:rPr lang="en-US" dirty="0"/>
              <a:t>Focus on a single current state rather than exploring multiple paths.</a:t>
            </a:r>
          </a:p>
          <a:p>
            <a:pPr lvl="1"/>
            <a:r>
              <a:rPr lang="en-US" dirty="0"/>
              <a:t>Effective for optimization problems.</a:t>
            </a:r>
          </a:p>
          <a:p>
            <a:r>
              <a:rPr lang="en-US" dirty="0"/>
              <a:t>Applications:</a:t>
            </a:r>
          </a:p>
          <a:p>
            <a:pPr lvl="1"/>
            <a:r>
              <a:rPr lang="en-US" dirty="0"/>
              <a:t>Scheduling</a:t>
            </a:r>
          </a:p>
          <a:p>
            <a:pPr lvl="1"/>
            <a:r>
              <a:rPr lang="en-US" dirty="0"/>
              <a:t>Vehicle routing</a:t>
            </a:r>
          </a:p>
          <a:p>
            <a:pPr lvl="1"/>
            <a:r>
              <a:rPr lang="en-US" dirty="0"/>
              <a:t>Resource allocation</a:t>
            </a:r>
          </a:p>
        </p:txBody>
      </p:sp>
      <p:sp>
        <p:nvSpPr>
          <p:cNvPr id="4" name="Footer Placeholder 3">
            <a:extLst>
              <a:ext uri="{FF2B5EF4-FFF2-40B4-BE49-F238E27FC236}">
                <a16:creationId xmlns:a16="http://schemas.microsoft.com/office/drawing/2014/main" id="{1EF1B89F-BBAC-929D-27A7-9B1C12CD3170}"/>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1194319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313E6-E76D-91DA-C787-1A9CFC457F4B}"/>
              </a:ext>
            </a:extLst>
          </p:cNvPr>
          <p:cNvSpPr>
            <a:spLocks noGrp="1"/>
          </p:cNvSpPr>
          <p:nvPr>
            <p:ph type="title"/>
          </p:nvPr>
        </p:nvSpPr>
        <p:spPr/>
        <p:txBody>
          <a:bodyPr/>
          <a:lstStyle/>
          <a:p>
            <a:r>
              <a:rPr lang="en-US" dirty="0"/>
              <a:t>Characteristics of Local Search</a:t>
            </a:r>
          </a:p>
        </p:txBody>
      </p:sp>
      <p:sp>
        <p:nvSpPr>
          <p:cNvPr id="3" name="Content Placeholder 2">
            <a:extLst>
              <a:ext uri="{FF2B5EF4-FFF2-40B4-BE49-F238E27FC236}">
                <a16:creationId xmlns:a16="http://schemas.microsoft.com/office/drawing/2014/main" id="{5F6FE5AD-8A82-FDFF-B5F5-DF21A2996CCF}"/>
              </a:ext>
            </a:extLst>
          </p:cNvPr>
          <p:cNvSpPr>
            <a:spLocks noGrp="1"/>
          </p:cNvSpPr>
          <p:nvPr>
            <p:ph idx="1"/>
          </p:nvPr>
        </p:nvSpPr>
        <p:spPr/>
        <p:txBody>
          <a:bodyPr>
            <a:normAutofit fontScale="85000" lnSpcReduction="20000"/>
          </a:bodyPr>
          <a:lstStyle/>
          <a:p>
            <a:r>
              <a:rPr lang="en-US" dirty="0"/>
              <a:t>State Representation:</a:t>
            </a:r>
          </a:p>
          <a:p>
            <a:r>
              <a:rPr lang="en-US" dirty="0"/>
              <a:t>A solution or configuration in the problem space.</a:t>
            </a:r>
          </a:p>
          <a:p>
            <a:endParaRPr lang="en-US" dirty="0"/>
          </a:p>
          <a:p>
            <a:r>
              <a:rPr lang="en-US" dirty="0"/>
              <a:t>Neighborhood:</a:t>
            </a:r>
          </a:p>
          <a:p>
            <a:r>
              <a:rPr lang="en-US" dirty="0"/>
              <a:t>A set of 'neighboring' solutions that can be reached by a small change.</a:t>
            </a:r>
          </a:p>
          <a:p>
            <a:endParaRPr lang="en-US" dirty="0"/>
          </a:p>
          <a:p>
            <a:r>
              <a:rPr lang="en-US" dirty="0"/>
              <a:t>Evaluation Function:</a:t>
            </a:r>
          </a:p>
          <a:p>
            <a:r>
              <a:rPr lang="en-US" dirty="0"/>
              <a:t>Measures the quality of a solution.</a:t>
            </a:r>
          </a:p>
          <a:p>
            <a:endParaRPr lang="en-US" dirty="0"/>
          </a:p>
        </p:txBody>
      </p:sp>
      <p:sp>
        <p:nvSpPr>
          <p:cNvPr id="4" name="Footer Placeholder 3">
            <a:extLst>
              <a:ext uri="{FF2B5EF4-FFF2-40B4-BE49-F238E27FC236}">
                <a16:creationId xmlns:a16="http://schemas.microsoft.com/office/drawing/2014/main" id="{BD3D2B46-4AA2-378F-CC77-A3D47773513B}"/>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9352843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3ABF7-37FE-8DAD-BCA4-3AA26032CAA1}"/>
              </a:ext>
            </a:extLst>
          </p:cNvPr>
          <p:cNvSpPr>
            <a:spLocks noGrp="1"/>
          </p:cNvSpPr>
          <p:nvPr>
            <p:ph type="title"/>
          </p:nvPr>
        </p:nvSpPr>
        <p:spPr/>
        <p:txBody>
          <a:bodyPr/>
          <a:lstStyle/>
          <a:p>
            <a:r>
              <a:rPr lang="en-US" dirty="0"/>
              <a:t>Hill-Climbing Search</a:t>
            </a:r>
          </a:p>
        </p:txBody>
      </p:sp>
      <p:sp>
        <p:nvSpPr>
          <p:cNvPr id="3" name="Content Placeholder 2">
            <a:extLst>
              <a:ext uri="{FF2B5EF4-FFF2-40B4-BE49-F238E27FC236}">
                <a16:creationId xmlns:a16="http://schemas.microsoft.com/office/drawing/2014/main" id="{DCE5C1B2-DDBF-6D2C-BC32-41BA1EABAB67}"/>
              </a:ext>
            </a:extLst>
          </p:cNvPr>
          <p:cNvSpPr>
            <a:spLocks noGrp="1"/>
          </p:cNvSpPr>
          <p:nvPr>
            <p:ph idx="1"/>
          </p:nvPr>
        </p:nvSpPr>
        <p:spPr/>
        <p:txBody>
          <a:bodyPr>
            <a:normAutofit lnSpcReduction="10000"/>
          </a:bodyPr>
          <a:lstStyle/>
          <a:p>
            <a:pPr marL="0" indent="0">
              <a:buNone/>
            </a:pPr>
            <a:r>
              <a:rPr lang="en-US" dirty="0"/>
              <a:t>A local search algorithm that continuously moves to the neighbor with the highest evaluation value.</a:t>
            </a:r>
          </a:p>
          <a:p>
            <a:r>
              <a:rPr lang="en-US" dirty="0"/>
              <a:t>Steps:</a:t>
            </a:r>
          </a:p>
          <a:p>
            <a:pPr marL="0" indent="0">
              <a:buNone/>
            </a:pPr>
            <a:r>
              <a:rPr lang="en-US" dirty="0"/>
              <a:t>	1. Start with an initial solution.</a:t>
            </a:r>
          </a:p>
          <a:p>
            <a:pPr marL="0" indent="0">
              <a:buNone/>
            </a:pPr>
            <a:r>
              <a:rPr lang="en-US" dirty="0"/>
              <a:t>	2. Evaluate neighbors.</a:t>
            </a:r>
          </a:p>
          <a:p>
            <a:pPr marL="0" indent="0">
              <a:buNone/>
            </a:pPr>
            <a:r>
              <a:rPr lang="en-US" dirty="0"/>
              <a:t>	3. Move to the best neighbor.</a:t>
            </a:r>
          </a:p>
          <a:p>
            <a:pPr marL="0" indent="0">
              <a:buNone/>
            </a:pPr>
            <a:r>
              <a:rPr lang="en-US" dirty="0"/>
              <a:t>	4. Stop if no better neighbors exist.</a:t>
            </a:r>
          </a:p>
          <a:p>
            <a:endParaRPr lang="en-US" dirty="0"/>
          </a:p>
        </p:txBody>
      </p:sp>
      <p:sp>
        <p:nvSpPr>
          <p:cNvPr id="4" name="Footer Placeholder 3">
            <a:extLst>
              <a:ext uri="{FF2B5EF4-FFF2-40B4-BE49-F238E27FC236}">
                <a16:creationId xmlns:a16="http://schemas.microsoft.com/office/drawing/2014/main" id="{0B424A9D-E474-9E47-9631-193D2F52338F}"/>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6094851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71EA1-3560-A139-17F2-B6106115463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D3B516C-8D15-F258-9848-E071880A58CD}"/>
              </a:ext>
            </a:extLst>
          </p:cNvPr>
          <p:cNvPicPr>
            <a:picLocks noGrp="1" noChangeAspect="1"/>
          </p:cNvPicPr>
          <p:nvPr>
            <p:ph idx="1"/>
          </p:nvPr>
        </p:nvPicPr>
        <p:blipFill>
          <a:blip r:embed="rId2"/>
          <a:stretch>
            <a:fillRect/>
          </a:stretch>
        </p:blipFill>
        <p:spPr>
          <a:xfrm>
            <a:off x="-185735" y="6858000"/>
            <a:ext cx="10040401" cy="5280035"/>
          </a:xfrm>
        </p:spPr>
      </p:pic>
      <p:pic>
        <p:nvPicPr>
          <p:cNvPr id="7" name="Picture 6">
            <a:extLst>
              <a:ext uri="{FF2B5EF4-FFF2-40B4-BE49-F238E27FC236}">
                <a16:creationId xmlns:a16="http://schemas.microsoft.com/office/drawing/2014/main" id="{A423C4BA-9E86-51DD-EBD6-E7EE22B2A0EF}"/>
              </a:ext>
            </a:extLst>
          </p:cNvPr>
          <p:cNvPicPr>
            <a:picLocks noChangeAspect="1"/>
          </p:cNvPicPr>
          <p:nvPr/>
        </p:nvPicPr>
        <p:blipFill>
          <a:blip r:embed="rId3"/>
          <a:stretch>
            <a:fillRect/>
          </a:stretch>
        </p:blipFill>
        <p:spPr>
          <a:xfrm>
            <a:off x="897072" y="1973925"/>
            <a:ext cx="7264795" cy="3848898"/>
          </a:xfrm>
          <a:prstGeom prst="rect">
            <a:avLst/>
          </a:prstGeom>
        </p:spPr>
      </p:pic>
      <p:sp>
        <p:nvSpPr>
          <p:cNvPr id="3" name="Footer Placeholder 2">
            <a:extLst>
              <a:ext uri="{FF2B5EF4-FFF2-40B4-BE49-F238E27FC236}">
                <a16:creationId xmlns:a16="http://schemas.microsoft.com/office/drawing/2014/main" id="{20E7F8AF-4F6D-7AB7-F823-99A618E3C477}"/>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0897572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24DF4-69D2-B073-D10F-2C59010874EE}"/>
              </a:ext>
            </a:extLst>
          </p:cNvPr>
          <p:cNvSpPr>
            <a:spLocks noGrp="1"/>
          </p:cNvSpPr>
          <p:nvPr>
            <p:ph type="title"/>
          </p:nvPr>
        </p:nvSpPr>
        <p:spPr/>
        <p:txBody>
          <a:bodyPr/>
          <a:lstStyle/>
          <a:p>
            <a:r>
              <a:rPr lang="en-US" dirty="0"/>
              <a:t>Problems with Hill-Climbing</a:t>
            </a:r>
          </a:p>
        </p:txBody>
      </p:sp>
      <p:sp>
        <p:nvSpPr>
          <p:cNvPr id="3" name="Content Placeholder 2">
            <a:extLst>
              <a:ext uri="{FF2B5EF4-FFF2-40B4-BE49-F238E27FC236}">
                <a16:creationId xmlns:a16="http://schemas.microsoft.com/office/drawing/2014/main" id="{8005C064-30C6-8E60-2DF0-F47984D53F7F}"/>
              </a:ext>
            </a:extLst>
          </p:cNvPr>
          <p:cNvSpPr>
            <a:spLocks noGrp="1"/>
          </p:cNvSpPr>
          <p:nvPr>
            <p:ph idx="1"/>
          </p:nvPr>
        </p:nvSpPr>
        <p:spPr>
          <a:xfrm>
            <a:off x="1127607" y="2286001"/>
            <a:ext cx="7704667" cy="4114798"/>
          </a:xfrm>
        </p:spPr>
        <p:txBody>
          <a:bodyPr>
            <a:normAutofit fontScale="70000" lnSpcReduction="20000"/>
          </a:bodyPr>
          <a:lstStyle/>
          <a:p>
            <a:r>
              <a:rPr lang="en-US" dirty="0"/>
              <a:t>Local Maxima:</a:t>
            </a:r>
          </a:p>
          <a:p>
            <a:pPr lvl="1"/>
            <a:r>
              <a:rPr lang="en-US" dirty="0"/>
              <a:t>A peak lower than the global maximum.</a:t>
            </a:r>
          </a:p>
          <a:p>
            <a:pPr lvl="1"/>
            <a:r>
              <a:rPr lang="en-US" dirty="0"/>
              <a:t>You cannot go higher even though the global peak exists elsewhere.</a:t>
            </a:r>
          </a:p>
          <a:p>
            <a:pPr lvl="1"/>
            <a:r>
              <a:rPr lang="en-US" dirty="0"/>
              <a:t>Back tracking can be solution</a:t>
            </a:r>
          </a:p>
          <a:p>
            <a:r>
              <a:rPr lang="en-US" dirty="0"/>
              <a:t>Plateaus:</a:t>
            </a:r>
          </a:p>
          <a:p>
            <a:pPr lvl="1"/>
            <a:r>
              <a:rPr lang="en-US" dirty="0"/>
              <a:t>A large flat area where all neighbors have the same value.</a:t>
            </a:r>
          </a:p>
          <a:p>
            <a:pPr lvl="1"/>
            <a:r>
              <a:rPr lang="en-US" dirty="0"/>
              <a:t>The algorithm keeps wandering without progress..</a:t>
            </a:r>
          </a:p>
          <a:p>
            <a:pPr lvl="1"/>
            <a:r>
              <a:rPr lang="en-US" dirty="0"/>
              <a:t>Take big steps can be solution</a:t>
            </a:r>
          </a:p>
          <a:p>
            <a:r>
              <a:rPr lang="en-US" dirty="0"/>
              <a:t>Ridges:</a:t>
            </a:r>
          </a:p>
          <a:p>
            <a:pPr lvl="1"/>
            <a:r>
              <a:rPr lang="en-US" dirty="0"/>
              <a:t>Narrow regions of high-value states that are difficult to climb</a:t>
            </a:r>
          </a:p>
          <a:p>
            <a:pPr lvl="1"/>
            <a:r>
              <a:rPr lang="en-US" dirty="0"/>
              <a:t>A region where direction of steepest ascent does not lead directly upward, you must go sideways first.</a:t>
            </a:r>
          </a:p>
          <a:p>
            <a:pPr lvl="1"/>
            <a:r>
              <a:rPr lang="en-US" dirty="0"/>
              <a:t>Using bidirectional search can help</a:t>
            </a:r>
          </a:p>
          <a:p>
            <a:endParaRPr lang="en-US" dirty="0"/>
          </a:p>
        </p:txBody>
      </p:sp>
      <p:sp>
        <p:nvSpPr>
          <p:cNvPr id="4" name="Footer Placeholder 3">
            <a:extLst>
              <a:ext uri="{FF2B5EF4-FFF2-40B4-BE49-F238E27FC236}">
                <a16:creationId xmlns:a16="http://schemas.microsoft.com/office/drawing/2014/main" id="{BB8E668C-9640-0844-5538-37153498311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8661041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40F76-47FC-BF4A-201B-260E6263CFA6}"/>
              </a:ext>
            </a:extLst>
          </p:cNvPr>
          <p:cNvSpPr>
            <a:spLocks noGrp="1"/>
          </p:cNvSpPr>
          <p:nvPr>
            <p:ph type="title"/>
          </p:nvPr>
        </p:nvSpPr>
        <p:spPr>
          <a:xfrm>
            <a:off x="982133" y="457201"/>
            <a:ext cx="7704667" cy="1371599"/>
          </a:xfrm>
        </p:spPr>
        <p:txBody>
          <a:bodyPr/>
          <a:lstStyle/>
          <a:p>
            <a:r>
              <a:rPr lang="en-US" dirty="0"/>
              <a:t>Types of Hill Climbing</a:t>
            </a:r>
          </a:p>
        </p:txBody>
      </p:sp>
      <p:sp>
        <p:nvSpPr>
          <p:cNvPr id="3" name="Content Placeholder 2">
            <a:extLst>
              <a:ext uri="{FF2B5EF4-FFF2-40B4-BE49-F238E27FC236}">
                <a16:creationId xmlns:a16="http://schemas.microsoft.com/office/drawing/2014/main" id="{018DCA10-0E9D-79D7-F5E7-3B77D650CEBD}"/>
              </a:ext>
            </a:extLst>
          </p:cNvPr>
          <p:cNvSpPr>
            <a:spLocks noGrp="1"/>
          </p:cNvSpPr>
          <p:nvPr>
            <p:ph idx="1"/>
          </p:nvPr>
        </p:nvSpPr>
        <p:spPr>
          <a:xfrm>
            <a:off x="982132" y="1828800"/>
            <a:ext cx="7704667" cy="4333947"/>
          </a:xfrm>
        </p:spPr>
        <p:txBody>
          <a:bodyPr>
            <a:normAutofit fontScale="92500" lnSpcReduction="20000"/>
          </a:bodyPr>
          <a:lstStyle/>
          <a:p>
            <a:r>
              <a:rPr lang="en-US" dirty="0"/>
              <a:t>Simple Hill Climbing</a:t>
            </a:r>
          </a:p>
          <a:p>
            <a:pPr lvl="1"/>
            <a:r>
              <a:rPr lang="en-US" dirty="0"/>
              <a:t>Examines neighbors one by one.</a:t>
            </a:r>
          </a:p>
          <a:p>
            <a:pPr lvl="1"/>
            <a:r>
              <a:rPr lang="en-US" dirty="0"/>
              <a:t>Chooses the first better state.</a:t>
            </a:r>
          </a:p>
          <a:p>
            <a:pPr lvl="1"/>
            <a:r>
              <a:rPr lang="en-US" dirty="0"/>
              <a:t>Not guaranteed to find the best among neighbors.</a:t>
            </a:r>
          </a:p>
          <a:p>
            <a:r>
              <a:rPr lang="en-US" dirty="0"/>
              <a:t>Steepest-Ascent Hill Climbing</a:t>
            </a:r>
          </a:p>
          <a:p>
            <a:pPr lvl="1"/>
            <a:r>
              <a:rPr lang="en-US" dirty="0"/>
              <a:t>Looks at all neighbors.</a:t>
            </a:r>
          </a:p>
          <a:p>
            <a:pPr lvl="1"/>
            <a:r>
              <a:rPr lang="en-US" dirty="0"/>
              <a:t>Chooses the one with the highest improvement.</a:t>
            </a:r>
          </a:p>
          <a:p>
            <a:pPr lvl="1"/>
            <a:r>
              <a:rPr lang="en-US" dirty="0"/>
              <a:t>Better but more expensive.</a:t>
            </a:r>
          </a:p>
          <a:p>
            <a:r>
              <a:rPr lang="en-US" dirty="0"/>
              <a:t>Stochastic Hill Climbing</a:t>
            </a:r>
          </a:p>
          <a:p>
            <a:pPr lvl="1"/>
            <a:r>
              <a:rPr lang="en-US" dirty="0"/>
              <a:t>Randomly selects a neighbor.</a:t>
            </a:r>
          </a:p>
          <a:p>
            <a:pPr lvl="1"/>
            <a:r>
              <a:rPr lang="en-US" dirty="0"/>
              <a:t>Useful in large or noisy search spaces.</a:t>
            </a:r>
          </a:p>
        </p:txBody>
      </p:sp>
      <p:sp>
        <p:nvSpPr>
          <p:cNvPr id="4" name="Footer Placeholder 3">
            <a:extLst>
              <a:ext uri="{FF2B5EF4-FFF2-40B4-BE49-F238E27FC236}">
                <a16:creationId xmlns:a16="http://schemas.microsoft.com/office/drawing/2014/main" id="{30057F0D-D370-EA5B-B482-6DA69128BA6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7613355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373FAB8-3C50-A962-DEAE-CB6208AE94D6}"/>
              </a:ext>
            </a:extLst>
          </p:cNvPr>
          <p:cNvSpPr/>
          <p:nvPr/>
        </p:nvSpPr>
        <p:spPr>
          <a:xfrm>
            <a:off x="1928811" y="1079181"/>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DA39D9E2-75E5-7808-1F8E-54A60B3866F0}"/>
              </a:ext>
            </a:extLst>
          </p:cNvPr>
          <p:cNvSpPr/>
          <p:nvPr/>
        </p:nvSpPr>
        <p:spPr>
          <a:xfrm>
            <a:off x="2543173" y="1082038"/>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24944C0-2153-F438-4A90-994AEF47C48A}"/>
              </a:ext>
            </a:extLst>
          </p:cNvPr>
          <p:cNvSpPr/>
          <p:nvPr/>
        </p:nvSpPr>
        <p:spPr>
          <a:xfrm>
            <a:off x="3157535" y="1083944"/>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C6BFE11-A8B2-35C7-2090-0E9B2F9FA3D0}"/>
              </a:ext>
            </a:extLst>
          </p:cNvPr>
          <p:cNvSpPr/>
          <p:nvPr/>
        </p:nvSpPr>
        <p:spPr>
          <a:xfrm>
            <a:off x="3771897" y="1079181"/>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C936612-12A5-E1DD-0054-5D229B7894AF}"/>
              </a:ext>
            </a:extLst>
          </p:cNvPr>
          <p:cNvSpPr/>
          <p:nvPr/>
        </p:nvSpPr>
        <p:spPr>
          <a:xfrm>
            <a:off x="4386259" y="1081087"/>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3BBE543E-299C-8312-F82E-645053192235}"/>
              </a:ext>
            </a:extLst>
          </p:cNvPr>
          <p:cNvSpPr/>
          <p:nvPr/>
        </p:nvSpPr>
        <p:spPr>
          <a:xfrm>
            <a:off x="5000621" y="1083944"/>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6509B1A8-5DDA-8767-5690-61B5B70164D9}"/>
              </a:ext>
            </a:extLst>
          </p:cNvPr>
          <p:cNvSpPr/>
          <p:nvPr/>
        </p:nvSpPr>
        <p:spPr>
          <a:xfrm>
            <a:off x="5614983" y="1084761"/>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61117B6-F88D-2625-8971-C8EB8BF682F0}"/>
              </a:ext>
            </a:extLst>
          </p:cNvPr>
          <p:cNvSpPr/>
          <p:nvPr/>
        </p:nvSpPr>
        <p:spPr>
          <a:xfrm>
            <a:off x="6229345" y="1081087"/>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1A22CABA-C82C-82D4-464F-BA18448BB4CE}"/>
              </a:ext>
            </a:extLst>
          </p:cNvPr>
          <p:cNvSpPr/>
          <p:nvPr/>
        </p:nvSpPr>
        <p:spPr>
          <a:xfrm>
            <a:off x="2543173" y="1688780"/>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8AB80E70-EFCA-1092-0FD5-3800C13C4750}"/>
              </a:ext>
            </a:extLst>
          </p:cNvPr>
          <p:cNvSpPr/>
          <p:nvPr/>
        </p:nvSpPr>
        <p:spPr>
          <a:xfrm>
            <a:off x="3157535" y="1691637"/>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4445E3EA-692A-F470-3910-A2F65DD2DC4F}"/>
              </a:ext>
            </a:extLst>
          </p:cNvPr>
          <p:cNvSpPr/>
          <p:nvPr/>
        </p:nvSpPr>
        <p:spPr>
          <a:xfrm>
            <a:off x="3771897" y="1693543"/>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6780E160-6061-9F6F-E0A2-A7C6ADC8ECE3}"/>
              </a:ext>
            </a:extLst>
          </p:cNvPr>
          <p:cNvSpPr/>
          <p:nvPr/>
        </p:nvSpPr>
        <p:spPr>
          <a:xfrm>
            <a:off x="4386259" y="1688780"/>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9C5DDF01-57E5-427C-EC0F-E0398087B549}"/>
              </a:ext>
            </a:extLst>
          </p:cNvPr>
          <p:cNvSpPr/>
          <p:nvPr/>
        </p:nvSpPr>
        <p:spPr>
          <a:xfrm>
            <a:off x="5000621" y="1690686"/>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494040E0-4D5F-88AE-3C8E-8DB515E8BBE3}"/>
              </a:ext>
            </a:extLst>
          </p:cNvPr>
          <p:cNvSpPr/>
          <p:nvPr/>
        </p:nvSpPr>
        <p:spPr>
          <a:xfrm>
            <a:off x="5614983" y="1693543"/>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74A8CA10-7535-4DE1-4870-55EC7EA19471}"/>
              </a:ext>
            </a:extLst>
          </p:cNvPr>
          <p:cNvSpPr/>
          <p:nvPr/>
        </p:nvSpPr>
        <p:spPr>
          <a:xfrm>
            <a:off x="6229345" y="1695449"/>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63DAAACD-0891-EE92-00B8-3C1D88F4CEE9}"/>
              </a:ext>
            </a:extLst>
          </p:cNvPr>
          <p:cNvSpPr/>
          <p:nvPr/>
        </p:nvSpPr>
        <p:spPr>
          <a:xfrm>
            <a:off x="1934127" y="1690686"/>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1BCBF6D3-3BB0-1349-C181-634C87558F78}"/>
              </a:ext>
            </a:extLst>
          </p:cNvPr>
          <p:cNvSpPr/>
          <p:nvPr/>
        </p:nvSpPr>
        <p:spPr>
          <a:xfrm>
            <a:off x="1938965" y="2286552"/>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AD6D5317-8C25-C402-3AE7-346799CFA4FE}"/>
              </a:ext>
            </a:extLst>
          </p:cNvPr>
          <p:cNvSpPr/>
          <p:nvPr/>
        </p:nvSpPr>
        <p:spPr>
          <a:xfrm>
            <a:off x="2550315" y="2276473"/>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E8E039FE-A302-8AEA-3D46-84976464F2FB}"/>
              </a:ext>
            </a:extLst>
          </p:cNvPr>
          <p:cNvSpPr/>
          <p:nvPr/>
        </p:nvSpPr>
        <p:spPr>
          <a:xfrm>
            <a:off x="3164677" y="2285999"/>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E6D85131-1581-F4D5-0EB8-8A05F5F715A0}"/>
              </a:ext>
            </a:extLst>
          </p:cNvPr>
          <p:cNvSpPr/>
          <p:nvPr/>
        </p:nvSpPr>
        <p:spPr>
          <a:xfrm>
            <a:off x="3779039" y="2281236"/>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F37C5CBD-7FE7-3BA5-33B0-8C20246F7247}"/>
              </a:ext>
            </a:extLst>
          </p:cNvPr>
          <p:cNvSpPr/>
          <p:nvPr/>
        </p:nvSpPr>
        <p:spPr>
          <a:xfrm>
            <a:off x="4393401" y="2290762"/>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3483BA62-7E98-097F-88E4-D5AC5742D288}"/>
              </a:ext>
            </a:extLst>
          </p:cNvPr>
          <p:cNvSpPr/>
          <p:nvPr/>
        </p:nvSpPr>
        <p:spPr>
          <a:xfrm>
            <a:off x="5007763" y="2285999"/>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230720B-C446-E3A1-4BDC-AAB24F4317D2}"/>
              </a:ext>
            </a:extLst>
          </p:cNvPr>
          <p:cNvSpPr/>
          <p:nvPr/>
        </p:nvSpPr>
        <p:spPr>
          <a:xfrm>
            <a:off x="5622125" y="2295525"/>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20713C65-E46D-07E9-A06C-848AD0C24BB8}"/>
              </a:ext>
            </a:extLst>
          </p:cNvPr>
          <p:cNvSpPr/>
          <p:nvPr/>
        </p:nvSpPr>
        <p:spPr>
          <a:xfrm>
            <a:off x="6236487" y="2290762"/>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8112C429-8A0C-FA82-EDFA-55D822CFDB4B}"/>
              </a:ext>
            </a:extLst>
          </p:cNvPr>
          <p:cNvSpPr/>
          <p:nvPr/>
        </p:nvSpPr>
        <p:spPr>
          <a:xfrm>
            <a:off x="2550315" y="2890835"/>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B3E051CE-9B41-7773-DEF6-B3BD1A7834CA}"/>
              </a:ext>
            </a:extLst>
          </p:cNvPr>
          <p:cNvSpPr/>
          <p:nvPr/>
        </p:nvSpPr>
        <p:spPr>
          <a:xfrm>
            <a:off x="3164677" y="2886072"/>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FC0F1270-EBFE-58E7-7248-19788B6E93B0}"/>
              </a:ext>
            </a:extLst>
          </p:cNvPr>
          <p:cNvSpPr/>
          <p:nvPr/>
        </p:nvSpPr>
        <p:spPr>
          <a:xfrm>
            <a:off x="3779039" y="2895598"/>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CEE52515-D0FF-8B50-F7F2-BB29DC42D47C}"/>
              </a:ext>
            </a:extLst>
          </p:cNvPr>
          <p:cNvSpPr/>
          <p:nvPr/>
        </p:nvSpPr>
        <p:spPr>
          <a:xfrm>
            <a:off x="4393401" y="2890835"/>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914F648-503A-ABA2-3952-9C7652D20CC1}"/>
              </a:ext>
            </a:extLst>
          </p:cNvPr>
          <p:cNvSpPr/>
          <p:nvPr/>
        </p:nvSpPr>
        <p:spPr>
          <a:xfrm>
            <a:off x="5007763" y="2900361"/>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13887D21-E2E4-F99D-B88F-C99DD7872661}"/>
              </a:ext>
            </a:extLst>
          </p:cNvPr>
          <p:cNvSpPr/>
          <p:nvPr/>
        </p:nvSpPr>
        <p:spPr>
          <a:xfrm>
            <a:off x="5622125" y="2895598"/>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630AF9A7-A7BC-03E8-8393-072FD4A5D5E1}"/>
              </a:ext>
            </a:extLst>
          </p:cNvPr>
          <p:cNvSpPr/>
          <p:nvPr/>
        </p:nvSpPr>
        <p:spPr>
          <a:xfrm>
            <a:off x="6236487" y="2905124"/>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C76A2B6F-66F6-F3DF-B8E5-215343A40C3A}"/>
              </a:ext>
            </a:extLst>
          </p:cNvPr>
          <p:cNvSpPr/>
          <p:nvPr/>
        </p:nvSpPr>
        <p:spPr>
          <a:xfrm>
            <a:off x="1935953" y="2900361"/>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FA069EFB-9C21-084A-40B2-1963A29E88AF}"/>
              </a:ext>
            </a:extLst>
          </p:cNvPr>
          <p:cNvSpPr/>
          <p:nvPr/>
        </p:nvSpPr>
        <p:spPr>
          <a:xfrm>
            <a:off x="1935953" y="3486145"/>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E6EF0028-A12E-5983-A703-532E99BB6AB7}"/>
              </a:ext>
            </a:extLst>
          </p:cNvPr>
          <p:cNvSpPr/>
          <p:nvPr/>
        </p:nvSpPr>
        <p:spPr>
          <a:xfrm>
            <a:off x="2550315" y="3481382"/>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2E8AC22E-F384-B3AE-B070-90D45C85BCBD}"/>
              </a:ext>
            </a:extLst>
          </p:cNvPr>
          <p:cNvSpPr/>
          <p:nvPr/>
        </p:nvSpPr>
        <p:spPr>
          <a:xfrm>
            <a:off x="3164677" y="3490908"/>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FD243BD1-3CDE-F746-20F0-A3D68A3F57AB}"/>
              </a:ext>
            </a:extLst>
          </p:cNvPr>
          <p:cNvSpPr/>
          <p:nvPr/>
        </p:nvSpPr>
        <p:spPr>
          <a:xfrm>
            <a:off x="3779039" y="3486145"/>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B59CF00F-448F-D74C-EAAD-C4458FD57B6E}"/>
              </a:ext>
            </a:extLst>
          </p:cNvPr>
          <p:cNvSpPr/>
          <p:nvPr/>
        </p:nvSpPr>
        <p:spPr>
          <a:xfrm>
            <a:off x="4393401" y="3495671"/>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DD817A6C-123E-C52E-147C-F1B75CF0BF6B}"/>
              </a:ext>
            </a:extLst>
          </p:cNvPr>
          <p:cNvSpPr/>
          <p:nvPr/>
        </p:nvSpPr>
        <p:spPr>
          <a:xfrm>
            <a:off x="5007763" y="3490908"/>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8D77210E-09B0-55AC-D195-3C1293BDA047}"/>
              </a:ext>
            </a:extLst>
          </p:cNvPr>
          <p:cNvSpPr/>
          <p:nvPr/>
        </p:nvSpPr>
        <p:spPr>
          <a:xfrm>
            <a:off x="5622125" y="3500434"/>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5DE75DCC-FE01-BC02-E7FE-6DC9EE1B0A6E}"/>
              </a:ext>
            </a:extLst>
          </p:cNvPr>
          <p:cNvSpPr/>
          <p:nvPr/>
        </p:nvSpPr>
        <p:spPr>
          <a:xfrm>
            <a:off x="6236487" y="3495671"/>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7698730D-BBD1-18E1-D39A-0FCAF6D09A7C}"/>
              </a:ext>
            </a:extLst>
          </p:cNvPr>
          <p:cNvSpPr/>
          <p:nvPr/>
        </p:nvSpPr>
        <p:spPr>
          <a:xfrm>
            <a:off x="2550315" y="4095744"/>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93094C64-362B-8B1D-6255-774FCC09201C}"/>
              </a:ext>
            </a:extLst>
          </p:cNvPr>
          <p:cNvSpPr/>
          <p:nvPr/>
        </p:nvSpPr>
        <p:spPr>
          <a:xfrm>
            <a:off x="3164677" y="4098355"/>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AA57ED8C-AB75-C390-6E90-773F9E13F836}"/>
              </a:ext>
            </a:extLst>
          </p:cNvPr>
          <p:cNvSpPr/>
          <p:nvPr/>
        </p:nvSpPr>
        <p:spPr>
          <a:xfrm>
            <a:off x="3779039" y="4100507"/>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0947D67A-F477-9C15-0DB5-AB5E05FD6941}"/>
              </a:ext>
            </a:extLst>
          </p:cNvPr>
          <p:cNvSpPr/>
          <p:nvPr/>
        </p:nvSpPr>
        <p:spPr>
          <a:xfrm>
            <a:off x="4393401" y="4095744"/>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933F0212-8EB5-FEDB-5CAF-18FB94EA379A}"/>
              </a:ext>
            </a:extLst>
          </p:cNvPr>
          <p:cNvSpPr/>
          <p:nvPr/>
        </p:nvSpPr>
        <p:spPr>
          <a:xfrm>
            <a:off x="5007763" y="4105270"/>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7B5F33F2-27D3-EA8B-97F0-78F40829D669}"/>
              </a:ext>
            </a:extLst>
          </p:cNvPr>
          <p:cNvSpPr/>
          <p:nvPr/>
        </p:nvSpPr>
        <p:spPr>
          <a:xfrm>
            <a:off x="5622125" y="4100507"/>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F9A01743-5D80-1000-B8A3-BF71DA761EFB}"/>
              </a:ext>
            </a:extLst>
          </p:cNvPr>
          <p:cNvSpPr/>
          <p:nvPr/>
        </p:nvSpPr>
        <p:spPr>
          <a:xfrm>
            <a:off x="6236487" y="4110033"/>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F5358E6B-43CA-3F22-CBC5-3F17709FC742}"/>
              </a:ext>
            </a:extLst>
          </p:cNvPr>
          <p:cNvSpPr/>
          <p:nvPr/>
        </p:nvSpPr>
        <p:spPr>
          <a:xfrm>
            <a:off x="1935953" y="4095744"/>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BE276E4F-E767-58C1-9494-A1C999301C32}"/>
              </a:ext>
            </a:extLst>
          </p:cNvPr>
          <p:cNvSpPr/>
          <p:nvPr/>
        </p:nvSpPr>
        <p:spPr>
          <a:xfrm>
            <a:off x="1930395" y="4711696"/>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AA2CA3FC-825C-77E3-82AD-8533750B5E99}"/>
              </a:ext>
            </a:extLst>
          </p:cNvPr>
          <p:cNvSpPr/>
          <p:nvPr/>
        </p:nvSpPr>
        <p:spPr>
          <a:xfrm>
            <a:off x="2544757" y="4706933"/>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55AD64A7-BE77-04C7-31CC-35FF5888EE1B}"/>
              </a:ext>
            </a:extLst>
          </p:cNvPr>
          <p:cNvSpPr/>
          <p:nvPr/>
        </p:nvSpPr>
        <p:spPr>
          <a:xfrm>
            <a:off x="3159119" y="4706933"/>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420DD262-0CD6-1871-2980-46B28EF001C6}"/>
              </a:ext>
            </a:extLst>
          </p:cNvPr>
          <p:cNvSpPr/>
          <p:nvPr/>
        </p:nvSpPr>
        <p:spPr>
          <a:xfrm>
            <a:off x="3773481" y="4711696"/>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B45FC076-A8B9-58E1-8A8C-924FE237DA31}"/>
              </a:ext>
            </a:extLst>
          </p:cNvPr>
          <p:cNvSpPr/>
          <p:nvPr/>
        </p:nvSpPr>
        <p:spPr>
          <a:xfrm>
            <a:off x="4387843" y="4711696"/>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83703BE6-F7D2-DEF8-3667-80C1DCEBBE6A}"/>
              </a:ext>
            </a:extLst>
          </p:cNvPr>
          <p:cNvSpPr/>
          <p:nvPr/>
        </p:nvSpPr>
        <p:spPr>
          <a:xfrm>
            <a:off x="5002205" y="4716459"/>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63">
            <a:extLst>
              <a:ext uri="{FF2B5EF4-FFF2-40B4-BE49-F238E27FC236}">
                <a16:creationId xmlns:a16="http://schemas.microsoft.com/office/drawing/2014/main" id="{08ECA953-DAC4-3903-F670-06FB66333297}"/>
              </a:ext>
            </a:extLst>
          </p:cNvPr>
          <p:cNvSpPr/>
          <p:nvPr/>
        </p:nvSpPr>
        <p:spPr>
          <a:xfrm>
            <a:off x="5616567" y="4716459"/>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347F6814-DB16-6260-C7A8-B784B716B78F}"/>
              </a:ext>
            </a:extLst>
          </p:cNvPr>
          <p:cNvSpPr/>
          <p:nvPr/>
        </p:nvSpPr>
        <p:spPr>
          <a:xfrm>
            <a:off x="6230929" y="4721222"/>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Rectangle 65">
            <a:extLst>
              <a:ext uri="{FF2B5EF4-FFF2-40B4-BE49-F238E27FC236}">
                <a16:creationId xmlns:a16="http://schemas.microsoft.com/office/drawing/2014/main" id="{E82D3D74-00A3-9FA0-E9BA-C9F0F5E81CBA}"/>
              </a:ext>
            </a:extLst>
          </p:cNvPr>
          <p:cNvSpPr/>
          <p:nvPr/>
        </p:nvSpPr>
        <p:spPr>
          <a:xfrm>
            <a:off x="2544757" y="5321295"/>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ectangle 66">
            <a:extLst>
              <a:ext uri="{FF2B5EF4-FFF2-40B4-BE49-F238E27FC236}">
                <a16:creationId xmlns:a16="http://schemas.microsoft.com/office/drawing/2014/main" id="{88529BF5-5FBB-A8AE-BB1C-29E31A6752CF}"/>
              </a:ext>
            </a:extLst>
          </p:cNvPr>
          <p:cNvSpPr/>
          <p:nvPr/>
        </p:nvSpPr>
        <p:spPr>
          <a:xfrm>
            <a:off x="3159119" y="5316532"/>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8427F52E-C012-6595-338B-1C7504F08BD3}"/>
              </a:ext>
            </a:extLst>
          </p:cNvPr>
          <p:cNvSpPr/>
          <p:nvPr/>
        </p:nvSpPr>
        <p:spPr>
          <a:xfrm>
            <a:off x="3773481" y="5326058"/>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Rectangle 68">
            <a:extLst>
              <a:ext uri="{FF2B5EF4-FFF2-40B4-BE49-F238E27FC236}">
                <a16:creationId xmlns:a16="http://schemas.microsoft.com/office/drawing/2014/main" id="{A0F99EBD-6B01-F915-7952-8F290C888CA2}"/>
              </a:ext>
            </a:extLst>
          </p:cNvPr>
          <p:cNvSpPr/>
          <p:nvPr/>
        </p:nvSpPr>
        <p:spPr>
          <a:xfrm>
            <a:off x="4387843" y="5321295"/>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ectangle 69">
            <a:extLst>
              <a:ext uri="{FF2B5EF4-FFF2-40B4-BE49-F238E27FC236}">
                <a16:creationId xmlns:a16="http://schemas.microsoft.com/office/drawing/2014/main" id="{CD7EC59F-DCD4-A339-148E-B9894CD76FCD}"/>
              </a:ext>
            </a:extLst>
          </p:cNvPr>
          <p:cNvSpPr/>
          <p:nvPr/>
        </p:nvSpPr>
        <p:spPr>
          <a:xfrm>
            <a:off x="5002205" y="5330821"/>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ED7F85CD-2523-AEEB-9F63-CE4EBB463BA9}"/>
              </a:ext>
            </a:extLst>
          </p:cNvPr>
          <p:cNvSpPr/>
          <p:nvPr/>
        </p:nvSpPr>
        <p:spPr>
          <a:xfrm>
            <a:off x="5616567" y="5326058"/>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E71C804D-CFEB-1C89-3580-AB1C6DAA9F5F}"/>
              </a:ext>
            </a:extLst>
          </p:cNvPr>
          <p:cNvSpPr/>
          <p:nvPr/>
        </p:nvSpPr>
        <p:spPr>
          <a:xfrm>
            <a:off x="6230929" y="5335584"/>
            <a:ext cx="614362" cy="61436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Rectangle 72">
            <a:extLst>
              <a:ext uri="{FF2B5EF4-FFF2-40B4-BE49-F238E27FC236}">
                <a16:creationId xmlns:a16="http://schemas.microsoft.com/office/drawing/2014/main" id="{CFA35160-631A-C2C1-A6B9-732896B31148}"/>
              </a:ext>
            </a:extLst>
          </p:cNvPr>
          <p:cNvSpPr/>
          <p:nvPr/>
        </p:nvSpPr>
        <p:spPr>
          <a:xfrm>
            <a:off x="1930395" y="5326058"/>
            <a:ext cx="614362" cy="61436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Footer Placeholder 1">
            <a:extLst>
              <a:ext uri="{FF2B5EF4-FFF2-40B4-BE49-F238E27FC236}">
                <a16:creationId xmlns:a16="http://schemas.microsoft.com/office/drawing/2014/main" id="{55EFBAE3-26F6-3C16-FABF-413D4CD61114}"/>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1690490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C2BC5-E993-91A3-A3D7-A82530AFCB4D}"/>
              </a:ext>
            </a:extLst>
          </p:cNvPr>
          <p:cNvSpPr>
            <a:spLocks noGrp="1"/>
          </p:cNvSpPr>
          <p:nvPr>
            <p:ph type="title"/>
          </p:nvPr>
        </p:nvSpPr>
        <p:spPr/>
        <p:txBody>
          <a:bodyPr/>
          <a:lstStyle/>
          <a:p>
            <a:r>
              <a:rPr lang="en-US" dirty="0"/>
              <a:t>Simulated Annealing</a:t>
            </a:r>
          </a:p>
        </p:txBody>
      </p:sp>
      <p:sp>
        <p:nvSpPr>
          <p:cNvPr id="3" name="Content Placeholder 2">
            <a:extLst>
              <a:ext uri="{FF2B5EF4-FFF2-40B4-BE49-F238E27FC236}">
                <a16:creationId xmlns:a16="http://schemas.microsoft.com/office/drawing/2014/main" id="{922E9E98-3050-EC6C-3830-6E4D7B485151}"/>
              </a:ext>
            </a:extLst>
          </p:cNvPr>
          <p:cNvSpPr>
            <a:spLocks noGrp="1"/>
          </p:cNvSpPr>
          <p:nvPr>
            <p:ph idx="1"/>
          </p:nvPr>
        </p:nvSpPr>
        <p:spPr>
          <a:xfrm>
            <a:off x="982132" y="2438401"/>
            <a:ext cx="7704667" cy="3332816"/>
          </a:xfrm>
        </p:spPr>
        <p:txBody>
          <a:bodyPr>
            <a:normAutofit fontScale="62500" lnSpcReduction="20000"/>
          </a:bodyPr>
          <a:lstStyle/>
          <a:p>
            <a:pPr marL="0" indent="0">
              <a:buNone/>
            </a:pPr>
            <a:r>
              <a:rPr lang="en-US" b="1" dirty="0"/>
              <a:t>An optimization algorithm inspired by the annealing process in metallurgy.</a:t>
            </a:r>
          </a:p>
          <a:p>
            <a:pPr marL="0" indent="0">
              <a:buNone/>
            </a:pPr>
            <a:endParaRPr lang="en-US" dirty="0"/>
          </a:p>
          <a:p>
            <a:pPr marL="0" indent="0">
              <a:buNone/>
            </a:pPr>
            <a:r>
              <a:rPr lang="en-US" b="1" dirty="0"/>
              <a:t>Key Idea</a:t>
            </a:r>
            <a:r>
              <a:rPr lang="en-US" dirty="0"/>
              <a:t>:</a:t>
            </a:r>
          </a:p>
          <a:p>
            <a:r>
              <a:rPr lang="en-US" dirty="0"/>
              <a:t>Occasionally accept worse solutions to escape local maxima and explore the search space.</a:t>
            </a:r>
          </a:p>
          <a:p>
            <a:pPr marL="0" indent="0">
              <a:buNone/>
            </a:pPr>
            <a:r>
              <a:rPr lang="en-US" b="1" dirty="0"/>
              <a:t>Algorithm Steps:</a:t>
            </a:r>
          </a:p>
          <a:p>
            <a:pPr marL="0" indent="0">
              <a:buNone/>
            </a:pPr>
            <a:r>
              <a:rPr lang="en-US" dirty="0"/>
              <a:t>1. Start with an initial solution and temperature (T).</a:t>
            </a:r>
          </a:p>
          <a:p>
            <a:pPr marL="0" indent="0">
              <a:buNone/>
            </a:pPr>
            <a:r>
              <a:rPr lang="en-US" dirty="0"/>
              <a:t>2. Generate a neighbor solution.</a:t>
            </a:r>
          </a:p>
          <a:p>
            <a:pPr marL="0" indent="0">
              <a:buNone/>
            </a:pPr>
            <a:r>
              <a:rPr lang="en-US" dirty="0"/>
              <a:t>3. Accept the neighbor with probability: P = e^(-ΔE / T).</a:t>
            </a:r>
          </a:p>
          <a:p>
            <a:pPr marL="0" indent="0">
              <a:buNone/>
            </a:pPr>
            <a:r>
              <a:rPr lang="en-US" dirty="0"/>
              <a:t>4. Gradually decrease T.</a:t>
            </a:r>
          </a:p>
          <a:p>
            <a:pPr marL="0" indent="0">
              <a:buNone/>
            </a:pPr>
            <a:r>
              <a:rPr lang="en-US" dirty="0"/>
              <a:t>5. Stop when T is low or a satisfactory solution is found.</a:t>
            </a:r>
          </a:p>
        </p:txBody>
      </p:sp>
      <p:sp>
        <p:nvSpPr>
          <p:cNvPr id="4" name="Footer Placeholder 3">
            <a:extLst>
              <a:ext uri="{FF2B5EF4-FFF2-40B4-BE49-F238E27FC236}">
                <a16:creationId xmlns:a16="http://schemas.microsoft.com/office/drawing/2014/main" id="{12E2553F-1301-DCD1-F2CE-930239C8EC0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663928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65D7-2730-5E19-09CA-1FCF3330BBBE}"/>
              </a:ext>
            </a:extLst>
          </p:cNvPr>
          <p:cNvSpPr>
            <a:spLocks noGrp="1"/>
          </p:cNvSpPr>
          <p:nvPr>
            <p:ph type="title"/>
          </p:nvPr>
        </p:nvSpPr>
        <p:spPr/>
        <p:txBody>
          <a:bodyPr/>
          <a:lstStyle/>
          <a:p>
            <a:r>
              <a:rPr lang="en-US" dirty="0"/>
              <a:t>Simulated Annealing Process</a:t>
            </a:r>
          </a:p>
        </p:txBody>
      </p:sp>
      <p:sp>
        <p:nvSpPr>
          <p:cNvPr id="4" name="Rectangle 1">
            <a:extLst>
              <a:ext uri="{FF2B5EF4-FFF2-40B4-BE49-F238E27FC236}">
                <a16:creationId xmlns:a16="http://schemas.microsoft.com/office/drawing/2014/main" id="{CA8AFA66-27AC-7C1E-BECD-239D0A00020D}"/>
              </a:ext>
            </a:extLst>
          </p:cNvPr>
          <p:cNvSpPr>
            <a:spLocks noGrp="1" noChangeArrowheads="1"/>
          </p:cNvSpPr>
          <p:nvPr>
            <p:ph idx="1"/>
          </p:nvPr>
        </p:nvSpPr>
        <p:spPr bwMode="auto">
          <a:xfrm>
            <a:off x="982133" y="2933025"/>
            <a:ext cx="894668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pPr>
            <a:r>
              <a:rPr lang="en-US" altLang="en-US" sz="1600" b="1" dirty="0">
                <a:latin typeface="Arial" panose="020B0604020202020204" pitchFamily="34" charset="0"/>
              </a:rPr>
              <a:t>Initialize Temperature</a:t>
            </a:r>
            <a:r>
              <a:rPr lang="en-US" altLang="en-US" sz="1600" dirty="0">
                <a:latin typeface="Arial" panose="020B0604020202020204" pitchFamily="34" charset="0"/>
              </a:rPr>
              <a:t>: </a:t>
            </a:r>
          </a:p>
          <a:p>
            <a:pPr lvl="1" defTabSz="914400" eaLnBrk="0" fontAlgn="base" hangingPunct="0">
              <a:spcBef>
                <a:spcPct val="0"/>
              </a:spcBef>
              <a:spcAft>
                <a:spcPct val="0"/>
              </a:spcAft>
              <a:buClrTx/>
              <a:buSzTx/>
            </a:pPr>
            <a:r>
              <a:rPr lang="en-US" altLang="en-US" sz="1600" dirty="0">
                <a:latin typeface="Arial" panose="020B0604020202020204" pitchFamily="34" charset="0"/>
              </a:rPr>
              <a:t>Start with a high temperature to allow exploration of the solution space.</a:t>
            </a:r>
          </a:p>
          <a:p>
            <a:pPr defTabSz="914400" eaLnBrk="0" fontAlgn="base" hangingPunct="0">
              <a:spcBef>
                <a:spcPct val="0"/>
              </a:spcBef>
              <a:spcAft>
                <a:spcPct val="0"/>
              </a:spcAft>
              <a:buClrTx/>
              <a:buSzTx/>
            </a:pPr>
            <a:r>
              <a:rPr lang="en-US" altLang="en-US" sz="1600" b="1" dirty="0">
                <a:latin typeface="Arial" panose="020B0604020202020204" pitchFamily="34" charset="0"/>
              </a:rPr>
              <a:t>Generate a Neighbor Solution: </a:t>
            </a:r>
          </a:p>
          <a:p>
            <a:pPr lvl="1" defTabSz="914400" eaLnBrk="0" fontAlgn="base" hangingPunct="0">
              <a:spcBef>
                <a:spcPct val="0"/>
              </a:spcBef>
              <a:spcAft>
                <a:spcPct val="0"/>
              </a:spcAft>
              <a:buClrTx/>
              <a:buSzTx/>
            </a:pPr>
            <a:r>
              <a:rPr lang="en-US" altLang="en-US" sz="1600" dirty="0">
                <a:latin typeface="Arial" panose="020B0604020202020204" pitchFamily="34" charset="0"/>
              </a:rPr>
              <a:t>Make a small change to the current solution to explore nearby options.</a:t>
            </a:r>
          </a:p>
          <a:p>
            <a:pPr defTabSz="914400" eaLnBrk="0" fontAlgn="base" hangingPunct="0">
              <a:spcBef>
                <a:spcPct val="0"/>
              </a:spcBef>
              <a:spcAft>
                <a:spcPct val="0"/>
              </a:spcAft>
              <a:buClrTx/>
              <a:buSzTx/>
            </a:pPr>
            <a:r>
              <a:rPr lang="en-US" altLang="en-US" sz="1600" b="1" dirty="0">
                <a:latin typeface="Arial" panose="020B0604020202020204" pitchFamily="34" charset="0"/>
              </a:rPr>
              <a:t>Evaluate Solution:</a:t>
            </a:r>
          </a:p>
          <a:p>
            <a:pPr lvl="1" defTabSz="914400" eaLnBrk="0" fontAlgn="base" hangingPunct="0">
              <a:spcBef>
                <a:spcPct val="0"/>
              </a:spcBef>
              <a:spcAft>
                <a:spcPct val="0"/>
              </a:spcAft>
              <a:buClrTx/>
              <a:buSzTx/>
            </a:pPr>
            <a:r>
              <a:rPr lang="en-US" altLang="en-US" sz="1600" dirty="0">
                <a:latin typeface="Arial" panose="020B0604020202020204" pitchFamily="34" charset="0"/>
              </a:rPr>
              <a:t>If it improves the objective function, accept it as the new solution.</a:t>
            </a:r>
          </a:p>
          <a:p>
            <a:pPr lvl="1" defTabSz="914400" eaLnBrk="0" fontAlgn="base" hangingPunct="0">
              <a:spcBef>
                <a:spcPct val="0"/>
              </a:spcBef>
              <a:spcAft>
                <a:spcPct val="0"/>
              </a:spcAft>
              <a:buClrTx/>
              <a:buSzTx/>
            </a:pPr>
            <a:r>
              <a:rPr lang="en-US" altLang="en-US" sz="1600" dirty="0">
                <a:latin typeface="Arial" panose="020B0604020202020204" pitchFamily="34" charset="0"/>
              </a:rPr>
              <a:t>If it worsens the objective function, accept it with a probability based on the temperature.</a:t>
            </a:r>
          </a:p>
          <a:p>
            <a:pPr defTabSz="914400" eaLnBrk="0" fontAlgn="base" hangingPunct="0">
              <a:spcBef>
                <a:spcPct val="0"/>
              </a:spcBef>
              <a:spcAft>
                <a:spcPct val="0"/>
              </a:spcAft>
              <a:buClrTx/>
              <a:buSzTx/>
            </a:pPr>
            <a:r>
              <a:rPr lang="en-US" altLang="en-US" sz="1600" b="1" dirty="0">
                <a:latin typeface="Arial" panose="020B0604020202020204" pitchFamily="34" charset="0"/>
              </a:rPr>
              <a:t>Cool Down: </a:t>
            </a:r>
          </a:p>
          <a:p>
            <a:pPr lvl="1" defTabSz="914400" eaLnBrk="0" fontAlgn="base" hangingPunct="0">
              <a:spcBef>
                <a:spcPct val="0"/>
              </a:spcBef>
              <a:spcAft>
                <a:spcPct val="0"/>
              </a:spcAft>
              <a:buClrTx/>
              <a:buSzTx/>
            </a:pPr>
            <a:r>
              <a:rPr lang="en-US" altLang="en-US" sz="1600" dirty="0">
                <a:latin typeface="Arial" panose="020B0604020202020204" pitchFamily="34" charset="0"/>
              </a:rPr>
              <a:t>Gradually lower the temperature, reducing the probability of accepting worse solutions.</a:t>
            </a:r>
          </a:p>
          <a:p>
            <a:pPr defTabSz="914400" eaLnBrk="0" fontAlgn="base" hangingPunct="0">
              <a:spcBef>
                <a:spcPct val="0"/>
              </a:spcBef>
              <a:spcAft>
                <a:spcPct val="0"/>
              </a:spcAft>
              <a:buClrTx/>
              <a:buSzTx/>
            </a:pPr>
            <a:r>
              <a:rPr lang="en-US" altLang="en-US" sz="1600" b="1" dirty="0">
                <a:latin typeface="Arial" panose="020B0604020202020204" pitchFamily="34" charset="0"/>
              </a:rPr>
              <a:t>Repeat </a:t>
            </a:r>
          </a:p>
          <a:p>
            <a:pPr lvl="1" defTabSz="914400" eaLnBrk="0" fontAlgn="base" hangingPunct="0">
              <a:spcBef>
                <a:spcPct val="0"/>
              </a:spcBef>
              <a:spcAft>
                <a:spcPct val="0"/>
              </a:spcAft>
              <a:buClrTx/>
              <a:buSzTx/>
            </a:pPr>
            <a:r>
              <a:rPr lang="en-US" altLang="en-US" sz="1600" dirty="0">
                <a:latin typeface="Arial" panose="020B0604020202020204" pitchFamily="34" charset="0"/>
              </a:rPr>
              <a:t>until a stopping criterion (like a low temperature or a stable solution) is met. </a:t>
            </a:r>
          </a:p>
        </p:txBody>
      </p:sp>
      <p:sp>
        <p:nvSpPr>
          <p:cNvPr id="3" name="Footer Placeholder 2">
            <a:extLst>
              <a:ext uri="{FF2B5EF4-FFF2-40B4-BE49-F238E27FC236}">
                <a16:creationId xmlns:a16="http://schemas.microsoft.com/office/drawing/2014/main" id="{D95D913E-B845-F338-17C1-B9493535FA70}"/>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61030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421AC-F69D-2AE0-5490-E61A58DEDDAC}"/>
              </a:ext>
            </a:extLst>
          </p:cNvPr>
          <p:cNvSpPr>
            <a:spLocks noGrp="1"/>
          </p:cNvSpPr>
          <p:nvPr>
            <p:ph type="title"/>
          </p:nvPr>
        </p:nvSpPr>
        <p:spPr/>
        <p:txBody>
          <a:bodyPr/>
          <a:lstStyle/>
          <a:p>
            <a:r>
              <a:rPr lang="en-US" dirty="0"/>
              <a:t>Acceptance Probability and Temperature Schedule</a:t>
            </a:r>
          </a:p>
        </p:txBody>
      </p:sp>
      <p:sp>
        <p:nvSpPr>
          <p:cNvPr id="4" name="Rectangle 1">
            <a:extLst>
              <a:ext uri="{FF2B5EF4-FFF2-40B4-BE49-F238E27FC236}">
                <a16:creationId xmlns:a16="http://schemas.microsoft.com/office/drawing/2014/main" id="{F6BA154C-8C02-8A94-DC3E-C320FD00D822}"/>
              </a:ext>
            </a:extLst>
          </p:cNvPr>
          <p:cNvSpPr>
            <a:spLocks noGrp="1" noChangeArrowheads="1"/>
          </p:cNvSpPr>
          <p:nvPr>
            <p:ph idx="1"/>
          </p:nvPr>
        </p:nvSpPr>
        <p:spPr bwMode="auto">
          <a:xfrm>
            <a:off x="982133" y="2225143"/>
            <a:ext cx="10261848"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ptos" panose="020B0004020202020204" pitchFamily="34" charset="0"/>
              </a:rPr>
              <a:t>Acceptance Probability</a:t>
            </a:r>
            <a:r>
              <a:rPr kumimoji="0" lang="en-US" altLang="en-US" sz="2800" b="0" i="0" u="none" strike="noStrike" cap="none" normalizeH="0" baseline="0" dirty="0">
                <a:ln>
                  <a:noFill/>
                </a:ln>
                <a:solidFill>
                  <a:schemeClr val="tx1"/>
                </a:solidFill>
                <a:effectLst/>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ptos" panose="020B0004020202020204" pitchFamily="34" charset="0"/>
            </a:endParaRPr>
          </a:p>
          <a:p>
            <a:pPr marL="457200" lvl="1" indent="0"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ptos" panose="020B0004020202020204" pitchFamily="34" charset="0"/>
              </a:rPr>
              <a:t>P(ΔE)=exp⁡(−ΔE/T)P(\Delta E) = \exp(-\Delta E / T)P(ΔE)=exp(−ΔE/T)</a:t>
            </a:r>
          </a:p>
          <a:p>
            <a:pPr marL="457200" lvl="1" indent="0"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ptos" panose="020B0004020202020204" pitchFamily="34" charset="0"/>
              </a:rPr>
              <a:t>Where ΔE\Delta EΔE is the change in the objective function and TTT is the temperature.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1"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ptos" panose="020B0004020202020204" pitchFamily="34" charset="0"/>
              </a:rPr>
              <a:t>Cooling Schedule</a:t>
            </a:r>
            <a:r>
              <a:rPr kumimoji="0" lang="en-US" altLang="en-US" sz="2800" b="0" i="0" u="none" strike="noStrike" cap="none" normalizeH="0" baseline="0" dirty="0">
                <a:ln>
                  <a:noFill/>
                </a:ln>
                <a:solidFill>
                  <a:schemeClr val="tx1"/>
                </a:solidFill>
                <a:effectLst/>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ptos" panose="020B0004020202020204" pitchFamily="34" charset="0"/>
            </a:endParaRPr>
          </a:p>
          <a:p>
            <a:pPr marL="457200" lvl="1" indent="0"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ptos" panose="020B0004020202020204" pitchFamily="34" charset="0"/>
              </a:rPr>
              <a:t>Linear cooling: T=T−α</a:t>
            </a:r>
          </a:p>
          <a:p>
            <a:pPr marL="457200" lvl="1" indent="0"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ptos" panose="020B0004020202020204" pitchFamily="34" charset="0"/>
              </a:rPr>
              <a:t>Exponential cooling: T=T×α</a:t>
            </a:r>
          </a:p>
          <a:p>
            <a:pPr marL="457200" lvl="1" indent="0"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ptos" panose="020B0004020202020204" pitchFamily="34" charset="0"/>
              </a:rPr>
              <a:t>Other custom schedules to control the rate of cooling.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ptos" panose="020B0004020202020204" pitchFamily="34" charset="0"/>
            </a:endParaRPr>
          </a:p>
        </p:txBody>
      </p:sp>
      <p:sp>
        <p:nvSpPr>
          <p:cNvPr id="3" name="Footer Placeholder 2">
            <a:extLst>
              <a:ext uri="{FF2B5EF4-FFF2-40B4-BE49-F238E27FC236}">
                <a16:creationId xmlns:a16="http://schemas.microsoft.com/office/drawing/2014/main" id="{2C3EFF18-0927-AAEC-FDBD-8C9C8725AC2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1593726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A3790-D2B2-69C5-28D7-CE6102D2C7BF}"/>
              </a:ext>
            </a:extLst>
          </p:cNvPr>
          <p:cNvPicPr>
            <a:picLocks noChangeAspect="1"/>
          </p:cNvPicPr>
          <p:nvPr/>
        </p:nvPicPr>
        <p:blipFill>
          <a:blip r:embed="rId2"/>
          <a:stretch>
            <a:fillRect/>
          </a:stretch>
        </p:blipFill>
        <p:spPr>
          <a:xfrm>
            <a:off x="1962911" y="826119"/>
            <a:ext cx="6316325" cy="5205762"/>
          </a:xfrm>
          <a:prstGeom prst="rect">
            <a:avLst/>
          </a:prstGeom>
        </p:spPr>
      </p:pic>
      <p:sp>
        <p:nvSpPr>
          <p:cNvPr id="2" name="Footer Placeholder 1">
            <a:extLst>
              <a:ext uri="{FF2B5EF4-FFF2-40B4-BE49-F238E27FC236}">
                <a16:creationId xmlns:a16="http://schemas.microsoft.com/office/drawing/2014/main" id="{D1FC5742-6315-58F3-6672-012F8E66BDF4}"/>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5731625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127AD-C35C-AECE-E998-467B6D00B9BD}"/>
              </a:ext>
            </a:extLst>
          </p:cNvPr>
          <p:cNvSpPr>
            <a:spLocks noGrp="1"/>
          </p:cNvSpPr>
          <p:nvPr>
            <p:ph type="title"/>
          </p:nvPr>
        </p:nvSpPr>
        <p:spPr/>
        <p:txBody>
          <a:bodyPr/>
          <a:lstStyle/>
          <a:p>
            <a:r>
              <a:rPr lang="en-US" dirty="0"/>
              <a:t>Genetic Algorithms</a:t>
            </a:r>
          </a:p>
        </p:txBody>
      </p:sp>
      <p:sp>
        <p:nvSpPr>
          <p:cNvPr id="3" name="Content Placeholder 2">
            <a:extLst>
              <a:ext uri="{FF2B5EF4-FFF2-40B4-BE49-F238E27FC236}">
                <a16:creationId xmlns:a16="http://schemas.microsoft.com/office/drawing/2014/main" id="{3F1B4311-88BE-F5C7-3239-DA5F44ECA642}"/>
              </a:ext>
            </a:extLst>
          </p:cNvPr>
          <p:cNvSpPr>
            <a:spLocks noGrp="1"/>
          </p:cNvSpPr>
          <p:nvPr>
            <p:ph idx="1"/>
          </p:nvPr>
        </p:nvSpPr>
        <p:spPr/>
        <p:txBody>
          <a:bodyPr>
            <a:normAutofit fontScale="92500"/>
          </a:bodyPr>
          <a:lstStyle/>
          <a:p>
            <a:pPr marL="0" indent="0">
              <a:buNone/>
            </a:pPr>
            <a:r>
              <a:rPr lang="en-US" dirty="0"/>
              <a:t>A population-based optimization algorithm inspired by natural selection.</a:t>
            </a:r>
          </a:p>
          <a:p>
            <a:pPr marL="0" indent="0">
              <a:buNone/>
            </a:pPr>
            <a:r>
              <a:rPr lang="en-US" dirty="0"/>
              <a:t>Key Concepts:</a:t>
            </a:r>
          </a:p>
          <a:p>
            <a:r>
              <a:rPr lang="en-US" dirty="0"/>
              <a:t>Population: A set of candidate solutions.</a:t>
            </a:r>
          </a:p>
          <a:p>
            <a:r>
              <a:rPr lang="en-US" dirty="0"/>
              <a:t>Selection: Choose solutions based on fitness.</a:t>
            </a:r>
          </a:p>
          <a:p>
            <a:r>
              <a:rPr lang="en-US" dirty="0"/>
              <a:t>Crossover: Combine solutions to create new ones.</a:t>
            </a:r>
          </a:p>
          <a:p>
            <a:r>
              <a:rPr lang="en-US" dirty="0"/>
              <a:t>Mutation: Randomly modify solutions to introduce diversity.</a:t>
            </a:r>
          </a:p>
          <a:p>
            <a:endParaRPr lang="en-US" dirty="0"/>
          </a:p>
        </p:txBody>
      </p:sp>
      <p:sp>
        <p:nvSpPr>
          <p:cNvPr id="4" name="Footer Placeholder 3">
            <a:extLst>
              <a:ext uri="{FF2B5EF4-FFF2-40B4-BE49-F238E27FC236}">
                <a16:creationId xmlns:a16="http://schemas.microsoft.com/office/drawing/2014/main" id="{0DED6AE6-E05A-740F-5B1C-B746496BF491}"/>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3957651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46EDC-AABC-592C-B6EA-C3F746AF5E27}"/>
              </a:ext>
            </a:extLst>
          </p:cNvPr>
          <p:cNvSpPr>
            <a:spLocks noGrp="1"/>
          </p:cNvSpPr>
          <p:nvPr>
            <p:ph type="title"/>
          </p:nvPr>
        </p:nvSpPr>
        <p:spPr/>
        <p:txBody>
          <a:bodyPr/>
          <a:lstStyle/>
          <a:p>
            <a:r>
              <a:rPr lang="en-US" dirty="0"/>
              <a:t>Gradient Descent</a:t>
            </a:r>
          </a:p>
        </p:txBody>
      </p:sp>
      <p:sp>
        <p:nvSpPr>
          <p:cNvPr id="3" name="Content Placeholder 2">
            <a:extLst>
              <a:ext uri="{FF2B5EF4-FFF2-40B4-BE49-F238E27FC236}">
                <a16:creationId xmlns:a16="http://schemas.microsoft.com/office/drawing/2014/main" id="{0034D6D6-5612-6589-266C-1407ED333EB9}"/>
              </a:ext>
            </a:extLst>
          </p:cNvPr>
          <p:cNvSpPr>
            <a:spLocks noGrp="1"/>
          </p:cNvSpPr>
          <p:nvPr>
            <p:ph idx="1"/>
          </p:nvPr>
        </p:nvSpPr>
        <p:spPr/>
        <p:txBody>
          <a:bodyPr>
            <a:normAutofit fontScale="85000" lnSpcReduction="20000"/>
          </a:bodyPr>
          <a:lstStyle/>
          <a:p>
            <a:pPr marL="0" indent="0">
              <a:buNone/>
            </a:pPr>
            <a:r>
              <a:rPr lang="en-US" dirty="0"/>
              <a:t>An optimization algorithm used to minimize a function by iteratively moving in the direction of the steepest descent of the gradient.</a:t>
            </a:r>
          </a:p>
          <a:p>
            <a:pPr marL="0" indent="0">
              <a:buNone/>
            </a:pPr>
            <a:r>
              <a:rPr lang="en-US" b="1" dirty="0"/>
              <a:t>Steps of Gradient Descent Algorithm</a:t>
            </a:r>
          </a:p>
          <a:p>
            <a:pPr marL="457200" indent="-457200">
              <a:buFont typeface="+mj-lt"/>
              <a:buAutoNum type="arabicPeriod"/>
            </a:pPr>
            <a:r>
              <a:rPr lang="en-US" dirty="0"/>
              <a:t>Initialize parameters (weights, bias) randomly</a:t>
            </a:r>
          </a:p>
          <a:p>
            <a:pPr marL="457200" indent="-457200">
              <a:buFont typeface="+mj-lt"/>
              <a:buAutoNum type="arabicPeriod"/>
            </a:pPr>
            <a:r>
              <a:rPr lang="en-US" dirty="0"/>
              <a:t>Compute predictions using current parameters</a:t>
            </a:r>
          </a:p>
          <a:p>
            <a:pPr marL="457200" indent="-457200">
              <a:buFont typeface="+mj-lt"/>
              <a:buAutoNum type="arabicPeriod"/>
            </a:pPr>
            <a:r>
              <a:rPr lang="en-US" dirty="0"/>
              <a:t>Calculate loss (error)</a:t>
            </a:r>
          </a:p>
          <a:p>
            <a:pPr marL="457200" indent="-457200">
              <a:buFont typeface="+mj-lt"/>
              <a:buAutoNum type="arabicPeriod"/>
            </a:pPr>
            <a:r>
              <a:rPr lang="en-US" dirty="0"/>
              <a:t>Compute gradients (partial derivatives)</a:t>
            </a:r>
          </a:p>
          <a:p>
            <a:pPr marL="457200" indent="-457200">
              <a:buFont typeface="+mj-lt"/>
              <a:buAutoNum type="arabicPeriod"/>
            </a:pPr>
            <a:r>
              <a:rPr lang="en-US" dirty="0"/>
              <a:t>Update parameters</a:t>
            </a:r>
          </a:p>
          <a:p>
            <a:pPr marL="457200" indent="-457200">
              <a:buFont typeface="+mj-lt"/>
              <a:buAutoNum type="arabicPeriod"/>
            </a:pPr>
            <a:r>
              <a:rPr lang="en-US" dirty="0"/>
              <a:t>Repeat until convergence (minimum error)</a:t>
            </a:r>
          </a:p>
          <a:p>
            <a:endParaRPr lang="en-US" dirty="0"/>
          </a:p>
        </p:txBody>
      </p:sp>
      <p:sp>
        <p:nvSpPr>
          <p:cNvPr id="4" name="Footer Placeholder 3">
            <a:extLst>
              <a:ext uri="{FF2B5EF4-FFF2-40B4-BE49-F238E27FC236}">
                <a16:creationId xmlns:a16="http://schemas.microsoft.com/office/drawing/2014/main" id="{60DE1EEA-686C-B78C-C074-15F24FADF56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2111572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78586-2B7F-B2AE-78E2-D72E88CD3984}"/>
              </a:ext>
            </a:extLst>
          </p:cNvPr>
          <p:cNvSpPr>
            <a:spLocks noGrp="1"/>
          </p:cNvSpPr>
          <p:nvPr>
            <p:ph type="title"/>
          </p:nvPr>
        </p:nvSpPr>
        <p:spPr/>
        <p:txBody>
          <a:bodyPr/>
          <a:lstStyle/>
          <a:p>
            <a:r>
              <a:rPr lang="en-US" dirty="0"/>
              <a:t>Gradient Descent</a:t>
            </a:r>
          </a:p>
        </p:txBody>
      </p:sp>
      <p:sp>
        <p:nvSpPr>
          <p:cNvPr id="3" name="Content Placeholder 2">
            <a:extLst>
              <a:ext uri="{FF2B5EF4-FFF2-40B4-BE49-F238E27FC236}">
                <a16:creationId xmlns:a16="http://schemas.microsoft.com/office/drawing/2014/main" id="{A8AB256B-4E62-54E1-A946-AE48D6D53822}"/>
              </a:ext>
            </a:extLst>
          </p:cNvPr>
          <p:cNvSpPr>
            <a:spLocks noGrp="1"/>
          </p:cNvSpPr>
          <p:nvPr>
            <p:ph idx="1"/>
          </p:nvPr>
        </p:nvSpPr>
        <p:spPr/>
        <p:txBody>
          <a:bodyPr/>
          <a:lstStyle/>
          <a:p>
            <a:pPr marL="0" indent="0">
              <a:buNone/>
            </a:pPr>
            <a:r>
              <a:rPr lang="en-US" dirty="0"/>
              <a:t>Gradient Descent is used in:</a:t>
            </a:r>
          </a:p>
          <a:p>
            <a:r>
              <a:rPr lang="en-US" dirty="0"/>
              <a:t>Linear &amp; Logistic Regression</a:t>
            </a:r>
          </a:p>
          <a:p>
            <a:r>
              <a:rPr lang="en-US" dirty="0"/>
              <a:t>Neural Networks</a:t>
            </a:r>
          </a:p>
          <a:p>
            <a:r>
              <a:rPr lang="en-US" dirty="0"/>
              <a:t>Support Vector Machines</a:t>
            </a:r>
          </a:p>
          <a:p>
            <a:r>
              <a:rPr lang="en-US" dirty="0"/>
              <a:t>Deep Learning models</a:t>
            </a:r>
          </a:p>
          <a:p>
            <a:endParaRPr lang="en-US" dirty="0"/>
          </a:p>
        </p:txBody>
      </p:sp>
      <p:sp>
        <p:nvSpPr>
          <p:cNvPr id="4" name="Footer Placeholder 3">
            <a:extLst>
              <a:ext uri="{FF2B5EF4-FFF2-40B4-BE49-F238E27FC236}">
                <a16:creationId xmlns:a16="http://schemas.microsoft.com/office/drawing/2014/main" id="{27223FBF-85A3-E597-7663-35C579946990}"/>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500553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E7462-CC1D-1CD5-9112-3599F78191D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CE8175C-D0CA-B64C-5E5C-976A352B0DE7}"/>
              </a:ext>
            </a:extLst>
          </p:cNvPr>
          <p:cNvSpPr>
            <a:spLocks noGrp="1"/>
          </p:cNvSpPr>
          <p:nvPr>
            <p:ph idx="1"/>
          </p:nvPr>
        </p:nvSpPr>
        <p:spPr/>
        <p:txBody>
          <a:bodyPr/>
          <a:lstStyle/>
          <a:p>
            <a:r>
              <a:rPr lang="en-US" dirty="0"/>
              <a:t>Hill-Climbing is fast but limited by local traps.</a:t>
            </a:r>
          </a:p>
          <a:p>
            <a:r>
              <a:rPr lang="en-US" dirty="0"/>
              <a:t>Simulated Annealing uses randomness to escape traps.</a:t>
            </a:r>
          </a:p>
          <a:p>
            <a:r>
              <a:rPr lang="en-US" dirty="0"/>
              <a:t>Genetic Algorithms mimic evolution to explore the search space.</a:t>
            </a:r>
          </a:p>
          <a:p>
            <a:r>
              <a:rPr lang="en-US" dirty="0"/>
              <a:t>Gradient Descent is ideal for optimization in continuous spaces.</a:t>
            </a:r>
          </a:p>
          <a:p>
            <a:endParaRPr lang="en-US" dirty="0"/>
          </a:p>
        </p:txBody>
      </p:sp>
      <p:sp>
        <p:nvSpPr>
          <p:cNvPr id="4" name="Footer Placeholder 3">
            <a:extLst>
              <a:ext uri="{FF2B5EF4-FFF2-40B4-BE49-F238E27FC236}">
                <a16:creationId xmlns:a16="http://schemas.microsoft.com/office/drawing/2014/main" id="{84ACA448-A6D7-7C0A-1591-72136DD49997}"/>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7472021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DBEBE-8B42-F51C-B27A-2B4D7FF641BE}"/>
              </a:ext>
            </a:extLst>
          </p:cNvPr>
          <p:cNvSpPr>
            <a:spLocks noGrp="1"/>
          </p:cNvSpPr>
          <p:nvPr>
            <p:ph type="title"/>
          </p:nvPr>
        </p:nvSpPr>
        <p:spPr/>
        <p:txBody>
          <a:bodyPr/>
          <a:lstStyle/>
          <a:p>
            <a:r>
              <a:rPr lang="en-US" dirty="0"/>
              <a:t>Adversarial Search and Game Playing</a:t>
            </a:r>
          </a:p>
        </p:txBody>
      </p:sp>
      <p:sp>
        <p:nvSpPr>
          <p:cNvPr id="3" name="Content Placeholder 2">
            <a:extLst>
              <a:ext uri="{FF2B5EF4-FFF2-40B4-BE49-F238E27FC236}">
                <a16:creationId xmlns:a16="http://schemas.microsoft.com/office/drawing/2014/main" id="{4894E7C1-F8A6-89E4-AD9E-CADA69E3D645}"/>
              </a:ext>
            </a:extLst>
          </p:cNvPr>
          <p:cNvSpPr>
            <a:spLocks noGrp="1"/>
          </p:cNvSpPr>
          <p:nvPr>
            <p:ph idx="1"/>
          </p:nvPr>
        </p:nvSpPr>
        <p:spPr/>
        <p:txBody>
          <a:bodyPr>
            <a:normAutofit fontScale="92500" lnSpcReduction="20000"/>
          </a:bodyPr>
          <a:lstStyle/>
          <a:p>
            <a:pPr marL="0" indent="0">
              <a:buNone/>
            </a:pPr>
            <a:r>
              <a:rPr lang="en-US" dirty="0"/>
              <a:t> Search in competitive settings where entities have opposing goals.</a:t>
            </a:r>
          </a:p>
          <a:p>
            <a:pPr marL="0" indent="0">
              <a:buNone/>
            </a:pPr>
            <a:r>
              <a:rPr lang="en-US" dirty="0"/>
              <a:t>Key Characteristics:</a:t>
            </a:r>
          </a:p>
          <a:p>
            <a:pPr lvl="1"/>
            <a:r>
              <a:rPr lang="en-US" dirty="0"/>
              <a:t>Competitive</a:t>
            </a:r>
          </a:p>
          <a:p>
            <a:pPr lvl="1"/>
            <a:r>
              <a:rPr lang="en-US" dirty="0"/>
              <a:t>Perfect/Imperfect Information</a:t>
            </a:r>
          </a:p>
          <a:p>
            <a:pPr lvl="1"/>
            <a:r>
              <a:rPr lang="en-US" dirty="0"/>
              <a:t>Deterministic/Stochastic.</a:t>
            </a:r>
          </a:p>
          <a:p>
            <a:r>
              <a:rPr lang="en-US" dirty="0"/>
              <a:t>Importance:</a:t>
            </a:r>
          </a:p>
          <a:p>
            <a:pPr lvl="1"/>
            <a:r>
              <a:rPr lang="en-US" dirty="0"/>
              <a:t>Understanding strategies, broader applications, and foundation for AI.</a:t>
            </a:r>
          </a:p>
          <a:p>
            <a:endParaRPr lang="en-US" dirty="0"/>
          </a:p>
        </p:txBody>
      </p:sp>
      <p:sp>
        <p:nvSpPr>
          <p:cNvPr id="4" name="Footer Placeholder 3">
            <a:extLst>
              <a:ext uri="{FF2B5EF4-FFF2-40B4-BE49-F238E27FC236}">
                <a16:creationId xmlns:a16="http://schemas.microsoft.com/office/drawing/2014/main" id="{44691143-045F-E8EE-CB87-99763CFBA8C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2460117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Person holding chess piece">
            <a:extLst>
              <a:ext uri="{FF2B5EF4-FFF2-40B4-BE49-F238E27FC236}">
                <a16:creationId xmlns:a16="http://schemas.microsoft.com/office/drawing/2014/main" id="{2C433ACF-CA0F-600F-A5F3-4CBB4121FC7C}"/>
              </a:ext>
            </a:extLst>
          </p:cNvPr>
          <p:cNvPicPr>
            <a:picLocks noChangeAspect="1"/>
          </p:cNvPicPr>
          <p:nvPr/>
        </p:nvPicPr>
        <p:blipFill>
          <a:blip r:embed="rId3"/>
          <a:srcRect l="19731" r="14642" b="1"/>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p:cNvSpPr>
            <a:spLocks noGrp="1"/>
          </p:cNvSpPr>
          <p:nvPr>
            <p:ph type="title"/>
          </p:nvPr>
        </p:nvSpPr>
        <p:spPr>
          <a:xfrm>
            <a:off x="507999" y="609600"/>
            <a:ext cx="2888343" cy="1320800"/>
          </a:xfrm>
        </p:spPr>
        <p:txBody>
          <a:bodyPr>
            <a:normAutofit/>
          </a:bodyPr>
          <a:lstStyle/>
          <a:p>
            <a:r>
              <a:t>Game Playing</a:t>
            </a:r>
          </a:p>
        </p:txBody>
      </p:sp>
      <p:sp>
        <p:nvSpPr>
          <p:cNvPr id="3" name="Content Placeholder 2"/>
          <p:cNvSpPr>
            <a:spLocks noGrp="1"/>
          </p:cNvSpPr>
          <p:nvPr>
            <p:ph idx="1"/>
          </p:nvPr>
        </p:nvSpPr>
        <p:spPr>
          <a:xfrm>
            <a:off x="508000" y="2160589"/>
            <a:ext cx="3407508" cy="3880773"/>
          </a:xfrm>
        </p:spPr>
        <p:txBody>
          <a:bodyPr>
            <a:normAutofit/>
          </a:bodyPr>
          <a:lstStyle/>
          <a:p>
            <a:r>
              <a:rPr dirty="0"/>
              <a:t>- Multi-agent environments</a:t>
            </a:r>
          </a:p>
          <a:p>
            <a:r>
              <a:rPr dirty="0"/>
              <a:t>- Adversarial search (Minimax, Alpha-Beta pruning)</a:t>
            </a:r>
          </a:p>
          <a:p>
            <a:r>
              <a:rPr dirty="0"/>
              <a:t>- Perfect Information games (e.g., Chess) vs Imperfect Information games (e.g., Poker)</a:t>
            </a:r>
          </a:p>
        </p:txBody>
      </p:sp>
      <p:sp>
        <p:nvSpPr>
          <p:cNvPr id="4" name="Footer Placeholder 3">
            <a:extLst>
              <a:ext uri="{FF2B5EF4-FFF2-40B4-BE49-F238E27FC236}">
                <a16:creationId xmlns:a16="http://schemas.microsoft.com/office/drawing/2014/main" id="{D390B630-294A-2078-EE82-E37DE4E99AD3}"/>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7461E-4D97-1A5D-FEE2-6723951224F5}"/>
              </a:ext>
            </a:extLst>
          </p:cNvPr>
          <p:cNvSpPr>
            <a:spLocks noGrp="1"/>
          </p:cNvSpPr>
          <p:nvPr>
            <p:ph type="title"/>
          </p:nvPr>
        </p:nvSpPr>
        <p:spPr/>
        <p:txBody>
          <a:bodyPr/>
          <a:lstStyle/>
          <a:p>
            <a:r>
              <a:rPr lang="en-US" dirty="0"/>
              <a:t>Various elements of game playing </a:t>
            </a:r>
          </a:p>
        </p:txBody>
      </p:sp>
      <p:sp>
        <p:nvSpPr>
          <p:cNvPr id="3" name="Content Placeholder 2">
            <a:extLst>
              <a:ext uri="{FF2B5EF4-FFF2-40B4-BE49-F238E27FC236}">
                <a16:creationId xmlns:a16="http://schemas.microsoft.com/office/drawing/2014/main" id="{4234BC56-0358-9655-9924-799707B0F45F}"/>
              </a:ext>
            </a:extLst>
          </p:cNvPr>
          <p:cNvSpPr>
            <a:spLocks noGrp="1"/>
          </p:cNvSpPr>
          <p:nvPr>
            <p:ph idx="1"/>
          </p:nvPr>
        </p:nvSpPr>
        <p:spPr/>
        <p:txBody>
          <a:bodyPr>
            <a:normAutofit fontScale="77500" lnSpcReduction="20000"/>
          </a:bodyPr>
          <a:lstStyle/>
          <a:p>
            <a:pPr marL="0" indent="0">
              <a:buNone/>
            </a:pPr>
            <a:r>
              <a:rPr lang="en-US" dirty="0"/>
              <a:t>Game can be formally defined as a kind of search problem with the following elements</a:t>
            </a:r>
          </a:p>
          <a:p>
            <a:pPr marL="457200" indent="-457200">
              <a:buAutoNum type="arabicPeriod"/>
            </a:pPr>
            <a:r>
              <a:rPr lang="en-US" dirty="0"/>
              <a:t>S0: the initial state; specifies how game is set up at start</a:t>
            </a:r>
          </a:p>
          <a:p>
            <a:pPr marL="457200" indent="-457200">
              <a:buAutoNum type="arabicPeriod"/>
            </a:pPr>
            <a:r>
              <a:rPr lang="en-US" dirty="0"/>
              <a:t>Players (s): defines which player has move in the state</a:t>
            </a:r>
          </a:p>
          <a:p>
            <a:pPr marL="457200" indent="-457200">
              <a:buAutoNum type="arabicPeriod"/>
            </a:pPr>
            <a:r>
              <a:rPr lang="en-US" dirty="0"/>
              <a:t>Actions (a): returns set of legal moves in the state</a:t>
            </a:r>
          </a:p>
          <a:p>
            <a:pPr marL="457200" indent="-457200">
              <a:buAutoNum type="arabicPeriod"/>
            </a:pPr>
            <a:r>
              <a:rPr lang="en-US" dirty="0"/>
              <a:t>Result ( s, a) : the transition model that determines result of the move</a:t>
            </a:r>
          </a:p>
          <a:p>
            <a:pPr marL="457200" indent="-457200">
              <a:buAutoNum type="arabicPeriod"/>
            </a:pPr>
            <a:r>
              <a:rPr lang="en-US" dirty="0"/>
              <a:t>Terminal Test: True when game over . </a:t>
            </a:r>
          </a:p>
          <a:p>
            <a:pPr marL="457200" indent="-457200">
              <a:buAutoNum type="arabicPeriod"/>
            </a:pPr>
            <a:r>
              <a:rPr lang="en-US" dirty="0"/>
              <a:t>Terminal states: States where game ends.</a:t>
            </a:r>
          </a:p>
          <a:p>
            <a:pPr marL="457200" indent="-457200">
              <a:buAutoNum type="arabicPeriod"/>
            </a:pPr>
            <a:r>
              <a:rPr lang="en-US" dirty="0"/>
              <a:t>Utility ( s, p): numeric value at last state s for player p.   </a:t>
            </a:r>
          </a:p>
          <a:p>
            <a:pPr marL="0" indent="0">
              <a:buNone/>
            </a:pPr>
            <a:endParaRPr lang="en-US" dirty="0"/>
          </a:p>
        </p:txBody>
      </p:sp>
      <p:sp>
        <p:nvSpPr>
          <p:cNvPr id="4" name="Footer Placeholder 3">
            <a:extLst>
              <a:ext uri="{FF2B5EF4-FFF2-40B4-BE49-F238E27FC236}">
                <a16:creationId xmlns:a16="http://schemas.microsoft.com/office/drawing/2014/main" id="{E51BE67A-27BC-7173-BCCB-7849F9207D18}"/>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4281239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0048B-0CAF-3CE0-9E2C-E4A6E4420B29}"/>
              </a:ext>
            </a:extLst>
          </p:cNvPr>
          <p:cNvSpPr>
            <a:spLocks noGrp="1"/>
          </p:cNvSpPr>
          <p:nvPr>
            <p:ph type="title"/>
          </p:nvPr>
        </p:nvSpPr>
        <p:spPr/>
        <p:txBody>
          <a:bodyPr/>
          <a:lstStyle/>
          <a:p>
            <a:r>
              <a:rPr lang="en-US" dirty="0"/>
              <a:t>Min Max Algorithm</a:t>
            </a:r>
          </a:p>
        </p:txBody>
      </p:sp>
      <p:sp>
        <p:nvSpPr>
          <p:cNvPr id="3" name="Content Placeholder 2">
            <a:extLst>
              <a:ext uri="{FF2B5EF4-FFF2-40B4-BE49-F238E27FC236}">
                <a16:creationId xmlns:a16="http://schemas.microsoft.com/office/drawing/2014/main" id="{F9C705E2-52D0-1AD2-3696-939A33B8A0C6}"/>
              </a:ext>
            </a:extLst>
          </p:cNvPr>
          <p:cNvSpPr>
            <a:spLocks noGrp="1"/>
          </p:cNvSpPr>
          <p:nvPr>
            <p:ph idx="1"/>
          </p:nvPr>
        </p:nvSpPr>
        <p:spPr/>
        <p:txBody>
          <a:bodyPr>
            <a:normAutofit/>
          </a:bodyPr>
          <a:lstStyle/>
          <a:p>
            <a:r>
              <a:rPr lang="en-US" dirty="0"/>
              <a:t>Objective:</a:t>
            </a:r>
          </a:p>
          <a:p>
            <a:pPr lvl="1"/>
            <a:r>
              <a:rPr lang="en-US" dirty="0"/>
              <a:t>Choose optimal moves assuming opponent plays optimally.</a:t>
            </a:r>
          </a:p>
          <a:p>
            <a:r>
              <a:rPr lang="en-US" dirty="0"/>
              <a:t>Steps:</a:t>
            </a:r>
          </a:p>
          <a:p>
            <a:pPr lvl="1"/>
            <a:r>
              <a:rPr lang="en-US" dirty="0"/>
              <a:t>Explore game states, assign utilities, and propagate values.</a:t>
            </a:r>
          </a:p>
          <a:p>
            <a:r>
              <a:rPr lang="en-US" dirty="0"/>
              <a:t>Example:</a:t>
            </a:r>
          </a:p>
          <a:p>
            <a:pPr lvl="1"/>
            <a:r>
              <a:rPr lang="en-US" dirty="0"/>
              <a:t>Game tree for Tic-Tac-Toe.</a:t>
            </a:r>
          </a:p>
          <a:p>
            <a:endParaRPr lang="en-US" dirty="0"/>
          </a:p>
        </p:txBody>
      </p:sp>
      <p:sp>
        <p:nvSpPr>
          <p:cNvPr id="4" name="Footer Placeholder 3">
            <a:extLst>
              <a:ext uri="{FF2B5EF4-FFF2-40B4-BE49-F238E27FC236}">
                <a16:creationId xmlns:a16="http://schemas.microsoft.com/office/drawing/2014/main" id="{4FC79AAD-BB20-9514-1144-FE22AA277A18}"/>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5615544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8CB5-F8B4-E1A1-ABF5-B277521E89A4}"/>
              </a:ext>
            </a:extLst>
          </p:cNvPr>
          <p:cNvSpPr>
            <a:spLocks noGrp="1"/>
          </p:cNvSpPr>
          <p:nvPr>
            <p:ph type="title"/>
          </p:nvPr>
        </p:nvSpPr>
        <p:spPr>
          <a:xfrm>
            <a:off x="-1295241" y="572222"/>
            <a:ext cx="7704667" cy="1981200"/>
          </a:xfrm>
        </p:spPr>
        <p:txBody>
          <a:bodyPr/>
          <a:lstStyle/>
          <a:p>
            <a:r>
              <a:rPr lang="en-US" dirty="0"/>
              <a:t>Pseudo code</a:t>
            </a:r>
          </a:p>
        </p:txBody>
      </p:sp>
      <p:sp>
        <p:nvSpPr>
          <p:cNvPr id="3" name="Content Placeholder 2">
            <a:extLst>
              <a:ext uri="{FF2B5EF4-FFF2-40B4-BE49-F238E27FC236}">
                <a16:creationId xmlns:a16="http://schemas.microsoft.com/office/drawing/2014/main" id="{B4C66037-B447-CB73-1C9B-48A300AAF392}"/>
              </a:ext>
            </a:extLst>
          </p:cNvPr>
          <p:cNvSpPr>
            <a:spLocks noGrp="1"/>
          </p:cNvSpPr>
          <p:nvPr>
            <p:ph idx="1"/>
          </p:nvPr>
        </p:nvSpPr>
        <p:spPr>
          <a:xfrm>
            <a:off x="0" y="2507543"/>
            <a:ext cx="4748843" cy="4191000"/>
          </a:xfrm>
        </p:spPr>
        <p:txBody>
          <a:bodyPr>
            <a:normAutofit fontScale="62500" lnSpcReduction="20000"/>
          </a:bodyPr>
          <a:lstStyle/>
          <a:p>
            <a:r>
              <a:rPr lang="en-US" b="0" i="0" dirty="0">
                <a:solidFill>
                  <a:srgbClr val="191919"/>
                </a:solidFill>
                <a:effectLst/>
                <a:latin typeface="Roboto Slab" panose="020F0502020204030204" pitchFamily="2" charset="0"/>
              </a:rPr>
              <a:t>def minimax(node, depth, </a:t>
            </a:r>
            <a:r>
              <a:rPr lang="en-US" b="0" i="0" dirty="0" err="1">
                <a:solidFill>
                  <a:srgbClr val="191919"/>
                </a:solidFill>
                <a:effectLst/>
                <a:latin typeface="Roboto Slab" panose="020F0502020204030204" pitchFamily="2" charset="0"/>
              </a:rPr>
              <a:t>isMaximizingPlayer</a:t>
            </a:r>
            <a:r>
              <a:rPr lang="en-US" b="0" i="0" dirty="0">
                <a:solidFill>
                  <a:srgbClr val="191919"/>
                </a:solidFill>
                <a:effectLst/>
                <a:latin typeface="Roboto Slab" panose="020F0502020204030204" pitchFamily="2" charset="0"/>
              </a:rPr>
              <a:t>): </a:t>
            </a:r>
          </a:p>
          <a:p>
            <a:pPr marL="457200" lvl="1" indent="0">
              <a:buNone/>
            </a:pPr>
            <a:r>
              <a:rPr lang="en-US" b="0" i="0" dirty="0">
                <a:solidFill>
                  <a:srgbClr val="191919"/>
                </a:solidFill>
                <a:effectLst/>
                <a:latin typeface="Roboto Slab" panose="020F0502020204030204" pitchFamily="2" charset="0"/>
              </a:rPr>
              <a:t>if depth == 0 or </a:t>
            </a:r>
            <a:r>
              <a:rPr lang="en-US" b="0" i="0" dirty="0" err="1">
                <a:solidFill>
                  <a:srgbClr val="191919"/>
                </a:solidFill>
                <a:effectLst/>
                <a:latin typeface="Roboto Slab" panose="020F0502020204030204" pitchFamily="2" charset="0"/>
              </a:rPr>
              <a:t>is_terminal</a:t>
            </a:r>
            <a:r>
              <a:rPr lang="en-US" b="0" i="0" dirty="0">
                <a:solidFill>
                  <a:srgbClr val="191919"/>
                </a:solidFill>
                <a:effectLst/>
                <a:latin typeface="Roboto Slab" panose="020F0502020204030204" pitchFamily="2" charset="0"/>
              </a:rPr>
              <a:t>(node):</a:t>
            </a:r>
          </a:p>
          <a:p>
            <a:pPr marL="457200" lvl="1" indent="0">
              <a:buNone/>
            </a:pPr>
            <a:r>
              <a:rPr lang="en-US" dirty="0">
                <a:solidFill>
                  <a:srgbClr val="191919"/>
                </a:solidFill>
                <a:latin typeface="Roboto Slab" panose="020F0502020204030204" pitchFamily="2" charset="0"/>
              </a:rPr>
              <a:t>	</a:t>
            </a:r>
            <a:r>
              <a:rPr lang="en-US" b="0" i="0" dirty="0">
                <a:solidFill>
                  <a:srgbClr val="191919"/>
                </a:solidFill>
                <a:effectLst/>
                <a:latin typeface="Roboto Slab" panose="020F0502020204030204" pitchFamily="2" charset="0"/>
              </a:rPr>
              <a:t> return evaluate(node) </a:t>
            </a:r>
          </a:p>
          <a:p>
            <a:pPr marL="457200" lvl="1" indent="0">
              <a:buNone/>
            </a:pPr>
            <a:r>
              <a:rPr lang="en-US" b="0" i="0" dirty="0">
                <a:solidFill>
                  <a:srgbClr val="191919"/>
                </a:solidFill>
                <a:effectLst/>
                <a:latin typeface="Roboto Slab" panose="020F0502020204030204" pitchFamily="2" charset="0"/>
              </a:rPr>
              <a:t>if </a:t>
            </a:r>
            <a:r>
              <a:rPr lang="en-US" b="0" i="0" dirty="0" err="1">
                <a:solidFill>
                  <a:srgbClr val="191919"/>
                </a:solidFill>
                <a:effectLst/>
                <a:latin typeface="Roboto Slab" panose="020F0502020204030204" pitchFamily="2" charset="0"/>
              </a:rPr>
              <a:t>isMaximizingPlayer</a:t>
            </a:r>
            <a:r>
              <a:rPr lang="en-US" b="0" i="0" dirty="0">
                <a:solidFill>
                  <a:srgbClr val="191919"/>
                </a:solidFill>
                <a:effectLst/>
                <a:latin typeface="Roboto Slab" panose="020F0502020204030204" pitchFamily="2" charset="0"/>
              </a:rPr>
              <a:t>: </a:t>
            </a:r>
          </a:p>
          <a:p>
            <a:pPr marL="457200" lvl="1" indent="0">
              <a:buNone/>
            </a:pPr>
            <a:r>
              <a:rPr lang="en-US" b="0" i="0" dirty="0">
                <a:solidFill>
                  <a:srgbClr val="191919"/>
                </a:solidFill>
                <a:effectLst/>
                <a:latin typeface="Roboto Slab" panose="020F0502020204030204" pitchFamily="2" charset="0"/>
              </a:rPr>
              <a:t>	</a:t>
            </a:r>
            <a:r>
              <a:rPr lang="en-US" b="0" i="0" dirty="0" err="1">
                <a:solidFill>
                  <a:srgbClr val="191919"/>
                </a:solidFill>
                <a:effectLst/>
                <a:latin typeface="Roboto Slab" panose="020F0502020204030204" pitchFamily="2" charset="0"/>
              </a:rPr>
              <a:t>bestValue</a:t>
            </a:r>
            <a:r>
              <a:rPr lang="en-US" b="0" i="0" dirty="0">
                <a:solidFill>
                  <a:srgbClr val="191919"/>
                </a:solidFill>
                <a:effectLst/>
                <a:latin typeface="Roboto Slab" panose="020F0502020204030204" pitchFamily="2" charset="0"/>
              </a:rPr>
              <a:t> = -infinity </a:t>
            </a:r>
          </a:p>
          <a:p>
            <a:pPr marL="457200" lvl="1" indent="0">
              <a:buNone/>
            </a:pPr>
            <a:r>
              <a:rPr lang="en-US" b="0" i="0" dirty="0">
                <a:solidFill>
                  <a:srgbClr val="191919"/>
                </a:solidFill>
                <a:effectLst/>
                <a:latin typeface="Roboto Slab" panose="020F0502020204030204" pitchFamily="2" charset="0"/>
              </a:rPr>
              <a:t>	for child in </a:t>
            </a:r>
            <a:r>
              <a:rPr lang="en-US" b="0" i="0" dirty="0" err="1">
                <a:solidFill>
                  <a:srgbClr val="191919"/>
                </a:solidFill>
                <a:effectLst/>
                <a:latin typeface="Roboto Slab" panose="020F0502020204030204" pitchFamily="2" charset="0"/>
              </a:rPr>
              <a:t>node.children</a:t>
            </a:r>
            <a:r>
              <a:rPr lang="en-US" b="0" i="0" dirty="0">
                <a:solidFill>
                  <a:srgbClr val="191919"/>
                </a:solidFill>
                <a:effectLst/>
                <a:latin typeface="Roboto Slab" panose="020F0502020204030204" pitchFamily="2" charset="0"/>
              </a:rPr>
              <a:t>: </a:t>
            </a:r>
          </a:p>
          <a:p>
            <a:pPr marL="457200" lvl="1" indent="0">
              <a:buNone/>
            </a:pPr>
            <a:r>
              <a:rPr lang="en-US" b="0" i="0" dirty="0">
                <a:solidFill>
                  <a:srgbClr val="191919"/>
                </a:solidFill>
                <a:effectLst/>
                <a:latin typeface="Roboto Slab" panose="020F0502020204030204" pitchFamily="2" charset="0"/>
              </a:rPr>
              <a:t>		</a:t>
            </a:r>
            <a:r>
              <a:rPr lang="en-US" b="0" i="0" dirty="0" err="1">
                <a:solidFill>
                  <a:srgbClr val="191919"/>
                </a:solidFill>
                <a:effectLst/>
                <a:latin typeface="Roboto Slab" panose="020F0502020204030204" pitchFamily="2" charset="0"/>
              </a:rPr>
              <a:t>val</a:t>
            </a:r>
            <a:r>
              <a:rPr lang="en-US" b="0" i="0" dirty="0">
                <a:solidFill>
                  <a:srgbClr val="191919"/>
                </a:solidFill>
                <a:effectLst/>
                <a:latin typeface="Roboto Slab" panose="020F0502020204030204" pitchFamily="2" charset="0"/>
              </a:rPr>
              <a:t> = minimax(child, depth-1, False) </a:t>
            </a:r>
          </a:p>
          <a:p>
            <a:pPr marL="457200" lvl="1" indent="0">
              <a:buNone/>
            </a:pPr>
            <a:r>
              <a:rPr lang="en-US" b="0" i="0" dirty="0">
                <a:solidFill>
                  <a:srgbClr val="191919"/>
                </a:solidFill>
                <a:effectLst/>
                <a:latin typeface="Roboto Slab" panose="020F0502020204030204" pitchFamily="2" charset="0"/>
              </a:rPr>
              <a:t>		</a:t>
            </a:r>
            <a:r>
              <a:rPr lang="en-US" b="0" i="0" dirty="0" err="1">
                <a:solidFill>
                  <a:srgbClr val="191919"/>
                </a:solidFill>
                <a:effectLst/>
                <a:latin typeface="Roboto Slab" panose="020F0502020204030204" pitchFamily="2" charset="0"/>
              </a:rPr>
              <a:t>bestValue</a:t>
            </a:r>
            <a:r>
              <a:rPr lang="en-US" b="0" i="0" dirty="0">
                <a:solidFill>
                  <a:srgbClr val="191919"/>
                </a:solidFill>
                <a:effectLst/>
                <a:latin typeface="Roboto Slab" panose="020F0502020204030204" pitchFamily="2" charset="0"/>
              </a:rPr>
              <a:t> = max(</a:t>
            </a:r>
            <a:r>
              <a:rPr lang="en-US" b="0" i="0" dirty="0" err="1">
                <a:solidFill>
                  <a:srgbClr val="191919"/>
                </a:solidFill>
                <a:effectLst/>
                <a:latin typeface="Roboto Slab" panose="020F0502020204030204" pitchFamily="2" charset="0"/>
              </a:rPr>
              <a:t>bestValue</a:t>
            </a:r>
            <a:r>
              <a:rPr lang="en-US" b="0" i="0" dirty="0">
                <a:solidFill>
                  <a:srgbClr val="191919"/>
                </a:solidFill>
                <a:effectLst/>
                <a:latin typeface="Roboto Slab" panose="020F0502020204030204" pitchFamily="2" charset="0"/>
              </a:rPr>
              <a:t>, </a:t>
            </a:r>
            <a:r>
              <a:rPr lang="en-US" b="0" i="0" dirty="0" err="1">
                <a:solidFill>
                  <a:srgbClr val="191919"/>
                </a:solidFill>
                <a:effectLst/>
                <a:latin typeface="Roboto Slab" panose="020F0502020204030204" pitchFamily="2" charset="0"/>
              </a:rPr>
              <a:t>val</a:t>
            </a:r>
            <a:r>
              <a:rPr lang="en-US" b="0" i="0" dirty="0">
                <a:solidFill>
                  <a:srgbClr val="191919"/>
                </a:solidFill>
                <a:effectLst/>
                <a:latin typeface="Roboto Slab" panose="020F0502020204030204" pitchFamily="2" charset="0"/>
              </a:rPr>
              <a:t>) </a:t>
            </a:r>
          </a:p>
          <a:p>
            <a:pPr marL="457200" lvl="1" indent="0">
              <a:buNone/>
            </a:pPr>
            <a:r>
              <a:rPr lang="en-US" b="0" i="0" dirty="0">
                <a:solidFill>
                  <a:srgbClr val="191919"/>
                </a:solidFill>
                <a:effectLst/>
                <a:latin typeface="Roboto Slab" panose="020F0502020204030204" pitchFamily="2" charset="0"/>
              </a:rPr>
              <a:t>	return </a:t>
            </a:r>
            <a:r>
              <a:rPr lang="en-US" b="0" i="0" dirty="0" err="1">
                <a:solidFill>
                  <a:srgbClr val="191919"/>
                </a:solidFill>
                <a:effectLst/>
                <a:latin typeface="Roboto Slab" panose="020F0502020204030204" pitchFamily="2" charset="0"/>
              </a:rPr>
              <a:t>bestValue</a:t>
            </a:r>
            <a:r>
              <a:rPr lang="en-US" b="0" i="0" dirty="0">
                <a:solidFill>
                  <a:srgbClr val="191919"/>
                </a:solidFill>
                <a:effectLst/>
                <a:latin typeface="Roboto Slab" panose="020F0502020204030204" pitchFamily="2" charset="0"/>
              </a:rPr>
              <a:t> </a:t>
            </a:r>
          </a:p>
          <a:p>
            <a:pPr marL="457200" lvl="1" indent="0">
              <a:buNone/>
            </a:pPr>
            <a:r>
              <a:rPr lang="en-US" b="0" i="0" dirty="0">
                <a:solidFill>
                  <a:srgbClr val="191919"/>
                </a:solidFill>
                <a:effectLst/>
                <a:latin typeface="Roboto Slab" panose="020F0502020204030204" pitchFamily="2" charset="0"/>
              </a:rPr>
              <a:t>else: </a:t>
            </a:r>
          </a:p>
          <a:p>
            <a:pPr marL="457200" lvl="1" indent="0">
              <a:buNone/>
            </a:pPr>
            <a:r>
              <a:rPr lang="en-US" b="0" i="0" dirty="0">
                <a:solidFill>
                  <a:srgbClr val="191919"/>
                </a:solidFill>
                <a:effectLst/>
                <a:latin typeface="Roboto Slab" panose="020F0502020204030204" pitchFamily="2" charset="0"/>
              </a:rPr>
              <a:t>	</a:t>
            </a:r>
            <a:r>
              <a:rPr lang="en-US" b="0" i="0" dirty="0" err="1">
                <a:solidFill>
                  <a:srgbClr val="191919"/>
                </a:solidFill>
                <a:effectLst/>
                <a:latin typeface="Roboto Slab" panose="020F0502020204030204" pitchFamily="2" charset="0"/>
              </a:rPr>
              <a:t>bestValue</a:t>
            </a:r>
            <a:r>
              <a:rPr lang="en-US" b="0" i="0" dirty="0">
                <a:solidFill>
                  <a:srgbClr val="191919"/>
                </a:solidFill>
                <a:effectLst/>
                <a:latin typeface="Roboto Slab" panose="020F0502020204030204" pitchFamily="2" charset="0"/>
              </a:rPr>
              <a:t> = infinity </a:t>
            </a:r>
          </a:p>
          <a:p>
            <a:pPr marL="457200" lvl="1" indent="0">
              <a:buNone/>
            </a:pPr>
            <a:r>
              <a:rPr lang="en-US" b="0" i="0" dirty="0">
                <a:solidFill>
                  <a:srgbClr val="191919"/>
                </a:solidFill>
                <a:effectLst/>
                <a:latin typeface="Roboto Slab" panose="020F0502020204030204" pitchFamily="2" charset="0"/>
              </a:rPr>
              <a:t>for child in </a:t>
            </a:r>
            <a:r>
              <a:rPr lang="en-US" b="0" i="0" dirty="0" err="1">
                <a:solidFill>
                  <a:srgbClr val="191919"/>
                </a:solidFill>
                <a:effectLst/>
                <a:latin typeface="Roboto Slab" panose="020F0502020204030204" pitchFamily="2" charset="0"/>
              </a:rPr>
              <a:t>node.children</a:t>
            </a:r>
            <a:r>
              <a:rPr lang="en-US" b="0" i="0" dirty="0">
                <a:solidFill>
                  <a:srgbClr val="191919"/>
                </a:solidFill>
                <a:effectLst/>
                <a:latin typeface="Roboto Slab" panose="020F0502020204030204" pitchFamily="2" charset="0"/>
              </a:rPr>
              <a:t>: </a:t>
            </a:r>
          </a:p>
          <a:p>
            <a:pPr marL="457200" lvl="1" indent="0">
              <a:buNone/>
            </a:pPr>
            <a:r>
              <a:rPr lang="en-US" b="0" i="0" dirty="0">
                <a:solidFill>
                  <a:srgbClr val="191919"/>
                </a:solidFill>
                <a:effectLst/>
                <a:latin typeface="Roboto Slab" panose="020F0502020204030204" pitchFamily="2" charset="0"/>
              </a:rPr>
              <a:t>	</a:t>
            </a:r>
            <a:r>
              <a:rPr lang="en-US" b="0" i="0" dirty="0" err="1">
                <a:solidFill>
                  <a:srgbClr val="191919"/>
                </a:solidFill>
                <a:effectLst/>
                <a:latin typeface="Roboto Slab" panose="020F0502020204030204" pitchFamily="2" charset="0"/>
              </a:rPr>
              <a:t>val</a:t>
            </a:r>
            <a:r>
              <a:rPr lang="en-US" b="0" i="0" dirty="0">
                <a:solidFill>
                  <a:srgbClr val="191919"/>
                </a:solidFill>
                <a:effectLst/>
                <a:latin typeface="Roboto Slab" panose="020F0502020204030204" pitchFamily="2" charset="0"/>
              </a:rPr>
              <a:t> = minimax(child, depth-1, True) </a:t>
            </a:r>
          </a:p>
          <a:p>
            <a:pPr marL="457200" lvl="1" indent="0">
              <a:buNone/>
            </a:pPr>
            <a:r>
              <a:rPr lang="en-US" dirty="0">
                <a:solidFill>
                  <a:srgbClr val="191919"/>
                </a:solidFill>
                <a:latin typeface="Roboto Slab" panose="020F0502020204030204" pitchFamily="2" charset="0"/>
              </a:rPr>
              <a:t>	</a:t>
            </a:r>
            <a:r>
              <a:rPr lang="en-US" b="0" i="0" dirty="0" err="1">
                <a:solidFill>
                  <a:srgbClr val="191919"/>
                </a:solidFill>
                <a:effectLst/>
                <a:latin typeface="Roboto Slab" panose="020F0502020204030204" pitchFamily="2" charset="0"/>
              </a:rPr>
              <a:t>bestValue</a:t>
            </a:r>
            <a:r>
              <a:rPr lang="en-US" b="0" i="0" dirty="0">
                <a:solidFill>
                  <a:srgbClr val="191919"/>
                </a:solidFill>
                <a:effectLst/>
                <a:latin typeface="Roboto Slab" panose="020F0502020204030204" pitchFamily="2" charset="0"/>
              </a:rPr>
              <a:t> = min(</a:t>
            </a:r>
            <a:r>
              <a:rPr lang="en-US" b="0" i="0" dirty="0" err="1">
                <a:solidFill>
                  <a:srgbClr val="191919"/>
                </a:solidFill>
                <a:effectLst/>
                <a:latin typeface="Roboto Slab" panose="020F0502020204030204" pitchFamily="2" charset="0"/>
              </a:rPr>
              <a:t>bestValue</a:t>
            </a:r>
            <a:r>
              <a:rPr lang="en-US" b="0" i="0" dirty="0">
                <a:solidFill>
                  <a:srgbClr val="191919"/>
                </a:solidFill>
                <a:effectLst/>
                <a:latin typeface="Roboto Slab" panose="020F0502020204030204" pitchFamily="2" charset="0"/>
              </a:rPr>
              <a:t>, </a:t>
            </a:r>
            <a:r>
              <a:rPr lang="en-US" b="0" i="0" dirty="0" err="1">
                <a:solidFill>
                  <a:srgbClr val="191919"/>
                </a:solidFill>
                <a:effectLst/>
                <a:latin typeface="Roboto Slab" panose="020F0502020204030204" pitchFamily="2" charset="0"/>
              </a:rPr>
              <a:t>val</a:t>
            </a:r>
            <a:r>
              <a:rPr lang="en-US" b="0" i="0" dirty="0">
                <a:solidFill>
                  <a:srgbClr val="191919"/>
                </a:solidFill>
                <a:effectLst/>
                <a:latin typeface="Roboto Slab" panose="020F0502020204030204" pitchFamily="2" charset="0"/>
              </a:rPr>
              <a:t>) </a:t>
            </a:r>
          </a:p>
          <a:p>
            <a:pPr marL="457200" lvl="1" indent="0">
              <a:buNone/>
            </a:pPr>
            <a:r>
              <a:rPr lang="en-US" b="0" i="0" dirty="0">
                <a:solidFill>
                  <a:srgbClr val="191919"/>
                </a:solidFill>
                <a:effectLst/>
                <a:latin typeface="Roboto Slab" panose="020F0502020204030204" pitchFamily="2" charset="0"/>
              </a:rPr>
              <a:t>return </a:t>
            </a:r>
            <a:r>
              <a:rPr lang="en-US" b="0" i="0" dirty="0" err="1">
                <a:solidFill>
                  <a:srgbClr val="191919"/>
                </a:solidFill>
                <a:effectLst/>
                <a:latin typeface="Roboto Slab" panose="020F0502020204030204" pitchFamily="2" charset="0"/>
              </a:rPr>
              <a:t>bestValue</a:t>
            </a:r>
            <a:endParaRPr lang="en-US" dirty="0"/>
          </a:p>
        </p:txBody>
      </p:sp>
      <p:sp>
        <p:nvSpPr>
          <p:cNvPr id="4" name="Title 1">
            <a:extLst>
              <a:ext uri="{FF2B5EF4-FFF2-40B4-BE49-F238E27FC236}">
                <a16:creationId xmlns:a16="http://schemas.microsoft.com/office/drawing/2014/main" id="{C6740AC6-A499-696B-B4FE-D97AD4FEC700}"/>
              </a:ext>
            </a:extLst>
          </p:cNvPr>
          <p:cNvSpPr txBox="1">
            <a:spLocks/>
          </p:cNvSpPr>
          <p:nvPr/>
        </p:nvSpPr>
        <p:spPr>
          <a:xfrm>
            <a:off x="3088257" y="598100"/>
            <a:ext cx="7704667" cy="1981200"/>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Working mechanism</a:t>
            </a:r>
          </a:p>
        </p:txBody>
      </p:sp>
      <p:graphicFrame>
        <p:nvGraphicFramePr>
          <p:cNvPr id="9" name="Content Placeholder 2">
            <a:extLst>
              <a:ext uri="{FF2B5EF4-FFF2-40B4-BE49-F238E27FC236}">
                <a16:creationId xmlns:a16="http://schemas.microsoft.com/office/drawing/2014/main" id="{6B92A2C9-7288-F1E4-BEBA-CACA17EAD289}"/>
              </a:ext>
            </a:extLst>
          </p:cNvPr>
          <p:cNvGraphicFramePr/>
          <p:nvPr/>
        </p:nvGraphicFramePr>
        <p:xfrm>
          <a:off x="4748843" y="2439122"/>
          <a:ext cx="4232926" cy="4191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a:extLst>
              <a:ext uri="{FF2B5EF4-FFF2-40B4-BE49-F238E27FC236}">
                <a16:creationId xmlns:a16="http://schemas.microsoft.com/office/drawing/2014/main" id="{128B2556-1FA9-FB69-F4C8-152BDE6FDFEB}"/>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6452700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CDA85-BC95-70AA-CF30-EA16C3BE4BCF}"/>
              </a:ext>
            </a:extLst>
          </p:cNvPr>
          <p:cNvSpPr>
            <a:spLocks noGrp="1"/>
          </p:cNvSpPr>
          <p:nvPr>
            <p:ph type="title"/>
          </p:nvPr>
        </p:nvSpPr>
        <p:spPr>
          <a:xfrm>
            <a:off x="1008631" y="407874"/>
            <a:ext cx="7704667" cy="930728"/>
          </a:xfrm>
        </p:spPr>
        <p:txBody>
          <a:bodyPr/>
          <a:lstStyle/>
          <a:p>
            <a:r>
              <a:rPr lang="en-US" dirty="0"/>
              <a:t>Example</a:t>
            </a:r>
          </a:p>
        </p:txBody>
      </p:sp>
      <p:sp>
        <p:nvSpPr>
          <p:cNvPr id="85" name="Oval 84">
            <a:extLst>
              <a:ext uri="{FF2B5EF4-FFF2-40B4-BE49-F238E27FC236}">
                <a16:creationId xmlns:a16="http://schemas.microsoft.com/office/drawing/2014/main" id="{3B5221C6-0A30-7E85-43D0-955DD3D69D54}"/>
              </a:ext>
            </a:extLst>
          </p:cNvPr>
          <p:cNvSpPr/>
          <p:nvPr/>
        </p:nvSpPr>
        <p:spPr>
          <a:xfrm>
            <a:off x="3004457" y="2775856"/>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5933AAC6-3317-4024-E7A1-EABFF8E9AFEA}"/>
              </a:ext>
            </a:extLst>
          </p:cNvPr>
          <p:cNvSpPr/>
          <p:nvPr/>
        </p:nvSpPr>
        <p:spPr>
          <a:xfrm>
            <a:off x="4539345" y="2775856"/>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FCF49CED-FE08-ECC8-65ED-4569EEACB5C4}"/>
              </a:ext>
            </a:extLst>
          </p:cNvPr>
          <p:cNvSpPr/>
          <p:nvPr/>
        </p:nvSpPr>
        <p:spPr>
          <a:xfrm>
            <a:off x="3804557" y="1665514"/>
            <a:ext cx="800100" cy="800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Arrow Connector 88">
            <a:extLst>
              <a:ext uri="{FF2B5EF4-FFF2-40B4-BE49-F238E27FC236}">
                <a16:creationId xmlns:a16="http://schemas.microsoft.com/office/drawing/2014/main" id="{10EC2A99-0C63-8F08-93D6-9CFCA911E4B8}"/>
              </a:ext>
            </a:extLst>
          </p:cNvPr>
          <p:cNvCxnSpPr>
            <a:stCxn id="87" idx="2"/>
            <a:endCxn id="85" idx="7"/>
          </p:cNvCxnSpPr>
          <p:nvPr/>
        </p:nvCxnSpPr>
        <p:spPr>
          <a:xfrm flipH="1">
            <a:off x="3687385" y="2465614"/>
            <a:ext cx="517222" cy="42741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5D7A8809-9205-C8DF-D3A0-BBC3FA8432C9}"/>
              </a:ext>
            </a:extLst>
          </p:cNvPr>
          <p:cNvCxnSpPr>
            <a:cxnSpLocks/>
            <a:stCxn id="87" idx="2"/>
            <a:endCxn id="86" idx="1"/>
          </p:cNvCxnSpPr>
          <p:nvPr/>
        </p:nvCxnSpPr>
        <p:spPr>
          <a:xfrm>
            <a:off x="4204607" y="2465614"/>
            <a:ext cx="451910" cy="42741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93" name="Rectangle 92">
            <a:extLst>
              <a:ext uri="{FF2B5EF4-FFF2-40B4-BE49-F238E27FC236}">
                <a16:creationId xmlns:a16="http://schemas.microsoft.com/office/drawing/2014/main" id="{561C0490-7FAC-0C2D-06EE-1ABA372092CF}"/>
              </a:ext>
            </a:extLst>
          </p:cNvPr>
          <p:cNvSpPr/>
          <p:nvPr/>
        </p:nvSpPr>
        <p:spPr>
          <a:xfrm>
            <a:off x="1540324" y="3940628"/>
            <a:ext cx="800100" cy="800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97BF30A1-8528-D8EB-0BA7-2A01CD24B877}"/>
              </a:ext>
            </a:extLst>
          </p:cNvPr>
          <p:cNvSpPr/>
          <p:nvPr/>
        </p:nvSpPr>
        <p:spPr>
          <a:xfrm>
            <a:off x="3004457" y="3940628"/>
            <a:ext cx="800100" cy="800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B5E7E802-2377-E37C-F84B-5286C3040B61}"/>
              </a:ext>
            </a:extLst>
          </p:cNvPr>
          <p:cNvSpPr/>
          <p:nvPr/>
        </p:nvSpPr>
        <p:spPr>
          <a:xfrm>
            <a:off x="4539345" y="3940628"/>
            <a:ext cx="800100" cy="800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9A89602A-E184-E180-A35B-9D737841E587}"/>
              </a:ext>
            </a:extLst>
          </p:cNvPr>
          <p:cNvSpPr/>
          <p:nvPr/>
        </p:nvSpPr>
        <p:spPr>
          <a:xfrm>
            <a:off x="5856517" y="3940628"/>
            <a:ext cx="800100" cy="800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Arrow Connector 96">
            <a:extLst>
              <a:ext uri="{FF2B5EF4-FFF2-40B4-BE49-F238E27FC236}">
                <a16:creationId xmlns:a16="http://schemas.microsoft.com/office/drawing/2014/main" id="{9F5BEEA0-1418-D5CE-C250-E08CDF7971DF}"/>
              </a:ext>
            </a:extLst>
          </p:cNvPr>
          <p:cNvCxnSpPr>
            <a:cxnSpLocks/>
            <a:stCxn id="85" idx="3"/>
            <a:endCxn id="93" idx="3"/>
          </p:cNvCxnSpPr>
          <p:nvPr/>
        </p:nvCxnSpPr>
        <p:spPr>
          <a:xfrm flipH="1">
            <a:off x="2340424" y="3458784"/>
            <a:ext cx="781205" cy="88189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A62410C7-7A57-5DE8-2588-87C6C5E7BD43}"/>
              </a:ext>
            </a:extLst>
          </p:cNvPr>
          <p:cNvCxnSpPr>
            <a:cxnSpLocks/>
            <a:stCxn id="85" idx="4"/>
            <a:endCxn id="94" idx="0"/>
          </p:cNvCxnSpPr>
          <p:nvPr/>
        </p:nvCxnSpPr>
        <p:spPr>
          <a:xfrm>
            <a:off x="3404507" y="3575956"/>
            <a:ext cx="0" cy="364672"/>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03" name="Straight Arrow Connector 102">
            <a:extLst>
              <a:ext uri="{FF2B5EF4-FFF2-40B4-BE49-F238E27FC236}">
                <a16:creationId xmlns:a16="http://schemas.microsoft.com/office/drawing/2014/main" id="{E3AF798E-5501-F5AC-6CAB-02C0EAE444EC}"/>
              </a:ext>
            </a:extLst>
          </p:cNvPr>
          <p:cNvCxnSpPr>
            <a:cxnSpLocks/>
            <a:stCxn id="86" idx="4"/>
            <a:endCxn id="95" idx="0"/>
          </p:cNvCxnSpPr>
          <p:nvPr/>
        </p:nvCxnSpPr>
        <p:spPr>
          <a:xfrm>
            <a:off x="4939395" y="3575956"/>
            <a:ext cx="0" cy="364672"/>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D12E3074-3646-D2E4-3019-9F0EE622687C}"/>
              </a:ext>
            </a:extLst>
          </p:cNvPr>
          <p:cNvCxnSpPr>
            <a:cxnSpLocks/>
            <a:stCxn id="86" idx="5"/>
            <a:endCxn id="96" idx="1"/>
          </p:cNvCxnSpPr>
          <p:nvPr/>
        </p:nvCxnSpPr>
        <p:spPr>
          <a:xfrm>
            <a:off x="5222273" y="3458784"/>
            <a:ext cx="634244" cy="88189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09" name="Oval 108">
            <a:extLst>
              <a:ext uri="{FF2B5EF4-FFF2-40B4-BE49-F238E27FC236}">
                <a16:creationId xmlns:a16="http://schemas.microsoft.com/office/drawing/2014/main" id="{6E568C73-FA9A-7F0D-9CB2-6212DA0E646B}"/>
              </a:ext>
            </a:extLst>
          </p:cNvPr>
          <p:cNvSpPr/>
          <p:nvPr/>
        </p:nvSpPr>
        <p:spPr>
          <a:xfrm>
            <a:off x="208531" y="5304252"/>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10" name="Oval 109">
            <a:extLst>
              <a:ext uri="{FF2B5EF4-FFF2-40B4-BE49-F238E27FC236}">
                <a16:creationId xmlns:a16="http://schemas.microsoft.com/office/drawing/2014/main" id="{D5DDEC2B-B5F3-658D-97CE-0BAD4AADCC02}"/>
              </a:ext>
            </a:extLst>
          </p:cNvPr>
          <p:cNvSpPr/>
          <p:nvPr/>
        </p:nvSpPr>
        <p:spPr>
          <a:xfrm>
            <a:off x="1203574" y="5320581"/>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11" name="Oval 110">
            <a:extLst>
              <a:ext uri="{FF2B5EF4-FFF2-40B4-BE49-F238E27FC236}">
                <a16:creationId xmlns:a16="http://schemas.microsoft.com/office/drawing/2014/main" id="{747DCE0F-426C-F012-7646-D791155D12F1}"/>
              </a:ext>
            </a:extLst>
          </p:cNvPr>
          <p:cNvSpPr/>
          <p:nvPr/>
        </p:nvSpPr>
        <p:spPr>
          <a:xfrm>
            <a:off x="2133301" y="5334376"/>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112" name="Oval 111">
            <a:extLst>
              <a:ext uri="{FF2B5EF4-FFF2-40B4-BE49-F238E27FC236}">
                <a16:creationId xmlns:a16="http://schemas.microsoft.com/office/drawing/2014/main" id="{74FB593A-45CA-D00F-3FBE-804F9DAAF1FA}"/>
              </a:ext>
            </a:extLst>
          </p:cNvPr>
          <p:cNvSpPr/>
          <p:nvPr/>
        </p:nvSpPr>
        <p:spPr>
          <a:xfrm>
            <a:off x="3095686" y="5315137"/>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13" name="Oval 112">
            <a:extLst>
              <a:ext uri="{FF2B5EF4-FFF2-40B4-BE49-F238E27FC236}">
                <a16:creationId xmlns:a16="http://schemas.microsoft.com/office/drawing/2014/main" id="{13A18089-B2CD-2E40-4EF2-101F1DF5A3A8}"/>
              </a:ext>
            </a:extLst>
          </p:cNvPr>
          <p:cNvSpPr/>
          <p:nvPr/>
        </p:nvSpPr>
        <p:spPr>
          <a:xfrm>
            <a:off x="4060864" y="5334376"/>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14" name="Oval 113">
            <a:extLst>
              <a:ext uri="{FF2B5EF4-FFF2-40B4-BE49-F238E27FC236}">
                <a16:creationId xmlns:a16="http://schemas.microsoft.com/office/drawing/2014/main" id="{A80F6AED-89ED-3925-B7EC-4BF02CA6F066}"/>
              </a:ext>
            </a:extLst>
          </p:cNvPr>
          <p:cNvSpPr/>
          <p:nvPr/>
        </p:nvSpPr>
        <p:spPr>
          <a:xfrm>
            <a:off x="5020456" y="5334376"/>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15" name="Oval 114">
            <a:extLst>
              <a:ext uri="{FF2B5EF4-FFF2-40B4-BE49-F238E27FC236}">
                <a16:creationId xmlns:a16="http://schemas.microsoft.com/office/drawing/2014/main" id="{D49634A7-3227-093E-7C7D-597212994838}"/>
              </a:ext>
            </a:extLst>
          </p:cNvPr>
          <p:cNvSpPr/>
          <p:nvPr/>
        </p:nvSpPr>
        <p:spPr>
          <a:xfrm>
            <a:off x="6048314" y="5323491"/>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16" name="Oval 115">
            <a:extLst>
              <a:ext uri="{FF2B5EF4-FFF2-40B4-BE49-F238E27FC236}">
                <a16:creationId xmlns:a16="http://schemas.microsoft.com/office/drawing/2014/main" id="{D458955B-B54D-12B2-3C19-8FC05DA9A9FF}"/>
              </a:ext>
            </a:extLst>
          </p:cNvPr>
          <p:cNvSpPr/>
          <p:nvPr/>
        </p:nvSpPr>
        <p:spPr>
          <a:xfrm>
            <a:off x="7010699" y="5304252"/>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17" name="Oval 116">
            <a:extLst>
              <a:ext uri="{FF2B5EF4-FFF2-40B4-BE49-F238E27FC236}">
                <a16:creationId xmlns:a16="http://schemas.microsoft.com/office/drawing/2014/main" id="{840C158C-C934-CE63-E2DF-060BC5E31D17}"/>
              </a:ext>
            </a:extLst>
          </p:cNvPr>
          <p:cNvSpPr/>
          <p:nvPr/>
        </p:nvSpPr>
        <p:spPr>
          <a:xfrm>
            <a:off x="7975877" y="5323491"/>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cxnSp>
        <p:nvCxnSpPr>
          <p:cNvPr id="119" name="Straight Arrow Connector 118">
            <a:extLst>
              <a:ext uri="{FF2B5EF4-FFF2-40B4-BE49-F238E27FC236}">
                <a16:creationId xmlns:a16="http://schemas.microsoft.com/office/drawing/2014/main" id="{E99FC742-6A83-9C13-4280-F9B960D723E2}"/>
              </a:ext>
            </a:extLst>
          </p:cNvPr>
          <p:cNvCxnSpPr>
            <a:cxnSpLocks/>
            <a:stCxn id="93" idx="2"/>
            <a:endCxn id="109" idx="7"/>
          </p:cNvCxnSpPr>
          <p:nvPr/>
        </p:nvCxnSpPr>
        <p:spPr>
          <a:xfrm flipH="1">
            <a:off x="891459" y="4740728"/>
            <a:ext cx="1048915" cy="680696"/>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026094CB-73DD-64F7-4814-B8B14E80AD11}"/>
              </a:ext>
            </a:extLst>
          </p:cNvPr>
          <p:cNvCxnSpPr>
            <a:cxnSpLocks/>
            <a:stCxn id="93" idx="2"/>
            <a:endCxn id="110" idx="0"/>
          </p:cNvCxnSpPr>
          <p:nvPr/>
        </p:nvCxnSpPr>
        <p:spPr>
          <a:xfrm flipH="1">
            <a:off x="1603624" y="4740728"/>
            <a:ext cx="336750" cy="5798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25" name="Straight Arrow Connector 124">
            <a:extLst>
              <a:ext uri="{FF2B5EF4-FFF2-40B4-BE49-F238E27FC236}">
                <a16:creationId xmlns:a16="http://schemas.microsoft.com/office/drawing/2014/main" id="{235C5032-3C91-A5EE-EF0F-4386A1B24DD6}"/>
              </a:ext>
            </a:extLst>
          </p:cNvPr>
          <p:cNvCxnSpPr>
            <a:cxnSpLocks/>
            <a:stCxn id="93" idx="2"/>
            <a:endCxn id="111" idx="0"/>
          </p:cNvCxnSpPr>
          <p:nvPr/>
        </p:nvCxnSpPr>
        <p:spPr>
          <a:xfrm>
            <a:off x="1940374" y="4740728"/>
            <a:ext cx="592977" cy="59364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28" name="Straight Arrow Connector 127">
            <a:extLst>
              <a:ext uri="{FF2B5EF4-FFF2-40B4-BE49-F238E27FC236}">
                <a16:creationId xmlns:a16="http://schemas.microsoft.com/office/drawing/2014/main" id="{47BF477B-CA2D-43CF-D5DC-D77B070C4AD5}"/>
              </a:ext>
            </a:extLst>
          </p:cNvPr>
          <p:cNvCxnSpPr>
            <a:cxnSpLocks/>
            <a:stCxn id="94" idx="2"/>
            <a:endCxn id="112" idx="0"/>
          </p:cNvCxnSpPr>
          <p:nvPr/>
        </p:nvCxnSpPr>
        <p:spPr>
          <a:xfrm>
            <a:off x="3404507" y="4740728"/>
            <a:ext cx="91229" cy="574409"/>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31" name="Straight Arrow Connector 130">
            <a:extLst>
              <a:ext uri="{FF2B5EF4-FFF2-40B4-BE49-F238E27FC236}">
                <a16:creationId xmlns:a16="http://schemas.microsoft.com/office/drawing/2014/main" id="{84A12FCF-3E74-4090-1A70-1E3EF6D8A43C}"/>
              </a:ext>
            </a:extLst>
          </p:cNvPr>
          <p:cNvCxnSpPr>
            <a:cxnSpLocks/>
            <a:stCxn id="95" idx="2"/>
            <a:endCxn id="113" idx="0"/>
          </p:cNvCxnSpPr>
          <p:nvPr/>
        </p:nvCxnSpPr>
        <p:spPr>
          <a:xfrm flipH="1">
            <a:off x="4460914" y="4740728"/>
            <a:ext cx="478481" cy="59364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34" name="Straight Arrow Connector 133">
            <a:extLst>
              <a:ext uri="{FF2B5EF4-FFF2-40B4-BE49-F238E27FC236}">
                <a16:creationId xmlns:a16="http://schemas.microsoft.com/office/drawing/2014/main" id="{60F2279F-D9A5-349C-EC85-8059FC772871}"/>
              </a:ext>
            </a:extLst>
          </p:cNvPr>
          <p:cNvCxnSpPr>
            <a:cxnSpLocks/>
            <a:stCxn id="95" idx="2"/>
            <a:endCxn id="114" idx="0"/>
          </p:cNvCxnSpPr>
          <p:nvPr/>
        </p:nvCxnSpPr>
        <p:spPr>
          <a:xfrm>
            <a:off x="4939395" y="4740728"/>
            <a:ext cx="481111" cy="59364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37" name="Straight Arrow Connector 136">
            <a:extLst>
              <a:ext uri="{FF2B5EF4-FFF2-40B4-BE49-F238E27FC236}">
                <a16:creationId xmlns:a16="http://schemas.microsoft.com/office/drawing/2014/main" id="{C8F3237C-1D4F-C40A-61AB-213B334A7539}"/>
              </a:ext>
            </a:extLst>
          </p:cNvPr>
          <p:cNvCxnSpPr>
            <a:cxnSpLocks/>
            <a:stCxn id="96" idx="2"/>
            <a:endCxn id="115" idx="0"/>
          </p:cNvCxnSpPr>
          <p:nvPr/>
        </p:nvCxnSpPr>
        <p:spPr>
          <a:xfrm>
            <a:off x="6256567" y="4740728"/>
            <a:ext cx="191797" cy="58276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43" name="Straight Arrow Connector 142">
            <a:extLst>
              <a:ext uri="{FF2B5EF4-FFF2-40B4-BE49-F238E27FC236}">
                <a16:creationId xmlns:a16="http://schemas.microsoft.com/office/drawing/2014/main" id="{294F0D97-B2D2-AFBA-F024-ED4EE38F35B1}"/>
              </a:ext>
            </a:extLst>
          </p:cNvPr>
          <p:cNvCxnSpPr>
            <a:cxnSpLocks/>
            <a:stCxn id="96" idx="2"/>
            <a:endCxn id="117" idx="0"/>
          </p:cNvCxnSpPr>
          <p:nvPr/>
        </p:nvCxnSpPr>
        <p:spPr>
          <a:xfrm>
            <a:off x="6256567" y="4740728"/>
            <a:ext cx="2119360" cy="58276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46" name="Straight Arrow Connector 145">
            <a:extLst>
              <a:ext uri="{FF2B5EF4-FFF2-40B4-BE49-F238E27FC236}">
                <a16:creationId xmlns:a16="http://schemas.microsoft.com/office/drawing/2014/main" id="{B401DC68-0D6F-BAC1-0928-B4578A57B5B4}"/>
              </a:ext>
            </a:extLst>
          </p:cNvPr>
          <p:cNvCxnSpPr>
            <a:cxnSpLocks/>
            <a:stCxn id="96" idx="2"/>
            <a:endCxn id="116" idx="0"/>
          </p:cNvCxnSpPr>
          <p:nvPr/>
        </p:nvCxnSpPr>
        <p:spPr>
          <a:xfrm>
            <a:off x="6256567" y="4740728"/>
            <a:ext cx="1154182" cy="56352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51" name="TextBox 150">
            <a:extLst>
              <a:ext uri="{FF2B5EF4-FFF2-40B4-BE49-F238E27FC236}">
                <a16:creationId xmlns:a16="http://schemas.microsoft.com/office/drawing/2014/main" id="{6CE69C28-31EC-DDD0-A54C-861DF2C0158A}"/>
              </a:ext>
            </a:extLst>
          </p:cNvPr>
          <p:cNvSpPr txBox="1"/>
          <p:nvPr/>
        </p:nvSpPr>
        <p:spPr>
          <a:xfrm>
            <a:off x="5442576" y="1687897"/>
            <a:ext cx="654346" cy="369332"/>
          </a:xfrm>
          <a:prstGeom prst="rect">
            <a:avLst/>
          </a:prstGeom>
          <a:noFill/>
        </p:spPr>
        <p:txBody>
          <a:bodyPr wrap="none" rtlCol="0">
            <a:spAutoFit/>
          </a:bodyPr>
          <a:lstStyle/>
          <a:p>
            <a:r>
              <a:rPr lang="en-US" dirty="0"/>
              <a:t>MAX</a:t>
            </a:r>
          </a:p>
        </p:txBody>
      </p:sp>
      <p:sp>
        <p:nvSpPr>
          <p:cNvPr id="152" name="TextBox 151">
            <a:extLst>
              <a:ext uri="{FF2B5EF4-FFF2-40B4-BE49-F238E27FC236}">
                <a16:creationId xmlns:a16="http://schemas.microsoft.com/office/drawing/2014/main" id="{002A3C57-044D-050D-6385-DDF4C714BF8B}"/>
              </a:ext>
            </a:extLst>
          </p:cNvPr>
          <p:cNvSpPr txBox="1"/>
          <p:nvPr/>
        </p:nvSpPr>
        <p:spPr>
          <a:xfrm>
            <a:off x="7102014" y="4097125"/>
            <a:ext cx="654346" cy="369332"/>
          </a:xfrm>
          <a:prstGeom prst="rect">
            <a:avLst/>
          </a:prstGeom>
          <a:noFill/>
        </p:spPr>
        <p:txBody>
          <a:bodyPr wrap="none" rtlCol="0">
            <a:spAutoFit/>
          </a:bodyPr>
          <a:lstStyle/>
          <a:p>
            <a:r>
              <a:rPr lang="en-US" dirty="0"/>
              <a:t>MAX</a:t>
            </a:r>
          </a:p>
        </p:txBody>
      </p:sp>
      <p:sp>
        <p:nvSpPr>
          <p:cNvPr id="153" name="TextBox 152">
            <a:extLst>
              <a:ext uri="{FF2B5EF4-FFF2-40B4-BE49-F238E27FC236}">
                <a16:creationId xmlns:a16="http://schemas.microsoft.com/office/drawing/2014/main" id="{597DF780-2A66-BD5D-C79E-D5A46DC96E6B}"/>
              </a:ext>
            </a:extLst>
          </p:cNvPr>
          <p:cNvSpPr txBox="1"/>
          <p:nvPr/>
        </p:nvSpPr>
        <p:spPr>
          <a:xfrm>
            <a:off x="5794018" y="2901003"/>
            <a:ext cx="590226" cy="369332"/>
          </a:xfrm>
          <a:prstGeom prst="rect">
            <a:avLst/>
          </a:prstGeom>
          <a:noFill/>
        </p:spPr>
        <p:txBody>
          <a:bodyPr wrap="none" rtlCol="0">
            <a:spAutoFit/>
          </a:bodyPr>
          <a:lstStyle/>
          <a:p>
            <a:r>
              <a:rPr lang="en-US" dirty="0"/>
              <a:t>MIN</a:t>
            </a:r>
          </a:p>
        </p:txBody>
      </p:sp>
      <p:sp>
        <p:nvSpPr>
          <p:cNvPr id="3" name="Footer Placeholder 2">
            <a:extLst>
              <a:ext uri="{FF2B5EF4-FFF2-40B4-BE49-F238E27FC236}">
                <a16:creationId xmlns:a16="http://schemas.microsoft.com/office/drawing/2014/main" id="{BB7F3DE4-E227-C98A-5685-BB469798953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2716439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F1174-A44F-5F9A-124D-5F4EB1C66C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D69833-AB6C-78DB-49A3-D49D343CE7FE}"/>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4E331F4-9D41-0411-F835-E5CD30987E62}"/>
              </a:ext>
            </a:extLst>
          </p:cNvPr>
          <p:cNvPicPr>
            <a:picLocks noChangeAspect="1"/>
          </p:cNvPicPr>
          <p:nvPr/>
        </p:nvPicPr>
        <p:blipFill>
          <a:blip r:embed="rId3"/>
          <a:stretch>
            <a:fillRect/>
          </a:stretch>
        </p:blipFill>
        <p:spPr>
          <a:xfrm>
            <a:off x="-891766" y="-1"/>
            <a:ext cx="10927531" cy="7424057"/>
          </a:xfrm>
          <a:prstGeom prst="rect">
            <a:avLst/>
          </a:prstGeom>
        </p:spPr>
      </p:pic>
      <p:sp>
        <p:nvSpPr>
          <p:cNvPr id="5" name="Footer Placeholder 4">
            <a:extLst>
              <a:ext uri="{FF2B5EF4-FFF2-40B4-BE49-F238E27FC236}">
                <a16:creationId xmlns:a16="http://schemas.microsoft.com/office/drawing/2014/main" id="{A9F8FC5C-C1C7-F9B3-77CC-12592458E3F1}"/>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3006938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28A66-08FC-B246-3B64-9A38F682BD53}"/>
              </a:ext>
            </a:extLst>
          </p:cNvPr>
          <p:cNvSpPr>
            <a:spLocks noGrp="1"/>
          </p:cNvSpPr>
          <p:nvPr>
            <p:ph type="title"/>
          </p:nvPr>
        </p:nvSpPr>
        <p:spPr/>
        <p:txBody>
          <a:bodyPr/>
          <a:lstStyle/>
          <a:p>
            <a:r>
              <a:rPr lang="en-US" dirty="0"/>
              <a:t>Alpha-Beta Pruning</a:t>
            </a:r>
          </a:p>
        </p:txBody>
      </p:sp>
      <p:sp>
        <p:nvSpPr>
          <p:cNvPr id="3" name="Content Placeholder 2">
            <a:extLst>
              <a:ext uri="{FF2B5EF4-FFF2-40B4-BE49-F238E27FC236}">
                <a16:creationId xmlns:a16="http://schemas.microsoft.com/office/drawing/2014/main" id="{6798B808-345B-F886-39DF-02A7FD9A592A}"/>
              </a:ext>
            </a:extLst>
          </p:cNvPr>
          <p:cNvSpPr>
            <a:spLocks noGrp="1"/>
          </p:cNvSpPr>
          <p:nvPr>
            <p:ph idx="1"/>
          </p:nvPr>
        </p:nvSpPr>
        <p:spPr/>
        <p:txBody>
          <a:bodyPr>
            <a:normAutofit fontScale="92500" lnSpcReduction="20000"/>
          </a:bodyPr>
          <a:lstStyle/>
          <a:p>
            <a:r>
              <a:rPr lang="en-US" dirty="0"/>
              <a:t>Minimax is computationally expensive</a:t>
            </a:r>
          </a:p>
          <a:p>
            <a:r>
              <a:rPr lang="en-US" dirty="0"/>
              <a:t>Advance version of min max.</a:t>
            </a:r>
          </a:p>
          <a:p>
            <a:pPr marL="0" indent="0">
              <a:buNone/>
            </a:pPr>
            <a:r>
              <a:rPr lang="en-US" dirty="0"/>
              <a:t>Solution:</a:t>
            </a:r>
          </a:p>
          <a:p>
            <a:pPr lvl="1"/>
            <a:r>
              <a:rPr lang="en-US" dirty="0"/>
              <a:t>Prune branches that won’t affect decisions.</a:t>
            </a:r>
          </a:p>
          <a:p>
            <a:r>
              <a:rPr lang="en-US" dirty="0"/>
              <a:t>Key Concepts:</a:t>
            </a:r>
          </a:p>
          <a:p>
            <a:pPr lvl="1"/>
            <a:r>
              <a:rPr lang="en-US" dirty="0"/>
              <a:t>Alpha (maximizer's guarantee) and Beta (minimizer's guarantee).</a:t>
            </a:r>
          </a:p>
          <a:p>
            <a:r>
              <a:rPr lang="en-US" dirty="0"/>
              <a:t>Result:</a:t>
            </a:r>
          </a:p>
          <a:p>
            <a:pPr lvl="1"/>
            <a:r>
              <a:rPr lang="en-US" dirty="0"/>
              <a:t>Improved efficiency.</a:t>
            </a:r>
          </a:p>
          <a:p>
            <a:endParaRPr lang="en-US" dirty="0"/>
          </a:p>
        </p:txBody>
      </p:sp>
      <p:sp>
        <p:nvSpPr>
          <p:cNvPr id="4" name="Footer Placeholder 3">
            <a:extLst>
              <a:ext uri="{FF2B5EF4-FFF2-40B4-BE49-F238E27FC236}">
                <a16:creationId xmlns:a16="http://schemas.microsoft.com/office/drawing/2014/main" id="{CBBFCBDC-E9AB-87CA-DB3F-86C0543D9E69}"/>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4453710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3F9A52E-0B18-8623-7058-F6F78ABC7226}"/>
              </a:ext>
            </a:extLst>
          </p:cNvPr>
          <p:cNvSpPr txBox="1">
            <a:spLocks/>
          </p:cNvSpPr>
          <p:nvPr/>
        </p:nvSpPr>
        <p:spPr>
          <a:xfrm>
            <a:off x="1008631" y="407874"/>
            <a:ext cx="7704667" cy="930728"/>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Example</a:t>
            </a:r>
            <a:endParaRPr lang="en-US" dirty="0"/>
          </a:p>
        </p:txBody>
      </p:sp>
      <p:sp>
        <p:nvSpPr>
          <p:cNvPr id="5" name="Oval 4">
            <a:extLst>
              <a:ext uri="{FF2B5EF4-FFF2-40B4-BE49-F238E27FC236}">
                <a16:creationId xmlns:a16="http://schemas.microsoft.com/office/drawing/2014/main" id="{1932A15D-A485-90AF-E50A-904561C74575}"/>
              </a:ext>
            </a:extLst>
          </p:cNvPr>
          <p:cNvSpPr/>
          <p:nvPr/>
        </p:nvSpPr>
        <p:spPr>
          <a:xfrm>
            <a:off x="3004457" y="2775856"/>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64A115E-D284-4EAE-89DE-2A0B530FE41B}"/>
              </a:ext>
            </a:extLst>
          </p:cNvPr>
          <p:cNvSpPr/>
          <p:nvPr/>
        </p:nvSpPr>
        <p:spPr>
          <a:xfrm>
            <a:off x="4539345" y="2775856"/>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565A38E-A477-9765-5127-7C8ABFAA652B}"/>
              </a:ext>
            </a:extLst>
          </p:cNvPr>
          <p:cNvSpPr/>
          <p:nvPr/>
        </p:nvSpPr>
        <p:spPr>
          <a:xfrm>
            <a:off x="3804557" y="1665514"/>
            <a:ext cx="800100" cy="800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DA65E32-3999-DFA3-630B-3055EFBF9E7A}"/>
              </a:ext>
            </a:extLst>
          </p:cNvPr>
          <p:cNvCxnSpPr>
            <a:stCxn id="7" idx="2"/>
            <a:endCxn id="5" idx="7"/>
          </p:cNvCxnSpPr>
          <p:nvPr/>
        </p:nvCxnSpPr>
        <p:spPr>
          <a:xfrm flipH="1">
            <a:off x="3687385" y="2465614"/>
            <a:ext cx="517222" cy="42741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CAB08518-5C7C-BBCC-EC18-D87D35945741}"/>
              </a:ext>
            </a:extLst>
          </p:cNvPr>
          <p:cNvCxnSpPr>
            <a:cxnSpLocks/>
            <a:stCxn id="7" idx="2"/>
            <a:endCxn id="6" idx="1"/>
          </p:cNvCxnSpPr>
          <p:nvPr/>
        </p:nvCxnSpPr>
        <p:spPr>
          <a:xfrm>
            <a:off x="4204607" y="2465614"/>
            <a:ext cx="451910" cy="42741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5D775EB2-65CD-9778-319B-37EF12E8F016}"/>
              </a:ext>
            </a:extLst>
          </p:cNvPr>
          <p:cNvSpPr/>
          <p:nvPr/>
        </p:nvSpPr>
        <p:spPr>
          <a:xfrm>
            <a:off x="1540324" y="3940628"/>
            <a:ext cx="800100" cy="800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AB046FE-A304-8F14-DB69-EDAA5094AD92}"/>
              </a:ext>
            </a:extLst>
          </p:cNvPr>
          <p:cNvSpPr/>
          <p:nvPr/>
        </p:nvSpPr>
        <p:spPr>
          <a:xfrm>
            <a:off x="3004457" y="3940628"/>
            <a:ext cx="800100" cy="800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387C0F0-5117-0768-EAC6-80BD8094D123}"/>
              </a:ext>
            </a:extLst>
          </p:cNvPr>
          <p:cNvSpPr/>
          <p:nvPr/>
        </p:nvSpPr>
        <p:spPr>
          <a:xfrm>
            <a:off x="4539345" y="3940628"/>
            <a:ext cx="800100" cy="800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2A4B27C-247C-7776-F118-B6A2BBC84271}"/>
              </a:ext>
            </a:extLst>
          </p:cNvPr>
          <p:cNvSpPr/>
          <p:nvPr/>
        </p:nvSpPr>
        <p:spPr>
          <a:xfrm>
            <a:off x="5856517" y="3940628"/>
            <a:ext cx="800100" cy="800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BAAA3C56-D3FB-BE11-17AA-10912D596F3B}"/>
              </a:ext>
            </a:extLst>
          </p:cNvPr>
          <p:cNvCxnSpPr>
            <a:cxnSpLocks/>
            <a:stCxn id="5" idx="3"/>
            <a:endCxn id="10" idx="3"/>
          </p:cNvCxnSpPr>
          <p:nvPr/>
        </p:nvCxnSpPr>
        <p:spPr>
          <a:xfrm flipH="1">
            <a:off x="2340424" y="3458784"/>
            <a:ext cx="781205" cy="88189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77C98778-C7BF-6FF1-A0C0-5371CA4770A0}"/>
              </a:ext>
            </a:extLst>
          </p:cNvPr>
          <p:cNvCxnSpPr>
            <a:cxnSpLocks/>
            <a:stCxn id="5" idx="4"/>
            <a:endCxn id="11" idx="0"/>
          </p:cNvCxnSpPr>
          <p:nvPr/>
        </p:nvCxnSpPr>
        <p:spPr>
          <a:xfrm>
            <a:off x="3404507" y="3575956"/>
            <a:ext cx="0" cy="364672"/>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FBC4718B-1DD4-1EB1-A21E-54433A1D5D40}"/>
              </a:ext>
            </a:extLst>
          </p:cNvPr>
          <p:cNvCxnSpPr>
            <a:cxnSpLocks/>
            <a:stCxn id="6" idx="4"/>
            <a:endCxn id="12" idx="0"/>
          </p:cNvCxnSpPr>
          <p:nvPr/>
        </p:nvCxnSpPr>
        <p:spPr>
          <a:xfrm>
            <a:off x="4939395" y="3575956"/>
            <a:ext cx="0" cy="364672"/>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389D3564-C41D-CB52-8C59-83B510639717}"/>
              </a:ext>
            </a:extLst>
          </p:cNvPr>
          <p:cNvCxnSpPr>
            <a:cxnSpLocks/>
            <a:stCxn id="6" idx="5"/>
            <a:endCxn id="13" idx="1"/>
          </p:cNvCxnSpPr>
          <p:nvPr/>
        </p:nvCxnSpPr>
        <p:spPr>
          <a:xfrm>
            <a:off x="5222273" y="3458784"/>
            <a:ext cx="634244" cy="88189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E62FAA29-04D1-48CE-6243-E38A3ACEBF68}"/>
              </a:ext>
            </a:extLst>
          </p:cNvPr>
          <p:cNvSpPr/>
          <p:nvPr/>
        </p:nvSpPr>
        <p:spPr>
          <a:xfrm>
            <a:off x="208531" y="5304252"/>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9" name="Oval 18">
            <a:extLst>
              <a:ext uri="{FF2B5EF4-FFF2-40B4-BE49-F238E27FC236}">
                <a16:creationId xmlns:a16="http://schemas.microsoft.com/office/drawing/2014/main" id="{877198F5-DF5E-F57C-B193-A334CC33DBE8}"/>
              </a:ext>
            </a:extLst>
          </p:cNvPr>
          <p:cNvSpPr/>
          <p:nvPr/>
        </p:nvSpPr>
        <p:spPr>
          <a:xfrm>
            <a:off x="1203574" y="5320581"/>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0" name="Oval 19">
            <a:extLst>
              <a:ext uri="{FF2B5EF4-FFF2-40B4-BE49-F238E27FC236}">
                <a16:creationId xmlns:a16="http://schemas.microsoft.com/office/drawing/2014/main" id="{3A32E4B6-7306-05BF-A99F-E83148512E01}"/>
              </a:ext>
            </a:extLst>
          </p:cNvPr>
          <p:cNvSpPr/>
          <p:nvPr/>
        </p:nvSpPr>
        <p:spPr>
          <a:xfrm>
            <a:off x="2133301" y="5334376"/>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21" name="Oval 20">
            <a:extLst>
              <a:ext uri="{FF2B5EF4-FFF2-40B4-BE49-F238E27FC236}">
                <a16:creationId xmlns:a16="http://schemas.microsoft.com/office/drawing/2014/main" id="{EC79AA19-F506-34CA-2E08-212078DB1D3D}"/>
              </a:ext>
            </a:extLst>
          </p:cNvPr>
          <p:cNvSpPr/>
          <p:nvPr/>
        </p:nvSpPr>
        <p:spPr>
          <a:xfrm>
            <a:off x="3095686" y="5315137"/>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2" name="Oval 21">
            <a:extLst>
              <a:ext uri="{FF2B5EF4-FFF2-40B4-BE49-F238E27FC236}">
                <a16:creationId xmlns:a16="http://schemas.microsoft.com/office/drawing/2014/main" id="{8EC6CFB8-2504-7D98-F3CE-BA93C533A1D2}"/>
              </a:ext>
            </a:extLst>
          </p:cNvPr>
          <p:cNvSpPr/>
          <p:nvPr/>
        </p:nvSpPr>
        <p:spPr>
          <a:xfrm>
            <a:off x="4060864" y="5334376"/>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3" name="Oval 22">
            <a:extLst>
              <a:ext uri="{FF2B5EF4-FFF2-40B4-BE49-F238E27FC236}">
                <a16:creationId xmlns:a16="http://schemas.microsoft.com/office/drawing/2014/main" id="{619702D9-F63A-0DCC-69E5-9996286350A3}"/>
              </a:ext>
            </a:extLst>
          </p:cNvPr>
          <p:cNvSpPr/>
          <p:nvPr/>
        </p:nvSpPr>
        <p:spPr>
          <a:xfrm>
            <a:off x="5020456" y="5334376"/>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4" name="Oval 23">
            <a:extLst>
              <a:ext uri="{FF2B5EF4-FFF2-40B4-BE49-F238E27FC236}">
                <a16:creationId xmlns:a16="http://schemas.microsoft.com/office/drawing/2014/main" id="{720F3467-2C6C-0E36-AB2C-0333B9A5ABC3}"/>
              </a:ext>
            </a:extLst>
          </p:cNvPr>
          <p:cNvSpPr/>
          <p:nvPr/>
        </p:nvSpPr>
        <p:spPr>
          <a:xfrm>
            <a:off x="6048314" y="5323491"/>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5" name="Oval 24">
            <a:extLst>
              <a:ext uri="{FF2B5EF4-FFF2-40B4-BE49-F238E27FC236}">
                <a16:creationId xmlns:a16="http://schemas.microsoft.com/office/drawing/2014/main" id="{EE13524A-939A-9CAA-E639-038D1FEB19FD}"/>
              </a:ext>
            </a:extLst>
          </p:cNvPr>
          <p:cNvSpPr/>
          <p:nvPr/>
        </p:nvSpPr>
        <p:spPr>
          <a:xfrm>
            <a:off x="7010699" y="5304252"/>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6" name="Oval 25">
            <a:extLst>
              <a:ext uri="{FF2B5EF4-FFF2-40B4-BE49-F238E27FC236}">
                <a16:creationId xmlns:a16="http://schemas.microsoft.com/office/drawing/2014/main" id="{96AF72B6-9359-957D-E87D-431204709BCD}"/>
              </a:ext>
            </a:extLst>
          </p:cNvPr>
          <p:cNvSpPr/>
          <p:nvPr/>
        </p:nvSpPr>
        <p:spPr>
          <a:xfrm>
            <a:off x="7975877" y="5323491"/>
            <a:ext cx="800100" cy="8001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cxnSp>
        <p:nvCxnSpPr>
          <p:cNvPr id="27" name="Straight Arrow Connector 26">
            <a:extLst>
              <a:ext uri="{FF2B5EF4-FFF2-40B4-BE49-F238E27FC236}">
                <a16:creationId xmlns:a16="http://schemas.microsoft.com/office/drawing/2014/main" id="{1504B4C8-CC33-9A40-AD26-40C8C134916B}"/>
              </a:ext>
            </a:extLst>
          </p:cNvPr>
          <p:cNvCxnSpPr>
            <a:cxnSpLocks/>
            <a:stCxn id="10" idx="2"/>
            <a:endCxn id="18" idx="7"/>
          </p:cNvCxnSpPr>
          <p:nvPr/>
        </p:nvCxnSpPr>
        <p:spPr>
          <a:xfrm flipH="1">
            <a:off x="891459" y="4740728"/>
            <a:ext cx="1048915" cy="680696"/>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2D261A32-1C35-FD42-086D-0382859B3E7F}"/>
              </a:ext>
            </a:extLst>
          </p:cNvPr>
          <p:cNvCxnSpPr>
            <a:cxnSpLocks/>
            <a:stCxn id="10" idx="2"/>
            <a:endCxn id="19" idx="0"/>
          </p:cNvCxnSpPr>
          <p:nvPr/>
        </p:nvCxnSpPr>
        <p:spPr>
          <a:xfrm flipH="1">
            <a:off x="1603624" y="4740728"/>
            <a:ext cx="336750" cy="5798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15E6D243-8C68-EF87-5CB0-1AF6822CD6F6}"/>
              </a:ext>
            </a:extLst>
          </p:cNvPr>
          <p:cNvCxnSpPr>
            <a:cxnSpLocks/>
            <a:stCxn id="10" idx="2"/>
            <a:endCxn id="20" idx="0"/>
          </p:cNvCxnSpPr>
          <p:nvPr/>
        </p:nvCxnSpPr>
        <p:spPr>
          <a:xfrm>
            <a:off x="1940374" y="4740728"/>
            <a:ext cx="592977" cy="59364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0AC0FEFA-90DE-BDD2-3896-8FE5E524DF78}"/>
              </a:ext>
            </a:extLst>
          </p:cNvPr>
          <p:cNvCxnSpPr>
            <a:cxnSpLocks/>
            <a:stCxn id="11" idx="2"/>
            <a:endCxn id="21" idx="0"/>
          </p:cNvCxnSpPr>
          <p:nvPr/>
        </p:nvCxnSpPr>
        <p:spPr>
          <a:xfrm>
            <a:off x="3404507" y="4740728"/>
            <a:ext cx="91229" cy="574409"/>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ED4C629A-1D91-38E0-791F-447752C60CAE}"/>
              </a:ext>
            </a:extLst>
          </p:cNvPr>
          <p:cNvCxnSpPr>
            <a:cxnSpLocks/>
            <a:stCxn id="12" idx="2"/>
            <a:endCxn id="22" idx="0"/>
          </p:cNvCxnSpPr>
          <p:nvPr/>
        </p:nvCxnSpPr>
        <p:spPr>
          <a:xfrm flipH="1">
            <a:off x="4460914" y="4740728"/>
            <a:ext cx="478481" cy="59364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40BF51B7-AAF1-FC82-7AC0-31A86E32DFA1}"/>
              </a:ext>
            </a:extLst>
          </p:cNvPr>
          <p:cNvCxnSpPr>
            <a:cxnSpLocks/>
            <a:stCxn id="12" idx="2"/>
            <a:endCxn id="23" idx="0"/>
          </p:cNvCxnSpPr>
          <p:nvPr/>
        </p:nvCxnSpPr>
        <p:spPr>
          <a:xfrm>
            <a:off x="4939395" y="4740728"/>
            <a:ext cx="481111" cy="59364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E055D127-603E-1E26-BB1F-83B0BE0E5559}"/>
              </a:ext>
            </a:extLst>
          </p:cNvPr>
          <p:cNvCxnSpPr>
            <a:cxnSpLocks/>
            <a:stCxn id="13" idx="2"/>
            <a:endCxn id="24" idx="0"/>
          </p:cNvCxnSpPr>
          <p:nvPr/>
        </p:nvCxnSpPr>
        <p:spPr>
          <a:xfrm>
            <a:off x="6256567" y="4740728"/>
            <a:ext cx="191797" cy="58276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735AA020-260A-35F5-5CB2-2E6BA965BD79}"/>
              </a:ext>
            </a:extLst>
          </p:cNvPr>
          <p:cNvCxnSpPr>
            <a:cxnSpLocks/>
            <a:stCxn id="13" idx="2"/>
            <a:endCxn id="26" idx="0"/>
          </p:cNvCxnSpPr>
          <p:nvPr/>
        </p:nvCxnSpPr>
        <p:spPr>
          <a:xfrm>
            <a:off x="6256567" y="4740728"/>
            <a:ext cx="2119360" cy="58276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DD43E646-1FE3-43B5-DAE9-4EADAD0C6C7E}"/>
              </a:ext>
            </a:extLst>
          </p:cNvPr>
          <p:cNvCxnSpPr>
            <a:cxnSpLocks/>
            <a:stCxn id="13" idx="2"/>
            <a:endCxn id="25" idx="0"/>
          </p:cNvCxnSpPr>
          <p:nvPr/>
        </p:nvCxnSpPr>
        <p:spPr>
          <a:xfrm>
            <a:off x="6256567" y="4740728"/>
            <a:ext cx="1154182" cy="563524"/>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6A41C3B3-ECA4-1082-42A5-78C606CCC023}"/>
              </a:ext>
            </a:extLst>
          </p:cNvPr>
          <p:cNvSpPr txBox="1"/>
          <p:nvPr/>
        </p:nvSpPr>
        <p:spPr>
          <a:xfrm>
            <a:off x="5442576" y="1687897"/>
            <a:ext cx="654346" cy="369332"/>
          </a:xfrm>
          <a:prstGeom prst="rect">
            <a:avLst/>
          </a:prstGeom>
          <a:noFill/>
        </p:spPr>
        <p:txBody>
          <a:bodyPr wrap="none" rtlCol="0">
            <a:spAutoFit/>
          </a:bodyPr>
          <a:lstStyle/>
          <a:p>
            <a:r>
              <a:rPr lang="en-US" dirty="0"/>
              <a:t>MAX</a:t>
            </a:r>
          </a:p>
        </p:txBody>
      </p:sp>
      <p:sp>
        <p:nvSpPr>
          <p:cNvPr id="37" name="TextBox 36">
            <a:extLst>
              <a:ext uri="{FF2B5EF4-FFF2-40B4-BE49-F238E27FC236}">
                <a16:creationId xmlns:a16="http://schemas.microsoft.com/office/drawing/2014/main" id="{D5605921-A426-9DAB-791E-0348290F0659}"/>
              </a:ext>
            </a:extLst>
          </p:cNvPr>
          <p:cNvSpPr txBox="1"/>
          <p:nvPr/>
        </p:nvSpPr>
        <p:spPr>
          <a:xfrm>
            <a:off x="7102014" y="4097125"/>
            <a:ext cx="654346" cy="369332"/>
          </a:xfrm>
          <a:prstGeom prst="rect">
            <a:avLst/>
          </a:prstGeom>
          <a:noFill/>
        </p:spPr>
        <p:txBody>
          <a:bodyPr wrap="none" rtlCol="0">
            <a:spAutoFit/>
          </a:bodyPr>
          <a:lstStyle/>
          <a:p>
            <a:r>
              <a:rPr lang="en-US" dirty="0"/>
              <a:t>MAX</a:t>
            </a:r>
          </a:p>
        </p:txBody>
      </p:sp>
      <p:sp>
        <p:nvSpPr>
          <p:cNvPr id="38" name="TextBox 37">
            <a:extLst>
              <a:ext uri="{FF2B5EF4-FFF2-40B4-BE49-F238E27FC236}">
                <a16:creationId xmlns:a16="http://schemas.microsoft.com/office/drawing/2014/main" id="{1B6F49BD-BD9F-864C-0635-14494368C61F}"/>
              </a:ext>
            </a:extLst>
          </p:cNvPr>
          <p:cNvSpPr txBox="1"/>
          <p:nvPr/>
        </p:nvSpPr>
        <p:spPr>
          <a:xfrm>
            <a:off x="5794018" y="2901003"/>
            <a:ext cx="590226" cy="369332"/>
          </a:xfrm>
          <a:prstGeom prst="rect">
            <a:avLst/>
          </a:prstGeom>
          <a:noFill/>
        </p:spPr>
        <p:txBody>
          <a:bodyPr wrap="none" rtlCol="0">
            <a:spAutoFit/>
          </a:bodyPr>
          <a:lstStyle/>
          <a:p>
            <a:r>
              <a:rPr lang="en-US" dirty="0"/>
              <a:t>MIN</a:t>
            </a:r>
          </a:p>
        </p:txBody>
      </p:sp>
      <p:sp>
        <p:nvSpPr>
          <p:cNvPr id="2" name="Footer Placeholder 1">
            <a:extLst>
              <a:ext uri="{FF2B5EF4-FFF2-40B4-BE49-F238E27FC236}">
                <a16:creationId xmlns:a16="http://schemas.microsoft.com/office/drawing/2014/main" id="{5B77ADCC-EC9B-65D6-967D-FD3CFEEF2020}"/>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3318562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C00CF-CBAD-B391-141A-E34E84A22257}"/>
              </a:ext>
            </a:extLst>
          </p:cNvPr>
          <p:cNvSpPr>
            <a:spLocks noGrp="1"/>
          </p:cNvSpPr>
          <p:nvPr>
            <p:ph type="title"/>
          </p:nvPr>
        </p:nvSpPr>
        <p:spPr/>
        <p:txBody>
          <a:bodyPr/>
          <a:lstStyle/>
          <a:p>
            <a:r>
              <a:rPr lang="en-US" dirty="0"/>
              <a:t>Real-World Applications</a:t>
            </a:r>
          </a:p>
        </p:txBody>
      </p:sp>
      <p:sp>
        <p:nvSpPr>
          <p:cNvPr id="3" name="Content Placeholder 2">
            <a:extLst>
              <a:ext uri="{FF2B5EF4-FFF2-40B4-BE49-F238E27FC236}">
                <a16:creationId xmlns:a16="http://schemas.microsoft.com/office/drawing/2014/main" id="{BB286CA1-98F4-6F75-A9C2-E26F9462FAD8}"/>
              </a:ext>
            </a:extLst>
          </p:cNvPr>
          <p:cNvSpPr>
            <a:spLocks noGrp="1"/>
          </p:cNvSpPr>
          <p:nvPr>
            <p:ph idx="1"/>
          </p:nvPr>
        </p:nvSpPr>
        <p:spPr/>
        <p:txBody>
          <a:bodyPr/>
          <a:lstStyle/>
          <a:p>
            <a:r>
              <a:rPr lang="en-US" dirty="0"/>
              <a:t>Gaming AI:</a:t>
            </a:r>
          </a:p>
          <a:p>
            <a:pPr lvl="1"/>
            <a:r>
              <a:rPr lang="en-US" dirty="0"/>
              <a:t>Deep Blue (Chess), AlphaGo (Go).</a:t>
            </a:r>
          </a:p>
          <a:p>
            <a:r>
              <a:rPr lang="en-US" dirty="0"/>
              <a:t>Decision-Making Systems:</a:t>
            </a:r>
          </a:p>
          <a:p>
            <a:pPr lvl="1"/>
            <a:r>
              <a:rPr lang="en-US" dirty="0"/>
              <a:t>Autonomous vehicles, market strategies.</a:t>
            </a:r>
          </a:p>
          <a:p>
            <a:endParaRPr lang="en-US" dirty="0"/>
          </a:p>
        </p:txBody>
      </p:sp>
      <p:sp>
        <p:nvSpPr>
          <p:cNvPr id="4" name="Footer Placeholder 3">
            <a:extLst>
              <a:ext uri="{FF2B5EF4-FFF2-40B4-BE49-F238E27FC236}">
                <a16:creationId xmlns:a16="http://schemas.microsoft.com/office/drawing/2014/main" id="{E42D808D-5863-F21E-E6DD-E77613F48FAA}"/>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6072307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13233" y="685800"/>
            <a:ext cx="7514035" cy="1752599"/>
          </a:xfrm>
        </p:spPr>
        <p:txBody>
          <a:bodyPr>
            <a:normAutofit/>
          </a:bodyPr>
          <a:lstStyle/>
          <a:p>
            <a:r>
              <a:rPr lang="en-US" dirty="0"/>
              <a:t>Constraint Satisfaction Problem (CSP)</a:t>
            </a:r>
          </a:p>
        </p:txBody>
      </p:sp>
      <p:pic>
        <p:nvPicPr>
          <p:cNvPr id="5" name="Picture 4" descr="Close up of colourful toy blocks">
            <a:extLst>
              <a:ext uri="{FF2B5EF4-FFF2-40B4-BE49-F238E27FC236}">
                <a16:creationId xmlns:a16="http://schemas.microsoft.com/office/drawing/2014/main" id="{84E3C63D-D8E8-5D20-0C29-540700465B82}"/>
              </a:ext>
            </a:extLst>
          </p:cNvPr>
          <p:cNvPicPr>
            <a:picLocks noChangeAspect="1"/>
          </p:cNvPicPr>
          <p:nvPr/>
        </p:nvPicPr>
        <p:blipFill>
          <a:blip r:embed="rId4"/>
          <a:srcRect r="10999" b="-1"/>
          <a:stretch/>
        </p:blipFill>
        <p:spPr>
          <a:xfrm>
            <a:off x="1239116" y="3153672"/>
            <a:ext cx="2969408" cy="2227052"/>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
        <p:nvSpPr>
          <p:cNvPr id="3" name="Content Placeholder 2"/>
          <p:cNvSpPr>
            <a:spLocks noGrp="1"/>
          </p:cNvSpPr>
          <p:nvPr>
            <p:ph idx="1"/>
          </p:nvPr>
        </p:nvSpPr>
        <p:spPr>
          <a:xfrm>
            <a:off x="4512252" y="2666999"/>
            <a:ext cx="4115015" cy="3124201"/>
          </a:xfrm>
        </p:spPr>
        <p:txBody>
          <a:bodyPr anchor="t">
            <a:normAutofit lnSpcReduction="10000"/>
          </a:bodyPr>
          <a:lstStyle/>
          <a:p>
            <a:r>
              <a:rPr lang="en-US" dirty="0"/>
              <a:t>Problem where the solution must satisfy a set of constraints</a:t>
            </a:r>
          </a:p>
          <a:p>
            <a:r>
              <a:rPr lang="en-US" dirty="0"/>
              <a:t>Variables, Domains, Constraints</a:t>
            </a:r>
          </a:p>
          <a:p>
            <a:r>
              <a:rPr lang="en-US" dirty="0"/>
              <a:t>Examples: Sudoku, Scheduling, Resource allocation, Planning</a:t>
            </a:r>
          </a:p>
        </p:txBody>
      </p:sp>
      <p:sp>
        <p:nvSpPr>
          <p:cNvPr id="4" name="Footer Placeholder 3">
            <a:extLst>
              <a:ext uri="{FF2B5EF4-FFF2-40B4-BE49-F238E27FC236}">
                <a16:creationId xmlns:a16="http://schemas.microsoft.com/office/drawing/2014/main" id="{AD7C6FF3-5C45-93BD-2A14-1C81F9EF6D3E}"/>
              </a:ext>
            </a:extLst>
          </p:cNvPr>
          <p:cNvSpPr>
            <a:spLocks noGrp="1"/>
          </p:cNvSpPr>
          <p:nvPr>
            <p:ph type="ftr" sz="quarter" idx="11"/>
          </p:nvPr>
        </p:nvSpPr>
        <p:spPr/>
        <p:txBody>
          <a:bodyPr/>
          <a:lstStyle/>
          <a:p>
            <a:r>
              <a:rPr lang="nb-NO"/>
              <a:t>kapil@nast.edu.np || kapilpant157</a:t>
            </a:r>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4B216A96-1E22-487D-77CD-FF290B3E2A72}"/>
              </a:ext>
            </a:extLst>
          </p:cNvPr>
          <p:cNvGraphicFramePr>
            <a:graphicFrameLocks noGrp="1"/>
          </p:cNvGraphicFramePr>
          <p:nvPr>
            <p:ph idx="1"/>
            <p:extLst>
              <p:ext uri="{D42A27DB-BD31-4B8C-83A1-F6EECF244321}">
                <p14:modId xmlns:p14="http://schemas.microsoft.com/office/powerpoint/2010/main" val="126061129"/>
              </p:ext>
            </p:extLst>
          </p:nvPr>
        </p:nvGraphicFramePr>
        <p:xfrm>
          <a:off x="982133" y="1066800"/>
          <a:ext cx="7704667" cy="49330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a:extLst>
              <a:ext uri="{FF2B5EF4-FFF2-40B4-BE49-F238E27FC236}">
                <a16:creationId xmlns:a16="http://schemas.microsoft.com/office/drawing/2014/main" id="{AD7F6E36-CC8B-6002-BF8B-17AB21D0398A}"/>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3367444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13743-50A2-58AE-0DBF-68B0B138C974}"/>
              </a:ext>
            </a:extLst>
          </p:cNvPr>
          <p:cNvSpPr>
            <a:spLocks noGrp="1"/>
          </p:cNvSpPr>
          <p:nvPr>
            <p:ph type="title"/>
          </p:nvPr>
        </p:nvSpPr>
        <p:spPr/>
        <p:txBody>
          <a:bodyPr/>
          <a:lstStyle/>
          <a:p>
            <a:r>
              <a:rPr lang="en-US" dirty="0"/>
              <a:t>Search Algorithms for CSP</a:t>
            </a:r>
          </a:p>
        </p:txBody>
      </p:sp>
      <p:sp>
        <p:nvSpPr>
          <p:cNvPr id="3" name="Content Placeholder 2">
            <a:extLst>
              <a:ext uri="{FF2B5EF4-FFF2-40B4-BE49-F238E27FC236}">
                <a16:creationId xmlns:a16="http://schemas.microsoft.com/office/drawing/2014/main" id="{E10DA583-3507-DF68-1581-812B71E31152}"/>
              </a:ext>
            </a:extLst>
          </p:cNvPr>
          <p:cNvSpPr>
            <a:spLocks noGrp="1"/>
          </p:cNvSpPr>
          <p:nvPr>
            <p:ph idx="1"/>
          </p:nvPr>
        </p:nvSpPr>
        <p:spPr/>
        <p:txBody>
          <a:bodyPr/>
          <a:lstStyle/>
          <a:p>
            <a:pPr>
              <a:buFont typeface="Arial" panose="020B0604020202020204" pitchFamily="34" charset="0"/>
              <a:buChar char="•"/>
            </a:pPr>
            <a:r>
              <a:rPr lang="en-US" b="1" dirty="0"/>
              <a:t>Algorithms</a:t>
            </a:r>
            <a:r>
              <a:rPr lang="en-US" dirty="0"/>
              <a:t>:</a:t>
            </a:r>
          </a:p>
          <a:p>
            <a:pPr marL="742950" lvl="1" indent="-285750">
              <a:buFont typeface="Arial" panose="020B0604020202020204" pitchFamily="34" charset="0"/>
              <a:buChar char="•"/>
            </a:pPr>
            <a:r>
              <a:rPr lang="en-US" b="1" dirty="0"/>
              <a:t>Backtracking Search</a:t>
            </a:r>
            <a:r>
              <a:rPr lang="en-US" dirty="0"/>
              <a:t>: Simple and direct approach but can be slow.</a:t>
            </a:r>
          </a:p>
          <a:p>
            <a:pPr marL="742950" lvl="1" indent="-285750">
              <a:buFont typeface="Arial" panose="020B0604020202020204" pitchFamily="34" charset="0"/>
              <a:buChar char="•"/>
            </a:pPr>
            <a:r>
              <a:rPr lang="en-US" b="1" dirty="0"/>
              <a:t>Constraint Propagation</a:t>
            </a:r>
            <a:r>
              <a:rPr lang="en-US" dirty="0"/>
              <a:t>: Pre-processes the problem to reduce complexity, improving efficiency.</a:t>
            </a:r>
          </a:p>
          <a:p>
            <a:endParaRPr lang="en-US" dirty="0"/>
          </a:p>
        </p:txBody>
      </p:sp>
      <p:sp>
        <p:nvSpPr>
          <p:cNvPr id="4" name="Footer Placeholder 3">
            <a:extLst>
              <a:ext uri="{FF2B5EF4-FFF2-40B4-BE49-F238E27FC236}">
                <a16:creationId xmlns:a16="http://schemas.microsoft.com/office/drawing/2014/main" id="{244C0EA8-FC9F-2AF2-AD72-B9AB38D8E1C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7877843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EAECC-D2C9-E1B8-35A7-F4AAE959ED1E}"/>
              </a:ext>
            </a:extLst>
          </p:cNvPr>
          <p:cNvSpPr>
            <a:spLocks noGrp="1"/>
          </p:cNvSpPr>
          <p:nvPr>
            <p:ph type="title"/>
          </p:nvPr>
        </p:nvSpPr>
        <p:spPr/>
        <p:txBody>
          <a:bodyPr/>
          <a:lstStyle/>
          <a:p>
            <a:r>
              <a:rPr lang="en-US" dirty="0"/>
              <a:t>Crypt- </a:t>
            </a:r>
            <a:r>
              <a:rPr lang="en-US" dirty="0" err="1"/>
              <a:t>arithmatic</a:t>
            </a:r>
            <a:r>
              <a:rPr lang="en-US" dirty="0"/>
              <a:t> problems</a:t>
            </a:r>
          </a:p>
        </p:txBody>
      </p:sp>
      <p:pic>
        <p:nvPicPr>
          <p:cNvPr id="5" name="Content Placeholder 4">
            <a:extLst>
              <a:ext uri="{FF2B5EF4-FFF2-40B4-BE49-F238E27FC236}">
                <a16:creationId xmlns:a16="http://schemas.microsoft.com/office/drawing/2014/main" id="{85CF5CBA-4C93-A8E5-0608-21053D4D94AD}"/>
              </a:ext>
            </a:extLst>
          </p:cNvPr>
          <p:cNvPicPr>
            <a:picLocks noGrp="1" noChangeAspect="1"/>
          </p:cNvPicPr>
          <p:nvPr>
            <p:ph idx="1"/>
          </p:nvPr>
        </p:nvPicPr>
        <p:blipFill>
          <a:blip r:embed="rId2"/>
          <a:stretch>
            <a:fillRect/>
          </a:stretch>
        </p:blipFill>
        <p:spPr>
          <a:xfrm>
            <a:off x="633365" y="2956083"/>
            <a:ext cx="3352482" cy="1981200"/>
          </a:xfrm>
        </p:spPr>
      </p:pic>
      <p:pic>
        <p:nvPicPr>
          <p:cNvPr id="7" name="Picture 6">
            <a:extLst>
              <a:ext uri="{FF2B5EF4-FFF2-40B4-BE49-F238E27FC236}">
                <a16:creationId xmlns:a16="http://schemas.microsoft.com/office/drawing/2014/main" id="{67C82ED7-D081-05C0-80B0-1A6D384AB934}"/>
              </a:ext>
            </a:extLst>
          </p:cNvPr>
          <p:cNvPicPr>
            <a:picLocks noChangeAspect="1"/>
          </p:cNvPicPr>
          <p:nvPr/>
        </p:nvPicPr>
        <p:blipFill>
          <a:blip r:embed="rId3"/>
          <a:stretch>
            <a:fillRect/>
          </a:stretch>
        </p:blipFill>
        <p:spPr>
          <a:xfrm>
            <a:off x="4873578" y="2651283"/>
            <a:ext cx="3813222" cy="3025366"/>
          </a:xfrm>
          <a:prstGeom prst="rect">
            <a:avLst/>
          </a:prstGeom>
        </p:spPr>
      </p:pic>
      <p:sp>
        <p:nvSpPr>
          <p:cNvPr id="3" name="Footer Placeholder 2">
            <a:extLst>
              <a:ext uri="{FF2B5EF4-FFF2-40B4-BE49-F238E27FC236}">
                <a16:creationId xmlns:a16="http://schemas.microsoft.com/office/drawing/2014/main" id="{730E3335-D805-20B0-46AF-0E468309C1D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0544107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6E8BF-FBB3-B0D4-6836-466B56ED03A2}"/>
              </a:ext>
            </a:extLst>
          </p:cNvPr>
          <p:cNvSpPr>
            <a:spLocks noGrp="1"/>
          </p:cNvSpPr>
          <p:nvPr>
            <p:ph type="title"/>
          </p:nvPr>
        </p:nvSpPr>
        <p:spPr/>
        <p:txBody>
          <a:bodyPr/>
          <a:lstStyle/>
          <a:p>
            <a:r>
              <a:rPr lang="en-US" dirty="0"/>
              <a:t>Production System</a:t>
            </a:r>
          </a:p>
        </p:txBody>
      </p:sp>
      <p:sp>
        <p:nvSpPr>
          <p:cNvPr id="3" name="Content Placeholder 2">
            <a:extLst>
              <a:ext uri="{FF2B5EF4-FFF2-40B4-BE49-F238E27FC236}">
                <a16:creationId xmlns:a16="http://schemas.microsoft.com/office/drawing/2014/main" id="{A3E9F0C7-5334-2502-96F8-49E67B63529C}"/>
              </a:ext>
            </a:extLst>
          </p:cNvPr>
          <p:cNvSpPr>
            <a:spLocks noGrp="1"/>
          </p:cNvSpPr>
          <p:nvPr>
            <p:ph idx="1"/>
          </p:nvPr>
        </p:nvSpPr>
        <p:spPr/>
        <p:txBody>
          <a:bodyPr/>
          <a:lstStyle/>
          <a:p>
            <a:r>
              <a:rPr lang="en-US" dirty="0"/>
              <a:t>Water </a:t>
            </a:r>
            <a:r>
              <a:rPr lang="en-US"/>
              <a:t>jug problem</a:t>
            </a:r>
          </a:p>
        </p:txBody>
      </p:sp>
      <p:sp>
        <p:nvSpPr>
          <p:cNvPr id="4" name="Footer Placeholder 3">
            <a:extLst>
              <a:ext uri="{FF2B5EF4-FFF2-40B4-BE49-F238E27FC236}">
                <a16:creationId xmlns:a16="http://schemas.microsoft.com/office/drawing/2014/main" id="{B7E0EA1B-BA11-67ED-2D01-2890862308D4}"/>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4653364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A3574-928E-DC9A-9C06-EA6199FA3D0F}"/>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94125B3F-1642-2C4E-5FFC-CB95DED4EC49}"/>
              </a:ext>
            </a:extLst>
          </p:cNvPr>
          <p:cNvSpPr>
            <a:spLocks noGrp="1"/>
          </p:cNvSpPr>
          <p:nvPr>
            <p:ph idx="1"/>
          </p:nvPr>
        </p:nvSpPr>
        <p:spPr/>
        <p:txBody>
          <a:bodyPr/>
          <a:lstStyle/>
          <a:p>
            <a:r>
              <a:rPr lang="en-US" dirty="0"/>
              <a:t>What is state space search? Give example of a game that happens to be a problem of state space search and justify answer.</a:t>
            </a:r>
          </a:p>
          <a:p>
            <a:r>
              <a:rPr lang="en-US" dirty="0"/>
              <a:t>What are components of problem formulation? Formulize 8-queen problem.</a:t>
            </a:r>
          </a:p>
          <a:p>
            <a:r>
              <a:rPr lang="en-US" dirty="0"/>
              <a:t>Solve the following CSP 7 + 8 = 12,</a:t>
            </a:r>
          </a:p>
          <a:p>
            <a:r>
              <a:rPr lang="en-US" dirty="0"/>
              <a:t> </a:t>
            </a:r>
          </a:p>
          <a:p>
            <a:endParaRPr lang="en-US" dirty="0"/>
          </a:p>
        </p:txBody>
      </p:sp>
      <p:sp>
        <p:nvSpPr>
          <p:cNvPr id="4" name="Footer Placeholder 3">
            <a:extLst>
              <a:ext uri="{FF2B5EF4-FFF2-40B4-BE49-F238E27FC236}">
                <a16:creationId xmlns:a16="http://schemas.microsoft.com/office/drawing/2014/main" id="{BE6E1D27-5DD2-2D2F-3C20-B7C8F2BF512C}"/>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7053864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8766</TotalTime>
  <Words>9056</Words>
  <Application>Microsoft Office PowerPoint</Application>
  <PresentationFormat>On-screen Show (4:3)</PresentationFormat>
  <Paragraphs>1169</Paragraphs>
  <Slides>69</Slides>
  <Notes>28</Notes>
  <HiddenSlides>4</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69</vt:i4>
      </vt:variant>
    </vt:vector>
  </HeadingPairs>
  <TitlesOfParts>
    <vt:vector size="83" baseType="lpstr">
      <vt:lpstr>__Inter_d65c78</vt:lpstr>
      <vt:lpstr>Aptos</vt:lpstr>
      <vt:lpstr>Arial</vt:lpstr>
      <vt:lpstr>Cambria Math</vt:lpstr>
      <vt:lpstr>Century Gothic</vt:lpstr>
      <vt:lpstr>Corbel</vt:lpstr>
      <vt:lpstr>Google Sans</vt:lpstr>
      <vt:lpstr>Nunito</vt:lpstr>
      <vt:lpstr>Roboto Slab</vt:lpstr>
      <vt:lpstr>source-serif-pro</vt:lpstr>
      <vt:lpstr>Times New Roman</vt:lpstr>
      <vt:lpstr>Verdana</vt:lpstr>
      <vt:lpstr>Wingdings</vt:lpstr>
      <vt:lpstr>Parallax</vt:lpstr>
      <vt:lpstr>Problem Solving</vt:lpstr>
      <vt:lpstr>Contents</vt:lpstr>
      <vt:lpstr>Defining Problems as a State Space Search</vt:lpstr>
      <vt:lpstr>Problem Solving Agents</vt:lpstr>
      <vt:lpstr>Problem Solving Processes</vt:lpstr>
      <vt:lpstr>Production Systems</vt:lpstr>
      <vt:lpstr>Introduction to Rule-Based Systems</vt:lpstr>
      <vt:lpstr>Key Components of Rule-Based Systems</vt:lpstr>
      <vt:lpstr>Well-Defined Problems</vt:lpstr>
      <vt:lpstr>Problem Formulation and Problem Types</vt:lpstr>
      <vt:lpstr>Puzzle problem</vt:lpstr>
      <vt:lpstr>Missionaries and cannibal </vt:lpstr>
      <vt:lpstr>Water Jug problem</vt:lpstr>
      <vt:lpstr>Searching</vt:lpstr>
      <vt:lpstr>PowerPoint Presentation</vt:lpstr>
      <vt:lpstr>Breadth-First Search</vt:lpstr>
      <vt:lpstr>BFS Algorithm</vt:lpstr>
      <vt:lpstr>PowerPoint Presentation</vt:lpstr>
      <vt:lpstr>Depth-First Search</vt:lpstr>
      <vt:lpstr>DFS Algorithms</vt:lpstr>
      <vt:lpstr>PowerPoint Presentation</vt:lpstr>
      <vt:lpstr>Depth Limited Search (DLS)</vt:lpstr>
      <vt:lpstr>How Depth Limited Search Works?</vt:lpstr>
      <vt:lpstr>Iterative deepening search</vt:lpstr>
      <vt:lpstr>Limit 0</vt:lpstr>
      <vt:lpstr>PowerPoint Presentation</vt:lpstr>
      <vt:lpstr>Limit 3</vt:lpstr>
      <vt:lpstr>Comparison table</vt:lpstr>
      <vt:lpstr>Example BFS</vt:lpstr>
      <vt:lpstr>PowerPoint Presentation</vt:lpstr>
      <vt:lpstr>Greedy Best-First Search</vt:lpstr>
      <vt:lpstr>Algorithm</vt:lpstr>
      <vt:lpstr>Greedy Best-First Search</vt:lpstr>
      <vt:lpstr>A* Algorithm</vt:lpstr>
      <vt:lpstr>Core Concept</vt:lpstr>
      <vt:lpstr>Algorithm</vt:lpstr>
      <vt:lpstr> </vt:lpstr>
      <vt:lpstr>PowerPoint Presentation</vt:lpstr>
      <vt:lpstr>Local Search and Optimization Problems</vt:lpstr>
      <vt:lpstr>Characteristics of Local Search</vt:lpstr>
      <vt:lpstr>Hill-Climbing Search</vt:lpstr>
      <vt:lpstr>PowerPoint Presentation</vt:lpstr>
      <vt:lpstr>Problems with Hill-Climbing</vt:lpstr>
      <vt:lpstr>Types of Hill Climbing</vt:lpstr>
      <vt:lpstr>PowerPoint Presentation</vt:lpstr>
      <vt:lpstr>Simulated Annealing</vt:lpstr>
      <vt:lpstr>Simulated Annealing Process</vt:lpstr>
      <vt:lpstr>Acceptance Probability and Temperature Schedule</vt:lpstr>
      <vt:lpstr>PowerPoint Presentation</vt:lpstr>
      <vt:lpstr>Genetic Algorithms</vt:lpstr>
      <vt:lpstr>Gradient Descent</vt:lpstr>
      <vt:lpstr>Gradient Descent</vt:lpstr>
      <vt:lpstr>PowerPoint Presentation</vt:lpstr>
      <vt:lpstr>Adversarial Search and Game Playing</vt:lpstr>
      <vt:lpstr>Game Playing</vt:lpstr>
      <vt:lpstr>Various elements of game playing </vt:lpstr>
      <vt:lpstr>Min Max Algorithm</vt:lpstr>
      <vt:lpstr>Pseudo code</vt:lpstr>
      <vt:lpstr>Example</vt:lpstr>
      <vt:lpstr>PowerPoint Presentation</vt:lpstr>
      <vt:lpstr>Alpha-Beta Pruning</vt:lpstr>
      <vt:lpstr>PowerPoint Presentation</vt:lpstr>
      <vt:lpstr>Real-World Applications</vt:lpstr>
      <vt:lpstr>Constraint Satisfaction Problem (CSP)</vt:lpstr>
      <vt:lpstr>PowerPoint Presentation</vt:lpstr>
      <vt:lpstr>Search Algorithms for CSP</vt:lpstr>
      <vt:lpstr>Crypt- arithmatic problems</vt:lpstr>
      <vt:lpstr>Production System</vt:lpstr>
      <vt:lpstr>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Kapil Dev Pant</cp:lastModifiedBy>
  <cp:revision>300</cp:revision>
  <dcterms:created xsi:type="dcterms:W3CDTF">2013-01-27T09:14:16Z</dcterms:created>
  <dcterms:modified xsi:type="dcterms:W3CDTF">2025-12-15T04:12:16Z</dcterms:modified>
  <cp:category/>
</cp:coreProperties>
</file>