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notesMasterIdLst>
    <p:notesMasterId r:id="rId24"/>
  </p:notesMasterIdLst>
  <p:sldIdLst>
    <p:sldId id="256" r:id="rId2"/>
    <p:sldId id="316" r:id="rId3"/>
    <p:sldId id="318" r:id="rId4"/>
    <p:sldId id="320" r:id="rId5"/>
    <p:sldId id="325" r:id="rId6"/>
    <p:sldId id="321" r:id="rId7"/>
    <p:sldId id="307" r:id="rId8"/>
    <p:sldId id="323" r:id="rId9"/>
    <p:sldId id="326" r:id="rId10"/>
    <p:sldId id="327" r:id="rId11"/>
    <p:sldId id="335" r:id="rId12"/>
    <p:sldId id="336" r:id="rId13"/>
    <p:sldId id="324" r:id="rId14"/>
    <p:sldId id="332" r:id="rId15"/>
    <p:sldId id="328" r:id="rId16"/>
    <p:sldId id="329" r:id="rId17"/>
    <p:sldId id="330" r:id="rId18"/>
    <p:sldId id="331" r:id="rId19"/>
    <p:sldId id="333" r:id="rId20"/>
    <p:sldId id="334" r:id="rId21"/>
    <p:sldId id="317" r:id="rId22"/>
    <p:sldId id="29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85" autoAdjust="0"/>
    <p:restoredTop sz="77237" autoAdjust="0"/>
  </p:normalViewPr>
  <p:slideViewPr>
    <p:cSldViewPr snapToGrid="0">
      <p:cViewPr varScale="1">
        <p:scale>
          <a:sx n="43" d="100"/>
          <a:sy n="43" d="100"/>
        </p:scale>
        <p:origin x="6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59EAF3-D6BF-4509-BDB9-71AF79AE023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163C0F-E2D8-497F-879E-155DA398F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88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Applications</a:t>
            </a:r>
          </a:p>
          <a:p>
            <a:r>
              <a:rPr lang="en-US" dirty="0"/>
              <a:t>Air conditioners</a:t>
            </a:r>
          </a:p>
          <a:p>
            <a:r>
              <a:rPr lang="en-US" dirty="0"/>
              <a:t>Washing machines</a:t>
            </a:r>
          </a:p>
          <a:p>
            <a:r>
              <a:rPr lang="en-US" dirty="0"/>
              <a:t>Camera autofocus</a:t>
            </a:r>
          </a:p>
          <a:p>
            <a:r>
              <a:rPr lang="en-US" dirty="0"/>
              <a:t>Medical diagnosis</a:t>
            </a:r>
          </a:p>
          <a:p>
            <a:r>
              <a:rPr lang="en-US" dirty="0"/>
              <a:t>Decision support systems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Fuzzy sets allow partial membership, and membership functions quantify this degree of belonging. Together, they provide a mathematical framework to represent uncertainty and imprecision in real-world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63C0F-E2D8-497F-879E-155DA398F7D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75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Key Characteristics of Fuzzy Sets</a:t>
            </a:r>
          </a:p>
          <a:p>
            <a:r>
              <a:rPr lang="en-US" dirty="0"/>
              <a:t>No sharp boundary</a:t>
            </a:r>
          </a:p>
          <a:p>
            <a:r>
              <a:rPr lang="en-US" dirty="0"/>
              <a:t>Handles uncertainty and vagueness</a:t>
            </a:r>
          </a:p>
          <a:p>
            <a:r>
              <a:rPr lang="en-US" dirty="0"/>
              <a:t>Overlapping sets are allowed</a:t>
            </a:r>
          </a:p>
          <a:p>
            <a:r>
              <a:rPr lang="en-US" dirty="0"/>
              <a:t>Models human reasoning effectively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63C0F-E2D8-497F-879E-155DA398F7D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87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Alternative Fuzzy Operators (Advanced – Mention for Higher Marks)</a:t>
                </a:r>
              </a:p>
              <a:p>
                <a:pPr marL="228600" indent="-228600">
                  <a:buAutoNum type="arabicPeriod"/>
                </a:pPr>
                <a:r>
                  <a:rPr lang="en-US" b="1" dirty="0"/>
                  <a:t>Algebraic Product (AND)</a:t>
                </a:r>
              </a:p>
              <a:p>
                <a:pPr marL="685800" lvl="1" indent="-2286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𝜇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∩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𝜇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𝜇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b="1" dirty="0"/>
                  <a:t>.</a:t>
                </a:r>
                <a:endParaRPr lang="en-US" b="1" dirty="0"/>
              </a:p>
              <a:p>
                <a:pPr marL="228600" indent="-228600">
                  <a:buAutoNum type="arabicPeriod"/>
                </a:pPr>
                <a:r>
                  <a:rPr lang="en-US" b="1" dirty="0"/>
                  <a:t>Algebraic Sum (OR)</a:t>
                </a:r>
                <a:endParaRPr lang="en-US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marL="685800" lvl="1" indent="-2286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𝜇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∪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𝜇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𝜇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𝜇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𝜇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b="1" dirty="0"/>
                  <a:t> </a:t>
                </a:r>
                <a:endParaRPr lang="en-US" b="1" dirty="0"/>
              </a:p>
              <a:p>
                <a:pPr marL="228600" indent="-228600">
                  <a:buAutoNum type="arabicPeriod"/>
                </a:pPr>
                <a:r>
                  <a:rPr lang="en-US" b="1" dirty="0"/>
                  <a:t>Bounded Difference (AND)</a:t>
                </a:r>
                <a14:m>
                  <m:oMath xmlns:m="http://schemas.openxmlformats.org/officeDocument/2006/math">
                    <m:r>
                      <a:rPr lang="en-US" sz="1200" b="1" i="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endParaRPr lang="en-US" sz="1200" b="1" i="0" kern="1200" dirty="0">
                  <a:solidFill>
                    <a:schemeClr val="tx1"/>
                  </a:solidFill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685800" lvl="1" indent="-228600"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max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⁡</m:t>
                    </m:r>
                    <m:d>
                      <m:dPr>
                        <m:sepChr m:val=",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e>
                      <m:e>
                        <m:sSub>
                          <m:sSub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𝜇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𝐴</m:t>
                            </m:r>
                          </m:sub>
                        </m:sSub>
                        <m:d>
                          <m:d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</m:d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sSub>
                          <m:sSub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𝜇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𝐵</m:t>
                            </m:r>
                          </m:sub>
                        </m:sSub>
                        <m:d>
                          <m:d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</m:d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</m:d>
                  </m:oMath>
                </a14:m>
                <a:endParaRPr lang="en-US" b="1" dirty="0"/>
              </a:p>
              <a:p>
                <a:pPr marL="228600" indent="-228600">
                  <a:buAutoNum type="arabicPeriod"/>
                </a:pPr>
                <a:r>
                  <a:rPr lang="en-US" b="1" dirty="0"/>
                  <a:t>Bounded Sum (OR)</a:t>
                </a:r>
                <a14:m>
                  <m:oMath xmlns:m="http://schemas.openxmlformats.org/officeDocument/2006/math">
                    <m:r>
                      <a:rPr lang="en-US" sz="1200" b="1" i="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</m:t>
                    </m:r>
                  </m:oMath>
                </a14:m>
                <a:endParaRPr lang="en-US" sz="1200" b="1" i="0" kern="1200" dirty="0">
                  <a:solidFill>
                    <a:schemeClr val="tx1"/>
                  </a:solidFill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685800" lvl="1" indent="-228600"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min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⁡</m:t>
                    </m:r>
                    <m:d>
                      <m:dPr>
                        <m:sepChr m:val=",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  <m:e>
                        <m:sSub>
                          <m:sSub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𝜇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𝐴</m:t>
                            </m:r>
                          </m:sub>
                        </m:sSub>
                        <m:d>
                          <m:d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</m:d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sSub>
                          <m:sSub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𝜇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𝐵</m:t>
                            </m:r>
                          </m:sub>
                        </m:sSub>
                        <m:d>
                          <m:d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Alternative Fuzzy Operators (Advanced – Mention for Higher Marks)</a:t>
                </a:r>
              </a:p>
              <a:p>
                <a:pPr marL="228600" indent="-228600">
                  <a:buAutoNum type="arabicPeriod"/>
                </a:pPr>
                <a:r>
                  <a:rPr lang="en-US" b="1" dirty="0"/>
                  <a:t>Algebraic Product (AND)</a:t>
                </a:r>
              </a:p>
              <a:p>
                <a:pPr marL="685800" lvl="1" indent="-228600">
                  <a:buAutoNum type="arabicPeriod"/>
                </a:pP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𝜇_(𝐴∩𝐵) (𝑥)=𝜇_𝐴 (𝑥)×𝜇_𝐵 (𝑥)</a:t>
                </a:r>
                <a:r>
                  <a:rPr lang="ar-AE" b="1" dirty="0"/>
                  <a:t>.</a:t>
                </a:r>
                <a:endParaRPr lang="en-US" b="1" dirty="0"/>
              </a:p>
              <a:p>
                <a:pPr marL="228600" indent="-228600">
                  <a:buAutoNum type="arabicPeriod"/>
                </a:pPr>
                <a:r>
                  <a:rPr lang="en-US" b="1" dirty="0"/>
                  <a:t>Algebraic Sum (OR)</a:t>
                </a:r>
                <a:endParaRPr lang="en-US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marL="685800" lvl="1" indent="-228600">
                  <a:buAutoNum type="arabicPeriod"/>
                </a:pP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𝜇_(𝐴∪𝐵) (𝑥)=𝜇_𝐴 (𝑥)+𝜇_𝐵 (𝑥)−𝜇_𝐴 (𝑥) 𝜇_𝐵 (𝑥)</a:t>
                </a:r>
                <a:r>
                  <a:rPr lang="ar-AE" b="1" dirty="0"/>
                  <a:t> </a:t>
                </a:r>
                <a:endParaRPr lang="en-US" b="1" dirty="0"/>
              </a:p>
              <a:p>
                <a:pPr marL="228600" indent="-228600">
                  <a:buAutoNum type="arabicPeriod"/>
                </a:pPr>
                <a:r>
                  <a:rPr lang="en-US" b="1" dirty="0"/>
                  <a:t>Bounded Difference (AND)</a:t>
                </a:r>
                <a:r>
                  <a:rPr lang="en-US" sz="1200" b="1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:endParaRPr lang="en-US" sz="1200" b="1" i="0" kern="1200" dirty="0">
                  <a:solidFill>
                    <a:schemeClr val="tx1"/>
                  </a:solidFill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685800" lvl="1" indent="-228600">
                  <a:buAutoNum type="arabicPeriod"/>
                </a:pP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max⁡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(0ⓜ,𝜇_𝐴 (𝑥)+𝜇_𝐵 (𝑥)−1)</a:t>
                </a:r>
                <a:endParaRPr lang="en-US" b="1" dirty="0"/>
              </a:p>
              <a:p>
                <a:pPr marL="228600" indent="-228600">
                  <a:buAutoNum type="arabicPeriod"/>
                </a:pPr>
                <a:r>
                  <a:rPr lang="en-US" b="1" dirty="0"/>
                  <a:t>Bounded Sum (OR)</a:t>
                </a:r>
                <a:r>
                  <a:rPr lang="en-US" sz="1200" b="1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  </a:t>
                </a:r>
                <a:endParaRPr lang="en-US" sz="1200" b="1" i="0" kern="1200" dirty="0">
                  <a:solidFill>
                    <a:schemeClr val="tx1"/>
                  </a:solidFill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685800" lvl="1" indent="-228600">
                  <a:buAutoNum type="arabicPeriod"/>
                </a:pP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min⁡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(1ⓜ,𝜇_𝐴 (𝑥)+𝜇_𝐵 (𝑥) )</a:t>
                </a:r>
                <a:endParaRPr lang="ar-AE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63C0F-E2D8-497F-879E-155DA398F7D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833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Types of Fuzzification</a:t>
            </a:r>
          </a:p>
          <a:p>
            <a:r>
              <a:rPr lang="en-US" b="1" dirty="0"/>
              <a:t>Singleton fuzzification</a:t>
            </a:r>
            <a:r>
              <a:rPr lang="en-US" dirty="0"/>
              <a:t> (most common)</a:t>
            </a:r>
          </a:p>
          <a:p>
            <a:r>
              <a:rPr lang="en-US" dirty="0"/>
              <a:t>Non-singleton fuzzification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Characteristics</a:t>
            </a:r>
          </a:p>
          <a:p>
            <a:r>
              <a:rPr lang="en-US" dirty="0"/>
              <a:t>Input → fuzzy sets</a:t>
            </a:r>
          </a:p>
          <a:p>
            <a:r>
              <a:rPr lang="en-US" dirty="0"/>
              <a:t>Based on membership functions</a:t>
            </a:r>
          </a:p>
          <a:p>
            <a:r>
              <a:rPr lang="en-US" dirty="0"/>
              <a:t>No decision is made at this stage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63C0F-E2D8-497F-879E-155DA398F7D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779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BE8BD-E0C0-2758-E417-1EE3A9585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39EEB4-9AEA-C2C4-4A7B-61CCDC4DA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9D44C8-B602-4CF7-22CB-6DE57F486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Types of Fuzzification</a:t>
            </a:r>
          </a:p>
          <a:p>
            <a:r>
              <a:rPr lang="en-US" b="1" dirty="0"/>
              <a:t>Singleton fuzzification</a:t>
            </a:r>
            <a:r>
              <a:rPr lang="en-US" dirty="0"/>
              <a:t> (most common)</a:t>
            </a:r>
          </a:p>
          <a:p>
            <a:r>
              <a:rPr lang="en-US" dirty="0"/>
              <a:t>Non-singleton fuzzification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Characteristics</a:t>
            </a:r>
          </a:p>
          <a:p>
            <a:r>
              <a:rPr lang="en-US" dirty="0"/>
              <a:t>Input → fuzzy sets</a:t>
            </a:r>
          </a:p>
          <a:p>
            <a:r>
              <a:rPr lang="en-US" dirty="0"/>
              <a:t>Based on membership functions</a:t>
            </a:r>
          </a:p>
          <a:p>
            <a:r>
              <a:rPr lang="en-US" dirty="0"/>
              <a:t>No decision is made at this stage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B3B7E-DC62-1D2E-F499-37F7FE1FB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63C0F-E2D8-497F-879E-155DA398F7D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35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 Rule Base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Collection of fuzzy IF-THEN rules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Format: IF (antecedent) THEN (consequent)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 antecedent and consequent use linguistic variables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 "IF temperature is Hot AND humidity is High THEN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fan_speed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Fast"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 Fuzzifier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Converts crisp inputs to fuzzy sets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 membership functions to determine degree of membership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 membership functions for each input variable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 Inference Engine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Evaluates fuzzy rules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Determines firing strength of each rule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Aggregates multiple rule outputs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4. 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Defuzzifier</a:t>
            </a:r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Converts fuzzy output to crisp value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Several methods available (centroid, bisector, etc.)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63C0F-E2D8-497F-879E-155DA398F7D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12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2E09-AA2D-4CB1-BBF0-06A4318AD137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4E1-864D-4D36-B278-DF808A5E4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69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C0F2-9282-4844-BF51-BB57A49E3583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4E1-864D-4D36-B278-DF808A5E4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387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1473B-CB70-4A60-AE9F-FD90C0089AE7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4E1-864D-4D36-B278-DF808A5E4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6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EC06-3D8F-4622-BAA6-76B150F52A11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4E1-864D-4D36-B278-DF808A5E4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988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3809A-0183-41BD-9787-26D20E9D6263}" type="datetime1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4E1-864D-4D36-B278-DF808A5E4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134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CEAA-3051-455B-B191-79B50C21DFC1}" type="datetime1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4E1-864D-4D36-B278-DF808A5E4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238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B4572-7CFB-4956-B01B-7E45DE2951E7}" type="datetime1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4E1-864D-4D36-B278-DF808A5E4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2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FD61-EBEE-4024-B9AB-11A9B93FDE05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4E1-864D-4D36-B278-DF808A5E4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311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DEDB3-F6BD-4134-AC34-04FC7AD5D1E7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4E1-864D-4D36-B278-DF808A5E4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807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30779-54AA-41D3-A118-165A71C83B0E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4E1-864D-4D36-B278-DF808A5E4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512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15BC-E92A-44FE-B094-3A979148817E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4E1-864D-4D36-B278-DF808A5E457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1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0700-6B21-4C91-8EA2-730393C3BAC8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4E1-864D-4D36-B278-DF808A5E4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018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5724D-8168-4591-A833-E0E4F7D9680F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4E1-864D-4D36-B278-DF808A5E457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01297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D800B-D1F4-4A9D-9FEB-6C529A89251D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4E1-864D-4D36-B278-DF808A5E4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825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11804-6199-4508-9D5F-FAE07A7F2F63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4E1-864D-4D36-B278-DF808A5E4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1925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41F76-564D-4DC7-8065-0A0293F27A49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C04E1-864D-4D36-B278-DF808A5E4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098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0B44B-1BCB-46CA-B6D6-F8FE070DF63F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BEC04E1-864D-4D36-B278-DF808A5E4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86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CC59C-F579-DEB3-FE29-CB154F5710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Fuzzy Logic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9C84C9-F57A-D0BD-16AE-11506A3411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Kapil Dev Pant (5 </a:t>
            </a:r>
            <a:r>
              <a:rPr lang="en-US" dirty="0" err="1"/>
              <a:t>hrs</a:t>
            </a:r>
            <a:r>
              <a:rPr lang="en-US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8CB07-3C68-81C9-AA05-AFCEADF30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73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64388-BF2E-BAD1-E9EE-1CCD819C6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7D75B-7E0B-8376-FCD7-50860EA6B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Classical Vs Fuzzy Logic</a:t>
            </a:r>
          </a:p>
          <a:p>
            <a:r>
              <a:rPr lang="en-US" dirty="0"/>
              <a:t>Fuzzy Sets and Membership Functions</a:t>
            </a:r>
          </a:p>
          <a:p>
            <a:r>
              <a:rPr lang="en-US" dirty="0"/>
              <a:t>Fuzzy Operations</a:t>
            </a:r>
          </a:p>
          <a:p>
            <a:r>
              <a:rPr lang="en-US" dirty="0"/>
              <a:t>Fuzzy Rule-Based Systems</a:t>
            </a:r>
          </a:p>
          <a:p>
            <a:r>
              <a:rPr lang="en-US" dirty="0"/>
              <a:t>Fuzzification and Defuzzification</a:t>
            </a:r>
          </a:p>
          <a:p>
            <a:r>
              <a:rPr lang="en-US" dirty="0"/>
              <a:t>Fuzzy Inference System: Mamdani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55F7D5-8BDE-F045-E28B-32C4FA3B4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284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2D9DB6D-1DD0-D297-2B8C-2A1400605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042" y="4697340"/>
            <a:ext cx="7811590" cy="19433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005AC5-66C6-2678-2BCE-91FBD3399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Logic VS Fuzzy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361FA-F91E-79E7-8ABF-614B484F63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Classical (Crisp) Logic</a:t>
            </a:r>
          </a:p>
          <a:p>
            <a:r>
              <a:rPr lang="en-US" dirty="0"/>
              <a:t>Truth values are binary: 0 or 1, True or False. (Sharp Boundaries)</a:t>
            </a:r>
          </a:p>
          <a:p>
            <a:r>
              <a:rPr lang="en-US" dirty="0"/>
              <a:t>An element either belongs or does not belong to a set.</a:t>
            </a:r>
          </a:p>
          <a:p>
            <a:r>
              <a:rPr lang="en-US" dirty="0"/>
              <a:t>Suitable for precise, well-defined problems.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4C2801-7724-77BF-07D0-BA31BCEEA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657534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Fuzzy Logic</a:t>
            </a:r>
          </a:p>
          <a:p>
            <a:r>
              <a:rPr lang="en-US" dirty="0"/>
              <a:t>Truth values are continuous, usually between 0 and 1.(gradual boundaries)</a:t>
            </a:r>
          </a:p>
          <a:p>
            <a:r>
              <a:rPr lang="en-US" dirty="0"/>
              <a:t>An element can partially belong to multiple sets.</a:t>
            </a:r>
          </a:p>
          <a:p>
            <a:r>
              <a:rPr lang="en-US" dirty="0"/>
              <a:t>Designed to handle vagueness, uncertainty, and human-like reasoning.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BDFE2-70AD-EDC8-9EEF-7DF1600CA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43A44A-92B0-DDF5-6B00-11902FC8B5CC}"/>
              </a:ext>
            </a:extLst>
          </p:cNvPr>
          <p:cNvSpPr txBox="1"/>
          <p:nvPr/>
        </p:nvSpPr>
        <p:spPr>
          <a:xfrm>
            <a:off x="677334" y="1607234"/>
            <a:ext cx="7877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Classical logic is rigid; fuzzy logic is flexible and closer to human thinking.</a:t>
            </a:r>
          </a:p>
        </p:txBody>
      </p:sp>
    </p:spTree>
    <p:extLst>
      <p:ext uri="{BB962C8B-B14F-4D97-AF65-F5344CB8AC3E}">
        <p14:creationId xmlns:p14="http://schemas.microsoft.com/office/powerpoint/2010/main" val="3272281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8D518-549A-2CBA-C031-934A769F8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Fuzzy Sets and Membership Functions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FA1AD6-9E86-F78E-7634-0D6974645E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709076"/>
                <a:ext cx="8596668" cy="514892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A fuzzy set is an extension of a classical (crisp) set in which elements can partially belong to a set with a degree of membership between 0 and 1</a:t>
                </a:r>
              </a:p>
              <a:p>
                <a:r>
                  <a:rPr lang="en-US" dirty="0"/>
                  <a:t>A fuzzy set </a:t>
                </a:r>
                <a:r>
                  <a:rPr lang="en-US" b="1" dirty="0"/>
                  <a:t>A</a:t>
                </a:r>
                <a:r>
                  <a:rPr lang="en-US" dirty="0"/>
                  <a:t> defined on universe </a:t>
                </a:r>
                <a:r>
                  <a:rPr lang="en-US" b="1" dirty="0"/>
                  <a:t>X</a:t>
                </a:r>
                <a:r>
                  <a:rPr lang="en-US" dirty="0"/>
                  <a:t> is written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ar-AE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sepChr m:val=","/>
                              <m:ctrlPr>
                                <a:rPr lang="ar-AE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ar-AE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ar-AE" sz="240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ar-AE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ar-AE" sz="2400" smtClean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240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sz="240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US" dirty="0"/>
                  <a:t>				Where:</a:t>
                </a:r>
              </a:p>
              <a:p>
                <a:pPr marL="0" indent="0">
                  <a:buNone/>
                </a:pPr>
                <a:r>
                  <a:rPr lang="en-US" dirty="0"/>
                  <a:t>				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element of the universe</a:t>
                </a:r>
              </a:p>
              <a:p>
                <a:pPr marL="0" indent="0">
                  <a:buNone/>
                </a:pPr>
                <a:r>
                  <a:rPr lang="en-US" dirty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sz="200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ar-AE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sz="2000" dirty="0"/>
                  <a:t>→ </a:t>
                </a:r>
                <a:r>
                  <a:rPr lang="en-US" dirty="0"/>
                  <a:t>membership function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ar-A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240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ar-AE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40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ar-AE" sz="240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sz="2400" dirty="0"/>
              </a:p>
              <a:p>
                <a:r>
                  <a:rPr lang="en-US" dirty="0"/>
                  <a:t>A </a:t>
                </a:r>
                <a:r>
                  <a:rPr lang="en-US" b="1" dirty="0"/>
                  <a:t>membership function</a:t>
                </a:r>
                <a:r>
                  <a:rPr lang="en-US" dirty="0"/>
                  <a:t> defines </a:t>
                </a:r>
                <a:r>
                  <a:rPr lang="en-US" b="1" dirty="0"/>
                  <a:t>how strongly an element belongs to a fuzzy set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					</a:t>
                </a:r>
                <a:r>
                  <a:rPr lang="el-GR" dirty="0"/>
                  <a:t>μ</a:t>
                </a:r>
                <a:r>
                  <a:rPr lang="en-US" dirty="0"/>
                  <a:t>A​:X→[0,1]</a:t>
                </a:r>
              </a:p>
              <a:p>
                <a:pPr marL="0" indent="0">
                  <a:buNone/>
                </a:pPr>
                <a:r>
                  <a:rPr lang="en-US" dirty="0"/>
                  <a:t>						μ(x) = 0 → not a member</a:t>
                </a:r>
              </a:p>
              <a:p>
                <a:pPr marL="0" indent="0">
                  <a:buNone/>
                </a:pPr>
                <a:r>
                  <a:rPr lang="en-US" dirty="0"/>
                  <a:t>						μ(x) = 1 → full member</a:t>
                </a:r>
              </a:p>
              <a:p>
                <a:pPr marL="0" indent="0">
                  <a:buNone/>
                </a:pPr>
                <a:r>
                  <a:rPr lang="en-US" dirty="0"/>
                  <a:t>						0 &lt; μ(x) &lt; 1 → partial member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FA1AD6-9E86-F78E-7634-0D6974645E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709076"/>
                <a:ext cx="8596668" cy="5148924"/>
              </a:xfrm>
              <a:blipFill>
                <a:blip r:embed="rId3"/>
                <a:stretch>
                  <a:fillRect l="-142" t="-1183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7FC109-EA71-140C-F149-EE3CA203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kapil@nast.edu.np || kapilpant157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972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338DD86-B67E-F828-195D-A1A35CEAC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52" y="5490392"/>
            <a:ext cx="2762636" cy="781159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B37C5A-1A2E-9C2B-E06F-839BE573E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224" y="402634"/>
            <a:ext cx="8596668" cy="1320800"/>
          </a:xfrm>
        </p:spPr>
        <p:txBody>
          <a:bodyPr/>
          <a:lstStyle/>
          <a:p>
            <a:r>
              <a:rPr lang="en-US" dirty="0"/>
              <a:t>Types of Membership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6CEF3-31F3-0C2E-8827-567E4B50E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asda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57C4CA-DB97-B0F7-7667-61121AEF4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3D66C5-DE7D-162A-F715-B3A52C733A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0235" y="1122675"/>
            <a:ext cx="7120182" cy="55457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5D1685-905A-9576-F602-60F932CDD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62" y="2996605"/>
            <a:ext cx="4344006" cy="1619476"/>
          </a:xfrm>
          <a:prstGeom prst="rect">
            <a:avLst/>
          </a:prstGeom>
          <a:ln w="28575">
            <a:solidFill>
              <a:schemeClr val="bg2">
                <a:lumMod val="50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A7F55E1-E1EB-3C60-4657-A24CDC15D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33" y="1572327"/>
            <a:ext cx="3924848" cy="134321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A85D7B0-C303-010D-4ECC-5E096FDAB8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241" y="4720549"/>
            <a:ext cx="3038899" cy="638264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DB8944F-6DBE-3407-8423-DC790022863E}"/>
              </a:ext>
            </a:extLst>
          </p:cNvPr>
          <p:cNvSpPr/>
          <p:nvPr/>
        </p:nvSpPr>
        <p:spPr>
          <a:xfrm>
            <a:off x="8788400" y="4047067"/>
            <a:ext cx="3403600" cy="2607733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EF8EB2-85B8-AB18-0FDF-DEE1F31F6061}"/>
              </a:ext>
            </a:extLst>
          </p:cNvPr>
          <p:cNvSpPr/>
          <p:nvPr/>
        </p:nvSpPr>
        <p:spPr>
          <a:xfrm>
            <a:off x="5273146" y="1198610"/>
            <a:ext cx="3403600" cy="260773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AA2EA1-D980-108E-DFBA-B317F61CEE33}"/>
              </a:ext>
            </a:extLst>
          </p:cNvPr>
          <p:cNvSpPr/>
          <p:nvPr/>
        </p:nvSpPr>
        <p:spPr>
          <a:xfrm>
            <a:off x="5206383" y="4060695"/>
            <a:ext cx="3403600" cy="2607733"/>
          </a:xfrm>
          <a:prstGeom prst="rect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ECAC37-9CAD-E609-60B4-BD7A0C38EABA}"/>
              </a:ext>
            </a:extLst>
          </p:cNvPr>
          <p:cNvSpPr/>
          <p:nvPr/>
        </p:nvSpPr>
        <p:spPr>
          <a:xfrm>
            <a:off x="8850669" y="1209145"/>
            <a:ext cx="3403600" cy="2607733"/>
          </a:xfrm>
          <a:prstGeom prst="rect">
            <a:avLst/>
          </a:prstGeom>
          <a:noFill/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962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B7FE-0B8B-835F-EE10-91C28C89A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Fuzzy Operations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D45EE-9140-16FF-78AD-233346332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318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These operations i.e. union, intersection, and complement allows for flexible decision-making, pattern recognition, and control systems that mimic human reasoning. </a:t>
            </a:r>
          </a:p>
          <a:p>
            <a:r>
              <a:rPr lang="en-US" b="1" dirty="0"/>
              <a:t>Union (OR): </a:t>
            </a:r>
            <a:r>
              <a:rPr lang="el-GR" i="1" dirty="0"/>
              <a:t>μ</a:t>
            </a:r>
            <a:r>
              <a:rPr lang="en-US" i="1" dirty="0"/>
              <a:t>A∪ B​(x)= max(</a:t>
            </a:r>
            <a:r>
              <a:rPr lang="el-GR" i="1" dirty="0"/>
              <a:t>μ</a:t>
            </a:r>
            <a:r>
              <a:rPr lang="en-US" i="1" dirty="0"/>
              <a:t>A​(x), </a:t>
            </a:r>
            <a:r>
              <a:rPr lang="el-GR" i="1" dirty="0"/>
              <a:t>μ</a:t>
            </a:r>
            <a:r>
              <a:rPr lang="en-US" i="1" dirty="0"/>
              <a:t>B​(x)) </a:t>
            </a:r>
          </a:p>
          <a:p>
            <a:pPr marL="0" indent="0">
              <a:buNone/>
            </a:pPr>
            <a:r>
              <a:rPr lang="en-US" i="1" dirty="0"/>
              <a:t>	</a:t>
            </a:r>
            <a:r>
              <a:rPr lang="en-US" dirty="0"/>
              <a:t>OR is dominated by the </a:t>
            </a:r>
            <a:r>
              <a:rPr lang="en-US" b="1" dirty="0"/>
              <a:t>stronger condition</a:t>
            </a:r>
          </a:p>
          <a:p>
            <a:pPr marL="0" indent="0">
              <a:buNone/>
            </a:pPr>
            <a:r>
              <a:rPr lang="en-US" i="1" dirty="0"/>
              <a:t>			example: If  </a:t>
            </a:r>
            <a:r>
              <a:rPr lang="el-GR" i="1" dirty="0"/>
              <a:t>μ</a:t>
            </a:r>
            <a:r>
              <a:rPr lang="en-US" i="1" dirty="0"/>
              <a:t>A(x) = 0.6 , </a:t>
            </a:r>
            <a:r>
              <a:rPr lang="el-GR" i="1" dirty="0"/>
              <a:t>μ</a:t>
            </a:r>
            <a:r>
              <a:rPr lang="en-US" i="1" dirty="0"/>
              <a:t>B(x) = 0.8 Then: </a:t>
            </a:r>
            <a:r>
              <a:rPr lang="en-US" dirty="0"/>
              <a:t>𝜇 𝐴∪𝐵(𝑥)=</a:t>
            </a:r>
            <a:r>
              <a:rPr lang="en-US" i="1" dirty="0"/>
              <a:t>0.8</a:t>
            </a:r>
          </a:p>
          <a:p>
            <a:r>
              <a:rPr lang="en-US" b="1" dirty="0"/>
              <a:t>Intersection (AND): </a:t>
            </a:r>
            <a:r>
              <a:rPr lang="el-GR" i="1" dirty="0"/>
              <a:t>μ</a:t>
            </a:r>
            <a:r>
              <a:rPr lang="en-US" i="1" dirty="0"/>
              <a:t>A∩ B​(x)=min(</a:t>
            </a:r>
            <a:r>
              <a:rPr lang="el-GR" i="1" dirty="0"/>
              <a:t>μ</a:t>
            </a:r>
            <a:r>
              <a:rPr lang="en-US" i="1" dirty="0"/>
              <a:t>A​(x),</a:t>
            </a:r>
            <a:r>
              <a:rPr lang="el-GR" i="1" dirty="0"/>
              <a:t>μ</a:t>
            </a:r>
            <a:r>
              <a:rPr lang="en-US" i="1" dirty="0"/>
              <a:t>B​(x)) </a:t>
            </a:r>
          </a:p>
          <a:p>
            <a:pPr marL="457200" lvl="1" indent="0">
              <a:buNone/>
            </a:pPr>
            <a:r>
              <a:rPr lang="en-US" sz="1800" dirty="0"/>
              <a:t>The truth of AND is limited by the </a:t>
            </a:r>
            <a:r>
              <a:rPr lang="en-US" sz="1800" b="1" dirty="0"/>
              <a:t>weaker condition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i="1" dirty="0"/>
              <a:t>			example: if  </a:t>
            </a:r>
            <a:r>
              <a:rPr lang="el-GR" i="1" dirty="0"/>
              <a:t>μA(x) = 0.7</a:t>
            </a:r>
            <a:r>
              <a:rPr lang="en-US" i="1" dirty="0"/>
              <a:t> , </a:t>
            </a:r>
            <a:r>
              <a:rPr lang="el-GR" i="1" dirty="0"/>
              <a:t>μB(x) = 0.5</a:t>
            </a:r>
            <a:r>
              <a:rPr lang="en-US" i="1" dirty="0"/>
              <a:t>, then </a:t>
            </a:r>
            <a:r>
              <a:rPr lang="el-GR" i="1" dirty="0"/>
              <a:t>μ</a:t>
            </a:r>
            <a:r>
              <a:rPr lang="en-US" i="1" dirty="0"/>
              <a:t>A∩B​(x)=0.5</a:t>
            </a:r>
            <a:endParaRPr lang="el-GR" i="1" dirty="0"/>
          </a:p>
          <a:p>
            <a:r>
              <a:rPr lang="en-US" b="1" dirty="0"/>
              <a:t>Compliment (NOT):</a:t>
            </a:r>
            <a:r>
              <a:rPr lang="en-US" b="1" i="1" dirty="0"/>
              <a:t> </a:t>
            </a:r>
            <a:r>
              <a:rPr lang="el-GR" i="1" dirty="0"/>
              <a:t>μAˉ​(x)=1−μA​(x)</a:t>
            </a:r>
            <a:r>
              <a:rPr lang="en-US" i="1" dirty="0"/>
              <a:t> </a:t>
            </a:r>
          </a:p>
          <a:p>
            <a:pPr marL="457200" lvl="1" indent="0">
              <a:buNone/>
            </a:pPr>
            <a:r>
              <a:rPr lang="en-US" sz="1800" dirty="0"/>
              <a:t>Degree of “NOT A” is the </a:t>
            </a:r>
            <a:r>
              <a:rPr lang="en-US" sz="1800" b="1" dirty="0"/>
              <a:t>opposite of </a:t>
            </a:r>
            <a:r>
              <a:rPr lang="en-US" sz="1800" dirty="0"/>
              <a:t>“A”.</a:t>
            </a:r>
          </a:p>
          <a:p>
            <a:pPr marL="0" indent="0">
              <a:buNone/>
            </a:pPr>
            <a:r>
              <a:rPr lang="en-US" i="1" dirty="0"/>
              <a:t>			example: If </a:t>
            </a:r>
            <a:r>
              <a:rPr lang="en-US" i="1" dirty="0" err="1"/>
              <a:t>μA</a:t>
            </a:r>
            <a:r>
              <a:rPr lang="en-US" i="1" dirty="0"/>
              <a:t>(x) = 0.3, Then: </a:t>
            </a:r>
            <a:r>
              <a:rPr lang="en-US" dirty="0"/>
              <a:t>𝜇¬𝐴(𝑥)=</a:t>
            </a:r>
            <a:r>
              <a:rPr lang="en-US" i="1" dirty="0"/>
              <a:t>0.7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140AB-06A7-6208-5DC6-91E3365CF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098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ECCB3E7-006F-CCC5-2DB5-F8798B129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128" y="2925210"/>
            <a:ext cx="4288872" cy="19833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76CFB6-E02B-EFDD-037B-23830557F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Fuzzy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D8284-B62F-DAE1-DAC5-E367ADDAD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92379"/>
            <a:ext cx="9018757" cy="41109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b="1" dirty="0"/>
              <a:t>Fuzzy learning </a:t>
            </a:r>
            <a:r>
              <a:rPr lang="en-US" sz="1900" dirty="0"/>
              <a:t>combines fuzzy logic with machine learning. It deals with uncertainty and imprecision in data. Useful in systems that mimic human reasoning.</a:t>
            </a:r>
          </a:p>
          <a:p>
            <a:pPr marL="0" indent="0">
              <a:buNone/>
            </a:pPr>
            <a:r>
              <a:rPr lang="en-US" sz="1900" dirty="0"/>
              <a:t>Unlike binary logic (0 or 1), fuzzy logic allows degrees of truth (e.g., 0.2, 0.7).</a:t>
            </a:r>
          </a:p>
          <a:p>
            <a:pPr marL="0" indent="0">
              <a:buNone/>
            </a:pPr>
            <a:r>
              <a:rPr lang="en-US" sz="1900" dirty="0"/>
              <a:t>Components of Fuzzy Systems</a:t>
            </a:r>
          </a:p>
          <a:p>
            <a:pPr lvl="1"/>
            <a:r>
              <a:rPr lang="en-US" sz="1900" b="1" dirty="0"/>
              <a:t>Rule Base: </a:t>
            </a:r>
            <a:r>
              <a:rPr lang="en-US" sz="1900" dirty="0"/>
              <a:t>Set of fuzzy IF-THEN rules and membership function.</a:t>
            </a:r>
          </a:p>
          <a:p>
            <a:pPr lvl="1"/>
            <a:r>
              <a:rPr lang="en-US" sz="1900" b="1" dirty="0"/>
              <a:t>Fuzzification: </a:t>
            </a:r>
            <a:r>
              <a:rPr lang="en-US" sz="1900" dirty="0"/>
              <a:t>Converts crisp inputs into fuzzy values.</a:t>
            </a:r>
          </a:p>
          <a:p>
            <a:pPr lvl="1"/>
            <a:r>
              <a:rPr lang="en-US" sz="1900" b="1" dirty="0"/>
              <a:t>Inference Engine:</a:t>
            </a:r>
            <a:r>
              <a:rPr lang="en-US" sz="1900" dirty="0"/>
              <a:t> Applies rules to generate fuzzy outputs.</a:t>
            </a:r>
          </a:p>
          <a:p>
            <a:pPr lvl="1"/>
            <a:r>
              <a:rPr lang="en-US" sz="1900" b="1" dirty="0"/>
              <a:t>Defuzzification: </a:t>
            </a:r>
            <a:r>
              <a:rPr lang="en-US" sz="1900" dirty="0"/>
              <a:t>Converts fuzzy outputs back to crisp values.</a:t>
            </a:r>
          </a:p>
          <a:p>
            <a:pPr marL="0" indent="0">
              <a:buNone/>
            </a:pPr>
            <a:r>
              <a:rPr lang="en-US" sz="1900" b="1" dirty="0"/>
              <a:t>Fuzzy Rule-Based Learning</a:t>
            </a:r>
          </a:p>
          <a:p>
            <a:pPr lvl="1"/>
            <a:r>
              <a:rPr lang="en-US" sz="1900" dirty="0"/>
              <a:t>Learns rules from data or expert knowledge.</a:t>
            </a:r>
          </a:p>
          <a:p>
            <a:pPr lvl="1"/>
            <a:r>
              <a:rPr lang="en-US" sz="1900" dirty="0"/>
              <a:t>Example: IF temperature is high AND humidity is low THEN fan speed is high.</a:t>
            </a:r>
          </a:p>
          <a:p>
            <a:pPr lvl="1"/>
            <a:r>
              <a:rPr lang="en-US" sz="1900" dirty="0"/>
              <a:t>Rules can be learned using decision trees or optimization methods.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919388-1EA8-FAC9-B1E8-8A9B63B4B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987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EAECE-12B8-F24D-D4C2-452197047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Fuzzification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57375-6558-981A-A86E-0D9633AAF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63284"/>
            <a:ext cx="8596668" cy="3880773"/>
          </a:xfrm>
        </p:spPr>
        <p:txBody>
          <a:bodyPr/>
          <a:lstStyle/>
          <a:p>
            <a:r>
              <a:rPr lang="en-US" dirty="0"/>
              <a:t>Fuzzification is the process of converting crisp (numerical) input values into fuzzy values by determining their degrees of membership in corresponding fuzzy sets.</a:t>
            </a:r>
          </a:p>
          <a:p>
            <a:pPr marL="457200" lvl="1" indent="0">
              <a:buNone/>
            </a:pPr>
            <a:r>
              <a:rPr lang="en-US" sz="1800" dirty="0"/>
              <a:t>-To make real-world data suitable for fuzzy reasoning</a:t>
            </a:r>
          </a:p>
          <a:p>
            <a:pPr marL="457200" lvl="1" indent="0">
              <a:buNone/>
            </a:pPr>
            <a:r>
              <a:rPr lang="en-US" sz="1800" dirty="0"/>
              <a:t>-To express input information in linguistic terms</a:t>
            </a:r>
          </a:p>
          <a:p>
            <a:r>
              <a:rPr lang="en-US" dirty="0"/>
              <a:t>How Fuzzification Works</a:t>
            </a:r>
          </a:p>
          <a:p>
            <a:pPr marL="457200" lvl="1" indent="0">
              <a:buNone/>
            </a:pPr>
            <a:r>
              <a:rPr lang="en-US" sz="1800" dirty="0"/>
              <a:t>Take a crisp input value</a:t>
            </a:r>
          </a:p>
          <a:p>
            <a:pPr marL="457200" lvl="1" indent="0">
              <a:buNone/>
            </a:pPr>
            <a:r>
              <a:rPr lang="en-US" sz="1800" dirty="0"/>
              <a:t>Apply predefined membership functions</a:t>
            </a:r>
          </a:p>
          <a:p>
            <a:pPr marL="457200" lvl="1" indent="0">
              <a:buNone/>
            </a:pPr>
            <a:r>
              <a:rPr lang="en-US" sz="1800" dirty="0"/>
              <a:t>Compute membership degrees (between 0 and 1)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8BDEBF-9D73-0F1A-66B0-62E7CC26C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361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FDCC4-F712-FCCD-92B6-A472B9B6E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25AA7-38CD-B2CE-7955-C9429EDF2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Defuzzification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8AF0E-D36E-787E-14A2-FA8F287F2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63284"/>
            <a:ext cx="8596668" cy="3880773"/>
          </a:xfrm>
        </p:spPr>
        <p:txBody>
          <a:bodyPr/>
          <a:lstStyle/>
          <a:p>
            <a:r>
              <a:rPr lang="en-US" dirty="0"/>
              <a:t>Defuzzification is the process of converting the fuzzy output obtained from the inference engine into a single crisp output value.</a:t>
            </a:r>
          </a:p>
          <a:p>
            <a:pPr lvl="1"/>
            <a:r>
              <a:rPr lang="en-US" sz="1800" dirty="0"/>
              <a:t>To obtain a usable control signal</a:t>
            </a:r>
          </a:p>
          <a:p>
            <a:pPr lvl="1"/>
            <a:r>
              <a:rPr lang="en-US" sz="1800" dirty="0"/>
              <a:t>To apply fuzzy decisions in real-world systems</a:t>
            </a:r>
          </a:p>
          <a:p>
            <a:pPr marL="0" indent="0">
              <a:buNone/>
            </a:pPr>
            <a:r>
              <a:rPr lang="en-US" dirty="0"/>
              <a:t>Why Defuzzification is Needed</a:t>
            </a:r>
          </a:p>
          <a:p>
            <a:pPr marL="0" indent="0">
              <a:buNone/>
            </a:pPr>
            <a:r>
              <a:rPr lang="en-US" dirty="0"/>
              <a:t>	Machines and actuators:</a:t>
            </a:r>
          </a:p>
          <a:p>
            <a:pPr lvl="2"/>
            <a:r>
              <a:rPr lang="en-US" sz="1600" dirty="0"/>
              <a:t>Cannot work with fuzzy values</a:t>
            </a:r>
          </a:p>
          <a:p>
            <a:pPr lvl="2"/>
            <a:r>
              <a:rPr lang="en-US" sz="1800" dirty="0"/>
              <a:t>Require exact numerical values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BE98D-785A-A696-F881-026935AF5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21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40FC8-376C-8809-EE4B-884B2B5F7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defuzzification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75A7F-A825-2FCF-6336-F4E4F7A84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Center of Sums Method (COS)</a:t>
            </a:r>
          </a:p>
          <a:p>
            <a:pPr>
              <a:buFont typeface="+mj-lt"/>
              <a:buAutoNum type="arabicPeriod"/>
            </a:pPr>
            <a:r>
              <a:rPr lang="en-US" dirty="0"/>
              <a:t>Center of gravity (COG) / Centroid of Area (COA) Method</a:t>
            </a:r>
          </a:p>
          <a:p>
            <a:pPr>
              <a:buFont typeface="+mj-lt"/>
              <a:buAutoNum type="arabicPeriod"/>
            </a:pPr>
            <a:r>
              <a:rPr lang="en-US" dirty="0"/>
              <a:t>Center of Area / Bisector of Area Method (BOA)</a:t>
            </a:r>
          </a:p>
          <a:p>
            <a:pPr>
              <a:buFont typeface="+mj-lt"/>
              <a:buAutoNum type="arabicPeriod"/>
            </a:pPr>
            <a:r>
              <a:rPr lang="en-US" dirty="0"/>
              <a:t>Weighted Average Method</a:t>
            </a:r>
          </a:p>
          <a:p>
            <a:pPr>
              <a:buFont typeface="+mj-lt"/>
              <a:buAutoNum type="arabicPeriod"/>
            </a:pPr>
            <a:r>
              <a:rPr lang="en-US" dirty="0"/>
              <a:t>Maxima Methods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dirty="0"/>
              <a:t>First of Maxima Method (FOM)</a:t>
            </a:r>
          </a:p>
          <a:p>
            <a:pPr marL="800100" lvl="1" indent="-342900">
              <a:buFont typeface="+mj-lt"/>
              <a:buAutoNum type="romanLcPeriod"/>
            </a:pPr>
            <a:r>
              <a:rPr lang="en-US" dirty="0"/>
              <a:t>Last of Maxima Method (LOM)</a:t>
            </a:r>
          </a:p>
          <a:p>
            <a:pPr marL="800100" lvl="1" indent="-342900">
              <a:buFont typeface="+mj-lt"/>
              <a:buAutoNum type="romanLcPeriod"/>
            </a:pPr>
            <a:r>
              <a:rPr lang="en-US" dirty="0"/>
              <a:t>Mean of Maxima Method (MOM)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2465AF-4B04-DAF6-1C4A-3D2C57EC0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D8DCCF94-5D81-E9AD-59D4-2C568F94D1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597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121A9-9969-EA54-FD2C-C86A74627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36DFA8A-609B-49C7-B0DD-EC2794570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227" y="2589642"/>
            <a:ext cx="2352812" cy="25591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4E4453-0289-0C6A-4C94-4E60FE2FC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271" y="1709218"/>
            <a:ext cx="2824657" cy="12068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D152DA-6446-77AC-529B-C18F2D2AA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defuzzification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28BBE-A795-56FF-7265-8E42106FF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1013"/>
            <a:ext cx="8596668" cy="3880773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Center of Sums Method (COS)</a:t>
            </a:r>
          </a:p>
          <a:p>
            <a:pPr marL="457200" lvl="1" indent="0">
              <a:buNone/>
            </a:pPr>
            <a:r>
              <a:rPr lang="en-US" dirty="0"/>
              <a:t>	Where Ai is area of region</a:t>
            </a:r>
          </a:p>
          <a:p>
            <a:pPr marL="457200" lvl="1" indent="0">
              <a:buNone/>
            </a:pPr>
            <a:r>
              <a:rPr lang="en-US" dirty="0"/>
              <a:t>	Xi = geometric center of that area</a:t>
            </a:r>
          </a:p>
          <a:p>
            <a:pPr marL="0" indent="0">
              <a:buNone/>
            </a:pPr>
            <a:r>
              <a:rPr lang="en-US" dirty="0"/>
              <a:t>	overlapping is counted twice or</a:t>
            </a:r>
            <a:r>
              <a:rPr lang="en-US" b="1" dirty="0"/>
              <a:t> </a:t>
            </a:r>
            <a:r>
              <a:rPr lang="en-US" dirty="0"/>
              <a:t>calculated as isolated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EE91E-0BA7-A4E4-9A03-8C9BF6659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4A71AE74-1D7D-876E-0EC6-3424F2FDC8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87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EE9EB-9F1A-6821-1427-BED811E79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FAA8D7FC-31B0-305A-67B2-42113D5D8AF8}"/>
              </a:ext>
            </a:extLst>
          </p:cNvPr>
          <p:cNvGrpSpPr/>
          <p:nvPr/>
        </p:nvGrpSpPr>
        <p:grpSpPr>
          <a:xfrm>
            <a:off x="374104" y="3276600"/>
            <a:ext cx="9378815" cy="2163573"/>
            <a:chOff x="468443" y="4084827"/>
            <a:chExt cx="9378815" cy="216357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94C7DA9-3A00-0014-1130-65A47ACBD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83532" y="4084827"/>
              <a:ext cx="3064870" cy="2139097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FCC44DB-D0B0-786F-C868-049A7C107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443" y="4087590"/>
              <a:ext cx="2743107" cy="216081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79C203D-E925-E456-E150-2042CEF8E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82788" y="4202424"/>
              <a:ext cx="2964470" cy="2003703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F415E65A-2D35-1573-334C-C03C2014CC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3" y="254241"/>
            <a:ext cx="4018900" cy="2274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0636B4-F4EA-0A5C-AC67-A28575E72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defuzzification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A23C3-DCF3-3071-BEF7-2C51CA581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18197"/>
            <a:ext cx="8596668" cy="3880773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Center of gravity (COG) / Centroid of Area (COA) Method</a:t>
            </a:r>
          </a:p>
          <a:p>
            <a:pPr marL="0" indent="0">
              <a:buNone/>
            </a:pPr>
            <a:r>
              <a:rPr lang="en-US" dirty="0"/>
              <a:t>Same as COS but overlapped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D7ED74-A6AF-837A-6D54-704A24430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C3768F10-477B-3B5D-EBBE-A5E66A17DD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C5A809-6A7D-4344-7098-D2C87C67C7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9627" y="2670245"/>
            <a:ext cx="2105319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864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373E0-5C90-D76A-1969-CEA04EAFE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Fuzzy Inference System: Mamdani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9DFBB-1DA5-74C8-EA8E-4A90D15F0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US" dirty="0"/>
              <a:t>Named after Ebrahim Mamdani who first proposed it in 1975.</a:t>
            </a:r>
          </a:p>
          <a:p>
            <a:r>
              <a:rPr lang="en-US" dirty="0"/>
              <a:t>This model is used to derive a fuzzy output from a set of fuzzy inputs based on a set of fuzzy rules.</a:t>
            </a:r>
          </a:p>
          <a:p>
            <a:pPr marL="0" indent="0">
              <a:buNone/>
            </a:pPr>
            <a:r>
              <a:rPr lang="en-US" b="1" dirty="0"/>
              <a:t>Steps in Mamdani Fuzzy Inference System:</a:t>
            </a:r>
          </a:p>
          <a:p>
            <a:pPr>
              <a:buFont typeface="+mj-lt"/>
              <a:buAutoNum type="arabicPeriod"/>
            </a:pPr>
            <a:r>
              <a:rPr lang="en-US" dirty="0"/>
              <a:t>Fuzzification: Convert crisp inputs into fuzzy sets using membership functions.</a:t>
            </a:r>
          </a:p>
          <a:p>
            <a:pPr>
              <a:buFont typeface="+mj-lt"/>
              <a:buAutoNum type="arabicPeriod"/>
            </a:pPr>
            <a:r>
              <a:rPr lang="en-US" dirty="0"/>
              <a:t>Rule Evaluation: Apply the fuzzy inputs to the antecedents of the fuzzy rules and determine the firing strength of each rule.</a:t>
            </a:r>
          </a:p>
          <a:p>
            <a:pPr>
              <a:buFont typeface="+mj-lt"/>
              <a:buAutoNum type="arabicPeriod"/>
            </a:pPr>
            <a:r>
              <a:rPr lang="en-US" dirty="0"/>
              <a:t>Aggregation: Aggregate the outputs of each rule (the consequents) into a single fuzzy set.</a:t>
            </a:r>
          </a:p>
          <a:p>
            <a:pPr>
              <a:buFont typeface="+mj-lt"/>
              <a:buAutoNum type="arabicPeriod"/>
            </a:pPr>
            <a:r>
              <a:rPr lang="en-US" dirty="0"/>
              <a:t>Defuzzification: Convert the aggregated fuzzy set into a crisp output.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C0FFD6-10DA-4B5E-E617-9C92F9941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613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2450-3195-386C-25C2-4DDF4EF3C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and Components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D1A4C3-474C-0B0E-8CFD-058367A60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E3B76E77-4BA4-99AF-9959-967143D502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46" y="2165027"/>
            <a:ext cx="9358608" cy="276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460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6AEAB-EAB5-A4F5-77A2-75E28CA08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Fuzzification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6A450-B51D-7484-B688-4875BE0A3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input variable, we determine the degree to which it belongs to each of the appropriate fuzzy sets via membership functions.</a:t>
            </a:r>
          </a:p>
          <a:p>
            <a:pPr marL="0" indent="0">
              <a:buNone/>
            </a:pPr>
            <a:r>
              <a:rPr lang="en-US" dirty="0"/>
              <a:t>Example: </a:t>
            </a:r>
          </a:p>
          <a:p>
            <a:pPr marL="0" indent="0">
              <a:buNone/>
            </a:pPr>
            <a:r>
              <a:rPr lang="en-US" dirty="0"/>
              <a:t>Input: Temperature = 28°C</a:t>
            </a:r>
          </a:p>
          <a:p>
            <a:pPr marL="0" indent="0">
              <a:buNone/>
            </a:pPr>
            <a:r>
              <a:rPr lang="en-US" dirty="0"/>
              <a:t>Membership functions:</a:t>
            </a:r>
          </a:p>
          <a:p>
            <a:pPr marL="0" indent="0">
              <a:buNone/>
            </a:pPr>
            <a:r>
              <a:rPr lang="en-US" dirty="0"/>
              <a:t>  Cold: μ = 0.0</a:t>
            </a:r>
          </a:p>
          <a:p>
            <a:pPr marL="0" indent="0">
              <a:buNone/>
            </a:pPr>
            <a:r>
              <a:rPr lang="en-US" dirty="0"/>
              <a:t>  Warm: μ = 0.3  </a:t>
            </a:r>
          </a:p>
          <a:p>
            <a:pPr marL="0" indent="0">
              <a:buNone/>
            </a:pPr>
            <a:r>
              <a:rPr lang="en-US" dirty="0"/>
              <a:t>  Hot: μ = 0.7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E2EB08-C3FD-0936-28DF-26197BACC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57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53FCD-9346-FD3F-3C41-25F8E250F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Rule Evaluation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1AFBF-381B-27FA-2547-25DD50EE7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2683"/>
            <a:ext cx="8596668" cy="473380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Each rule in the rule base is evaluated. A rule typically has the form:</a:t>
            </a:r>
            <a:br>
              <a:rPr lang="en-US" dirty="0"/>
            </a:br>
            <a:r>
              <a:rPr lang="en-US" dirty="0"/>
              <a:t>IF x1 is A1 AND x2 is A2 ... THEN y is B</a:t>
            </a:r>
          </a:p>
          <a:p>
            <a:r>
              <a:rPr lang="en-US" dirty="0"/>
              <a:t>The antecedent (IF part) is evaluated by combining the membership degrees of the input variables (using AND/OR operators).</a:t>
            </a:r>
          </a:p>
          <a:p>
            <a:r>
              <a:rPr lang="en-US" dirty="0"/>
              <a:t>The AND operator is typically implemented as min (minimum of the membership degrees) and OR as max (maximum).</a:t>
            </a:r>
          </a:p>
          <a:p>
            <a:r>
              <a:rPr lang="en-US" dirty="0"/>
              <a:t>The firing strength of a rule is the degree to which the antecedent is satisfied.</a:t>
            </a:r>
          </a:p>
          <a:p>
            <a:pPr marL="0" indent="0">
              <a:buNone/>
            </a:pPr>
            <a:r>
              <a:rPr lang="en-US" dirty="0"/>
              <a:t>Example: </a:t>
            </a:r>
          </a:p>
          <a:p>
            <a:pPr marL="0" indent="0">
              <a:buNone/>
            </a:pPr>
            <a:r>
              <a:rPr lang="en-US" dirty="0"/>
              <a:t>Rule 1: IF temp is Hot AND humidity is High THEN speed is Fast</a:t>
            </a:r>
          </a:p>
          <a:p>
            <a:pPr marL="0" indent="0">
              <a:buNone/>
            </a:pPr>
            <a:r>
              <a:rPr lang="en-US" dirty="0"/>
              <a:t>        temp μ(Hot) = 0.7, humidity μ(High) = 0.4</a:t>
            </a:r>
          </a:p>
          <a:p>
            <a:pPr marL="0" indent="0">
              <a:buNone/>
            </a:pPr>
            <a:r>
              <a:rPr lang="en-US" dirty="0"/>
              <a:t>        α₁ = min(0.7, 0.4) = 0.4  (using AND as minimum)</a:t>
            </a:r>
          </a:p>
          <a:p>
            <a:pPr marL="0" indent="0">
              <a:buNone/>
            </a:pPr>
            <a:r>
              <a:rPr lang="en-US" dirty="0"/>
              <a:t>Rule 2: IF temp is Warm THEN speed is Medium</a:t>
            </a:r>
          </a:p>
          <a:p>
            <a:pPr marL="0" indent="0">
              <a:buNone/>
            </a:pPr>
            <a:r>
              <a:rPr lang="en-US" dirty="0"/>
              <a:t>        temp μ(Warm) = 0.3</a:t>
            </a:r>
          </a:p>
          <a:p>
            <a:pPr marL="0" indent="0">
              <a:buNone/>
            </a:pPr>
            <a:r>
              <a:rPr lang="en-US" dirty="0"/>
              <a:t>        α₂ = 0.3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AE258D-01C1-BC38-38F6-1749D16EB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56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D5E46-5161-0F58-21FB-FA1AC92E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Aggregation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43BA3-CD7B-D34F-F152-876341D4E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consequents (THEN part) of all rules are combined into a single fuzzy set.</a:t>
            </a:r>
          </a:p>
          <a:p>
            <a:r>
              <a:rPr lang="en-US" dirty="0"/>
              <a:t>Each rule's consequent is clipped (or scaled) by the rule's firing strength.</a:t>
            </a:r>
          </a:p>
          <a:p>
            <a:r>
              <a:rPr lang="en-US" dirty="0"/>
              <a:t>The aggregated output is the union (max) of all the clipped consequents.</a:t>
            </a:r>
          </a:p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Take the UNION (maximum) of all clipped/scaled output membership functions</a:t>
            </a:r>
          </a:p>
          <a:p>
            <a:pPr lvl="1"/>
            <a:r>
              <a:rPr lang="en-US" dirty="0"/>
              <a:t>Result: A single fuzzy set representing the combined output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60F3C1-E270-E596-6641-6080BF621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08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1648B-68DC-D37D-EA95-7B6BA2864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Defuzzification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E8A77-D5D9-5F1D-35D8-0808145AF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aggregated fuzzy set is then defuzzied to obtain a crisp output.</a:t>
            </a:r>
          </a:p>
          <a:p>
            <a:r>
              <a:rPr lang="en-US" dirty="0"/>
              <a:t>Common methods for defuzzification include:</a:t>
            </a:r>
          </a:p>
          <a:p>
            <a:pPr lvl="1"/>
            <a:r>
              <a:rPr lang="en-US" dirty="0"/>
              <a:t>Centroid (center of gravity): The most common method, which calculates the center of the area under the curve.</a:t>
            </a:r>
          </a:p>
          <a:p>
            <a:pPr lvl="1"/>
            <a:r>
              <a:rPr lang="en-US" dirty="0"/>
              <a:t>Bisector: The point that divides the area into two equal parts.</a:t>
            </a:r>
          </a:p>
          <a:p>
            <a:pPr lvl="1"/>
            <a:r>
              <a:rPr lang="en-US" dirty="0"/>
              <a:t>Mean of maximum (MOM): The average of the maximum values of the aggregated output.</a:t>
            </a:r>
          </a:p>
          <a:p>
            <a:pPr lvl="1"/>
            <a:r>
              <a:rPr lang="en-US" dirty="0"/>
              <a:t>Smallest of maximum (SOM), and Largest of maximum (LOM).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8766F-34FB-8101-EAE4-B6B4DFD64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41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09F11-D770-0153-BF75-031CB7E8D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 Air Conditioner Control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BF5E9-0654-7C99-52BD-5779CD0A6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59145"/>
            <a:ext cx="6297612" cy="388077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Input Variables:</a:t>
            </a:r>
          </a:p>
          <a:p>
            <a:pPr marL="457200" lvl="1" indent="0">
              <a:buNone/>
            </a:pPr>
            <a:r>
              <a:rPr lang="en-US" dirty="0"/>
              <a:t>Temperature: {Cold, Warm, Hot}</a:t>
            </a:r>
          </a:p>
          <a:p>
            <a:pPr marL="457200" lvl="1" indent="0">
              <a:buNone/>
            </a:pPr>
            <a:r>
              <a:rPr lang="en-US" dirty="0"/>
              <a:t>Humidity: {Low, Medium, High}</a:t>
            </a:r>
          </a:p>
          <a:p>
            <a:pPr marL="0" indent="0">
              <a:buNone/>
            </a:pPr>
            <a:r>
              <a:rPr lang="en-US" b="1" dirty="0"/>
              <a:t>Output Variable:</a:t>
            </a:r>
          </a:p>
          <a:p>
            <a:pPr marL="457200" lvl="1" indent="0">
              <a:buNone/>
            </a:pPr>
            <a:r>
              <a:rPr lang="en-US" dirty="0"/>
              <a:t>Fan Speed: {Slow, Medium, Fast}</a:t>
            </a:r>
          </a:p>
          <a:p>
            <a:pPr marL="0" indent="0">
              <a:buNone/>
            </a:pPr>
            <a:r>
              <a:rPr lang="en-US" b="1" dirty="0"/>
              <a:t>Rules:</a:t>
            </a:r>
          </a:p>
          <a:p>
            <a:pPr marL="457200" lvl="1" indent="0">
              <a:buNone/>
            </a:pPr>
            <a:r>
              <a:rPr lang="en-US" dirty="0"/>
              <a:t>IF temp is Hot AND humidity is High THEN speed is Fast</a:t>
            </a:r>
          </a:p>
          <a:p>
            <a:pPr marL="457200" lvl="1" indent="0">
              <a:buNone/>
            </a:pPr>
            <a:r>
              <a:rPr lang="en-US" dirty="0"/>
              <a:t>IF temp is Warm AND humidity is Medium THEN speed is Medium</a:t>
            </a:r>
          </a:p>
          <a:p>
            <a:pPr marL="457200" lvl="1" indent="0">
              <a:buNone/>
            </a:pPr>
            <a:r>
              <a:rPr lang="en-US" dirty="0"/>
              <a:t>IF temp is Cold THEN speed is Slow</a:t>
            </a:r>
          </a:p>
          <a:p>
            <a:pPr marL="0" indent="0">
              <a:buNone/>
            </a:pPr>
            <a:r>
              <a:rPr lang="en-US" b="1" dirty="0"/>
              <a:t>Crisp Inputs:</a:t>
            </a:r>
          </a:p>
          <a:p>
            <a:pPr marL="457200" lvl="1" indent="0">
              <a:buNone/>
            </a:pPr>
            <a:r>
              <a:rPr lang="en-US" dirty="0"/>
              <a:t>Temperature = 28°C → </a:t>
            </a:r>
            <a:r>
              <a:rPr lang="el-GR" dirty="0"/>
              <a:t>μ(</a:t>
            </a:r>
            <a:r>
              <a:rPr lang="en-US" dirty="0"/>
              <a:t>Hot)=0.7, </a:t>
            </a:r>
            <a:r>
              <a:rPr lang="el-GR" dirty="0"/>
              <a:t>μ(</a:t>
            </a:r>
            <a:r>
              <a:rPr lang="en-US" dirty="0"/>
              <a:t>Warm)=0.3, </a:t>
            </a:r>
            <a:r>
              <a:rPr lang="el-GR" dirty="0"/>
              <a:t>μ(</a:t>
            </a:r>
            <a:r>
              <a:rPr lang="en-US" dirty="0"/>
              <a:t>Cold)=0</a:t>
            </a:r>
          </a:p>
          <a:p>
            <a:pPr marL="0" indent="0">
              <a:buNone/>
            </a:pPr>
            <a:r>
              <a:rPr lang="en-US" dirty="0"/>
              <a:t>	Humidity = 70% → </a:t>
            </a:r>
            <a:r>
              <a:rPr lang="el-GR" dirty="0"/>
              <a:t>μ(</a:t>
            </a:r>
            <a:r>
              <a:rPr lang="en-US" dirty="0"/>
              <a:t>High)=0.4, </a:t>
            </a:r>
            <a:r>
              <a:rPr lang="el-GR" dirty="0"/>
              <a:t>μ(</a:t>
            </a:r>
            <a:r>
              <a:rPr lang="en-US" dirty="0"/>
              <a:t>Medium)=0.6, </a:t>
            </a:r>
            <a:r>
              <a:rPr lang="el-GR" dirty="0"/>
              <a:t>μ(</a:t>
            </a:r>
            <a:r>
              <a:rPr lang="en-US" dirty="0"/>
              <a:t>Low)=0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08C140-3F9E-52AD-C0B6-E202A9278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7477AFF-C0C1-8DCD-B7F5-59267C0E827D}"/>
              </a:ext>
            </a:extLst>
          </p:cNvPr>
          <p:cNvSpPr txBox="1">
            <a:spLocks/>
          </p:cNvSpPr>
          <p:nvPr/>
        </p:nvSpPr>
        <p:spPr>
          <a:xfrm>
            <a:off x="7032607" y="2343151"/>
            <a:ext cx="4482790" cy="38807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b="1" dirty="0"/>
              <a:t>Calculations: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	Rule 1: </a:t>
            </a:r>
            <a:r>
              <a:rPr lang="el-GR" dirty="0"/>
              <a:t>α₁ = </a:t>
            </a:r>
            <a:r>
              <a:rPr lang="en-US" dirty="0"/>
              <a:t>min(0.7, 0.4) = 0.4 → Clip "Fast" at 0.4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	Rule 2: </a:t>
            </a:r>
            <a:r>
              <a:rPr lang="el-GR" dirty="0"/>
              <a:t>α₂ = </a:t>
            </a:r>
            <a:r>
              <a:rPr lang="en-US" dirty="0"/>
              <a:t>min(0.3, 0.6) = 0.3 → Clip "Medium" at 0.3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	Rule 3: </a:t>
            </a:r>
            <a:r>
              <a:rPr lang="el-GR" dirty="0"/>
              <a:t>α₃ = </a:t>
            </a:r>
            <a:r>
              <a:rPr lang="en-US" dirty="0"/>
              <a:t>min(0, ...) = 0 → No effect</a:t>
            </a:r>
          </a:p>
          <a:p>
            <a:pPr marL="0" indent="0">
              <a:buFont typeface="Wingdings 3" charset="2"/>
              <a:buNone/>
            </a:pPr>
            <a:r>
              <a:rPr lang="en-US" b="1" dirty="0"/>
              <a:t>Aggregate: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 		Take max of clipped functions</a:t>
            </a:r>
          </a:p>
          <a:p>
            <a:pPr marL="0" indent="0">
              <a:buFont typeface="Wingdings 3" charset="2"/>
              <a:buNone/>
            </a:pPr>
            <a:r>
              <a:rPr lang="en-US" b="1" dirty="0" err="1"/>
              <a:t>Defuzzify</a:t>
            </a:r>
            <a:r>
              <a:rPr lang="en-US" b="1" dirty="0"/>
              <a:t>: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	 	Calculate centroid → Output: 65% fan speed</a:t>
            </a:r>
          </a:p>
        </p:txBody>
      </p:sp>
    </p:spTree>
    <p:extLst>
      <p:ext uri="{BB962C8B-B14F-4D97-AF65-F5344CB8AC3E}">
        <p14:creationId xmlns:p14="http://schemas.microsoft.com/office/powerpoint/2010/main" val="1581272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13E89-2A94-B69B-91F7-BF0716B1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Mamdani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B94B1-6C34-AE93-D8A2-EF42B1FFB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8079"/>
            <a:ext cx="8596668" cy="47784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Advantages</a:t>
            </a:r>
          </a:p>
          <a:p>
            <a:pPr lvl="1"/>
            <a:r>
              <a:rPr lang="en-US" dirty="0"/>
              <a:t>Intuitive - Easy to understand and interpret</a:t>
            </a:r>
          </a:p>
          <a:p>
            <a:pPr lvl="1"/>
            <a:r>
              <a:rPr lang="en-US" dirty="0"/>
              <a:t>Human-like reasoning - Mimics human decision-making</a:t>
            </a:r>
          </a:p>
          <a:p>
            <a:pPr lvl="1"/>
            <a:r>
              <a:rPr lang="en-US" dirty="0"/>
              <a:t>Well-suited for expert knowledge - Rules come from human experts</a:t>
            </a:r>
          </a:p>
          <a:p>
            <a:pPr lvl="1"/>
            <a:r>
              <a:rPr lang="en-US" dirty="0"/>
              <a:t>Smooth output - Provides gradual control changes</a:t>
            </a:r>
          </a:p>
          <a:p>
            <a:pPr lvl="1"/>
            <a:r>
              <a:rPr lang="en-US" dirty="0"/>
              <a:t>Robust - Tolerates imprecise inputs well</a:t>
            </a:r>
          </a:p>
          <a:p>
            <a:pPr marL="0" indent="0">
              <a:buNone/>
            </a:pPr>
            <a:r>
              <a:rPr lang="en-US" b="1" dirty="0"/>
              <a:t>Disadvantages</a:t>
            </a:r>
          </a:p>
          <a:p>
            <a:pPr lvl="1"/>
            <a:r>
              <a:rPr lang="en-US" dirty="0"/>
              <a:t>Computationally expensive - Especially defuzzification step</a:t>
            </a:r>
          </a:p>
          <a:p>
            <a:pPr lvl="1"/>
            <a:r>
              <a:rPr lang="en-US" dirty="0"/>
              <a:t>Complex with many rules - Can become unwieldy</a:t>
            </a:r>
          </a:p>
          <a:p>
            <a:pPr lvl="1"/>
            <a:r>
              <a:rPr lang="en-US" dirty="0"/>
              <a:t>Difficult mathematical analysis - Hard to prove stability</a:t>
            </a:r>
          </a:p>
          <a:p>
            <a:pPr lvl="1"/>
            <a:r>
              <a:rPr lang="en-US" dirty="0"/>
              <a:t>Rule explosion problem - Many rules needed for complex systems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C8367-E071-FE0B-9956-7EABE618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424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9024D-FEBB-A005-DBDE-5026759A0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Real-world applications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CE338-FD0F-9652-4C15-4D85B6107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for dynamic supportive networks and individual assessments in the huge organization business.</a:t>
            </a:r>
          </a:p>
          <a:p>
            <a:r>
              <a:rPr lang="en-US" dirty="0"/>
              <a:t>Controls the pH, drying, and concoction refining process in the substance business.</a:t>
            </a:r>
          </a:p>
          <a:p>
            <a:r>
              <a:rPr lang="en-US" dirty="0"/>
              <a:t>Fuzzy rationale is used in natural language processing.</a:t>
            </a:r>
          </a:p>
          <a:p>
            <a:r>
              <a:rPr lang="en-US" dirty="0"/>
              <a:t>Widely used in present-day control frameworks, for example, master frameworks.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0FDE71-182E-8086-4F5D-B85813B4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306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F36C3D-65E5-F126-EDAA-923A1D1CB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1579</TotalTime>
  <Words>2219</Words>
  <Application>Microsoft Office PowerPoint</Application>
  <PresentationFormat>Widescreen</PresentationFormat>
  <Paragraphs>268</Paragraphs>
  <Slides>22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Cambria Math</vt:lpstr>
      <vt:lpstr>Trebuchet MS</vt:lpstr>
      <vt:lpstr>Wingdings 3</vt:lpstr>
      <vt:lpstr>Facet</vt:lpstr>
      <vt:lpstr>Fuzzy Logic</vt:lpstr>
      <vt:lpstr>Contents</vt:lpstr>
      <vt:lpstr>Classical Logic VS Fuzzy Logic</vt:lpstr>
      <vt:lpstr>Fuzzy Sets and Membership Functions </vt:lpstr>
      <vt:lpstr>Types of Membership Functions</vt:lpstr>
      <vt:lpstr>Fuzzy Operations </vt:lpstr>
      <vt:lpstr>Fuzzy Learning</vt:lpstr>
      <vt:lpstr>Fuzzification </vt:lpstr>
      <vt:lpstr>Defuzzification </vt:lpstr>
      <vt:lpstr>Methods of defuzzification</vt:lpstr>
      <vt:lpstr>Methods of defuzzification</vt:lpstr>
      <vt:lpstr>Methods of defuzzification</vt:lpstr>
      <vt:lpstr>Fuzzy Inference System: Mamdani </vt:lpstr>
      <vt:lpstr>Architecture and Components</vt:lpstr>
      <vt:lpstr>Step 1: Fuzzification </vt:lpstr>
      <vt:lpstr>Step 2: Rule Evaluation </vt:lpstr>
      <vt:lpstr>Step 3: Aggregation </vt:lpstr>
      <vt:lpstr>Step 4: Defuzzification</vt:lpstr>
      <vt:lpstr>Example: Air Conditioner Control </vt:lpstr>
      <vt:lpstr>Mamdani Model</vt:lpstr>
      <vt:lpstr>Real-world applications</vt:lpstr>
      <vt:lpstr>Questions &amp;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KAPIL DEV PANT</dc:creator>
  <cp:lastModifiedBy>Kapil Dev Pant</cp:lastModifiedBy>
  <cp:revision>356</cp:revision>
  <dcterms:created xsi:type="dcterms:W3CDTF">2025-01-04T18:18:42Z</dcterms:created>
  <dcterms:modified xsi:type="dcterms:W3CDTF">2026-02-05T02:45:31Z</dcterms:modified>
</cp:coreProperties>
</file>