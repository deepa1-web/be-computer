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6"/>
  </p:notesMasterIdLst>
  <p:sldIdLst>
    <p:sldId id="256" r:id="rId2"/>
    <p:sldId id="257" r:id="rId3"/>
    <p:sldId id="307" r:id="rId4"/>
    <p:sldId id="309" r:id="rId5"/>
    <p:sldId id="310" r:id="rId6"/>
    <p:sldId id="311" r:id="rId7"/>
    <p:sldId id="258" r:id="rId8"/>
    <p:sldId id="259" r:id="rId9"/>
    <p:sldId id="315" r:id="rId10"/>
    <p:sldId id="317" r:id="rId11"/>
    <p:sldId id="318" r:id="rId12"/>
    <p:sldId id="260" r:id="rId13"/>
    <p:sldId id="316" r:id="rId14"/>
    <p:sldId id="261" r:id="rId15"/>
    <p:sldId id="264" r:id="rId16"/>
    <p:sldId id="265" r:id="rId17"/>
    <p:sldId id="262" r:id="rId18"/>
    <p:sldId id="263" r:id="rId19"/>
    <p:sldId id="266" r:id="rId20"/>
    <p:sldId id="268" r:id="rId21"/>
    <p:sldId id="319" r:id="rId22"/>
    <p:sldId id="277" r:id="rId23"/>
    <p:sldId id="267" r:id="rId24"/>
    <p:sldId id="269" r:id="rId25"/>
    <p:sldId id="270" r:id="rId26"/>
    <p:sldId id="320" r:id="rId27"/>
    <p:sldId id="275" r:id="rId28"/>
    <p:sldId id="271" r:id="rId29"/>
    <p:sldId id="276" r:id="rId30"/>
    <p:sldId id="278" r:id="rId31"/>
    <p:sldId id="283" r:id="rId32"/>
    <p:sldId id="284" r:id="rId33"/>
    <p:sldId id="285" r:id="rId34"/>
    <p:sldId id="272" r:id="rId35"/>
    <p:sldId id="321" r:id="rId36"/>
    <p:sldId id="313" r:id="rId37"/>
    <p:sldId id="314" r:id="rId38"/>
    <p:sldId id="273" r:id="rId39"/>
    <p:sldId id="322" r:id="rId40"/>
    <p:sldId id="279" r:id="rId41"/>
    <p:sldId id="280" r:id="rId42"/>
    <p:sldId id="286" r:id="rId43"/>
    <p:sldId id="287" r:id="rId44"/>
    <p:sldId id="282" r:id="rId45"/>
    <p:sldId id="281" r:id="rId46"/>
    <p:sldId id="312" r:id="rId47"/>
    <p:sldId id="288" r:id="rId48"/>
    <p:sldId id="290" r:id="rId49"/>
    <p:sldId id="291" r:id="rId50"/>
    <p:sldId id="292" r:id="rId51"/>
    <p:sldId id="293" r:id="rId52"/>
    <p:sldId id="289" r:id="rId53"/>
    <p:sldId id="294" r:id="rId54"/>
    <p:sldId id="295" r:id="rId55"/>
    <p:sldId id="296" r:id="rId56"/>
    <p:sldId id="297" r:id="rId57"/>
    <p:sldId id="298" r:id="rId58"/>
    <p:sldId id="299" r:id="rId59"/>
    <p:sldId id="300" r:id="rId60"/>
    <p:sldId id="302" r:id="rId61"/>
    <p:sldId id="303" r:id="rId62"/>
    <p:sldId id="304" r:id="rId63"/>
    <p:sldId id="305" r:id="rId64"/>
    <p:sldId id="306"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F13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85" autoAdjust="0"/>
    <p:restoredTop sz="75514" autoAdjust="0"/>
  </p:normalViewPr>
  <p:slideViewPr>
    <p:cSldViewPr snapToGrid="0">
      <p:cViewPr varScale="1">
        <p:scale>
          <a:sx n="48" d="100"/>
          <a:sy n="48" d="100"/>
        </p:scale>
        <p:origin x="168" y="4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C7147A-D425-4D63-95CB-124DDF4A99B5}" type="datetimeFigureOut">
              <a:rPr lang="en-US" smtClean="0"/>
              <a:t>1/13/2026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3D89A8-76E4-44BB-A513-4A9C69A3E5A5}" type="slidenum">
              <a:rPr lang="en-US" smtClean="0"/>
              <a:t>‹#›</a:t>
            </a:fld>
            <a:endParaRPr lang="en-US"/>
          </a:p>
        </p:txBody>
      </p:sp>
    </p:spTree>
    <p:extLst>
      <p:ext uri="{BB962C8B-B14F-4D97-AF65-F5344CB8AC3E}">
        <p14:creationId xmlns:p14="http://schemas.microsoft.com/office/powerpoint/2010/main" val="1980840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s://quillbot.com/blog/reasoning/modus-ponens/" TargetMode="External"/><Relationship Id="rId3" Type="http://schemas.openxmlformats.org/officeDocument/2006/relationships/hyperlink" Target="https://quillbot.com/blog/sentence-and-word-structure/conditional-sentences/" TargetMode="External"/><Relationship Id="rId7" Type="http://schemas.openxmlformats.org/officeDocument/2006/relationships/hyperlink" Target="https://quillbot.com/blog/reasoning/denying-the-antecedent/" TargetMode="External"/><Relationship Id="rId2" Type="http://schemas.openxmlformats.org/officeDocument/2006/relationships/slide" Target="../slides/slide14.xml"/><Relationship Id="rId1" Type="http://schemas.openxmlformats.org/officeDocument/2006/relationships/notesMaster" Target="../notesMasters/notesMaster1.xml"/><Relationship Id="rId6" Type="http://schemas.openxmlformats.org/officeDocument/2006/relationships/hyperlink" Target="https://quillbot.com/blog/reasoning/affirming-the-consequent/" TargetMode="External"/><Relationship Id="rId11" Type="http://schemas.openxmlformats.org/officeDocument/2006/relationships/hyperlink" Target="https://quillbot.com/blog/reasoning/syllogism/" TargetMode="External"/><Relationship Id="rId5" Type="http://schemas.openxmlformats.org/officeDocument/2006/relationships/hyperlink" Target="https://quillbot.com/blog/reasoning/non-sequitur-fallacy/" TargetMode="External"/><Relationship Id="rId10" Type="http://schemas.openxmlformats.org/officeDocument/2006/relationships/hyperlink" Target="https://quillbot.com/blog/reasoning/deductive-reasoning/" TargetMode="External"/><Relationship Id="rId4" Type="http://schemas.openxmlformats.org/officeDocument/2006/relationships/hyperlink" Target="https://quillbot.com/blog/reasoning/logical-fallacy/#formal-logical-fallacies" TargetMode="External"/><Relationship Id="rId9" Type="http://schemas.openxmlformats.org/officeDocument/2006/relationships/hyperlink" Target="https://quillbot.com/blog/reasoning/logical-fallacy/"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spcAft>
                <a:spcPts val="750"/>
              </a:spcAft>
            </a:pPr>
            <a:r>
              <a:rPr lang="en-US" b="0" i="0" dirty="0">
                <a:solidFill>
                  <a:srgbClr val="FFFFFF"/>
                </a:solidFill>
                <a:effectLst/>
                <a:latin typeface="Nunito" pitchFamily="2" charset="0"/>
              </a:rPr>
              <a:t>Knowledge Representation in AI is the method of structuring and organizing knowledge so that AI systems can process and utilize it for reasoning and decision-making.</a:t>
            </a:r>
          </a:p>
          <a:p>
            <a:pPr algn="l" rtl="0" fontAlgn="base">
              <a:spcAft>
                <a:spcPts val="750"/>
              </a:spcAft>
            </a:pPr>
            <a:r>
              <a:rPr lang="en-US" b="1" i="1" dirty="0">
                <a:solidFill>
                  <a:srgbClr val="FFFFFF"/>
                </a:solidFill>
                <a:effectLst/>
                <a:latin typeface="Nunito" pitchFamily="2" charset="0"/>
              </a:rPr>
              <a:t>This article aims to provide a comprehensive overview of knowledge representation in AI, exploring its methods, types, techniques, challenges, and applications.</a:t>
            </a:r>
            <a:endParaRPr lang="en-US" b="0" i="0" dirty="0">
              <a:solidFill>
                <a:srgbClr val="FFFFFF"/>
              </a:solidFill>
              <a:effectLst/>
              <a:latin typeface="Nunito" pitchFamily="2" charset="0"/>
            </a:endParaRPr>
          </a:p>
          <a:p>
            <a:endParaRPr lang="en-US" dirty="0"/>
          </a:p>
          <a:p>
            <a:r>
              <a:rPr lang="en-US" dirty="0"/>
              <a:t>What is Propositional Logic?</a:t>
            </a:r>
          </a:p>
          <a:p>
            <a:r>
              <a:rPr lang="en-US" dirty="0"/>
              <a:t> Propositional logic, also called propositional calculus, is a branch of logic that deals with statements or propositions and their logical relationships and connections. </a:t>
            </a:r>
          </a:p>
          <a:p>
            <a:endParaRPr lang="en-US" dirty="0"/>
          </a:p>
          <a:p>
            <a:endParaRPr lang="en-US" dirty="0"/>
          </a:p>
          <a:p>
            <a:r>
              <a:rPr lang="en-US" dirty="0"/>
              <a:t>Propositional logic is necessary because it provides a formal system for representing and reasoning about statements that can be either true or false. It serves as the foundation for more complex logical systems and is widely used in various fields, including computer science, artificial intelligence, mathematics, and philosophy. Here's why it's important:</a:t>
            </a:r>
          </a:p>
          <a:p>
            <a:pPr>
              <a:buFont typeface="+mj-lt"/>
              <a:buAutoNum type="arabicPeriod"/>
            </a:pPr>
            <a:r>
              <a:rPr lang="en-US" b="1" dirty="0"/>
              <a:t>Formalizing Reasoning</a:t>
            </a:r>
            <a:r>
              <a:rPr lang="en-US" dirty="0"/>
              <a:t>: Propositional logic helps in formalizing reasoning processes. It allows us to represent logical relationships between propositions (statements), and make inferences based on their truth values, which is essential for tasks like problem-solving, decision-making, and automated reasoning.</a:t>
            </a:r>
          </a:p>
          <a:p>
            <a:pPr>
              <a:buFont typeface="+mj-lt"/>
              <a:buAutoNum type="arabicPeriod"/>
            </a:pPr>
            <a:r>
              <a:rPr lang="en-US" b="1" dirty="0"/>
              <a:t>Simplicity and Structure</a:t>
            </a:r>
            <a:r>
              <a:rPr lang="en-US" dirty="0"/>
              <a:t>: It simplifies complex reasoning by breaking it down into basic components—propositions that are either true or false. This simplicity makes it easier to analyze and manipulate logical statements systematically.</a:t>
            </a:r>
          </a:p>
          <a:p>
            <a:pPr>
              <a:buFont typeface="+mj-lt"/>
              <a:buAutoNum type="arabicPeriod"/>
            </a:pPr>
            <a:r>
              <a:rPr lang="en-US" b="1" dirty="0"/>
              <a:t>Basis for Advanced Logic</a:t>
            </a:r>
            <a:r>
              <a:rPr lang="en-US" dirty="0"/>
              <a:t>: Propositional logic is the basis for more advanced logical systems, such as predicate logic, temporal logic, and modal logic. It’s a stepping stone for studying more complex systems used in areas like automated theorem proving and logic programming.</a:t>
            </a:r>
          </a:p>
          <a:p>
            <a:pPr>
              <a:buFont typeface="+mj-lt"/>
              <a:buAutoNum type="arabicPeriod"/>
            </a:pPr>
            <a:r>
              <a:rPr lang="en-US" b="1" dirty="0"/>
              <a:t>Used in Computer Science</a:t>
            </a:r>
            <a:r>
              <a:rPr lang="en-US" dirty="0"/>
              <a:t>: Propositional logic is essential in computer science, especially in fields like artificial intelligence, where it is used for knowledge representation, automated reasoning, and decision-making. It’s also foundational in database theory, compiler design, and hardware design (e.g., Boolean algebra in circuit design).</a:t>
            </a:r>
          </a:p>
          <a:p>
            <a:pPr>
              <a:buFont typeface="+mj-lt"/>
              <a:buAutoNum type="arabicPeriod"/>
            </a:pPr>
            <a:r>
              <a:rPr lang="en-US" b="1" dirty="0"/>
              <a:t>Verification and Validation</a:t>
            </a:r>
            <a:r>
              <a:rPr lang="en-US" dirty="0"/>
              <a:t>: It helps in verifying and validating systems, particularly in formal methods, where the correctness of software, algorithms, or hardware can be proven mathematically by using propositional logic.</a:t>
            </a:r>
          </a:p>
          <a:p>
            <a:pPr>
              <a:buFont typeface="+mj-lt"/>
              <a:buAutoNum type="arabicPeriod"/>
            </a:pPr>
            <a:r>
              <a:rPr lang="en-US" b="1" dirty="0"/>
              <a:t>Mathematical Proofs</a:t>
            </a:r>
            <a:r>
              <a:rPr lang="en-US" dirty="0"/>
              <a:t>: Propositional logic provides a rigorous framework for constructing proofs. It ensures that inferences made from given premises are logically sound.</a:t>
            </a:r>
          </a:p>
          <a:p>
            <a:pPr>
              <a:buFont typeface="+mj-lt"/>
              <a:buAutoNum type="arabicPeriod"/>
            </a:pPr>
            <a:r>
              <a:rPr lang="en-US" b="1" dirty="0"/>
              <a:t>Automating Tasks</a:t>
            </a:r>
            <a:r>
              <a:rPr lang="en-US" dirty="0"/>
              <a:t>: In AI, propositional logic is used to automate tasks such as decision-making, planning, and knowledge representation, which are critical for intelligent systems.</a:t>
            </a:r>
          </a:p>
          <a:p>
            <a:endParaRPr lang="en-US" dirty="0"/>
          </a:p>
        </p:txBody>
      </p:sp>
      <p:sp>
        <p:nvSpPr>
          <p:cNvPr id="4" name="Slide Number Placeholder 3"/>
          <p:cNvSpPr>
            <a:spLocks noGrp="1"/>
          </p:cNvSpPr>
          <p:nvPr>
            <p:ph type="sldNum" sz="quarter" idx="5"/>
          </p:nvPr>
        </p:nvSpPr>
        <p:spPr/>
        <p:txBody>
          <a:bodyPr/>
          <a:lstStyle/>
          <a:p>
            <a:fld id="{DD3D89A8-76E4-44BB-A513-4A9C69A3E5A5}" type="slidenum">
              <a:rPr lang="en-US" smtClean="0"/>
              <a:t>7</a:t>
            </a:fld>
            <a:endParaRPr lang="en-US"/>
          </a:p>
        </p:txBody>
      </p:sp>
    </p:spTree>
    <p:extLst>
      <p:ext uri="{BB962C8B-B14F-4D97-AF65-F5344CB8AC3E}">
        <p14:creationId xmlns:p14="http://schemas.microsoft.com/office/powerpoint/2010/main" val="24846602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14:m>
                  <m:oMath xmlns:m="http://schemas.openxmlformats.org/officeDocument/2006/math">
                    <m:r>
                      <a:rPr lang="en-US" sz="1200" i="1" kern="1200" smtClean="0">
                        <a:solidFill>
                          <a:schemeClr val="tx1"/>
                        </a:solidFill>
                        <a:latin typeface="Cambria Math" panose="02040503050406030204" pitchFamily="18" charset="0"/>
                        <a:ea typeface="+mn-ea"/>
                        <a:cs typeface="+mn-cs"/>
                      </a:rPr>
                      <m:t>𝑝</m:t>
                    </m:r>
                  </m:oMath>
                </a14:m>
                <a:r>
                  <a:rPr lang="en-US" dirty="0"/>
                  <a:t>: I study hard</a:t>
                </a:r>
              </a:p>
              <a:p>
                <a14:m>
                  <m:oMath xmlns:m="http://schemas.openxmlformats.org/officeDocument/2006/math">
                    <m:r>
                      <a:rPr lang="en-US" sz="1200" i="1" kern="1200">
                        <a:solidFill>
                          <a:schemeClr val="tx1"/>
                        </a:solidFill>
                        <a:latin typeface="Cambria Math" panose="02040503050406030204" pitchFamily="18" charset="0"/>
                        <a:ea typeface="+mn-ea"/>
                        <a:cs typeface="+mn-cs"/>
                      </a:rPr>
                      <m:t>𝑞</m:t>
                    </m:r>
                  </m:oMath>
                </a14:m>
                <a:r>
                  <a:rPr lang="en-US" dirty="0"/>
                  <a:t>: I attend classes</a:t>
                </a:r>
              </a:p>
              <a:p>
                <a14:m>
                  <m:oMath xmlns:m="http://schemas.openxmlformats.org/officeDocument/2006/math">
                    <m:r>
                      <a:rPr lang="en-US" sz="1200" i="1" kern="1200">
                        <a:solidFill>
                          <a:schemeClr val="tx1"/>
                        </a:solidFill>
                        <a:latin typeface="Cambria Math" panose="02040503050406030204" pitchFamily="18" charset="0"/>
                        <a:ea typeface="+mn-ea"/>
                        <a:cs typeface="+mn-cs"/>
                      </a:rPr>
                      <m:t>𝑟</m:t>
                    </m:r>
                  </m:oMath>
                </a14:m>
                <a:r>
                  <a:rPr lang="en-US" dirty="0"/>
                  <a:t>: I pass the exam</a:t>
                </a:r>
              </a:p>
              <a:p>
                <a14:m>
                  <m:oMath xmlns:m="http://schemas.openxmlformats.org/officeDocument/2006/math">
                    <m:r>
                      <a:rPr lang="en-US" sz="1200" i="1" kern="1200">
                        <a:solidFill>
                          <a:schemeClr val="tx1"/>
                        </a:solidFill>
                        <a:latin typeface="Cambria Math" panose="02040503050406030204" pitchFamily="18" charset="0"/>
                        <a:ea typeface="+mn-ea"/>
                        <a:cs typeface="+mn-cs"/>
                      </a:rPr>
                      <m:t>𝑠</m:t>
                    </m:r>
                  </m:oMath>
                </a14:m>
                <a:r>
                  <a:rPr lang="en-US" dirty="0"/>
                  <a:t>: I fail</a:t>
                </a:r>
              </a:p>
              <a:p>
                <a:r>
                  <a:rPr lang="en-US" dirty="0"/>
                  <a:t>[(</a:t>
                </a:r>
                <a:r>
                  <a:rPr lang="en-US" dirty="0" err="1"/>
                  <a:t>p∧q</a:t>
                </a:r>
                <a:r>
                  <a:rPr lang="en-US" dirty="0"/>
                  <a:t>)→r]∧(¬</a:t>
                </a:r>
                <a:r>
                  <a:rPr lang="en-US" dirty="0" err="1"/>
                  <a:t>p→s</a:t>
                </a:r>
                <a:r>
                  <a:rPr lang="en-US" dirty="0"/>
                  <a:t>)</a:t>
                </a:r>
              </a:p>
              <a:p>
                <a:endParaRPr lang="en-US" dirty="0"/>
              </a:p>
              <a:p>
                <a:r>
                  <a:rPr lang="en-US" dirty="0"/>
                  <a:t>2. Only if you work hard will you succeed. </a:t>
                </a:r>
              </a:p>
              <a:p>
                <a:r>
                  <a:rPr lang="en-US" b="1" dirty="0"/>
                  <a:t>(“Only if” reverses the direction)</a:t>
                </a:r>
                <a:endParaRPr lang="en-US" dirty="0"/>
              </a:p>
              <a:p>
                <a14:m>
                  <m:oMath xmlns:m="http://schemas.openxmlformats.org/officeDocument/2006/math">
                    <m:r>
                      <a:rPr lang="en-US" sz="1200" i="1" kern="1200" smtClean="0">
                        <a:solidFill>
                          <a:schemeClr val="tx1"/>
                        </a:solidFill>
                        <a:latin typeface="Cambria Math" panose="02040503050406030204" pitchFamily="18" charset="0"/>
                        <a:ea typeface="+mn-ea"/>
                        <a:cs typeface="+mn-cs"/>
                      </a:rPr>
                      <m:t>𝑝</m:t>
                    </m:r>
                  </m:oMath>
                </a14:m>
                <a:r>
                  <a:rPr lang="en-US" dirty="0"/>
                  <a:t>: You work hard</a:t>
                </a:r>
              </a:p>
              <a:p>
                <a14:m>
                  <m:oMath xmlns:m="http://schemas.openxmlformats.org/officeDocument/2006/math">
                    <m:r>
                      <a:rPr lang="en-US" sz="1200" i="1" kern="1200">
                        <a:solidFill>
                          <a:schemeClr val="tx1"/>
                        </a:solidFill>
                        <a:latin typeface="Cambria Math" panose="02040503050406030204" pitchFamily="18" charset="0"/>
                        <a:ea typeface="+mn-ea"/>
                        <a:cs typeface="+mn-cs"/>
                      </a:rPr>
                      <m:t>𝑞</m:t>
                    </m:r>
                  </m:oMath>
                </a14:m>
                <a:r>
                  <a:rPr lang="en-US" dirty="0"/>
                  <a:t>: You succeed</a:t>
                </a:r>
              </a:p>
              <a:p>
                <a:r>
                  <a:rPr lang="en-US" dirty="0"/>
                  <a:t>Q </a:t>
                </a:r>
                <a:r>
                  <a:rPr lang="en-US" dirty="0">
                    <a:sym typeface="Wingdings" panose="05000000000000000000" pitchFamily="2" charset="2"/>
                  </a:rPr>
                  <a:t> P</a:t>
                </a:r>
              </a:p>
              <a:p>
                <a:endParaRPr lang="en-US" dirty="0"/>
              </a:p>
              <a:p>
                <a:r>
                  <a:rPr lang="en-US" dirty="0"/>
                  <a:t>3. If a student passes the exam and submits the project, then the student gets a certificate.</a:t>
                </a:r>
              </a:p>
              <a:p>
                <a:r>
                  <a:rPr lang="en-US" dirty="0"/>
                  <a:t>(</a:t>
                </a:r>
                <a:r>
                  <a:rPr lang="en-US" dirty="0" err="1"/>
                  <a:t>p∧q</a:t>
                </a:r>
                <a:r>
                  <a:rPr lang="en-US" dirty="0"/>
                  <a:t>)→r</a:t>
                </a:r>
              </a:p>
              <a:p>
                <a:endParaRPr lang="en-US" dirty="0"/>
              </a:p>
              <a:p>
                <a:r>
                  <a:rPr lang="en-US" dirty="0"/>
                  <a:t>A user can access the system if and only if the user is authenticated and authorized. p↔(</a:t>
                </a:r>
                <a:r>
                  <a:rPr lang="en-US" dirty="0" err="1"/>
                  <a:t>q∧r</a:t>
                </a:r>
                <a:r>
                  <a:rPr lang="en-US" dirty="0"/>
                  <a:t>)</a:t>
                </a:r>
              </a:p>
              <a:p>
                <a:endParaRPr lang="en-US" dirty="0"/>
              </a:p>
              <a:p>
                <a:r>
                  <a:rPr lang="en-US" dirty="0"/>
                  <a:t>If a student has not completed the prerequisite course, then the student cannot register for the advanced course. ¬p→¬q</a:t>
                </a:r>
              </a:p>
              <a:p>
                <a:endParaRPr lang="en-US" dirty="0"/>
              </a:p>
              <a:p>
                <a:r>
                  <a:rPr lang="en-US" dirty="0"/>
                  <a:t>A student will receive a scholarship if the student has a high GPA and has no disciplinary record. (</a:t>
                </a:r>
                <a:r>
                  <a:rPr lang="en-US" dirty="0" err="1"/>
                  <a:t>p∧q</a:t>
                </a:r>
                <a:r>
                  <a:rPr lang="en-US" dirty="0"/>
                  <a:t>)→r</a:t>
                </a:r>
              </a:p>
              <a:p>
                <a:endParaRPr lang="en-US" dirty="0"/>
              </a:p>
              <a:p>
                <a:r>
                  <a:rPr lang="en-US" dirty="0"/>
                  <a:t>If the server crashes or the network fails, then the system becomes unavailable. (</a:t>
                </a:r>
                <a:r>
                  <a:rPr lang="en-US" dirty="0" err="1"/>
                  <a:t>p∨q</a:t>
                </a:r>
                <a:r>
                  <a:rPr lang="en-US" dirty="0"/>
                  <a:t>)→r</a:t>
                </a:r>
              </a:p>
              <a:p>
                <a:endParaRPr lang="en-US" dirty="0"/>
              </a:p>
              <a:p>
                <a:r>
                  <a:rPr lang="en-US" dirty="0"/>
                  <a:t>The software will be deployed only if testing is completed and all critical bugs are fixed. P </a:t>
                </a:r>
                <a:r>
                  <a:rPr lang="en-US" dirty="0">
                    <a:sym typeface="Wingdings" panose="05000000000000000000" pitchFamily="2" charset="2"/>
                  </a:rPr>
                  <a:t> (q ^ R)</a:t>
                </a:r>
              </a:p>
              <a:p>
                <a:endParaRPr lang="en-US" dirty="0">
                  <a:sym typeface="Wingdings" panose="05000000000000000000" pitchFamily="2" charset="2"/>
                </a:endParaRPr>
              </a:p>
              <a:p>
                <a:r>
                  <a:rPr lang="en-US" dirty="0"/>
                  <a:t>A system will shut down unless a valid command is entered.</a:t>
                </a:r>
              </a:p>
              <a:p>
                <a14:m>
                  <m:oMath xmlns:m="http://schemas.openxmlformats.org/officeDocument/2006/math">
                    <m:r>
                      <a:rPr lang="en-US" sz="1200" i="1" kern="1200" smtClean="0">
                        <a:solidFill>
                          <a:schemeClr val="tx1"/>
                        </a:solidFill>
                        <a:latin typeface="Cambria Math" panose="02040503050406030204" pitchFamily="18" charset="0"/>
                        <a:ea typeface="+mn-ea"/>
                        <a:cs typeface="+mn-cs"/>
                      </a:rPr>
                      <m:t>𝑝</m:t>
                    </m:r>
                  </m:oMath>
                </a14:m>
                <a:r>
                  <a:rPr lang="en-US" dirty="0"/>
                  <a:t>: A valid command is entered</a:t>
                </a:r>
              </a:p>
              <a:p>
                <a14:m>
                  <m:oMath xmlns:m="http://schemas.openxmlformats.org/officeDocument/2006/math">
                    <m:r>
                      <a:rPr lang="en-US" sz="1200" i="1" kern="1200">
                        <a:solidFill>
                          <a:schemeClr val="tx1"/>
                        </a:solidFill>
                        <a:latin typeface="Cambria Math" panose="02040503050406030204" pitchFamily="18" charset="0"/>
                        <a:ea typeface="+mn-ea"/>
                        <a:cs typeface="+mn-cs"/>
                      </a:rPr>
                      <m:t>𝑞</m:t>
                    </m:r>
                  </m:oMath>
                </a14:m>
                <a:r>
                  <a:rPr lang="en-US" dirty="0"/>
                  <a:t>: System shuts down</a:t>
                </a:r>
              </a:p>
              <a:p>
                <a:r>
                  <a:rPr lang="en-US" dirty="0"/>
                  <a:t> –p </a:t>
                </a:r>
                <a:r>
                  <a:rPr lang="en-US" dirty="0">
                    <a:sym typeface="Wingdings" panose="05000000000000000000" pitchFamily="2" charset="2"/>
                  </a:rPr>
                  <a:t> q</a:t>
                </a:r>
              </a:p>
              <a:p>
                <a:endParaRPr lang="en-US" dirty="0">
                  <a:sym typeface="Wingdings" panose="05000000000000000000" pitchFamily="2" charset="2"/>
                </a:endParaRPr>
              </a:p>
              <a:p>
                <a:r>
                  <a:rPr lang="en-US" dirty="0"/>
                  <a:t>If a candidate is qualified and experienced, then the candidate is selected; otherwise, the candidate is rejected.</a:t>
                </a:r>
              </a:p>
              <a:p>
                <a:r>
                  <a:rPr lang="en-US" dirty="0"/>
                  <a:t>p: Candidate is qualified</a:t>
                </a:r>
              </a:p>
              <a:p>
                <a14:m>
                  <m:oMath xmlns:m="http://schemas.openxmlformats.org/officeDocument/2006/math">
                    <m:r>
                      <a:rPr lang="en-US" sz="1200" i="1" kern="1200">
                        <a:solidFill>
                          <a:schemeClr val="tx1"/>
                        </a:solidFill>
                        <a:latin typeface="Cambria Math" panose="02040503050406030204" pitchFamily="18" charset="0"/>
                        <a:ea typeface="+mn-ea"/>
                        <a:cs typeface="+mn-cs"/>
                      </a:rPr>
                      <m:t>𝑞</m:t>
                    </m:r>
                  </m:oMath>
                </a14:m>
                <a:r>
                  <a:rPr lang="en-US" dirty="0"/>
                  <a:t>: Candidate is experienced</a:t>
                </a:r>
              </a:p>
              <a:p>
                <a14:m>
                  <m:oMath xmlns:m="http://schemas.openxmlformats.org/officeDocument/2006/math">
                    <m:r>
                      <a:rPr lang="en-US" sz="1200" i="1" kern="1200">
                        <a:solidFill>
                          <a:schemeClr val="tx1"/>
                        </a:solidFill>
                        <a:latin typeface="Cambria Math" panose="02040503050406030204" pitchFamily="18" charset="0"/>
                        <a:ea typeface="+mn-ea"/>
                        <a:cs typeface="+mn-cs"/>
                      </a:rPr>
                      <m:t>𝑟</m:t>
                    </m:r>
                  </m:oMath>
                </a14:m>
                <a:r>
                  <a:rPr lang="en-US" dirty="0"/>
                  <a:t>: Candidate is selected</a:t>
                </a:r>
              </a:p>
              <a:p>
                <a14:m>
                  <m:oMath xmlns:m="http://schemas.openxmlformats.org/officeDocument/2006/math">
                    <m:r>
                      <a:rPr lang="en-US" sz="1200" i="1" kern="1200">
                        <a:solidFill>
                          <a:schemeClr val="tx1"/>
                        </a:solidFill>
                        <a:latin typeface="Cambria Math" panose="02040503050406030204" pitchFamily="18" charset="0"/>
                        <a:ea typeface="+mn-ea"/>
                        <a:cs typeface="+mn-cs"/>
                      </a:rPr>
                      <m:t>𝑠</m:t>
                    </m:r>
                  </m:oMath>
                </a14:m>
                <a:r>
                  <a:rPr lang="en-US" dirty="0"/>
                  <a:t>: Candidate is rejected</a:t>
                </a:r>
              </a:p>
              <a:p>
                <a:r>
                  <a:rPr lang="en-US" dirty="0"/>
                  <a:t>[(</a:t>
                </a:r>
                <a:r>
                  <a:rPr lang="en-US" dirty="0" err="1"/>
                  <a:t>p∧q</a:t>
                </a:r>
                <a:r>
                  <a:rPr lang="en-US" dirty="0"/>
                  <a:t>)→r]∧¬(</a:t>
                </a:r>
                <a:r>
                  <a:rPr lang="en-US" dirty="0" err="1"/>
                  <a:t>p∧q</a:t>
                </a:r>
                <a:r>
                  <a:rPr lang="en-US" dirty="0"/>
                  <a:t>)→s</a:t>
                </a:r>
              </a:p>
              <a:p>
                <a:endParaRPr lang="en-US" dirty="0">
                  <a:sym typeface="Wingdings" panose="05000000000000000000" pitchFamily="2" charset="2"/>
                </a:endParaRPr>
              </a:p>
              <a:p>
                <a:endParaRPr lang="en-US" dirty="0">
                  <a:sym typeface="Wingdings" panose="05000000000000000000" pitchFamily="2" charset="2"/>
                </a:endParaRPr>
              </a:p>
              <a:p>
                <a:r>
                  <a:rPr lang="en-US" dirty="0"/>
                  <a:t>Student passed and failed the exam.</a:t>
                </a:r>
              </a:p>
              <a:p>
                <a14:m>
                  <m:oMath xmlns:m="http://schemas.openxmlformats.org/officeDocument/2006/math">
                    <m:r>
                      <a:rPr lang="en-US" sz="1200" i="1" kern="1200" smtClean="0">
                        <a:solidFill>
                          <a:schemeClr val="tx1"/>
                        </a:solidFill>
                        <a:latin typeface="Cambria Math" panose="02040503050406030204" pitchFamily="18" charset="0"/>
                        <a:ea typeface="+mn-ea"/>
                        <a:cs typeface="+mn-cs"/>
                      </a:rPr>
                      <m:t>𝑝</m:t>
                    </m:r>
                  </m:oMath>
                </a14:m>
                <a:r>
                  <a:rPr lang="en-US" dirty="0"/>
                  <a:t>: Student passed</a:t>
                </a:r>
              </a:p>
              <a:p>
                <a14:m>
                  <m:oMath xmlns:m="http://schemas.openxmlformats.org/officeDocument/2006/math">
                    <m:r>
                      <a:rPr lang="en-US" sz="1200" i="1" kern="1200">
                        <a:solidFill>
                          <a:schemeClr val="tx1"/>
                        </a:solidFill>
                        <a:latin typeface="Cambria Math" panose="02040503050406030204" pitchFamily="18" charset="0"/>
                        <a:ea typeface="+mn-ea"/>
                        <a:cs typeface="+mn-cs"/>
                      </a:rPr>
                      <m:t>𝑞</m:t>
                    </m:r>
                  </m:oMath>
                </a14:m>
                <a:r>
                  <a:rPr lang="en-US" dirty="0"/>
                  <a:t>: Student failed</a:t>
                </a:r>
              </a:p>
              <a:p>
                <a:r>
                  <a:rPr lang="en-US" dirty="0"/>
                  <a:t>Even if it sounds contradictory,</a:t>
                </a:r>
              </a:p>
              <a:p>
                <a:r>
                  <a:rPr lang="en-US" dirty="0" err="1"/>
                  <a:t>p∧q</a:t>
                </a:r>
                <a:r>
                  <a:rPr lang="en-US" dirty="0"/>
                  <a:t> </a:t>
                </a:r>
              </a:p>
              <a:p>
                <a:r>
                  <a:rPr lang="en-US" dirty="0"/>
                  <a:t>is still a </a:t>
                </a:r>
                <a:r>
                  <a:rPr lang="en-US" b="1" dirty="0"/>
                  <a:t>valid compound proposition</a:t>
                </a:r>
                <a:r>
                  <a:rPr lang="en-US" dirty="0"/>
                  <a:t> (logic cares about structure, not reality).</a:t>
                </a: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p>
            </p:txBody>
          </p:sp>
        </mc:Choice>
        <mc:Fallback xmlns="">
          <p:sp>
            <p:nvSpPr>
              <p:cNvPr id="3" name="Notes Placeholder 2"/>
              <p:cNvSpPr>
                <a:spLocks noGrp="1"/>
              </p:cNvSpPr>
              <p:nvPr>
                <p:ph type="body" idx="1"/>
              </p:nvPr>
            </p:nvSpPr>
            <p:spPr/>
            <p:txBody>
              <a:bodyPr/>
              <a:lstStyle/>
              <a:p>
                <a:r>
                  <a:rPr lang="en-US" sz="1200" i="0" kern="1200">
                    <a:solidFill>
                      <a:schemeClr val="tx1"/>
                    </a:solidFill>
                    <a:latin typeface="+mn-lt"/>
                    <a:ea typeface="+mn-ea"/>
                    <a:cs typeface="+mn-cs"/>
                  </a:rPr>
                  <a:t>𝑝</a:t>
                </a:r>
                <a:r>
                  <a:rPr lang="en-US" dirty="0"/>
                  <a:t>: I study hard</a:t>
                </a:r>
              </a:p>
              <a:p>
                <a:r>
                  <a:rPr lang="en-US" sz="1200" i="0" kern="1200">
                    <a:solidFill>
                      <a:schemeClr val="tx1"/>
                    </a:solidFill>
                    <a:latin typeface="+mn-lt"/>
                    <a:ea typeface="+mn-ea"/>
                    <a:cs typeface="+mn-cs"/>
                  </a:rPr>
                  <a:t>𝑞</a:t>
                </a:r>
                <a:r>
                  <a:rPr lang="en-US" dirty="0"/>
                  <a:t>: I attend classes</a:t>
                </a:r>
              </a:p>
              <a:p>
                <a:r>
                  <a:rPr lang="en-US" sz="1200" i="0" kern="1200">
                    <a:solidFill>
                      <a:schemeClr val="tx1"/>
                    </a:solidFill>
                    <a:latin typeface="+mn-lt"/>
                    <a:ea typeface="+mn-ea"/>
                    <a:cs typeface="+mn-cs"/>
                  </a:rPr>
                  <a:t>𝑟</a:t>
                </a:r>
                <a:r>
                  <a:rPr lang="en-US" dirty="0"/>
                  <a:t>: I pass the exam</a:t>
                </a:r>
              </a:p>
              <a:p>
                <a:r>
                  <a:rPr lang="en-US" sz="1200" i="0" kern="1200">
                    <a:solidFill>
                      <a:schemeClr val="tx1"/>
                    </a:solidFill>
                    <a:latin typeface="+mn-lt"/>
                    <a:ea typeface="+mn-ea"/>
                    <a:cs typeface="+mn-cs"/>
                  </a:rPr>
                  <a:t>𝑠</a:t>
                </a:r>
                <a:r>
                  <a:rPr lang="en-US" dirty="0"/>
                  <a:t>: I fail</a:t>
                </a:r>
              </a:p>
              <a:p>
                <a:r>
                  <a:rPr lang="en-US" dirty="0"/>
                  <a:t>[(</a:t>
                </a:r>
                <a:r>
                  <a:rPr lang="en-US" dirty="0" err="1"/>
                  <a:t>p∧q</a:t>
                </a:r>
                <a:r>
                  <a:rPr lang="en-US" dirty="0"/>
                  <a:t>)→r]∧(¬</a:t>
                </a:r>
                <a:r>
                  <a:rPr lang="en-US" dirty="0" err="1"/>
                  <a:t>p→s</a:t>
                </a:r>
                <a:r>
                  <a:rPr lang="en-US" dirty="0"/>
                  <a:t>)</a:t>
                </a:r>
              </a:p>
              <a:p>
                <a:endParaRPr lang="en-US" dirty="0"/>
              </a:p>
              <a:p>
                <a:r>
                  <a:rPr lang="en-US" dirty="0"/>
                  <a:t>2. Only if you work hard will you succeed. </a:t>
                </a:r>
              </a:p>
              <a:p>
                <a:r>
                  <a:rPr lang="en-US" b="1" dirty="0"/>
                  <a:t>(“Only if” reverses the direction)</a:t>
                </a:r>
                <a:endParaRPr lang="en-US" dirty="0"/>
              </a:p>
              <a:p>
                <a:r>
                  <a:rPr lang="en-US" sz="1200" i="0" kern="1200">
                    <a:solidFill>
                      <a:schemeClr val="tx1"/>
                    </a:solidFill>
                    <a:latin typeface="+mn-lt"/>
                    <a:ea typeface="+mn-ea"/>
                    <a:cs typeface="+mn-cs"/>
                  </a:rPr>
                  <a:t>𝑝</a:t>
                </a:r>
                <a:r>
                  <a:rPr lang="en-US" dirty="0"/>
                  <a:t>: You work hard</a:t>
                </a:r>
              </a:p>
              <a:p>
                <a:r>
                  <a:rPr lang="en-US" sz="1200" i="0" kern="1200">
                    <a:solidFill>
                      <a:schemeClr val="tx1"/>
                    </a:solidFill>
                    <a:latin typeface="+mn-lt"/>
                    <a:ea typeface="+mn-ea"/>
                    <a:cs typeface="+mn-cs"/>
                  </a:rPr>
                  <a:t>𝑞</a:t>
                </a:r>
                <a:r>
                  <a:rPr lang="en-US" dirty="0"/>
                  <a:t>: You succeed</a:t>
                </a:r>
              </a:p>
              <a:p>
                <a:r>
                  <a:rPr lang="en-US" dirty="0"/>
                  <a:t>Q </a:t>
                </a:r>
                <a:r>
                  <a:rPr lang="en-US" dirty="0">
                    <a:sym typeface="Wingdings" panose="05000000000000000000" pitchFamily="2" charset="2"/>
                  </a:rPr>
                  <a:t> P</a:t>
                </a:r>
              </a:p>
              <a:p>
                <a:endParaRPr lang="en-US" dirty="0"/>
              </a:p>
              <a:p>
                <a:r>
                  <a:rPr lang="en-US" dirty="0"/>
                  <a:t>3. If a student passes the exam and submits the project, then the student gets a certificate.</a:t>
                </a:r>
              </a:p>
              <a:p>
                <a:r>
                  <a:rPr lang="en-US" dirty="0"/>
                  <a:t>(</a:t>
                </a:r>
                <a:r>
                  <a:rPr lang="en-US" dirty="0" err="1"/>
                  <a:t>p∧q</a:t>
                </a:r>
                <a:r>
                  <a:rPr lang="en-US" dirty="0"/>
                  <a:t>)→r</a:t>
                </a:r>
              </a:p>
              <a:p>
                <a:endParaRPr lang="en-US" dirty="0"/>
              </a:p>
              <a:p>
                <a:r>
                  <a:rPr lang="en-US" dirty="0"/>
                  <a:t>A user can access the system if and only if the user is authenticated and authorized. p↔(</a:t>
                </a:r>
                <a:r>
                  <a:rPr lang="en-US" dirty="0" err="1"/>
                  <a:t>q∧r</a:t>
                </a:r>
                <a:r>
                  <a:rPr lang="en-US" dirty="0"/>
                  <a:t>)</a:t>
                </a:r>
              </a:p>
              <a:p>
                <a:endParaRPr lang="en-US" dirty="0"/>
              </a:p>
              <a:p>
                <a:r>
                  <a:rPr lang="en-US" dirty="0"/>
                  <a:t>If a student has not completed the prerequisite course, then the student cannot register for the advanced course. ¬p→¬q</a:t>
                </a:r>
              </a:p>
              <a:p>
                <a:endParaRPr lang="en-US" dirty="0"/>
              </a:p>
              <a:p>
                <a:r>
                  <a:rPr lang="en-US" dirty="0"/>
                  <a:t>A student will receive a scholarship if the student has a high GPA and has no disciplinary record. (</a:t>
                </a:r>
                <a:r>
                  <a:rPr lang="en-US" dirty="0" err="1"/>
                  <a:t>p∧q</a:t>
                </a:r>
                <a:r>
                  <a:rPr lang="en-US" dirty="0"/>
                  <a:t>)→r</a:t>
                </a:r>
              </a:p>
              <a:p>
                <a:endParaRPr lang="en-US" dirty="0"/>
              </a:p>
              <a:p>
                <a:r>
                  <a:rPr lang="en-US" dirty="0"/>
                  <a:t>If the server crashes or the network fails, then the system becomes unavailable. (</a:t>
                </a:r>
                <a:r>
                  <a:rPr lang="en-US" dirty="0" err="1"/>
                  <a:t>p∨q</a:t>
                </a:r>
                <a:r>
                  <a:rPr lang="en-US" dirty="0"/>
                  <a:t>)→r</a:t>
                </a:r>
              </a:p>
              <a:p>
                <a:endParaRPr lang="en-US" dirty="0"/>
              </a:p>
              <a:p>
                <a:r>
                  <a:rPr lang="en-US" dirty="0"/>
                  <a:t>The software will be deployed only if testing is completed and all critical bugs are fixed. P </a:t>
                </a:r>
                <a:r>
                  <a:rPr lang="en-US" dirty="0">
                    <a:sym typeface="Wingdings" panose="05000000000000000000" pitchFamily="2" charset="2"/>
                  </a:rPr>
                  <a:t> (q ^ R)</a:t>
                </a:r>
              </a:p>
              <a:p>
                <a:endParaRPr lang="en-US" dirty="0">
                  <a:sym typeface="Wingdings" panose="05000000000000000000" pitchFamily="2" charset="2"/>
                </a:endParaRPr>
              </a:p>
              <a:p>
                <a:r>
                  <a:rPr lang="en-US" dirty="0"/>
                  <a:t>A system will shut down unless a valid command is entered.</a:t>
                </a:r>
              </a:p>
              <a:p>
                <a:r>
                  <a:rPr lang="en-US" sz="1200" i="0" kern="1200">
                    <a:solidFill>
                      <a:schemeClr val="tx1"/>
                    </a:solidFill>
                    <a:latin typeface="+mn-lt"/>
                    <a:ea typeface="+mn-ea"/>
                    <a:cs typeface="+mn-cs"/>
                  </a:rPr>
                  <a:t>𝑝</a:t>
                </a:r>
                <a:r>
                  <a:rPr lang="en-US" dirty="0"/>
                  <a:t>: A valid command is entered</a:t>
                </a:r>
              </a:p>
              <a:p>
                <a:r>
                  <a:rPr lang="en-US" sz="1200" i="0" kern="1200">
                    <a:solidFill>
                      <a:schemeClr val="tx1"/>
                    </a:solidFill>
                    <a:latin typeface="+mn-lt"/>
                    <a:ea typeface="+mn-ea"/>
                    <a:cs typeface="+mn-cs"/>
                  </a:rPr>
                  <a:t>𝑞</a:t>
                </a:r>
                <a:r>
                  <a:rPr lang="en-US" dirty="0"/>
                  <a:t>: System shuts down</a:t>
                </a:r>
              </a:p>
              <a:p>
                <a:r>
                  <a:rPr lang="en-US" dirty="0"/>
                  <a:t> –p </a:t>
                </a:r>
                <a:r>
                  <a:rPr lang="en-US" dirty="0">
                    <a:sym typeface="Wingdings" panose="05000000000000000000" pitchFamily="2" charset="2"/>
                  </a:rPr>
                  <a:t> q</a:t>
                </a:r>
              </a:p>
              <a:p>
                <a:endParaRPr lang="en-US" dirty="0">
                  <a:sym typeface="Wingdings" panose="05000000000000000000" pitchFamily="2" charset="2"/>
                </a:endParaRPr>
              </a:p>
              <a:p>
                <a:r>
                  <a:rPr lang="en-US" dirty="0"/>
                  <a:t>If a candidate is qualified and experienced, then the candidate is selected; otherwise, the candidate is rejected.</a:t>
                </a:r>
              </a:p>
              <a:p>
                <a:r>
                  <a:rPr lang="en-US" dirty="0"/>
                  <a:t>p: Candidate is qualified</a:t>
                </a:r>
              </a:p>
              <a:p>
                <a:r>
                  <a:rPr lang="en-US" sz="1200" i="0" kern="1200">
                    <a:solidFill>
                      <a:schemeClr val="tx1"/>
                    </a:solidFill>
                    <a:latin typeface="+mn-lt"/>
                    <a:ea typeface="+mn-ea"/>
                    <a:cs typeface="+mn-cs"/>
                  </a:rPr>
                  <a:t>𝑞</a:t>
                </a:r>
                <a:r>
                  <a:rPr lang="en-US" dirty="0"/>
                  <a:t>: Candidate is experienced</a:t>
                </a:r>
              </a:p>
              <a:p>
                <a:r>
                  <a:rPr lang="en-US" sz="1200" i="0" kern="1200">
                    <a:solidFill>
                      <a:schemeClr val="tx1"/>
                    </a:solidFill>
                    <a:latin typeface="+mn-lt"/>
                    <a:ea typeface="+mn-ea"/>
                    <a:cs typeface="+mn-cs"/>
                  </a:rPr>
                  <a:t>𝑟</a:t>
                </a:r>
                <a:r>
                  <a:rPr lang="en-US" dirty="0"/>
                  <a:t>: Candidate is selected</a:t>
                </a:r>
              </a:p>
              <a:p>
                <a:r>
                  <a:rPr lang="en-US" sz="1200" i="0" kern="1200">
                    <a:solidFill>
                      <a:schemeClr val="tx1"/>
                    </a:solidFill>
                    <a:latin typeface="+mn-lt"/>
                    <a:ea typeface="+mn-ea"/>
                    <a:cs typeface="+mn-cs"/>
                  </a:rPr>
                  <a:t>𝑠</a:t>
                </a:r>
                <a:r>
                  <a:rPr lang="en-US" dirty="0"/>
                  <a:t>: Candidate is rejected</a:t>
                </a:r>
              </a:p>
              <a:p>
                <a:r>
                  <a:rPr lang="en-US" dirty="0"/>
                  <a:t>[(</a:t>
                </a:r>
                <a:r>
                  <a:rPr lang="en-US" dirty="0" err="1"/>
                  <a:t>p∧q</a:t>
                </a:r>
                <a:r>
                  <a:rPr lang="en-US" dirty="0"/>
                  <a:t>)→r]∧¬(</a:t>
                </a:r>
                <a:r>
                  <a:rPr lang="en-US" dirty="0" err="1"/>
                  <a:t>p∧q</a:t>
                </a:r>
                <a:r>
                  <a:rPr lang="en-US" dirty="0"/>
                  <a:t>)→s</a:t>
                </a:r>
              </a:p>
              <a:p>
                <a:endParaRPr lang="en-US" dirty="0">
                  <a:sym typeface="Wingdings" panose="05000000000000000000" pitchFamily="2" charset="2"/>
                </a:endParaRPr>
              </a:p>
              <a:p>
                <a:endParaRPr lang="en-US" dirty="0">
                  <a:sym typeface="Wingdings" panose="05000000000000000000" pitchFamily="2" charset="2"/>
                </a:endParaRPr>
              </a:p>
              <a:p>
                <a:r>
                  <a:rPr lang="en-US" dirty="0"/>
                  <a:t>Student passed and failed the exam.</a:t>
                </a:r>
              </a:p>
              <a:p>
                <a:r>
                  <a:rPr lang="en-US" sz="1200" i="0" kern="1200">
                    <a:solidFill>
                      <a:schemeClr val="tx1"/>
                    </a:solidFill>
                    <a:latin typeface="+mn-lt"/>
                    <a:ea typeface="+mn-ea"/>
                    <a:cs typeface="+mn-cs"/>
                  </a:rPr>
                  <a:t>𝑝</a:t>
                </a:r>
                <a:r>
                  <a:rPr lang="en-US" dirty="0"/>
                  <a:t>: Student passed</a:t>
                </a:r>
              </a:p>
              <a:p>
                <a:r>
                  <a:rPr lang="en-US" sz="1200" i="0" kern="1200">
                    <a:solidFill>
                      <a:schemeClr val="tx1"/>
                    </a:solidFill>
                    <a:latin typeface="+mn-lt"/>
                    <a:ea typeface="+mn-ea"/>
                    <a:cs typeface="+mn-cs"/>
                  </a:rPr>
                  <a:t>𝑞</a:t>
                </a:r>
                <a:r>
                  <a:rPr lang="en-US" dirty="0"/>
                  <a:t>: Student failed</a:t>
                </a:r>
              </a:p>
              <a:p>
                <a:r>
                  <a:rPr lang="en-US" dirty="0"/>
                  <a:t>Even if it sounds contradictory,</a:t>
                </a:r>
              </a:p>
              <a:p>
                <a:r>
                  <a:rPr lang="en-US" dirty="0" err="1"/>
                  <a:t>p∧q</a:t>
                </a:r>
                <a:r>
                  <a:rPr lang="en-US" dirty="0"/>
                  <a:t> </a:t>
                </a:r>
              </a:p>
              <a:p>
                <a:r>
                  <a:rPr lang="en-US" dirty="0"/>
                  <a:t>is still a </a:t>
                </a:r>
                <a:r>
                  <a:rPr lang="en-US" b="1" dirty="0"/>
                  <a:t>valid compound proposition</a:t>
                </a:r>
                <a:r>
                  <a:rPr lang="en-US" dirty="0"/>
                  <a:t> (logic cares about structure, not reality).</a:t>
                </a: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p>
            </p:txBody>
          </p:sp>
        </mc:Fallback>
      </mc:AlternateContent>
      <p:sp>
        <p:nvSpPr>
          <p:cNvPr id="4" name="Slide Number Placeholder 3"/>
          <p:cNvSpPr>
            <a:spLocks noGrp="1"/>
          </p:cNvSpPr>
          <p:nvPr>
            <p:ph type="sldNum" sz="quarter" idx="5"/>
          </p:nvPr>
        </p:nvSpPr>
        <p:spPr/>
        <p:txBody>
          <a:bodyPr/>
          <a:lstStyle/>
          <a:p>
            <a:fld id="{DD3D89A8-76E4-44BB-A513-4A9C69A3E5A5}" type="slidenum">
              <a:rPr lang="en-US" smtClean="0"/>
              <a:t>11</a:t>
            </a:fld>
            <a:endParaRPr lang="en-US"/>
          </a:p>
        </p:txBody>
      </p:sp>
    </p:spTree>
    <p:extLst>
      <p:ext uri="{BB962C8B-B14F-4D97-AF65-F5344CB8AC3E}">
        <p14:creationId xmlns:p14="http://schemas.microsoft.com/office/powerpoint/2010/main" val="3682956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3D89A8-76E4-44BB-A513-4A9C69A3E5A5}" type="slidenum">
              <a:rPr lang="en-US" smtClean="0"/>
              <a:t>12</a:t>
            </a:fld>
            <a:endParaRPr lang="en-US"/>
          </a:p>
        </p:txBody>
      </p:sp>
    </p:spTree>
    <p:extLst>
      <p:ext uri="{BB962C8B-B14F-4D97-AF65-F5344CB8AC3E}">
        <p14:creationId xmlns:p14="http://schemas.microsoft.com/office/powerpoint/2010/main" val="1767126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Tautology</a:t>
            </a:r>
          </a:p>
          <a:p>
            <a:r>
              <a:rPr lang="en-US" dirty="0"/>
              <a:t>Compound proposition that is always TRUE , not matter what the truth values of the propositional.</a:t>
            </a:r>
          </a:p>
          <a:p>
            <a:r>
              <a:rPr lang="en-US" dirty="0"/>
              <a:t>a) p V ¬p</a:t>
            </a:r>
          </a:p>
          <a:p>
            <a:r>
              <a:rPr lang="en-US" dirty="0"/>
              <a:t>b) (</a:t>
            </a:r>
            <a:r>
              <a:rPr lang="en-US" dirty="0" err="1"/>
              <a:t>p</a:t>
            </a:r>
            <a:r>
              <a:rPr lang="en-US" dirty="0" err="1">
                <a:sym typeface="Wingdings" panose="05000000000000000000" pitchFamily="2" charset="2"/>
              </a:rPr>
              <a:t></a:t>
            </a:r>
            <a:r>
              <a:rPr lang="en-US" dirty="0" err="1"/>
              <a:t>q</a:t>
            </a:r>
            <a:r>
              <a:rPr lang="en-US" dirty="0"/>
              <a:t>) v (</a:t>
            </a:r>
            <a:r>
              <a:rPr lang="en-US" dirty="0" err="1"/>
              <a:t>q</a:t>
            </a:r>
            <a:r>
              <a:rPr lang="en-US" dirty="0" err="1">
                <a:sym typeface="Wingdings" panose="05000000000000000000" pitchFamily="2" charset="2"/>
              </a:rPr>
              <a:t></a:t>
            </a:r>
            <a:r>
              <a:rPr lang="en-US" dirty="0" err="1"/>
              <a:t>p</a:t>
            </a:r>
            <a:r>
              <a:rPr lang="en-US" dirty="0"/>
              <a:t>) </a:t>
            </a:r>
          </a:p>
          <a:p>
            <a:endParaRPr lang="en-US" dirty="0"/>
          </a:p>
          <a:p>
            <a:r>
              <a:rPr lang="en-US" dirty="0"/>
              <a:t>Contradiction</a:t>
            </a:r>
          </a:p>
          <a:p>
            <a:r>
              <a:rPr lang="en-US" dirty="0"/>
              <a:t>Compound proposition that is always FALSE, not matter what the truth values of the propositional variables that occur in it</a:t>
            </a:r>
          </a:p>
          <a:p>
            <a:r>
              <a:rPr lang="en-US" dirty="0"/>
              <a:t>a) P ^ -P</a:t>
            </a:r>
          </a:p>
          <a:p>
            <a:r>
              <a:rPr lang="en-US" dirty="0"/>
              <a:t>b) ¬(</a:t>
            </a:r>
            <a:r>
              <a:rPr lang="en-US" dirty="0" err="1"/>
              <a:t>p^q</a:t>
            </a:r>
            <a:r>
              <a:rPr lang="en-US" dirty="0"/>
              <a:t>) </a:t>
            </a:r>
            <a:r>
              <a:rPr lang="en-US" dirty="0">
                <a:sym typeface="Wingdings" panose="05000000000000000000" pitchFamily="2" charset="2"/>
              </a:rPr>
              <a:t></a:t>
            </a:r>
            <a:r>
              <a:rPr lang="en-US" dirty="0"/>
              <a:t> (</a:t>
            </a:r>
            <a:r>
              <a:rPr lang="en-US" dirty="0" err="1"/>
              <a:t>q^p</a:t>
            </a:r>
            <a:r>
              <a:rPr lang="en-US" dirty="0"/>
              <a:t>) </a:t>
            </a:r>
          </a:p>
          <a:p>
            <a:endParaRPr lang="en-US" dirty="0"/>
          </a:p>
          <a:p>
            <a:r>
              <a:rPr lang="en-US" dirty="0"/>
              <a:t>Contingency </a:t>
            </a:r>
          </a:p>
          <a:p>
            <a:r>
              <a:rPr lang="en-US" dirty="0"/>
              <a:t>Compound proposition that is neither a TAUTOLOGY or a CONTRADICTION </a:t>
            </a:r>
          </a:p>
          <a:p>
            <a:pPr marL="228600" indent="-228600">
              <a:buAutoNum type="alphaLcParenR"/>
            </a:pPr>
            <a:r>
              <a:rPr lang="pt-BR" dirty="0"/>
              <a:t>(p → q) ∧ (q → p) </a:t>
            </a:r>
          </a:p>
          <a:p>
            <a:pPr marL="228600" indent="-228600">
              <a:buAutoNum type="alphaLcParenR"/>
            </a:pPr>
            <a:endParaRPr lang="pt-BR" dirty="0"/>
          </a:p>
          <a:p>
            <a:pPr marL="0" indent="0">
              <a:buNone/>
            </a:pPr>
            <a:r>
              <a:rPr lang="en-US" dirty="0"/>
              <a:t>Satisfiability     -------Unsatisfiable (contradiction)</a:t>
            </a:r>
          </a:p>
          <a:p>
            <a:pPr marL="0" indent="0">
              <a:buNone/>
            </a:pPr>
            <a:r>
              <a:rPr lang="en-US" dirty="0"/>
              <a:t>Compound proposition is satisfiable is there is at least one true value in its truth table. </a:t>
            </a:r>
          </a:p>
          <a:p>
            <a:pPr marL="0" indent="0">
              <a:buNone/>
            </a:pPr>
            <a:r>
              <a:rPr lang="en-US" dirty="0" err="1"/>
              <a:t>P</a:t>
            </a:r>
            <a:r>
              <a:rPr lang="en-US" dirty="0" err="1">
                <a:sym typeface="Wingdings" panose="05000000000000000000" pitchFamily="2" charset="2"/>
              </a:rPr>
              <a:t></a:t>
            </a:r>
            <a:r>
              <a:rPr lang="en-US" dirty="0" err="1"/>
              <a:t>q</a:t>
            </a:r>
            <a:r>
              <a:rPr lang="en-US" dirty="0"/>
              <a:t>) ^ (</a:t>
            </a:r>
            <a:r>
              <a:rPr lang="en-US" dirty="0" err="1"/>
              <a:t>q</a:t>
            </a:r>
            <a:r>
              <a:rPr lang="en-US" dirty="0" err="1">
                <a:sym typeface="Wingdings" panose="05000000000000000000" pitchFamily="2" charset="2"/>
              </a:rPr>
              <a:t></a:t>
            </a:r>
            <a:r>
              <a:rPr lang="en-US" dirty="0" err="1"/>
              <a:t>p</a:t>
            </a:r>
            <a:r>
              <a:rPr lang="en-US" dirty="0"/>
              <a:t>) satisfiable</a:t>
            </a:r>
          </a:p>
          <a:p>
            <a:pPr marL="0" indent="0">
              <a:buNone/>
            </a:pPr>
            <a:r>
              <a:rPr lang="fr-FR" dirty="0" err="1"/>
              <a:t>P</a:t>
            </a:r>
            <a:r>
              <a:rPr lang="fr-FR" dirty="0" err="1">
                <a:sym typeface="Wingdings" panose="05000000000000000000" pitchFamily="2" charset="2"/>
              </a:rPr>
              <a:t></a:t>
            </a:r>
            <a:r>
              <a:rPr lang="fr-FR" dirty="0" err="1"/>
              <a:t>q</a:t>
            </a:r>
            <a:r>
              <a:rPr lang="fr-FR" dirty="0"/>
              <a:t>)V(</a:t>
            </a:r>
            <a:r>
              <a:rPr lang="fr-FR" dirty="0" err="1"/>
              <a:t>q</a:t>
            </a:r>
            <a:r>
              <a:rPr lang="fr-FR" dirty="0" err="1">
                <a:sym typeface="Wingdings" panose="05000000000000000000" pitchFamily="2" charset="2"/>
              </a:rPr>
              <a:t></a:t>
            </a:r>
            <a:r>
              <a:rPr lang="fr-FR" dirty="0" err="1"/>
              <a:t>p</a:t>
            </a:r>
            <a:r>
              <a:rPr lang="fr-FR" dirty="0"/>
              <a:t>)  satisfiable and </a:t>
            </a:r>
            <a:r>
              <a:rPr lang="fr-FR" dirty="0" err="1"/>
              <a:t>tautulogy</a:t>
            </a:r>
            <a:endParaRPr lang="fr-FR" dirty="0"/>
          </a:p>
          <a:p>
            <a:pPr marL="0" indent="0">
              <a:buNone/>
            </a:pPr>
            <a:endParaRPr lang="fr-FR" dirty="0"/>
          </a:p>
          <a:p>
            <a:pPr marL="0" indent="0">
              <a:buNone/>
            </a:pPr>
            <a:endParaRPr lang="fr-FR" dirty="0"/>
          </a:p>
          <a:p>
            <a:pPr marL="0" indent="0">
              <a:buNone/>
            </a:pPr>
            <a:r>
              <a:rPr lang="en-US" dirty="0"/>
              <a:t>VALID: Compound proposition always VALID when it is a TAUTOLOGY. </a:t>
            </a:r>
          </a:p>
          <a:p>
            <a:pPr marL="0" indent="0">
              <a:buNone/>
            </a:pPr>
            <a:r>
              <a:rPr lang="en-US" dirty="0"/>
              <a:t>INVALID: Compound proposition always INVALID when it is either CONTRADICTION or CONTINGENCY. </a:t>
            </a:r>
            <a:endParaRPr lang="fr-FR" dirty="0"/>
          </a:p>
          <a:p>
            <a:pPr marL="0" indent="0">
              <a:buNone/>
            </a:pPr>
            <a:endParaRPr lang="en-US" dirty="0"/>
          </a:p>
          <a:p>
            <a:pPr marL="0" indent="0">
              <a:buNone/>
            </a:pPr>
            <a:endParaRPr lang="en-US" dirty="0"/>
          </a:p>
          <a:p>
            <a:endParaRPr lang="en-US" dirty="0"/>
          </a:p>
        </p:txBody>
      </p:sp>
      <p:sp>
        <p:nvSpPr>
          <p:cNvPr id="4" name="Slide Number Placeholder 3"/>
          <p:cNvSpPr>
            <a:spLocks noGrp="1"/>
          </p:cNvSpPr>
          <p:nvPr>
            <p:ph type="sldNum" sz="quarter" idx="5"/>
          </p:nvPr>
        </p:nvSpPr>
        <p:spPr/>
        <p:txBody>
          <a:bodyPr/>
          <a:lstStyle/>
          <a:p>
            <a:fld id="{DD3D89A8-76E4-44BB-A513-4A9C69A3E5A5}" type="slidenum">
              <a:rPr lang="en-US" smtClean="0"/>
              <a:t>13</a:t>
            </a:fld>
            <a:endParaRPr lang="en-US"/>
          </a:p>
        </p:txBody>
      </p:sp>
    </p:spTree>
    <p:extLst>
      <p:ext uri="{BB962C8B-B14F-4D97-AF65-F5344CB8AC3E}">
        <p14:creationId xmlns:p14="http://schemas.microsoft.com/office/powerpoint/2010/main" val="15393953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Tautology</a:t>
            </a:r>
          </a:p>
          <a:p>
            <a:r>
              <a:rPr lang="en-US" dirty="0"/>
              <a:t>A formula that is </a:t>
            </a:r>
            <a:r>
              <a:rPr lang="en-US" b="1" dirty="0"/>
              <a:t>always true</a:t>
            </a:r>
            <a:endParaRPr lang="en-US" dirty="0"/>
          </a:p>
          <a:p>
            <a:r>
              <a:rPr lang="en-US" dirty="0"/>
              <a:t>Example: P ∨ ¬P</a:t>
            </a:r>
          </a:p>
          <a:p>
            <a:r>
              <a:rPr lang="en-US" b="1" dirty="0"/>
              <a:t>Contradiction</a:t>
            </a:r>
          </a:p>
          <a:p>
            <a:r>
              <a:rPr lang="en-US" dirty="0"/>
              <a:t>A formula that is </a:t>
            </a:r>
            <a:r>
              <a:rPr lang="en-US" b="1" dirty="0"/>
              <a:t>always false</a:t>
            </a:r>
            <a:endParaRPr lang="en-US" dirty="0"/>
          </a:p>
          <a:p>
            <a:r>
              <a:rPr lang="en-US" dirty="0"/>
              <a:t>Example: P ∧ ¬P</a:t>
            </a:r>
          </a:p>
          <a:p>
            <a:r>
              <a:rPr lang="en-US" b="1" dirty="0"/>
              <a:t>Contingency</a:t>
            </a:r>
          </a:p>
          <a:p>
            <a:r>
              <a:rPr lang="en-US" dirty="0"/>
              <a:t>Sometimes true, sometimes false</a:t>
            </a:r>
          </a:p>
          <a:p>
            <a:r>
              <a:rPr lang="en-US" dirty="0"/>
              <a:t>Example: P ∧ Q</a:t>
            </a:r>
          </a:p>
          <a:p>
            <a:endParaRPr lang="en-US" b="0" i="0" dirty="0">
              <a:solidFill>
                <a:srgbClr val="2C3E5D"/>
              </a:solidFill>
              <a:effectLst/>
              <a:latin typeface="Open Sans" panose="020F0502020204030204" pitchFamily="34" charset="0"/>
            </a:endParaRPr>
          </a:p>
          <a:p>
            <a:r>
              <a:rPr lang="en-US" b="0" i="0" dirty="0">
                <a:solidFill>
                  <a:srgbClr val="2C3E5D"/>
                </a:solidFill>
                <a:effectLst/>
                <a:latin typeface="Open Sans" panose="020F0502020204030204" pitchFamily="34" charset="0"/>
              </a:rPr>
              <a:t>In </a:t>
            </a:r>
            <a:r>
              <a:rPr lang="en-US" b="1" i="0" dirty="0">
                <a:solidFill>
                  <a:srgbClr val="2C3E5D"/>
                </a:solidFill>
                <a:effectLst/>
                <a:latin typeface="Open Sans" panose="020F0502020204030204" pitchFamily="34" charset="0"/>
              </a:rPr>
              <a:t>modus ponens</a:t>
            </a:r>
            <a:r>
              <a:rPr lang="en-US" b="0" i="0" dirty="0">
                <a:solidFill>
                  <a:srgbClr val="2C3E5D"/>
                </a:solidFill>
                <a:effectLst/>
                <a:latin typeface="Open Sans" panose="020F0502020204030204" pitchFamily="34" charset="0"/>
              </a:rPr>
              <a:t>, the first premise expresses an if–then relationship: If the </a:t>
            </a:r>
            <a:r>
              <a:rPr lang="en-US" b="1" i="0" dirty="0">
                <a:solidFill>
                  <a:srgbClr val="2C3E5D"/>
                </a:solidFill>
                <a:effectLst/>
                <a:latin typeface="Open Sans" panose="020F0502020204030204" pitchFamily="34" charset="0"/>
              </a:rPr>
              <a:t>antecedent</a:t>
            </a:r>
            <a:r>
              <a:rPr lang="en-US" b="0" i="0" dirty="0">
                <a:solidFill>
                  <a:srgbClr val="2C3E5D"/>
                </a:solidFill>
                <a:effectLst/>
                <a:latin typeface="Open Sans" panose="020F0502020204030204" pitchFamily="34" charset="0"/>
              </a:rPr>
              <a:t> is true, then the </a:t>
            </a:r>
            <a:r>
              <a:rPr lang="en-US" b="1" i="0" dirty="0">
                <a:solidFill>
                  <a:srgbClr val="2C3E5D"/>
                </a:solidFill>
                <a:effectLst/>
                <a:latin typeface="Open Sans" panose="020F0502020204030204" pitchFamily="34" charset="0"/>
              </a:rPr>
              <a:t>consequent</a:t>
            </a:r>
            <a:r>
              <a:rPr lang="en-US" b="0" i="0" dirty="0">
                <a:solidFill>
                  <a:srgbClr val="2C3E5D"/>
                </a:solidFill>
                <a:effectLst/>
                <a:latin typeface="Open Sans" panose="020F0502020204030204" pitchFamily="34" charset="0"/>
              </a:rPr>
              <a:t> must also be true.</a:t>
            </a:r>
          </a:p>
          <a:p>
            <a:endParaRPr lang="en-US" b="0" i="0" dirty="0">
              <a:solidFill>
                <a:srgbClr val="2C3E5D"/>
              </a:solidFill>
              <a:effectLst/>
              <a:latin typeface="Open Sans" panose="020F0502020204030204" pitchFamily="34" charset="0"/>
            </a:endParaRPr>
          </a:p>
          <a:p>
            <a:pPr algn="l">
              <a:buFont typeface="Arial" panose="020B0604020202020204" pitchFamily="34" charset="0"/>
              <a:buChar char="•"/>
            </a:pPr>
            <a:r>
              <a:rPr lang="en-US" b="1" i="0" dirty="0">
                <a:solidFill>
                  <a:srgbClr val="2C3E5D"/>
                </a:solidFill>
                <a:effectLst/>
                <a:latin typeface="Open Sans" panose="020B0606030504020204" pitchFamily="34" charset="0"/>
              </a:rPr>
              <a:t>Antecedent</a:t>
            </a:r>
            <a:r>
              <a:rPr lang="en-US" b="0" i="0" dirty="0">
                <a:solidFill>
                  <a:srgbClr val="2C3E5D"/>
                </a:solidFill>
                <a:effectLst/>
                <a:latin typeface="Open Sans" panose="020B0606030504020204" pitchFamily="34" charset="0"/>
              </a:rPr>
              <a:t>: The first part of a </a:t>
            </a:r>
            <a:r>
              <a:rPr lang="en-US" b="0" i="0" u="none" strike="noStrike" dirty="0">
                <a:solidFill>
                  <a:srgbClr val="1D7AFC"/>
                </a:solidFill>
                <a:effectLst/>
                <a:latin typeface="Open Sans" panose="020B0606030504020204" pitchFamily="34" charset="0"/>
                <a:hlinkClick r:id="rId3"/>
              </a:rPr>
              <a:t>conditional</a:t>
            </a:r>
            <a:r>
              <a:rPr lang="en-US" b="0" i="0" dirty="0">
                <a:solidFill>
                  <a:srgbClr val="2C3E5D"/>
                </a:solidFill>
                <a:effectLst/>
                <a:latin typeface="Open Sans" panose="020B0606030504020204" pitchFamily="34" charset="0"/>
              </a:rPr>
              <a:t> statement, following “if.” It is the condition that triggers the outcome.</a:t>
            </a:r>
          </a:p>
          <a:p>
            <a:pPr algn="l">
              <a:buFont typeface="Arial" panose="020B0604020202020204" pitchFamily="34" charset="0"/>
              <a:buChar char="•"/>
            </a:pPr>
            <a:r>
              <a:rPr lang="en-US" b="1" i="0" dirty="0">
                <a:solidFill>
                  <a:srgbClr val="2C3E5D"/>
                </a:solidFill>
                <a:effectLst/>
                <a:latin typeface="Open Sans" panose="020B0606030504020204" pitchFamily="34" charset="0"/>
              </a:rPr>
              <a:t>Consequent</a:t>
            </a:r>
            <a:r>
              <a:rPr lang="en-US" b="0" i="0" dirty="0">
                <a:solidFill>
                  <a:srgbClr val="2C3E5D"/>
                </a:solidFill>
                <a:effectLst/>
                <a:latin typeface="Open Sans" panose="020B0606030504020204" pitchFamily="34" charset="0"/>
              </a:rPr>
              <a:t>: The second part of a conditional statement, following “then.” It is the outcome or result of the antecedent being true</a:t>
            </a:r>
          </a:p>
          <a:p>
            <a:pPr algn="l">
              <a:buFont typeface="Arial" panose="020B0604020202020204" pitchFamily="34" charset="0"/>
              <a:buChar char="•"/>
            </a:pPr>
            <a:endParaRPr lang="en-US" b="0" i="0" dirty="0">
              <a:solidFill>
                <a:srgbClr val="2C3E5D"/>
              </a:solidFill>
              <a:effectLst/>
              <a:latin typeface="Open Sans" panose="020B0606030504020204" pitchFamily="34" charset="0"/>
            </a:endParaRPr>
          </a:p>
          <a:p>
            <a:pPr algn="l">
              <a:buFont typeface="Arial" panose="020B0604020202020204" pitchFamily="34" charset="0"/>
              <a:buChar char="•"/>
            </a:pPr>
            <a:endParaRPr lang="en-US" b="0" i="0" dirty="0">
              <a:solidFill>
                <a:srgbClr val="2C3E5D"/>
              </a:solidFill>
              <a:effectLst/>
              <a:latin typeface="Open Sans" panose="020B0606030504020204" pitchFamily="34" charset="0"/>
            </a:endParaRPr>
          </a:p>
          <a:p>
            <a:pPr algn="l"/>
            <a:r>
              <a:rPr lang="en-US" b="0" i="0" dirty="0">
                <a:solidFill>
                  <a:srgbClr val="2C3E5D"/>
                </a:solidFill>
                <a:effectLst/>
                <a:latin typeface="Open Sans" panose="020B0606030504020204" pitchFamily="34" charset="0"/>
              </a:rPr>
              <a:t>errors known as </a:t>
            </a:r>
            <a:r>
              <a:rPr lang="en-US" b="1" i="0" u="none" strike="noStrike" dirty="0">
                <a:solidFill>
                  <a:srgbClr val="1D7AFC"/>
                </a:solidFill>
                <a:effectLst/>
                <a:latin typeface="Open Sans" panose="020B0606030504020204" pitchFamily="34" charset="0"/>
                <a:hlinkClick r:id="rId4"/>
              </a:rPr>
              <a:t>formal logical fallacies</a:t>
            </a:r>
            <a:r>
              <a:rPr lang="en-US" b="0" i="0" dirty="0">
                <a:solidFill>
                  <a:srgbClr val="2C3E5D"/>
                </a:solidFill>
                <a:effectLst/>
                <a:latin typeface="Open Sans" panose="020B0606030504020204" pitchFamily="34" charset="0"/>
              </a:rPr>
              <a:t> (or </a:t>
            </a:r>
            <a:r>
              <a:rPr lang="en-US" b="1" i="0" u="none" strike="noStrike" dirty="0">
                <a:solidFill>
                  <a:srgbClr val="1D7AFC"/>
                </a:solidFill>
                <a:effectLst/>
                <a:latin typeface="Open Sans" panose="020B0606030504020204" pitchFamily="34" charset="0"/>
                <a:hlinkClick r:id="rId5"/>
              </a:rPr>
              <a:t>non sequitur fallacies</a:t>
            </a:r>
            <a:r>
              <a:rPr lang="en-US" b="0" i="0" dirty="0">
                <a:solidFill>
                  <a:srgbClr val="2C3E5D"/>
                </a:solidFill>
                <a:effectLst/>
                <a:latin typeface="Open Sans" panose="020B0606030504020204" pitchFamily="34" charset="0"/>
              </a:rPr>
              <a:t>).</a:t>
            </a:r>
          </a:p>
          <a:p>
            <a:pPr algn="l"/>
            <a:r>
              <a:rPr lang="en-US" b="0" i="0" dirty="0">
                <a:solidFill>
                  <a:srgbClr val="2C3E5D"/>
                </a:solidFill>
                <a:effectLst/>
                <a:latin typeface="Open Sans" panose="020B0606030504020204" pitchFamily="34" charset="0"/>
              </a:rPr>
              <a:t>There are two fallacies in particular that often result from failed attempts at forming a modus ponens argument:</a:t>
            </a:r>
          </a:p>
          <a:p>
            <a:pPr algn="l">
              <a:buFont typeface="Arial" panose="020B0604020202020204" pitchFamily="34" charset="0"/>
              <a:buChar char="•"/>
            </a:pPr>
            <a:r>
              <a:rPr lang="en-US" b="1" i="0" u="none" strike="noStrike" dirty="0">
                <a:solidFill>
                  <a:srgbClr val="1D7AFC"/>
                </a:solidFill>
                <a:effectLst/>
                <a:latin typeface="Open Sans" panose="020B0606030504020204" pitchFamily="34" charset="0"/>
                <a:hlinkClick r:id="rId6"/>
              </a:rPr>
              <a:t>Affirming the consequent</a:t>
            </a:r>
            <a:r>
              <a:rPr lang="en-US" b="0" i="0" dirty="0">
                <a:solidFill>
                  <a:srgbClr val="2C3E5D"/>
                </a:solidFill>
                <a:effectLst/>
                <a:latin typeface="Open Sans" panose="020B0606030504020204" pitchFamily="34" charset="0"/>
              </a:rPr>
              <a:t>: In a conditional syllogism, asserting that the consequent (i.e., the “then” statement) is true does not provide logical certainty.</a:t>
            </a:r>
          </a:p>
          <a:p>
            <a:pPr marL="742950" lvl="1" indent="-285750" algn="l">
              <a:buFont typeface="Arial" panose="020B0604020202020204" pitchFamily="34" charset="0"/>
              <a:buChar char="•"/>
            </a:pPr>
            <a:r>
              <a:rPr lang="en-US" b="1" i="0" dirty="0">
                <a:solidFill>
                  <a:srgbClr val="2C3E5D"/>
                </a:solidFill>
                <a:effectLst/>
                <a:latin typeface="Open Sans" panose="020B0606030504020204" pitchFamily="34" charset="0"/>
              </a:rPr>
              <a:t>Example</a:t>
            </a:r>
            <a:r>
              <a:rPr lang="en-US" b="0" i="0" dirty="0">
                <a:solidFill>
                  <a:srgbClr val="2C3E5D"/>
                </a:solidFill>
                <a:effectLst/>
                <a:latin typeface="Open Sans" panose="020B0606030504020204" pitchFamily="34" charset="0"/>
              </a:rPr>
              <a:t>: In the argument “If it’s raining, then the streets are wet. The streets are wet. Therefore, it’s raining,” there are other potential reasons the streets might be wet. This argument is fallacious.</a:t>
            </a:r>
          </a:p>
          <a:p>
            <a:pPr algn="l">
              <a:buFont typeface="Arial" panose="020B0604020202020204" pitchFamily="34" charset="0"/>
              <a:buChar char="•"/>
            </a:pPr>
            <a:r>
              <a:rPr lang="en-US" b="1" i="0" u="none" strike="noStrike" dirty="0">
                <a:solidFill>
                  <a:srgbClr val="1D7AFC"/>
                </a:solidFill>
                <a:effectLst/>
                <a:latin typeface="Open Sans" panose="020B0606030504020204" pitchFamily="34" charset="0"/>
                <a:hlinkClick r:id="rId7"/>
              </a:rPr>
              <a:t>Denying the antecedent</a:t>
            </a:r>
            <a:r>
              <a:rPr lang="en-US" b="0" i="0" dirty="0">
                <a:solidFill>
                  <a:srgbClr val="2C3E5D"/>
                </a:solidFill>
                <a:effectLst/>
                <a:latin typeface="Open Sans" panose="020B0606030504020204" pitchFamily="34" charset="0"/>
              </a:rPr>
              <a:t>: In a conditional syllogism, denying the truth of the antecedent (i.e., the “if” statement) likewise fails to provide logical certainty.</a:t>
            </a:r>
          </a:p>
          <a:p>
            <a:pPr marL="742950" lvl="1" indent="-285750" algn="l">
              <a:buFont typeface="Arial" panose="020B0604020202020204" pitchFamily="34" charset="0"/>
              <a:buChar char="•"/>
            </a:pPr>
            <a:r>
              <a:rPr lang="en-US" b="1" i="0" dirty="0">
                <a:solidFill>
                  <a:srgbClr val="2C3E5D"/>
                </a:solidFill>
                <a:effectLst/>
                <a:latin typeface="Open Sans" panose="020B0606030504020204" pitchFamily="34" charset="0"/>
              </a:rPr>
              <a:t>Example</a:t>
            </a:r>
            <a:r>
              <a:rPr lang="en-US" b="0" i="0" dirty="0">
                <a:solidFill>
                  <a:srgbClr val="2C3E5D"/>
                </a:solidFill>
                <a:effectLst/>
                <a:latin typeface="Open Sans" panose="020B0606030504020204" pitchFamily="34" charset="0"/>
              </a:rPr>
              <a:t>: In the argument “If it’s raining, then the streets are wet. It’s not raining. Therefore, the streets are not wet,” there could be factors other than rain causing the streets to be wet, so this argument is also fallacious.</a:t>
            </a:r>
          </a:p>
          <a:p>
            <a:pPr algn="l"/>
            <a:r>
              <a:rPr lang="en-US" b="0" i="0" dirty="0">
                <a:solidFill>
                  <a:srgbClr val="2C3E5D"/>
                </a:solidFill>
                <a:effectLst/>
                <a:latin typeface="Open Sans" panose="020B0606030504020204" pitchFamily="34" charset="0"/>
              </a:rPr>
              <a:t>Both fallacies are attempts at conditional syllogisms that misrepresent the relationship between the antecedent and the consequent, leading to flawed reasoning.</a:t>
            </a:r>
          </a:p>
          <a:p>
            <a:pPr algn="l">
              <a:buFont typeface="Arial" panose="020B0604020202020204" pitchFamily="34" charset="0"/>
              <a:buChar char="•"/>
            </a:pPr>
            <a:endParaRPr lang="en-US" b="0" i="0" dirty="0">
              <a:solidFill>
                <a:srgbClr val="2C3E5D"/>
              </a:solidFill>
              <a:effectLst/>
              <a:latin typeface="Open Sans" panose="020B0606030504020204" pitchFamily="34" charset="0"/>
            </a:endParaRPr>
          </a:p>
          <a:p>
            <a:pPr algn="l">
              <a:buFont typeface="Arial" panose="020B0604020202020204" pitchFamily="34" charset="0"/>
              <a:buChar char="•"/>
            </a:pPr>
            <a:endParaRPr lang="en-US" b="0" i="0" dirty="0">
              <a:solidFill>
                <a:srgbClr val="2C3E5D"/>
              </a:solidFill>
              <a:effectLst/>
              <a:latin typeface="Open Sans" panose="020B0606030504020204" pitchFamily="34" charset="0"/>
            </a:endParaRPr>
          </a:p>
          <a:p>
            <a:pPr algn="l"/>
            <a:r>
              <a:rPr lang="en-US" b="1" i="0" u="none" strike="noStrike" dirty="0">
                <a:solidFill>
                  <a:srgbClr val="1D7AFC"/>
                </a:solidFill>
                <a:effectLst/>
                <a:latin typeface="Open Sans" panose="020B0606030504020204" pitchFamily="34" charset="0"/>
                <a:hlinkClick r:id="rId8"/>
              </a:rPr>
              <a:t>Modus ponens</a:t>
            </a:r>
            <a:r>
              <a:rPr lang="en-US" b="0" i="0" dirty="0">
                <a:solidFill>
                  <a:srgbClr val="2C3E5D"/>
                </a:solidFill>
                <a:effectLst/>
                <a:latin typeface="Open Sans" panose="020B0606030504020204" pitchFamily="34" charset="0"/>
              </a:rPr>
              <a:t> is not a </a:t>
            </a:r>
            <a:r>
              <a:rPr lang="en-US" b="1" i="0" u="none" strike="noStrike" dirty="0">
                <a:solidFill>
                  <a:srgbClr val="1D7AFC"/>
                </a:solidFill>
                <a:effectLst/>
                <a:latin typeface="Open Sans" panose="020B0606030504020204" pitchFamily="34" charset="0"/>
                <a:hlinkClick r:id="rId9"/>
              </a:rPr>
              <a:t>logical fallacy</a:t>
            </a:r>
            <a:r>
              <a:rPr lang="en-US" b="0" i="0" dirty="0">
                <a:solidFill>
                  <a:srgbClr val="2C3E5D"/>
                </a:solidFill>
                <a:effectLst/>
                <a:latin typeface="Open Sans" panose="020B0606030504020204" pitchFamily="34" charset="0"/>
              </a:rPr>
              <a:t>; it is a valid form of </a:t>
            </a:r>
            <a:r>
              <a:rPr lang="en-US" b="0" i="0" u="none" strike="noStrike" dirty="0">
                <a:solidFill>
                  <a:srgbClr val="1D7AFC"/>
                </a:solidFill>
                <a:effectLst/>
                <a:latin typeface="Open Sans" panose="020B0606030504020204" pitchFamily="34" charset="0"/>
                <a:hlinkClick r:id="rId10"/>
              </a:rPr>
              <a:t>deductive reasoning</a:t>
            </a:r>
            <a:r>
              <a:rPr lang="en-US" b="0" i="0" dirty="0">
                <a:solidFill>
                  <a:srgbClr val="2C3E5D"/>
                </a:solidFill>
                <a:effectLst/>
                <a:latin typeface="Open Sans" panose="020B0606030504020204" pitchFamily="34" charset="0"/>
              </a:rPr>
              <a:t>. Also known as “affirming the antecedent,” it employs a straightforward logical structure:</a:t>
            </a:r>
          </a:p>
          <a:p>
            <a:pPr algn="l">
              <a:buFont typeface="Arial" panose="020B0604020202020204" pitchFamily="34" charset="0"/>
              <a:buChar char="•"/>
            </a:pPr>
            <a:r>
              <a:rPr lang="en-US" b="0" i="0" dirty="0">
                <a:solidFill>
                  <a:srgbClr val="2C3E5D"/>
                </a:solidFill>
                <a:effectLst/>
                <a:latin typeface="Open Sans" panose="020B0606030504020204" pitchFamily="34" charset="0"/>
              </a:rPr>
              <a:t>If </a:t>
            </a:r>
            <a:r>
              <a:rPr lang="en-US" b="0" i="1" dirty="0">
                <a:solidFill>
                  <a:srgbClr val="2C3E5D"/>
                </a:solidFill>
                <a:effectLst/>
                <a:latin typeface="Open Sans" panose="020B0606030504020204" pitchFamily="34" charset="0"/>
              </a:rPr>
              <a:t>P</a:t>
            </a:r>
            <a:r>
              <a:rPr lang="en-US" b="0" i="0" dirty="0">
                <a:solidFill>
                  <a:srgbClr val="2C3E5D"/>
                </a:solidFill>
                <a:effectLst/>
                <a:latin typeface="Open Sans" panose="020B0606030504020204" pitchFamily="34" charset="0"/>
              </a:rPr>
              <a:t>, then </a:t>
            </a:r>
            <a:r>
              <a:rPr lang="en-US" b="0" i="1" dirty="0">
                <a:solidFill>
                  <a:srgbClr val="2C3E5D"/>
                </a:solidFill>
                <a:effectLst/>
                <a:latin typeface="Open Sans" panose="020B0606030504020204" pitchFamily="34" charset="0"/>
              </a:rPr>
              <a:t>Q</a:t>
            </a:r>
            <a:r>
              <a:rPr lang="en-US" b="0" i="0" dirty="0">
                <a:solidFill>
                  <a:srgbClr val="2C3E5D"/>
                </a:solidFill>
                <a:effectLst/>
                <a:latin typeface="Open Sans" panose="020B0606030504020204" pitchFamily="34" charset="0"/>
              </a:rPr>
              <a:t>.</a:t>
            </a:r>
          </a:p>
          <a:p>
            <a:pPr algn="l">
              <a:buFont typeface="Arial" panose="020B0604020202020204" pitchFamily="34" charset="0"/>
              <a:buChar char="•"/>
            </a:pPr>
            <a:r>
              <a:rPr lang="en-US" b="0" i="1" dirty="0">
                <a:solidFill>
                  <a:srgbClr val="2C3E5D"/>
                </a:solidFill>
                <a:effectLst/>
                <a:latin typeface="Open Sans" panose="020B0606030504020204" pitchFamily="34" charset="0"/>
              </a:rPr>
              <a:t>P</a:t>
            </a:r>
            <a:r>
              <a:rPr lang="en-US" b="0" i="0" dirty="0">
                <a:solidFill>
                  <a:srgbClr val="2C3E5D"/>
                </a:solidFill>
                <a:effectLst/>
                <a:latin typeface="Open Sans" panose="020B0606030504020204" pitchFamily="34" charset="0"/>
              </a:rPr>
              <a:t>.</a:t>
            </a:r>
          </a:p>
          <a:p>
            <a:pPr algn="l">
              <a:buFont typeface="Arial" panose="020B0604020202020204" pitchFamily="34" charset="0"/>
              <a:buChar char="•"/>
            </a:pPr>
            <a:r>
              <a:rPr lang="en-US" b="0" i="0" dirty="0">
                <a:solidFill>
                  <a:srgbClr val="2C3E5D"/>
                </a:solidFill>
                <a:effectLst/>
                <a:latin typeface="Open Sans" panose="020B0606030504020204" pitchFamily="34" charset="0"/>
              </a:rPr>
              <a:t>Therefore, </a:t>
            </a:r>
            <a:r>
              <a:rPr lang="en-US" b="0" i="1" dirty="0">
                <a:solidFill>
                  <a:srgbClr val="2C3E5D"/>
                </a:solidFill>
                <a:effectLst/>
                <a:latin typeface="Open Sans" panose="020B0606030504020204" pitchFamily="34" charset="0"/>
              </a:rPr>
              <a:t>Q</a:t>
            </a:r>
            <a:r>
              <a:rPr lang="en-US" b="0" i="0" dirty="0">
                <a:solidFill>
                  <a:srgbClr val="2C3E5D"/>
                </a:solidFill>
                <a:effectLst/>
                <a:latin typeface="Open Sans" panose="020B0606030504020204" pitchFamily="34" charset="0"/>
              </a:rPr>
              <a:t>.</a:t>
            </a:r>
          </a:p>
          <a:p>
            <a:pPr algn="l"/>
            <a:r>
              <a:rPr lang="en-US" b="0" i="0" dirty="0">
                <a:solidFill>
                  <a:srgbClr val="2C3E5D"/>
                </a:solidFill>
                <a:effectLst/>
                <a:latin typeface="Open Sans" panose="020B0606030504020204" pitchFamily="34" charset="0"/>
              </a:rPr>
              <a:t>However, flawed attempts at forming a </a:t>
            </a:r>
            <a:r>
              <a:rPr lang="en-US" b="0" i="0" u="none" strike="noStrike" dirty="0">
                <a:solidFill>
                  <a:srgbClr val="1D7AFC"/>
                </a:solidFill>
                <a:effectLst/>
                <a:latin typeface="Open Sans" panose="020B0606030504020204" pitchFamily="34" charset="0"/>
                <a:hlinkClick r:id="rId11"/>
              </a:rPr>
              <a:t>syllogism</a:t>
            </a:r>
            <a:r>
              <a:rPr lang="en-US" b="0" i="0" dirty="0">
                <a:solidFill>
                  <a:srgbClr val="2C3E5D"/>
                </a:solidFill>
                <a:effectLst/>
                <a:latin typeface="Open Sans" panose="020B0606030504020204" pitchFamily="34" charset="0"/>
              </a:rPr>
              <a:t> often result in </a:t>
            </a:r>
            <a:r>
              <a:rPr lang="en-US" b="1" i="0" u="none" strike="noStrike" dirty="0">
                <a:solidFill>
                  <a:srgbClr val="1D7AFC"/>
                </a:solidFill>
                <a:effectLst/>
                <a:latin typeface="Open Sans" panose="020B0606030504020204" pitchFamily="34" charset="0"/>
                <a:hlinkClick r:id="rId4"/>
              </a:rPr>
              <a:t>formal logical fallacies</a:t>
            </a:r>
            <a:r>
              <a:rPr lang="en-US" b="0" i="0" dirty="0">
                <a:solidFill>
                  <a:srgbClr val="2C3E5D"/>
                </a:solidFill>
                <a:effectLst/>
                <a:latin typeface="Open Sans" panose="020B0606030504020204" pitchFamily="34" charset="0"/>
              </a:rPr>
              <a:t>, such as </a:t>
            </a:r>
            <a:r>
              <a:rPr lang="en-US" b="1" i="0" u="none" strike="noStrike" dirty="0">
                <a:solidFill>
                  <a:srgbClr val="1D7AFC"/>
                </a:solidFill>
                <a:effectLst/>
                <a:latin typeface="Open Sans" panose="020B0606030504020204" pitchFamily="34" charset="0"/>
                <a:hlinkClick r:id="rId7"/>
              </a:rPr>
              <a:t>denying the antecedent</a:t>
            </a:r>
            <a:r>
              <a:rPr lang="en-US" b="0" i="0" dirty="0">
                <a:solidFill>
                  <a:srgbClr val="2C3E5D"/>
                </a:solidFill>
                <a:effectLst/>
                <a:latin typeface="Open Sans" panose="020B0606030504020204" pitchFamily="34" charset="0"/>
              </a:rPr>
              <a:t>, which resembles modus ponens in form but fails to provide logical certainty:</a:t>
            </a:r>
          </a:p>
          <a:p>
            <a:pPr algn="l">
              <a:buFont typeface="Arial" panose="020B0604020202020204" pitchFamily="34" charset="0"/>
              <a:buChar char="•"/>
            </a:pPr>
            <a:r>
              <a:rPr lang="en-US" b="0" i="0" dirty="0">
                <a:solidFill>
                  <a:srgbClr val="2C3E5D"/>
                </a:solidFill>
                <a:effectLst/>
                <a:latin typeface="Open Sans" panose="020B0606030504020204" pitchFamily="34" charset="0"/>
              </a:rPr>
              <a:t>If P, then </a:t>
            </a:r>
            <a:r>
              <a:rPr lang="en-US" b="0" i="1" dirty="0">
                <a:solidFill>
                  <a:srgbClr val="2C3E5D"/>
                </a:solidFill>
                <a:effectLst/>
                <a:latin typeface="Open Sans" panose="020B0606030504020204" pitchFamily="34" charset="0"/>
              </a:rPr>
              <a:t>Q</a:t>
            </a:r>
            <a:r>
              <a:rPr lang="en-US" b="0" i="0" dirty="0">
                <a:solidFill>
                  <a:srgbClr val="2C3E5D"/>
                </a:solidFill>
                <a:effectLst/>
                <a:latin typeface="Open Sans" panose="020B0606030504020204" pitchFamily="34" charset="0"/>
              </a:rPr>
              <a:t>.</a:t>
            </a:r>
          </a:p>
          <a:p>
            <a:pPr algn="l">
              <a:buFont typeface="Arial" panose="020B0604020202020204" pitchFamily="34" charset="0"/>
              <a:buChar char="•"/>
            </a:pPr>
            <a:r>
              <a:rPr lang="en-US" b="0" i="0" dirty="0">
                <a:solidFill>
                  <a:srgbClr val="2C3E5D"/>
                </a:solidFill>
                <a:effectLst/>
                <a:latin typeface="Open Sans" panose="020B0606030504020204" pitchFamily="34" charset="0"/>
              </a:rPr>
              <a:t>Not </a:t>
            </a:r>
            <a:r>
              <a:rPr lang="en-US" b="0" i="1" dirty="0">
                <a:solidFill>
                  <a:srgbClr val="2C3E5D"/>
                </a:solidFill>
                <a:effectLst/>
                <a:latin typeface="Open Sans" panose="020B0606030504020204" pitchFamily="34" charset="0"/>
              </a:rPr>
              <a:t>P</a:t>
            </a:r>
            <a:r>
              <a:rPr lang="en-US" b="0" i="0" dirty="0">
                <a:solidFill>
                  <a:srgbClr val="2C3E5D"/>
                </a:solidFill>
                <a:effectLst/>
                <a:latin typeface="Open Sans" panose="020B0606030504020204" pitchFamily="34" charset="0"/>
              </a:rPr>
              <a:t>.</a:t>
            </a:r>
          </a:p>
          <a:p>
            <a:pPr algn="l">
              <a:buFont typeface="Arial" panose="020B0604020202020204" pitchFamily="34" charset="0"/>
              <a:buChar char="•"/>
            </a:pPr>
            <a:r>
              <a:rPr lang="en-US" b="0" i="0" dirty="0">
                <a:solidFill>
                  <a:srgbClr val="2C3E5D"/>
                </a:solidFill>
                <a:effectLst/>
                <a:latin typeface="Open Sans" panose="020B0606030504020204" pitchFamily="34" charset="0"/>
              </a:rPr>
              <a:t>Therefore, not </a:t>
            </a:r>
            <a:r>
              <a:rPr lang="en-US" b="0" i="1" dirty="0">
                <a:solidFill>
                  <a:srgbClr val="2C3E5D"/>
                </a:solidFill>
                <a:effectLst/>
                <a:latin typeface="Open Sans" panose="020B0606030504020204" pitchFamily="34" charset="0"/>
              </a:rPr>
              <a:t>Q</a:t>
            </a:r>
            <a:r>
              <a:rPr lang="en-US" b="0" i="0" dirty="0">
                <a:solidFill>
                  <a:srgbClr val="2C3E5D"/>
                </a:solidFill>
                <a:effectLst/>
                <a:latin typeface="Open Sans" panose="020B0606030504020204" pitchFamily="34" charset="0"/>
              </a:rPr>
              <a:t>.</a:t>
            </a:r>
          </a:p>
          <a:p>
            <a:pPr algn="l"/>
            <a:r>
              <a:rPr lang="en-US" b="0" i="0" dirty="0">
                <a:solidFill>
                  <a:srgbClr val="2C3E5D"/>
                </a:solidFill>
                <a:effectLst/>
                <a:latin typeface="Open Sans" panose="020B0606030504020204" pitchFamily="34" charset="0"/>
              </a:rPr>
              <a:t>Although the two arguments look similar, denying the antecedent is an invalid form of argument.</a:t>
            </a:r>
          </a:p>
          <a:p>
            <a:pPr algn="l">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DD3D89A8-76E4-44BB-A513-4A9C69A3E5A5}" type="slidenum">
              <a:rPr lang="en-US" smtClean="0"/>
              <a:t>14</a:t>
            </a:fld>
            <a:endParaRPr lang="en-US"/>
          </a:p>
        </p:txBody>
      </p:sp>
    </p:spTree>
    <p:extLst>
      <p:ext uri="{BB962C8B-B14F-4D97-AF65-F5344CB8AC3E}">
        <p14:creationId xmlns:p14="http://schemas.microsoft.com/office/powerpoint/2010/main" val="32012164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If </a:t>
            </a:r>
            <a:r>
              <a:rPr lang="en-US" i="1" dirty="0"/>
              <a:t>P implies Q</a:t>
            </a:r>
            <a:r>
              <a:rPr lang="en-US" dirty="0"/>
              <a:t> and </a:t>
            </a:r>
            <a:r>
              <a:rPr lang="en-US" i="1" dirty="0"/>
              <a:t>P is true</a:t>
            </a:r>
            <a:r>
              <a:rPr lang="en-US" dirty="0"/>
              <a:t>, then </a:t>
            </a:r>
            <a:r>
              <a:rPr lang="en-US" i="1" dirty="0"/>
              <a:t>Q must be true</a:t>
            </a:r>
            <a:r>
              <a:rPr lang="en-US" dirty="0"/>
              <a:t>.</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If </a:t>
            </a:r>
            <a:r>
              <a:rPr lang="en-US" i="1" dirty="0"/>
              <a:t>P implies Q</a:t>
            </a:r>
            <a:r>
              <a:rPr lang="en-US" dirty="0"/>
              <a:t> and </a:t>
            </a:r>
            <a:r>
              <a:rPr lang="en-US" i="1" dirty="0"/>
              <a:t>Q is false</a:t>
            </a:r>
            <a:r>
              <a:rPr lang="en-US" dirty="0"/>
              <a:t>, then </a:t>
            </a:r>
            <a:r>
              <a:rPr lang="en-US" i="1" dirty="0"/>
              <a:t>P must be false</a:t>
            </a:r>
            <a:r>
              <a:rPr lang="en-US" dirty="0"/>
              <a:t>.</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Hypothetical Syllogism</a:t>
            </a: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If </a:t>
            </a:r>
            <a:r>
              <a:rPr lang="en-US" i="1" dirty="0"/>
              <a:t>P implies Q</a:t>
            </a:r>
            <a:r>
              <a:rPr lang="en-US" dirty="0"/>
              <a:t> and </a:t>
            </a:r>
            <a:r>
              <a:rPr lang="en-US" i="1" dirty="0"/>
              <a:t>Q implies R</a:t>
            </a:r>
            <a:r>
              <a:rPr lang="en-US" dirty="0"/>
              <a:t>, then </a:t>
            </a:r>
            <a:r>
              <a:rPr lang="en-US" i="1" dirty="0"/>
              <a:t>P implies R</a:t>
            </a:r>
            <a:r>
              <a:rPr lang="en-US" dirty="0"/>
              <a:t>.</a:t>
            </a:r>
          </a:p>
          <a:p>
            <a:pPr marL="457200" marR="0" lvl="1" indent="0" algn="l" defTabSz="914400" rtl="0" eaLnBrk="1" fontAlgn="auto" latinLnBrk="0" hangingPunct="1">
              <a:lnSpc>
                <a:spcPct val="100000"/>
              </a:lnSpc>
              <a:spcBef>
                <a:spcPts val="0"/>
              </a:spcBef>
              <a:spcAft>
                <a:spcPts val="0"/>
              </a:spcAft>
              <a:buClrTx/>
              <a:buSzTx/>
              <a:buFontTx/>
              <a:buNone/>
              <a:tabLst/>
              <a:defRPr/>
            </a:pPr>
            <a:r>
              <a:rPr lang="pt-BR" dirty="0"/>
              <a:t>	P → Q</a:t>
            </a:r>
          </a:p>
          <a:p>
            <a:pPr marL="457200" marR="0" lvl="1" indent="0" algn="l" defTabSz="914400" rtl="0" eaLnBrk="1" fontAlgn="auto" latinLnBrk="0" hangingPunct="1">
              <a:lnSpc>
                <a:spcPct val="100000"/>
              </a:lnSpc>
              <a:spcBef>
                <a:spcPts val="0"/>
              </a:spcBef>
              <a:spcAft>
                <a:spcPts val="0"/>
              </a:spcAft>
              <a:buClrTx/>
              <a:buSzTx/>
              <a:buFontTx/>
              <a:buNone/>
              <a:tabLst/>
              <a:defRPr/>
            </a:pPr>
            <a:r>
              <a:rPr lang="pt-BR" dirty="0"/>
              <a:t>	Q → R</a:t>
            </a:r>
          </a:p>
          <a:p>
            <a:pPr marL="457200" marR="0" lvl="1" indent="0" algn="l" defTabSz="914400" rtl="0" eaLnBrk="1" fontAlgn="auto" latinLnBrk="0" hangingPunct="1">
              <a:lnSpc>
                <a:spcPct val="100000"/>
              </a:lnSpc>
              <a:spcBef>
                <a:spcPts val="0"/>
              </a:spcBef>
              <a:spcAft>
                <a:spcPts val="0"/>
              </a:spcAft>
              <a:buClrTx/>
              <a:buSzTx/>
              <a:buFontTx/>
              <a:buNone/>
              <a:tabLst/>
              <a:defRPr/>
            </a:pPr>
            <a:r>
              <a:rPr lang="pt-BR" dirty="0"/>
              <a:t>	---------</a:t>
            </a:r>
          </a:p>
          <a:p>
            <a:pPr marL="457200" marR="0" lvl="1" indent="0" algn="l" defTabSz="914400" rtl="0" eaLnBrk="1" fontAlgn="auto" latinLnBrk="0" hangingPunct="1">
              <a:lnSpc>
                <a:spcPct val="100000"/>
              </a:lnSpc>
              <a:spcBef>
                <a:spcPts val="0"/>
              </a:spcBef>
              <a:spcAft>
                <a:spcPts val="0"/>
              </a:spcAft>
              <a:buClrTx/>
              <a:buSzTx/>
              <a:buFontTx/>
              <a:buNone/>
              <a:tabLst/>
              <a:defRPr/>
            </a:pPr>
            <a:r>
              <a:rPr lang="pt-BR" dirty="0"/>
              <a:t>	∴ P → R</a:t>
            </a:r>
            <a:endParaRPr lang="en-US"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Disjunctive Syllogism</a:t>
            </a: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If one of the propositions is false, the other must be true.</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t>	P ∨ Q</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t>	¬P</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t>	---------</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t>	∴ Q</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And Introduction (Conjunction)</a:t>
            </a: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If P is true and Q is true, then P AND Q is true.</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t>	P</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t>	Q</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t>	---------</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t>	∴ P ∧ Q</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And Elimination (Simplification)</a:t>
            </a: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From a conjunction, each part can be inferred separately.</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t>	P ∧ Q</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t>	---------</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t>	∴ P             or Q</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Or Introduction (Addition)</a:t>
            </a: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If P is true, then P OR Q is true (even if Q is unknown).</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t>	P</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t>	---------</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t>	∴ P ∨ Q</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Resolution Rule (Very Important in AI)</a:t>
            </a: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Eliminate complementary literals to derive a new clause.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a:p>
            <a:endParaRPr lang="en-US" dirty="0"/>
          </a:p>
        </p:txBody>
      </p:sp>
      <p:sp>
        <p:nvSpPr>
          <p:cNvPr id="4" name="Slide Number Placeholder 3"/>
          <p:cNvSpPr>
            <a:spLocks noGrp="1"/>
          </p:cNvSpPr>
          <p:nvPr>
            <p:ph type="sldNum" sz="quarter" idx="5"/>
          </p:nvPr>
        </p:nvSpPr>
        <p:spPr/>
        <p:txBody>
          <a:bodyPr/>
          <a:lstStyle/>
          <a:p>
            <a:fld id="{DD3D89A8-76E4-44BB-A513-4A9C69A3E5A5}" type="slidenum">
              <a:rPr lang="en-US" smtClean="0"/>
              <a:t>15</a:t>
            </a:fld>
            <a:endParaRPr lang="en-US"/>
          </a:p>
        </p:txBody>
      </p:sp>
    </p:spTree>
    <p:extLst>
      <p:ext uri="{BB962C8B-B14F-4D97-AF65-F5344CB8AC3E}">
        <p14:creationId xmlns:p14="http://schemas.microsoft.com/office/powerpoint/2010/main" val="15209418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3D89A8-76E4-44BB-A513-4A9C69A3E5A5}" type="slidenum">
              <a:rPr lang="en-US" smtClean="0"/>
              <a:t>17</a:t>
            </a:fld>
            <a:endParaRPr lang="en-US"/>
          </a:p>
        </p:txBody>
      </p:sp>
    </p:spTree>
    <p:extLst>
      <p:ext uri="{BB962C8B-B14F-4D97-AF65-F5344CB8AC3E}">
        <p14:creationId xmlns:p14="http://schemas.microsoft.com/office/powerpoint/2010/main" val="10298283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dirty="0"/>
                  <a:t>1. Infer a contradiction</a:t>
                </a:r>
              </a:p>
              <a:p>
                <a:r>
                  <a:rPr lang="en-US" dirty="0"/>
                  <a:t>A </a:t>
                </a:r>
                <a:r>
                  <a:rPr lang="en-US" b="1" dirty="0"/>
                  <a:t>contradiction</a:t>
                </a:r>
                <a:r>
                  <a:rPr lang="en-US" dirty="0"/>
                  <a:t> occurs when resolution produces the </a:t>
                </a:r>
                <a:r>
                  <a:rPr lang="en-US" b="1" dirty="0"/>
                  <a:t>empty clause ( )</a:t>
                </a:r>
                <a:r>
                  <a:rPr lang="en-US" dirty="0"/>
                  <a:t>.</a:t>
                </a:r>
              </a:p>
              <a:p>
                <a:r>
                  <a:rPr lang="en-US" dirty="0"/>
                  <a:t>This usually happens when:</a:t>
                </a:r>
              </a:p>
              <a:p>
                <a:pPr lvl="1"/>
                <a:r>
                  <a:rPr lang="en-US" dirty="0"/>
                  <a:t>You </a:t>
                </a:r>
                <a:r>
                  <a:rPr lang="en-US" b="1" dirty="0"/>
                  <a:t>assume the negation of the conclusion</a:t>
                </a:r>
                <a:endParaRPr lang="en-US" dirty="0"/>
              </a:p>
              <a:p>
                <a:pPr lvl="1"/>
                <a:r>
                  <a:rPr lang="en-US" dirty="0"/>
                  <a:t>And show that this assumption leads to inconsistency</a:t>
                </a:r>
              </a:p>
              <a:p>
                <a:r>
                  <a:rPr lang="en-US" dirty="0"/>
                  <a:t>📌 This is called </a:t>
                </a:r>
                <a:r>
                  <a:rPr lang="en-US" b="1" dirty="0"/>
                  <a:t>proof by refutation</a:t>
                </a:r>
                <a:r>
                  <a:rPr lang="en-US" dirty="0"/>
                  <a:t>.</a:t>
                </a:r>
              </a:p>
              <a:p>
                <a:endParaRPr lang="en-US" dirty="0"/>
              </a:p>
              <a:p>
                <a:endParaRPr lang="en-US" dirty="0"/>
              </a:p>
              <a:p>
                <a:r>
                  <a:rPr lang="en-US" b="1" dirty="0"/>
                  <a:t>2. Infer a conclusion</a:t>
                </a:r>
              </a:p>
              <a:p>
                <a:r>
                  <a:rPr lang="en-US" dirty="0"/>
                  <a:t>If adding </a:t>
                </a:r>
                <a:r>
                  <a:rPr lang="en-US" b="1" dirty="0"/>
                  <a:t>¬Goal</a:t>
                </a:r>
                <a:r>
                  <a:rPr lang="en-US" dirty="0"/>
                  <a:t> leads to a contradiction,</a:t>
                </a:r>
              </a:p>
              <a:p>
                <a:r>
                  <a:rPr lang="en-US" dirty="0"/>
                  <a:t>Then the </a:t>
                </a:r>
                <a:r>
                  <a:rPr lang="en-US" b="1" dirty="0"/>
                  <a:t>Goal must be true</a:t>
                </a:r>
                <a:r>
                  <a:rPr lang="en-US" dirty="0"/>
                  <a:t>.</a:t>
                </a:r>
              </a:p>
              <a:p>
                <a:r>
                  <a:rPr lang="en-US" dirty="0"/>
                  <a:t>So:</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𝐾𝐵</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𝐺𝑜𝑎𝑙</m:t>
                      </m:r>
                    </m:oMath>
                  </m:oMathPara>
                </a14:m>
                <a:endParaRPr lang="en-US" dirty="0"/>
              </a:p>
              <a:p>
                <a:endParaRPr lang="en-US" dirty="0"/>
              </a:p>
            </p:txBody>
          </p:sp>
        </mc:Choice>
        <mc:Fallback xmlns="">
          <p:sp>
            <p:nvSpPr>
              <p:cNvPr id="3" name="Notes Placeholder 2"/>
              <p:cNvSpPr>
                <a:spLocks noGrp="1"/>
              </p:cNvSpPr>
              <p:nvPr>
                <p:ph type="body" idx="1"/>
              </p:nvPr>
            </p:nvSpPr>
            <p:spPr/>
            <p:txBody>
              <a:bodyPr/>
              <a:lstStyle/>
              <a:p>
                <a:r>
                  <a:rPr lang="en-US" b="1" dirty="0"/>
                  <a:t>1. Infer a contradiction</a:t>
                </a:r>
              </a:p>
              <a:p>
                <a:r>
                  <a:rPr lang="en-US" dirty="0"/>
                  <a:t>A </a:t>
                </a:r>
                <a:r>
                  <a:rPr lang="en-US" b="1" dirty="0"/>
                  <a:t>contradiction</a:t>
                </a:r>
                <a:r>
                  <a:rPr lang="en-US" dirty="0"/>
                  <a:t> occurs when resolution produces the </a:t>
                </a:r>
                <a:r>
                  <a:rPr lang="en-US" b="1" dirty="0"/>
                  <a:t>empty clause ( )</a:t>
                </a:r>
                <a:r>
                  <a:rPr lang="en-US" dirty="0"/>
                  <a:t>.</a:t>
                </a:r>
              </a:p>
              <a:p>
                <a:r>
                  <a:rPr lang="en-US" dirty="0"/>
                  <a:t>This usually happens when:</a:t>
                </a:r>
              </a:p>
              <a:p>
                <a:pPr lvl="1"/>
                <a:r>
                  <a:rPr lang="en-US" dirty="0"/>
                  <a:t>You </a:t>
                </a:r>
                <a:r>
                  <a:rPr lang="en-US" b="1" dirty="0"/>
                  <a:t>assume the negation of the conclusion</a:t>
                </a:r>
                <a:endParaRPr lang="en-US" dirty="0"/>
              </a:p>
              <a:p>
                <a:pPr lvl="1"/>
                <a:r>
                  <a:rPr lang="en-US" dirty="0"/>
                  <a:t>And show that this assumption leads to inconsistency</a:t>
                </a:r>
              </a:p>
              <a:p>
                <a:r>
                  <a:rPr lang="en-US" dirty="0"/>
                  <a:t>📌 This is called </a:t>
                </a:r>
                <a:r>
                  <a:rPr lang="en-US" b="1" dirty="0"/>
                  <a:t>proof by refutation</a:t>
                </a:r>
                <a:r>
                  <a:rPr lang="en-US" dirty="0"/>
                  <a:t>.</a:t>
                </a:r>
              </a:p>
              <a:p>
                <a:endParaRPr lang="en-US" dirty="0"/>
              </a:p>
              <a:p>
                <a:endParaRPr lang="en-US" dirty="0"/>
              </a:p>
              <a:p>
                <a:r>
                  <a:rPr lang="en-US" b="1" dirty="0"/>
                  <a:t>2. Infer a conclusion</a:t>
                </a:r>
              </a:p>
              <a:p>
                <a:r>
                  <a:rPr lang="en-US" dirty="0"/>
                  <a:t>If adding </a:t>
                </a:r>
                <a:r>
                  <a:rPr lang="en-US" b="1" dirty="0"/>
                  <a:t>¬Goal</a:t>
                </a:r>
                <a:r>
                  <a:rPr lang="en-US" dirty="0"/>
                  <a:t> leads to a contradiction,</a:t>
                </a:r>
              </a:p>
              <a:p>
                <a:r>
                  <a:rPr lang="en-US" dirty="0"/>
                  <a:t>Then the </a:t>
                </a:r>
                <a:r>
                  <a:rPr lang="en-US" b="1" dirty="0"/>
                  <a:t>Goal must be true</a:t>
                </a:r>
                <a:r>
                  <a:rPr lang="en-US" dirty="0"/>
                  <a:t>.</a:t>
                </a:r>
              </a:p>
              <a:p>
                <a:r>
                  <a:rPr lang="en-US" dirty="0"/>
                  <a:t>So:</a:t>
                </a:r>
              </a:p>
              <a:p>
                <a:r>
                  <a:rPr lang="en-US" sz="1200" i="0" kern="1200">
                    <a:solidFill>
                      <a:schemeClr val="tx1"/>
                    </a:solidFill>
                    <a:latin typeface="+mn-lt"/>
                    <a:ea typeface="+mn-ea"/>
                    <a:cs typeface="+mn-cs"/>
                  </a:rPr>
                  <a:t>𝐾𝐵⊨𝐺𝑜𝑎𝑙</a:t>
                </a:r>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DD3D89A8-76E4-44BB-A513-4A9C69A3E5A5}" type="slidenum">
              <a:rPr lang="en-US" smtClean="0"/>
              <a:t>19</a:t>
            </a:fld>
            <a:endParaRPr lang="en-US"/>
          </a:p>
        </p:txBody>
      </p:sp>
    </p:spTree>
    <p:extLst>
      <p:ext uri="{BB962C8B-B14F-4D97-AF65-F5344CB8AC3E}">
        <p14:creationId xmlns:p14="http://schemas.microsoft.com/office/powerpoint/2010/main" val="8418033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3D89A8-76E4-44BB-A513-4A9C69A3E5A5}" type="slidenum">
              <a:rPr lang="en-US" smtClean="0"/>
              <a:t>20</a:t>
            </a:fld>
            <a:endParaRPr lang="en-US"/>
          </a:p>
        </p:txBody>
      </p:sp>
    </p:spTree>
    <p:extLst>
      <p:ext uri="{BB962C8B-B14F-4D97-AF65-F5344CB8AC3E}">
        <p14:creationId xmlns:p14="http://schemas.microsoft.com/office/powerpoint/2010/main" val="39337264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Ram is brother of Lakshman , either true or false but</a:t>
            </a:r>
          </a:p>
          <a:p>
            <a:r>
              <a:rPr lang="en-US" dirty="0"/>
              <a:t>X is brother of y==?</a:t>
            </a:r>
          </a:p>
          <a:p>
            <a:r>
              <a:rPr lang="en-US" dirty="0"/>
              <a:t> here we use predicate logic for variables.</a:t>
            </a:r>
          </a:p>
        </p:txBody>
      </p:sp>
      <p:sp>
        <p:nvSpPr>
          <p:cNvPr id="4" name="Slide Number Placeholder 3"/>
          <p:cNvSpPr>
            <a:spLocks noGrp="1"/>
          </p:cNvSpPr>
          <p:nvPr>
            <p:ph type="sldNum" sz="quarter" idx="5"/>
          </p:nvPr>
        </p:nvSpPr>
        <p:spPr/>
        <p:txBody>
          <a:bodyPr/>
          <a:lstStyle/>
          <a:p>
            <a:fld id="{DD3D89A8-76E4-44BB-A513-4A9C69A3E5A5}" type="slidenum">
              <a:rPr lang="en-US" smtClean="0"/>
              <a:t>24</a:t>
            </a:fld>
            <a:endParaRPr lang="en-US"/>
          </a:p>
        </p:txBody>
      </p:sp>
    </p:spTree>
    <p:extLst>
      <p:ext uri="{BB962C8B-B14F-4D97-AF65-F5344CB8AC3E}">
        <p14:creationId xmlns:p14="http://schemas.microsoft.com/office/powerpoint/2010/main" val="25298477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3D89A8-76E4-44BB-A513-4A9C69A3E5A5}" type="slidenum">
              <a:rPr lang="en-US" smtClean="0"/>
              <a:t>28</a:t>
            </a:fld>
            <a:endParaRPr lang="en-US"/>
          </a:p>
        </p:txBody>
      </p:sp>
    </p:spTree>
    <p:extLst>
      <p:ext uri="{BB962C8B-B14F-4D97-AF65-F5344CB8AC3E}">
        <p14:creationId xmlns:p14="http://schemas.microsoft.com/office/powerpoint/2010/main" val="14020997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birds can fly</a:t>
            </a:r>
          </a:p>
          <a:p>
            <a:r>
              <a:rPr lang="en-US" dirty="0"/>
              <a:t>∀x Bird(x) → </a:t>
            </a:r>
            <a:r>
              <a:rPr lang="en-US" dirty="0" err="1"/>
              <a:t>CanFly</a:t>
            </a:r>
            <a:r>
              <a:rPr lang="en-US" dirty="0"/>
              <a:t>(x)</a:t>
            </a:r>
          </a:p>
          <a:p>
            <a:endParaRPr lang="en-US" dirty="0"/>
          </a:p>
          <a:p>
            <a:r>
              <a:rPr lang="en-US" dirty="0"/>
              <a:t>There exists a teacher who teaches AI.</a:t>
            </a:r>
          </a:p>
          <a:p>
            <a:r>
              <a:rPr lang="en-US" dirty="0"/>
              <a:t>∃x Teacher(x) ∧ Teaches(x, AI)</a:t>
            </a:r>
          </a:p>
          <a:p>
            <a:endParaRPr lang="en-US" dirty="0"/>
          </a:p>
          <a:p>
            <a:r>
              <a:rPr lang="en-US" dirty="0"/>
              <a:t>All students who study AI are intelligent.</a:t>
            </a:r>
          </a:p>
          <a:p>
            <a:r>
              <a:rPr lang="nl-NL" dirty="0"/>
              <a:t>∀x (Student(x) ∧ Studies(x, AI)) → Intelligent(x)</a:t>
            </a:r>
          </a:p>
          <a:p>
            <a:endParaRPr lang="en-US" dirty="0"/>
          </a:p>
          <a:p>
            <a:r>
              <a:rPr lang="en-US" dirty="0"/>
              <a:t>Every teacher teaches at least one subject.</a:t>
            </a:r>
          </a:p>
          <a:p>
            <a:r>
              <a:rPr lang="en-US" dirty="0"/>
              <a:t>∀x Teacher(x) → ∃y Teaches(x, y)</a:t>
            </a:r>
          </a:p>
          <a:p>
            <a:endParaRPr lang="en-US" dirty="0"/>
          </a:p>
          <a:p>
            <a:r>
              <a:rPr lang="en-US" dirty="0"/>
              <a:t>No student is lazy.</a:t>
            </a:r>
          </a:p>
          <a:p>
            <a:r>
              <a:rPr lang="nl-NL" dirty="0"/>
              <a:t>∀x Student(x) → ¬Lazy(x)</a:t>
            </a:r>
          </a:p>
          <a:p>
            <a:endParaRPr lang="en-US" dirty="0"/>
          </a:p>
          <a:p>
            <a:r>
              <a:rPr lang="en-US" dirty="0"/>
              <a:t>Some doctors work in hospitals.</a:t>
            </a:r>
          </a:p>
          <a:p>
            <a:r>
              <a:rPr lang="en-US" dirty="0"/>
              <a:t>∃x Doctor(x) ∧ </a:t>
            </a:r>
            <a:r>
              <a:rPr lang="en-US" dirty="0" err="1"/>
              <a:t>WorksIn</a:t>
            </a:r>
            <a:r>
              <a:rPr lang="en-US" dirty="0"/>
              <a:t>(x, Hospital)</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DD3D89A8-76E4-44BB-A513-4A9C69A3E5A5}" type="slidenum">
              <a:rPr lang="en-US" smtClean="0"/>
              <a:t>30</a:t>
            </a:fld>
            <a:endParaRPr lang="en-US"/>
          </a:p>
        </p:txBody>
      </p:sp>
    </p:spTree>
    <p:extLst>
      <p:ext uri="{BB962C8B-B14F-4D97-AF65-F5344CB8AC3E}">
        <p14:creationId xmlns:p14="http://schemas.microsoft.com/office/powerpoint/2010/main" val="12082069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3D89A8-76E4-44BB-A513-4A9C69A3E5A5}" type="slidenum">
              <a:rPr lang="en-US" smtClean="0"/>
              <a:t>33</a:t>
            </a:fld>
            <a:endParaRPr lang="en-US"/>
          </a:p>
        </p:txBody>
      </p:sp>
    </p:spTree>
    <p:extLst>
      <p:ext uri="{BB962C8B-B14F-4D97-AF65-F5344CB8AC3E}">
        <p14:creationId xmlns:p14="http://schemas.microsoft.com/office/powerpoint/2010/main" val="17261072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Key Inference Rules in Predicate Logic</a:t>
            </a:r>
          </a:p>
          <a:p>
            <a:r>
              <a:rPr lang="en-US" sz="1200" b="1" i="0" kern="1200" dirty="0">
                <a:solidFill>
                  <a:schemeClr val="tx1"/>
                </a:solidFill>
                <a:effectLst/>
                <a:latin typeface="+mn-lt"/>
                <a:ea typeface="+mn-ea"/>
                <a:cs typeface="+mn-cs"/>
              </a:rPr>
              <a:t>Universal Specification (US)</a:t>
            </a:r>
            <a:r>
              <a:rPr lang="en-US" sz="1200" b="0" i="0" kern="1200" dirty="0">
                <a:solidFill>
                  <a:schemeClr val="tx1"/>
                </a:solidFill>
                <a:effectLst/>
                <a:latin typeface="+mn-lt"/>
                <a:ea typeface="+mn-ea"/>
                <a:cs typeface="+mn-cs"/>
              </a:rPr>
              <a:t>: From a universally quantified statement, you can conclude a specific instance.</a:t>
            </a:r>
          </a:p>
          <a:p>
            <a:r>
              <a:rPr lang="en-US" sz="1200" b="1" i="0" kern="1200" dirty="0">
                <a:solidFill>
                  <a:schemeClr val="tx1"/>
                </a:solidFill>
                <a:effectLst/>
                <a:latin typeface="+mn-lt"/>
                <a:ea typeface="+mn-ea"/>
                <a:cs typeface="+mn-cs"/>
              </a:rPr>
              <a:t>Form</a:t>
            </a:r>
            <a:r>
              <a:rPr lang="en-US" sz="1200" b="0" i="0" kern="1200" dirty="0">
                <a:solidFill>
                  <a:schemeClr val="tx1"/>
                </a:solidFill>
                <a:effectLst/>
                <a:latin typeface="+mn-lt"/>
                <a:ea typeface="+mn-ea"/>
                <a:cs typeface="+mn-cs"/>
              </a:rPr>
              <a:t>: If ∀x P(x) is true, then P(c) is true for any specific c.</a:t>
            </a:r>
          </a:p>
          <a:p>
            <a:r>
              <a:rPr lang="en-US" sz="1200" b="1" i="0" kern="1200" dirty="0">
                <a:solidFill>
                  <a:schemeClr val="tx1"/>
                </a:solidFill>
                <a:effectLst/>
                <a:latin typeface="+mn-lt"/>
                <a:ea typeface="+mn-ea"/>
                <a:cs typeface="+mn-cs"/>
              </a:rPr>
              <a:t>Example</a:t>
            </a:r>
            <a:r>
              <a:rPr lang="en-US" sz="1200" b="0" i="0" kern="1200" dirty="0">
                <a:solidFill>
                  <a:schemeClr val="tx1"/>
                </a:solidFill>
                <a:effectLst/>
                <a:latin typeface="+mn-lt"/>
                <a:ea typeface="+mn-ea"/>
                <a:cs typeface="+mn-cs"/>
              </a:rPr>
              <a:t>: If all humans are mortal (∀x (Human(x) → Mortal(x))), then Socrates is mortal (Mortal(Socrates)) if Socrates is a human.</a:t>
            </a:r>
          </a:p>
          <a:p>
            <a:r>
              <a:rPr lang="en-US" sz="1200" b="1" i="0" kern="1200" dirty="0">
                <a:solidFill>
                  <a:schemeClr val="tx1"/>
                </a:solidFill>
                <a:effectLst/>
                <a:latin typeface="+mn-lt"/>
                <a:ea typeface="+mn-ea"/>
                <a:cs typeface="+mn-cs"/>
              </a:rPr>
              <a:t>Universal Generalization (UG)</a:t>
            </a:r>
            <a:r>
              <a:rPr lang="en-US" sz="1200" b="0" i="0" kern="1200" dirty="0">
                <a:solidFill>
                  <a:schemeClr val="tx1"/>
                </a:solidFill>
                <a:effectLst/>
                <a:latin typeface="+mn-lt"/>
                <a:ea typeface="+mn-ea"/>
                <a:cs typeface="+mn-cs"/>
              </a:rPr>
              <a:t>: If a statement is true for a specific instance, it can be generalized to all instances.</a:t>
            </a:r>
          </a:p>
          <a:p>
            <a:r>
              <a:rPr lang="en-US" sz="1200" b="1" i="0" kern="1200" dirty="0">
                <a:solidFill>
                  <a:schemeClr val="tx1"/>
                </a:solidFill>
                <a:effectLst/>
                <a:latin typeface="+mn-lt"/>
                <a:ea typeface="+mn-ea"/>
                <a:cs typeface="+mn-cs"/>
              </a:rPr>
              <a:t>Form</a:t>
            </a:r>
            <a:r>
              <a:rPr lang="en-US" sz="1200" b="0" i="0" kern="1200" dirty="0">
                <a:solidFill>
                  <a:schemeClr val="tx1"/>
                </a:solidFill>
                <a:effectLst/>
                <a:latin typeface="+mn-lt"/>
                <a:ea typeface="+mn-ea"/>
                <a:cs typeface="+mn-cs"/>
              </a:rPr>
              <a:t>: If P(c) is true for an arbitrary c, then ∀x P(x) is true.</a:t>
            </a:r>
          </a:p>
          <a:p>
            <a:r>
              <a:rPr lang="en-US" sz="1200" b="1" i="0" kern="1200" dirty="0">
                <a:solidFill>
                  <a:schemeClr val="tx1"/>
                </a:solidFill>
                <a:effectLst/>
                <a:latin typeface="+mn-lt"/>
                <a:ea typeface="+mn-ea"/>
                <a:cs typeface="+mn-cs"/>
              </a:rPr>
              <a:t>Example</a:t>
            </a:r>
            <a:r>
              <a:rPr lang="en-US" sz="1200" b="0" i="0" kern="1200" dirty="0">
                <a:solidFill>
                  <a:schemeClr val="tx1"/>
                </a:solidFill>
                <a:effectLst/>
                <a:latin typeface="+mn-lt"/>
                <a:ea typeface="+mn-ea"/>
                <a:cs typeface="+mn-cs"/>
              </a:rPr>
              <a:t>: If Socrates is mortal, and he is a human, we can conclude that all humans are mortal.</a:t>
            </a:r>
          </a:p>
          <a:p>
            <a:r>
              <a:rPr lang="en-US" sz="1200" b="1" i="0" kern="1200" dirty="0">
                <a:solidFill>
                  <a:schemeClr val="tx1"/>
                </a:solidFill>
                <a:effectLst/>
                <a:latin typeface="+mn-lt"/>
                <a:ea typeface="+mn-ea"/>
                <a:cs typeface="+mn-cs"/>
              </a:rPr>
              <a:t>Existential Specification (ES)</a:t>
            </a:r>
            <a:r>
              <a:rPr lang="en-US" sz="1200" b="0" i="0" kern="1200" dirty="0">
                <a:solidFill>
                  <a:schemeClr val="tx1"/>
                </a:solidFill>
                <a:effectLst/>
                <a:latin typeface="+mn-lt"/>
                <a:ea typeface="+mn-ea"/>
                <a:cs typeface="+mn-cs"/>
              </a:rPr>
              <a:t>: From an existentially quantified statement, you can conclude a specific instance.</a:t>
            </a:r>
          </a:p>
          <a:p>
            <a:r>
              <a:rPr lang="en-US" sz="1200" b="1" i="0" kern="1200" dirty="0">
                <a:solidFill>
                  <a:schemeClr val="tx1"/>
                </a:solidFill>
                <a:effectLst/>
                <a:latin typeface="+mn-lt"/>
                <a:ea typeface="+mn-ea"/>
                <a:cs typeface="+mn-cs"/>
              </a:rPr>
              <a:t>Form</a:t>
            </a:r>
            <a:r>
              <a:rPr lang="en-US" sz="1200" b="0" i="0" kern="1200" dirty="0">
                <a:solidFill>
                  <a:schemeClr val="tx1"/>
                </a:solidFill>
                <a:effectLst/>
                <a:latin typeface="+mn-lt"/>
                <a:ea typeface="+mn-ea"/>
                <a:cs typeface="+mn-cs"/>
              </a:rPr>
              <a:t>: If ∃x P(x) is true, then P(c) is true for some specific c.</a:t>
            </a:r>
          </a:p>
          <a:p>
            <a:r>
              <a:rPr lang="en-US" sz="1200" b="1" i="0" kern="1200" dirty="0">
                <a:solidFill>
                  <a:schemeClr val="tx1"/>
                </a:solidFill>
                <a:effectLst/>
                <a:latin typeface="+mn-lt"/>
                <a:ea typeface="+mn-ea"/>
                <a:cs typeface="+mn-cs"/>
              </a:rPr>
              <a:t>Example</a:t>
            </a:r>
            <a:r>
              <a:rPr lang="en-US" sz="1200" b="0" i="0" kern="1200" dirty="0">
                <a:solidFill>
                  <a:schemeClr val="tx1"/>
                </a:solidFill>
                <a:effectLst/>
                <a:latin typeface="+mn-lt"/>
                <a:ea typeface="+mn-ea"/>
                <a:cs typeface="+mn-cs"/>
              </a:rPr>
              <a:t>: If there exists a human who is mortal (∃x (Human(x) ∧ Mortal(x))), we can name that human (e.g., Socrates) and conclude that Human(Socrates) ∧ Mortal(Socrates) is true.</a:t>
            </a:r>
          </a:p>
          <a:p>
            <a:r>
              <a:rPr lang="en-US" sz="1200" b="1" i="0" kern="1200" dirty="0">
                <a:solidFill>
                  <a:schemeClr val="tx1"/>
                </a:solidFill>
                <a:effectLst/>
                <a:latin typeface="+mn-lt"/>
                <a:ea typeface="+mn-ea"/>
                <a:cs typeface="+mn-cs"/>
              </a:rPr>
              <a:t>Existential Generalization (EG)</a:t>
            </a:r>
            <a:r>
              <a:rPr lang="en-US" sz="1200" b="0" i="0" kern="1200" dirty="0">
                <a:solidFill>
                  <a:schemeClr val="tx1"/>
                </a:solidFill>
                <a:effectLst/>
                <a:latin typeface="+mn-lt"/>
                <a:ea typeface="+mn-ea"/>
                <a:cs typeface="+mn-cs"/>
              </a:rPr>
              <a:t>: If a specific instance is true, it can be generalized to an existential statement.</a:t>
            </a:r>
          </a:p>
          <a:p>
            <a:r>
              <a:rPr lang="en-US" sz="1200" b="1" i="0" kern="1200" dirty="0">
                <a:solidFill>
                  <a:schemeClr val="tx1"/>
                </a:solidFill>
                <a:effectLst/>
                <a:latin typeface="+mn-lt"/>
                <a:ea typeface="+mn-ea"/>
                <a:cs typeface="+mn-cs"/>
              </a:rPr>
              <a:t>Form</a:t>
            </a:r>
            <a:r>
              <a:rPr lang="en-US" sz="1200" b="0" i="0" kern="1200" dirty="0">
                <a:solidFill>
                  <a:schemeClr val="tx1"/>
                </a:solidFill>
                <a:effectLst/>
                <a:latin typeface="+mn-lt"/>
                <a:ea typeface="+mn-ea"/>
                <a:cs typeface="+mn-cs"/>
              </a:rPr>
              <a:t>: If P(c) is true, then ∃y P(y) is true.</a:t>
            </a:r>
          </a:p>
          <a:p>
            <a:r>
              <a:rPr lang="en-US" sz="1200" b="1" i="0" kern="1200" dirty="0">
                <a:solidFill>
                  <a:schemeClr val="tx1"/>
                </a:solidFill>
                <a:effectLst/>
                <a:latin typeface="+mn-lt"/>
                <a:ea typeface="+mn-ea"/>
                <a:cs typeface="+mn-cs"/>
              </a:rPr>
              <a:t>Example</a:t>
            </a:r>
            <a:r>
              <a:rPr lang="en-US" sz="1200" b="0" i="0" kern="1200" dirty="0">
                <a:solidFill>
                  <a:schemeClr val="tx1"/>
                </a:solidFill>
                <a:effectLst/>
                <a:latin typeface="+mn-lt"/>
                <a:ea typeface="+mn-ea"/>
                <a:cs typeface="+mn-cs"/>
              </a:rPr>
              <a:t>: If Socrates is mortal (Mortal(Socrates)), we can conclude that there exists a mortal (∃x Mortal(x))</a:t>
            </a:r>
          </a:p>
          <a:p>
            <a:endParaRPr lang="en-US" dirty="0"/>
          </a:p>
        </p:txBody>
      </p:sp>
      <p:sp>
        <p:nvSpPr>
          <p:cNvPr id="4" name="Slide Number Placeholder 3"/>
          <p:cNvSpPr>
            <a:spLocks noGrp="1"/>
          </p:cNvSpPr>
          <p:nvPr>
            <p:ph type="sldNum" sz="quarter" idx="5"/>
          </p:nvPr>
        </p:nvSpPr>
        <p:spPr/>
        <p:txBody>
          <a:bodyPr/>
          <a:lstStyle/>
          <a:p>
            <a:fld id="{DD3D89A8-76E4-44BB-A513-4A9C69A3E5A5}" type="slidenum">
              <a:rPr lang="en-US" smtClean="0"/>
              <a:t>34</a:t>
            </a:fld>
            <a:endParaRPr lang="en-US"/>
          </a:p>
        </p:txBody>
      </p:sp>
    </p:spTree>
    <p:extLst>
      <p:ext uri="{BB962C8B-B14F-4D97-AF65-F5344CB8AC3E}">
        <p14:creationId xmlns:p14="http://schemas.microsoft.com/office/powerpoint/2010/main" val="5768464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Epistemic Uncertainty</a:t>
            </a:r>
          </a:p>
          <a:p>
            <a:pPr>
              <a:buFont typeface="Arial" panose="020B0604020202020204" pitchFamily="34" charset="0"/>
              <a:buChar char="•"/>
            </a:pPr>
            <a:r>
              <a:rPr lang="en-US" b="1" dirty="0"/>
              <a:t>Example</a:t>
            </a:r>
            <a:r>
              <a:rPr lang="en-US" dirty="0"/>
              <a:t>: You’re deciding whether to carry an umbrella. You’ve seen clouds but aren’t sure if it will rain.</a:t>
            </a:r>
          </a:p>
          <a:p>
            <a:pPr>
              <a:buFont typeface="Arial" panose="020B0604020202020204" pitchFamily="34" charset="0"/>
              <a:buChar char="•"/>
            </a:pPr>
            <a:r>
              <a:rPr lang="en-US" b="1" dirty="0"/>
              <a:t>Probabilistic Reasoning</a:t>
            </a:r>
            <a:r>
              <a:rPr lang="en-US" dirty="0"/>
              <a:t>: Based on historical data, you assign a </a:t>
            </a:r>
            <a:r>
              <a:rPr lang="en-US" b="1" dirty="0"/>
              <a:t>60% probability</a:t>
            </a:r>
            <a:r>
              <a:rPr lang="en-US" dirty="0"/>
              <a:t> that it will rain. As you check a weather app, which shows radar data, you update this probability to </a:t>
            </a:r>
            <a:r>
              <a:rPr lang="en-US" b="1" dirty="0"/>
              <a:t>80%</a:t>
            </a:r>
            <a:r>
              <a:rPr lang="en-US" dirty="0"/>
              <a:t>.</a:t>
            </a:r>
          </a:p>
          <a:p>
            <a:r>
              <a:rPr lang="en-US" b="1" dirty="0"/>
              <a:t>2. Aleatory Uncertainty</a:t>
            </a:r>
          </a:p>
          <a:p>
            <a:pPr>
              <a:buFont typeface="Arial" panose="020B0604020202020204" pitchFamily="34" charset="0"/>
              <a:buChar char="•"/>
            </a:pPr>
            <a:r>
              <a:rPr lang="en-US" b="1" dirty="0"/>
              <a:t>Example</a:t>
            </a:r>
            <a:r>
              <a:rPr lang="en-US" dirty="0"/>
              <a:t>: You roll a six-sided dice. You don’t know what number will show up because of inherent randomness.</a:t>
            </a:r>
          </a:p>
          <a:p>
            <a:pPr>
              <a:buFont typeface="Arial" panose="020B0604020202020204" pitchFamily="34" charset="0"/>
              <a:buChar char="•"/>
            </a:pPr>
            <a:r>
              <a:rPr lang="en-US" b="1" dirty="0"/>
              <a:t>Probabilistic Reasoning</a:t>
            </a:r>
            <a:r>
              <a:rPr lang="en-US" dirty="0"/>
              <a:t>: You model the dice roll with equal probabilities for each outcome:</a:t>
            </a:r>
          </a:p>
          <a:p>
            <a:pPr marL="742950" lvl="1" indent="-285750">
              <a:buFont typeface="Arial" panose="020B0604020202020204" pitchFamily="34" charset="0"/>
              <a:buChar char="•"/>
            </a:pPr>
            <a:r>
              <a:rPr lang="en-US" dirty="0"/>
              <a:t>P(1) = 1/6, P(2) = 1/6, ..., P(6) = 1/6.</a:t>
            </a:r>
          </a:p>
          <a:p>
            <a:r>
              <a:rPr lang="en-US" b="1" dirty="0"/>
              <a:t>3. Model Uncertainty</a:t>
            </a:r>
          </a:p>
          <a:p>
            <a:pPr>
              <a:buFont typeface="Arial" panose="020B0604020202020204" pitchFamily="34" charset="0"/>
              <a:buChar char="•"/>
            </a:pPr>
            <a:r>
              <a:rPr lang="en-US" b="1" dirty="0"/>
              <a:t>Example</a:t>
            </a:r>
            <a:r>
              <a:rPr lang="en-US" dirty="0"/>
              <a:t>: You’re predicting tomorrow’s temperature using two weather models. One predicts 20°C, the other predicts 25°C.</a:t>
            </a:r>
          </a:p>
          <a:p>
            <a:pPr>
              <a:buFont typeface="Arial" panose="020B0604020202020204" pitchFamily="34" charset="0"/>
              <a:buChar char="•"/>
            </a:pPr>
            <a:r>
              <a:rPr lang="en-US" b="1" dirty="0"/>
              <a:t>Probabilistic Reasoning</a:t>
            </a:r>
            <a:r>
              <a:rPr lang="en-US" dirty="0"/>
              <a:t>: You assign probabilities to each model’s reliability:</a:t>
            </a:r>
          </a:p>
          <a:p>
            <a:pPr marL="742950" lvl="1" indent="-285750">
              <a:buFont typeface="Arial" panose="020B0604020202020204" pitchFamily="34" charset="0"/>
              <a:buChar char="•"/>
            </a:pPr>
            <a:r>
              <a:rPr lang="en-US" dirty="0"/>
              <a:t>Model A is 70% reliable → Expected temperature = 0.7 × 20°C + 0.3 × 25°C = 21.5°C.</a:t>
            </a:r>
          </a:p>
          <a:p>
            <a:r>
              <a:rPr lang="en-US" b="1" dirty="0"/>
              <a:t>4. Ambiguity</a:t>
            </a:r>
          </a:p>
          <a:p>
            <a:pPr>
              <a:buFont typeface="Arial" panose="020B0604020202020204" pitchFamily="34" charset="0"/>
              <a:buChar char="•"/>
            </a:pPr>
            <a:r>
              <a:rPr lang="en-US" b="1" dirty="0"/>
              <a:t>Example</a:t>
            </a:r>
            <a:r>
              <a:rPr lang="en-US" dirty="0"/>
              <a:t>: You’re asked, “Do you like spicy food?” but the term "spicy" could mean mild or very hot depending on context.</a:t>
            </a:r>
          </a:p>
          <a:p>
            <a:pPr>
              <a:buFont typeface="Arial" panose="020B0604020202020204" pitchFamily="34" charset="0"/>
              <a:buChar char="•"/>
            </a:pPr>
            <a:r>
              <a:rPr lang="en-US" b="1" dirty="0"/>
              <a:t>Probabilistic Reasoning</a:t>
            </a:r>
            <a:r>
              <a:rPr lang="en-US" dirty="0"/>
              <a:t>: Instead of a single probability, you give a range:</a:t>
            </a:r>
          </a:p>
          <a:p>
            <a:pPr marL="742950" lvl="1" indent="-285750">
              <a:buFont typeface="Arial" panose="020B0604020202020204" pitchFamily="34" charset="0"/>
              <a:buChar char="•"/>
            </a:pPr>
            <a:r>
              <a:rPr lang="en-US" dirty="0"/>
              <a:t>P(“Yes, I like spicy food”) = 40%-70%, reflecting your uncertainty about the interpretation of "spicy."</a:t>
            </a:r>
          </a:p>
          <a:p>
            <a:r>
              <a:rPr lang="en-US" b="1" dirty="0"/>
              <a:t>5. Partial Observability</a:t>
            </a:r>
          </a:p>
          <a:p>
            <a:pPr>
              <a:buFont typeface="Arial" panose="020B0604020202020204" pitchFamily="34" charset="0"/>
              <a:buChar char="•"/>
            </a:pPr>
            <a:r>
              <a:rPr lang="en-US" b="1" dirty="0"/>
              <a:t>Example</a:t>
            </a:r>
            <a:r>
              <a:rPr lang="en-US" dirty="0"/>
              <a:t>: You’re trying to locate your dog in the house. You can’t see the dog, but you hear faint barking.</a:t>
            </a:r>
          </a:p>
          <a:p>
            <a:pPr>
              <a:buFont typeface="Arial" panose="020B0604020202020204" pitchFamily="34" charset="0"/>
              <a:buChar char="•"/>
            </a:pPr>
            <a:r>
              <a:rPr lang="en-US" b="1" dirty="0"/>
              <a:t>Probabilistic Reasoning</a:t>
            </a:r>
            <a:r>
              <a:rPr lang="en-US" dirty="0"/>
              <a:t>: Using Bayesian inference, you update your belief about where the dog might be:</a:t>
            </a:r>
          </a:p>
          <a:p>
            <a:pPr marL="742950" lvl="1" indent="-285750">
              <a:buFont typeface="Arial" panose="020B0604020202020204" pitchFamily="34" charset="0"/>
              <a:buChar char="•"/>
            </a:pPr>
            <a:r>
              <a:rPr lang="en-US" dirty="0"/>
              <a:t>Before hearing barking: Equal chance of being in the living room, kitchen, or bedroom.</a:t>
            </a:r>
          </a:p>
          <a:p>
            <a:pPr marL="742950" lvl="1" indent="-285750">
              <a:buFont typeface="Arial" panose="020B0604020202020204" pitchFamily="34" charset="0"/>
              <a:buChar char="•"/>
            </a:pPr>
            <a:r>
              <a:rPr lang="en-US" dirty="0"/>
              <a:t>After hearing barking near the kitchen: P(kitchen) = 80%, P(living room) = 10%, P(bedroom) = 10%.</a:t>
            </a:r>
          </a:p>
          <a:p>
            <a:r>
              <a:rPr lang="en-US" b="1" dirty="0"/>
              <a:t>6. Dynamic Uncertainty</a:t>
            </a:r>
          </a:p>
          <a:p>
            <a:pPr>
              <a:buFont typeface="Arial" panose="020B0604020202020204" pitchFamily="34" charset="0"/>
              <a:buChar char="•"/>
            </a:pPr>
            <a:r>
              <a:rPr lang="en-US" b="1" dirty="0"/>
              <a:t>Example</a:t>
            </a:r>
            <a:r>
              <a:rPr lang="en-US" dirty="0"/>
              <a:t>: You’re following traffic updates to decide your driving route. Traffic conditions change unpredictably over time.</a:t>
            </a:r>
          </a:p>
          <a:p>
            <a:pPr>
              <a:buFont typeface="Arial" panose="020B0604020202020204" pitchFamily="34" charset="0"/>
              <a:buChar char="•"/>
            </a:pPr>
            <a:r>
              <a:rPr lang="en-US" b="1" dirty="0"/>
              <a:t>Probabilistic Reasoning</a:t>
            </a:r>
            <a:r>
              <a:rPr lang="en-US" dirty="0"/>
              <a:t>: A navigation app uses a dynamic model to assign probabilities to routes being faster:</a:t>
            </a:r>
          </a:p>
          <a:p>
            <a:pPr marL="742950" lvl="1" indent="-285750">
              <a:buFont typeface="Arial" panose="020B0604020202020204" pitchFamily="34" charset="0"/>
              <a:buChar char="•"/>
            </a:pPr>
            <a:r>
              <a:rPr lang="en-US" dirty="0"/>
              <a:t>Route A: 50%, Route B: 30%, Route C: 20%.</a:t>
            </a:r>
          </a:p>
          <a:p>
            <a:pPr marL="742950" lvl="1" indent="-285750">
              <a:buFont typeface="Arial" panose="020B0604020202020204" pitchFamily="34" charset="0"/>
              <a:buChar char="•"/>
            </a:pPr>
            <a:r>
              <a:rPr lang="en-US" dirty="0"/>
              <a:t>As new updates come in, the app updates these probabilities dynamically.</a:t>
            </a:r>
          </a:p>
          <a:p>
            <a:r>
              <a:rPr lang="en-US" b="1" dirty="0"/>
              <a:t>7. Uncertainty due to Prior Knowledge</a:t>
            </a:r>
          </a:p>
          <a:p>
            <a:pPr>
              <a:buFont typeface="Arial" panose="020B0604020202020204" pitchFamily="34" charset="0"/>
              <a:buChar char="•"/>
            </a:pPr>
            <a:r>
              <a:rPr lang="en-US" b="1" dirty="0"/>
              <a:t>Example</a:t>
            </a:r>
            <a:r>
              <a:rPr lang="en-US" dirty="0"/>
              <a:t>: You’ve heard that a restaurant is good but haven’t been there yourself. Based on reviews, you estimate an </a:t>
            </a:r>
            <a:r>
              <a:rPr lang="en-US" b="1" dirty="0"/>
              <a:t>80% chance</a:t>
            </a:r>
            <a:r>
              <a:rPr lang="en-US" dirty="0"/>
              <a:t> you’ll like it.</a:t>
            </a:r>
          </a:p>
          <a:p>
            <a:pPr>
              <a:buFont typeface="Arial" panose="020B0604020202020204" pitchFamily="34" charset="0"/>
              <a:buChar char="•"/>
            </a:pPr>
            <a:r>
              <a:rPr lang="en-US" b="1" dirty="0"/>
              <a:t>Probabilistic Reasoning</a:t>
            </a:r>
            <a:r>
              <a:rPr lang="en-US" dirty="0"/>
              <a:t>: After trying the food, you revise your belief:</a:t>
            </a:r>
          </a:p>
          <a:p>
            <a:pPr marL="742950" lvl="1" indent="-285750">
              <a:buFont typeface="Arial" panose="020B0604020202020204" pitchFamily="34" charset="0"/>
              <a:buChar char="•"/>
            </a:pPr>
            <a:r>
              <a:rPr lang="en-US" dirty="0"/>
              <a:t>If you enjoyed it, P(“I’ll like this restaurant”) = 90%.</a:t>
            </a:r>
          </a:p>
          <a:p>
            <a:pPr marL="742950" lvl="1" indent="-285750">
              <a:buFont typeface="Arial" panose="020B0604020202020204" pitchFamily="34" charset="0"/>
              <a:buChar char="•"/>
            </a:pPr>
            <a:r>
              <a:rPr lang="en-US" dirty="0"/>
              <a:t>If you didn’t enjoy it, P(“I’ll like this restaurant”) = 40%.</a:t>
            </a:r>
          </a:p>
          <a:p>
            <a:r>
              <a:rPr lang="en-US" b="1" dirty="0"/>
              <a:t>8. Computational Uncertainty</a:t>
            </a:r>
          </a:p>
          <a:p>
            <a:pPr>
              <a:buFont typeface="Arial" panose="020B0604020202020204" pitchFamily="34" charset="0"/>
              <a:buChar char="•"/>
            </a:pPr>
            <a:r>
              <a:rPr lang="en-US" b="1" dirty="0"/>
              <a:t>Example</a:t>
            </a:r>
            <a:r>
              <a:rPr lang="en-US" dirty="0"/>
              <a:t>: You’re estimating the chances of winning a card game but can’t calculate all possibilities because there are too many combinations.</a:t>
            </a:r>
          </a:p>
          <a:p>
            <a:pPr>
              <a:buFont typeface="Arial" panose="020B0604020202020204" pitchFamily="34" charset="0"/>
              <a:buChar char="•"/>
            </a:pPr>
            <a:r>
              <a:rPr lang="en-US" b="1" dirty="0"/>
              <a:t>Probabilistic Reasoning</a:t>
            </a:r>
            <a:r>
              <a:rPr lang="en-US" dirty="0"/>
              <a:t>: You use </a:t>
            </a:r>
            <a:r>
              <a:rPr lang="en-US" b="1" dirty="0"/>
              <a:t>Monte Carlo simulations</a:t>
            </a:r>
            <a:r>
              <a:rPr lang="en-US" dirty="0"/>
              <a:t>, running random trials to approximate a 45% chance of winning.</a:t>
            </a:r>
          </a:p>
          <a:p>
            <a:endParaRPr lang="en-US" dirty="0"/>
          </a:p>
        </p:txBody>
      </p:sp>
      <p:sp>
        <p:nvSpPr>
          <p:cNvPr id="4" name="Slide Number Placeholder 3"/>
          <p:cNvSpPr>
            <a:spLocks noGrp="1"/>
          </p:cNvSpPr>
          <p:nvPr>
            <p:ph type="sldNum" sz="quarter" idx="5"/>
          </p:nvPr>
        </p:nvSpPr>
        <p:spPr/>
        <p:txBody>
          <a:bodyPr/>
          <a:lstStyle/>
          <a:p>
            <a:fld id="{DD3D89A8-76E4-44BB-A513-4A9C69A3E5A5}" type="slidenum">
              <a:rPr lang="en-US" smtClean="0"/>
              <a:t>40</a:t>
            </a:fld>
            <a:endParaRPr lang="en-US"/>
          </a:p>
        </p:txBody>
      </p:sp>
    </p:spTree>
    <p:extLst>
      <p:ext uri="{BB962C8B-B14F-4D97-AF65-F5344CB8AC3E}">
        <p14:creationId xmlns:p14="http://schemas.microsoft.com/office/powerpoint/2010/main" val="6214813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Concepts in Probabilistic Reasoning</a:t>
            </a:r>
          </a:p>
          <a:p>
            <a:pPr>
              <a:buFont typeface="+mj-lt"/>
              <a:buAutoNum type="arabicPeriod"/>
            </a:pPr>
            <a:r>
              <a:rPr lang="en-US" b="1" dirty="0"/>
              <a:t>Uncertainty</a:t>
            </a:r>
            <a:r>
              <a:rPr lang="en-US" dirty="0"/>
              <a:t>:</a:t>
            </a:r>
            <a:br>
              <a:rPr lang="en-US" dirty="0"/>
            </a:br>
            <a:r>
              <a:rPr lang="en-US" dirty="0"/>
              <a:t>Probabilistic reasoning acknowledges that in many real-world scenarios, complete knowledge about a situation is unavailable, and outcomes are uncertain. It provides a way to handle this uncertainty systematically.</a:t>
            </a:r>
          </a:p>
          <a:p>
            <a:pPr>
              <a:buFont typeface="+mj-lt"/>
              <a:buAutoNum type="arabicPeriod"/>
            </a:pPr>
            <a:r>
              <a:rPr lang="en-US" b="1" dirty="0"/>
              <a:t>Probability</a:t>
            </a:r>
            <a:r>
              <a:rPr lang="en-US" dirty="0"/>
              <a:t>:</a:t>
            </a:r>
            <a:br>
              <a:rPr lang="en-US" dirty="0"/>
            </a:br>
            <a:r>
              <a:rPr lang="en-US" dirty="0"/>
              <a:t>Probabilities represent the degree of belief or likelihood of an event occurring. They are expressed as numbers between 0 (impossible) and 1 (certain).</a:t>
            </a:r>
          </a:p>
          <a:p>
            <a:pPr>
              <a:buFont typeface="+mj-lt"/>
              <a:buAutoNum type="arabicPeriod"/>
            </a:pPr>
            <a:r>
              <a:rPr lang="en-US" b="1" dirty="0"/>
              <a:t>Bayesian Inference</a:t>
            </a:r>
            <a:r>
              <a:rPr lang="en-US" dirty="0"/>
              <a:t>:</a:t>
            </a:r>
            <a:br>
              <a:rPr lang="en-US" dirty="0"/>
            </a:br>
            <a:r>
              <a:rPr lang="en-US" dirty="0"/>
              <a:t>A key approach in probabilistic reasoning is updating probabilities as new evidence becomes available, often using </a:t>
            </a:r>
            <a:r>
              <a:rPr lang="en-US" b="1" dirty="0"/>
              <a:t>Bayes' Theorem</a:t>
            </a:r>
            <a:r>
              <a:rPr lang="en-US" dirty="0"/>
              <a:t>.</a:t>
            </a:r>
          </a:p>
          <a:p>
            <a:pPr>
              <a:buFont typeface="+mj-lt"/>
              <a:buAutoNum type="arabicPeriod"/>
            </a:pPr>
            <a:r>
              <a:rPr lang="en-US" b="1" dirty="0"/>
              <a:t>Random Variables</a:t>
            </a:r>
            <a:r>
              <a:rPr lang="en-US" dirty="0"/>
              <a:t>:</a:t>
            </a:r>
            <a:br>
              <a:rPr lang="en-US" dirty="0"/>
            </a:br>
            <a:r>
              <a:rPr lang="en-US" dirty="0"/>
              <a:t>Variables whose values are determined by chance. Probabilistic reasoning often models the relationships between these variables.</a:t>
            </a:r>
          </a:p>
          <a:p>
            <a:pPr>
              <a:buFont typeface="+mj-lt"/>
              <a:buAutoNum type="arabicPeriod"/>
            </a:pPr>
            <a:r>
              <a:rPr lang="en-US" b="1" dirty="0"/>
              <a:t>Joint and Conditional Probabilities</a:t>
            </a:r>
            <a:r>
              <a:rPr lang="en-US" dirty="0"/>
              <a:t>:</a:t>
            </a:r>
          </a:p>
          <a:p>
            <a:pPr marL="742950" lvl="1" indent="-285750">
              <a:buFont typeface="+mj-lt"/>
              <a:buAutoNum type="arabicPeriod"/>
            </a:pPr>
            <a:r>
              <a:rPr lang="en-US" b="1" dirty="0"/>
              <a:t>Joint Probability</a:t>
            </a:r>
            <a:r>
              <a:rPr lang="en-US" dirty="0"/>
              <a:t>: Probability of multiple events occurring together.</a:t>
            </a:r>
            <a:br>
              <a:rPr lang="en-US" dirty="0"/>
            </a:br>
            <a:r>
              <a:rPr lang="en-US" dirty="0"/>
              <a:t>Example: P(A ∩ B) is the probability of both A and B happening.</a:t>
            </a:r>
          </a:p>
          <a:p>
            <a:pPr marL="742950" lvl="1" indent="-285750">
              <a:buFont typeface="+mj-lt"/>
              <a:buAutoNum type="arabicPeriod"/>
            </a:pPr>
            <a:r>
              <a:rPr lang="en-US" b="1" dirty="0"/>
              <a:t>Conditional Probability</a:t>
            </a:r>
            <a:r>
              <a:rPr lang="en-US" dirty="0"/>
              <a:t>: Probability of an event occurring given that another event has occurred.</a:t>
            </a:r>
            <a:br>
              <a:rPr lang="en-US" dirty="0"/>
            </a:br>
            <a:r>
              <a:rPr lang="en-US" dirty="0"/>
              <a:t>Example: P(A | B) is the probability of A given B.</a:t>
            </a:r>
          </a:p>
          <a:p>
            <a:endParaRPr lang="en-US" dirty="0"/>
          </a:p>
          <a:p>
            <a:pPr algn="l" fontAlgn="auto"/>
            <a:r>
              <a:rPr lang="en-US" b="0" i="0" dirty="0">
                <a:solidFill>
                  <a:srgbClr val="000000"/>
                </a:solidFill>
                <a:effectLst/>
                <a:latin typeface="ff3"/>
              </a:rPr>
              <a:t>P(¬A) = probability of a not happening event. </a:t>
            </a:r>
            <a:endParaRPr lang="en-US" b="0" i="0" dirty="0">
              <a:solidFill>
                <a:srgbClr val="000000"/>
              </a:solidFill>
              <a:effectLst/>
              <a:latin typeface="ff5"/>
            </a:endParaRPr>
          </a:p>
          <a:p>
            <a:pPr algn="l" fontAlgn="auto"/>
            <a:r>
              <a:rPr lang="en-US" b="0" i="0" dirty="0">
                <a:solidFill>
                  <a:srgbClr val="000000"/>
                </a:solidFill>
                <a:effectLst/>
                <a:latin typeface="ff3"/>
              </a:rPr>
              <a:t>P(¬A) + P(A) = 1</a:t>
            </a:r>
            <a:endParaRPr lang="en-US" b="0" i="0" dirty="0">
              <a:solidFill>
                <a:srgbClr val="000000"/>
              </a:solidFill>
              <a:effectLst/>
              <a:latin typeface="ff5"/>
            </a:endParaRPr>
          </a:p>
          <a:p>
            <a:endParaRPr lang="en-US" dirty="0"/>
          </a:p>
        </p:txBody>
      </p:sp>
      <p:sp>
        <p:nvSpPr>
          <p:cNvPr id="4" name="Slide Number Placeholder 3"/>
          <p:cNvSpPr>
            <a:spLocks noGrp="1"/>
          </p:cNvSpPr>
          <p:nvPr>
            <p:ph type="sldNum" sz="quarter" idx="5"/>
          </p:nvPr>
        </p:nvSpPr>
        <p:spPr/>
        <p:txBody>
          <a:bodyPr/>
          <a:lstStyle/>
          <a:p>
            <a:fld id="{DD3D89A8-76E4-44BB-A513-4A9C69A3E5A5}" type="slidenum">
              <a:rPr lang="en-US" smtClean="0"/>
              <a:t>41</a:t>
            </a:fld>
            <a:endParaRPr lang="en-US"/>
          </a:p>
        </p:txBody>
      </p:sp>
    </p:spTree>
    <p:extLst>
      <p:ext uri="{BB962C8B-B14F-4D97-AF65-F5344CB8AC3E}">
        <p14:creationId xmlns:p14="http://schemas.microsoft.com/office/powerpoint/2010/main" val="38942188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probabilistic graphical model that represents a set of variables and their conditional dependencies using Directed Acyclic Graphs (DAG).</a:t>
            </a:r>
          </a:p>
          <a:p>
            <a:endParaRPr lang="en-US" dirty="0"/>
          </a:p>
          <a:p>
            <a:r>
              <a:rPr lang="en-US" dirty="0"/>
              <a:t>Nodes: Represent variables.</a:t>
            </a:r>
          </a:p>
          <a:p>
            <a:r>
              <a:rPr lang="en-US" dirty="0"/>
              <a:t>Edges: Represent dependencies.</a:t>
            </a:r>
          </a:p>
          <a:p>
            <a:endParaRPr lang="en-US" dirty="0"/>
          </a:p>
        </p:txBody>
      </p:sp>
      <p:sp>
        <p:nvSpPr>
          <p:cNvPr id="4" name="Slide Number Placeholder 3"/>
          <p:cNvSpPr>
            <a:spLocks noGrp="1"/>
          </p:cNvSpPr>
          <p:nvPr>
            <p:ph type="sldNum" sz="quarter" idx="5"/>
          </p:nvPr>
        </p:nvSpPr>
        <p:spPr/>
        <p:txBody>
          <a:bodyPr/>
          <a:lstStyle/>
          <a:p>
            <a:fld id="{DD3D89A8-76E4-44BB-A513-4A9C69A3E5A5}" type="slidenum">
              <a:rPr lang="en-US" smtClean="0"/>
              <a:t>45</a:t>
            </a:fld>
            <a:endParaRPr lang="en-US"/>
          </a:p>
        </p:txBody>
      </p:sp>
    </p:spTree>
    <p:extLst>
      <p:ext uri="{BB962C8B-B14F-4D97-AF65-F5344CB8AC3E}">
        <p14:creationId xmlns:p14="http://schemas.microsoft.com/office/powerpoint/2010/main" val="19757704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Definition:</a:t>
            </a:r>
            <a:br>
              <a:rPr lang="en-US" dirty="0"/>
            </a:br>
            <a:r>
              <a:rPr lang="en-US" dirty="0"/>
              <a:t>Probabilistic reasoning over time refers to the process of using probability to model, predict, and infer the behavior of dynamic systems where the state evolves over time and uncertainty exists.</a:t>
            </a:r>
          </a:p>
          <a:p>
            <a:r>
              <a:rPr lang="en-US" dirty="0"/>
              <a:t>It is widely used in systems where the current state depends on past states, and uncertainty arises due to incomplete information, noise, or inherent randomness.</a:t>
            </a:r>
          </a:p>
          <a:p>
            <a:r>
              <a:rPr lang="en-US" b="1" dirty="0"/>
              <a:t>Key Concepts in Probabilistic Reasoning Over Time</a:t>
            </a:r>
          </a:p>
          <a:p>
            <a:r>
              <a:rPr lang="en-US" b="1" dirty="0"/>
              <a:t>1. State and Transition</a:t>
            </a:r>
          </a:p>
          <a:p>
            <a:pPr>
              <a:buFont typeface="Arial" panose="020B0604020202020204" pitchFamily="34" charset="0"/>
              <a:buChar char="•"/>
            </a:pPr>
            <a:r>
              <a:rPr lang="en-US" b="1" dirty="0"/>
              <a:t>State:</a:t>
            </a:r>
            <a:r>
              <a:rPr lang="en-US" dirty="0"/>
              <a:t> Represents the condition or configuration of the system at a specific time.</a:t>
            </a:r>
          </a:p>
          <a:p>
            <a:pPr>
              <a:buFont typeface="Arial" panose="020B0604020202020204" pitchFamily="34" charset="0"/>
              <a:buChar char="•"/>
            </a:pPr>
            <a:r>
              <a:rPr lang="en-US" b="1" dirty="0"/>
              <a:t>Transition:</a:t>
            </a:r>
            <a:r>
              <a:rPr lang="en-US" dirty="0"/>
              <a:t> Describes how the system moves from one state to another over time.</a:t>
            </a:r>
          </a:p>
          <a:p>
            <a:r>
              <a:rPr lang="en-US" b="1" dirty="0"/>
              <a:t>2. Temporal Dependencies</a:t>
            </a:r>
          </a:p>
          <a:p>
            <a:pPr>
              <a:buFont typeface="Arial" panose="020B0604020202020204" pitchFamily="34" charset="0"/>
              <a:buChar char="•"/>
            </a:pPr>
            <a:r>
              <a:rPr lang="en-US" dirty="0"/>
              <a:t>The current state depends probabilistically on the previous state(s).</a:t>
            </a:r>
          </a:p>
          <a:p>
            <a:pPr>
              <a:buFont typeface="Arial" panose="020B0604020202020204" pitchFamily="34" charset="0"/>
              <a:buChar char="•"/>
            </a:pPr>
            <a:r>
              <a:rPr lang="en-US" dirty="0"/>
              <a:t>Example:</a:t>
            </a:r>
          </a:p>
          <a:p>
            <a:pPr marL="742950" lvl="1" indent="-285750">
              <a:buFont typeface="Arial" panose="020B0604020202020204" pitchFamily="34" charset="0"/>
              <a:buChar char="•"/>
            </a:pPr>
            <a:r>
              <a:rPr lang="en-US" dirty="0"/>
              <a:t>Weather today depends on yesterday’s weather (e.g., if it rained yesterday, there’s a higher chance of rain today).</a:t>
            </a:r>
          </a:p>
          <a:p>
            <a:r>
              <a:rPr lang="en-US" b="1" dirty="0"/>
              <a:t>3. Markov Assumption</a:t>
            </a:r>
          </a:p>
          <a:p>
            <a:pPr>
              <a:buFont typeface="Arial" panose="020B0604020202020204" pitchFamily="34" charset="0"/>
              <a:buChar char="•"/>
            </a:pPr>
            <a:r>
              <a:rPr lang="en-US" dirty="0"/>
              <a:t>In many models, the </a:t>
            </a:r>
            <a:r>
              <a:rPr lang="en-US" b="1" dirty="0"/>
              <a:t>Markov property</a:t>
            </a:r>
            <a:r>
              <a:rPr lang="en-US" dirty="0"/>
              <a:t> is assumed:</a:t>
            </a:r>
          </a:p>
          <a:p>
            <a:pPr marL="742950" lvl="1" indent="-285750">
              <a:buFont typeface="Arial" panose="020B0604020202020204" pitchFamily="34" charset="0"/>
              <a:buChar char="•"/>
            </a:pPr>
            <a:r>
              <a:rPr lang="en-US" dirty="0"/>
              <a:t>The future state depends only on the current state and not on the full history of past states.</a:t>
            </a:r>
          </a:p>
          <a:p>
            <a:pPr marL="742950" lvl="1" indent="-285750">
              <a:buFont typeface="Arial" panose="020B0604020202020204" pitchFamily="34" charset="0"/>
              <a:buChar char="•"/>
            </a:pPr>
            <a:r>
              <a:rPr lang="en-US" dirty="0"/>
              <a:t>Simplifies calculations and model design.</a:t>
            </a:r>
          </a:p>
          <a:p>
            <a:r>
              <a:rPr lang="en-US" b="1" dirty="0"/>
              <a:t>Common Models for Probabilistic Reasoning Over Time</a:t>
            </a:r>
          </a:p>
          <a:p>
            <a:r>
              <a:rPr lang="en-US" b="1" dirty="0"/>
              <a:t>a. Hidden Markov Models (HMMs)</a:t>
            </a:r>
          </a:p>
          <a:p>
            <a:pPr>
              <a:buFont typeface="Arial" panose="020B0604020202020204" pitchFamily="34" charset="0"/>
              <a:buChar char="•"/>
            </a:pPr>
            <a:r>
              <a:rPr lang="en-US" b="1" dirty="0"/>
              <a:t>Components:</a:t>
            </a:r>
            <a:endParaRPr lang="en-US" dirty="0"/>
          </a:p>
          <a:p>
            <a:pPr marL="742950" lvl="1" indent="-285750">
              <a:buFont typeface="Arial" panose="020B0604020202020204" pitchFamily="34" charset="0"/>
              <a:buChar char="•"/>
            </a:pPr>
            <a:r>
              <a:rPr lang="en-US" b="1" dirty="0"/>
              <a:t>States:</a:t>
            </a:r>
            <a:r>
              <a:rPr lang="en-US" dirty="0"/>
              <a:t> Hidden or latent variables representing the system’s true condition.</a:t>
            </a:r>
          </a:p>
          <a:p>
            <a:pPr marL="742950" lvl="1" indent="-285750">
              <a:buFont typeface="Arial" panose="020B0604020202020204" pitchFamily="34" charset="0"/>
              <a:buChar char="•"/>
            </a:pPr>
            <a:r>
              <a:rPr lang="en-US" b="1" dirty="0"/>
              <a:t>Observations:</a:t>
            </a:r>
            <a:r>
              <a:rPr lang="en-US" dirty="0"/>
              <a:t> What we can measure or observe, which are probabilistically related to the hidden states.</a:t>
            </a:r>
          </a:p>
          <a:p>
            <a:pPr marL="742950" lvl="1" indent="-285750">
              <a:buFont typeface="Arial" panose="020B0604020202020204" pitchFamily="34" charset="0"/>
              <a:buChar char="•"/>
            </a:pPr>
            <a:r>
              <a:rPr lang="en-US" b="1" dirty="0"/>
              <a:t>Transition Probabilities:</a:t>
            </a:r>
            <a:r>
              <a:rPr lang="en-US" dirty="0"/>
              <a:t> Likelihood of moving from one state to another.</a:t>
            </a:r>
          </a:p>
          <a:p>
            <a:pPr marL="742950" lvl="1" indent="-285750">
              <a:buFont typeface="Arial" panose="020B0604020202020204" pitchFamily="34" charset="0"/>
              <a:buChar char="•"/>
            </a:pPr>
            <a:r>
              <a:rPr lang="en-US" b="1" dirty="0"/>
              <a:t>Emission Probabilities:</a:t>
            </a:r>
            <a:r>
              <a:rPr lang="en-US" dirty="0"/>
              <a:t> Likelihood of an observation given a state.</a:t>
            </a:r>
          </a:p>
          <a:p>
            <a:pPr>
              <a:buFont typeface="Arial" panose="020B0604020202020204" pitchFamily="34" charset="0"/>
              <a:buChar char="•"/>
            </a:pPr>
            <a:r>
              <a:rPr lang="en-US" b="1" dirty="0"/>
              <a:t>Example:</a:t>
            </a:r>
            <a:endParaRPr lang="en-US" dirty="0"/>
          </a:p>
          <a:p>
            <a:pPr marL="742950" lvl="1" indent="-285750">
              <a:buFont typeface="Arial" panose="020B0604020202020204" pitchFamily="34" charset="0"/>
              <a:buChar char="•"/>
            </a:pPr>
            <a:r>
              <a:rPr lang="en-US" dirty="0"/>
              <a:t>Speech recognition:</a:t>
            </a:r>
          </a:p>
          <a:p>
            <a:pPr marL="1143000" lvl="2" indent="-228600">
              <a:buFont typeface="Arial" panose="020B0604020202020204" pitchFamily="34" charset="0"/>
              <a:buChar char="•"/>
            </a:pPr>
            <a:r>
              <a:rPr lang="en-US" dirty="0"/>
              <a:t>Hidden states represent phonemes (sounds).</a:t>
            </a:r>
          </a:p>
          <a:p>
            <a:pPr marL="1143000" lvl="2" indent="-228600">
              <a:buFont typeface="Arial" panose="020B0604020202020204" pitchFamily="34" charset="0"/>
              <a:buChar char="•"/>
            </a:pPr>
            <a:r>
              <a:rPr lang="en-US" dirty="0"/>
              <a:t>Observations are audio signals.</a:t>
            </a:r>
          </a:p>
          <a:p>
            <a:pPr marL="1143000" lvl="2" indent="-228600">
              <a:buFont typeface="Arial" panose="020B0604020202020204" pitchFamily="34" charset="0"/>
              <a:buChar char="•"/>
            </a:pPr>
            <a:r>
              <a:rPr lang="en-US" dirty="0"/>
              <a:t>HMMs infer the most likely sequence of phonemes given the observed signals.</a:t>
            </a:r>
          </a:p>
          <a:p>
            <a:r>
              <a:rPr lang="en-US" b="1" dirty="0"/>
              <a:t>b. Dynamic Bayesian Networks (DBNs)</a:t>
            </a:r>
          </a:p>
          <a:p>
            <a:pPr>
              <a:buFont typeface="Arial" panose="020B0604020202020204" pitchFamily="34" charset="0"/>
              <a:buChar char="•"/>
            </a:pPr>
            <a:r>
              <a:rPr lang="en-US" dirty="0"/>
              <a:t>Extends Bayesian Networks to handle time-dependent processes.</a:t>
            </a:r>
          </a:p>
          <a:p>
            <a:pPr>
              <a:buFont typeface="Arial" panose="020B0604020202020204" pitchFamily="34" charset="0"/>
              <a:buChar char="•"/>
            </a:pPr>
            <a:r>
              <a:rPr lang="en-US" dirty="0"/>
              <a:t>Models probabilistic relationships among variables across multiple time steps.</a:t>
            </a:r>
          </a:p>
          <a:p>
            <a:pPr>
              <a:buFont typeface="Arial" panose="020B0604020202020204" pitchFamily="34" charset="0"/>
              <a:buChar char="•"/>
            </a:pPr>
            <a:r>
              <a:rPr lang="en-US" dirty="0"/>
              <a:t>Allows for more complex dependencies than HMMs.</a:t>
            </a:r>
          </a:p>
          <a:p>
            <a:pPr>
              <a:buFont typeface="Arial" panose="020B0604020202020204" pitchFamily="34" charset="0"/>
              <a:buChar char="•"/>
            </a:pPr>
            <a:r>
              <a:rPr lang="en-US" b="1" dirty="0"/>
              <a:t>Example:</a:t>
            </a:r>
            <a:endParaRPr lang="en-US" dirty="0"/>
          </a:p>
          <a:p>
            <a:pPr marL="742950" lvl="1" indent="-285750">
              <a:buFont typeface="Arial" panose="020B0604020202020204" pitchFamily="34" charset="0"/>
              <a:buChar char="•"/>
            </a:pPr>
            <a:r>
              <a:rPr lang="en-US" dirty="0"/>
              <a:t>Robot navigation:</a:t>
            </a:r>
          </a:p>
          <a:p>
            <a:pPr marL="1143000" lvl="2" indent="-228600">
              <a:buFont typeface="Arial" panose="020B0604020202020204" pitchFamily="34" charset="0"/>
              <a:buChar char="•"/>
            </a:pPr>
            <a:r>
              <a:rPr lang="en-US" dirty="0"/>
              <a:t>States include the robot's position and orientation.</a:t>
            </a:r>
          </a:p>
          <a:p>
            <a:pPr marL="1143000" lvl="2" indent="-228600">
              <a:buFont typeface="Arial" panose="020B0604020202020204" pitchFamily="34" charset="0"/>
              <a:buChar char="•"/>
            </a:pPr>
            <a:r>
              <a:rPr lang="en-US" dirty="0"/>
              <a:t>Observations include sensor data like distance to obstacles.</a:t>
            </a:r>
          </a:p>
          <a:p>
            <a:pPr marL="1143000" lvl="2" indent="-228600">
              <a:buFont typeface="Arial" panose="020B0604020202020204" pitchFamily="34" charset="0"/>
              <a:buChar char="•"/>
            </a:pPr>
            <a:r>
              <a:rPr lang="en-US" dirty="0"/>
              <a:t>DBNs estimate the robot's current position and path over time.</a:t>
            </a:r>
          </a:p>
          <a:p>
            <a:r>
              <a:rPr lang="en-US" b="1" dirty="0"/>
              <a:t>c. Kalman Filters (for continuous systems)</a:t>
            </a:r>
          </a:p>
          <a:p>
            <a:pPr>
              <a:buFont typeface="Arial" panose="020B0604020202020204" pitchFamily="34" charset="0"/>
              <a:buChar char="•"/>
            </a:pPr>
            <a:r>
              <a:rPr lang="en-US" dirty="0"/>
              <a:t>Specialized for linear systems with Gaussian noise.</a:t>
            </a:r>
          </a:p>
          <a:p>
            <a:pPr>
              <a:buFont typeface="Arial" panose="020B0604020202020204" pitchFamily="34" charset="0"/>
              <a:buChar char="•"/>
            </a:pPr>
            <a:r>
              <a:rPr lang="en-US" dirty="0"/>
              <a:t>Provides estimates of the system's state by combining predictions from a model and noisy observations.</a:t>
            </a:r>
          </a:p>
          <a:p>
            <a:pPr>
              <a:buFont typeface="Arial" panose="020B0604020202020204" pitchFamily="34" charset="0"/>
              <a:buChar char="•"/>
            </a:pPr>
            <a:r>
              <a:rPr lang="en-US" b="1" dirty="0"/>
              <a:t>Example:</a:t>
            </a:r>
            <a:endParaRPr lang="en-US" dirty="0"/>
          </a:p>
          <a:p>
            <a:pPr marL="742950" lvl="1" indent="-285750">
              <a:buFont typeface="Arial" panose="020B0604020202020204" pitchFamily="34" charset="0"/>
              <a:buChar char="•"/>
            </a:pPr>
            <a:r>
              <a:rPr lang="en-US" dirty="0"/>
              <a:t>Tracking the position of a moving object, like a drone, using noisy GPS data.</a:t>
            </a:r>
          </a:p>
          <a:p>
            <a:r>
              <a:rPr lang="en-US" b="1" dirty="0"/>
              <a:t>Applications of Probabilistic Reasoning Over Time</a:t>
            </a:r>
          </a:p>
          <a:p>
            <a:pPr>
              <a:buFont typeface="+mj-lt"/>
              <a:buAutoNum type="arabicPeriod"/>
            </a:pPr>
            <a:r>
              <a:rPr lang="en-US" b="1" dirty="0"/>
              <a:t>Speech and Language Processing</a:t>
            </a:r>
            <a:endParaRPr lang="en-US" dirty="0"/>
          </a:p>
          <a:p>
            <a:pPr marL="742950" lvl="1" indent="-285750">
              <a:buFont typeface="+mj-lt"/>
              <a:buAutoNum type="arabicPeriod"/>
            </a:pPr>
            <a:r>
              <a:rPr lang="en-US" dirty="0"/>
              <a:t>Speech recognition, machine translation, and handwriting recognition.</a:t>
            </a:r>
          </a:p>
          <a:p>
            <a:pPr>
              <a:buFont typeface="+mj-lt"/>
              <a:buAutoNum type="arabicPeriod"/>
            </a:pPr>
            <a:r>
              <a:rPr lang="en-US" b="1" dirty="0"/>
              <a:t>Robotics and Navigation</a:t>
            </a:r>
            <a:endParaRPr lang="en-US" dirty="0"/>
          </a:p>
          <a:p>
            <a:pPr marL="742950" lvl="1" indent="-285750">
              <a:buFont typeface="+mj-lt"/>
              <a:buAutoNum type="arabicPeriod"/>
            </a:pPr>
            <a:r>
              <a:rPr lang="en-US" dirty="0"/>
              <a:t>Localization and path planning for autonomous vehicles and robots.</a:t>
            </a:r>
          </a:p>
          <a:p>
            <a:pPr>
              <a:buFont typeface="+mj-lt"/>
              <a:buAutoNum type="arabicPeriod"/>
            </a:pPr>
            <a:r>
              <a:rPr lang="en-US" b="1" dirty="0"/>
              <a:t>Weather Forecasting</a:t>
            </a:r>
            <a:endParaRPr lang="en-US" dirty="0"/>
          </a:p>
          <a:p>
            <a:pPr marL="742950" lvl="1" indent="-285750">
              <a:buFont typeface="+mj-lt"/>
              <a:buAutoNum type="arabicPeriod"/>
            </a:pPr>
            <a:r>
              <a:rPr lang="en-US" dirty="0"/>
              <a:t>Predicting future weather conditions based on current and past observations.</a:t>
            </a:r>
          </a:p>
          <a:p>
            <a:pPr>
              <a:buFont typeface="+mj-lt"/>
              <a:buAutoNum type="arabicPeriod"/>
            </a:pPr>
            <a:r>
              <a:rPr lang="en-US" b="1" dirty="0"/>
              <a:t>Finance</a:t>
            </a:r>
            <a:endParaRPr lang="en-US" dirty="0"/>
          </a:p>
          <a:p>
            <a:pPr marL="742950" lvl="1" indent="-285750">
              <a:buFont typeface="+mj-lt"/>
              <a:buAutoNum type="arabicPeriod"/>
            </a:pPr>
            <a:r>
              <a:rPr lang="en-US" dirty="0"/>
              <a:t>Modeling stock prices or economic indicators over time.</a:t>
            </a:r>
          </a:p>
          <a:p>
            <a:pPr>
              <a:buFont typeface="+mj-lt"/>
              <a:buAutoNum type="arabicPeriod"/>
            </a:pPr>
            <a:r>
              <a:rPr lang="en-US" b="1" dirty="0"/>
              <a:t>Healthcare</a:t>
            </a:r>
            <a:endParaRPr lang="en-US" dirty="0"/>
          </a:p>
          <a:p>
            <a:pPr marL="742950" lvl="1" indent="-285750">
              <a:buFont typeface="+mj-lt"/>
              <a:buAutoNum type="arabicPeriod"/>
            </a:pPr>
            <a:r>
              <a:rPr lang="en-US" dirty="0"/>
              <a:t>Monitoring patient health metrics to predict the onset of diseases.</a:t>
            </a:r>
          </a:p>
          <a:p>
            <a:r>
              <a:rPr lang="en-US" b="1" dirty="0"/>
              <a:t>Benefits of Probabilistic Reasoning Over Time</a:t>
            </a:r>
          </a:p>
          <a:p>
            <a:pPr>
              <a:buFont typeface="Arial" panose="020B0604020202020204" pitchFamily="34" charset="0"/>
              <a:buChar char="•"/>
            </a:pPr>
            <a:r>
              <a:rPr lang="en-US" dirty="0"/>
              <a:t>Handles uncertainty in dynamic systems.</a:t>
            </a:r>
          </a:p>
          <a:p>
            <a:pPr>
              <a:buFont typeface="Arial" panose="020B0604020202020204" pitchFamily="34" charset="0"/>
              <a:buChar char="•"/>
            </a:pPr>
            <a:r>
              <a:rPr lang="en-US" dirty="0"/>
              <a:t>Incorporates temporal dependencies for accurate predictions.</a:t>
            </a:r>
          </a:p>
          <a:p>
            <a:pPr>
              <a:buFont typeface="Arial" panose="020B0604020202020204" pitchFamily="34" charset="0"/>
              <a:buChar char="•"/>
            </a:pPr>
            <a:r>
              <a:rPr lang="en-US" dirty="0"/>
              <a:t>Provides a flexible framework applicable to various domains.</a:t>
            </a:r>
          </a:p>
          <a:p>
            <a:endParaRPr lang="en-US" dirty="0"/>
          </a:p>
        </p:txBody>
      </p:sp>
      <p:sp>
        <p:nvSpPr>
          <p:cNvPr id="4" name="Slide Number Placeholder 3"/>
          <p:cNvSpPr>
            <a:spLocks noGrp="1"/>
          </p:cNvSpPr>
          <p:nvPr>
            <p:ph type="sldNum" sz="quarter" idx="5"/>
          </p:nvPr>
        </p:nvSpPr>
        <p:spPr/>
        <p:txBody>
          <a:bodyPr/>
          <a:lstStyle/>
          <a:p>
            <a:fld id="{DD3D89A8-76E4-44BB-A513-4A9C69A3E5A5}" type="slidenum">
              <a:rPr lang="en-US" smtClean="0"/>
              <a:t>47</a:t>
            </a:fld>
            <a:endParaRPr lang="en-US"/>
          </a:p>
        </p:txBody>
      </p:sp>
    </p:spTree>
    <p:extLst>
      <p:ext uri="{BB962C8B-B14F-4D97-AF65-F5344CB8AC3E}">
        <p14:creationId xmlns:p14="http://schemas.microsoft.com/office/powerpoint/2010/main" val="580826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Key Concepts in Hidden Markov Models (HMMs)</a:t>
            </a:r>
          </a:p>
          <a:p>
            <a:r>
              <a:rPr lang="en-US" dirty="0"/>
              <a:t>An </a:t>
            </a:r>
            <a:r>
              <a:rPr lang="en-US" b="1" dirty="0"/>
              <a:t>HMM</a:t>
            </a:r>
            <a:r>
              <a:rPr lang="en-US" dirty="0"/>
              <a:t> is a statistical model where:</a:t>
            </a:r>
          </a:p>
          <a:p>
            <a:pPr>
              <a:buFont typeface="Arial" panose="020B0604020202020204" pitchFamily="34" charset="0"/>
              <a:buChar char="•"/>
            </a:pPr>
            <a:r>
              <a:rPr lang="en-US" dirty="0"/>
              <a:t>The system being modeled has </a:t>
            </a:r>
            <a:r>
              <a:rPr lang="en-US" b="1" dirty="0"/>
              <a:t>hidden states</a:t>
            </a:r>
            <a:r>
              <a:rPr lang="en-US" dirty="0"/>
              <a:t> that evolve over time.</a:t>
            </a:r>
          </a:p>
          <a:p>
            <a:pPr>
              <a:buFont typeface="Arial" panose="020B0604020202020204" pitchFamily="34" charset="0"/>
              <a:buChar char="•"/>
            </a:pPr>
            <a:r>
              <a:rPr lang="en-US" dirty="0"/>
              <a:t>Observations provide indirect evidence about these hidden states.</a:t>
            </a:r>
          </a:p>
          <a:p>
            <a:r>
              <a:rPr lang="en-US" b="1" dirty="0"/>
              <a:t>Components of an HMM:</a:t>
            </a:r>
            <a:endParaRPr lang="en-US" dirty="0"/>
          </a:p>
          <a:p>
            <a:pPr>
              <a:buFont typeface="+mj-lt"/>
              <a:buAutoNum type="arabicPeriod"/>
            </a:pPr>
            <a:r>
              <a:rPr lang="en-US" b="1" dirty="0"/>
              <a:t>States (S)</a:t>
            </a:r>
            <a:endParaRPr lang="en-US" dirty="0"/>
          </a:p>
          <a:p>
            <a:pPr marL="742950" lvl="1" indent="-285750">
              <a:buFont typeface="+mj-lt"/>
              <a:buAutoNum type="arabicPeriod"/>
            </a:pPr>
            <a:r>
              <a:rPr lang="en-US" dirty="0"/>
              <a:t>Represent the true (hidden) condition of the system.</a:t>
            </a:r>
          </a:p>
          <a:p>
            <a:pPr marL="742950" lvl="1" indent="-285750">
              <a:buFont typeface="+mj-lt"/>
              <a:buAutoNum type="arabicPeriod"/>
            </a:pPr>
            <a:r>
              <a:rPr lang="en-US" dirty="0"/>
              <a:t>Example: In speech recognition, states could represent phonemes (small units of sound).</a:t>
            </a:r>
          </a:p>
          <a:p>
            <a:pPr>
              <a:buFont typeface="+mj-lt"/>
              <a:buAutoNum type="arabicPeriod"/>
            </a:pPr>
            <a:r>
              <a:rPr lang="en-US" b="1" dirty="0"/>
              <a:t>Observations (O)</a:t>
            </a:r>
            <a:endParaRPr lang="en-US" dirty="0"/>
          </a:p>
          <a:p>
            <a:pPr marL="742950" lvl="1" indent="-285750">
              <a:buFont typeface="+mj-lt"/>
              <a:buAutoNum type="arabicPeriod"/>
            </a:pPr>
            <a:r>
              <a:rPr lang="en-US" dirty="0"/>
              <a:t>The measurable outputs generated by the system.</a:t>
            </a:r>
          </a:p>
          <a:p>
            <a:pPr marL="742950" lvl="1" indent="-285750">
              <a:buFont typeface="+mj-lt"/>
              <a:buAutoNum type="arabicPeriod"/>
            </a:pPr>
            <a:r>
              <a:rPr lang="en-US" dirty="0"/>
              <a:t>Example: In speech recognition, observations are the audio signals captured from a microphone.</a:t>
            </a:r>
          </a:p>
          <a:p>
            <a:pPr>
              <a:buFont typeface="+mj-lt"/>
              <a:buAutoNum type="arabicPeriod"/>
            </a:pPr>
            <a:r>
              <a:rPr lang="en-US" b="1" dirty="0"/>
              <a:t>Transition Probabilities (A)</a:t>
            </a:r>
            <a:endParaRPr lang="en-US" dirty="0"/>
          </a:p>
          <a:p>
            <a:pPr marL="742950" lvl="1" indent="-285750">
              <a:buFont typeface="+mj-lt"/>
              <a:buAutoNum type="arabicPeriod"/>
            </a:pPr>
            <a:r>
              <a:rPr lang="en-US" dirty="0"/>
              <a:t>The probability of transitioning from one state to another.</a:t>
            </a:r>
          </a:p>
          <a:p>
            <a:pPr marL="742950" lvl="1" indent="-285750">
              <a:buFont typeface="+mj-lt"/>
              <a:buAutoNum type="arabicPeriod"/>
            </a:pPr>
            <a:r>
              <a:rPr lang="en-US" dirty="0"/>
              <a:t>Represented as P(St∣St−1)P(</a:t>
            </a:r>
            <a:r>
              <a:rPr lang="en-US" dirty="0" err="1"/>
              <a:t>S_t</a:t>
            </a:r>
            <a:r>
              <a:rPr lang="en-US" dirty="0"/>
              <a:t> | S_{t-1})P(St​∣St−1​).</a:t>
            </a:r>
          </a:p>
          <a:p>
            <a:pPr>
              <a:buFont typeface="+mj-lt"/>
              <a:buAutoNum type="arabicPeriod"/>
            </a:pPr>
            <a:r>
              <a:rPr lang="en-US" b="1" dirty="0"/>
              <a:t>Emission Probabilities (B)</a:t>
            </a:r>
            <a:endParaRPr lang="en-US" dirty="0"/>
          </a:p>
          <a:p>
            <a:pPr marL="742950" lvl="1" indent="-285750">
              <a:buFont typeface="+mj-lt"/>
              <a:buAutoNum type="arabicPeriod"/>
            </a:pPr>
            <a:r>
              <a:rPr lang="en-US" dirty="0"/>
              <a:t>The probability of an observation given a state.</a:t>
            </a:r>
          </a:p>
          <a:p>
            <a:pPr marL="742950" lvl="1" indent="-285750">
              <a:buFont typeface="+mj-lt"/>
              <a:buAutoNum type="arabicPeriod"/>
            </a:pPr>
            <a:r>
              <a:rPr lang="en-US" dirty="0"/>
              <a:t>Represented as P(</a:t>
            </a:r>
            <a:r>
              <a:rPr lang="en-US" dirty="0" err="1"/>
              <a:t>Ot∣St</a:t>
            </a:r>
            <a:r>
              <a:rPr lang="en-US" dirty="0"/>
              <a:t>)P(</a:t>
            </a:r>
            <a:r>
              <a:rPr lang="en-US" dirty="0" err="1"/>
              <a:t>O_t</a:t>
            </a:r>
            <a:r>
              <a:rPr lang="en-US" dirty="0"/>
              <a:t> | </a:t>
            </a:r>
            <a:r>
              <a:rPr lang="en-US" dirty="0" err="1"/>
              <a:t>S_t</a:t>
            </a:r>
            <a:r>
              <a:rPr lang="en-US" dirty="0"/>
              <a:t>)P(Ot​∣St​).</a:t>
            </a:r>
          </a:p>
          <a:p>
            <a:pPr>
              <a:buFont typeface="+mj-lt"/>
              <a:buAutoNum type="arabicPeriod"/>
            </a:pPr>
            <a:r>
              <a:rPr lang="en-US" b="1" dirty="0"/>
              <a:t>Initial State Distribution (</a:t>
            </a:r>
            <a:r>
              <a:rPr lang="el-GR" b="1" dirty="0"/>
              <a:t>π)</a:t>
            </a:r>
            <a:endParaRPr lang="el-GR" dirty="0"/>
          </a:p>
          <a:p>
            <a:pPr marL="742950" lvl="1" indent="-285750">
              <a:buFont typeface="+mj-lt"/>
              <a:buAutoNum type="arabicPeriod"/>
            </a:pPr>
            <a:r>
              <a:rPr lang="en-US" dirty="0"/>
              <a:t>The probabilities of starting in each state at t=0.</a:t>
            </a:r>
          </a:p>
          <a:p>
            <a:r>
              <a:rPr lang="en-US" b="1" dirty="0"/>
              <a:t>2. Assumptions in HMMs</a:t>
            </a:r>
          </a:p>
          <a:p>
            <a:pPr>
              <a:buFont typeface="+mj-lt"/>
              <a:buAutoNum type="arabicPeriod"/>
            </a:pPr>
            <a:r>
              <a:rPr lang="en-US" b="1" dirty="0"/>
              <a:t>Markov Assumption:</a:t>
            </a:r>
            <a:endParaRPr lang="en-US" dirty="0"/>
          </a:p>
          <a:p>
            <a:pPr marL="742950" lvl="1" indent="-285750">
              <a:buFont typeface="+mj-lt"/>
              <a:buAutoNum type="arabicPeriod"/>
            </a:pPr>
            <a:r>
              <a:rPr lang="en-US" dirty="0"/>
              <a:t>The current state depends only on the previous state.</a:t>
            </a:r>
          </a:p>
          <a:p>
            <a:pPr marL="742950" lvl="1" indent="-285750">
              <a:buFont typeface="+mj-lt"/>
              <a:buAutoNum type="arabicPeriod"/>
            </a:pPr>
            <a:r>
              <a:rPr lang="en-US" dirty="0"/>
              <a:t>P(St∣S1,S2,...,St−1)=P(St∣St−1)P(</a:t>
            </a:r>
            <a:r>
              <a:rPr lang="en-US" dirty="0" err="1"/>
              <a:t>S_t</a:t>
            </a:r>
            <a:r>
              <a:rPr lang="en-US" dirty="0"/>
              <a:t> | S_{1}, S_{2}, ..., S_{t-1}) = P(</a:t>
            </a:r>
            <a:r>
              <a:rPr lang="en-US" dirty="0" err="1"/>
              <a:t>S_t</a:t>
            </a:r>
            <a:r>
              <a:rPr lang="en-US" dirty="0"/>
              <a:t> | S_{t-1})P(St​∣S1​,S2​,...,St−1​)=P(St​∣St−1​).</a:t>
            </a:r>
          </a:p>
          <a:p>
            <a:pPr>
              <a:buFont typeface="+mj-lt"/>
              <a:buAutoNum type="arabicPeriod"/>
            </a:pPr>
            <a:r>
              <a:rPr lang="en-US" b="1" dirty="0"/>
              <a:t>Output Independence:</a:t>
            </a:r>
            <a:endParaRPr lang="en-US" dirty="0"/>
          </a:p>
          <a:p>
            <a:pPr marL="742950" lvl="1" indent="-285750">
              <a:buFont typeface="+mj-lt"/>
              <a:buAutoNum type="arabicPeriod"/>
            </a:pPr>
            <a:r>
              <a:rPr lang="en-US" dirty="0"/>
              <a:t>Observations depend only on the current state.</a:t>
            </a:r>
          </a:p>
          <a:p>
            <a:pPr marL="742950" lvl="1" indent="-285750">
              <a:buFont typeface="+mj-lt"/>
              <a:buAutoNum type="arabicPeriod"/>
            </a:pPr>
            <a:r>
              <a:rPr lang="en-US" dirty="0"/>
              <a:t>P(Ot∣S1,S2,...,St)=P(</a:t>
            </a:r>
            <a:r>
              <a:rPr lang="en-US" dirty="0" err="1"/>
              <a:t>Ot∣St</a:t>
            </a:r>
            <a:r>
              <a:rPr lang="en-US" dirty="0"/>
              <a:t>)P(</a:t>
            </a:r>
            <a:r>
              <a:rPr lang="en-US" dirty="0" err="1"/>
              <a:t>O_t</a:t>
            </a:r>
            <a:r>
              <a:rPr lang="en-US" dirty="0"/>
              <a:t> | S_{1}, S_{2}, ..., </a:t>
            </a:r>
            <a:r>
              <a:rPr lang="en-US" dirty="0" err="1"/>
              <a:t>S_t</a:t>
            </a:r>
            <a:r>
              <a:rPr lang="en-US" dirty="0"/>
              <a:t>) = P(</a:t>
            </a:r>
            <a:r>
              <a:rPr lang="en-US" dirty="0" err="1"/>
              <a:t>O_t</a:t>
            </a:r>
            <a:r>
              <a:rPr lang="en-US" dirty="0"/>
              <a:t> | </a:t>
            </a:r>
            <a:r>
              <a:rPr lang="en-US" dirty="0" err="1"/>
              <a:t>S_t</a:t>
            </a:r>
            <a:r>
              <a:rPr lang="en-US" dirty="0"/>
              <a:t>)P(Ot​∣S1​,S2​,...,St​)=P(Ot​∣St​).</a:t>
            </a:r>
          </a:p>
          <a:p>
            <a:r>
              <a:rPr lang="en-US" b="1" dirty="0"/>
              <a:t>3. How HMMs Work</a:t>
            </a:r>
          </a:p>
          <a:p>
            <a:r>
              <a:rPr lang="en-US" b="1" dirty="0"/>
              <a:t>Step 1: Initialization</a:t>
            </a:r>
          </a:p>
          <a:p>
            <a:pPr>
              <a:buFont typeface="Arial" panose="020B0604020202020204" pitchFamily="34" charset="0"/>
              <a:buChar char="•"/>
            </a:pPr>
            <a:r>
              <a:rPr lang="en-US" dirty="0"/>
              <a:t>Start with an initial state distribution (</a:t>
            </a:r>
            <a:r>
              <a:rPr lang="el-GR" dirty="0"/>
              <a:t>π).</a:t>
            </a:r>
          </a:p>
          <a:p>
            <a:r>
              <a:rPr lang="en-US" b="1" dirty="0"/>
              <a:t>Step 2: Transition and Observation</a:t>
            </a:r>
          </a:p>
          <a:p>
            <a:pPr>
              <a:buFont typeface="Arial" panose="020B0604020202020204" pitchFamily="34" charset="0"/>
              <a:buChar char="•"/>
            </a:pPr>
            <a:r>
              <a:rPr lang="en-US" dirty="0"/>
              <a:t>At each time step, the system transitions between states based on the transition probabilities (AAA) and generates observations based on the emission probabilities (BBB).</a:t>
            </a:r>
          </a:p>
          <a:p>
            <a:r>
              <a:rPr lang="en-US" b="1" dirty="0"/>
              <a:t>Step 3: Inference and Prediction</a:t>
            </a:r>
          </a:p>
          <a:p>
            <a:pPr>
              <a:buFont typeface="Arial" panose="020B0604020202020204" pitchFamily="34" charset="0"/>
              <a:buChar char="•"/>
            </a:pPr>
            <a:r>
              <a:rPr lang="en-US" dirty="0"/>
              <a:t>The goal is to infer the most likely sequence of states given a sequence of observations.</a:t>
            </a:r>
          </a:p>
          <a:p>
            <a:r>
              <a:rPr lang="en-US" b="1" dirty="0"/>
              <a:t>4. Inference in HMMs</a:t>
            </a:r>
          </a:p>
          <a:p>
            <a:r>
              <a:rPr lang="en-US" dirty="0"/>
              <a:t>Three fundamental problems are solved in HMMs:</a:t>
            </a:r>
          </a:p>
          <a:p>
            <a:pPr>
              <a:buFont typeface="+mj-lt"/>
              <a:buAutoNum type="arabicPeriod"/>
            </a:pPr>
            <a:r>
              <a:rPr lang="en-US" b="1" dirty="0"/>
              <a:t>Likelihood Problem (Evaluation):</a:t>
            </a:r>
            <a:endParaRPr lang="en-US" dirty="0"/>
          </a:p>
          <a:p>
            <a:pPr marL="742950" lvl="1" indent="-285750">
              <a:buFont typeface="+mj-lt"/>
              <a:buAutoNum type="arabicPeriod"/>
            </a:pPr>
            <a:r>
              <a:rPr lang="en-US" dirty="0"/>
              <a:t>Compute the probability of a sequence of observations given the model parameters.</a:t>
            </a:r>
          </a:p>
          <a:p>
            <a:pPr marL="742950" lvl="1" indent="-285750">
              <a:buFont typeface="+mj-lt"/>
              <a:buAutoNum type="arabicPeriod"/>
            </a:pPr>
            <a:r>
              <a:rPr lang="en-US" dirty="0"/>
              <a:t>Uses the </a:t>
            </a:r>
            <a:r>
              <a:rPr lang="en-US" b="1" dirty="0"/>
              <a:t>Forward Algorithm</a:t>
            </a:r>
            <a:r>
              <a:rPr lang="en-US" dirty="0"/>
              <a:t>.</a:t>
            </a:r>
          </a:p>
          <a:p>
            <a:pPr>
              <a:buFont typeface="+mj-lt"/>
              <a:buAutoNum type="arabicPeriod"/>
            </a:pPr>
            <a:r>
              <a:rPr lang="en-US" b="1" dirty="0"/>
              <a:t>Decoding Problem (State Sequence):</a:t>
            </a:r>
            <a:endParaRPr lang="en-US" dirty="0"/>
          </a:p>
          <a:p>
            <a:pPr marL="742950" lvl="1" indent="-285750">
              <a:buFont typeface="+mj-lt"/>
              <a:buAutoNum type="arabicPeriod"/>
            </a:pPr>
            <a:r>
              <a:rPr lang="en-US" dirty="0"/>
              <a:t>Determine the most likely sequence of states that could have generated the observed data.</a:t>
            </a:r>
          </a:p>
          <a:p>
            <a:pPr marL="742950" lvl="1" indent="-285750">
              <a:buFont typeface="+mj-lt"/>
              <a:buAutoNum type="arabicPeriod"/>
            </a:pPr>
            <a:r>
              <a:rPr lang="en-US" dirty="0"/>
              <a:t>Uses the </a:t>
            </a:r>
            <a:r>
              <a:rPr lang="en-US" b="1" dirty="0"/>
              <a:t>Viterbi Algorithm</a:t>
            </a:r>
            <a:r>
              <a:rPr lang="en-US" dirty="0"/>
              <a:t>.</a:t>
            </a:r>
          </a:p>
          <a:p>
            <a:pPr>
              <a:buFont typeface="+mj-lt"/>
              <a:buAutoNum type="arabicPeriod"/>
            </a:pPr>
            <a:r>
              <a:rPr lang="en-US" b="1" dirty="0"/>
              <a:t>Learning Problem (Parameter Estimation):</a:t>
            </a:r>
            <a:endParaRPr lang="en-US" dirty="0"/>
          </a:p>
          <a:p>
            <a:pPr marL="742950" lvl="1" indent="-285750">
              <a:buFont typeface="+mj-lt"/>
              <a:buAutoNum type="arabicPeriod"/>
            </a:pPr>
            <a:r>
              <a:rPr lang="en-US" dirty="0"/>
              <a:t>Adjust the model parameters (AAA, BBB, </a:t>
            </a:r>
            <a:r>
              <a:rPr lang="el-GR" dirty="0"/>
              <a:t>π\</a:t>
            </a:r>
            <a:r>
              <a:rPr lang="en-US" dirty="0"/>
              <a:t>pi</a:t>
            </a:r>
            <a:r>
              <a:rPr lang="el-GR" dirty="0"/>
              <a:t>π) </a:t>
            </a:r>
            <a:r>
              <a:rPr lang="en-US" dirty="0"/>
              <a:t>to maximize the likelihood of the observed data.</a:t>
            </a:r>
          </a:p>
          <a:p>
            <a:pPr marL="742950" lvl="1" indent="-285750">
              <a:buFont typeface="+mj-lt"/>
              <a:buAutoNum type="arabicPeriod"/>
            </a:pPr>
            <a:r>
              <a:rPr lang="en-US" dirty="0"/>
              <a:t>Uses the </a:t>
            </a:r>
            <a:r>
              <a:rPr lang="en-US" b="1" dirty="0"/>
              <a:t>Baum-Welch Algorithm</a:t>
            </a:r>
            <a:r>
              <a:rPr lang="en-US" dirty="0"/>
              <a:t> (a type of Expectation-Maximization).</a:t>
            </a:r>
          </a:p>
          <a:p>
            <a:r>
              <a:rPr lang="en-US" b="1" dirty="0"/>
              <a:t>5. Example of an HMM</a:t>
            </a:r>
          </a:p>
          <a:p>
            <a:r>
              <a:rPr lang="en-US" b="1" dirty="0"/>
              <a:t>Scenario: Weather Prediction</a:t>
            </a:r>
            <a:endParaRPr lang="en-US" dirty="0"/>
          </a:p>
          <a:p>
            <a:pPr>
              <a:buFont typeface="Arial" panose="020B0604020202020204" pitchFamily="34" charset="0"/>
              <a:buChar char="•"/>
            </a:pPr>
            <a:r>
              <a:rPr lang="en-US" b="1" dirty="0"/>
              <a:t>Hidden States:</a:t>
            </a:r>
            <a:r>
              <a:rPr lang="en-US" dirty="0"/>
              <a:t> Sunny, Rainy.</a:t>
            </a:r>
          </a:p>
          <a:p>
            <a:pPr>
              <a:buFont typeface="Arial" panose="020B0604020202020204" pitchFamily="34" charset="0"/>
              <a:buChar char="•"/>
            </a:pPr>
            <a:r>
              <a:rPr lang="en-US" b="1" dirty="0"/>
              <a:t>Observations:</a:t>
            </a:r>
            <a:r>
              <a:rPr lang="en-US" dirty="0"/>
              <a:t> Wet (W) or Dry (D) ground.</a:t>
            </a:r>
          </a:p>
          <a:p>
            <a:pPr>
              <a:buFont typeface="Arial" panose="020B0604020202020204" pitchFamily="34" charset="0"/>
              <a:buChar char="•"/>
            </a:pPr>
            <a:r>
              <a:rPr lang="en-US" b="1" dirty="0"/>
              <a:t>Transition Probabilities:</a:t>
            </a:r>
            <a:br>
              <a:rPr lang="en-US" dirty="0"/>
            </a:br>
            <a:r>
              <a:rPr lang="en-US" dirty="0"/>
              <a:t>P(</a:t>
            </a:r>
            <a:r>
              <a:rPr lang="en-US" dirty="0" err="1"/>
              <a:t>Sunny→Sunny</a:t>
            </a:r>
            <a:r>
              <a:rPr lang="en-US" dirty="0"/>
              <a:t>)=0.7,P(Sunny \</a:t>
            </a:r>
            <a:r>
              <a:rPr lang="en-US" dirty="0" err="1"/>
              <a:t>rightarrow</a:t>
            </a:r>
            <a:r>
              <a:rPr lang="en-US" dirty="0"/>
              <a:t> Sunny) = 0.7,P(</a:t>
            </a:r>
            <a:r>
              <a:rPr lang="en-US" dirty="0" err="1"/>
              <a:t>Sunny→Sunny</a:t>
            </a:r>
            <a:r>
              <a:rPr lang="en-US" dirty="0"/>
              <a:t>)=0.7,</a:t>
            </a:r>
            <a:br>
              <a:rPr lang="en-US" dirty="0"/>
            </a:br>
            <a:r>
              <a:rPr lang="en-US" dirty="0"/>
              <a:t>P(</a:t>
            </a:r>
            <a:r>
              <a:rPr lang="en-US" dirty="0" err="1"/>
              <a:t>Sunny→Rainy</a:t>
            </a:r>
            <a:r>
              <a:rPr lang="en-US" dirty="0"/>
              <a:t>)=0.3,P(Sunny \</a:t>
            </a:r>
            <a:r>
              <a:rPr lang="en-US" dirty="0" err="1"/>
              <a:t>rightarrow</a:t>
            </a:r>
            <a:r>
              <a:rPr lang="en-US" dirty="0"/>
              <a:t> Rainy) = 0.3,P(</a:t>
            </a:r>
            <a:r>
              <a:rPr lang="en-US" dirty="0" err="1"/>
              <a:t>Sunny→Rainy</a:t>
            </a:r>
            <a:r>
              <a:rPr lang="en-US" dirty="0"/>
              <a:t>)=0.3,</a:t>
            </a:r>
            <a:br>
              <a:rPr lang="en-US" dirty="0"/>
            </a:br>
            <a:r>
              <a:rPr lang="en-US" dirty="0"/>
              <a:t>P(</a:t>
            </a:r>
            <a:r>
              <a:rPr lang="en-US" dirty="0" err="1"/>
              <a:t>Rainy→Rainy</a:t>
            </a:r>
            <a:r>
              <a:rPr lang="en-US" dirty="0"/>
              <a:t>)=0.6,P(Rainy \</a:t>
            </a:r>
            <a:r>
              <a:rPr lang="en-US" dirty="0" err="1"/>
              <a:t>rightarrow</a:t>
            </a:r>
            <a:r>
              <a:rPr lang="en-US" dirty="0"/>
              <a:t> Rainy) = 0.6,P(</a:t>
            </a:r>
            <a:r>
              <a:rPr lang="en-US" dirty="0" err="1"/>
              <a:t>Rainy→Rainy</a:t>
            </a:r>
            <a:r>
              <a:rPr lang="en-US" dirty="0"/>
              <a:t>)=0.6,</a:t>
            </a:r>
            <a:br>
              <a:rPr lang="en-US" dirty="0"/>
            </a:br>
            <a:r>
              <a:rPr lang="en-US" dirty="0"/>
              <a:t>P(</a:t>
            </a:r>
            <a:r>
              <a:rPr lang="en-US" dirty="0" err="1"/>
              <a:t>Rainy→Sunny</a:t>
            </a:r>
            <a:r>
              <a:rPr lang="en-US" dirty="0"/>
              <a:t>)=0.4.P(Rainy \</a:t>
            </a:r>
            <a:r>
              <a:rPr lang="en-US" dirty="0" err="1"/>
              <a:t>rightarrow</a:t>
            </a:r>
            <a:r>
              <a:rPr lang="en-US" dirty="0"/>
              <a:t> Sunny) = 0.4.P(</a:t>
            </a:r>
            <a:r>
              <a:rPr lang="en-US" dirty="0" err="1"/>
              <a:t>Rainy→Sunny</a:t>
            </a:r>
            <a:r>
              <a:rPr lang="en-US" dirty="0"/>
              <a:t>)=0.4.</a:t>
            </a:r>
          </a:p>
          <a:p>
            <a:pPr>
              <a:buFont typeface="Arial" panose="020B0604020202020204" pitchFamily="34" charset="0"/>
              <a:buChar char="•"/>
            </a:pPr>
            <a:r>
              <a:rPr lang="en-US" b="1" dirty="0"/>
              <a:t>Emission Probabilities:</a:t>
            </a:r>
            <a:br>
              <a:rPr lang="en-US" dirty="0"/>
            </a:br>
            <a:r>
              <a:rPr lang="en-US" dirty="0"/>
              <a:t>P(</a:t>
            </a:r>
            <a:r>
              <a:rPr lang="en-US" dirty="0" err="1"/>
              <a:t>Wet∣Sunny</a:t>
            </a:r>
            <a:r>
              <a:rPr lang="en-US" dirty="0"/>
              <a:t>)=0.1,</a:t>
            </a:r>
            <a:br>
              <a:rPr lang="en-US" dirty="0"/>
            </a:br>
            <a:r>
              <a:rPr lang="en-US" dirty="0"/>
              <a:t>P(</a:t>
            </a:r>
            <a:r>
              <a:rPr lang="en-US" dirty="0" err="1"/>
              <a:t>Dry∣Sunny</a:t>
            </a:r>
            <a:r>
              <a:rPr lang="en-US" dirty="0"/>
              <a:t>)=0.9,</a:t>
            </a:r>
            <a:br>
              <a:rPr lang="en-US" dirty="0"/>
            </a:br>
            <a:r>
              <a:rPr lang="en-US" dirty="0"/>
              <a:t>P(</a:t>
            </a:r>
            <a:r>
              <a:rPr lang="en-US" dirty="0" err="1"/>
              <a:t>Wet∣Rainy</a:t>
            </a:r>
            <a:r>
              <a:rPr lang="en-US" dirty="0"/>
              <a:t>)=0.8,</a:t>
            </a:r>
            <a:br>
              <a:rPr lang="en-US" dirty="0"/>
            </a:br>
            <a:r>
              <a:rPr lang="en-US" dirty="0"/>
              <a:t>P(</a:t>
            </a:r>
            <a:r>
              <a:rPr lang="en-US" dirty="0" err="1"/>
              <a:t>Dry∣Rainy</a:t>
            </a:r>
            <a:r>
              <a:rPr lang="en-US" dirty="0"/>
              <a:t>)=0.2.</a:t>
            </a:r>
          </a:p>
          <a:p>
            <a:pPr>
              <a:buFont typeface="Arial" panose="020B0604020202020204" pitchFamily="34" charset="0"/>
              <a:buChar char="•"/>
            </a:pPr>
            <a:r>
              <a:rPr lang="en-US" b="1" dirty="0"/>
              <a:t>Initial Probabilities (</a:t>
            </a:r>
            <a:r>
              <a:rPr lang="el-GR" b="1" dirty="0"/>
              <a:t>π):</a:t>
            </a:r>
            <a:br>
              <a:rPr lang="el-GR" dirty="0"/>
            </a:br>
            <a:r>
              <a:rPr lang="en-US" dirty="0"/>
              <a:t>P(Sunny)=0.6,, P(Rainy)=0.4.</a:t>
            </a:r>
          </a:p>
          <a:p>
            <a:r>
              <a:rPr lang="en-US" b="1" dirty="0"/>
              <a:t>Task: Predict Hidden States (Weather) Given Observations</a:t>
            </a:r>
            <a:br>
              <a:rPr lang="en-US" dirty="0"/>
            </a:br>
            <a:r>
              <a:rPr lang="en-US" dirty="0" err="1"/>
              <a:t>Observations</a:t>
            </a:r>
            <a:r>
              <a:rPr lang="en-US" dirty="0"/>
              <a:t>: [Wet, Dry, Wet].</a:t>
            </a:r>
          </a:p>
          <a:p>
            <a:pPr>
              <a:buFont typeface="+mj-lt"/>
              <a:buAutoNum type="arabicPeriod"/>
            </a:pPr>
            <a:r>
              <a:rPr lang="en-US" b="1" dirty="0"/>
              <a:t>Initialization:</a:t>
            </a:r>
            <a:br>
              <a:rPr lang="en-US" dirty="0"/>
            </a:br>
            <a:r>
              <a:rPr lang="en-US" dirty="0"/>
              <a:t>Start with initial probabilities.</a:t>
            </a:r>
            <a:br>
              <a:rPr lang="en-US" dirty="0"/>
            </a:br>
            <a:r>
              <a:rPr lang="en-US" dirty="0"/>
              <a:t>Example:</a:t>
            </a:r>
          </a:p>
          <a:p>
            <a:pPr>
              <a:buFont typeface="+mj-lt"/>
              <a:buNone/>
            </a:pPr>
            <a:r>
              <a:rPr lang="en-US" dirty="0"/>
              <a:t>P(</a:t>
            </a:r>
            <a:r>
              <a:rPr lang="en-US" dirty="0" err="1"/>
              <a:t>Sunny∣Wet</a:t>
            </a:r>
            <a:r>
              <a:rPr lang="en-US" dirty="0"/>
              <a:t>)∝P(</a:t>
            </a:r>
            <a:r>
              <a:rPr lang="en-US" dirty="0" err="1"/>
              <a:t>Wet∣Sunny</a:t>
            </a:r>
            <a:r>
              <a:rPr lang="en-US" dirty="0"/>
              <a:t>)⋅P(Sunny)</a:t>
            </a:r>
          </a:p>
          <a:p>
            <a:pPr>
              <a:buFont typeface="+mj-lt"/>
              <a:buAutoNum type="arabicPeriod"/>
            </a:pPr>
            <a:r>
              <a:rPr lang="en-US" b="1" dirty="0"/>
              <a:t>Recursion (Forward Algorithm):</a:t>
            </a:r>
            <a:br>
              <a:rPr lang="en-US" dirty="0"/>
            </a:br>
            <a:r>
              <a:rPr lang="en-US" dirty="0"/>
              <a:t>Use transition and emission probabilities to calculate the likelihood of observing the sequence.</a:t>
            </a:r>
          </a:p>
          <a:p>
            <a:pPr>
              <a:buFont typeface="+mj-lt"/>
              <a:buAutoNum type="arabicPeriod"/>
            </a:pPr>
            <a:r>
              <a:rPr lang="en-US" b="1" dirty="0"/>
              <a:t>Decoding (Viterbi Algorithm):</a:t>
            </a:r>
            <a:br>
              <a:rPr lang="en-US" dirty="0"/>
            </a:br>
            <a:r>
              <a:rPr lang="en-US" dirty="0"/>
              <a:t>Identify the most probable state sequence:</a:t>
            </a:r>
          </a:p>
          <a:p>
            <a:pPr marL="742950" lvl="1" indent="-285750">
              <a:buFont typeface="+mj-lt"/>
              <a:buAutoNum type="arabicPeriod"/>
            </a:pPr>
            <a:r>
              <a:rPr lang="en-US" dirty="0"/>
              <a:t>Observation: Wet → Dry → Wet.</a:t>
            </a:r>
          </a:p>
          <a:p>
            <a:pPr marL="742950" lvl="1" indent="-285750">
              <a:buFont typeface="+mj-lt"/>
              <a:buAutoNum type="arabicPeriod"/>
            </a:pPr>
            <a:r>
              <a:rPr lang="en-US" dirty="0"/>
              <a:t>Likely State Sequence: Rainy → Sunny → Rainy.</a:t>
            </a:r>
          </a:p>
          <a:p>
            <a:r>
              <a:rPr lang="en-US" b="1" dirty="0"/>
              <a:t>6. Applications of HMMs</a:t>
            </a:r>
          </a:p>
          <a:p>
            <a:pPr>
              <a:buFont typeface="+mj-lt"/>
              <a:buAutoNum type="arabicPeriod"/>
            </a:pPr>
            <a:r>
              <a:rPr lang="en-US" b="1" dirty="0"/>
              <a:t>Speech Recognition</a:t>
            </a:r>
            <a:endParaRPr lang="en-US" dirty="0"/>
          </a:p>
          <a:p>
            <a:pPr marL="742950" lvl="1" indent="-285750">
              <a:buFont typeface="+mj-lt"/>
              <a:buAutoNum type="arabicPeriod"/>
            </a:pPr>
            <a:r>
              <a:rPr lang="en-US" dirty="0"/>
              <a:t>Identify spoken words based on audio signals.</a:t>
            </a:r>
          </a:p>
          <a:p>
            <a:pPr>
              <a:buFont typeface="+mj-lt"/>
              <a:buAutoNum type="arabicPeriod"/>
            </a:pPr>
            <a:r>
              <a:rPr lang="en-US" b="1" dirty="0"/>
              <a:t>Natural Language Processing (NLP)</a:t>
            </a:r>
            <a:endParaRPr lang="en-US" dirty="0"/>
          </a:p>
          <a:p>
            <a:pPr marL="742950" lvl="1" indent="-285750">
              <a:buFont typeface="+mj-lt"/>
              <a:buAutoNum type="arabicPeriod"/>
            </a:pPr>
            <a:r>
              <a:rPr lang="en-US" dirty="0"/>
              <a:t>Part-of-speech tagging, where words are states, and observed words are emissions.</a:t>
            </a:r>
          </a:p>
          <a:p>
            <a:pPr>
              <a:buFont typeface="+mj-lt"/>
              <a:buAutoNum type="arabicPeriod"/>
            </a:pPr>
            <a:r>
              <a:rPr lang="en-US" b="1" dirty="0"/>
              <a:t>Bioinformatics</a:t>
            </a:r>
            <a:endParaRPr lang="en-US" dirty="0"/>
          </a:p>
          <a:p>
            <a:pPr marL="742950" lvl="1" indent="-285750">
              <a:buFont typeface="+mj-lt"/>
              <a:buAutoNum type="arabicPeriod"/>
            </a:pPr>
            <a:r>
              <a:rPr lang="en-US" dirty="0"/>
              <a:t>Gene prediction based on DNA sequences.</a:t>
            </a:r>
          </a:p>
          <a:p>
            <a:pPr>
              <a:buFont typeface="+mj-lt"/>
              <a:buAutoNum type="arabicPeriod"/>
            </a:pPr>
            <a:r>
              <a:rPr lang="en-US" b="1" dirty="0"/>
              <a:t>Finance</a:t>
            </a:r>
            <a:endParaRPr lang="en-US" dirty="0"/>
          </a:p>
          <a:p>
            <a:pPr marL="742950" lvl="1" indent="-285750">
              <a:buFont typeface="+mj-lt"/>
              <a:buAutoNum type="arabicPeriod"/>
            </a:pPr>
            <a:r>
              <a:rPr lang="en-US" dirty="0"/>
              <a:t>Predict market trends based on historical data.</a:t>
            </a:r>
          </a:p>
          <a:p>
            <a:pPr>
              <a:buFont typeface="+mj-lt"/>
              <a:buAutoNum type="arabicPeriod"/>
            </a:pPr>
            <a:r>
              <a:rPr lang="en-US" b="1" dirty="0"/>
              <a:t>Robotics</a:t>
            </a:r>
            <a:endParaRPr lang="en-US" dirty="0"/>
          </a:p>
          <a:p>
            <a:pPr marL="742950" lvl="1" indent="-285750">
              <a:buFont typeface="+mj-lt"/>
              <a:buAutoNum type="arabicPeriod"/>
            </a:pPr>
            <a:r>
              <a:rPr lang="en-US" dirty="0"/>
              <a:t>Track the location of a robot given noisy sensor data.</a:t>
            </a:r>
          </a:p>
          <a:p>
            <a:r>
              <a:rPr lang="en-US" b="1" dirty="0"/>
              <a:t>7. Advantages and Limitations</a:t>
            </a:r>
          </a:p>
          <a:p>
            <a:r>
              <a:rPr lang="en-US" b="1" dirty="0"/>
              <a:t>Advantages:</a:t>
            </a:r>
            <a:endParaRPr lang="en-US" dirty="0"/>
          </a:p>
          <a:p>
            <a:pPr>
              <a:buFont typeface="Arial" panose="020B0604020202020204" pitchFamily="34" charset="0"/>
              <a:buChar char="•"/>
            </a:pPr>
            <a:r>
              <a:rPr lang="en-US" dirty="0"/>
              <a:t>Efficient for time-series data with uncertainty.</a:t>
            </a:r>
          </a:p>
          <a:p>
            <a:pPr>
              <a:buFont typeface="Arial" panose="020B0604020202020204" pitchFamily="34" charset="0"/>
              <a:buChar char="•"/>
            </a:pPr>
            <a:r>
              <a:rPr lang="en-US" dirty="0"/>
              <a:t>Well-suited for sequential prediction tasks.</a:t>
            </a:r>
          </a:p>
          <a:p>
            <a:r>
              <a:rPr lang="en-US" b="1" dirty="0"/>
              <a:t>Limitations:</a:t>
            </a:r>
            <a:endParaRPr lang="en-US" dirty="0"/>
          </a:p>
          <a:p>
            <a:pPr>
              <a:buFont typeface="Arial" panose="020B0604020202020204" pitchFamily="34" charset="0"/>
              <a:buChar char="•"/>
            </a:pPr>
            <a:r>
              <a:rPr lang="en-US" dirty="0"/>
              <a:t>Assumes Markov property, which might oversimplify some systems.</a:t>
            </a:r>
          </a:p>
          <a:p>
            <a:pPr>
              <a:buFont typeface="Arial" panose="020B0604020202020204" pitchFamily="34" charset="0"/>
              <a:buChar char="•"/>
            </a:pPr>
            <a:r>
              <a:rPr lang="en-US" dirty="0"/>
              <a:t>Struggles with long-term dependencies due to the "memory-less" nature of states.</a:t>
            </a:r>
          </a:p>
          <a:p>
            <a:endParaRPr lang="en-US" dirty="0"/>
          </a:p>
        </p:txBody>
      </p:sp>
      <p:sp>
        <p:nvSpPr>
          <p:cNvPr id="4" name="Slide Number Placeholder 3"/>
          <p:cNvSpPr>
            <a:spLocks noGrp="1"/>
          </p:cNvSpPr>
          <p:nvPr>
            <p:ph type="sldNum" sz="quarter" idx="5"/>
          </p:nvPr>
        </p:nvSpPr>
        <p:spPr/>
        <p:txBody>
          <a:bodyPr/>
          <a:lstStyle/>
          <a:p>
            <a:fld id="{DD3D89A8-76E4-44BB-A513-4A9C69A3E5A5}" type="slidenum">
              <a:rPr lang="en-US" smtClean="0"/>
              <a:t>52</a:t>
            </a:fld>
            <a:endParaRPr lang="en-US"/>
          </a:p>
        </p:txBody>
      </p:sp>
    </p:spTree>
    <p:extLst>
      <p:ext uri="{BB962C8B-B14F-4D97-AF65-F5344CB8AC3E}">
        <p14:creationId xmlns:p14="http://schemas.microsoft.com/office/powerpoint/2010/main" val="19390406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Concepts: Abstract representations of objects or ideas (e.g., 'Person,' 'Vehicle').</a:t>
            </a:r>
          </a:p>
          <a:p>
            <a:r>
              <a:rPr lang="en-US" dirty="0"/>
              <a:t>Relationships: Define how concepts are interconnected (e.g., 'is-a,' 'part-of').</a:t>
            </a:r>
          </a:p>
          <a:p>
            <a:r>
              <a:rPr lang="en-US" dirty="0"/>
              <a:t>Properties: Attributes or characteristics of concepts (e.g., 'age,' 'color').</a:t>
            </a:r>
          </a:p>
          <a:p>
            <a:r>
              <a:rPr lang="en-US" dirty="0"/>
              <a:t>Instances: Specific examples of concepts (e.g., 'John,' 'Tesla Model 3').</a:t>
            </a:r>
          </a:p>
          <a:p>
            <a:r>
              <a:rPr lang="en-US" dirty="0"/>
              <a:t>Axioms: Logical assertions about concepts and relationships (e.g., 'Every person has a name').</a:t>
            </a:r>
          </a:p>
          <a:p>
            <a:endParaRPr lang="en-US" dirty="0"/>
          </a:p>
        </p:txBody>
      </p:sp>
      <p:sp>
        <p:nvSpPr>
          <p:cNvPr id="4" name="Slide Number Placeholder 3"/>
          <p:cNvSpPr>
            <a:spLocks noGrp="1"/>
          </p:cNvSpPr>
          <p:nvPr>
            <p:ph type="sldNum" sz="quarter" idx="5"/>
          </p:nvPr>
        </p:nvSpPr>
        <p:spPr/>
        <p:txBody>
          <a:bodyPr/>
          <a:lstStyle/>
          <a:p>
            <a:fld id="{DD3D89A8-76E4-44BB-A513-4A9C69A3E5A5}" type="slidenum">
              <a:rPr lang="en-US" smtClean="0"/>
              <a:t>59</a:t>
            </a:fld>
            <a:endParaRPr lang="en-US"/>
          </a:p>
        </p:txBody>
      </p:sp>
    </p:spTree>
    <p:extLst>
      <p:ext uri="{BB962C8B-B14F-4D97-AF65-F5344CB8AC3E}">
        <p14:creationId xmlns:p14="http://schemas.microsoft.com/office/powerpoint/2010/main" val="24783416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3D89A8-76E4-44BB-A513-4A9C69A3E5A5}" type="slidenum">
              <a:rPr lang="en-US" smtClean="0"/>
              <a:t>62</a:t>
            </a:fld>
            <a:endParaRPr lang="en-US"/>
          </a:p>
        </p:txBody>
      </p:sp>
    </p:spTree>
    <p:extLst>
      <p:ext uri="{BB962C8B-B14F-4D97-AF65-F5344CB8AC3E}">
        <p14:creationId xmlns:p14="http://schemas.microsoft.com/office/powerpoint/2010/main" val="32318278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FEATURES:</a:t>
            </a:r>
          </a:p>
          <a:p>
            <a:r>
              <a:rPr lang="en-US" dirty="0"/>
              <a:t>- Hierarchical Structure: Organizes knowledge in a tree-like structure.</a:t>
            </a:r>
          </a:p>
          <a:p>
            <a:r>
              <a:rPr lang="en-US" dirty="0"/>
              <a:t>- Semantic Richness: Captures complex relationships and properties.</a:t>
            </a:r>
          </a:p>
          <a:p>
            <a:r>
              <a:rPr lang="en-US" dirty="0"/>
              <a:t>- Domain Specificity: Tailored to specific fields (e.g., medicine, engineering).</a:t>
            </a:r>
          </a:p>
          <a:p>
            <a:r>
              <a:rPr lang="en-US" dirty="0"/>
              <a:t>- Support for Reasoning: Enables inference of new knowledge from existing data.</a:t>
            </a:r>
          </a:p>
          <a:p>
            <a:endParaRPr lang="en-US" dirty="0"/>
          </a:p>
          <a:p>
            <a:endParaRPr lang="en-US" dirty="0"/>
          </a:p>
          <a:p>
            <a:endParaRPr lang="en-US" dirty="0"/>
          </a:p>
          <a:p>
            <a:r>
              <a:rPr lang="en-US" dirty="0"/>
              <a:t>Benefits:</a:t>
            </a:r>
          </a:p>
          <a:p>
            <a:r>
              <a:rPr lang="en-US" dirty="0"/>
              <a:t>- Knowledge Sharing: Ensures consistent understanding across systems.</a:t>
            </a:r>
          </a:p>
          <a:p>
            <a:r>
              <a:rPr lang="en-US" dirty="0"/>
              <a:t>- Reusability: Ontologies can be reused across different applications.</a:t>
            </a:r>
          </a:p>
          <a:p>
            <a:r>
              <a:rPr lang="en-US" dirty="0"/>
              <a:t>- Interoperability: Facilitates integration between systems with shared ontologies.</a:t>
            </a:r>
          </a:p>
          <a:p>
            <a:r>
              <a:rPr lang="en-US" dirty="0"/>
              <a:t>- Scalability: Adapts to complex and growing datasets.</a:t>
            </a:r>
          </a:p>
          <a:p>
            <a:endParaRPr lang="en-US" dirty="0"/>
          </a:p>
          <a:p>
            <a:endParaRPr lang="en-US" dirty="0"/>
          </a:p>
          <a:p>
            <a:endParaRPr lang="en-US" dirty="0"/>
          </a:p>
          <a:p>
            <a:r>
              <a:rPr lang="en-US" dirty="0"/>
              <a:t>TOOLS</a:t>
            </a:r>
          </a:p>
          <a:p>
            <a:r>
              <a:rPr lang="en-US" dirty="0"/>
              <a:t>Protégé: Open-source ontology editor.</a:t>
            </a:r>
          </a:p>
          <a:p>
            <a:r>
              <a:rPr lang="en-US" dirty="0"/>
              <a:t>- OWL (Web Ontology Language): Standard for creating ontologies.</a:t>
            </a:r>
          </a:p>
          <a:p>
            <a:r>
              <a:rPr lang="en-US" dirty="0"/>
              <a:t>- RDF (Resource Description Framework): Framework for representing information.</a:t>
            </a:r>
          </a:p>
          <a:p>
            <a:r>
              <a:rPr lang="en-US" dirty="0"/>
              <a:t>- SPARQL: Query language for ontologies.</a:t>
            </a:r>
          </a:p>
          <a:p>
            <a:endParaRPr lang="en-US" dirty="0"/>
          </a:p>
        </p:txBody>
      </p:sp>
      <p:sp>
        <p:nvSpPr>
          <p:cNvPr id="4" name="Slide Number Placeholder 3"/>
          <p:cNvSpPr>
            <a:spLocks noGrp="1"/>
          </p:cNvSpPr>
          <p:nvPr>
            <p:ph type="sldNum" sz="quarter" idx="5"/>
          </p:nvPr>
        </p:nvSpPr>
        <p:spPr/>
        <p:txBody>
          <a:bodyPr/>
          <a:lstStyle/>
          <a:p>
            <a:fld id="{DD3D89A8-76E4-44BB-A513-4A9C69A3E5A5}" type="slidenum">
              <a:rPr lang="en-US" smtClean="0"/>
              <a:t>63</a:t>
            </a:fld>
            <a:endParaRPr lang="en-US"/>
          </a:p>
        </p:txBody>
      </p:sp>
    </p:spTree>
    <p:extLst>
      <p:ext uri="{BB962C8B-B14F-4D97-AF65-F5344CB8AC3E}">
        <p14:creationId xmlns:p14="http://schemas.microsoft.com/office/powerpoint/2010/main" val="1358641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Semantic nets and ontological representations are both methods for structuring and representing knowledge, but they differ in purpose, structure, and application. Here's a detailed comparison:</a:t>
            </a:r>
          </a:p>
          <a:p>
            <a:r>
              <a:rPr lang="en-US" b="1" dirty="0" err="1"/>
              <a:t>AspectSemantic</a:t>
            </a:r>
            <a:r>
              <a:rPr lang="en-US" b="1" dirty="0"/>
              <a:t> </a:t>
            </a:r>
            <a:r>
              <a:rPr lang="en-US" b="1" dirty="0" err="1"/>
              <a:t>NetsOntological</a:t>
            </a:r>
            <a:r>
              <a:rPr lang="en-US" b="1" dirty="0"/>
              <a:t> </a:t>
            </a:r>
            <a:r>
              <a:rPr lang="en-US" b="1" dirty="0" err="1"/>
              <a:t>RepresentationDefinition</a:t>
            </a:r>
            <a:r>
              <a:rPr lang="en-US" dirty="0" err="1"/>
              <a:t>A</a:t>
            </a:r>
            <a:r>
              <a:rPr lang="en-US" dirty="0"/>
              <a:t> graph-based structure for representing knowledge as nodes (concepts) and edges (relationships).A formal representation of knowledge using concepts, relationships, and </a:t>
            </a:r>
            <a:r>
              <a:rPr lang="en-US" dirty="0" err="1"/>
              <a:t>axioms.</a:t>
            </a:r>
            <a:r>
              <a:rPr lang="en-US" b="1" dirty="0" err="1"/>
              <a:t>Structure</a:t>
            </a:r>
            <a:r>
              <a:rPr lang="en-US" dirty="0" err="1"/>
              <a:t>Simple</a:t>
            </a:r>
            <a:r>
              <a:rPr lang="en-US" dirty="0"/>
              <a:t> graph structure with nodes and labeled </a:t>
            </a:r>
            <a:r>
              <a:rPr lang="en-US" dirty="0" err="1"/>
              <a:t>edges.Rich</a:t>
            </a:r>
            <a:r>
              <a:rPr lang="en-US" dirty="0"/>
              <a:t> hierarchical structure with concepts, properties, relationships, and </a:t>
            </a:r>
            <a:r>
              <a:rPr lang="en-US" dirty="0" err="1"/>
              <a:t>constraints.</a:t>
            </a:r>
            <a:r>
              <a:rPr lang="en-US" b="1" dirty="0" err="1"/>
              <a:t>Purpose</a:t>
            </a:r>
            <a:r>
              <a:rPr lang="en-US" dirty="0" err="1"/>
              <a:t>To</a:t>
            </a:r>
            <a:r>
              <a:rPr lang="en-US" dirty="0"/>
              <a:t> visually represent relationships between concepts for easy </a:t>
            </a:r>
            <a:r>
              <a:rPr lang="en-US" dirty="0" err="1"/>
              <a:t>understanding.To</a:t>
            </a:r>
            <a:r>
              <a:rPr lang="en-US" dirty="0"/>
              <a:t> provide a formal and detailed framework for reasoning and information </a:t>
            </a:r>
            <a:r>
              <a:rPr lang="en-US" dirty="0" err="1"/>
              <a:t>sharing.</a:t>
            </a:r>
            <a:r>
              <a:rPr lang="en-US" b="1" dirty="0" err="1"/>
              <a:t>Expressiveness</a:t>
            </a:r>
            <a:r>
              <a:rPr lang="en-US" dirty="0" err="1"/>
              <a:t>Limited</a:t>
            </a:r>
            <a:r>
              <a:rPr lang="en-US" dirty="0"/>
              <a:t>; primarily used for basic relationships like "is-a" or "part-</a:t>
            </a:r>
            <a:r>
              <a:rPr lang="en-US" dirty="0" err="1"/>
              <a:t>of."High</a:t>
            </a:r>
            <a:r>
              <a:rPr lang="en-US" dirty="0"/>
              <a:t>; supports complex relationships, attributes, and logical rules (axioms).</a:t>
            </a:r>
            <a:r>
              <a:rPr lang="en-US" b="1" dirty="0" err="1"/>
              <a:t>Reasoning</a:t>
            </a:r>
            <a:r>
              <a:rPr lang="en-US" dirty="0" err="1"/>
              <a:t>Limited</a:t>
            </a:r>
            <a:r>
              <a:rPr lang="en-US" dirty="0"/>
              <a:t> reasoning capabilities; not inherently designed for logical </a:t>
            </a:r>
            <a:r>
              <a:rPr lang="en-US" dirty="0" err="1"/>
              <a:t>inference.Strong</a:t>
            </a:r>
            <a:r>
              <a:rPr lang="en-US" dirty="0"/>
              <a:t> reasoning capabilities; supports logical inference through axioms and </a:t>
            </a:r>
            <a:r>
              <a:rPr lang="en-US" dirty="0" err="1"/>
              <a:t>rules.</a:t>
            </a:r>
            <a:r>
              <a:rPr lang="en-US" b="1" dirty="0" err="1"/>
              <a:t>Formality</a:t>
            </a:r>
            <a:r>
              <a:rPr lang="en-US" dirty="0" err="1"/>
              <a:t>Informal</a:t>
            </a:r>
            <a:r>
              <a:rPr lang="en-US" dirty="0"/>
              <a:t> and intuitive; lacks a strict </a:t>
            </a:r>
            <a:r>
              <a:rPr lang="en-US" dirty="0" err="1"/>
              <a:t>standard.Formal</a:t>
            </a:r>
            <a:r>
              <a:rPr lang="en-US" dirty="0"/>
              <a:t> and based on standards like OWL (Web Ontology Language).</a:t>
            </a:r>
            <a:r>
              <a:rPr lang="en-US" b="1" dirty="0" err="1"/>
              <a:t>Complexity</a:t>
            </a:r>
            <a:r>
              <a:rPr lang="en-US" dirty="0" err="1"/>
              <a:t>Simple</a:t>
            </a:r>
            <a:r>
              <a:rPr lang="en-US" dirty="0"/>
              <a:t> to create and </a:t>
            </a:r>
            <a:r>
              <a:rPr lang="en-US" dirty="0" err="1"/>
              <a:t>understand.More</a:t>
            </a:r>
            <a:r>
              <a:rPr lang="en-US" dirty="0"/>
              <a:t> complex to create due to formal requirements and detailed </a:t>
            </a:r>
            <a:r>
              <a:rPr lang="en-US" dirty="0" err="1"/>
              <a:t>specifications.</a:t>
            </a:r>
            <a:r>
              <a:rPr lang="en-US" b="1" dirty="0" err="1"/>
              <a:t>Applications</a:t>
            </a:r>
            <a:r>
              <a:rPr lang="en-US" dirty="0" err="1"/>
              <a:t>Used</a:t>
            </a:r>
            <a:r>
              <a:rPr lang="en-US" dirty="0"/>
              <a:t> in education, basic AI systems, and simple knowledge </a:t>
            </a:r>
            <a:r>
              <a:rPr lang="en-US" dirty="0" err="1"/>
              <a:t>visualization.Used</a:t>
            </a:r>
            <a:r>
              <a:rPr lang="en-US" dirty="0"/>
              <a:t> in advanced AI systems, semantic web, natural language processing, and domain-specific knowledge </a:t>
            </a:r>
            <a:r>
              <a:rPr lang="en-US" dirty="0" err="1"/>
              <a:t>bases.</a:t>
            </a:r>
            <a:r>
              <a:rPr lang="en-US" b="1" dirty="0" err="1"/>
              <a:t>Example</a:t>
            </a:r>
            <a:r>
              <a:rPr lang="en-US" dirty="0" err="1"/>
              <a:t>A</a:t>
            </a:r>
            <a:r>
              <a:rPr lang="en-US" dirty="0"/>
              <a:t> semantic net might show: "Dog is-a Animal," "Dog has-a </a:t>
            </a:r>
            <a:r>
              <a:rPr lang="en-US" dirty="0" err="1"/>
              <a:t>Tail."An</a:t>
            </a:r>
            <a:r>
              <a:rPr lang="en-US" dirty="0"/>
              <a:t> ontology might define: "Dog is-a Mammal," with properties like "Has Tail: Boolean," "Lifespan: </a:t>
            </a:r>
            <a:r>
              <a:rPr lang="en-US" dirty="0" err="1"/>
              <a:t>Integer."</a:t>
            </a:r>
            <a:r>
              <a:rPr lang="en-US" b="1" dirty="0" err="1"/>
              <a:t>Standards</a:t>
            </a:r>
            <a:r>
              <a:rPr lang="en-US" b="1" dirty="0"/>
              <a:t> and </a:t>
            </a:r>
            <a:r>
              <a:rPr lang="en-US" b="1" dirty="0" err="1"/>
              <a:t>Tools</a:t>
            </a:r>
            <a:r>
              <a:rPr lang="en-US" dirty="0" err="1"/>
              <a:t>No</a:t>
            </a:r>
            <a:r>
              <a:rPr lang="en-US" dirty="0"/>
              <a:t> widely accepted standard; often manually created or </a:t>
            </a:r>
            <a:r>
              <a:rPr lang="en-US" dirty="0" err="1"/>
              <a:t>customized.Standards</a:t>
            </a:r>
            <a:r>
              <a:rPr lang="en-US" dirty="0"/>
              <a:t> like OWL, RDF, and tools like Protégé are widely used </a:t>
            </a:r>
            <a:r>
              <a:rPr lang="en-US" b="1" dirty="0"/>
              <a:t>Semantic Nets</a:t>
            </a:r>
            <a:r>
              <a:rPr lang="en-US" dirty="0"/>
              <a:t> are intuitive and easier to use for visualizing simple relationships.</a:t>
            </a:r>
          </a:p>
          <a:p>
            <a:pPr>
              <a:buFont typeface="Arial" panose="020B0604020202020204" pitchFamily="34" charset="0"/>
              <a:buChar char="•"/>
            </a:pPr>
            <a:r>
              <a:rPr lang="en-US" b="1" dirty="0"/>
              <a:t>Ontological Representations</a:t>
            </a:r>
            <a:r>
              <a:rPr lang="en-US" dirty="0"/>
              <a:t> are formal, detailed, and suited for complex knowledge systems requiring reasoning and interoperability.</a:t>
            </a:r>
          </a:p>
          <a:p>
            <a:endParaRPr lang="en-US" dirty="0"/>
          </a:p>
        </p:txBody>
      </p:sp>
      <p:sp>
        <p:nvSpPr>
          <p:cNvPr id="4" name="Slide Number Placeholder 3"/>
          <p:cNvSpPr>
            <a:spLocks noGrp="1"/>
          </p:cNvSpPr>
          <p:nvPr>
            <p:ph type="sldNum" sz="quarter" idx="5"/>
          </p:nvPr>
        </p:nvSpPr>
        <p:spPr/>
        <p:txBody>
          <a:bodyPr/>
          <a:lstStyle/>
          <a:p>
            <a:fld id="{DD3D89A8-76E4-44BB-A513-4A9C69A3E5A5}" type="slidenum">
              <a:rPr lang="en-US" smtClean="0"/>
              <a:t>64</a:t>
            </a:fld>
            <a:endParaRPr lang="en-US"/>
          </a:p>
        </p:txBody>
      </p:sp>
    </p:spTree>
    <p:extLst>
      <p:ext uri="{BB962C8B-B14F-4D97-AF65-F5344CB8AC3E}">
        <p14:creationId xmlns:p14="http://schemas.microsoft.com/office/powerpoint/2010/main" val="1506374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4744774-BD22-434E-9DAF-0146C64489EE}" type="datetime1">
              <a:rPr lang="en-US" smtClean="0"/>
              <a:t>1/13/2026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AB788C20-01A3-4B24-8BB3-8DE7A550E51B}" type="slidenum">
              <a:rPr lang="en-US" smtClean="0"/>
              <a:t>‹#›</a:t>
            </a:fld>
            <a:endParaRPr lang="en-US"/>
          </a:p>
        </p:txBody>
      </p:sp>
    </p:spTree>
    <p:extLst>
      <p:ext uri="{BB962C8B-B14F-4D97-AF65-F5344CB8AC3E}">
        <p14:creationId xmlns:p14="http://schemas.microsoft.com/office/powerpoint/2010/main" val="3132643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E4B046-646A-4FED-A4AA-FBC14959B235}" type="datetime1">
              <a:rPr lang="en-US" smtClean="0"/>
              <a:t>1/13/2026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AB788C20-01A3-4B24-8BB3-8DE7A550E51B}" type="slidenum">
              <a:rPr lang="en-US" smtClean="0"/>
              <a:t>‹#›</a:t>
            </a:fld>
            <a:endParaRPr lang="en-US"/>
          </a:p>
        </p:txBody>
      </p:sp>
    </p:spTree>
    <p:extLst>
      <p:ext uri="{BB962C8B-B14F-4D97-AF65-F5344CB8AC3E}">
        <p14:creationId xmlns:p14="http://schemas.microsoft.com/office/powerpoint/2010/main" val="1084735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4EAF55-BA36-42C2-95E1-87F7A493D1A0}" type="datetime1">
              <a:rPr lang="en-US" smtClean="0"/>
              <a:t>1/13/2026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AB788C20-01A3-4B24-8BB3-8DE7A550E51B}" type="slidenum">
              <a:rPr lang="en-US" smtClean="0"/>
              <a:t>‹#›</a:t>
            </a:fld>
            <a:endParaRPr lang="en-US"/>
          </a:p>
        </p:txBody>
      </p:sp>
    </p:spTree>
    <p:extLst>
      <p:ext uri="{BB962C8B-B14F-4D97-AF65-F5344CB8AC3E}">
        <p14:creationId xmlns:p14="http://schemas.microsoft.com/office/powerpoint/2010/main" val="21369752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45AB4A-04C2-4D49-8B60-E772B69269E5}" type="datetime1">
              <a:rPr lang="en-US" smtClean="0"/>
              <a:t>1/13/2026</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AB788C20-01A3-4B24-8BB3-8DE7A550E51B}" type="slidenum">
              <a:rPr lang="en-US" smtClean="0"/>
              <a:t>‹#›</a:t>
            </a:fld>
            <a:endParaRPr lang="en-US"/>
          </a:p>
        </p:txBody>
      </p:sp>
    </p:spTree>
    <p:extLst>
      <p:ext uri="{BB962C8B-B14F-4D97-AF65-F5344CB8AC3E}">
        <p14:creationId xmlns:p14="http://schemas.microsoft.com/office/powerpoint/2010/main" val="704476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E3ABF0A-3A9D-42CC-9B9C-EF85325F01FF}" type="datetime1">
              <a:rPr lang="en-US" smtClean="0"/>
              <a:t>1/13/2026</a:t>
            </a:fld>
            <a:endParaRPr lang="en-US"/>
          </a:p>
        </p:txBody>
      </p:sp>
      <p:sp>
        <p:nvSpPr>
          <p:cNvPr id="8" name="Footer Placeholder 7"/>
          <p:cNvSpPr>
            <a:spLocks noGrp="1"/>
          </p:cNvSpPr>
          <p:nvPr>
            <p:ph type="ftr" sz="quarter" idx="11"/>
          </p:nvPr>
        </p:nvSpPr>
        <p:spPr/>
        <p:txBody>
          <a:bodyPr/>
          <a:lstStyle/>
          <a:p>
            <a:r>
              <a:rPr lang="nb-NO"/>
              <a:t>kapil@nast.edu.np || kapilpant157</a:t>
            </a:r>
            <a:endParaRPr lang="en-US"/>
          </a:p>
        </p:txBody>
      </p:sp>
      <p:sp>
        <p:nvSpPr>
          <p:cNvPr id="9" name="Slide Number Placeholder 8"/>
          <p:cNvSpPr>
            <a:spLocks noGrp="1"/>
          </p:cNvSpPr>
          <p:nvPr>
            <p:ph type="sldNum" sz="quarter" idx="12"/>
          </p:nvPr>
        </p:nvSpPr>
        <p:spPr/>
        <p:txBody>
          <a:bodyPr/>
          <a:lstStyle/>
          <a:p>
            <a:fld id="{AB788C20-01A3-4B24-8BB3-8DE7A550E51B}" type="slidenum">
              <a:rPr lang="en-US" smtClean="0"/>
              <a:t>‹#›</a:t>
            </a:fld>
            <a:endParaRPr lang="en-US"/>
          </a:p>
        </p:txBody>
      </p:sp>
    </p:spTree>
    <p:extLst>
      <p:ext uri="{BB962C8B-B14F-4D97-AF65-F5344CB8AC3E}">
        <p14:creationId xmlns:p14="http://schemas.microsoft.com/office/powerpoint/2010/main" val="9381284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C9856DF-5DA7-4E13-B9E2-6E68B657571D}" type="datetime1">
              <a:rPr lang="en-US" smtClean="0"/>
              <a:t>1/13/2026</a:t>
            </a:fld>
            <a:endParaRPr lang="en-US"/>
          </a:p>
        </p:txBody>
      </p:sp>
      <p:sp>
        <p:nvSpPr>
          <p:cNvPr id="4" name="Footer Placeholder 3"/>
          <p:cNvSpPr>
            <a:spLocks noGrp="1"/>
          </p:cNvSpPr>
          <p:nvPr>
            <p:ph type="ftr" sz="quarter" idx="11"/>
          </p:nvPr>
        </p:nvSpPr>
        <p:spPr/>
        <p:txBody>
          <a:bodyPr/>
          <a:lstStyle/>
          <a:p>
            <a:r>
              <a:rPr lang="nb-NO"/>
              <a:t>kapil@nast.edu.np || kapilpant157</a:t>
            </a:r>
            <a:endParaRPr lang="en-US"/>
          </a:p>
        </p:txBody>
      </p:sp>
      <p:sp>
        <p:nvSpPr>
          <p:cNvPr id="5" name="Slide Number Placeholder 4"/>
          <p:cNvSpPr>
            <a:spLocks noGrp="1"/>
          </p:cNvSpPr>
          <p:nvPr>
            <p:ph type="sldNum" sz="quarter" idx="12"/>
          </p:nvPr>
        </p:nvSpPr>
        <p:spPr/>
        <p:txBody>
          <a:bodyPr/>
          <a:lstStyle/>
          <a:p>
            <a:fld id="{AB788C20-01A3-4B24-8BB3-8DE7A550E51B}" type="slidenum">
              <a:rPr lang="en-US" smtClean="0"/>
              <a:t>‹#›</a:t>
            </a:fld>
            <a:endParaRPr lang="en-US"/>
          </a:p>
        </p:txBody>
      </p:sp>
    </p:spTree>
    <p:extLst>
      <p:ext uri="{BB962C8B-B14F-4D97-AF65-F5344CB8AC3E}">
        <p14:creationId xmlns:p14="http://schemas.microsoft.com/office/powerpoint/2010/main" val="2417098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C6B411-00AE-41C3-98FB-E53564CC43A7}" type="datetime1">
              <a:rPr lang="en-US" smtClean="0"/>
              <a:t>1/13/2026</a:t>
            </a:fld>
            <a:endParaRPr lang="en-US"/>
          </a:p>
        </p:txBody>
      </p:sp>
      <p:sp>
        <p:nvSpPr>
          <p:cNvPr id="3" name="Footer Placeholder 2"/>
          <p:cNvSpPr>
            <a:spLocks noGrp="1"/>
          </p:cNvSpPr>
          <p:nvPr>
            <p:ph type="ftr" sz="quarter" idx="11"/>
          </p:nvPr>
        </p:nvSpPr>
        <p:spPr/>
        <p:txBody>
          <a:bodyPr/>
          <a:lstStyle/>
          <a:p>
            <a:r>
              <a:rPr lang="nb-NO"/>
              <a:t>kapil@nast.edu.np || kapilpant157</a:t>
            </a:r>
            <a:endParaRPr lang="en-US"/>
          </a:p>
        </p:txBody>
      </p:sp>
      <p:sp>
        <p:nvSpPr>
          <p:cNvPr id="4" name="Slide Number Placeholder 3"/>
          <p:cNvSpPr>
            <a:spLocks noGrp="1"/>
          </p:cNvSpPr>
          <p:nvPr>
            <p:ph type="sldNum" sz="quarter" idx="12"/>
          </p:nvPr>
        </p:nvSpPr>
        <p:spPr/>
        <p:txBody>
          <a:bodyPr/>
          <a:lstStyle/>
          <a:p>
            <a:fld id="{AB788C20-01A3-4B24-8BB3-8DE7A550E51B}" type="slidenum">
              <a:rPr lang="en-US" smtClean="0"/>
              <a:t>‹#›</a:t>
            </a:fld>
            <a:endParaRPr lang="en-US"/>
          </a:p>
        </p:txBody>
      </p:sp>
    </p:spTree>
    <p:extLst>
      <p:ext uri="{BB962C8B-B14F-4D97-AF65-F5344CB8AC3E}">
        <p14:creationId xmlns:p14="http://schemas.microsoft.com/office/powerpoint/2010/main" val="769481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7B20469-424B-4681-B22A-A9EDBD8F845C}" type="datetime1">
              <a:rPr lang="en-US" smtClean="0"/>
              <a:t>1/13/2026</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AB788C20-01A3-4B24-8BB3-8DE7A550E51B}" type="slidenum">
              <a:rPr lang="en-US" smtClean="0"/>
              <a:t>‹#›</a:t>
            </a:fld>
            <a:endParaRPr lang="en-US"/>
          </a:p>
        </p:txBody>
      </p:sp>
    </p:spTree>
    <p:extLst>
      <p:ext uri="{BB962C8B-B14F-4D97-AF65-F5344CB8AC3E}">
        <p14:creationId xmlns:p14="http://schemas.microsoft.com/office/powerpoint/2010/main" val="2844234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355DBF2-B1C9-40A4-98E4-9E5963606993}" type="datetime1">
              <a:rPr lang="en-US" smtClean="0"/>
              <a:t>1/13/2026</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AB788C20-01A3-4B24-8BB3-8DE7A550E51B}" type="slidenum">
              <a:rPr lang="en-US" smtClean="0"/>
              <a:t>‹#›</a:t>
            </a:fld>
            <a:endParaRPr lang="en-US"/>
          </a:p>
        </p:txBody>
      </p:sp>
    </p:spTree>
    <p:extLst>
      <p:ext uri="{BB962C8B-B14F-4D97-AF65-F5344CB8AC3E}">
        <p14:creationId xmlns:p14="http://schemas.microsoft.com/office/powerpoint/2010/main" val="805938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9B6730-5DA6-420E-AC08-A44C1D0506F2}" type="datetime1">
              <a:rPr lang="en-US" smtClean="0"/>
              <a:t>1/13/2026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AB788C20-01A3-4B24-8BB3-8DE7A550E51B}" type="slidenum">
              <a:rPr lang="en-US" smtClean="0"/>
              <a:t>‹#›</a:t>
            </a:fld>
            <a:endParaRPr lang="en-US"/>
          </a:p>
        </p:txBody>
      </p:sp>
    </p:spTree>
    <p:extLst>
      <p:ext uri="{BB962C8B-B14F-4D97-AF65-F5344CB8AC3E}">
        <p14:creationId xmlns:p14="http://schemas.microsoft.com/office/powerpoint/2010/main" val="890257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582929-6F87-4F8B-A871-86238B68C038}" type="datetime1">
              <a:rPr lang="en-US" smtClean="0"/>
              <a:t>1/13/2026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AB788C20-01A3-4B24-8BB3-8DE7A550E51B}"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8947783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A71F4F-2214-4CB3-A71D-ABBC87D8F962}" type="datetime1">
              <a:rPr lang="en-US" smtClean="0"/>
              <a:t>1/13/2026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AB788C20-01A3-4B24-8BB3-8DE7A550E51B}" type="slidenum">
              <a:rPr lang="en-US" smtClean="0"/>
              <a:t>‹#›</a:t>
            </a:fld>
            <a:endParaRPr lang="en-US"/>
          </a:p>
        </p:txBody>
      </p:sp>
    </p:spTree>
    <p:extLst>
      <p:ext uri="{BB962C8B-B14F-4D97-AF65-F5344CB8AC3E}">
        <p14:creationId xmlns:p14="http://schemas.microsoft.com/office/powerpoint/2010/main" val="29120217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59C881-222D-40C8-AF5F-BE89FA1C7C01}" type="datetime1">
              <a:rPr lang="en-US" smtClean="0"/>
              <a:t>1/13/2026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AB788C20-01A3-4B24-8BB3-8DE7A550E51B}"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12072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64D603-47EB-4592-A87E-9732FB0078A5}" type="datetime1">
              <a:rPr lang="en-US" smtClean="0"/>
              <a:t>1/13/2026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AB788C20-01A3-4B24-8BB3-8DE7A550E51B}" type="slidenum">
              <a:rPr lang="en-US" smtClean="0"/>
              <a:t>‹#›</a:t>
            </a:fld>
            <a:endParaRPr lang="en-US"/>
          </a:p>
        </p:txBody>
      </p:sp>
    </p:spTree>
    <p:extLst>
      <p:ext uri="{BB962C8B-B14F-4D97-AF65-F5344CB8AC3E}">
        <p14:creationId xmlns:p14="http://schemas.microsoft.com/office/powerpoint/2010/main" val="22523503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182F37-F520-4349-A7B0-774857DB7F7D}" type="datetime1">
              <a:rPr lang="en-US" smtClean="0"/>
              <a:t>1/13/2026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AB788C20-01A3-4B24-8BB3-8DE7A550E51B}" type="slidenum">
              <a:rPr lang="en-US" smtClean="0"/>
              <a:t>‹#›</a:t>
            </a:fld>
            <a:endParaRPr lang="en-US"/>
          </a:p>
        </p:txBody>
      </p:sp>
    </p:spTree>
    <p:extLst>
      <p:ext uri="{BB962C8B-B14F-4D97-AF65-F5344CB8AC3E}">
        <p14:creationId xmlns:p14="http://schemas.microsoft.com/office/powerpoint/2010/main" val="20530642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10F0A7-81B9-4A5F-AD5E-EA15A5B84C6B}" type="datetime1">
              <a:rPr lang="en-US" smtClean="0"/>
              <a:t>1/13/2026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AB788C20-01A3-4B24-8BB3-8DE7A550E51B}" type="slidenum">
              <a:rPr lang="en-US" smtClean="0"/>
              <a:t>‹#›</a:t>
            </a:fld>
            <a:endParaRPr lang="en-US"/>
          </a:p>
        </p:txBody>
      </p:sp>
    </p:spTree>
    <p:extLst>
      <p:ext uri="{BB962C8B-B14F-4D97-AF65-F5344CB8AC3E}">
        <p14:creationId xmlns:p14="http://schemas.microsoft.com/office/powerpoint/2010/main" val="1051712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80A04D1-D29F-49C7-ADF3-5F3CB2496253}" type="datetime1">
              <a:rPr lang="en-US" smtClean="0"/>
              <a:t>1/13/2026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nb-NO"/>
              <a:t>kapil@nast.edu.np || kapilpant157</a:t>
            </a:r>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B788C20-01A3-4B24-8BB3-8DE7A550E51B}" type="slidenum">
              <a:rPr lang="en-US" smtClean="0"/>
              <a:t>‹#›</a:t>
            </a:fld>
            <a:endParaRPr lang="en-US"/>
          </a:p>
        </p:txBody>
      </p:sp>
    </p:spTree>
    <p:extLst>
      <p:ext uri="{BB962C8B-B14F-4D97-AF65-F5344CB8AC3E}">
        <p14:creationId xmlns:p14="http://schemas.microsoft.com/office/powerpoint/2010/main" val="27641464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sldNum="0"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87C62-9758-6476-096A-25B281D8B67E}"/>
              </a:ext>
            </a:extLst>
          </p:cNvPr>
          <p:cNvSpPr>
            <a:spLocks noGrp="1"/>
          </p:cNvSpPr>
          <p:nvPr>
            <p:ph type="ctrTitle"/>
          </p:nvPr>
        </p:nvSpPr>
        <p:spPr/>
        <p:txBody>
          <a:bodyPr/>
          <a:lstStyle/>
          <a:p>
            <a:r>
              <a:rPr lang="en-US" sz="4800" b="1" u="none" strike="noStrike" dirty="0">
                <a:effectLst/>
                <a:latin typeface="Times New Roman" panose="02020603050405020304" pitchFamily="18" charset="0"/>
                <a:ea typeface="Times New Roman" panose="02020603050405020304" pitchFamily="18" charset="0"/>
              </a:rPr>
              <a:t>Knowledge Representation and Reasoning</a:t>
            </a:r>
            <a:endParaRPr lang="en-US" sz="13800" dirty="0"/>
          </a:p>
        </p:txBody>
      </p:sp>
      <p:sp>
        <p:nvSpPr>
          <p:cNvPr id="3" name="Subtitle 2">
            <a:extLst>
              <a:ext uri="{FF2B5EF4-FFF2-40B4-BE49-F238E27FC236}">
                <a16:creationId xmlns:a16="http://schemas.microsoft.com/office/drawing/2014/main" id="{A1292976-D28B-E7CD-F99E-E94EEF71E16E}"/>
              </a:ext>
            </a:extLst>
          </p:cNvPr>
          <p:cNvSpPr>
            <a:spLocks noGrp="1"/>
          </p:cNvSpPr>
          <p:nvPr>
            <p:ph type="subTitle" idx="1"/>
          </p:nvPr>
        </p:nvSpPr>
        <p:spPr/>
        <p:txBody>
          <a:bodyPr/>
          <a:lstStyle/>
          <a:p>
            <a:r>
              <a:rPr lang="en-US" dirty="0"/>
              <a:t>Kapil Dev Pant</a:t>
            </a:r>
          </a:p>
        </p:txBody>
      </p:sp>
      <p:sp>
        <p:nvSpPr>
          <p:cNvPr id="4" name="Footer Placeholder 3">
            <a:extLst>
              <a:ext uri="{FF2B5EF4-FFF2-40B4-BE49-F238E27FC236}">
                <a16:creationId xmlns:a16="http://schemas.microsoft.com/office/drawing/2014/main" id="{0176D561-C3DA-9FF1-4B58-6B57B3393214}"/>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684057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03AE127-802C-459A-A612-DB85B67F0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EAB7B1-A350-0518-65CB-7446F8E6CFC6}"/>
              </a:ext>
            </a:extLst>
          </p:cNvPr>
          <p:cNvSpPr>
            <a:spLocks noGrp="1"/>
          </p:cNvSpPr>
          <p:nvPr>
            <p:ph type="title"/>
          </p:nvPr>
        </p:nvSpPr>
        <p:spPr>
          <a:xfrm>
            <a:off x="1043950" y="1179151"/>
            <a:ext cx="3300646" cy="4463889"/>
          </a:xfrm>
        </p:spPr>
        <p:txBody>
          <a:bodyPr anchor="ctr">
            <a:normAutofit/>
          </a:bodyPr>
          <a:lstStyle/>
          <a:p>
            <a:r>
              <a:rPr lang="en-US" dirty="0"/>
              <a:t>Content</a:t>
            </a:r>
          </a:p>
        </p:txBody>
      </p:sp>
      <p:sp>
        <p:nvSpPr>
          <p:cNvPr id="10" name="Isosceles Triangle 9">
            <a:extLst>
              <a:ext uri="{FF2B5EF4-FFF2-40B4-BE49-F238E27FC236}">
                <a16:creationId xmlns:a16="http://schemas.microsoft.com/office/drawing/2014/main" id="{9323D83D-50D6-4040-A58B-FCEA340F8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2" name="Straight Connector 11">
            <a:extLst>
              <a:ext uri="{FF2B5EF4-FFF2-40B4-BE49-F238E27FC236}">
                <a16:creationId xmlns:a16="http://schemas.microsoft.com/office/drawing/2014/main" id="{1A1FE6BB-DFB2-4080-9B5E-076EF5DDE6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6670" y="1442595"/>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15A8CD5-8697-F113-C4B4-BC34226F30AE}"/>
              </a:ext>
            </a:extLst>
          </p:cNvPr>
          <p:cNvSpPr>
            <a:spLocks noGrp="1"/>
          </p:cNvSpPr>
          <p:nvPr>
            <p:ph idx="1"/>
          </p:nvPr>
        </p:nvSpPr>
        <p:spPr>
          <a:xfrm>
            <a:off x="4968745" y="0"/>
            <a:ext cx="6395382" cy="6857999"/>
          </a:xfrm>
        </p:spPr>
        <p:txBody>
          <a:bodyPr anchor="ctr">
            <a:normAutofit/>
          </a:bodyPr>
          <a:lstStyle/>
          <a:p>
            <a:pPr marL="742950" marR="0" lvl="1" indent="-285750" fontAlgn="base">
              <a:lnSpc>
                <a:spcPct val="90000"/>
              </a:lnSpc>
              <a:buFont typeface="+mj-lt"/>
              <a:buAutoNum type="arabicPeriod"/>
            </a:pPr>
            <a:r>
              <a:rPr lang="en-US" sz="1400" b="1" u="none" strike="noStrike" dirty="0">
                <a:effectLst/>
                <a:latin typeface="Times New Roman" panose="02020603050405020304" pitchFamily="18" charset="0"/>
                <a:ea typeface="Times New Roman" panose="02020603050405020304" pitchFamily="18" charset="0"/>
              </a:rPr>
              <a:t>Propositional Logic</a:t>
            </a:r>
          </a:p>
          <a:p>
            <a:pPr marL="1143000" marR="0" lvl="2" indent="-228600" fontAlgn="base">
              <a:lnSpc>
                <a:spcPct val="90000"/>
              </a:lnSpc>
              <a:buFont typeface="+mj-lt"/>
              <a:buAutoNum type="arabicPeriod"/>
            </a:pPr>
            <a:r>
              <a:rPr lang="en-US" b="1" u="none" strike="noStrike" dirty="0">
                <a:effectLst/>
                <a:latin typeface="Times New Roman" panose="02020603050405020304" pitchFamily="18" charset="0"/>
                <a:ea typeface="Times New Roman" panose="02020603050405020304" pitchFamily="18" charset="0"/>
              </a:rPr>
              <a:t>Syntax</a:t>
            </a:r>
          </a:p>
          <a:p>
            <a:pPr marL="1143000" marR="0" lvl="2" indent="-228600" fontAlgn="base">
              <a:lnSpc>
                <a:spcPct val="90000"/>
              </a:lnSpc>
              <a:buFont typeface="+mj-lt"/>
              <a:buAutoNum type="arabicPeriod"/>
            </a:pPr>
            <a:r>
              <a:rPr lang="en-US" b="1" u="none" strike="noStrike" dirty="0">
                <a:effectLst/>
                <a:latin typeface="Times New Roman" panose="02020603050405020304" pitchFamily="18" charset="0"/>
                <a:ea typeface="Times New Roman" panose="02020603050405020304" pitchFamily="18" charset="0"/>
              </a:rPr>
              <a:t>Semantics</a:t>
            </a:r>
          </a:p>
          <a:p>
            <a:pPr marL="1143000" marR="0" lvl="2" indent="-228600" fontAlgn="base">
              <a:lnSpc>
                <a:spcPct val="90000"/>
              </a:lnSpc>
              <a:buFont typeface="+mj-lt"/>
              <a:buAutoNum type="arabicPeriod"/>
            </a:pPr>
            <a:r>
              <a:rPr lang="en-US" b="1" u="none" strike="noStrike" dirty="0">
                <a:effectLst/>
                <a:latin typeface="Times New Roman" panose="02020603050405020304" pitchFamily="18" charset="0"/>
                <a:ea typeface="Times New Roman" panose="02020603050405020304" pitchFamily="18" charset="0"/>
              </a:rPr>
              <a:t>Inference in Propositional Logic</a:t>
            </a:r>
          </a:p>
          <a:p>
            <a:pPr marL="1143000" marR="0" lvl="2" indent="-228600" fontAlgn="base">
              <a:lnSpc>
                <a:spcPct val="90000"/>
              </a:lnSpc>
              <a:buFont typeface="+mj-lt"/>
              <a:buAutoNum type="arabicPeriod"/>
            </a:pPr>
            <a:r>
              <a:rPr lang="en-US" b="1" u="none" strike="noStrike" dirty="0">
                <a:effectLst/>
                <a:latin typeface="Times New Roman" panose="02020603050405020304" pitchFamily="18" charset="0"/>
                <a:ea typeface="Times New Roman" panose="02020603050405020304" pitchFamily="18" charset="0"/>
              </a:rPr>
              <a:t>Conjunctive Normal Form (CNF)</a:t>
            </a:r>
          </a:p>
          <a:p>
            <a:pPr marL="1143000" marR="0" lvl="2" indent="-228600" fontAlgn="base">
              <a:lnSpc>
                <a:spcPct val="90000"/>
              </a:lnSpc>
              <a:buFont typeface="+mj-lt"/>
              <a:buAutoNum type="arabicPeriod"/>
            </a:pPr>
            <a:r>
              <a:rPr lang="en-US" b="1" u="none" strike="noStrike" dirty="0">
                <a:effectLst/>
                <a:latin typeface="Times New Roman" panose="02020603050405020304" pitchFamily="18" charset="0"/>
                <a:ea typeface="Times New Roman" panose="02020603050405020304" pitchFamily="18" charset="0"/>
              </a:rPr>
              <a:t>Resolution Theorem Proving</a:t>
            </a:r>
          </a:p>
          <a:p>
            <a:pPr marL="1143000" marR="0" lvl="2" indent="-228600" fontAlgn="base">
              <a:lnSpc>
                <a:spcPct val="90000"/>
              </a:lnSpc>
              <a:buFont typeface="+mj-lt"/>
              <a:buAutoNum type="arabicPeriod"/>
            </a:pPr>
            <a:r>
              <a:rPr lang="en-US" b="1" u="none" strike="noStrike" dirty="0">
                <a:effectLst/>
                <a:latin typeface="Times New Roman" panose="02020603050405020304" pitchFamily="18" charset="0"/>
                <a:ea typeface="Times New Roman" panose="02020603050405020304" pitchFamily="18" charset="0"/>
              </a:rPr>
              <a:t>Limitations of Propositional Logic</a:t>
            </a:r>
          </a:p>
          <a:p>
            <a:pPr marL="742950" marR="0" lvl="1" indent="-285750" fontAlgn="base">
              <a:lnSpc>
                <a:spcPct val="90000"/>
              </a:lnSpc>
              <a:buFont typeface="+mj-lt"/>
              <a:buAutoNum type="arabicPeriod"/>
            </a:pPr>
            <a:r>
              <a:rPr lang="en-US" sz="1400" b="1" u="none" strike="noStrike" dirty="0">
                <a:effectLst/>
                <a:latin typeface="Times New Roman" panose="02020603050405020304" pitchFamily="18" charset="0"/>
                <a:ea typeface="Times New Roman" panose="02020603050405020304" pitchFamily="18" charset="0"/>
              </a:rPr>
              <a:t>Predicate Logic</a:t>
            </a:r>
          </a:p>
          <a:p>
            <a:pPr marL="1143000" marR="0" lvl="2" indent="-228600" fontAlgn="base">
              <a:lnSpc>
                <a:spcPct val="90000"/>
              </a:lnSpc>
              <a:buFont typeface="+mj-lt"/>
              <a:buAutoNum type="arabicPeriod"/>
            </a:pPr>
            <a:r>
              <a:rPr lang="en-US" b="1" u="none" strike="noStrike" dirty="0">
                <a:effectLst/>
                <a:latin typeface="Times New Roman" panose="02020603050405020304" pitchFamily="18" charset="0"/>
                <a:ea typeface="Times New Roman" panose="02020603050405020304" pitchFamily="18" charset="0"/>
              </a:rPr>
              <a:t>Syntax</a:t>
            </a:r>
          </a:p>
          <a:p>
            <a:pPr marL="1143000" marR="0" lvl="2" indent="-228600" fontAlgn="base">
              <a:lnSpc>
                <a:spcPct val="90000"/>
              </a:lnSpc>
              <a:buFont typeface="+mj-lt"/>
              <a:buAutoNum type="arabicPeriod"/>
            </a:pPr>
            <a:r>
              <a:rPr lang="en-US" b="1" u="none" strike="noStrike" dirty="0">
                <a:effectLst/>
                <a:latin typeface="Times New Roman" panose="02020603050405020304" pitchFamily="18" charset="0"/>
                <a:ea typeface="Times New Roman" panose="02020603050405020304" pitchFamily="18" charset="0"/>
              </a:rPr>
              <a:t>Semantics</a:t>
            </a:r>
          </a:p>
          <a:p>
            <a:pPr marL="1143000" marR="0" lvl="2" indent="-228600" fontAlgn="base">
              <a:lnSpc>
                <a:spcPct val="90000"/>
              </a:lnSpc>
              <a:buFont typeface="+mj-lt"/>
              <a:buAutoNum type="arabicPeriod"/>
            </a:pPr>
            <a:r>
              <a:rPr lang="en-US" b="1" u="none" strike="noStrike" dirty="0">
                <a:effectLst/>
                <a:latin typeface="Times New Roman" panose="02020603050405020304" pitchFamily="18" charset="0"/>
                <a:ea typeface="Times New Roman" panose="02020603050405020304" pitchFamily="18" charset="0"/>
              </a:rPr>
              <a:t>Inference in Predicate Logic</a:t>
            </a:r>
          </a:p>
          <a:p>
            <a:pPr marL="1143000" marR="0" lvl="2" indent="-228600" fontAlgn="base">
              <a:lnSpc>
                <a:spcPct val="90000"/>
              </a:lnSpc>
              <a:buFont typeface="+mj-lt"/>
              <a:buAutoNum type="arabicPeriod"/>
            </a:pPr>
            <a:r>
              <a:rPr lang="en-US" b="1" u="none" strike="noStrike" dirty="0">
                <a:effectLst/>
                <a:latin typeface="Times New Roman" panose="02020603050405020304" pitchFamily="18" charset="0"/>
                <a:ea typeface="Times New Roman" panose="02020603050405020304" pitchFamily="18" charset="0"/>
              </a:rPr>
              <a:t>Resolution in Predicate Logic</a:t>
            </a:r>
          </a:p>
          <a:p>
            <a:pPr marL="742950" marR="0" lvl="1" indent="-285750" fontAlgn="base">
              <a:lnSpc>
                <a:spcPct val="90000"/>
              </a:lnSpc>
              <a:buFont typeface="+mj-lt"/>
              <a:buAutoNum type="arabicPeriod"/>
            </a:pPr>
            <a:r>
              <a:rPr lang="en-US" sz="1400" b="1" u="none" strike="noStrike" dirty="0">
                <a:effectLst/>
                <a:latin typeface="Times New Roman" panose="02020603050405020304" pitchFamily="18" charset="0"/>
                <a:ea typeface="Times New Roman" panose="02020603050405020304" pitchFamily="18" charset="0"/>
              </a:rPr>
              <a:t>Reasoning Under Uncertainty </a:t>
            </a:r>
          </a:p>
          <a:p>
            <a:pPr marL="1143000" marR="0" lvl="2" indent="-228600" fontAlgn="base">
              <a:lnSpc>
                <a:spcPct val="90000"/>
              </a:lnSpc>
              <a:buFont typeface="+mj-lt"/>
              <a:buAutoNum type="arabicPeriod"/>
            </a:pPr>
            <a:r>
              <a:rPr lang="en-US" b="1" u="none" strike="noStrike" dirty="0">
                <a:effectLst/>
                <a:latin typeface="Times New Roman" panose="02020603050405020304" pitchFamily="18" charset="0"/>
                <a:ea typeface="Times New Roman" panose="02020603050405020304" pitchFamily="18" charset="0"/>
              </a:rPr>
              <a:t>Probabilistic Reasoning</a:t>
            </a:r>
          </a:p>
          <a:p>
            <a:pPr marL="1600200" marR="0" lvl="3" indent="-228600" fontAlgn="base">
              <a:lnSpc>
                <a:spcPct val="90000"/>
              </a:lnSpc>
              <a:buFont typeface="+mj-lt"/>
              <a:buAutoNum type="arabicPeriod"/>
            </a:pPr>
            <a:r>
              <a:rPr lang="en-US" sz="1400" b="1" u="none" strike="noStrike" dirty="0">
                <a:effectLst/>
                <a:latin typeface="Times New Roman" panose="02020603050405020304" pitchFamily="18" charset="0"/>
                <a:ea typeface="Times New Roman" panose="02020603050405020304" pitchFamily="18" charset="0"/>
              </a:rPr>
              <a:t>Bayesian Networks </a:t>
            </a:r>
          </a:p>
          <a:p>
            <a:pPr marL="1143000" marR="0" lvl="2" indent="-228600" fontAlgn="base">
              <a:lnSpc>
                <a:spcPct val="90000"/>
              </a:lnSpc>
              <a:buFont typeface="+mj-lt"/>
              <a:buAutoNum type="arabicPeriod"/>
            </a:pPr>
            <a:r>
              <a:rPr lang="en-US" b="1" u="none" strike="noStrike" dirty="0">
                <a:effectLst/>
                <a:latin typeface="Times New Roman" panose="02020603050405020304" pitchFamily="18" charset="0"/>
                <a:ea typeface="Times New Roman" panose="02020603050405020304" pitchFamily="18" charset="0"/>
              </a:rPr>
              <a:t>Probabilistic reasoning over time</a:t>
            </a:r>
          </a:p>
          <a:p>
            <a:pPr marL="1600200" marR="0" lvl="3" indent="-228600" fontAlgn="base">
              <a:lnSpc>
                <a:spcPct val="90000"/>
              </a:lnSpc>
              <a:buFont typeface="+mj-lt"/>
              <a:buAutoNum type="arabicPeriod"/>
            </a:pPr>
            <a:r>
              <a:rPr lang="en-US" sz="1400" b="1" u="none" strike="noStrike" dirty="0">
                <a:effectLst/>
                <a:latin typeface="Times New Roman" panose="02020603050405020304" pitchFamily="18" charset="0"/>
                <a:ea typeface="Times New Roman" panose="02020603050405020304" pitchFamily="18" charset="0"/>
              </a:rPr>
              <a:t>Hidden Markov Models </a:t>
            </a:r>
          </a:p>
          <a:p>
            <a:pPr marL="742950" marR="0" lvl="1" indent="-285750" fontAlgn="base">
              <a:lnSpc>
                <a:spcPct val="90000"/>
              </a:lnSpc>
              <a:buFont typeface="+mj-lt"/>
              <a:buAutoNum type="arabicPeriod"/>
            </a:pPr>
            <a:r>
              <a:rPr lang="en-US" sz="1400" b="1" u="none" strike="noStrike" dirty="0">
                <a:effectLst/>
                <a:latin typeface="Times New Roman" panose="02020603050405020304" pitchFamily="18" charset="0"/>
                <a:ea typeface="Times New Roman" panose="02020603050405020304" pitchFamily="18" charset="0"/>
              </a:rPr>
              <a:t>Other Approaches to Knowledge Representation</a:t>
            </a:r>
          </a:p>
          <a:p>
            <a:pPr marL="1143000" marR="0" lvl="2" indent="-228600" fontAlgn="base">
              <a:lnSpc>
                <a:spcPct val="90000"/>
              </a:lnSpc>
              <a:buFont typeface="+mj-lt"/>
              <a:buAutoNum type="arabicPeriod"/>
            </a:pPr>
            <a:r>
              <a:rPr lang="en-US" b="1" u="none" strike="noStrike" dirty="0">
                <a:effectLst/>
                <a:latin typeface="Times New Roman" panose="02020603050405020304" pitchFamily="18" charset="0"/>
                <a:ea typeface="Times New Roman" panose="02020603050405020304" pitchFamily="18" charset="0"/>
              </a:rPr>
              <a:t>Semantic Nets and Frames</a:t>
            </a:r>
          </a:p>
          <a:p>
            <a:pPr marL="1143000" marR="0" lvl="2" indent="-228600" fontAlgn="base">
              <a:lnSpc>
                <a:spcPct val="90000"/>
              </a:lnSpc>
              <a:buFont typeface="+mj-lt"/>
              <a:buAutoNum type="arabicPeriod"/>
            </a:pPr>
            <a:r>
              <a:rPr lang="en-US" b="1" u="none" strike="noStrike" dirty="0">
                <a:effectLst/>
                <a:latin typeface="Times New Roman" panose="02020603050405020304" pitchFamily="18" charset="0"/>
                <a:ea typeface="Times New Roman" panose="02020603050405020304" pitchFamily="18" charset="0"/>
              </a:rPr>
              <a:t>Rule-based Representation</a:t>
            </a:r>
          </a:p>
          <a:p>
            <a:pPr marL="1143000" marR="0" lvl="2" indent="-228600" fontAlgn="base">
              <a:lnSpc>
                <a:spcPct val="90000"/>
              </a:lnSpc>
              <a:buFont typeface="+mj-lt"/>
              <a:buAutoNum type="arabicPeriod"/>
            </a:pPr>
            <a:r>
              <a:rPr lang="en-US" sz="1400" b="1" dirty="0">
                <a:effectLst/>
                <a:latin typeface="Times New Roman" panose="02020603050405020304" pitchFamily="18" charset="0"/>
                <a:ea typeface="Times New Roman" panose="02020603050405020304" pitchFamily="18" charset="0"/>
              </a:rPr>
              <a:t>Ontological-Based Representation</a:t>
            </a:r>
            <a:endParaRPr lang="en-US" sz="1400" b="1" dirty="0"/>
          </a:p>
        </p:txBody>
      </p:sp>
      <p:sp>
        <p:nvSpPr>
          <p:cNvPr id="14" name="Isosceles Triangle 13">
            <a:extLst>
              <a:ext uri="{FF2B5EF4-FFF2-40B4-BE49-F238E27FC236}">
                <a16:creationId xmlns:a16="http://schemas.microsoft.com/office/drawing/2014/main" id="{F10FD715-4DCE-4779-B634-EC78315EA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1364139" y="0"/>
            <a:ext cx="842596" cy="4616289"/>
          </a:xfrm>
          <a:prstGeom prst="triangle">
            <a:avLst>
              <a:gd name="adj" fmla="val 10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Footer Placeholder 3">
            <a:extLst>
              <a:ext uri="{FF2B5EF4-FFF2-40B4-BE49-F238E27FC236}">
                <a16:creationId xmlns:a16="http://schemas.microsoft.com/office/drawing/2014/main" id="{0363ADAE-CBD2-23A3-DEF1-965939943E62}"/>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814535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2885A-73A5-47A6-A230-BDF48448D25F}"/>
              </a:ext>
            </a:extLst>
          </p:cNvPr>
          <p:cNvSpPr>
            <a:spLocks noGrp="1"/>
          </p:cNvSpPr>
          <p:nvPr>
            <p:ph type="title"/>
          </p:nvPr>
        </p:nvSpPr>
        <p:spPr>
          <a:xfrm>
            <a:off x="677334" y="609600"/>
            <a:ext cx="8862906" cy="1320800"/>
          </a:xfrm>
        </p:spPr>
        <p:txBody>
          <a:bodyPr/>
          <a:lstStyle/>
          <a:p>
            <a:r>
              <a:rPr lang="en-US" dirty="0"/>
              <a:t>Approaches to Knowledge Representation</a:t>
            </a:r>
          </a:p>
        </p:txBody>
      </p:sp>
      <p:sp>
        <p:nvSpPr>
          <p:cNvPr id="3" name="Content Placeholder 2">
            <a:extLst>
              <a:ext uri="{FF2B5EF4-FFF2-40B4-BE49-F238E27FC236}">
                <a16:creationId xmlns:a16="http://schemas.microsoft.com/office/drawing/2014/main" id="{21366F74-D4AB-5CEB-3781-25071F254AE2}"/>
              </a:ext>
            </a:extLst>
          </p:cNvPr>
          <p:cNvSpPr>
            <a:spLocks noGrp="1"/>
          </p:cNvSpPr>
          <p:nvPr>
            <p:ph idx="1"/>
          </p:nvPr>
        </p:nvSpPr>
        <p:spPr/>
        <p:txBody>
          <a:bodyPr>
            <a:normAutofit fontScale="85000" lnSpcReduction="20000"/>
          </a:bodyPr>
          <a:lstStyle/>
          <a:p>
            <a:pPr marL="0" indent="0">
              <a:buNone/>
            </a:pPr>
            <a:r>
              <a:rPr lang="en-US" dirty="0"/>
              <a:t>1. Simple relational Knowledge</a:t>
            </a:r>
          </a:p>
          <a:p>
            <a:pPr marL="0" indent="0">
              <a:buNone/>
            </a:pPr>
            <a:r>
              <a:rPr lang="en-US" dirty="0"/>
              <a:t>Represents knowledge using relations among objects. The data is typically structured in </a:t>
            </a:r>
            <a:r>
              <a:rPr lang="en-US" b="1" dirty="0"/>
              <a:t>tables</a:t>
            </a:r>
            <a:r>
              <a:rPr lang="en-US" dirty="0"/>
              <a:t> or </a:t>
            </a:r>
            <a:r>
              <a:rPr lang="en-US" b="1" dirty="0"/>
              <a:t>tuples</a:t>
            </a:r>
            <a:r>
              <a:rPr lang="en-US" dirty="0"/>
              <a:t> (like in a relational database).</a:t>
            </a:r>
          </a:p>
          <a:p>
            <a:pPr marL="0" indent="0">
              <a:buNone/>
            </a:pPr>
            <a:r>
              <a:rPr lang="en-US" dirty="0"/>
              <a:t>Consists of objects and their properties or relationships in tabular format.</a:t>
            </a:r>
          </a:p>
          <a:p>
            <a:pPr marL="0" indent="0">
              <a:buNone/>
            </a:pPr>
            <a:r>
              <a:rPr lang="en-US" dirty="0"/>
              <a:t>		</a:t>
            </a:r>
            <a:r>
              <a:rPr lang="en-US" dirty="0" err="1"/>
              <a:t>Eg.</a:t>
            </a:r>
            <a:r>
              <a:rPr lang="en-US" dirty="0"/>
              <a:t> </a:t>
            </a:r>
          </a:p>
          <a:p>
            <a:pPr marL="0" indent="0">
              <a:buNone/>
            </a:pPr>
            <a:endParaRPr lang="en-US" dirty="0"/>
          </a:p>
          <a:p>
            <a:pPr marL="0" indent="0">
              <a:buNone/>
            </a:pPr>
            <a:endParaRPr lang="en-US" b="1" dirty="0"/>
          </a:p>
          <a:p>
            <a:pPr marL="0" indent="0">
              <a:buNone/>
            </a:pPr>
            <a:r>
              <a:rPr lang="en-US" b="1" dirty="0"/>
              <a:t>Advantages</a:t>
            </a:r>
            <a:r>
              <a:rPr lang="en-US" dirty="0"/>
              <a:t>:</a:t>
            </a:r>
          </a:p>
          <a:p>
            <a:r>
              <a:rPr lang="en-US" dirty="0"/>
              <a:t>Easy to store and query</a:t>
            </a:r>
          </a:p>
          <a:p>
            <a:r>
              <a:rPr lang="en-US" dirty="0"/>
              <a:t>Suitable for factual knowledge</a:t>
            </a:r>
          </a:p>
          <a:p>
            <a:pPr marL="0" indent="0">
              <a:buNone/>
            </a:pPr>
            <a:r>
              <a:rPr lang="en-US" b="1" dirty="0"/>
              <a:t>Limitations</a:t>
            </a:r>
            <a:r>
              <a:rPr lang="en-US" dirty="0"/>
              <a:t>:</a:t>
            </a:r>
          </a:p>
          <a:p>
            <a:r>
              <a:rPr lang="en-US" dirty="0"/>
              <a:t>Lacks inference capability</a:t>
            </a:r>
          </a:p>
          <a:p>
            <a:r>
              <a:rPr lang="en-US" dirty="0"/>
              <a:t>Can't express hierarchical or procedural relationships</a:t>
            </a:r>
          </a:p>
          <a:p>
            <a:pPr marL="0" indent="0">
              <a:buNone/>
            </a:pPr>
            <a:endParaRPr lang="en-US" dirty="0"/>
          </a:p>
        </p:txBody>
      </p:sp>
      <p:graphicFrame>
        <p:nvGraphicFramePr>
          <p:cNvPr id="4" name="Table 3">
            <a:extLst>
              <a:ext uri="{FF2B5EF4-FFF2-40B4-BE49-F238E27FC236}">
                <a16:creationId xmlns:a16="http://schemas.microsoft.com/office/drawing/2014/main" id="{6B5ED615-C90F-5E2A-6A72-7F9DB44D7993}"/>
              </a:ext>
            </a:extLst>
          </p:cNvPr>
          <p:cNvGraphicFramePr>
            <a:graphicFrameLocks noGrp="1"/>
          </p:cNvGraphicFramePr>
          <p:nvPr>
            <p:extLst>
              <p:ext uri="{D42A27DB-BD31-4B8C-83A1-F6EECF244321}">
                <p14:modId xmlns:p14="http://schemas.microsoft.com/office/powerpoint/2010/main" val="3591519506"/>
              </p:ext>
            </p:extLst>
          </p:nvPr>
        </p:nvGraphicFramePr>
        <p:xfrm>
          <a:off x="2171383" y="3291840"/>
          <a:ext cx="3467418" cy="1097280"/>
        </p:xfrm>
        <a:graphic>
          <a:graphicData uri="http://schemas.openxmlformats.org/drawingml/2006/table">
            <a:tbl>
              <a:tblPr/>
              <a:tblGrid>
                <a:gridCol w="1155806">
                  <a:extLst>
                    <a:ext uri="{9D8B030D-6E8A-4147-A177-3AD203B41FA5}">
                      <a16:colId xmlns:a16="http://schemas.microsoft.com/office/drawing/2014/main" val="2598950821"/>
                    </a:ext>
                  </a:extLst>
                </a:gridCol>
                <a:gridCol w="1155806">
                  <a:extLst>
                    <a:ext uri="{9D8B030D-6E8A-4147-A177-3AD203B41FA5}">
                      <a16:colId xmlns:a16="http://schemas.microsoft.com/office/drawing/2014/main" val="3990138132"/>
                    </a:ext>
                  </a:extLst>
                </a:gridCol>
                <a:gridCol w="1155806">
                  <a:extLst>
                    <a:ext uri="{9D8B030D-6E8A-4147-A177-3AD203B41FA5}">
                      <a16:colId xmlns:a16="http://schemas.microsoft.com/office/drawing/2014/main" val="723310356"/>
                    </a:ext>
                  </a:extLst>
                </a:gridCol>
              </a:tblGrid>
              <a:tr h="309880">
                <a:tc>
                  <a:txBody>
                    <a:bodyPr/>
                    <a:lstStyle/>
                    <a:p>
                      <a:r>
                        <a:rPr lang="en-US" dirty="0"/>
                        <a:t>Student</a:t>
                      </a:r>
                    </a:p>
                  </a:txBody>
                  <a:tcPr anchor="ctr">
                    <a:lnL>
                      <a:noFill/>
                    </a:lnL>
                    <a:lnR>
                      <a:noFill/>
                    </a:lnR>
                    <a:lnT>
                      <a:noFill/>
                    </a:lnT>
                    <a:lnB>
                      <a:noFill/>
                    </a:lnB>
                    <a:noFill/>
                  </a:tcPr>
                </a:tc>
                <a:tc>
                  <a:txBody>
                    <a:bodyPr/>
                    <a:lstStyle/>
                    <a:p>
                      <a:r>
                        <a:rPr lang="en-US"/>
                        <a:t>Course</a:t>
                      </a:r>
                    </a:p>
                  </a:txBody>
                  <a:tcPr anchor="ctr">
                    <a:lnL>
                      <a:noFill/>
                    </a:lnL>
                    <a:lnR>
                      <a:noFill/>
                    </a:lnR>
                    <a:lnT>
                      <a:noFill/>
                    </a:lnT>
                    <a:lnB>
                      <a:noFill/>
                    </a:lnB>
                    <a:noFill/>
                  </a:tcPr>
                </a:tc>
                <a:tc>
                  <a:txBody>
                    <a:bodyPr/>
                    <a:lstStyle/>
                    <a:p>
                      <a:r>
                        <a:rPr lang="en-US"/>
                        <a:t>Grade</a:t>
                      </a:r>
                    </a:p>
                  </a:txBody>
                  <a:tcPr anchor="ctr">
                    <a:lnL>
                      <a:noFill/>
                    </a:lnL>
                    <a:lnR>
                      <a:noFill/>
                    </a:lnR>
                    <a:lnT>
                      <a:noFill/>
                    </a:lnT>
                    <a:lnB>
                      <a:noFill/>
                    </a:lnB>
                    <a:noFill/>
                  </a:tcPr>
                </a:tc>
                <a:extLst>
                  <a:ext uri="{0D108BD9-81ED-4DB2-BD59-A6C34878D82A}">
                    <a16:rowId xmlns:a16="http://schemas.microsoft.com/office/drawing/2014/main" val="4212352936"/>
                  </a:ext>
                </a:extLst>
              </a:tr>
              <a:tr h="309880">
                <a:tc>
                  <a:txBody>
                    <a:bodyPr/>
                    <a:lstStyle/>
                    <a:p>
                      <a:r>
                        <a:rPr lang="en-US"/>
                        <a:t>John</a:t>
                      </a:r>
                    </a:p>
                  </a:txBody>
                  <a:tcPr anchor="ctr">
                    <a:lnL>
                      <a:noFill/>
                    </a:lnL>
                    <a:lnR>
                      <a:noFill/>
                    </a:lnR>
                    <a:lnT>
                      <a:noFill/>
                    </a:lnT>
                    <a:lnB>
                      <a:noFill/>
                    </a:lnB>
                    <a:noFill/>
                  </a:tcPr>
                </a:tc>
                <a:tc>
                  <a:txBody>
                    <a:bodyPr/>
                    <a:lstStyle/>
                    <a:p>
                      <a:r>
                        <a:rPr lang="en-US"/>
                        <a:t>AI</a:t>
                      </a:r>
                    </a:p>
                  </a:txBody>
                  <a:tcPr anchor="ctr">
                    <a:lnL>
                      <a:noFill/>
                    </a:lnL>
                    <a:lnR>
                      <a:noFill/>
                    </a:lnR>
                    <a:lnT>
                      <a:noFill/>
                    </a:lnT>
                    <a:lnB>
                      <a:noFill/>
                    </a:lnB>
                    <a:noFill/>
                  </a:tcPr>
                </a:tc>
                <a:tc>
                  <a:txBody>
                    <a:bodyPr/>
                    <a:lstStyle/>
                    <a:p>
                      <a:r>
                        <a:rPr lang="en-US"/>
                        <a:t>A</a:t>
                      </a:r>
                    </a:p>
                  </a:txBody>
                  <a:tcPr anchor="ctr">
                    <a:lnL>
                      <a:noFill/>
                    </a:lnL>
                    <a:lnR>
                      <a:noFill/>
                    </a:lnR>
                    <a:lnT>
                      <a:noFill/>
                    </a:lnT>
                    <a:lnB>
                      <a:noFill/>
                    </a:lnB>
                    <a:noFill/>
                  </a:tcPr>
                </a:tc>
                <a:extLst>
                  <a:ext uri="{0D108BD9-81ED-4DB2-BD59-A6C34878D82A}">
                    <a16:rowId xmlns:a16="http://schemas.microsoft.com/office/drawing/2014/main" val="387309182"/>
                  </a:ext>
                </a:extLst>
              </a:tr>
              <a:tr h="309880">
                <a:tc>
                  <a:txBody>
                    <a:bodyPr/>
                    <a:lstStyle/>
                    <a:p>
                      <a:r>
                        <a:rPr lang="en-US"/>
                        <a:t>Alice</a:t>
                      </a:r>
                    </a:p>
                  </a:txBody>
                  <a:tcPr anchor="ctr">
                    <a:lnL>
                      <a:noFill/>
                    </a:lnL>
                    <a:lnR>
                      <a:noFill/>
                    </a:lnR>
                    <a:lnT>
                      <a:noFill/>
                    </a:lnT>
                    <a:lnB>
                      <a:noFill/>
                    </a:lnB>
                    <a:noFill/>
                  </a:tcPr>
                </a:tc>
                <a:tc>
                  <a:txBody>
                    <a:bodyPr/>
                    <a:lstStyle/>
                    <a:p>
                      <a:r>
                        <a:rPr lang="en-US"/>
                        <a:t>DBMS</a:t>
                      </a:r>
                    </a:p>
                  </a:txBody>
                  <a:tcPr anchor="ctr">
                    <a:lnL>
                      <a:noFill/>
                    </a:lnL>
                    <a:lnR>
                      <a:noFill/>
                    </a:lnR>
                    <a:lnT>
                      <a:noFill/>
                    </a:lnT>
                    <a:lnB>
                      <a:noFill/>
                    </a:lnB>
                    <a:noFill/>
                  </a:tcPr>
                </a:tc>
                <a:tc>
                  <a:txBody>
                    <a:bodyPr/>
                    <a:lstStyle/>
                    <a:p>
                      <a:r>
                        <a:rPr lang="en-US" dirty="0"/>
                        <a:t>B+</a:t>
                      </a:r>
                    </a:p>
                  </a:txBody>
                  <a:tcPr anchor="ctr">
                    <a:lnL>
                      <a:noFill/>
                    </a:lnL>
                    <a:lnR>
                      <a:noFill/>
                    </a:lnR>
                    <a:lnT>
                      <a:noFill/>
                    </a:lnT>
                    <a:lnB>
                      <a:noFill/>
                    </a:lnB>
                    <a:noFill/>
                  </a:tcPr>
                </a:tc>
                <a:extLst>
                  <a:ext uri="{0D108BD9-81ED-4DB2-BD59-A6C34878D82A}">
                    <a16:rowId xmlns:a16="http://schemas.microsoft.com/office/drawing/2014/main" val="4005132181"/>
                  </a:ext>
                </a:extLst>
              </a:tr>
            </a:tbl>
          </a:graphicData>
        </a:graphic>
      </p:graphicFrame>
      <p:sp>
        <p:nvSpPr>
          <p:cNvPr id="5" name="Footer Placeholder 4">
            <a:extLst>
              <a:ext uri="{FF2B5EF4-FFF2-40B4-BE49-F238E27FC236}">
                <a16:creationId xmlns:a16="http://schemas.microsoft.com/office/drawing/2014/main" id="{D1C00DFE-ECB3-A19F-938E-7A5D07C0A77B}"/>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719441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05CD7-EE26-75EA-DF24-B3B2EA5594A6}"/>
              </a:ext>
            </a:extLst>
          </p:cNvPr>
          <p:cNvSpPr>
            <a:spLocks noGrp="1"/>
          </p:cNvSpPr>
          <p:nvPr>
            <p:ph type="title"/>
          </p:nvPr>
        </p:nvSpPr>
        <p:spPr>
          <a:xfrm>
            <a:off x="677334" y="609600"/>
            <a:ext cx="8786706" cy="1320800"/>
          </a:xfrm>
        </p:spPr>
        <p:txBody>
          <a:bodyPr/>
          <a:lstStyle/>
          <a:p>
            <a:r>
              <a:rPr lang="en-US" dirty="0"/>
              <a:t>Approaches to Knowledge Representation</a:t>
            </a:r>
          </a:p>
        </p:txBody>
      </p:sp>
      <p:sp>
        <p:nvSpPr>
          <p:cNvPr id="3" name="Content Placeholder 2">
            <a:extLst>
              <a:ext uri="{FF2B5EF4-FFF2-40B4-BE49-F238E27FC236}">
                <a16:creationId xmlns:a16="http://schemas.microsoft.com/office/drawing/2014/main" id="{43AB0F2E-64EF-6906-60AE-1239AEDCD3FF}"/>
              </a:ext>
            </a:extLst>
          </p:cNvPr>
          <p:cNvSpPr>
            <a:spLocks noGrp="1"/>
          </p:cNvSpPr>
          <p:nvPr>
            <p:ph idx="1"/>
          </p:nvPr>
        </p:nvSpPr>
        <p:spPr/>
        <p:txBody>
          <a:bodyPr>
            <a:normAutofit fontScale="85000" lnSpcReduction="20000"/>
          </a:bodyPr>
          <a:lstStyle/>
          <a:p>
            <a:pPr marL="0" indent="0">
              <a:buNone/>
            </a:pPr>
            <a:r>
              <a:rPr lang="en-US" dirty="0"/>
              <a:t>2. Inheritable knowledge</a:t>
            </a:r>
          </a:p>
          <a:p>
            <a:pPr marL="0" indent="0">
              <a:buNone/>
            </a:pPr>
            <a:r>
              <a:rPr lang="en-US" dirty="0"/>
              <a:t>Represents knowledge in a </a:t>
            </a:r>
            <a:r>
              <a:rPr lang="en-US" b="1" dirty="0"/>
              <a:t>hierarchical structure</a:t>
            </a:r>
            <a:r>
              <a:rPr lang="en-US" dirty="0"/>
              <a:t> where lower levels inherit properties from higher levels (like in object-oriented systems or semantic networks).</a:t>
            </a:r>
          </a:p>
          <a:p>
            <a:pPr marL="0" indent="0">
              <a:buNone/>
            </a:pPr>
            <a:r>
              <a:rPr lang="en-US" dirty="0" err="1"/>
              <a:t>Eg.</a:t>
            </a:r>
            <a:r>
              <a:rPr lang="en-US" dirty="0"/>
              <a:t> </a:t>
            </a:r>
          </a:p>
          <a:p>
            <a:pPr marL="0" indent="0">
              <a:buNone/>
            </a:pPr>
            <a:r>
              <a:rPr lang="en-US" dirty="0"/>
              <a:t>Animal</a:t>
            </a:r>
          </a:p>
          <a:p>
            <a:pPr marL="0" indent="0">
              <a:buNone/>
            </a:pPr>
            <a:r>
              <a:rPr lang="en-US" dirty="0"/>
              <a:t> └── Bird</a:t>
            </a:r>
          </a:p>
          <a:p>
            <a:pPr marL="0" indent="0">
              <a:buNone/>
            </a:pPr>
            <a:r>
              <a:rPr lang="en-US" dirty="0"/>
              <a:t>      └── Sparrow</a:t>
            </a:r>
          </a:p>
          <a:p>
            <a:pPr marL="0" indent="0">
              <a:buNone/>
            </a:pPr>
            <a:r>
              <a:rPr lang="en-US" b="1" dirty="0"/>
              <a:t>Advantages</a:t>
            </a:r>
            <a:r>
              <a:rPr lang="en-US" dirty="0"/>
              <a:t>:</a:t>
            </a:r>
          </a:p>
          <a:p>
            <a:r>
              <a:rPr lang="en-US" dirty="0"/>
              <a:t>Reduces redundancy through inheritance</a:t>
            </a:r>
          </a:p>
          <a:p>
            <a:r>
              <a:rPr lang="en-US" dirty="0"/>
              <a:t>Mimics human categorization</a:t>
            </a:r>
          </a:p>
          <a:p>
            <a:pPr marL="0" indent="0">
              <a:buNone/>
            </a:pPr>
            <a:r>
              <a:rPr lang="en-US" b="1" dirty="0"/>
              <a:t>Limitations</a:t>
            </a:r>
            <a:r>
              <a:rPr lang="en-US" dirty="0"/>
              <a:t>:</a:t>
            </a:r>
          </a:p>
          <a:p>
            <a:r>
              <a:rPr lang="en-US" dirty="0"/>
              <a:t>Not all knowledge fits clean hierarchies</a:t>
            </a:r>
          </a:p>
          <a:p>
            <a:r>
              <a:rPr lang="en-US" dirty="0"/>
              <a:t>Inheritance conflicts may arise (e.g., penguins)</a:t>
            </a:r>
          </a:p>
          <a:p>
            <a:pPr marL="0" indent="0">
              <a:buNone/>
            </a:pPr>
            <a:endParaRPr lang="en-US" dirty="0"/>
          </a:p>
        </p:txBody>
      </p:sp>
      <p:sp>
        <p:nvSpPr>
          <p:cNvPr id="4" name="Footer Placeholder 3">
            <a:extLst>
              <a:ext uri="{FF2B5EF4-FFF2-40B4-BE49-F238E27FC236}">
                <a16:creationId xmlns:a16="http://schemas.microsoft.com/office/drawing/2014/main" id="{B4E6BE99-9E78-EE15-751D-03511C76F9E6}"/>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802871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F1661-CB13-5BF7-3484-27ACA214AD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E41B37-CFC2-EB00-ACDE-3DE27536BB7D}"/>
              </a:ext>
            </a:extLst>
          </p:cNvPr>
          <p:cNvSpPr>
            <a:spLocks noGrp="1"/>
          </p:cNvSpPr>
          <p:nvPr>
            <p:ph type="title"/>
          </p:nvPr>
        </p:nvSpPr>
        <p:spPr>
          <a:xfrm>
            <a:off x="677334" y="609600"/>
            <a:ext cx="8786706" cy="1320800"/>
          </a:xfrm>
        </p:spPr>
        <p:txBody>
          <a:bodyPr/>
          <a:lstStyle/>
          <a:p>
            <a:r>
              <a:rPr lang="en-US" dirty="0"/>
              <a:t>Approaches to Knowledge Representation</a:t>
            </a:r>
          </a:p>
        </p:txBody>
      </p:sp>
      <p:sp>
        <p:nvSpPr>
          <p:cNvPr id="3" name="Content Placeholder 2">
            <a:extLst>
              <a:ext uri="{FF2B5EF4-FFF2-40B4-BE49-F238E27FC236}">
                <a16:creationId xmlns:a16="http://schemas.microsoft.com/office/drawing/2014/main" id="{6A7CA76F-4B0A-3DD5-8C2E-97A5E4C01507}"/>
              </a:ext>
            </a:extLst>
          </p:cNvPr>
          <p:cNvSpPr>
            <a:spLocks noGrp="1"/>
          </p:cNvSpPr>
          <p:nvPr>
            <p:ph idx="1"/>
          </p:nvPr>
        </p:nvSpPr>
        <p:spPr/>
        <p:txBody>
          <a:bodyPr>
            <a:normAutofit fontScale="92500" lnSpcReduction="20000"/>
          </a:bodyPr>
          <a:lstStyle/>
          <a:p>
            <a:pPr marL="0" indent="0">
              <a:buNone/>
            </a:pPr>
            <a:r>
              <a:rPr lang="en-US" dirty="0"/>
              <a:t>3. Inferential Knowledge</a:t>
            </a:r>
          </a:p>
          <a:p>
            <a:pPr marL="0" indent="0">
              <a:buNone/>
            </a:pPr>
            <a:r>
              <a:rPr lang="en-US" dirty="0"/>
              <a:t>Represents knowledge in a way that </a:t>
            </a:r>
            <a:r>
              <a:rPr lang="en-US" b="1" dirty="0"/>
              <a:t>supports inference</a:t>
            </a:r>
            <a:r>
              <a:rPr lang="en-US" dirty="0"/>
              <a:t> or logical deduction. Often expressed using </a:t>
            </a:r>
            <a:r>
              <a:rPr lang="en-US" b="1" dirty="0"/>
              <a:t>rules and logic</a:t>
            </a:r>
            <a:r>
              <a:rPr lang="en-US" dirty="0"/>
              <a:t>. And this method guarantees correctness</a:t>
            </a:r>
          </a:p>
          <a:p>
            <a:pPr marL="0" indent="0">
              <a:buNone/>
            </a:pPr>
            <a:r>
              <a:rPr lang="en-US" dirty="0"/>
              <a:t>E.g.          IF person(x) AND studies(x, </a:t>
            </a:r>
            <a:r>
              <a:rPr lang="en-US" dirty="0" err="1"/>
              <a:t>ComputerScience</a:t>
            </a:r>
            <a:r>
              <a:rPr lang="en-US" dirty="0"/>
              <a:t>) THEN </a:t>
            </a:r>
            <a:r>
              <a:rPr lang="en-US" dirty="0" err="1"/>
              <a:t>isStudent</a:t>
            </a:r>
            <a:r>
              <a:rPr lang="en-US" dirty="0"/>
              <a:t>(x)</a:t>
            </a:r>
          </a:p>
          <a:p>
            <a:pPr marL="0" indent="0">
              <a:buNone/>
            </a:pPr>
            <a:r>
              <a:rPr lang="en-US" dirty="0"/>
              <a:t>From:      person(John),        studies(John, </a:t>
            </a:r>
            <a:r>
              <a:rPr lang="en-US" dirty="0" err="1"/>
              <a:t>ComputerScience</a:t>
            </a:r>
            <a:r>
              <a:rPr lang="en-US" dirty="0"/>
              <a:t>)</a:t>
            </a:r>
          </a:p>
          <a:p>
            <a:pPr marL="0" indent="0">
              <a:buNone/>
            </a:pPr>
            <a:r>
              <a:rPr lang="en-US" dirty="0"/>
              <a:t>We can infer:   </a:t>
            </a:r>
            <a:r>
              <a:rPr lang="en-US" dirty="0" err="1"/>
              <a:t>isStudent</a:t>
            </a:r>
            <a:r>
              <a:rPr lang="en-US" dirty="0"/>
              <a:t>(John)</a:t>
            </a:r>
          </a:p>
          <a:p>
            <a:pPr marL="0" indent="0">
              <a:buNone/>
            </a:pPr>
            <a:r>
              <a:rPr lang="en-US" b="1" dirty="0"/>
              <a:t>Advantages</a:t>
            </a:r>
            <a:r>
              <a:rPr lang="en-US" dirty="0"/>
              <a:t>:</a:t>
            </a:r>
          </a:p>
          <a:p>
            <a:r>
              <a:rPr lang="en-US" dirty="0"/>
              <a:t>Reduces redundancy through inheritance</a:t>
            </a:r>
          </a:p>
          <a:p>
            <a:r>
              <a:rPr lang="en-US" dirty="0"/>
              <a:t>Mimics human categorization</a:t>
            </a:r>
          </a:p>
          <a:p>
            <a:pPr marL="0" indent="0">
              <a:buNone/>
            </a:pPr>
            <a:r>
              <a:rPr lang="en-US" b="1" dirty="0"/>
              <a:t>Limitations</a:t>
            </a:r>
            <a:r>
              <a:rPr lang="en-US" dirty="0"/>
              <a:t>:</a:t>
            </a:r>
          </a:p>
          <a:p>
            <a:r>
              <a:rPr lang="en-US" dirty="0"/>
              <a:t>Not all knowledge fits clean hierarchies</a:t>
            </a:r>
          </a:p>
          <a:p>
            <a:r>
              <a:rPr lang="en-US" dirty="0"/>
              <a:t>Inheritance conflicts may arise (e.g., penguins)</a:t>
            </a:r>
          </a:p>
          <a:p>
            <a:pPr marL="0" indent="0">
              <a:buNone/>
            </a:pPr>
            <a:endParaRPr lang="en-US" dirty="0"/>
          </a:p>
        </p:txBody>
      </p:sp>
      <p:sp>
        <p:nvSpPr>
          <p:cNvPr id="4" name="Footer Placeholder 3">
            <a:extLst>
              <a:ext uri="{FF2B5EF4-FFF2-40B4-BE49-F238E27FC236}">
                <a16:creationId xmlns:a16="http://schemas.microsoft.com/office/drawing/2014/main" id="{8921A350-A16F-D367-5992-E3B6461C9AD1}"/>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4120866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A75C7-1772-BB17-14CF-7AF88A4FCE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BABDA4-1A70-A120-6836-30A0D2C1ABAE}"/>
              </a:ext>
            </a:extLst>
          </p:cNvPr>
          <p:cNvSpPr>
            <a:spLocks noGrp="1"/>
          </p:cNvSpPr>
          <p:nvPr>
            <p:ph type="title"/>
          </p:nvPr>
        </p:nvSpPr>
        <p:spPr>
          <a:xfrm>
            <a:off x="677334" y="609600"/>
            <a:ext cx="8786706" cy="1320800"/>
          </a:xfrm>
        </p:spPr>
        <p:txBody>
          <a:bodyPr/>
          <a:lstStyle/>
          <a:p>
            <a:r>
              <a:rPr lang="en-US" dirty="0"/>
              <a:t>Approaches to Knowledge Representation</a:t>
            </a:r>
          </a:p>
        </p:txBody>
      </p:sp>
      <p:sp>
        <p:nvSpPr>
          <p:cNvPr id="3" name="Content Placeholder 2">
            <a:extLst>
              <a:ext uri="{FF2B5EF4-FFF2-40B4-BE49-F238E27FC236}">
                <a16:creationId xmlns:a16="http://schemas.microsoft.com/office/drawing/2014/main" id="{A6AB3933-E4FC-114A-62D7-73051917D9F6}"/>
              </a:ext>
            </a:extLst>
          </p:cNvPr>
          <p:cNvSpPr>
            <a:spLocks noGrp="1"/>
          </p:cNvSpPr>
          <p:nvPr>
            <p:ph idx="1"/>
          </p:nvPr>
        </p:nvSpPr>
        <p:spPr/>
        <p:txBody>
          <a:bodyPr>
            <a:normAutofit/>
          </a:bodyPr>
          <a:lstStyle/>
          <a:p>
            <a:pPr marL="0" indent="0">
              <a:buNone/>
            </a:pPr>
            <a:r>
              <a:rPr lang="en-US" dirty="0"/>
              <a:t>4. Procedural Knowledge </a:t>
            </a:r>
          </a:p>
          <a:p>
            <a:pPr marL="0" indent="0">
              <a:buNone/>
            </a:pPr>
            <a:r>
              <a:rPr lang="en-US" dirty="0"/>
              <a:t>Describes </a:t>
            </a:r>
            <a:r>
              <a:rPr lang="en-US" b="1" dirty="0"/>
              <a:t>how to do something</a:t>
            </a:r>
            <a:r>
              <a:rPr lang="en-US" dirty="0"/>
              <a:t>. It includes the steps, procedures, or algorithms to achieve a task or goal. In this approach </a:t>
            </a:r>
            <a:r>
              <a:rPr lang="en-US" b="1" dirty="0"/>
              <a:t>IF-then</a:t>
            </a:r>
            <a:r>
              <a:rPr lang="en-US" dirty="0"/>
              <a:t> rule is used.</a:t>
            </a:r>
          </a:p>
          <a:p>
            <a:pPr marL="0" indent="0">
              <a:buNone/>
            </a:pPr>
            <a:r>
              <a:rPr lang="en-US" b="1" dirty="0"/>
              <a:t>Advantages</a:t>
            </a:r>
            <a:r>
              <a:rPr lang="en-US" dirty="0"/>
              <a:t>:</a:t>
            </a:r>
          </a:p>
          <a:p>
            <a:r>
              <a:rPr lang="en-US" dirty="0"/>
              <a:t>Directly executable</a:t>
            </a:r>
          </a:p>
          <a:p>
            <a:r>
              <a:rPr lang="en-US" dirty="0"/>
              <a:t>Suitable for automation</a:t>
            </a:r>
          </a:p>
          <a:p>
            <a:pPr marL="0" indent="0">
              <a:buNone/>
            </a:pPr>
            <a:r>
              <a:rPr lang="en-US" b="1" dirty="0"/>
              <a:t>Limitations</a:t>
            </a:r>
            <a:r>
              <a:rPr lang="en-US" dirty="0"/>
              <a:t>:</a:t>
            </a:r>
          </a:p>
          <a:p>
            <a:r>
              <a:rPr lang="en-US" dirty="0"/>
              <a:t>Hard to explain or extract as declarative facts</a:t>
            </a:r>
          </a:p>
          <a:p>
            <a:r>
              <a:rPr lang="en-US" dirty="0"/>
              <a:t>Often embedded in code</a:t>
            </a:r>
          </a:p>
          <a:p>
            <a:pPr marL="0" indent="0">
              <a:buNone/>
            </a:pPr>
            <a:endParaRPr lang="en-US" dirty="0"/>
          </a:p>
        </p:txBody>
      </p:sp>
      <p:sp>
        <p:nvSpPr>
          <p:cNvPr id="4" name="Footer Placeholder 3">
            <a:extLst>
              <a:ext uri="{FF2B5EF4-FFF2-40B4-BE49-F238E27FC236}">
                <a16:creationId xmlns:a16="http://schemas.microsoft.com/office/drawing/2014/main" id="{BB098EDF-CC65-B5AA-AAD5-15BF1A7BCAEF}"/>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718761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5E5CE-9EE0-D140-0415-EF8391BF96AD}"/>
              </a:ext>
            </a:extLst>
          </p:cNvPr>
          <p:cNvSpPr>
            <a:spLocks noGrp="1"/>
          </p:cNvSpPr>
          <p:nvPr>
            <p:ph type="title"/>
          </p:nvPr>
        </p:nvSpPr>
        <p:spPr/>
        <p:txBody>
          <a:bodyPr/>
          <a:lstStyle/>
          <a:p>
            <a:r>
              <a:rPr lang="en-US" dirty="0"/>
              <a:t>Introduction to propositional Logic</a:t>
            </a:r>
          </a:p>
        </p:txBody>
      </p:sp>
      <p:sp>
        <p:nvSpPr>
          <p:cNvPr id="3" name="Content Placeholder 2">
            <a:extLst>
              <a:ext uri="{FF2B5EF4-FFF2-40B4-BE49-F238E27FC236}">
                <a16:creationId xmlns:a16="http://schemas.microsoft.com/office/drawing/2014/main" id="{16460030-369C-57E4-8BF1-1B834B15E2FB}"/>
              </a:ext>
            </a:extLst>
          </p:cNvPr>
          <p:cNvSpPr>
            <a:spLocks noGrp="1"/>
          </p:cNvSpPr>
          <p:nvPr>
            <p:ph idx="1"/>
          </p:nvPr>
        </p:nvSpPr>
        <p:spPr/>
        <p:txBody>
          <a:bodyPr>
            <a:normAutofit/>
          </a:bodyPr>
          <a:lstStyle/>
          <a:p>
            <a:pPr marL="0" indent="0">
              <a:buNone/>
            </a:pPr>
            <a:r>
              <a:rPr lang="en-US" dirty="0"/>
              <a:t>What is Propositional Logic ?</a:t>
            </a:r>
          </a:p>
          <a:p>
            <a:r>
              <a:rPr lang="en-US" dirty="0"/>
              <a:t>PL is a branch of logic that deals with statements or propositions and their logical relationships and connections</a:t>
            </a:r>
          </a:p>
          <a:p>
            <a:pPr lvl="1"/>
            <a:r>
              <a:rPr lang="en-US" dirty="0"/>
              <a:t>It deals with what is true or false</a:t>
            </a:r>
          </a:p>
          <a:p>
            <a:pPr lvl="1"/>
            <a:r>
              <a:rPr lang="en-US" dirty="0"/>
              <a:t>It does not deal with why or how</a:t>
            </a:r>
          </a:p>
          <a:p>
            <a:pPr lvl="1"/>
            <a:endParaRPr lang="en-US" dirty="0">
              <a:solidFill>
                <a:schemeClr val="tx1"/>
              </a:solidFill>
            </a:endParaRPr>
          </a:p>
          <a:p>
            <a:pPr marL="0" indent="0">
              <a:buNone/>
            </a:pPr>
            <a:r>
              <a:rPr lang="en-US" dirty="0"/>
              <a:t>Importance in AI and Logical Reasoning</a:t>
            </a:r>
          </a:p>
          <a:p>
            <a:r>
              <a:rPr lang="en-US" dirty="0"/>
              <a:t>Forms foundation of Logical Reasoning</a:t>
            </a:r>
          </a:p>
          <a:p>
            <a:r>
              <a:rPr lang="en-US" dirty="0"/>
              <a:t>For knowledge representation and decision making</a:t>
            </a:r>
          </a:p>
          <a:p>
            <a:r>
              <a:rPr lang="en-US" dirty="0"/>
              <a:t>Basis for automated reasoning and theorem proving</a:t>
            </a:r>
          </a:p>
        </p:txBody>
      </p:sp>
      <p:sp>
        <p:nvSpPr>
          <p:cNvPr id="4" name="Footer Placeholder 3">
            <a:extLst>
              <a:ext uri="{FF2B5EF4-FFF2-40B4-BE49-F238E27FC236}">
                <a16:creationId xmlns:a16="http://schemas.microsoft.com/office/drawing/2014/main" id="{972D199B-81E9-7045-EFD8-E2204EFA068B}"/>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98156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E27E-1B4D-CC2D-8568-131B35CF31A1}"/>
              </a:ext>
            </a:extLst>
          </p:cNvPr>
          <p:cNvSpPr>
            <a:spLocks noGrp="1"/>
          </p:cNvSpPr>
          <p:nvPr>
            <p:ph type="title"/>
          </p:nvPr>
        </p:nvSpPr>
        <p:spPr/>
        <p:txBody>
          <a:bodyPr/>
          <a:lstStyle/>
          <a:p>
            <a:r>
              <a:rPr lang="en-US" dirty="0"/>
              <a:t>Syntax</a:t>
            </a:r>
          </a:p>
        </p:txBody>
      </p:sp>
      <p:sp>
        <p:nvSpPr>
          <p:cNvPr id="3" name="Content Placeholder 2">
            <a:extLst>
              <a:ext uri="{FF2B5EF4-FFF2-40B4-BE49-F238E27FC236}">
                <a16:creationId xmlns:a16="http://schemas.microsoft.com/office/drawing/2014/main" id="{884C9C56-AA28-AC5C-82F4-EFF8408DECBB}"/>
              </a:ext>
            </a:extLst>
          </p:cNvPr>
          <p:cNvSpPr>
            <a:spLocks noGrp="1"/>
          </p:cNvSpPr>
          <p:nvPr>
            <p:ph idx="1"/>
          </p:nvPr>
        </p:nvSpPr>
        <p:spPr/>
        <p:txBody>
          <a:bodyPr>
            <a:normAutofit fontScale="85000" lnSpcReduction="20000"/>
          </a:bodyPr>
          <a:lstStyle/>
          <a:p>
            <a:r>
              <a:rPr lang="en-US" sz="2400" dirty="0"/>
              <a:t>Components</a:t>
            </a:r>
          </a:p>
          <a:p>
            <a:pPr lvl="1"/>
            <a:r>
              <a:rPr lang="en-US" sz="2000" dirty="0"/>
              <a:t>Propositions: {</a:t>
            </a:r>
            <a:r>
              <a:rPr lang="en-US" sz="2000" b="1" dirty="0"/>
              <a:t>declarative sentence</a:t>
            </a:r>
            <a:r>
              <a:rPr lang="en-US" sz="2000" dirty="0"/>
              <a:t> that has a </a:t>
            </a:r>
            <a:r>
              <a:rPr lang="en-US" sz="2000" b="1" dirty="0"/>
              <a:t>definite truth value</a:t>
            </a:r>
            <a:r>
              <a:rPr lang="en-US" sz="2000" dirty="0"/>
              <a:t> (True or False)}</a:t>
            </a:r>
          </a:p>
          <a:p>
            <a:pPr lvl="2"/>
            <a:r>
              <a:rPr lang="en-US" sz="1800" dirty="0"/>
              <a:t>Represented using Symbols</a:t>
            </a:r>
          </a:p>
          <a:p>
            <a:pPr lvl="2"/>
            <a:r>
              <a:rPr lang="en-US" sz="1800" dirty="0"/>
              <a:t>Example: P: “It is raining”</a:t>
            </a:r>
          </a:p>
          <a:p>
            <a:pPr marL="914400" lvl="2" indent="0">
              <a:buNone/>
            </a:pPr>
            <a:r>
              <a:rPr lang="en-US" sz="1800" dirty="0"/>
              <a:t>		  Q: “The road is wet”</a:t>
            </a:r>
          </a:p>
          <a:p>
            <a:pPr lvl="1"/>
            <a:r>
              <a:rPr lang="en-US" sz="2000" dirty="0"/>
              <a:t>Logical Connectives</a:t>
            </a:r>
          </a:p>
          <a:p>
            <a:pPr lvl="2"/>
            <a:r>
              <a:rPr kumimoji="0" lang="en-US" altLang="en-US" sz="1600" b="0" i="0" u="none" strike="noStrike" cap="none" normalizeH="0" baseline="0" dirty="0">
                <a:ln>
                  <a:noFill/>
                </a:ln>
                <a:solidFill>
                  <a:schemeClr val="tx1"/>
                </a:solidFill>
                <a:effectLst/>
                <a:latin typeface="Arial" panose="020B0604020202020204" pitchFamily="34" charset="0"/>
              </a:rPr>
              <a:t>NOT (¬) : It is not raining</a:t>
            </a:r>
          </a:p>
          <a:p>
            <a:pPr lvl="2"/>
            <a:r>
              <a:rPr kumimoji="0" lang="en-US" altLang="en-US" sz="1600" b="0" i="0" u="none" strike="noStrike" cap="none" normalizeH="0" baseline="0" dirty="0">
                <a:ln>
                  <a:noFill/>
                </a:ln>
                <a:solidFill>
                  <a:schemeClr val="tx1"/>
                </a:solidFill>
                <a:effectLst/>
                <a:latin typeface="Arial" panose="020B0604020202020204" pitchFamily="34" charset="0"/>
              </a:rPr>
              <a:t>AND (∧): It is raining and road is wet</a:t>
            </a:r>
          </a:p>
          <a:p>
            <a:pPr lvl="2"/>
            <a:r>
              <a:rPr kumimoji="0" lang="en-US" altLang="en-US" sz="1600" b="0" i="0" u="none" strike="noStrike" cap="none" normalizeH="0" baseline="0" dirty="0">
                <a:ln>
                  <a:noFill/>
                </a:ln>
                <a:solidFill>
                  <a:schemeClr val="tx1"/>
                </a:solidFill>
                <a:effectLst/>
                <a:latin typeface="Arial" panose="020B0604020202020204" pitchFamily="34" charset="0"/>
              </a:rPr>
              <a:t>OR (∨): it is raining or road is wet</a:t>
            </a:r>
          </a:p>
          <a:p>
            <a:pPr lvl="2"/>
            <a:r>
              <a:rPr kumimoji="0" lang="en-US" altLang="en-US" sz="1600" b="0" i="0" u="none" strike="noStrike" cap="none" normalizeH="0" baseline="0" dirty="0">
                <a:ln>
                  <a:noFill/>
                </a:ln>
                <a:solidFill>
                  <a:schemeClr val="tx1"/>
                </a:solidFill>
                <a:effectLst/>
                <a:latin typeface="Arial" panose="020B0604020202020204" pitchFamily="34" charset="0"/>
              </a:rPr>
              <a:t>IMPLIES (→) : it </a:t>
            </a:r>
            <a:r>
              <a:rPr kumimoji="0" lang="en-US" altLang="en-US" sz="1600" b="0" i="0" u="none" strike="noStrike" cap="none" normalizeH="0" baseline="0" dirty="0" err="1">
                <a:ln>
                  <a:noFill/>
                </a:ln>
                <a:solidFill>
                  <a:schemeClr val="tx1"/>
                </a:solidFill>
                <a:effectLst/>
                <a:latin typeface="Arial" panose="020B0604020202020204" pitchFamily="34" charset="0"/>
              </a:rPr>
              <a:t>it</a:t>
            </a:r>
            <a:r>
              <a:rPr kumimoji="0" lang="en-US" altLang="en-US" sz="1600" b="0" i="0" u="none" strike="noStrike" cap="none" normalizeH="0" baseline="0" dirty="0">
                <a:ln>
                  <a:noFill/>
                </a:ln>
                <a:solidFill>
                  <a:schemeClr val="tx1"/>
                </a:solidFill>
                <a:effectLst/>
                <a:latin typeface="Arial" panose="020B0604020202020204" pitchFamily="34" charset="0"/>
              </a:rPr>
              <a:t> is raining m then road is wet</a:t>
            </a:r>
          </a:p>
          <a:p>
            <a:pPr lvl="2"/>
            <a:r>
              <a:rPr kumimoji="0" lang="en-US" altLang="en-US" sz="1600" b="0" i="0" u="none" strike="noStrike" cap="none" normalizeH="0" baseline="0" dirty="0">
                <a:ln>
                  <a:noFill/>
                </a:ln>
                <a:solidFill>
                  <a:schemeClr val="tx1"/>
                </a:solidFill>
                <a:effectLst/>
                <a:latin typeface="Arial" panose="020B0604020202020204" pitchFamily="34" charset="0"/>
              </a:rPr>
              <a:t>BICONDITIONAL (↔) : Rains </a:t>
            </a:r>
            <a:r>
              <a:rPr kumimoji="0" lang="en-US" altLang="en-US" sz="1600" b="0" i="0" u="none" strike="noStrike" cap="none" normalizeH="0" baseline="0" dirty="0" err="1">
                <a:ln>
                  <a:noFill/>
                </a:ln>
                <a:solidFill>
                  <a:schemeClr val="tx1"/>
                </a:solidFill>
                <a:effectLst/>
                <a:latin typeface="Arial" panose="020B0604020202020204" pitchFamily="34" charset="0"/>
              </a:rPr>
              <a:t>iff</a:t>
            </a:r>
            <a:r>
              <a:rPr kumimoji="0" lang="en-US" altLang="en-US" sz="1600" b="0" i="0" u="none" strike="noStrike" cap="none" normalizeH="0" baseline="0" dirty="0">
                <a:ln>
                  <a:noFill/>
                </a:ln>
                <a:solidFill>
                  <a:schemeClr val="tx1"/>
                </a:solidFill>
                <a:effectLst/>
                <a:latin typeface="Arial" panose="020B0604020202020204" pitchFamily="34" charset="0"/>
              </a:rPr>
              <a:t> road is wet</a:t>
            </a:r>
          </a:p>
        </p:txBody>
      </p:sp>
      <p:sp>
        <p:nvSpPr>
          <p:cNvPr id="4" name="Footer Placeholder 3">
            <a:extLst>
              <a:ext uri="{FF2B5EF4-FFF2-40B4-BE49-F238E27FC236}">
                <a16:creationId xmlns:a16="http://schemas.microsoft.com/office/drawing/2014/main" id="{BB564248-D673-20E6-E529-D80C8B590562}"/>
              </a:ext>
            </a:extLst>
          </p:cNvPr>
          <p:cNvSpPr>
            <a:spLocks noGrp="1"/>
          </p:cNvSpPr>
          <p:nvPr>
            <p:ph type="ftr" sz="quarter" idx="11"/>
          </p:nvPr>
        </p:nvSpPr>
        <p:spPr/>
        <p:txBody>
          <a:bodyPr/>
          <a:lstStyle/>
          <a:p>
            <a:r>
              <a:rPr lang="nb-NO"/>
              <a:t>kapil@nast.edu.np || kapilpant157</a:t>
            </a:r>
            <a:endParaRPr lang="en-US"/>
          </a:p>
        </p:txBody>
      </p:sp>
      <p:sp>
        <p:nvSpPr>
          <p:cNvPr id="6" name="TextBox 5">
            <a:extLst>
              <a:ext uri="{FF2B5EF4-FFF2-40B4-BE49-F238E27FC236}">
                <a16:creationId xmlns:a16="http://schemas.microsoft.com/office/drawing/2014/main" id="{C622460D-AA84-DFD8-486C-52FDA565532B}"/>
              </a:ext>
            </a:extLst>
          </p:cNvPr>
          <p:cNvSpPr txBox="1"/>
          <p:nvPr/>
        </p:nvSpPr>
        <p:spPr>
          <a:xfrm>
            <a:off x="6425897" y="3592436"/>
            <a:ext cx="5550513" cy="1754326"/>
          </a:xfrm>
          <a:prstGeom prst="rect">
            <a:avLst/>
          </a:prstGeom>
          <a:noFill/>
        </p:spPr>
        <p:txBody>
          <a:bodyPr wrap="square">
            <a:spAutoFit/>
          </a:bodyPr>
          <a:lstStyle/>
          <a:p>
            <a:pPr>
              <a:buNone/>
            </a:pPr>
            <a:r>
              <a:rPr lang="en-US" dirty="0"/>
              <a:t>Valid propositions:</a:t>
            </a:r>
          </a:p>
          <a:p>
            <a:r>
              <a:rPr lang="en-US" dirty="0"/>
              <a:t>	“Kathmandu is the capital of Nepal.” </a:t>
            </a:r>
            <a:r>
              <a:rPr lang="en-US" dirty="0">
                <a:sym typeface="Wingdings" panose="05000000000000000000" pitchFamily="2" charset="2"/>
              </a:rPr>
              <a:t></a:t>
            </a:r>
            <a:r>
              <a:rPr lang="en-US" dirty="0"/>
              <a:t> </a:t>
            </a:r>
            <a:r>
              <a:rPr lang="en-US" b="1" dirty="0"/>
              <a:t>True</a:t>
            </a:r>
            <a:endParaRPr lang="en-US" dirty="0"/>
          </a:p>
          <a:p>
            <a:r>
              <a:rPr lang="en-US" dirty="0"/>
              <a:t>	“5 + 3 = 10.” </a:t>
            </a:r>
            <a:r>
              <a:rPr lang="en-US" dirty="0">
                <a:sym typeface="Wingdings" panose="05000000000000000000" pitchFamily="2" charset="2"/>
              </a:rPr>
              <a:t></a:t>
            </a:r>
            <a:r>
              <a:rPr lang="en-US" dirty="0"/>
              <a:t> </a:t>
            </a:r>
            <a:r>
              <a:rPr lang="en-US" b="1" dirty="0"/>
              <a:t>False</a:t>
            </a:r>
            <a:endParaRPr lang="en-US" dirty="0"/>
          </a:p>
          <a:p>
            <a:pPr>
              <a:buNone/>
            </a:pPr>
            <a:r>
              <a:rPr lang="en-US" dirty="0"/>
              <a:t>Not propositions:</a:t>
            </a:r>
          </a:p>
          <a:p>
            <a:r>
              <a:rPr lang="en-US" dirty="0"/>
              <a:t>	“Open the door.” (command)</a:t>
            </a:r>
          </a:p>
          <a:p>
            <a:r>
              <a:rPr lang="en-US" dirty="0"/>
              <a:t>	“Is it raining?” (question)</a:t>
            </a:r>
          </a:p>
        </p:txBody>
      </p:sp>
      <p:cxnSp>
        <p:nvCxnSpPr>
          <p:cNvPr id="8" name="Connector: Elbow 7">
            <a:extLst>
              <a:ext uri="{FF2B5EF4-FFF2-40B4-BE49-F238E27FC236}">
                <a16:creationId xmlns:a16="http://schemas.microsoft.com/office/drawing/2014/main" id="{0E24AEDE-E3A3-A19E-9277-DE9909E7BB55}"/>
              </a:ext>
            </a:extLst>
          </p:cNvPr>
          <p:cNvCxnSpPr>
            <a:endCxn id="6" idx="0"/>
          </p:cNvCxnSpPr>
          <p:nvPr/>
        </p:nvCxnSpPr>
        <p:spPr>
          <a:xfrm>
            <a:off x="7560527" y="2943922"/>
            <a:ext cx="1640627" cy="648514"/>
          </a:xfrm>
          <a:prstGeom prst="bentConnector2">
            <a:avLst/>
          </a:prstGeom>
          <a:ln>
            <a:tailEnd type="triangle"/>
          </a:ln>
        </p:spPr>
        <p:style>
          <a:lnRef idx="3">
            <a:schemeClr val="accent5"/>
          </a:lnRef>
          <a:fillRef idx="0">
            <a:schemeClr val="accent5"/>
          </a:fillRef>
          <a:effectRef idx="2">
            <a:schemeClr val="accent5"/>
          </a:effectRef>
          <a:fontRef idx="minor">
            <a:schemeClr val="tx1"/>
          </a:fontRef>
        </p:style>
      </p:cxnSp>
      <p:sp>
        <p:nvSpPr>
          <p:cNvPr id="5" name="TextBox 4">
            <a:extLst>
              <a:ext uri="{FF2B5EF4-FFF2-40B4-BE49-F238E27FC236}">
                <a16:creationId xmlns:a16="http://schemas.microsoft.com/office/drawing/2014/main" id="{10E0041B-9849-DC84-9072-B5AF2999D107}"/>
              </a:ext>
            </a:extLst>
          </p:cNvPr>
          <p:cNvSpPr txBox="1"/>
          <p:nvPr/>
        </p:nvSpPr>
        <p:spPr>
          <a:xfrm>
            <a:off x="6720292" y="5672110"/>
            <a:ext cx="2162772" cy="646331"/>
          </a:xfrm>
          <a:prstGeom prst="rect">
            <a:avLst/>
          </a:prstGeom>
          <a:noFill/>
        </p:spPr>
        <p:txBody>
          <a:bodyPr wrap="none" rtlCol="0">
            <a:spAutoFit/>
          </a:bodyPr>
          <a:lstStyle/>
          <a:p>
            <a:r>
              <a:rPr lang="en-US" dirty="0">
                <a:solidFill>
                  <a:srgbClr val="FF0000"/>
                </a:solidFill>
                <a:latin typeface="Aparajita" panose="02020603050405020304" pitchFamily="18" charset="0"/>
                <a:cs typeface="Aparajita" panose="02020603050405020304" pitchFamily="18" charset="0"/>
              </a:rPr>
              <a:t>OR is inclusive </a:t>
            </a:r>
          </a:p>
          <a:p>
            <a:r>
              <a:rPr lang="en-US" dirty="0">
                <a:solidFill>
                  <a:srgbClr val="FF0000"/>
                </a:solidFill>
                <a:latin typeface="Aparajita" panose="02020603050405020304" pitchFamily="18" charset="0"/>
                <a:cs typeface="Aparajita" panose="02020603050405020304" pitchFamily="18" charset="0"/>
              </a:rPr>
              <a:t>i.e. one or both can be true</a:t>
            </a:r>
          </a:p>
        </p:txBody>
      </p:sp>
    </p:spTree>
    <p:extLst>
      <p:ext uri="{BB962C8B-B14F-4D97-AF65-F5344CB8AC3E}">
        <p14:creationId xmlns:p14="http://schemas.microsoft.com/office/powerpoint/2010/main" val="3931651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6507A-C314-9DA5-0097-E09168AB0509}"/>
              </a:ext>
            </a:extLst>
          </p:cNvPr>
          <p:cNvSpPr>
            <a:spLocks noGrp="1"/>
          </p:cNvSpPr>
          <p:nvPr>
            <p:ph type="title"/>
          </p:nvPr>
        </p:nvSpPr>
        <p:spPr/>
        <p:txBody>
          <a:bodyPr/>
          <a:lstStyle/>
          <a:p>
            <a:r>
              <a:rPr lang="en-US" dirty="0"/>
              <a:t>Propositional Logic</a:t>
            </a:r>
          </a:p>
        </p:txBody>
      </p:sp>
      <p:sp>
        <p:nvSpPr>
          <p:cNvPr id="3" name="Content Placeholder 2">
            <a:extLst>
              <a:ext uri="{FF2B5EF4-FFF2-40B4-BE49-F238E27FC236}">
                <a16:creationId xmlns:a16="http://schemas.microsoft.com/office/drawing/2014/main" id="{EB11F066-F119-0F93-1075-7ADF263063AD}"/>
              </a:ext>
            </a:extLst>
          </p:cNvPr>
          <p:cNvSpPr>
            <a:spLocks noGrp="1"/>
          </p:cNvSpPr>
          <p:nvPr>
            <p:ph idx="1"/>
          </p:nvPr>
        </p:nvSpPr>
        <p:spPr>
          <a:xfrm>
            <a:off x="677334" y="1930401"/>
            <a:ext cx="8596668" cy="4476086"/>
          </a:xfrm>
        </p:spPr>
        <p:txBody>
          <a:bodyPr>
            <a:normAutofit lnSpcReduction="10000"/>
          </a:bodyPr>
          <a:lstStyle/>
          <a:p>
            <a:pPr>
              <a:buFont typeface="+mj-lt"/>
              <a:buAutoNum type="arabicPeriod"/>
            </a:pPr>
            <a:r>
              <a:rPr lang="en-US" dirty="0"/>
              <a:t>Atomic Propositional</a:t>
            </a:r>
          </a:p>
          <a:p>
            <a:pPr lvl="1">
              <a:buFont typeface="+mj-lt"/>
              <a:buAutoNum type="arabicPeriod"/>
            </a:pPr>
            <a:r>
              <a:rPr lang="en-US" dirty="0"/>
              <a:t>This cant be broken down anymore</a:t>
            </a:r>
          </a:p>
          <a:p>
            <a:pPr lvl="1">
              <a:buFont typeface="+mj-lt"/>
              <a:buAutoNum type="arabicPeriod"/>
            </a:pPr>
            <a:r>
              <a:rPr lang="en-US" dirty="0"/>
              <a:t>It does not contain any logical connectives</a:t>
            </a:r>
          </a:p>
          <a:p>
            <a:pPr lvl="2">
              <a:buFont typeface="+mj-lt"/>
              <a:buAutoNum type="arabicPeriod"/>
            </a:pPr>
            <a:r>
              <a:rPr lang="en-US" dirty="0"/>
              <a:t>Students pass the exam.</a:t>
            </a:r>
          </a:p>
          <a:p>
            <a:pPr lvl="2">
              <a:buFont typeface="+mj-lt"/>
              <a:buAutoNum type="arabicPeriod"/>
            </a:pPr>
            <a:r>
              <a:rPr lang="en-US" dirty="0"/>
              <a:t>CPU temp is above 50%</a:t>
            </a:r>
          </a:p>
          <a:p>
            <a:pPr lvl="2">
              <a:buFont typeface="+mj-lt"/>
              <a:buAutoNum type="arabicPeriod"/>
            </a:pPr>
            <a:r>
              <a:rPr lang="en-US" dirty="0"/>
              <a:t>Students are decent. </a:t>
            </a:r>
          </a:p>
          <a:p>
            <a:pPr>
              <a:buFont typeface="+mj-lt"/>
              <a:buAutoNum type="arabicPeriod"/>
            </a:pPr>
            <a:r>
              <a:rPr lang="en-US" dirty="0"/>
              <a:t>Compound Proposition</a:t>
            </a:r>
          </a:p>
          <a:p>
            <a:pPr lvl="1">
              <a:buFont typeface="+mj-lt"/>
              <a:buAutoNum type="arabicPeriod"/>
            </a:pPr>
            <a:r>
              <a:rPr lang="en-US" b="1" dirty="0"/>
              <a:t>combining two or more atomic propositions</a:t>
            </a:r>
            <a:r>
              <a:rPr lang="en-US" dirty="0"/>
              <a:t> using </a:t>
            </a:r>
            <a:r>
              <a:rPr lang="en-US" b="1" dirty="0"/>
              <a:t>logical connectives</a:t>
            </a:r>
            <a:r>
              <a:rPr lang="en-US" dirty="0"/>
              <a:t>. </a:t>
            </a:r>
          </a:p>
          <a:p>
            <a:pPr lvl="1">
              <a:buFont typeface="+mj-lt"/>
              <a:buAutoNum type="arabicPeriod"/>
            </a:pPr>
            <a:r>
              <a:rPr lang="en-US" dirty="0"/>
              <a:t>Has at least one logical connectives</a:t>
            </a:r>
          </a:p>
          <a:p>
            <a:pPr lvl="2">
              <a:buFont typeface="+mj-lt"/>
              <a:buAutoNum type="arabicPeriod"/>
            </a:pPr>
            <a:r>
              <a:rPr lang="en-US" dirty="0"/>
              <a:t>Student passed the exam and submitted the project.</a:t>
            </a:r>
          </a:p>
          <a:p>
            <a:pPr lvl="2">
              <a:buFont typeface="+mj-lt"/>
              <a:buAutoNum type="arabicPeriod"/>
            </a:pPr>
            <a:r>
              <a:rPr lang="en-US" dirty="0"/>
              <a:t>If a student studies regularly, then the student passes the exam.</a:t>
            </a:r>
          </a:p>
          <a:p>
            <a:pPr lvl="2">
              <a:buFont typeface="+mj-lt"/>
              <a:buAutoNum type="arabicPeriod"/>
            </a:pPr>
            <a:r>
              <a:rPr lang="en-US" dirty="0"/>
              <a:t>A user can access the system if and only if the user is authenticated.</a:t>
            </a:r>
          </a:p>
          <a:p>
            <a:pPr lvl="2">
              <a:buFont typeface="+mj-lt"/>
              <a:buAutoNum type="arabicPeriod"/>
            </a:pPr>
            <a:r>
              <a:rPr lang="en-US" dirty="0"/>
              <a:t>If the server is online and the network is stable, then users can access the system.</a:t>
            </a:r>
          </a:p>
          <a:p>
            <a:pPr lvl="2">
              <a:buFont typeface="+mj-lt"/>
              <a:buAutoNum type="arabicPeriod"/>
            </a:pPr>
            <a:endParaRPr lang="en-US" dirty="0"/>
          </a:p>
        </p:txBody>
      </p:sp>
      <p:sp>
        <p:nvSpPr>
          <p:cNvPr id="4" name="Footer Placeholder 3">
            <a:extLst>
              <a:ext uri="{FF2B5EF4-FFF2-40B4-BE49-F238E27FC236}">
                <a16:creationId xmlns:a16="http://schemas.microsoft.com/office/drawing/2014/main" id="{3D391661-7CA0-E1EB-0A89-67E3D940C89C}"/>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7615674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A7FED-2E33-64CE-E9A8-334624ECF07A}"/>
              </a:ext>
            </a:extLst>
          </p:cNvPr>
          <p:cNvSpPr>
            <a:spLocks noGrp="1"/>
          </p:cNvSpPr>
          <p:nvPr>
            <p:ph type="title"/>
          </p:nvPr>
        </p:nvSpPr>
        <p:spPr/>
        <p:txBody>
          <a:bodyPr/>
          <a:lstStyle/>
          <a:p>
            <a:r>
              <a:rPr lang="en-US" dirty="0"/>
              <a:t>Examples</a:t>
            </a:r>
          </a:p>
        </p:txBody>
      </p:sp>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BFAC72E9-AA07-BF79-D526-B92AC644417F}"/>
                  </a:ext>
                </a:extLst>
              </p:cNvPr>
              <p:cNvGraphicFramePr>
                <a:graphicFrameLocks noGrp="1"/>
              </p:cNvGraphicFramePr>
              <p:nvPr>
                <p:ph idx="1"/>
                <p:extLst>
                  <p:ext uri="{D42A27DB-BD31-4B8C-83A1-F6EECF244321}">
                    <p14:modId xmlns:p14="http://schemas.microsoft.com/office/powerpoint/2010/main" val="633901043"/>
                  </p:ext>
                </p:extLst>
              </p:nvPr>
            </p:nvGraphicFramePr>
            <p:xfrm>
              <a:off x="677691" y="1314768"/>
              <a:ext cx="8596311" cy="5543232"/>
            </p:xfrm>
            <a:graphic>
              <a:graphicData uri="http://schemas.openxmlformats.org/drawingml/2006/table">
                <a:tbl>
                  <a:tblPr firstRow="1" bandRow="1">
                    <a:tableStyleId>{5C22544A-7EE6-4342-B048-85BDC9FD1C3A}</a:tableStyleId>
                  </a:tblPr>
                  <a:tblGrid>
                    <a:gridCol w="2865437">
                      <a:extLst>
                        <a:ext uri="{9D8B030D-6E8A-4147-A177-3AD203B41FA5}">
                          <a16:colId xmlns:a16="http://schemas.microsoft.com/office/drawing/2014/main" val="917840944"/>
                        </a:ext>
                      </a:extLst>
                    </a:gridCol>
                    <a:gridCol w="2865437">
                      <a:extLst>
                        <a:ext uri="{9D8B030D-6E8A-4147-A177-3AD203B41FA5}">
                          <a16:colId xmlns:a16="http://schemas.microsoft.com/office/drawing/2014/main" val="179794978"/>
                        </a:ext>
                      </a:extLst>
                    </a:gridCol>
                    <a:gridCol w="2865437">
                      <a:extLst>
                        <a:ext uri="{9D8B030D-6E8A-4147-A177-3AD203B41FA5}">
                          <a16:colId xmlns:a16="http://schemas.microsoft.com/office/drawing/2014/main" val="3959291605"/>
                        </a:ext>
                      </a:extLst>
                    </a:gridCol>
                  </a:tblGrid>
                  <a:tr h="370840">
                    <a:tc>
                      <a:txBody>
                        <a:bodyPr/>
                        <a:lstStyle/>
                        <a:p>
                          <a:r>
                            <a:rPr lang="en-US" dirty="0"/>
                            <a:t>English</a:t>
                          </a:r>
                        </a:p>
                      </a:txBody>
                      <a:tcPr/>
                    </a:tc>
                    <a:tc>
                      <a:txBody>
                        <a:bodyPr/>
                        <a:lstStyle/>
                        <a:p>
                          <a:r>
                            <a:rPr lang="en-US" dirty="0"/>
                            <a:t>Propositions</a:t>
                          </a:r>
                        </a:p>
                      </a:txBody>
                      <a:tcPr/>
                    </a:tc>
                    <a:tc>
                      <a:txBody>
                        <a:bodyPr/>
                        <a:lstStyle/>
                        <a:p>
                          <a:r>
                            <a:rPr lang="en-US" dirty="0"/>
                            <a:t>Logic</a:t>
                          </a:r>
                        </a:p>
                      </a:txBody>
                      <a:tcPr/>
                    </a:tc>
                    <a:extLst>
                      <a:ext uri="{0D108BD9-81ED-4DB2-BD59-A6C34878D82A}">
                        <a16:rowId xmlns:a16="http://schemas.microsoft.com/office/drawing/2014/main" val="1001096840"/>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It is raining.</a:t>
                          </a:r>
                        </a:p>
                      </a:txBody>
                      <a:tcPr/>
                    </a:tc>
                    <a:tc>
                      <a:txBody>
                        <a:bodyPr/>
                        <a:lstStyle/>
                        <a:p>
                          <a:r>
                            <a:rPr lang="en-US" dirty="0"/>
                            <a:t>p: It is raining</a:t>
                          </a:r>
                        </a:p>
                      </a:txBody>
                      <a:tcPr/>
                    </a:tc>
                    <a:tc>
                      <a:txBody>
                        <a:bodyPr/>
                        <a:lstStyle/>
                        <a:p>
                          <a:r>
                            <a:rPr lang="en-US" dirty="0"/>
                            <a:t> p</a:t>
                          </a:r>
                        </a:p>
                      </a:txBody>
                      <a:tcPr/>
                    </a:tc>
                    <a:extLst>
                      <a:ext uri="{0D108BD9-81ED-4DB2-BD59-A6C34878D82A}">
                        <a16:rowId xmlns:a16="http://schemas.microsoft.com/office/drawing/2014/main" val="22498092"/>
                      </a:ext>
                    </a:extLst>
                  </a:tr>
                  <a:tr h="412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It is not raining.</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 It is raining</a:t>
                          </a:r>
                        </a:p>
                      </a:txBody>
                      <a:tcPr/>
                    </a:tc>
                    <a:tc>
                      <a:txBody>
                        <a:bodyPr/>
                        <a:lstStyle/>
                        <a:p>
                          <a:r>
                            <a:rPr lang="en-US" dirty="0"/>
                            <a:t>~P</a:t>
                          </a:r>
                        </a:p>
                      </a:txBody>
                      <a:tcPr/>
                    </a:tc>
                    <a:extLst>
                      <a:ext uri="{0D108BD9-81ED-4DB2-BD59-A6C34878D82A}">
                        <a16:rowId xmlns:a16="http://schemas.microsoft.com/office/drawing/2014/main" val="1284292845"/>
                      </a:ext>
                    </a:extLst>
                  </a:tr>
                  <a:tr h="370840">
                    <a:tc>
                      <a:txBody>
                        <a:bodyPr/>
                        <a:lstStyle/>
                        <a:p>
                          <a:r>
                            <a:rPr lang="en-US" dirty="0"/>
                            <a:t>It is raining and it is cold.</a:t>
                          </a:r>
                        </a:p>
                      </a:txBody>
                      <a:tcPr/>
                    </a:tc>
                    <a:tc>
                      <a:txBody>
                        <a:bodyPr/>
                        <a:lstStyle/>
                        <a:p>
                          <a14:m>
                            <m:oMath xmlns:m="http://schemas.openxmlformats.org/officeDocument/2006/math">
                              <m:r>
                                <a:rPr lang="en-US" b="0" i="1" smtClean="0">
                                  <a:latin typeface="Cambria Math" panose="02040503050406030204" pitchFamily="18" charset="0"/>
                                </a:rPr>
                                <m:t>𝑃</m:t>
                              </m:r>
                            </m:oMath>
                          </a14:m>
                          <a:r>
                            <a:rPr lang="en-US" dirty="0"/>
                            <a:t>: It is raining</a:t>
                          </a:r>
                        </a:p>
                        <a:p>
                          <a14:m>
                            <m:oMath xmlns:m="http://schemas.openxmlformats.org/officeDocument/2006/math">
                              <m:r>
                                <a:rPr lang="en-US" b="0" i="1" smtClean="0">
                                  <a:latin typeface="Cambria Math" panose="02040503050406030204" pitchFamily="18" charset="0"/>
                                </a:rPr>
                                <m:t>𝑄</m:t>
                              </m:r>
                            </m:oMath>
                          </a14:m>
                          <a:r>
                            <a:rPr lang="en-US" dirty="0"/>
                            <a:t>: It is cold</a:t>
                          </a:r>
                        </a:p>
                      </a:txBody>
                      <a:tcPr/>
                    </a:tc>
                    <a:tc>
                      <a:txBody>
                        <a:bodyPr/>
                        <a:lstStyle/>
                        <a:p>
                          <a14:m>
                            <m:oMath xmlns:m="http://schemas.openxmlformats.org/officeDocument/2006/math">
                              <m:r>
                                <a:rPr lang="en-US" b="0" i="1" smtClean="0">
                                  <a:latin typeface="Cambria Math" panose="02040503050406030204" pitchFamily="18" charset="0"/>
                                </a:rPr>
                                <m:t>𝑃</m:t>
                              </m:r>
                            </m:oMath>
                          </a14:m>
                          <a:r>
                            <a:rPr lang="en-US" dirty="0"/>
                            <a:t> ∧ </a:t>
                          </a:r>
                          <a14:m>
                            <m:oMath xmlns:m="http://schemas.openxmlformats.org/officeDocument/2006/math">
                              <m:r>
                                <a:rPr lang="en-US" b="0" i="1" smtClean="0">
                                  <a:latin typeface="Cambria Math" panose="02040503050406030204" pitchFamily="18" charset="0"/>
                                </a:rPr>
                                <m:t>𝑄</m:t>
                              </m:r>
                            </m:oMath>
                          </a14:m>
                          <a:endParaRPr lang="en-US" dirty="0"/>
                        </a:p>
                      </a:txBody>
                      <a:tcPr/>
                    </a:tc>
                    <a:extLst>
                      <a:ext uri="{0D108BD9-81ED-4DB2-BD59-A6C34878D82A}">
                        <a16:rowId xmlns:a16="http://schemas.microsoft.com/office/drawing/2014/main" val="591855501"/>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It is raining or it is cold.</a:t>
                          </a:r>
                        </a:p>
                      </a:txBody>
                      <a:tcPr/>
                    </a:tc>
                    <a:tc>
                      <a:txBody>
                        <a:bodyPr/>
                        <a:lstStyle/>
                        <a:p>
                          <a14:m>
                            <m:oMath xmlns:m="http://schemas.openxmlformats.org/officeDocument/2006/math">
                              <m:r>
                                <a:rPr lang="en-US" b="0" i="1" smtClean="0">
                                  <a:latin typeface="Cambria Math" panose="02040503050406030204" pitchFamily="18" charset="0"/>
                                </a:rPr>
                                <m:t>𝑃</m:t>
                              </m:r>
                            </m:oMath>
                          </a14:m>
                          <a:r>
                            <a:rPr lang="en-US" dirty="0"/>
                            <a:t>: It is raining</a:t>
                          </a:r>
                        </a:p>
                        <a:p>
                          <a14:m>
                            <m:oMath xmlns:m="http://schemas.openxmlformats.org/officeDocument/2006/math">
                              <m:r>
                                <a:rPr lang="en-US" b="0" i="1" smtClean="0">
                                  <a:latin typeface="Cambria Math" panose="02040503050406030204" pitchFamily="18" charset="0"/>
                                </a:rPr>
                                <m:t>𝑄</m:t>
                              </m:r>
                            </m:oMath>
                          </a14:m>
                          <a:r>
                            <a:rPr lang="en-US" dirty="0"/>
                            <a:t>: It is cold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b="0" i="1" smtClean="0">
                                  <a:latin typeface="Cambria Math" panose="02040503050406030204" pitchFamily="18" charset="0"/>
                                </a:rPr>
                                <m:t>𝑃</m:t>
                              </m:r>
                            </m:oMath>
                          </a14:m>
                          <a:r>
                            <a:rPr lang="en-US" dirty="0"/>
                            <a:t> v </a:t>
                          </a:r>
                          <a14:m>
                            <m:oMath xmlns:m="http://schemas.openxmlformats.org/officeDocument/2006/math">
                              <m:r>
                                <a:rPr lang="en-US" b="0" i="1" smtClean="0">
                                  <a:latin typeface="Cambria Math" panose="02040503050406030204" pitchFamily="18" charset="0"/>
                                </a:rPr>
                                <m:t>𝑄</m:t>
                              </m:r>
                            </m:oMath>
                          </a14:m>
                          <a:endParaRPr lang="en-US" dirty="0"/>
                        </a:p>
                      </a:txBody>
                      <a:tcPr/>
                    </a:tc>
                    <a:extLst>
                      <a:ext uri="{0D108BD9-81ED-4DB2-BD59-A6C34878D82A}">
                        <a16:rowId xmlns:a16="http://schemas.microsoft.com/office/drawing/2014/main" val="3362600575"/>
                      </a:ext>
                    </a:extLst>
                  </a:tr>
                  <a:tr h="370840">
                    <a:tc>
                      <a:txBody>
                        <a:bodyPr/>
                        <a:lstStyle/>
                        <a:p>
                          <a:r>
                            <a:rPr lang="en-US" dirty="0"/>
                            <a:t>If it is raining, then the ground is wet.</a:t>
                          </a:r>
                        </a:p>
                      </a:txBody>
                      <a:tcPr/>
                    </a:tc>
                    <a:tc>
                      <a:txBody>
                        <a:bodyPr/>
                        <a:lstStyle/>
                        <a:p>
                          <a14:m>
                            <m:oMath xmlns:m="http://schemas.openxmlformats.org/officeDocument/2006/math">
                              <m:r>
                                <a:rPr lang="en-US" sz="1800" i="1" kern="1200" smtClean="0">
                                  <a:solidFill>
                                    <a:schemeClr val="dk1"/>
                                  </a:solidFill>
                                  <a:latin typeface="Cambria Math" panose="02040503050406030204" pitchFamily="18" charset="0"/>
                                  <a:ea typeface="+mn-ea"/>
                                  <a:cs typeface="+mn-cs"/>
                                </a:rPr>
                                <m:t>𝑝</m:t>
                              </m:r>
                            </m:oMath>
                          </a14:m>
                          <a:r>
                            <a:rPr lang="en-US" dirty="0"/>
                            <a:t>: It is raining</a:t>
                          </a:r>
                        </a:p>
                        <a:p>
                          <a14:m>
                            <m:oMath xmlns:m="http://schemas.openxmlformats.org/officeDocument/2006/math">
                              <m:r>
                                <a:rPr lang="en-US" sz="1800" i="1" kern="1200">
                                  <a:solidFill>
                                    <a:schemeClr val="dk1"/>
                                  </a:solidFill>
                                  <a:latin typeface="Cambria Math" panose="02040503050406030204" pitchFamily="18" charset="0"/>
                                  <a:ea typeface="+mn-ea"/>
                                  <a:cs typeface="+mn-cs"/>
                                </a:rPr>
                                <m:t>𝑞</m:t>
                              </m:r>
                            </m:oMath>
                          </a14:m>
                          <a:r>
                            <a:rPr lang="en-US" dirty="0"/>
                            <a:t>: The ground is wet</a:t>
                          </a:r>
                        </a:p>
                      </a:txBody>
                      <a:tcPr/>
                    </a:tc>
                    <a:tc>
                      <a:txBody>
                        <a:bodyPr/>
                        <a:lstStyle/>
                        <a:p>
                          <a:r>
                            <a:rPr lang="en-US" dirty="0">
                              <a:sym typeface="Wingdings" panose="05000000000000000000" pitchFamily="2" charset="2"/>
                            </a:rPr>
                            <a:t>PQ</a:t>
                          </a:r>
                          <a:endParaRPr lang="en-US" dirty="0"/>
                        </a:p>
                      </a:txBody>
                      <a:tcPr/>
                    </a:tc>
                    <a:extLst>
                      <a:ext uri="{0D108BD9-81ED-4DB2-BD59-A6C34878D82A}">
                        <a16:rowId xmlns:a16="http://schemas.microsoft.com/office/drawing/2014/main" val="2268939965"/>
                      </a:ext>
                    </a:extLst>
                  </a:tr>
                  <a:tr h="370840">
                    <a:tc>
                      <a:txBody>
                        <a:bodyPr/>
                        <a:lstStyle/>
                        <a:p>
                          <a:r>
                            <a:rPr lang="en-US" dirty="0"/>
                            <a:t>The light is on if and only if there is electricity.</a:t>
                          </a:r>
                        </a:p>
                      </a:txBody>
                      <a:tcPr/>
                    </a:tc>
                    <a:tc>
                      <a:txBody>
                        <a:bodyPr/>
                        <a:lstStyle/>
                        <a:p>
                          <a14:m>
                            <m:oMath xmlns:m="http://schemas.openxmlformats.org/officeDocument/2006/math">
                              <m:r>
                                <a:rPr lang="en-US" sz="1800" i="1" kern="1200" smtClean="0">
                                  <a:solidFill>
                                    <a:schemeClr val="dk1"/>
                                  </a:solidFill>
                                  <a:latin typeface="Cambria Math" panose="02040503050406030204" pitchFamily="18" charset="0"/>
                                  <a:ea typeface="+mn-ea"/>
                                  <a:cs typeface="+mn-cs"/>
                                </a:rPr>
                                <m:t>𝑝</m:t>
                              </m:r>
                            </m:oMath>
                          </a14:m>
                          <a:r>
                            <a:rPr lang="en-US" dirty="0"/>
                            <a:t>: The light is on</a:t>
                          </a:r>
                        </a:p>
                        <a:p>
                          <a14:m>
                            <m:oMath xmlns:m="http://schemas.openxmlformats.org/officeDocument/2006/math">
                              <m:r>
                                <a:rPr lang="en-US" sz="1800" i="1" kern="1200">
                                  <a:solidFill>
                                    <a:schemeClr val="dk1"/>
                                  </a:solidFill>
                                  <a:latin typeface="Cambria Math" panose="02040503050406030204" pitchFamily="18" charset="0"/>
                                  <a:ea typeface="+mn-ea"/>
                                  <a:cs typeface="+mn-cs"/>
                                </a:rPr>
                                <m:t>𝑞</m:t>
                              </m:r>
                            </m:oMath>
                          </a14:m>
                          <a:r>
                            <a:rPr lang="en-US" dirty="0"/>
                            <a:t>: There is electricity</a:t>
                          </a:r>
                        </a:p>
                      </a:txBody>
                      <a:tcPr/>
                    </a:tc>
                    <a:tc>
                      <a:txBody>
                        <a:bodyPr/>
                        <a:lstStyle/>
                        <a:p>
                          <a:r>
                            <a:rPr lang="en-US" dirty="0"/>
                            <a:t>P </a:t>
                          </a:r>
                          <a:r>
                            <a:rPr lang="en-US" dirty="0">
                              <a:sym typeface="Wingdings" panose="05000000000000000000" pitchFamily="2" charset="2"/>
                            </a:rPr>
                            <a:t> Q</a:t>
                          </a:r>
                          <a:endParaRPr lang="en-US" dirty="0"/>
                        </a:p>
                      </a:txBody>
                      <a:tcPr/>
                    </a:tc>
                    <a:extLst>
                      <a:ext uri="{0D108BD9-81ED-4DB2-BD59-A6C34878D82A}">
                        <a16:rowId xmlns:a16="http://schemas.microsoft.com/office/drawing/2014/main" val="1647593492"/>
                      </a:ext>
                    </a:extLst>
                  </a:tr>
                  <a:tr h="370840">
                    <a:tc>
                      <a:txBody>
                        <a:bodyPr/>
                        <a:lstStyle/>
                        <a:p>
                          <a:r>
                            <a:rPr lang="en-US" dirty="0"/>
                            <a:t>If it is raining and cold, then I will stay home.</a:t>
                          </a:r>
                        </a:p>
                      </a:txBody>
                      <a:tcPr/>
                    </a:tc>
                    <a:tc>
                      <a:txBody>
                        <a:bodyPr/>
                        <a:lstStyle/>
                        <a:p>
                          <a:r>
                            <a:rPr lang="en-US" dirty="0"/>
                            <a:t>p: It is raining</a:t>
                          </a:r>
                        </a:p>
                        <a:p>
                          <a14:m>
                            <m:oMath xmlns:m="http://schemas.openxmlformats.org/officeDocument/2006/math">
                              <m:r>
                                <a:rPr lang="en-US" sz="1800" i="1" kern="1200">
                                  <a:solidFill>
                                    <a:schemeClr val="dk1"/>
                                  </a:solidFill>
                                  <a:latin typeface="Cambria Math" panose="02040503050406030204" pitchFamily="18" charset="0"/>
                                  <a:ea typeface="+mn-ea"/>
                                  <a:cs typeface="+mn-cs"/>
                                </a:rPr>
                                <m:t>𝑞</m:t>
                              </m:r>
                            </m:oMath>
                          </a14:m>
                          <a:r>
                            <a:rPr lang="en-US" dirty="0"/>
                            <a:t>: It is cold</a:t>
                          </a:r>
                        </a:p>
                        <a:p>
                          <a14:m>
                            <m:oMath xmlns:m="http://schemas.openxmlformats.org/officeDocument/2006/math">
                              <m:r>
                                <a:rPr lang="en-US" sz="1800" i="1" kern="1200">
                                  <a:solidFill>
                                    <a:schemeClr val="dk1"/>
                                  </a:solidFill>
                                  <a:latin typeface="Cambria Math" panose="02040503050406030204" pitchFamily="18" charset="0"/>
                                  <a:ea typeface="+mn-ea"/>
                                  <a:cs typeface="+mn-cs"/>
                                </a:rPr>
                                <m:t>𝑟</m:t>
                              </m:r>
                            </m:oMath>
                          </a14:m>
                          <a:r>
                            <a:rPr lang="en-US" dirty="0"/>
                            <a:t>: I will stay home</a:t>
                          </a:r>
                        </a:p>
                      </a:txBody>
                      <a:tcPr/>
                    </a:tc>
                    <a:tc>
                      <a:txBody>
                        <a:bodyPr/>
                        <a:lstStyle/>
                        <a:p>
                          <a:r>
                            <a:rPr lang="en-US" dirty="0"/>
                            <a:t>(</a:t>
                          </a:r>
                          <a:r>
                            <a:rPr lang="en-US" dirty="0" err="1"/>
                            <a:t>p∧q</a:t>
                          </a:r>
                          <a:r>
                            <a:rPr lang="en-US" dirty="0"/>
                            <a:t>)→r</a:t>
                          </a:r>
                        </a:p>
                      </a:txBody>
                      <a:tcPr/>
                    </a:tc>
                    <a:extLst>
                      <a:ext uri="{0D108BD9-81ED-4DB2-BD59-A6C34878D82A}">
                        <a16:rowId xmlns:a16="http://schemas.microsoft.com/office/drawing/2014/main" val="23721612"/>
                      </a:ext>
                    </a:extLst>
                  </a:tr>
                  <a:tr h="370840">
                    <a:tc>
                      <a:txBody>
                        <a:bodyPr/>
                        <a:lstStyle/>
                        <a:p>
                          <a:r>
                            <a:rPr lang="en-US" dirty="0"/>
                            <a:t>You will fail unless you study.</a:t>
                          </a:r>
                        </a:p>
                      </a:txBody>
                      <a:tcPr/>
                    </a:tc>
                    <a:tc>
                      <a:txBody>
                        <a:bodyPr/>
                        <a:lstStyle/>
                        <a:p>
                          <a:r>
                            <a:rPr lang="en-US" dirty="0"/>
                            <a:t>p: You study</a:t>
                          </a:r>
                        </a:p>
                        <a:p>
                          <a14:m>
                            <m:oMath xmlns:m="http://schemas.openxmlformats.org/officeDocument/2006/math">
                              <m:r>
                                <a:rPr lang="en-US" sz="1800" i="1" kern="1200">
                                  <a:solidFill>
                                    <a:schemeClr val="dk1"/>
                                  </a:solidFill>
                                  <a:latin typeface="Cambria Math" panose="02040503050406030204" pitchFamily="18" charset="0"/>
                                  <a:ea typeface="+mn-ea"/>
                                  <a:cs typeface="+mn-cs"/>
                                </a:rPr>
                                <m:t>𝑞</m:t>
                              </m:r>
                            </m:oMath>
                          </a14:m>
                          <a:r>
                            <a:rPr lang="en-US" dirty="0"/>
                            <a:t>: You fail</a:t>
                          </a:r>
                        </a:p>
                        <a:p>
                          <a:r>
                            <a:rPr lang="en-US" dirty="0"/>
                            <a:t>(Equivalent to: </a:t>
                          </a:r>
                          <a14:m>
                            <m:oMath xmlns:m="http://schemas.openxmlformats.org/officeDocument/2006/math">
                              <m:r>
                                <a:rPr lang="en-US" sz="1800" i="1" kern="1200">
                                  <a:solidFill>
                                    <a:schemeClr val="dk1"/>
                                  </a:solidFill>
                                  <a:latin typeface="Cambria Math" panose="02040503050406030204" pitchFamily="18" charset="0"/>
                                  <a:ea typeface="+mn-ea"/>
                                  <a:cs typeface="+mn-cs"/>
                                </a:rPr>
                                <m:t>𝑝</m:t>
                              </m:r>
                              <m:r>
                                <a:rPr lang="en-US" sz="1800" i="0" kern="1200">
                                  <a:solidFill>
                                    <a:schemeClr val="dk1"/>
                                  </a:solidFill>
                                  <a:latin typeface="Cambria Math" panose="02040503050406030204" pitchFamily="18" charset="0"/>
                                  <a:ea typeface="+mn-ea"/>
                                  <a:cs typeface="+mn-cs"/>
                                </a:rPr>
                                <m:t>∨</m:t>
                              </m:r>
                              <m:r>
                                <a:rPr lang="en-US" sz="1800" i="1" kern="1200">
                                  <a:solidFill>
                                    <a:schemeClr val="dk1"/>
                                  </a:solidFill>
                                  <a:latin typeface="Cambria Math" panose="02040503050406030204" pitchFamily="18" charset="0"/>
                                  <a:ea typeface="+mn-ea"/>
                                  <a:cs typeface="+mn-cs"/>
                                </a:rPr>
                                <m:t>𝑞</m:t>
                              </m:r>
                            </m:oMath>
                          </a14:m>
                          <a:r>
                            <a:rPr lang="en-US" dirty="0"/>
                            <a:t>)</a:t>
                          </a:r>
                        </a:p>
                      </a:txBody>
                      <a:tcPr/>
                    </a:tc>
                    <a:tc>
                      <a:txBody>
                        <a:bodyPr/>
                        <a:lstStyle/>
                        <a:p>
                          <a:r>
                            <a:rPr lang="en-US" dirty="0"/>
                            <a:t>¬</a:t>
                          </a:r>
                          <a:r>
                            <a:rPr lang="en-US" dirty="0" err="1"/>
                            <a:t>p→q</a:t>
                          </a:r>
                          <a:endParaRPr lang="en-US" dirty="0"/>
                        </a:p>
                      </a:txBody>
                      <a:tcPr/>
                    </a:tc>
                    <a:extLst>
                      <a:ext uri="{0D108BD9-81ED-4DB2-BD59-A6C34878D82A}">
                        <a16:rowId xmlns:a16="http://schemas.microsoft.com/office/drawing/2014/main" val="942913115"/>
                      </a:ext>
                    </a:extLst>
                  </a:tr>
                </a:tbl>
              </a:graphicData>
            </a:graphic>
          </p:graphicFrame>
        </mc:Choice>
        <mc:Fallback xmlns="">
          <p:graphicFrame>
            <p:nvGraphicFramePr>
              <p:cNvPr id="5" name="Content Placeholder 4">
                <a:extLst>
                  <a:ext uri="{FF2B5EF4-FFF2-40B4-BE49-F238E27FC236}">
                    <a16:creationId xmlns:a16="http://schemas.microsoft.com/office/drawing/2014/main" id="{BFAC72E9-AA07-BF79-D526-B92AC644417F}"/>
                  </a:ext>
                </a:extLst>
              </p:cNvPr>
              <p:cNvGraphicFramePr>
                <a:graphicFrameLocks noGrp="1"/>
              </p:cNvGraphicFramePr>
              <p:nvPr>
                <p:ph idx="1"/>
                <p:extLst>
                  <p:ext uri="{D42A27DB-BD31-4B8C-83A1-F6EECF244321}">
                    <p14:modId xmlns:p14="http://schemas.microsoft.com/office/powerpoint/2010/main" val="633901043"/>
                  </p:ext>
                </p:extLst>
              </p:nvPr>
            </p:nvGraphicFramePr>
            <p:xfrm>
              <a:off x="677691" y="1314768"/>
              <a:ext cx="8596311" cy="5543232"/>
            </p:xfrm>
            <a:graphic>
              <a:graphicData uri="http://schemas.openxmlformats.org/drawingml/2006/table">
                <a:tbl>
                  <a:tblPr firstRow="1" bandRow="1">
                    <a:tableStyleId>{5C22544A-7EE6-4342-B048-85BDC9FD1C3A}</a:tableStyleId>
                  </a:tblPr>
                  <a:tblGrid>
                    <a:gridCol w="2865437">
                      <a:extLst>
                        <a:ext uri="{9D8B030D-6E8A-4147-A177-3AD203B41FA5}">
                          <a16:colId xmlns:a16="http://schemas.microsoft.com/office/drawing/2014/main" val="917840944"/>
                        </a:ext>
                      </a:extLst>
                    </a:gridCol>
                    <a:gridCol w="2865437">
                      <a:extLst>
                        <a:ext uri="{9D8B030D-6E8A-4147-A177-3AD203B41FA5}">
                          <a16:colId xmlns:a16="http://schemas.microsoft.com/office/drawing/2014/main" val="179794978"/>
                        </a:ext>
                      </a:extLst>
                    </a:gridCol>
                    <a:gridCol w="2865437">
                      <a:extLst>
                        <a:ext uri="{9D8B030D-6E8A-4147-A177-3AD203B41FA5}">
                          <a16:colId xmlns:a16="http://schemas.microsoft.com/office/drawing/2014/main" val="3959291605"/>
                        </a:ext>
                      </a:extLst>
                    </a:gridCol>
                  </a:tblGrid>
                  <a:tr h="370840">
                    <a:tc>
                      <a:txBody>
                        <a:bodyPr/>
                        <a:lstStyle/>
                        <a:p>
                          <a:r>
                            <a:rPr lang="en-US" dirty="0"/>
                            <a:t>English</a:t>
                          </a:r>
                        </a:p>
                      </a:txBody>
                      <a:tcPr/>
                    </a:tc>
                    <a:tc>
                      <a:txBody>
                        <a:bodyPr/>
                        <a:lstStyle/>
                        <a:p>
                          <a:r>
                            <a:rPr lang="en-US" dirty="0"/>
                            <a:t>Propositions</a:t>
                          </a:r>
                        </a:p>
                      </a:txBody>
                      <a:tcPr/>
                    </a:tc>
                    <a:tc>
                      <a:txBody>
                        <a:bodyPr/>
                        <a:lstStyle/>
                        <a:p>
                          <a:r>
                            <a:rPr lang="en-US" dirty="0"/>
                            <a:t>Logic</a:t>
                          </a:r>
                        </a:p>
                      </a:txBody>
                      <a:tcPr/>
                    </a:tc>
                    <a:extLst>
                      <a:ext uri="{0D108BD9-81ED-4DB2-BD59-A6C34878D82A}">
                        <a16:rowId xmlns:a16="http://schemas.microsoft.com/office/drawing/2014/main" val="1001096840"/>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It is raining.</a:t>
                          </a:r>
                        </a:p>
                      </a:txBody>
                      <a:tcPr/>
                    </a:tc>
                    <a:tc>
                      <a:txBody>
                        <a:bodyPr/>
                        <a:lstStyle/>
                        <a:p>
                          <a:r>
                            <a:rPr lang="en-US" dirty="0"/>
                            <a:t>p: It is raining</a:t>
                          </a:r>
                        </a:p>
                      </a:txBody>
                      <a:tcPr/>
                    </a:tc>
                    <a:tc>
                      <a:txBody>
                        <a:bodyPr/>
                        <a:lstStyle/>
                        <a:p>
                          <a:r>
                            <a:rPr lang="en-US" dirty="0"/>
                            <a:t> p</a:t>
                          </a:r>
                        </a:p>
                      </a:txBody>
                      <a:tcPr/>
                    </a:tc>
                    <a:extLst>
                      <a:ext uri="{0D108BD9-81ED-4DB2-BD59-A6C34878D82A}">
                        <a16:rowId xmlns:a16="http://schemas.microsoft.com/office/drawing/2014/main" val="22498092"/>
                      </a:ext>
                    </a:extLst>
                  </a:tr>
                  <a:tr h="412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It is not raining.</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 It is raining</a:t>
                          </a:r>
                        </a:p>
                      </a:txBody>
                      <a:tcPr/>
                    </a:tc>
                    <a:tc>
                      <a:txBody>
                        <a:bodyPr/>
                        <a:lstStyle/>
                        <a:p>
                          <a:r>
                            <a:rPr lang="en-US" dirty="0"/>
                            <a:t>~P</a:t>
                          </a:r>
                        </a:p>
                      </a:txBody>
                      <a:tcPr/>
                    </a:tc>
                    <a:extLst>
                      <a:ext uri="{0D108BD9-81ED-4DB2-BD59-A6C34878D82A}">
                        <a16:rowId xmlns:a16="http://schemas.microsoft.com/office/drawing/2014/main" val="1284292845"/>
                      </a:ext>
                    </a:extLst>
                  </a:tr>
                  <a:tr h="640080">
                    <a:tc>
                      <a:txBody>
                        <a:bodyPr/>
                        <a:lstStyle/>
                        <a:p>
                          <a:r>
                            <a:rPr lang="en-US" dirty="0"/>
                            <a:t>It is raining and it is cold.</a:t>
                          </a:r>
                        </a:p>
                      </a:txBody>
                      <a:tcPr/>
                    </a:tc>
                    <a:tc>
                      <a:txBody>
                        <a:bodyPr/>
                        <a:lstStyle/>
                        <a:p>
                          <a:endParaRPr lang="en-US"/>
                        </a:p>
                      </a:txBody>
                      <a:tcPr>
                        <a:blipFill>
                          <a:blip r:embed="rId2"/>
                          <a:stretch>
                            <a:fillRect l="-100000" t="-183962" r="-100637" b="-594340"/>
                          </a:stretch>
                        </a:blipFill>
                      </a:tcPr>
                    </a:tc>
                    <a:tc>
                      <a:txBody>
                        <a:bodyPr/>
                        <a:lstStyle/>
                        <a:p>
                          <a:endParaRPr lang="en-US"/>
                        </a:p>
                      </a:txBody>
                      <a:tcPr>
                        <a:blipFill>
                          <a:blip r:embed="rId2"/>
                          <a:stretch>
                            <a:fillRect l="-200426" t="-183962" r="-851" b="-594340"/>
                          </a:stretch>
                        </a:blipFill>
                      </a:tcPr>
                    </a:tc>
                    <a:extLst>
                      <a:ext uri="{0D108BD9-81ED-4DB2-BD59-A6C34878D82A}">
                        <a16:rowId xmlns:a16="http://schemas.microsoft.com/office/drawing/2014/main" val="591855501"/>
                      </a:ext>
                    </a:extLst>
                  </a:tr>
                  <a:tr h="6400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It is raining or it is cold.</a:t>
                          </a:r>
                        </a:p>
                      </a:txBody>
                      <a:tcPr/>
                    </a:tc>
                    <a:tc>
                      <a:txBody>
                        <a:bodyPr/>
                        <a:lstStyle/>
                        <a:p>
                          <a:endParaRPr lang="en-US"/>
                        </a:p>
                      </a:txBody>
                      <a:tcPr>
                        <a:blipFill>
                          <a:blip r:embed="rId2"/>
                          <a:stretch>
                            <a:fillRect l="-100000" t="-286667" r="-100637" b="-500000"/>
                          </a:stretch>
                        </a:blipFill>
                      </a:tcPr>
                    </a:tc>
                    <a:tc>
                      <a:txBody>
                        <a:bodyPr/>
                        <a:lstStyle/>
                        <a:p>
                          <a:endParaRPr lang="en-US"/>
                        </a:p>
                      </a:txBody>
                      <a:tcPr>
                        <a:blipFill>
                          <a:blip r:embed="rId2"/>
                          <a:stretch>
                            <a:fillRect l="-200426" t="-286667" r="-851" b="-500000"/>
                          </a:stretch>
                        </a:blipFill>
                      </a:tcPr>
                    </a:tc>
                    <a:extLst>
                      <a:ext uri="{0D108BD9-81ED-4DB2-BD59-A6C34878D82A}">
                        <a16:rowId xmlns:a16="http://schemas.microsoft.com/office/drawing/2014/main" val="3362600575"/>
                      </a:ext>
                    </a:extLst>
                  </a:tr>
                  <a:tr h="640080">
                    <a:tc>
                      <a:txBody>
                        <a:bodyPr/>
                        <a:lstStyle/>
                        <a:p>
                          <a:r>
                            <a:rPr lang="en-US" dirty="0"/>
                            <a:t>If it is raining, then the ground is wet.</a:t>
                          </a:r>
                        </a:p>
                      </a:txBody>
                      <a:tcPr/>
                    </a:tc>
                    <a:tc>
                      <a:txBody>
                        <a:bodyPr/>
                        <a:lstStyle/>
                        <a:p>
                          <a:endParaRPr lang="en-US"/>
                        </a:p>
                      </a:txBody>
                      <a:tcPr>
                        <a:blipFill>
                          <a:blip r:embed="rId2"/>
                          <a:stretch>
                            <a:fillRect l="-100000" t="-386667" r="-100637" b="-400000"/>
                          </a:stretch>
                        </a:blipFill>
                      </a:tcPr>
                    </a:tc>
                    <a:tc>
                      <a:txBody>
                        <a:bodyPr/>
                        <a:lstStyle/>
                        <a:p>
                          <a:r>
                            <a:rPr lang="en-US" dirty="0">
                              <a:sym typeface="Wingdings" panose="05000000000000000000" pitchFamily="2" charset="2"/>
                            </a:rPr>
                            <a:t>PQ</a:t>
                          </a:r>
                          <a:endParaRPr lang="en-US" dirty="0"/>
                        </a:p>
                      </a:txBody>
                      <a:tcPr/>
                    </a:tc>
                    <a:extLst>
                      <a:ext uri="{0D108BD9-81ED-4DB2-BD59-A6C34878D82A}">
                        <a16:rowId xmlns:a16="http://schemas.microsoft.com/office/drawing/2014/main" val="2268939965"/>
                      </a:ext>
                    </a:extLst>
                  </a:tr>
                  <a:tr h="640080">
                    <a:tc>
                      <a:txBody>
                        <a:bodyPr/>
                        <a:lstStyle/>
                        <a:p>
                          <a:r>
                            <a:rPr lang="en-US" dirty="0"/>
                            <a:t>The light is on if and only if there is electricity.</a:t>
                          </a:r>
                        </a:p>
                      </a:txBody>
                      <a:tcPr/>
                    </a:tc>
                    <a:tc>
                      <a:txBody>
                        <a:bodyPr/>
                        <a:lstStyle/>
                        <a:p>
                          <a:endParaRPr lang="en-US"/>
                        </a:p>
                      </a:txBody>
                      <a:tcPr>
                        <a:blipFill>
                          <a:blip r:embed="rId2"/>
                          <a:stretch>
                            <a:fillRect l="-100000" t="-486667" r="-100637" b="-300000"/>
                          </a:stretch>
                        </a:blipFill>
                      </a:tcPr>
                    </a:tc>
                    <a:tc>
                      <a:txBody>
                        <a:bodyPr/>
                        <a:lstStyle/>
                        <a:p>
                          <a:r>
                            <a:rPr lang="en-US" dirty="0"/>
                            <a:t>P </a:t>
                          </a:r>
                          <a:r>
                            <a:rPr lang="en-US" dirty="0">
                              <a:sym typeface="Wingdings" panose="05000000000000000000" pitchFamily="2" charset="2"/>
                            </a:rPr>
                            <a:t> Q</a:t>
                          </a:r>
                          <a:endParaRPr lang="en-US" dirty="0"/>
                        </a:p>
                      </a:txBody>
                      <a:tcPr/>
                    </a:tc>
                    <a:extLst>
                      <a:ext uri="{0D108BD9-81ED-4DB2-BD59-A6C34878D82A}">
                        <a16:rowId xmlns:a16="http://schemas.microsoft.com/office/drawing/2014/main" val="1647593492"/>
                      </a:ext>
                    </a:extLst>
                  </a:tr>
                  <a:tr h="914400">
                    <a:tc>
                      <a:txBody>
                        <a:bodyPr/>
                        <a:lstStyle/>
                        <a:p>
                          <a:r>
                            <a:rPr lang="en-US" dirty="0"/>
                            <a:t>If it is raining and cold, then I will stay home.</a:t>
                          </a:r>
                        </a:p>
                      </a:txBody>
                      <a:tcPr/>
                    </a:tc>
                    <a:tc>
                      <a:txBody>
                        <a:bodyPr/>
                        <a:lstStyle/>
                        <a:p>
                          <a:endParaRPr lang="en-US"/>
                        </a:p>
                      </a:txBody>
                      <a:tcPr>
                        <a:blipFill>
                          <a:blip r:embed="rId2"/>
                          <a:stretch>
                            <a:fillRect l="-100000" t="-410667" r="-100637" b="-110000"/>
                          </a:stretch>
                        </a:blipFill>
                      </a:tcPr>
                    </a:tc>
                    <a:tc>
                      <a:txBody>
                        <a:bodyPr/>
                        <a:lstStyle/>
                        <a:p>
                          <a:r>
                            <a:rPr lang="en-US" dirty="0"/>
                            <a:t>(</a:t>
                          </a:r>
                          <a:r>
                            <a:rPr lang="en-US" dirty="0" err="1"/>
                            <a:t>p∧q</a:t>
                          </a:r>
                          <a:r>
                            <a:rPr lang="en-US" dirty="0"/>
                            <a:t>)→r</a:t>
                          </a:r>
                        </a:p>
                      </a:txBody>
                      <a:tcPr/>
                    </a:tc>
                    <a:extLst>
                      <a:ext uri="{0D108BD9-81ED-4DB2-BD59-A6C34878D82A}">
                        <a16:rowId xmlns:a16="http://schemas.microsoft.com/office/drawing/2014/main" val="23721612"/>
                      </a:ext>
                    </a:extLst>
                  </a:tr>
                  <a:tr h="914400">
                    <a:tc>
                      <a:txBody>
                        <a:bodyPr/>
                        <a:lstStyle/>
                        <a:p>
                          <a:r>
                            <a:rPr lang="en-US" dirty="0"/>
                            <a:t>You will fail unless you study.</a:t>
                          </a:r>
                        </a:p>
                      </a:txBody>
                      <a:tcPr/>
                    </a:tc>
                    <a:tc>
                      <a:txBody>
                        <a:bodyPr/>
                        <a:lstStyle/>
                        <a:p>
                          <a:endParaRPr lang="en-US"/>
                        </a:p>
                      </a:txBody>
                      <a:tcPr>
                        <a:blipFill>
                          <a:blip r:embed="rId2"/>
                          <a:stretch>
                            <a:fillRect l="-100000" t="-510667" r="-100637" b="-10000"/>
                          </a:stretch>
                        </a:blipFill>
                      </a:tcPr>
                    </a:tc>
                    <a:tc>
                      <a:txBody>
                        <a:bodyPr/>
                        <a:lstStyle/>
                        <a:p>
                          <a:r>
                            <a:rPr lang="en-US" dirty="0"/>
                            <a:t>¬</a:t>
                          </a:r>
                          <a:r>
                            <a:rPr lang="en-US" dirty="0" err="1"/>
                            <a:t>p→q</a:t>
                          </a:r>
                          <a:endParaRPr lang="en-US" dirty="0"/>
                        </a:p>
                      </a:txBody>
                      <a:tcPr/>
                    </a:tc>
                    <a:extLst>
                      <a:ext uri="{0D108BD9-81ED-4DB2-BD59-A6C34878D82A}">
                        <a16:rowId xmlns:a16="http://schemas.microsoft.com/office/drawing/2014/main" val="942913115"/>
                      </a:ext>
                    </a:extLst>
                  </a:tr>
                </a:tbl>
              </a:graphicData>
            </a:graphic>
          </p:graphicFrame>
        </mc:Fallback>
      </mc:AlternateContent>
      <p:sp>
        <p:nvSpPr>
          <p:cNvPr id="4" name="Footer Placeholder 3">
            <a:extLst>
              <a:ext uri="{FF2B5EF4-FFF2-40B4-BE49-F238E27FC236}">
                <a16:creationId xmlns:a16="http://schemas.microsoft.com/office/drawing/2014/main" id="{7D6ECDF0-80F8-602F-6DA6-735D0A8B3543}"/>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411813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66A00-D353-1DE3-0C2C-85C0F58B3049}"/>
              </a:ext>
            </a:extLst>
          </p:cNvPr>
          <p:cNvSpPr>
            <a:spLocks noGrp="1"/>
          </p:cNvSpPr>
          <p:nvPr>
            <p:ph type="title"/>
          </p:nvPr>
        </p:nvSpPr>
        <p:spPr/>
        <p:txBody>
          <a:bodyPr/>
          <a:lstStyle/>
          <a:p>
            <a:r>
              <a:rPr lang="en-US" dirty="0"/>
              <a:t>Practice</a:t>
            </a:r>
          </a:p>
        </p:txBody>
      </p:sp>
      <p:sp>
        <p:nvSpPr>
          <p:cNvPr id="3" name="Content Placeholder 2">
            <a:extLst>
              <a:ext uri="{FF2B5EF4-FFF2-40B4-BE49-F238E27FC236}">
                <a16:creationId xmlns:a16="http://schemas.microsoft.com/office/drawing/2014/main" id="{CC940313-6A6C-381D-3566-FAA408B1F30D}"/>
              </a:ext>
            </a:extLst>
          </p:cNvPr>
          <p:cNvSpPr>
            <a:spLocks noGrp="1"/>
          </p:cNvSpPr>
          <p:nvPr>
            <p:ph idx="1"/>
          </p:nvPr>
        </p:nvSpPr>
        <p:spPr>
          <a:xfrm>
            <a:off x="677334" y="1862139"/>
            <a:ext cx="8596668" cy="4544348"/>
          </a:xfrm>
        </p:spPr>
        <p:txBody>
          <a:bodyPr>
            <a:normAutofit fontScale="85000" lnSpcReduction="20000"/>
          </a:bodyPr>
          <a:lstStyle/>
          <a:p>
            <a:r>
              <a:rPr lang="en-US" dirty="0"/>
              <a:t>If I study hard and attend classes, then I will pass the exam, but if I do not study, I will fail.</a:t>
            </a:r>
          </a:p>
          <a:p>
            <a:r>
              <a:rPr lang="en-US" dirty="0"/>
              <a:t>Only if you work hard will you succeed</a:t>
            </a:r>
          </a:p>
          <a:p>
            <a:r>
              <a:rPr lang="en-US" dirty="0"/>
              <a:t>If a student passes the exam and submits the project, then the student gets a certificate.</a:t>
            </a:r>
          </a:p>
          <a:p>
            <a:r>
              <a:rPr lang="en-US" dirty="0"/>
              <a:t>If a student attends lectures regularly and completes assignments, then the student will pass the course.</a:t>
            </a:r>
          </a:p>
          <a:p>
            <a:r>
              <a:rPr lang="en-US" dirty="0"/>
              <a:t>A student can appear in the final exam only if attendance is above 75%.</a:t>
            </a:r>
          </a:p>
          <a:p>
            <a:r>
              <a:rPr lang="en-US" dirty="0"/>
              <a:t>A user can access the system if and only if the user is authenticated and authorized.</a:t>
            </a:r>
          </a:p>
          <a:p>
            <a:r>
              <a:rPr lang="en-US" dirty="0"/>
              <a:t>If a student has not completed the prerequisite course, then the student cannot register for the advanced course.</a:t>
            </a:r>
          </a:p>
          <a:p>
            <a:r>
              <a:rPr lang="en-US" dirty="0"/>
              <a:t>A student will receive a scholarship if the student has a high GPA and has no disciplinary record.</a:t>
            </a:r>
          </a:p>
          <a:p>
            <a:r>
              <a:rPr lang="en-US" dirty="0"/>
              <a:t>If the server crashes or the network fails, then the system becomes unavailable.</a:t>
            </a:r>
          </a:p>
          <a:p>
            <a:r>
              <a:rPr lang="en-US" dirty="0"/>
              <a:t>The software will be deployed only if testing is completed and all critical bugs are fixed.</a:t>
            </a:r>
          </a:p>
          <a:p>
            <a:r>
              <a:rPr lang="en-US" dirty="0"/>
              <a:t>A system will shut down unless a valid command is entered.</a:t>
            </a:r>
          </a:p>
          <a:p>
            <a:r>
              <a:rPr lang="en-US" dirty="0"/>
              <a:t>If a candidate is qualified and experienced, then the candidate is selected; otherwise, the candidate is rejected.</a:t>
            </a:r>
          </a:p>
        </p:txBody>
      </p:sp>
      <p:sp>
        <p:nvSpPr>
          <p:cNvPr id="4" name="Footer Placeholder 3">
            <a:extLst>
              <a:ext uri="{FF2B5EF4-FFF2-40B4-BE49-F238E27FC236}">
                <a16:creationId xmlns:a16="http://schemas.microsoft.com/office/drawing/2014/main" id="{C271D314-FB43-C5B3-FD44-0BCEECE3DE99}"/>
              </a:ext>
            </a:extLst>
          </p:cNvPr>
          <p:cNvSpPr>
            <a:spLocks noGrp="1"/>
          </p:cNvSpPr>
          <p:nvPr>
            <p:ph type="ftr" sz="quarter" idx="11"/>
          </p:nvPr>
        </p:nvSpPr>
        <p:spPr/>
        <p:txBody>
          <a:bodyPr/>
          <a:lstStyle/>
          <a:p>
            <a:r>
              <a:rPr lang="nb-NO"/>
              <a:t>kapil@nast.edu.np || kapilpant157</a:t>
            </a:r>
            <a:endParaRPr lang="en-US"/>
          </a:p>
        </p:txBody>
      </p:sp>
      <p:sp>
        <p:nvSpPr>
          <p:cNvPr id="5" name="TextBox 4">
            <a:extLst>
              <a:ext uri="{FF2B5EF4-FFF2-40B4-BE49-F238E27FC236}">
                <a16:creationId xmlns:a16="http://schemas.microsoft.com/office/drawing/2014/main" id="{D7A1FA1B-42FB-7994-201F-39577139903F}"/>
              </a:ext>
            </a:extLst>
          </p:cNvPr>
          <p:cNvSpPr txBox="1"/>
          <p:nvPr/>
        </p:nvSpPr>
        <p:spPr>
          <a:xfrm>
            <a:off x="7181850" y="495300"/>
            <a:ext cx="2029786" cy="369332"/>
          </a:xfrm>
          <a:prstGeom prst="rect">
            <a:avLst/>
          </a:prstGeom>
          <a:noFill/>
        </p:spPr>
        <p:txBody>
          <a:bodyPr wrap="none" rtlCol="0">
            <a:spAutoFit/>
          </a:bodyPr>
          <a:lstStyle/>
          <a:p>
            <a:r>
              <a:rPr lang="en-US" dirty="0"/>
              <a:t>But  works as AND</a:t>
            </a:r>
          </a:p>
        </p:txBody>
      </p:sp>
      <p:sp>
        <p:nvSpPr>
          <p:cNvPr id="6" name="Freeform: Shape 5">
            <a:extLst>
              <a:ext uri="{FF2B5EF4-FFF2-40B4-BE49-F238E27FC236}">
                <a16:creationId xmlns:a16="http://schemas.microsoft.com/office/drawing/2014/main" id="{9D87994D-FD7A-7E87-1355-32EC90D6582A}"/>
              </a:ext>
            </a:extLst>
          </p:cNvPr>
          <p:cNvSpPr/>
          <p:nvPr/>
        </p:nvSpPr>
        <p:spPr>
          <a:xfrm>
            <a:off x="6587796" y="876300"/>
            <a:ext cx="1622753" cy="852489"/>
          </a:xfrm>
          <a:custGeom>
            <a:avLst/>
            <a:gdLst>
              <a:gd name="csX0" fmla="*/ 0 w 1714500"/>
              <a:gd name="csY0" fmla="*/ 1352550 h 1352550"/>
              <a:gd name="csX1" fmla="*/ 247650 w 1714500"/>
              <a:gd name="csY1" fmla="*/ 685800 h 1352550"/>
              <a:gd name="csX2" fmla="*/ 304800 w 1714500"/>
              <a:gd name="csY2" fmla="*/ 628650 h 1352550"/>
              <a:gd name="csX3" fmla="*/ 476250 w 1714500"/>
              <a:gd name="csY3" fmla="*/ 514350 h 1352550"/>
              <a:gd name="csX4" fmla="*/ 628650 w 1714500"/>
              <a:gd name="csY4" fmla="*/ 381000 h 1352550"/>
              <a:gd name="csX5" fmla="*/ 952500 w 1714500"/>
              <a:gd name="csY5" fmla="*/ 228600 h 1352550"/>
              <a:gd name="csX6" fmla="*/ 1085850 w 1714500"/>
              <a:gd name="csY6" fmla="*/ 209550 h 1352550"/>
              <a:gd name="csX7" fmla="*/ 1219200 w 1714500"/>
              <a:gd name="csY7" fmla="*/ 171450 h 1352550"/>
              <a:gd name="csX8" fmla="*/ 1619250 w 1714500"/>
              <a:gd name="csY8" fmla="*/ 133350 h 1352550"/>
              <a:gd name="csX9" fmla="*/ 1638300 w 1714500"/>
              <a:gd name="csY9" fmla="*/ 76200 h 1352550"/>
              <a:gd name="csX10" fmla="*/ 1695450 w 1714500"/>
              <a:gd name="csY10" fmla="*/ 19050 h 1352550"/>
              <a:gd name="csX11" fmla="*/ 1714500 w 1714500"/>
              <a:gd name="csY11" fmla="*/ 0 h 1352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14500" h="1352550">
                <a:moveTo>
                  <a:pt x="0" y="1352550"/>
                </a:moveTo>
                <a:cubicBezTo>
                  <a:pt x="90486" y="1058470"/>
                  <a:pt x="99220" y="908445"/>
                  <a:pt x="247650" y="685800"/>
                </a:cubicBezTo>
                <a:cubicBezTo>
                  <a:pt x="262594" y="663384"/>
                  <a:pt x="284525" y="646391"/>
                  <a:pt x="304800" y="628650"/>
                </a:cubicBezTo>
                <a:cubicBezTo>
                  <a:pt x="398740" y="546452"/>
                  <a:pt x="380085" y="562432"/>
                  <a:pt x="476250" y="514350"/>
                </a:cubicBezTo>
                <a:cubicBezTo>
                  <a:pt x="529872" y="433917"/>
                  <a:pt x="515056" y="440267"/>
                  <a:pt x="628650" y="381000"/>
                </a:cubicBezTo>
                <a:cubicBezTo>
                  <a:pt x="734425" y="325813"/>
                  <a:pt x="834393" y="245472"/>
                  <a:pt x="952500" y="228600"/>
                </a:cubicBezTo>
                <a:cubicBezTo>
                  <a:pt x="996950" y="222250"/>
                  <a:pt x="1041945" y="218958"/>
                  <a:pt x="1085850" y="209550"/>
                </a:cubicBezTo>
                <a:cubicBezTo>
                  <a:pt x="1131053" y="199864"/>
                  <a:pt x="1173436" y="177988"/>
                  <a:pt x="1219200" y="171450"/>
                </a:cubicBezTo>
                <a:cubicBezTo>
                  <a:pt x="1351807" y="152506"/>
                  <a:pt x="1485900" y="146050"/>
                  <a:pt x="1619250" y="133350"/>
                </a:cubicBezTo>
                <a:cubicBezTo>
                  <a:pt x="1625600" y="114300"/>
                  <a:pt x="1627161" y="92908"/>
                  <a:pt x="1638300" y="76200"/>
                </a:cubicBezTo>
                <a:cubicBezTo>
                  <a:pt x="1653244" y="53784"/>
                  <a:pt x="1676400" y="38100"/>
                  <a:pt x="1695450" y="19050"/>
                </a:cubicBezTo>
                <a:lnTo>
                  <a:pt x="1714500" y="0"/>
                </a:lnTo>
              </a:path>
            </a:pathLst>
          </a:cu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C661C77-6AE2-AEFD-8588-BE843807E245}"/>
                  </a:ext>
                </a:extLst>
              </p:cNvPr>
              <p:cNvSpPr txBox="1"/>
              <p:nvPr/>
            </p:nvSpPr>
            <p:spPr>
              <a:xfrm>
                <a:off x="5010151" y="251461"/>
                <a:ext cx="1622752" cy="1477328"/>
              </a:xfrm>
              <a:prstGeom prst="rect">
                <a:avLst/>
              </a:prstGeom>
              <a:noFill/>
            </p:spPr>
            <p:txBody>
              <a:bodyPr wrap="none" rtlCol="0">
                <a:spAutoFit/>
              </a:bodyPr>
              <a:lstStyle/>
              <a:p>
                <a:r>
                  <a:rPr lang="en-US" dirty="0">
                    <a:latin typeface="Aparajita" panose="02020603050405020304" pitchFamily="18" charset="0"/>
                    <a:cs typeface="Aparajita" panose="02020603050405020304" pitchFamily="18" charset="0"/>
                  </a:rPr>
                  <a:t>Watch keywords:</a:t>
                </a:r>
              </a:p>
              <a:p>
                <a:r>
                  <a:rPr lang="en-US" b="1" dirty="0">
                    <a:latin typeface="Aparajita" panose="02020603050405020304" pitchFamily="18" charset="0"/>
                    <a:cs typeface="Aparajita" panose="02020603050405020304" pitchFamily="18" charset="0"/>
                  </a:rPr>
                  <a:t>only if</a:t>
                </a:r>
                <a:r>
                  <a:rPr lang="en-US" dirty="0">
                    <a:latin typeface="Aparajita" panose="02020603050405020304" pitchFamily="18" charset="0"/>
                    <a:cs typeface="Aparajita" panose="02020603050405020304" pitchFamily="18" charset="0"/>
                  </a:rPr>
                  <a:t> = </a:t>
                </a:r>
                <a14:m>
                  <m:oMath xmlns:m="http://schemas.openxmlformats.org/officeDocument/2006/math">
                    <m:r>
                      <a:rPr lang="en-US">
                        <a:latin typeface="Cambria Math" panose="02040503050406030204" pitchFamily="18" charset="0"/>
                      </a:rPr>
                      <m:t>→</m:t>
                    </m:r>
                  </m:oMath>
                </a14:m>
                <a:endParaRPr lang="en-US" dirty="0">
                  <a:latin typeface="Aparajita" panose="02020603050405020304" pitchFamily="18" charset="0"/>
                  <a:cs typeface="Aparajita" panose="02020603050405020304" pitchFamily="18" charset="0"/>
                </a:endParaRPr>
              </a:p>
              <a:p>
                <a:r>
                  <a:rPr lang="en-US" b="1" dirty="0">
                    <a:latin typeface="Aparajita" panose="02020603050405020304" pitchFamily="18" charset="0"/>
                    <a:cs typeface="Aparajita" panose="02020603050405020304" pitchFamily="18" charset="0"/>
                  </a:rPr>
                  <a:t>unless</a:t>
                </a:r>
                <a:r>
                  <a:rPr lang="en-US" dirty="0">
                    <a:latin typeface="Aparajita" panose="02020603050405020304" pitchFamily="18" charset="0"/>
                    <a:cs typeface="Aparajita" panose="02020603050405020304" pitchFamily="18" charset="0"/>
                  </a:rPr>
                  <a:t> = </a:t>
                </a:r>
                <a14:m>
                  <m:oMath xmlns:m="http://schemas.openxmlformats.org/officeDocument/2006/math">
                    <m:r>
                      <a:rPr lang="en-US">
                        <a:latin typeface="Cambria Math" panose="02040503050406030204" pitchFamily="18" charset="0"/>
                      </a:rPr>
                      <m:t>¬</m:t>
                    </m:r>
                    <m:r>
                      <a:rPr lang="en-US" i="1">
                        <a:latin typeface="Cambria Math" panose="02040503050406030204" pitchFamily="18" charset="0"/>
                      </a:rPr>
                      <m:t>𝑝</m:t>
                    </m:r>
                    <m:r>
                      <a:rPr lang="en-US">
                        <a:latin typeface="Cambria Math" panose="02040503050406030204" pitchFamily="18" charset="0"/>
                      </a:rPr>
                      <m:t>→</m:t>
                    </m:r>
                    <m:r>
                      <a:rPr lang="en-US" i="1">
                        <a:latin typeface="Cambria Math" panose="02040503050406030204" pitchFamily="18" charset="0"/>
                      </a:rPr>
                      <m:t>𝑞</m:t>
                    </m:r>
                  </m:oMath>
                </a14:m>
                <a:endParaRPr lang="en-US" dirty="0">
                  <a:latin typeface="Aparajita" panose="02020603050405020304" pitchFamily="18" charset="0"/>
                  <a:cs typeface="Aparajita" panose="02020603050405020304" pitchFamily="18" charset="0"/>
                </a:endParaRPr>
              </a:p>
              <a:p>
                <a:r>
                  <a:rPr lang="en-US" b="1" dirty="0">
                    <a:latin typeface="Aparajita" panose="02020603050405020304" pitchFamily="18" charset="0"/>
                    <a:cs typeface="Aparajita" panose="02020603050405020304" pitchFamily="18" charset="0"/>
                  </a:rPr>
                  <a:t>if and only if</a:t>
                </a:r>
                <a:r>
                  <a:rPr lang="en-US" dirty="0">
                    <a:latin typeface="Aparajita" panose="02020603050405020304" pitchFamily="18" charset="0"/>
                    <a:cs typeface="Aparajita" panose="02020603050405020304" pitchFamily="18" charset="0"/>
                  </a:rPr>
                  <a:t> = </a:t>
                </a:r>
                <a14:m>
                  <m:oMath xmlns:m="http://schemas.openxmlformats.org/officeDocument/2006/math">
                    <m:r>
                      <a:rPr lang="en-US">
                        <a:latin typeface="Cambria Math" panose="02040503050406030204" pitchFamily="18" charset="0"/>
                      </a:rPr>
                      <m:t>↔</m:t>
                    </m:r>
                  </m:oMath>
                </a14:m>
                <a:endParaRPr lang="en-US" dirty="0">
                  <a:latin typeface="Aparajita" panose="02020603050405020304" pitchFamily="18" charset="0"/>
                  <a:cs typeface="Aparajita" panose="02020603050405020304" pitchFamily="18" charset="0"/>
                </a:endParaRPr>
              </a:p>
              <a:p>
                <a:endParaRPr lang="en-US" dirty="0">
                  <a:latin typeface="Aparajita" panose="02020603050405020304" pitchFamily="18" charset="0"/>
                  <a:cs typeface="Aparajita" panose="02020603050405020304" pitchFamily="18" charset="0"/>
                </a:endParaRPr>
              </a:p>
            </p:txBody>
          </p:sp>
        </mc:Choice>
        <mc:Fallback xmlns="">
          <p:sp>
            <p:nvSpPr>
              <p:cNvPr id="7" name="TextBox 6">
                <a:extLst>
                  <a:ext uri="{FF2B5EF4-FFF2-40B4-BE49-F238E27FC236}">
                    <a16:creationId xmlns:a16="http://schemas.microsoft.com/office/drawing/2014/main" id="{AC661C77-6AE2-AEFD-8588-BE843807E245}"/>
                  </a:ext>
                </a:extLst>
              </p:cNvPr>
              <p:cNvSpPr txBox="1">
                <a:spLocks noRot="1" noChangeAspect="1" noMove="1" noResize="1" noEditPoints="1" noAdjustHandles="1" noChangeArrowheads="1" noChangeShapeType="1" noTextEdit="1"/>
              </p:cNvSpPr>
              <p:nvPr/>
            </p:nvSpPr>
            <p:spPr>
              <a:xfrm>
                <a:off x="5010151" y="251461"/>
                <a:ext cx="1622752" cy="1477328"/>
              </a:xfrm>
              <a:prstGeom prst="rect">
                <a:avLst/>
              </a:prstGeom>
              <a:blipFill>
                <a:blip r:embed="rId3"/>
                <a:stretch>
                  <a:fillRect l="-3383" t="-2058"/>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77980338-3E01-76CB-96B0-2655B9F44047}"/>
              </a:ext>
            </a:extLst>
          </p:cNvPr>
          <p:cNvSpPr txBox="1"/>
          <p:nvPr/>
        </p:nvSpPr>
        <p:spPr>
          <a:xfrm>
            <a:off x="3575378" y="6223924"/>
            <a:ext cx="6115050" cy="369332"/>
          </a:xfrm>
          <a:prstGeom prst="rect">
            <a:avLst/>
          </a:prstGeom>
          <a:noFill/>
        </p:spPr>
        <p:txBody>
          <a:bodyPr wrap="square">
            <a:spAutoFit/>
          </a:bodyPr>
          <a:lstStyle/>
          <a:p>
            <a:r>
              <a:rPr lang="en-US" dirty="0"/>
              <a:t>Student passed and failed the exam.  = ?</a:t>
            </a:r>
          </a:p>
        </p:txBody>
      </p:sp>
    </p:spTree>
    <p:extLst>
      <p:ext uri="{BB962C8B-B14F-4D97-AF65-F5344CB8AC3E}">
        <p14:creationId xmlns:p14="http://schemas.microsoft.com/office/powerpoint/2010/main" val="13065142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055CD-0F86-4D2B-C975-EB44A7B6A7F0}"/>
              </a:ext>
            </a:extLst>
          </p:cNvPr>
          <p:cNvSpPr>
            <a:spLocks noGrp="1"/>
          </p:cNvSpPr>
          <p:nvPr>
            <p:ph type="title"/>
          </p:nvPr>
        </p:nvSpPr>
        <p:spPr/>
        <p:txBody>
          <a:bodyPr/>
          <a:lstStyle/>
          <a:p>
            <a:r>
              <a:rPr lang="en-US" dirty="0"/>
              <a:t>Semantics</a:t>
            </a:r>
          </a:p>
        </p:txBody>
      </p:sp>
      <p:sp>
        <p:nvSpPr>
          <p:cNvPr id="3" name="Content Placeholder 2">
            <a:extLst>
              <a:ext uri="{FF2B5EF4-FFF2-40B4-BE49-F238E27FC236}">
                <a16:creationId xmlns:a16="http://schemas.microsoft.com/office/drawing/2014/main" id="{D430F8B7-9A88-935B-9596-D6935AC94CCB}"/>
              </a:ext>
            </a:extLst>
          </p:cNvPr>
          <p:cNvSpPr>
            <a:spLocks noGrp="1"/>
          </p:cNvSpPr>
          <p:nvPr>
            <p:ph idx="1"/>
          </p:nvPr>
        </p:nvSpPr>
        <p:spPr/>
        <p:txBody>
          <a:bodyPr/>
          <a:lstStyle/>
          <a:p>
            <a:r>
              <a:rPr lang="en-US" dirty="0"/>
              <a:t>It defines the rules for determining the Truth of a sentence w.r.t particular model.</a:t>
            </a:r>
          </a:p>
          <a:p>
            <a:r>
              <a:rPr lang="en-US" dirty="0"/>
              <a:t>Assigns </a:t>
            </a:r>
            <a:r>
              <a:rPr lang="en-US" b="1" dirty="0"/>
              <a:t>truth value </a:t>
            </a:r>
            <a:r>
              <a:rPr lang="en-US" dirty="0"/>
              <a:t>either true or false for every propositional symbol</a:t>
            </a:r>
          </a:p>
          <a:p>
            <a:r>
              <a:rPr lang="en-US" dirty="0"/>
              <a:t>Logical Equivalence: When two statements always have same truth value</a:t>
            </a:r>
          </a:p>
          <a:p>
            <a:pPr lvl="1"/>
            <a:r>
              <a:rPr lang="en-US" dirty="0"/>
              <a:t>Ex: P </a:t>
            </a:r>
            <a:r>
              <a:rPr lang="en-US" dirty="0">
                <a:sym typeface="Wingdings" panose="05000000000000000000" pitchFamily="2" charset="2"/>
              </a:rPr>
              <a:t></a:t>
            </a:r>
            <a:r>
              <a:rPr lang="en-US" dirty="0"/>
              <a:t> Q  is equivalent to </a:t>
            </a:r>
            <a:r>
              <a:rPr kumimoji="0" lang="en-US" altLang="en-US" sz="1600" b="0" i="0" u="none" strike="noStrike" cap="none" normalizeH="0" baseline="0" dirty="0">
                <a:ln>
                  <a:noFill/>
                </a:ln>
                <a:solidFill>
                  <a:schemeClr val="tx1"/>
                </a:solidFill>
                <a:effectLst/>
                <a:latin typeface="Arial" panose="020B0604020202020204" pitchFamily="34" charset="0"/>
              </a:rPr>
              <a:t>¬ P v Q </a:t>
            </a:r>
          </a:p>
          <a:p>
            <a:pPr lvl="1"/>
            <a:r>
              <a:rPr lang="en-US" dirty="0"/>
              <a:t>P</a:t>
            </a:r>
            <a:r>
              <a:rPr lang="en-US" dirty="0">
                <a:sym typeface="Wingdings" panose="05000000000000000000" pitchFamily="2" charset="2"/>
              </a:rPr>
              <a:t>Q is equivalent </a:t>
            </a:r>
            <a:r>
              <a:rPr lang="en-US" dirty="0"/>
              <a:t>(P</a:t>
            </a:r>
            <a:r>
              <a:rPr lang="en-US" dirty="0">
                <a:sym typeface="Wingdings" panose="05000000000000000000" pitchFamily="2" charset="2"/>
              </a:rPr>
              <a:t>Q</a:t>
            </a:r>
            <a:r>
              <a:rPr lang="en-US" dirty="0"/>
              <a:t>) ^ (Q</a:t>
            </a:r>
            <a:r>
              <a:rPr lang="en-US" dirty="0">
                <a:sym typeface="Wingdings" panose="05000000000000000000" pitchFamily="2" charset="2"/>
              </a:rPr>
              <a:t>P)</a:t>
            </a:r>
            <a:endParaRPr lang="en-US" dirty="0"/>
          </a:p>
        </p:txBody>
      </p:sp>
      <p:sp>
        <p:nvSpPr>
          <p:cNvPr id="4" name="Footer Placeholder 3">
            <a:extLst>
              <a:ext uri="{FF2B5EF4-FFF2-40B4-BE49-F238E27FC236}">
                <a16:creationId xmlns:a16="http://schemas.microsoft.com/office/drawing/2014/main" id="{D809C584-172C-F7DE-1A69-FBDFC7A5C0E9}"/>
              </a:ext>
            </a:extLst>
          </p:cNvPr>
          <p:cNvSpPr>
            <a:spLocks noGrp="1"/>
          </p:cNvSpPr>
          <p:nvPr>
            <p:ph type="ftr" sz="quarter" idx="11"/>
          </p:nvPr>
        </p:nvSpPr>
        <p:spPr/>
        <p:txBody>
          <a:bodyPr/>
          <a:lstStyle/>
          <a:p>
            <a:r>
              <a:rPr lang="nb-NO"/>
              <a:t>kapil@nast.edu.np || kapilpant157</a:t>
            </a:r>
            <a:endParaRPr lang="en-US"/>
          </a:p>
        </p:txBody>
      </p:sp>
      <p:graphicFrame>
        <p:nvGraphicFramePr>
          <p:cNvPr id="6" name="Table 5">
            <a:extLst>
              <a:ext uri="{FF2B5EF4-FFF2-40B4-BE49-F238E27FC236}">
                <a16:creationId xmlns:a16="http://schemas.microsoft.com/office/drawing/2014/main" id="{301B7596-A1FC-48EA-BFDF-523CF11F25C1}"/>
              </a:ext>
            </a:extLst>
          </p:cNvPr>
          <p:cNvGraphicFramePr>
            <a:graphicFrameLocks noGrp="1"/>
          </p:cNvGraphicFramePr>
          <p:nvPr>
            <p:extLst>
              <p:ext uri="{D42A27DB-BD31-4B8C-83A1-F6EECF244321}">
                <p14:modId xmlns:p14="http://schemas.microsoft.com/office/powerpoint/2010/main" val="2702619752"/>
              </p:ext>
            </p:extLst>
          </p:nvPr>
        </p:nvGraphicFramePr>
        <p:xfrm>
          <a:off x="1876867" y="4488180"/>
          <a:ext cx="6197602" cy="2103120"/>
        </p:xfrm>
        <a:graphic>
          <a:graphicData uri="http://schemas.openxmlformats.org/drawingml/2006/table">
            <a:tbl>
              <a:tblPr firstRow="1" bandRow="1">
                <a:tableStyleId>{5C22544A-7EE6-4342-B048-85BDC9FD1C3A}</a:tableStyleId>
              </a:tblPr>
              <a:tblGrid>
                <a:gridCol w="603623">
                  <a:extLst>
                    <a:ext uri="{9D8B030D-6E8A-4147-A177-3AD203B41FA5}">
                      <a16:colId xmlns:a16="http://schemas.microsoft.com/office/drawing/2014/main" val="725577352"/>
                    </a:ext>
                  </a:extLst>
                </a:gridCol>
                <a:gridCol w="484094">
                  <a:extLst>
                    <a:ext uri="{9D8B030D-6E8A-4147-A177-3AD203B41FA5}">
                      <a16:colId xmlns:a16="http://schemas.microsoft.com/office/drawing/2014/main" val="3118405759"/>
                    </a:ext>
                  </a:extLst>
                </a:gridCol>
                <a:gridCol w="573741">
                  <a:extLst>
                    <a:ext uri="{9D8B030D-6E8A-4147-A177-3AD203B41FA5}">
                      <a16:colId xmlns:a16="http://schemas.microsoft.com/office/drawing/2014/main" val="3836987332"/>
                    </a:ext>
                  </a:extLst>
                </a:gridCol>
                <a:gridCol w="510427">
                  <a:extLst>
                    <a:ext uri="{9D8B030D-6E8A-4147-A177-3AD203B41FA5}">
                      <a16:colId xmlns:a16="http://schemas.microsoft.com/office/drawing/2014/main" val="3846109832"/>
                    </a:ext>
                  </a:extLst>
                </a:gridCol>
                <a:gridCol w="1031503">
                  <a:extLst>
                    <a:ext uri="{9D8B030D-6E8A-4147-A177-3AD203B41FA5}">
                      <a16:colId xmlns:a16="http://schemas.microsoft.com/office/drawing/2014/main" val="3756320492"/>
                    </a:ext>
                  </a:extLst>
                </a:gridCol>
                <a:gridCol w="878541">
                  <a:extLst>
                    <a:ext uri="{9D8B030D-6E8A-4147-A177-3AD203B41FA5}">
                      <a16:colId xmlns:a16="http://schemas.microsoft.com/office/drawing/2014/main" val="3028373780"/>
                    </a:ext>
                  </a:extLst>
                </a:gridCol>
                <a:gridCol w="968188">
                  <a:extLst>
                    <a:ext uri="{9D8B030D-6E8A-4147-A177-3AD203B41FA5}">
                      <a16:colId xmlns:a16="http://schemas.microsoft.com/office/drawing/2014/main" val="1161364185"/>
                    </a:ext>
                  </a:extLst>
                </a:gridCol>
                <a:gridCol w="1147485">
                  <a:extLst>
                    <a:ext uri="{9D8B030D-6E8A-4147-A177-3AD203B41FA5}">
                      <a16:colId xmlns:a16="http://schemas.microsoft.com/office/drawing/2014/main" val="3839746436"/>
                    </a:ext>
                  </a:extLst>
                </a:gridCol>
              </a:tblGrid>
              <a:tr h="622140">
                <a:tc>
                  <a:txBody>
                    <a:bodyPr/>
                    <a:lstStyle/>
                    <a:p>
                      <a:pPr algn="ctr"/>
                      <a:r>
                        <a:rPr lang="en-US" dirty="0"/>
                        <a:t>P</a:t>
                      </a:r>
                    </a:p>
                  </a:txBody>
                  <a:tcPr/>
                </a:tc>
                <a:tc>
                  <a:txBody>
                    <a:bodyPr/>
                    <a:lstStyle/>
                    <a:p>
                      <a:pPr algn="ctr"/>
                      <a:r>
                        <a:rPr lang="en-US" dirty="0"/>
                        <a:t>Q</a:t>
                      </a:r>
                    </a:p>
                  </a:txBody>
                  <a:tcPr/>
                </a:tc>
                <a:tc>
                  <a:txBody>
                    <a:bodyPr/>
                    <a:lstStyle/>
                    <a:p>
                      <a:pPr algn="ctr"/>
                      <a:r>
                        <a:rPr lang="en-US" dirty="0"/>
                        <a:t>- P</a:t>
                      </a:r>
                    </a:p>
                  </a:txBody>
                  <a:tcPr/>
                </a:tc>
                <a:tc>
                  <a:txBody>
                    <a:bodyPr/>
                    <a:lstStyle/>
                    <a:p>
                      <a:pPr marL="0" indent="0" algn="ctr">
                        <a:buFontTx/>
                        <a:buNone/>
                      </a:pPr>
                      <a:r>
                        <a:rPr lang="en-US" dirty="0"/>
                        <a:t>-Q</a:t>
                      </a:r>
                    </a:p>
                  </a:txBody>
                  <a:tcPr/>
                </a:tc>
                <a:tc>
                  <a:txBody>
                    <a:bodyPr/>
                    <a:lstStyle/>
                    <a:p>
                      <a:pPr algn="ctr"/>
                      <a:r>
                        <a:rPr lang="en-US" dirty="0"/>
                        <a:t>P ^ Q</a:t>
                      </a:r>
                    </a:p>
                  </a:txBody>
                  <a:tcPr/>
                </a:tc>
                <a:tc>
                  <a:txBody>
                    <a:bodyPr/>
                    <a:lstStyle/>
                    <a:p>
                      <a:pPr algn="ctr"/>
                      <a:r>
                        <a:rPr lang="en-US" dirty="0"/>
                        <a:t>P </a:t>
                      </a:r>
                      <a:r>
                        <a:rPr lang="en-US" dirty="0">
                          <a:sym typeface="Wingdings" panose="05000000000000000000" pitchFamily="2" charset="2"/>
                        </a:rPr>
                        <a:t>V</a:t>
                      </a:r>
                      <a:r>
                        <a:rPr lang="en-US" dirty="0"/>
                        <a:t> Q</a:t>
                      </a:r>
                    </a:p>
                  </a:txBody>
                  <a:tcPr/>
                </a:tc>
                <a:tc>
                  <a:txBody>
                    <a:bodyPr/>
                    <a:lstStyle/>
                    <a:p>
                      <a:pPr algn="ctr"/>
                      <a:r>
                        <a:rPr lang="en-US" dirty="0"/>
                        <a:t>P </a:t>
                      </a:r>
                      <a:r>
                        <a:rPr lang="en-US" dirty="0">
                          <a:sym typeface="Wingdings" panose="05000000000000000000" pitchFamily="2" charset="2"/>
                        </a:rPr>
                        <a:t> Q</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t>P </a:t>
                      </a:r>
                      <a:r>
                        <a:rPr lang="en-US" dirty="0">
                          <a:sym typeface="Wingdings" panose="05000000000000000000" pitchFamily="2" charset="2"/>
                        </a:rPr>
                        <a:t> Q</a:t>
                      </a:r>
                    </a:p>
                    <a:p>
                      <a:pPr algn="ctr"/>
                      <a:endParaRPr lang="en-US" dirty="0"/>
                    </a:p>
                  </a:txBody>
                  <a:tcPr/>
                </a:tc>
                <a:extLst>
                  <a:ext uri="{0D108BD9-81ED-4DB2-BD59-A6C34878D82A}">
                    <a16:rowId xmlns:a16="http://schemas.microsoft.com/office/drawing/2014/main" val="3205733401"/>
                  </a:ext>
                </a:extLst>
              </a:tr>
              <a:tr h="360446">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extLst>
                  <a:ext uri="{0D108BD9-81ED-4DB2-BD59-A6C34878D82A}">
                    <a16:rowId xmlns:a16="http://schemas.microsoft.com/office/drawing/2014/main" val="54565293"/>
                  </a:ext>
                </a:extLst>
              </a:tr>
              <a:tr h="360446">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2965559924"/>
                  </a:ext>
                </a:extLst>
              </a:tr>
              <a:tr h="360446">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extLst>
                  <a:ext uri="{0D108BD9-81ED-4DB2-BD59-A6C34878D82A}">
                    <a16:rowId xmlns:a16="http://schemas.microsoft.com/office/drawing/2014/main" val="884998453"/>
                  </a:ext>
                </a:extLst>
              </a:tr>
              <a:tr h="360446">
                <a:tc>
                  <a:txBody>
                    <a:bodyPr/>
                    <a:lstStyle/>
                    <a:p>
                      <a:pPr algn="ctr"/>
                      <a:r>
                        <a:rPr lang="en-US" dirty="0"/>
                        <a:t>F</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extLst>
                  <a:ext uri="{0D108BD9-81ED-4DB2-BD59-A6C34878D82A}">
                    <a16:rowId xmlns:a16="http://schemas.microsoft.com/office/drawing/2014/main" val="855841682"/>
                  </a:ext>
                </a:extLst>
              </a:tr>
            </a:tbl>
          </a:graphicData>
        </a:graphic>
      </p:graphicFrame>
    </p:spTree>
    <p:extLst>
      <p:ext uri="{BB962C8B-B14F-4D97-AF65-F5344CB8AC3E}">
        <p14:creationId xmlns:p14="http://schemas.microsoft.com/office/powerpoint/2010/main" val="1147133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C99DF-6919-3DE1-FD99-D2ACF6F4C7B9}"/>
              </a:ext>
            </a:extLst>
          </p:cNvPr>
          <p:cNvSpPr>
            <a:spLocks noGrp="1"/>
          </p:cNvSpPr>
          <p:nvPr>
            <p:ph type="title"/>
          </p:nvPr>
        </p:nvSpPr>
        <p:spPr/>
        <p:txBody>
          <a:bodyPr/>
          <a:lstStyle/>
          <a:p>
            <a:r>
              <a:rPr lang="en-US" dirty="0"/>
              <a:t>Making Truth table</a:t>
            </a:r>
          </a:p>
        </p:txBody>
      </p:sp>
      <p:sp>
        <p:nvSpPr>
          <p:cNvPr id="3" name="Content Placeholder 2">
            <a:extLst>
              <a:ext uri="{FF2B5EF4-FFF2-40B4-BE49-F238E27FC236}">
                <a16:creationId xmlns:a16="http://schemas.microsoft.com/office/drawing/2014/main" id="{EDF8A1ED-1429-B025-23B5-CA41303F92FD}"/>
              </a:ext>
            </a:extLst>
          </p:cNvPr>
          <p:cNvSpPr>
            <a:spLocks noGrp="1"/>
          </p:cNvSpPr>
          <p:nvPr>
            <p:ph idx="1"/>
          </p:nvPr>
        </p:nvSpPr>
        <p:spPr>
          <a:xfrm>
            <a:off x="677333" y="1722439"/>
            <a:ext cx="8596668" cy="3880773"/>
          </a:xfrm>
        </p:spPr>
        <p:txBody>
          <a:bodyPr/>
          <a:lstStyle/>
          <a:p>
            <a:r>
              <a:rPr lang="en-US" dirty="0"/>
              <a:t>Making truth table  if there are more arguments, will be tedious.</a:t>
            </a:r>
          </a:p>
          <a:p>
            <a:r>
              <a:rPr lang="en-US" dirty="0"/>
              <a:t>E.g. </a:t>
            </a:r>
          </a:p>
          <a:p>
            <a:pPr lvl="1"/>
            <a:r>
              <a:rPr lang="en-US" dirty="0"/>
              <a:t>If there are 3 arguments  TTT, then there will be 2^3 = 8 possible combinations.</a:t>
            </a:r>
          </a:p>
          <a:p>
            <a:pPr lvl="1"/>
            <a:r>
              <a:rPr lang="en-US" dirty="0"/>
              <a:t>If there are 10 arguments, then there will be 1024 combinations.</a:t>
            </a:r>
          </a:p>
          <a:p>
            <a:r>
              <a:rPr lang="en-US" dirty="0"/>
              <a:t>So, first find the validity of simple arguments to limit the no if outputs. We do this by  using Rules of Inference.</a:t>
            </a:r>
          </a:p>
          <a:p>
            <a:r>
              <a:rPr lang="en-US" dirty="0"/>
              <a:t>These rules can be used to construct more complicated arguments.</a:t>
            </a:r>
          </a:p>
          <a:p>
            <a:r>
              <a:rPr lang="en-US" dirty="0"/>
              <a:t>Output always results in Tautology</a:t>
            </a:r>
          </a:p>
        </p:txBody>
      </p:sp>
      <p:sp>
        <p:nvSpPr>
          <p:cNvPr id="4" name="Footer Placeholder 3">
            <a:extLst>
              <a:ext uri="{FF2B5EF4-FFF2-40B4-BE49-F238E27FC236}">
                <a16:creationId xmlns:a16="http://schemas.microsoft.com/office/drawing/2014/main" id="{9CBEC51A-5078-801B-E38B-7F662C35A677}"/>
              </a:ext>
            </a:extLst>
          </p:cNvPr>
          <p:cNvSpPr>
            <a:spLocks noGrp="1"/>
          </p:cNvSpPr>
          <p:nvPr>
            <p:ph type="ftr" sz="quarter" idx="11"/>
          </p:nvPr>
        </p:nvSpPr>
        <p:spPr/>
        <p:txBody>
          <a:bodyPr/>
          <a:lstStyle/>
          <a:p>
            <a:r>
              <a:rPr lang="nb-NO"/>
              <a:t>kapil@nast.edu.np || kapilpant157</a:t>
            </a:r>
            <a:endParaRPr lang="en-US"/>
          </a:p>
        </p:txBody>
      </p:sp>
      <p:graphicFrame>
        <p:nvGraphicFramePr>
          <p:cNvPr id="5" name="Table 4">
            <a:extLst>
              <a:ext uri="{FF2B5EF4-FFF2-40B4-BE49-F238E27FC236}">
                <a16:creationId xmlns:a16="http://schemas.microsoft.com/office/drawing/2014/main" id="{855E74CD-5C33-07BA-5549-4D63BEFEF607}"/>
              </a:ext>
            </a:extLst>
          </p:cNvPr>
          <p:cNvGraphicFramePr>
            <a:graphicFrameLocks noGrp="1"/>
          </p:cNvGraphicFramePr>
          <p:nvPr>
            <p:extLst>
              <p:ext uri="{D42A27DB-BD31-4B8C-83A1-F6EECF244321}">
                <p14:modId xmlns:p14="http://schemas.microsoft.com/office/powerpoint/2010/main" val="681189060"/>
              </p:ext>
            </p:extLst>
          </p:nvPr>
        </p:nvGraphicFramePr>
        <p:xfrm>
          <a:off x="1146002" y="4885936"/>
          <a:ext cx="8932275" cy="1483360"/>
        </p:xfrm>
        <a:graphic>
          <a:graphicData uri="http://schemas.openxmlformats.org/drawingml/2006/table">
            <a:tbl>
              <a:tblPr firstRow="1" bandRow="1">
                <a:tableStyleId>{5C22544A-7EE6-4342-B048-85BDC9FD1C3A}</a:tableStyleId>
              </a:tblPr>
              <a:tblGrid>
                <a:gridCol w="2977425">
                  <a:extLst>
                    <a:ext uri="{9D8B030D-6E8A-4147-A177-3AD203B41FA5}">
                      <a16:colId xmlns:a16="http://schemas.microsoft.com/office/drawing/2014/main" val="541624457"/>
                    </a:ext>
                  </a:extLst>
                </a:gridCol>
                <a:gridCol w="2977425">
                  <a:extLst>
                    <a:ext uri="{9D8B030D-6E8A-4147-A177-3AD203B41FA5}">
                      <a16:colId xmlns:a16="http://schemas.microsoft.com/office/drawing/2014/main" val="2848595125"/>
                    </a:ext>
                  </a:extLst>
                </a:gridCol>
                <a:gridCol w="2977425">
                  <a:extLst>
                    <a:ext uri="{9D8B030D-6E8A-4147-A177-3AD203B41FA5}">
                      <a16:colId xmlns:a16="http://schemas.microsoft.com/office/drawing/2014/main" val="3109799989"/>
                    </a:ext>
                  </a:extLst>
                </a:gridCol>
              </a:tblGrid>
              <a:tr h="370840">
                <a:tc>
                  <a:txBody>
                    <a:bodyPr/>
                    <a:lstStyle/>
                    <a:p>
                      <a:r>
                        <a:rPr lang="en-US" dirty="0"/>
                        <a:t>TAUTOLOGY</a:t>
                      </a:r>
                    </a:p>
                  </a:txBody>
                  <a:tcPr/>
                </a:tc>
                <a:tc>
                  <a:txBody>
                    <a:bodyPr/>
                    <a:lstStyle/>
                    <a:p>
                      <a:r>
                        <a:rPr lang="en-US" dirty="0"/>
                        <a:t>CONTRADICTION</a:t>
                      </a:r>
                    </a:p>
                  </a:txBody>
                  <a:tcPr/>
                </a:tc>
                <a:tc>
                  <a:txBody>
                    <a:bodyPr/>
                    <a:lstStyle/>
                    <a:p>
                      <a:r>
                        <a:rPr lang="en-US" dirty="0"/>
                        <a:t>CONTINGENCY</a:t>
                      </a:r>
                    </a:p>
                  </a:txBody>
                  <a:tcPr/>
                </a:tc>
                <a:extLst>
                  <a:ext uri="{0D108BD9-81ED-4DB2-BD59-A6C34878D82A}">
                    <a16:rowId xmlns:a16="http://schemas.microsoft.com/office/drawing/2014/main" val="3879198733"/>
                  </a:ext>
                </a:extLst>
              </a:tr>
              <a:tr h="370840">
                <a:tc>
                  <a:txBody>
                    <a:bodyPr/>
                    <a:lstStyle/>
                    <a:p>
                      <a:r>
                        <a:rPr lang="en-US" dirty="0"/>
                        <a:t>Always TRUE </a:t>
                      </a:r>
                    </a:p>
                  </a:txBody>
                  <a:tcPr/>
                </a:tc>
                <a:tc>
                  <a:txBody>
                    <a:bodyPr/>
                    <a:lstStyle/>
                    <a:p>
                      <a:r>
                        <a:rPr lang="en-US" dirty="0"/>
                        <a:t>Always FALSE</a:t>
                      </a:r>
                    </a:p>
                  </a:txBody>
                  <a:tcPr/>
                </a:tc>
                <a:tc>
                  <a:txBody>
                    <a:bodyPr/>
                    <a:lstStyle/>
                    <a:p>
                      <a:r>
                        <a:rPr lang="en-US" dirty="0"/>
                        <a:t>Sometimes TRUE or FALSE</a:t>
                      </a:r>
                    </a:p>
                  </a:txBody>
                  <a:tcPr/>
                </a:tc>
                <a:extLst>
                  <a:ext uri="{0D108BD9-81ED-4DB2-BD59-A6C34878D82A}">
                    <a16:rowId xmlns:a16="http://schemas.microsoft.com/office/drawing/2014/main" val="3552665189"/>
                  </a:ext>
                </a:extLst>
              </a:tr>
              <a:tr h="370840">
                <a:tc>
                  <a:txBody>
                    <a:bodyPr/>
                    <a:lstStyle/>
                    <a:p>
                      <a:r>
                        <a:rPr lang="en-US" dirty="0"/>
                        <a:t>Satisfiable</a:t>
                      </a:r>
                    </a:p>
                  </a:txBody>
                  <a:tcPr/>
                </a:tc>
                <a:tc>
                  <a:txBody>
                    <a:bodyPr/>
                    <a:lstStyle/>
                    <a:p>
                      <a:r>
                        <a:rPr lang="en-US" dirty="0"/>
                        <a:t>Unsatisfiable</a:t>
                      </a:r>
                    </a:p>
                  </a:txBody>
                  <a:tcPr/>
                </a:tc>
                <a:tc>
                  <a:txBody>
                    <a:bodyPr/>
                    <a:lstStyle/>
                    <a:p>
                      <a:r>
                        <a:rPr lang="en-US" dirty="0"/>
                        <a:t>Satisfiable</a:t>
                      </a:r>
                    </a:p>
                  </a:txBody>
                  <a:tcPr/>
                </a:tc>
                <a:extLst>
                  <a:ext uri="{0D108BD9-81ED-4DB2-BD59-A6C34878D82A}">
                    <a16:rowId xmlns:a16="http://schemas.microsoft.com/office/drawing/2014/main" val="523040927"/>
                  </a:ext>
                </a:extLst>
              </a:tr>
              <a:tr h="370840">
                <a:tc>
                  <a:txBody>
                    <a:bodyPr/>
                    <a:lstStyle/>
                    <a:p>
                      <a:r>
                        <a:rPr lang="en-US" dirty="0"/>
                        <a:t>VALID</a:t>
                      </a:r>
                    </a:p>
                  </a:txBody>
                  <a:tcPr/>
                </a:tc>
                <a:tc>
                  <a:txBody>
                    <a:bodyPr/>
                    <a:lstStyle/>
                    <a:p>
                      <a:r>
                        <a:rPr lang="en-US" dirty="0"/>
                        <a:t>INVALID </a:t>
                      </a:r>
                    </a:p>
                  </a:txBody>
                  <a:tcPr/>
                </a:tc>
                <a:tc>
                  <a:txBody>
                    <a:bodyPr/>
                    <a:lstStyle/>
                    <a:p>
                      <a:r>
                        <a:rPr lang="en-US" dirty="0"/>
                        <a:t>INVALID </a:t>
                      </a:r>
                    </a:p>
                  </a:txBody>
                  <a:tcPr/>
                </a:tc>
                <a:extLst>
                  <a:ext uri="{0D108BD9-81ED-4DB2-BD59-A6C34878D82A}">
                    <a16:rowId xmlns:a16="http://schemas.microsoft.com/office/drawing/2014/main" val="3603695856"/>
                  </a:ext>
                </a:extLst>
              </a:tr>
            </a:tbl>
          </a:graphicData>
        </a:graphic>
      </p:graphicFrame>
    </p:spTree>
    <p:extLst>
      <p:ext uri="{BB962C8B-B14F-4D97-AF65-F5344CB8AC3E}">
        <p14:creationId xmlns:p14="http://schemas.microsoft.com/office/powerpoint/2010/main" val="4075810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7D282-BA96-B126-9B2D-D9CF1D60B214}"/>
              </a:ext>
            </a:extLst>
          </p:cNvPr>
          <p:cNvSpPr>
            <a:spLocks noGrp="1"/>
          </p:cNvSpPr>
          <p:nvPr>
            <p:ph type="title"/>
          </p:nvPr>
        </p:nvSpPr>
        <p:spPr/>
        <p:txBody>
          <a:bodyPr/>
          <a:lstStyle/>
          <a:p>
            <a:r>
              <a:rPr lang="en-US" dirty="0"/>
              <a:t>Inference in propositional Logic</a:t>
            </a:r>
          </a:p>
        </p:txBody>
      </p:sp>
      <p:sp>
        <p:nvSpPr>
          <p:cNvPr id="3" name="Content Placeholder 2">
            <a:extLst>
              <a:ext uri="{FF2B5EF4-FFF2-40B4-BE49-F238E27FC236}">
                <a16:creationId xmlns:a16="http://schemas.microsoft.com/office/drawing/2014/main" id="{D6EDF155-AA76-1D11-3EA0-5EA992007EAA}"/>
              </a:ext>
            </a:extLst>
          </p:cNvPr>
          <p:cNvSpPr>
            <a:spLocks noGrp="1"/>
          </p:cNvSpPr>
          <p:nvPr>
            <p:ph idx="1"/>
          </p:nvPr>
        </p:nvSpPr>
        <p:spPr>
          <a:xfrm>
            <a:off x="677334" y="2183449"/>
            <a:ext cx="8596668" cy="4435715"/>
          </a:xfrm>
        </p:spPr>
        <p:txBody>
          <a:bodyPr>
            <a:normAutofit/>
          </a:bodyPr>
          <a:lstStyle/>
          <a:p>
            <a:r>
              <a:rPr lang="en-US" dirty="0"/>
              <a:t>Deriving Conclusions from Premises or For finding validity of argument</a:t>
            </a:r>
          </a:p>
          <a:p>
            <a:r>
              <a:rPr lang="en-US" dirty="0"/>
              <a:t>An inference rule is a logical rule that allows us to derive a new true statement (conclusion) from given true statements (premises).</a:t>
            </a:r>
          </a:p>
          <a:p>
            <a:r>
              <a:rPr lang="en-US" dirty="0"/>
              <a:t>If the premises are true, the conclusion must be true.</a:t>
            </a:r>
          </a:p>
          <a:p>
            <a:r>
              <a:rPr lang="en-US" dirty="0"/>
              <a:t>Inference rules form the basis of reasoning in:</a:t>
            </a:r>
          </a:p>
          <a:p>
            <a:pPr lvl="1"/>
            <a:r>
              <a:rPr lang="en-US" dirty="0"/>
              <a:t>Artificial Intelligence</a:t>
            </a:r>
          </a:p>
          <a:p>
            <a:pPr lvl="1"/>
            <a:r>
              <a:rPr lang="en-US" dirty="0"/>
              <a:t>Automated theorem proving</a:t>
            </a:r>
          </a:p>
          <a:p>
            <a:pPr lvl="1"/>
            <a:r>
              <a:rPr lang="en-US" dirty="0"/>
              <a:t>Expert systems</a:t>
            </a:r>
          </a:p>
          <a:p>
            <a:pPr marL="0" indent="0" algn="l">
              <a:buNone/>
            </a:pPr>
            <a:r>
              <a:rPr lang="en-US" b="1" i="0" dirty="0">
                <a:solidFill>
                  <a:srgbClr val="2C3E5D"/>
                </a:solidFill>
                <a:effectLst/>
                <a:latin typeface="Open Sans" panose="020B0606030504020204" pitchFamily="34" charset="0"/>
              </a:rPr>
              <a:t>Antecedent</a:t>
            </a:r>
            <a:r>
              <a:rPr lang="en-US" b="0" i="0" dirty="0">
                <a:solidFill>
                  <a:srgbClr val="2C3E5D"/>
                </a:solidFill>
                <a:effectLst/>
                <a:latin typeface="Open Sans" panose="020B0606030504020204" pitchFamily="34" charset="0"/>
              </a:rPr>
              <a:t>: The first part of a conditional statement, following “if.”</a:t>
            </a:r>
          </a:p>
          <a:p>
            <a:pPr marL="0" indent="0" algn="l">
              <a:buNone/>
            </a:pPr>
            <a:r>
              <a:rPr lang="en-US" b="1" i="0" dirty="0">
                <a:solidFill>
                  <a:srgbClr val="2C3E5D"/>
                </a:solidFill>
                <a:effectLst/>
                <a:latin typeface="Open Sans" panose="020B0606030504020204" pitchFamily="34" charset="0"/>
              </a:rPr>
              <a:t>Consequent</a:t>
            </a:r>
            <a:r>
              <a:rPr lang="en-US" b="0" i="0" dirty="0">
                <a:solidFill>
                  <a:srgbClr val="2C3E5D"/>
                </a:solidFill>
                <a:effectLst/>
                <a:latin typeface="Open Sans" panose="020B0606030504020204" pitchFamily="34" charset="0"/>
              </a:rPr>
              <a:t>: The second part of a conditional statement, following “then</a:t>
            </a:r>
          </a:p>
          <a:p>
            <a:endParaRPr lang="en-US" dirty="0"/>
          </a:p>
          <a:p>
            <a:endParaRPr lang="en-US" dirty="0"/>
          </a:p>
          <a:p>
            <a:pPr lvl="1"/>
            <a:endParaRPr lang="en-US" dirty="0"/>
          </a:p>
          <a:p>
            <a:endParaRPr lang="en-US" dirty="0"/>
          </a:p>
        </p:txBody>
      </p:sp>
      <p:sp>
        <p:nvSpPr>
          <p:cNvPr id="4" name="Footer Placeholder 3">
            <a:extLst>
              <a:ext uri="{FF2B5EF4-FFF2-40B4-BE49-F238E27FC236}">
                <a16:creationId xmlns:a16="http://schemas.microsoft.com/office/drawing/2014/main" id="{94E11437-AFDB-5DB9-03AA-5F638086E769}"/>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400242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oup of math equations&#10;&#10;Description automatically generated">
            <a:extLst>
              <a:ext uri="{FF2B5EF4-FFF2-40B4-BE49-F238E27FC236}">
                <a16:creationId xmlns:a16="http://schemas.microsoft.com/office/drawing/2014/main" id="{DBFDDCE1-6AC7-FB75-1489-CD36673C2F97}"/>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26511" r="26831"/>
          <a:stretch/>
        </p:blipFill>
        <p:spPr>
          <a:xfrm>
            <a:off x="3821399" y="-130100"/>
            <a:ext cx="6234546" cy="7118200"/>
          </a:xfrm>
        </p:spPr>
      </p:pic>
      <p:sp>
        <p:nvSpPr>
          <p:cNvPr id="8" name="TextBox 7">
            <a:extLst>
              <a:ext uri="{FF2B5EF4-FFF2-40B4-BE49-F238E27FC236}">
                <a16:creationId xmlns:a16="http://schemas.microsoft.com/office/drawing/2014/main" id="{F1A539EE-2873-7494-C0BD-90DE9699E3CB}"/>
              </a:ext>
            </a:extLst>
          </p:cNvPr>
          <p:cNvSpPr txBox="1"/>
          <p:nvPr/>
        </p:nvSpPr>
        <p:spPr>
          <a:xfrm>
            <a:off x="9454909" y="4156364"/>
            <a:ext cx="1771639" cy="369332"/>
          </a:xfrm>
          <a:prstGeom prst="rect">
            <a:avLst/>
          </a:prstGeom>
          <a:noFill/>
        </p:spPr>
        <p:txBody>
          <a:bodyPr wrap="none" rtlCol="0">
            <a:spAutoFit/>
          </a:bodyPr>
          <a:lstStyle/>
          <a:p>
            <a:r>
              <a:rPr lang="en-US" dirty="0"/>
              <a:t>Or introduction</a:t>
            </a:r>
          </a:p>
        </p:txBody>
      </p:sp>
      <p:sp>
        <p:nvSpPr>
          <p:cNvPr id="9" name="TextBox 8">
            <a:extLst>
              <a:ext uri="{FF2B5EF4-FFF2-40B4-BE49-F238E27FC236}">
                <a16:creationId xmlns:a16="http://schemas.microsoft.com/office/drawing/2014/main" id="{D974966C-384E-F5F5-F1EC-6BBFC7C41280}"/>
              </a:ext>
            </a:extLst>
          </p:cNvPr>
          <p:cNvSpPr txBox="1"/>
          <p:nvPr/>
        </p:nvSpPr>
        <p:spPr>
          <a:xfrm>
            <a:off x="9490773" y="4798970"/>
            <a:ext cx="1851789" cy="369332"/>
          </a:xfrm>
          <a:prstGeom prst="rect">
            <a:avLst/>
          </a:prstGeom>
          <a:noFill/>
        </p:spPr>
        <p:txBody>
          <a:bodyPr wrap="none" rtlCol="0">
            <a:spAutoFit/>
          </a:bodyPr>
          <a:lstStyle/>
          <a:p>
            <a:r>
              <a:rPr lang="en-US" dirty="0"/>
              <a:t>AND elimination</a:t>
            </a:r>
          </a:p>
        </p:txBody>
      </p:sp>
      <p:sp>
        <p:nvSpPr>
          <p:cNvPr id="2" name="Footer Placeholder 1">
            <a:extLst>
              <a:ext uri="{FF2B5EF4-FFF2-40B4-BE49-F238E27FC236}">
                <a16:creationId xmlns:a16="http://schemas.microsoft.com/office/drawing/2014/main" id="{1653D7B1-EEAE-6DEF-57A6-33B783FFF87B}"/>
              </a:ext>
            </a:extLst>
          </p:cNvPr>
          <p:cNvSpPr>
            <a:spLocks noGrp="1"/>
          </p:cNvSpPr>
          <p:nvPr>
            <p:ph type="ftr" sz="quarter" idx="11"/>
          </p:nvPr>
        </p:nvSpPr>
        <p:spPr/>
        <p:txBody>
          <a:bodyPr/>
          <a:lstStyle/>
          <a:p>
            <a:r>
              <a:rPr lang="nb-NO"/>
              <a:t>kapil@nast.edu.np || kapilpant157</a:t>
            </a:r>
            <a:endParaRPr lang="en-US"/>
          </a:p>
        </p:txBody>
      </p:sp>
      <p:sp>
        <p:nvSpPr>
          <p:cNvPr id="3" name="TextBox 2">
            <a:extLst>
              <a:ext uri="{FF2B5EF4-FFF2-40B4-BE49-F238E27FC236}">
                <a16:creationId xmlns:a16="http://schemas.microsoft.com/office/drawing/2014/main" id="{A0710C4A-A7E0-8343-3991-60F26D03B7C1}"/>
              </a:ext>
            </a:extLst>
          </p:cNvPr>
          <p:cNvSpPr txBox="1"/>
          <p:nvPr/>
        </p:nvSpPr>
        <p:spPr>
          <a:xfrm>
            <a:off x="601633" y="591672"/>
            <a:ext cx="2397901" cy="523220"/>
          </a:xfrm>
          <a:prstGeom prst="rect">
            <a:avLst/>
          </a:prstGeom>
          <a:noFill/>
        </p:spPr>
        <p:txBody>
          <a:bodyPr wrap="none" rtlCol="0">
            <a:spAutoFit/>
          </a:bodyPr>
          <a:lstStyle/>
          <a:p>
            <a:pPr lvl="0" defTabSz="914400">
              <a:defRPr/>
            </a:pPr>
            <a:r>
              <a:rPr lang="en-US" sz="1400" dirty="0">
                <a:solidFill>
                  <a:srgbClr val="0070C0"/>
                </a:solidFill>
              </a:rPr>
              <a:t>If </a:t>
            </a:r>
            <a:r>
              <a:rPr lang="en-US" sz="1400" i="1" dirty="0">
                <a:solidFill>
                  <a:srgbClr val="0070C0"/>
                </a:solidFill>
              </a:rPr>
              <a:t>P implies Q</a:t>
            </a:r>
            <a:r>
              <a:rPr lang="en-US" sz="1400" dirty="0">
                <a:solidFill>
                  <a:srgbClr val="0070C0"/>
                </a:solidFill>
              </a:rPr>
              <a:t> and </a:t>
            </a:r>
            <a:r>
              <a:rPr lang="en-US" sz="1400" i="1" dirty="0">
                <a:solidFill>
                  <a:srgbClr val="0070C0"/>
                </a:solidFill>
              </a:rPr>
              <a:t>P is true</a:t>
            </a:r>
            <a:r>
              <a:rPr lang="en-US" sz="1400" dirty="0">
                <a:solidFill>
                  <a:srgbClr val="0070C0"/>
                </a:solidFill>
              </a:rPr>
              <a:t>,</a:t>
            </a:r>
          </a:p>
          <a:p>
            <a:pPr lvl="0" defTabSz="914400">
              <a:defRPr/>
            </a:pPr>
            <a:r>
              <a:rPr lang="en-US" sz="1400" dirty="0">
                <a:solidFill>
                  <a:srgbClr val="0070C0"/>
                </a:solidFill>
              </a:rPr>
              <a:t>then </a:t>
            </a:r>
            <a:r>
              <a:rPr lang="en-US" sz="1400" i="1" dirty="0">
                <a:solidFill>
                  <a:srgbClr val="0070C0"/>
                </a:solidFill>
              </a:rPr>
              <a:t>Q must be true</a:t>
            </a:r>
            <a:r>
              <a:rPr lang="en-US" sz="1400" dirty="0">
                <a:solidFill>
                  <a:srgbClr val="0070C0"/>
                </a:solidFill>
              </a:rPr>
              <a:t>.</a:t>
            </a:r>
          </a:p>
        </p:txBody>
      </p:sp>
      <p:sp>
        <p:nvSpPr>
          <p:cNvPr id="4" name="TextBox 3">
            <a:extLst>
              <a:ext uri="{FF2B5EF4-FFF2-40B4-BE49-F238E27FC236}">
                <a16:creationId xmlns:a16="http://schemas.microsoft.com/office/drawing/2014/main" id="{3EC69370-6C7F-AAC2-2899-A3F8146C7038}"/>
              </a:ext>
            </a:extLst>
          </p:cNvPr>
          <p:cNvSpPr txBox="1"/>
          <p:nvPr/>
        </p:nvSpPr>
        <p:spPr>
          <a:xfrm>
            <a:off x="1298033" y="1586754"/>
            <a:ext cx="2473498" cy="523220"/>
          </a:xfrm>
          <a:prstGeom prst="rect">
            <a:avLst/>
          </a:prstGeom>
          <a:noFill/>
        </p:spPr>
        <p:txBody>
          <a:bodyPr wrap="none" rtlCol="0">
            <a:spAutoFit/>
          </a:bodyPr>
          <a:lstStyle/>
          <a:p>
            <a:pPr lvl="0" defTabSz="914400">
              <a:defRPr/>
            </a:pPr>
            <a:r>
              <a:rPr lang="en-US" sz="1400" dirty="0">
                <a:solidFill>
                  <a:schemeClr val="accent4">
                    <a:lumMod val="75000"/>
                  </a:schemeClr>
                </a:solidFill>
              </a:rPr>
              <a:t>If </a:t>
            </a:r>
            <a:r>
              <a:rPr lang="en-US" sz="1400" i="1" dirty="0">
                <a:solidFill>
                  <a:schemeClr val="accent4">
                    <a:lumMod val="75000"/>
                  </a:schemeClr>
                </a:solidFill>
              </a:rPr>
              <a:t>P implies Q</a:t>
            </a:r>
            <a:r>
              <a:rPr lang="en-US" sz="1400" dirty="0">
                <a:solidFill>
                  <a:schemeClr val="accent4">
                    <a:lumMod val="75000"/>
                  </a:schemeClr>
                </a:solidFill>
              </a:rPr>
              <a:t> and </a:t>
            </a:r>
            <a:r>
              <a:rPr lang="en-US" sz="1400" i="1" dirty="0">
                <a:solidFill>
                  <a:schemeClr val="accent4">
                    <a:lumMod val="75000"/>
                  </a:schemeClr>
                </a:solidFill>
              </a:rPr>
              <a:t>Q is false</a:t>
            </a:r>
            <a:r>
              <a:rPr lang="en-US" sz="1400" dirty="0">
                <a:solidFill>
                  <a:schemeClr val="accent4">
                    <a:lumMod val="75000"/>
                  </a:schemeClr>
                </a:solidFill>
              </a:rPr>
              <a:t>,</a:t>
            </a:r>
          </a:p>
          <a:p>
            <a:pPr lvl="0" defTabSz="914400">
              <a:defRPr/>
            </a:pPr>
            <a:r>
              <a:rPr lang="en-US" sz="1400" dirty="0">
                <a:solidFill>
                  <a:schemeClr val="accent4">
                    <a:lumMod val="75000"/>
                  </a:schemeClr>
                </a:solidFill>
              </a:rPr>
              <a:t>then </a:t>
            </a:r>
            <a:r>
              <a:rPr lang="en-US" sz="1400" i="1" dirty="0">
                <a:solidFill>
                  <a:schemeClr val="accent4">
                    <a:lumMod val="75000"/>
                  </a:schemeClr>
                </a:solidFill>
              </a:rPr>
              <a:t>P must be false</a:t>
            </a:r>
            <a:r>
              <a:rPr lang="en-US" sz="1400" dirty="0">
                <a:solidFill>
                  <a:schemeClr val="accent4">
                    <a:lumMod val="75000"/>
                  </a:schemeClr>
                </a:solidFill>
              </a:rPr>
              <a:t>.</a:t>
            </a:r>
          </a:p>
        </p:txBody>
      </p:sp>
      <p:sp>
        <p:nvSpPr>
          <p:cNvPr id="6" name="TextBox 5">
            <a:extLst>
              <a:ext uri="{FF2B5EF4-FFF2-40B4-BE49-F238E27FC236}">
                <a16:creationId xmlns:a16="http://schemas.microsoft.com/office/drawing/2014/main" id="{48ECD360-50AF-4005-251D-EA5BB2504FBE}"/>
              </a:ext>
            </a:extLst>
          </p:cNvPr>
          <p:cNvSpPr txBox="1"/>
          <p:nvPr/>
        </p:nvSpPr>
        <p:spPr>
          <a:xfrm>
            <a:off x="897559" y="2432411"/>
            <a:ext cx="2630785" cy="523220"/>
          </a:xfrm>
          <a:prstGeom prst="rect">
            <a:avLst/>
          </a:prstGeom>
          <a:noFill/>
        </p:spPr>
        <p:txBody>
          <a:bodyPr wrap="none" rtlCol="0">
            <a:spAutoFit/>
          </a:bodyPr>
          <a:lstStyle/>
          <a:p>
            <a:pPr lvl="0" defTabSz="914400">
              <a:defRPr/>
            </a:pPr>
            <a:r>
              <a:rPr lang="en-US" sz="1400" dirty="0">
                <a:solidFill>
                  <a:schemeClr val="accent2">
                    <a:lumMod val="75000"/>
                  </a:schemeClr>
                </a:solidFill>
              </a:rPr>
              <a:t>If P implies Q and Q implies R,</a:t>
            </a:r>
          </a:p>
          <a:p>
            <a:pPr lvl="0" defTabSz="914400">
              <a:defRPr/>
            </a:pPr>
            <a:r>
              <a:rPr lang="en-US" sz="1400" dirty="0">
                <a:solidFill>
                  <a:schemeClr val="accent2">
                    <a:lumMod val="75000"/>
                  </a:schemeClr>
                </a:solidFill>
              </a:rPr>
              <a:t>then P implies R.</a:t>
            </a:r>
          </a:p>
        </p:txBody>
      </p:sp>
      <p:sp>
        <p:nvSpPr>
          <p:cNvPr id="7" name="TextBox 6">
            <a:extLst>
              <a:ext uri="{FF2B5EF4-FFF2-40B4-BE49-F238E27FC236}">
                <a16:creationId xmlns:a16="http://schemas.microsoft.com/office/drawing/2014/main" id="{2E4594E1-3390-5863-7238-4F479BB3FEA8}"/>
              </a:ext>
            </a:extLst>
          </p:cNvPr>
          <p:cNvSpPr txBox="1"/>
          <p:nvPr/>
        </p:nvSpPr>
        <p:spPr>
          <a:xfrm>
            <a:off x="677334" y="3350480"/>
            <a:ext cx="2892138" cy="523220"/>
          </a:xfrm>
          <a:prstGeom prst="rect">
            <a:avLst/>
          </a:prstGeom>
          <a:noFill/>
        </p:spPr>
        <p:txBody>
          <a:bodyPr wrap="none" rtlCol="0">
            <a:spAutoFit/>
          </a:bodyPr>
          <a:lstStyle/>
          <a:p>
            <a:pPr lvl="0" defTabSz="914400">
              <a:defRPr/>
            </a:pPr>
            <a:r>
              <a:rPr lang="en-US" sz="1400" dirty="0">
                <a:solidFill>
                  <a:srgbClr val="7F1363"/>
                </a:solidFill>
              </a:rPr>
              <a:t>If one of the propositions is false,</a:t>
            </a:r>
          </a:p>
          <a:p>
            <a:pPr lvl="0" defTabSz="914400">
              <a:defRPr/>
            </a:pPr>
            <a:r>
              <a:rPr lang="en-US" sz="1400" dirty="0">
                <a:solidFill>
                  <a:srgbClr val="7F1363"/>
                </a:solidFill>
              </a:rPr>
              <a:t>the other must be true.</a:t>
            </a:r>
          </a:p>
        </p:txBody>
      </p:sp>
      <p:sp>
        <p:nvSpPr>
          <p:cNvPr id="10" name="TextBox 9">
            <a:extLst>
              <a:ext uri="{FF2B5EF4-FFF2-40B4-BE49-F238E27FC236}">
                <a16:creationId xmlns:a16="http://schemas.microsoft.com/office/drawing/2014/main" id="{1AC73E52-AA52-59CA-9CDC-8669D8BCD260}"/>
              </a:ext>
            </a:extLst>
          </p:cNvPr>
          <p:cNvSpPr txBox="1"/>
          <p:nvPr/>
        </p:nvSpPr>
        <p:spPr>
          <a:xfrm>
            <a:off x="1490830" y="5488945"/>
            <a:ext cx="2177134" cy="523220"/>
          </a:xfrm>
          <a:prstGeom prst="rect">
            <a:avLst/>
          </a:prstGeom>
          <a:noFill/>
        </p:spPr>
        <p:txBody>
          <a:bodyPr wrap="none" rtlCol="0">
            <a:spAutoFit/>
          </a:bodyPr>
          <a:lstStyle/>
          <a:p>
            <a:pPr lvl="0" defTabSz="914400">
              <a:defRPr/>
            </a:pPr>
            <a:r>
              <a:rPr lang="en-US" sz="1400" dirty="0">
                <a:solidFill>
                  <a:srgbClr val="00B0F0"/>
                </a:solidFill>
              </a:rPr>
              <a:t>If P is true and Q is true,</a:t>
            </a:r>
          </a:p>
          <a:p>
            <a:pPr lvl="0" defTabSz="914400">
              <a:defRPr/>
            </a:pPr>
            <a:r>
              <a:rPr lang="en-US" sz="1400" dirty="0">
                <a:solidFill>
                  <a:srgbClr val="00B0F0"/>
                </a:solidFill>
              </a:rPr>
              <a:t>then P AND Q is true.</a:t>
            </a:r>
          </a:p>
        </p:txBody>
      </p:sp>
      <p:sp>
        <p:nvSpPr>
          <p:cNvPr id="11" name="TextBox 10">
            <a:extLst>
              <a:ext uri="{FF2B5EF4-FFF2-40B4-BE49-F238E27FC236}">
                <a16:creationId xmlns:a16="http://schemas.microsoft.com/office/drawing/2014/main" id="{96DEE032-C65F-9390-436A-3C5FCDA6A16D}"/>
              </a:ext>
            </a:extLst>
          </p:cNvPr>
          <p:cNvSpPr txBox="1"/>
          <p:nvPr/>
        </p:nvSpPr>
        <p:spPr>
          <a:xfrm>
            <a:off x="1298033" y="6214958"/>
            <a:ext cx="2683748" cy="523220"/>
          </a:xfrm>
          <a:prstGeom prst="rect">
            <a:avLst/>
          </a:prstGeom>
          <a:noFill/>
        </p:spPr>
        <p:txBody>
          <a:bodyPr wrap="none" rtlCol="0">
            <a:spAutoFit/>
          </a:bodyPr>
          <a:lstStyle/>
          <a:p>
            <a:pPr lvl="0" defTabSz="914400">
              <a:defRPr/>
            </a:pPr>
            <a:r>
              <a:rPr lang="en-US" sz="1400" dirty="0">
                <a:solidFill>
                  <a:schemeClr val="accent5">
                    <a:lumMod val="75000"/>
                  </a:schemeClr>
                </a:solidFill>
              </a:rPr>
              <a:t>Eliminate complementary </a:t>
            </a:r>
          </a:p>
          <a:p>
            <a:pPr lvl="0" defTabSz="914400">
              <a:defRPr/>
            </a:pPr>
            <a:r>
              <a:rPr lang="en-US" sz="1400" dirty="0">
                <a:solidFill>
                  <a:schemeClr val="accent5">
                    <a:lumMod val="75000"/>
                  </a:schemeClr>
                </a:solidFill>
              </a:rPr>
              <a:t>literals to derive a new clause.</a:t>
            </a:r>
          </a:p>
        </p:txBody>
      </p:sp>
      <p:sp>
        <p:nvSpPr>
          <p:cNvPr id="12" name="TextBox 11">
            <a:extLst>
              <a:ext uri="{FF2B5EF4-FFF2-40B4-BE49-F238E27FC236}">
                <a16:creationId xmlns:a16="http://schemas.microsoft.com/office/drawing/2014/main" id="{BFDB27AD-99A0-2FE6-B5AF-CB11CD52691A}"/>
              </a:ext>
            </a:extLst>
          </p:cNvPr>
          <p:cNvSpPr txBox="1"/>
          <p:nvPr/>
        </p:nvSpPr>
        <p:spPr>
          <a:xfrm>
            <a:off x="1625992" y="3935496"/>
            <a:ext cx="2053767" cy="738664"/>
          </a:xfrm>
          <a:prstGeom prst="rect">
            <a:avLst/>
          </a:prstGeom>
          <a:noFill/>
        </p:spPr>
        <p:txBody>
          <a:bodyPr wrap="none" rtlCol="0">
            <a:spAutoFit/>
          </a:bodyPr>
          <a:lstStyle/>
          <a:p>
            <a:pPr lvl="0" defTabSz="914400">
              <a:defRPr/>
            </a:pPr>
            <a:r>
              <a:rPr lang="en-US" sz="1400" dirty="0">
                <a:solidFill>
                  <a:srgbClr val="7030A0"/>
                </a:solidFill>
              </a:rPr>
              <a:t>If P is true,</a:t>
            </a:r>
          </a:p>
          <a:p>
            <a:pPr lvl="0" defTabSz="914400">
              <a:defRPr/>
            </a:pPr>
            <a:r>
              <a:rPr lang="en-US" sz="1400" dirty="0">
                <a:solidFill>
                  <a:srgbClr val="7030A0"/>
                </a:solidFill>
              </a:rPr>
              <a:t>then P OR Q is true </a:t>
            </a:r>
          </a:p>
          <a:p>
            <a:pPr lvl="0" defTabSz="914400">
              <a:defRPr/>
            </a:pPr>
            <a:r>
              <a:rPr lang="en-US" sz="1400" dirty="0">
                <a:solidFill>
                  <a:srgbClr val="7030A0"/>
                </a:solidFill>
              </a:rPr>
              <a:t>(even if Q is unknown).</a:t>
            </a:r>
          </a:p>
        </p:txBody>
      </p:sp>
      <p:sp>
        <p:nvSpPr>
          <p:cNvPr id="13" name="TextBox 12">
            <a:extLst>
              <a:ext uri="{FF2B5EF4-FFF2-40B4-BE49-F238E27FC236}">
                <a16:creationId xmlns:a16="http://schemas.microsoft.com/office/drawing/2014/main" id="{B1C66763-8622-1C6D-A108-55DE7CA9807D}"/>
              </a:ext>
            </a:extLst>
          </p:cNvPr>
          <p:cNvSpPr txBox="1"/>
          <p:nvPr/>
        </p:nvSpPr>
        <p:spPr>
          <a:xfrm>
            <a:off x="1335539" y="4788204"/>
            <a:ext cx="2780441" cy="523220"/>
          </a:xfrm>
          <a:prstGeom prst="rect">
            <a:avLst/>
          </a:prstGeom>
          <a:noFill/>
        </p:spPr>
        <p:txBody>
          <a:bodyPr wrap="none" rtlCol="0">
            <a:spAutoFit/>
          </a:bodyPr>
          <a:lstStyle/>
          <a:p>
            <a:pPr lvl="0" defTabSz="914400">
              <a:defRPr/>
            </a:pPr>
            <a:r>
              <a:rPr lang="en-US" sz="1400" dirty="0">
                <a:solidFill>
                  <a:schemeClr val="accent5">
                    <a:lumMod val="50000"/>
                  </a:schemeClr>
                </a:solidFill>
              </a:rPr>
              <a:t>From a conjunction, each part </a:t>
            </a:r>
          </a:p>
          <a:p>
            <a:pPr lvl="0" defTabSz="914400">
              <a:defRPr/>
            </a:pPr>
            <a:r>
              <a:rPr lang="en-US" sz="1400" dirty="0">
                <a:solidFill>
                  <a:schemeClr val="accent5">
                    <a:lumMod val="50000"/>
                  </a:schemeClr>
                </a:solidFill>
              </a:rPr>
              <a:t>can be inferred separately. Or Q</a:t>
            </a:r>
          </a:p>
        </p:txBody>
      </p:sp>
      <p:sp>
        <p:nvSpPr>
          <p:cNvPr id="14" name="TextBox 13">
            <a:extLst>
              <a:ext uri="{FF2B5EF4-FFF2-40B4-BE49-F238E27FC236}">
                <a16:creationId xmlns:a16="http://schemas.microsoft.com/office/drawing/2014/main" id="{A7F70306-8340-DD0F-218F-592E6DFA9B54}"/>
              </a:ext>
            </a:extLst>
          </p:cNvPr>
          <p:cNvSpPr txBox="1"/>
          <p:nvPr/>
        </p:nvSpPr>
        <p:spPr>
          <a:xfrm>
            <a:off x="7494496" y="1615241"/>
            <a:ext cx="312906" cy="369332"/>
          </a:xfrm>
          <a:prstGeom prst="rect">
            <a:avLst/>
          </a:prstGeom>
          <a:noFill/>
        </p:spPr>
        <p:txBody>
          <a:bodyPr wrap="square" rtlCol="0">
            <a:spAutoFit/>
          </a:bodyPr>
          <a:lstStyle/>
          <a:p>
            <a:r>
              <a:rPr lang="en-US" dirty="0">
                <a:solidFill>
                  <a:schemeClr val="accent4">
                    <a:lumMod val="75000"/>
                  </a:schemeClr>
                </a:solidFill>
              </a:rPr>
              <a:t>p</a:t>
            </a:r>
          </a:p>
        </p:txBody>
      </p:sp>
    </p:spTree>
    <p:extLst>
      <p:ext uri="{BB962C8B-B14F-4D97-AF65-F5344CB8AC3E}">
        <p14:creationId xmlns:p14="http://schemas.microsoft.com/office/powerpoint/2010/main" val="705089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6774B-D301-362F-0094-8FBA318E7620}"/>
              </a:ext>
            </a:extLst>
          </p:cNvPr>
          <p:cNvSpPr>
            <a:spLocks noGrp="1"/>
          </p:cNvSpPr>
          <p:nvPr>
            <p:ph type="title"/>
          </p:nvPr>
        </p:nvSpPr>
        <p:spPr/>
        <p:txBody>
          <a:bodyPr/>
          <a:lstStyle/>
          <a:p>
            <a:r>
              <a:rPr lang="en-US" dirty="0"/>
              <a:t>Examples:</a:t>
            </a:r>
          </a:p>
        </p:txBody>
      </p:sp>
      <p:pic>
        <p:nvPicPr>
          <p:cNvPr id="5" name="Content Placeholder 4">
            <a:extLst>
              <a:ext uri="{FF2B5EF4-FFF2-40B4-BE49-F238E27FC236}">
                <a16:creationId xmlns:a16="http://schemas.microsoft.com/office/drawing/2014/main" id="{D6C6234A-9C01-1AC4-D8EC-255DE70A74C4}"/>
              </a:ext>
            </a:extLst>
          </p:cNvPr>
          <p:cNvPicPr>
            <a:picLocks noGrp="1" noChangeAspect="1"/>
          </p:cNvPicPr>
          <p:nvPr>
            <p:ph idx="1"/>
          </p:nvPr>
        </p:nvPicPr>
        <p:blipFill>
          <a:blip r:embed="rId2"/>
          <a:stretch>
            <a:fillRect/>
          </a:stretch>
        </p:blipFill>
        <p:spPr>
          <a:xfrm>
            <a:off x="5880830" y="4501626"/>
            <a:ext cx="5142756" cy="1553181"/>
          </a:xfrm>
        </p:spPr>
      </p:pic>
      <p:pic>
        <p:nvPicPr>
          <p:cNvPr id="7" name="Picture 6">
            <a:extLst>
              <a:ext uri="{FF2B5EF4-FFF2-40B4-BE49-F238E27FC236}">
                <a16:creationId xmlns:a16="http://schemas.microsoft.com/office/drawing/2014/main" id="{75FAA33B-ACDA-2F0E-1807-51A4D772718F}"/>
              </a:ext>
            </a:extLst>
          </p:cNvPr>
          <p:cNvPicPr>
            <a:picLocks noChangeAspect="1"/>
          </p:cNvPicPr>
          <p:nvPr/>
        </p:nvPicPr>
        <p:blipFill>
          <a:blip r:embed="rId3"/>
          <a:stretch>
            <a:fillRect/>
          </a:stretch>
        </p:blipFill>
        <p:spPr>
          <a:xfrm>
            <a:off x="604173" y="2835525"/>
            <a:ext cx="5276657" cy="2008458"/>
          </a:xfrm>
          <a:prstGeom prst="rect">
            <a:avLst/>
          </a:prstGeom>
        </p:spPr>
      </p:pic>
      <p:pic>
        <p:nvPicPr>
          <p:cNvPr id="9" name="Picture 8">
            <a:extLst>
              <a:ext uri="{FF2B5EF4-FFF2-40B4-BE49-F238E27FC236}">
                <a16:creationId xmlns:a16="http://schemas.microsoft.com/office/drawing/2014/main" id="{CD12BCA7-57B6-2B20-6A06-3BE9090F8EF0}"/>
              </a:ext>
            </a:extLst>
          </p:cNvPr>
          <p:cNvPicPr>
            <a:picLocks noChangeAspect="1"/>
          </p:cNvPicPr>
          <p:nvPr/>
        </p:nvPicPr>
        <p:blipFill>
          <a:blip r:embed="rId4"/>
          <a:stretch>
            <a:fillRect/>
          </a:stretch>
        </p:blipFill>
        <p:spPr>
          <a:xfrm>
            <a:off x="946691" y="1598342"/>
            <a:ext cx="4591623" cy="1356333"/>
          </a:xfrm>
          <a:prstGeom prst="rect">
            <a:avLst/>
          </a:prstGeom>
        </p:spPr>
      </p:pic>
      <p:pic>
        <p:nvPicPr>
          <p:cNvPr id="11" name="Picture 10">
            <a:extLst>
              <a:ext uri="{FF2B5EF4-FFF2-40B4-BE49-F238E27FC236}">
                <a16:creationId xmlns:a16="http://schemas.microsoft.com/office/drawing/2014/main" id="{BC2B169A-FF0B-AE98-CF59-CAB5754A2518}"/>
              </a:ext>
            </a:extLst>
          </p:cNvPr>
          <p:cNvPicPr>
            <a:picLocks noChangeAspect="1"/>
          </p:cNvPicPr>
          <p:nvPr/>
        </p:nvPicPr>
        <p:blipFill>
          <a:blip r:embed="rId5"/>
          <a:stretch>
            <a:fillRect/>
          </a:stretch>
        </p:blipFill>
        <p:spPr>
          <a:xfrm>
            <a:off x="5474370" y="1101469"/>
            <a:ext cx="5450819" cy="1535244"/>
          </a:xfrm>
          <a:prstGeom prst="rect">
            <a:avLst/>
          </a:prstGeom>
        </p:spPr>
      </p:pic>
      <p:pic>
        <p:nvPicPr>
          <p:cNvPr id="13" name="Picture 12">
            <a:extLst>
              <a:ext uri="{FF2B5EF4-FFF2-40B4-BE49-F238E27FC236}">
                <a16:creationId xmlns:a16="http://schemas.microsoft.com/office/drawing/2014/main" id="{482B42EC-4F75-3EC1-B378-DD3FFD1A1C49}"/>
              </a:ext>
            </a:extLst>
          </p:cNvPr>
          <p:cNvPicPr>
            <a:picLocks noChangeAspect="1"/>
          </p:cNvPicPr>
          <p:nvPr/>
        </p:nvPicPr>
        <p:blipFill>
          <a:blip r:embed="rId6"/>
          <a:stretch>
            <a:fillRect/>
          </a:stretch>
        </p:blipFill>
        <p:spPr>
          <a:xfrm>
            <a:off x="5250924" y="3067751"/>
            <a:ext cx="6500400" cy="1320799"/>
          </a:xfrm>
          <a:prstGeom prst="rect">
            <a:avLst/>
          </a:prstGeom>
        </p:spPr>
      </p:pic>
      <p:pic>
        <p:nvPicPr>
          <p:cNvPr id="15" name="Picture 14">
            <a:extLst>
              <a:ext uri="{FF2B5EF4-FFF2-40B4-BE49-F238E27FC236}">
                <a16:creationId xmlns:a16="http://schemas.microsoft.com/office/drawing/2014/main" id="{18FE481A-C9FA-3D82-DC52-F5CC1367B2A6}"/>
              </a:ext>
            </a:extLst>
          </p:cNvPr>
          <p:cNvPicPr>
            <a:picLocks noChangeAspect="1"/>
          </p:cNvPicPr>
          <p:nvPr/>
        </p:nvPicPr>
        <p:blipFill>
          <a:blip r:embed="rId7"/>
          <a:stretch>
            <a:fillRect/>
          </a:stretch>
        </p:blipFill>
        <p:spPr>
          <a:xfrm>
            <a:off x="185895" y="4819588"/>
            <a:ext cx="5910105" cy="1474601"/>
          </a:xfrm>
          <a:prstGeom prst="rect">
            <a:avLst/>
          </a:prstGeom>
        </p:spPr>
      </p:pic>
      <p:sp>
        <p:nvSpPr>
          <p:cNvPr id="3" name="Footer Placeholder 2">
            <a:extLst>
              <a:ext uri="{FF2B5EF4-FFF2-40B4-BE49-F238E27FC236}">
                <a16:creationId xmlns:a16="http://schemas.microsoft.com/office/drawing/2014/main" id="{7D3E63A3-A358-A8CB-A98B-5A8D63698788}"/>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931027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7A9CA79C-11DB-0001-0B33-A478DAE91FF2}"/>
              </a:ext>
            </a:extLst>
          </p:cNvPr>
          <p:cNvSpPr/>
          <p:nvPr/>
        </p:nvSpPr>
        <p:spPr>
          <a:xfrm>
            <a:off x="8775831" y="3271920"/>
            <a:ext cx="2602232" cy="1414105"/>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C82A4D2-A5DA-4586-0D8A-C78266C3F3AD}"/>
              </a:ext>
            </a:extLst>
          </p:cNvPr>
          <p:cNvSpPr>
            <a:spLocks noGrp="1"/>
          </p:cNvSpPr>
          <p:nvPr>
            <p:ph type="title"/>
          </p:nvPr>
        </p:nvSpPr>
        <p:spPr/>
        <p:txBody>
          <a:bodyPr/>
          <a:lstStyle/>
          <a:p>
            <a:r>
              <a:rPr lang="en-US" dirty="0"/>
              <a:t>Conjunctive Normal form (CNF)</a:t>
            </a:r>
          </a:p>
        </p:txBody>
      </p:sp>
      <p:sp>
        <p:nvSpPr>
          <p:cNvPr id="3" name="Content Placeholder 2">
            <a:extLst>
              <a:ext uri="{FF2B5EF4-FFF2-40B4-BE49-F238E27FC236}">
                <a16:creationId xmlns:a16="http://schemas.microsoft.com/office/drawing/2014/main" id="{2549CA0F-800C-3577-1EDF-C991C7EF73EB}"/>
              </a:ext>
            </a:extLst>
          </p:cNvPr>
          <p:cNvSpPr>
            <a:spLocks noGrp="1"/>
          </p:cNvSpPr>
          <p:nvPr>
            <p:ph idx="1"/>
          </p:nvPr>
        </p:nvSpPr>
        <p:spPr/>
        <p:txBody>
          <a:bodyPr>
            <a:normAutofit/>
          </a:bodyPr>
          <a:lstStyle/>
          <a:p>
            <a:r>
              <a:rPr lang="en-US" dirty="0"/>
              <a:t>Product of elementary sums</a:t>
            </a:r>
          </a:p>
          <a:p>
            <a:r>
              <a:rPr lang="pt-BR" dirty="0"/>
              <a:t>Example: (P ∨ ¬Q) ∧ (¬P ∨ R).</a:t>
            </a:r>
          </a:p>
          <a:p>
            <a:r>
              <a:rPr lang="en-US" dirty="0"/>
              <a:t>Sums of elementary products (DNF)</a:t>
            </a:r>
          </a:p>
          <a:p>
            <a:r>
              <a:rPr lang="en-US" dirty="0"/>
              <a:t>Methods of Conversion:</a:t>
            </a:r>
          </a:p>
          <a:p>
            <a:pPr marL="0" indent="0">
              <a:buNone/>
            </a:pPr>
            <a:r>
              <a:rPr lang="en-US" dirty="0"/>
              <a:t>	1. Eliminate ↔ and →.</a:t>
            </a:r>
          </a:p>
          <a:p>
            <a:pPr marL="0" indent="0">
              <a:buNone/>
            </a:pPr>
            <a:r>
              <a:rPr lang="en-US" dirty="0"/>
              <a:t>	2. Eliminate </a:t>
            </a:r>
            <a:r>
              <a:rPr lang="pt-BR" dirty="0"/>
              <a:t>¬ before sums and products by</a:t>
            </a:r>
            <a:r>
              <a:rPr lang="en-US" dirty="0"/>
              <a:t> De Morgan’s Laws.</a:t>
            </a:r>
          </a:p>
          <a:p>
            <a:pPr marL="0" indent="0">
              <a:buNone/>
            </a:pPr>
            <a:r>
              <a:rPr lang="en-US" dirty="0"/>
              <a:t>	3. Distribute ∨ over ∧.</a:t>
            </a:r>
          </a:p>
        </p:txBody>
      </p:sp>
      <p:sp>
        <p:nvSpPr>
          <p:cNvPr id="4" name="Footer Placeholder 3">
            <a:extLst>
              <a:ext uri="{FF2B5EF4-FFF2-40B4-BE49-F238E27FC236}">
                <a16:creationId xmlns:a16="http://schemas.microsoft.com/office/drawing/2014/main" id="{BED1D156-8791-0FBB-A3FC-3C5D93A53740}"/>
              </a:ext>
            </a:extLst>
          </p:cNvPr>
          <p:cNvSpPr>
            <a:spLocks noGrp="1"/>
          </p:cNvSpPr>
          <p:nvPr>
            <p:ph type="ftr" sz="quarter" idx="11"/>
          </p:nvPr>
        </p:nvSpPr>
        <p:spPr/>
        <p:txBody>
          <a:bodyPr/>
          <a:lstStyle/>
          <a:p>
            <a:r>
              <a:rPr lang="nb-NO"/>
              <a:t>kapil@nast.edu.np || kapilpant157</a:t>
            </a:r>
            <a:endParaRPr lang="en-US"/>
          </a:p>
        </p:txBody>
      </p:sp>
      <p:sp>
        <p:nvSpPr>
          <p:cNvPr id="5" name="TextBox 4">
            <a:extLst>
              <a:ext uri="{FF2B5EF4-FFF2-40B4-BE49-F238E27FC236}">
                <a16:creationId xmlns:a16="http://schemas.microsoft.com/office/drawing/2014/main" id="{AAB66CA4-0589-C1AA-183A-79902C994948}"/>
              </a:ext>
            </a:extLst>
          </p:cNvPr>
          <p:cNvSpPr txBox="1"/>
          <p:nvPr/>
        </p:nvSpPr>
        <p:spPr>
          <a:xfrm>
            <a:off x="8886675" y="3532443"/>
            <a:ext cx="2491388" cy="1015663"/>
          </a:xfrm>
          <a:prstGeom prst="rect">
            <a:avLst/>
          </a:prstGeom>
          <a:noFill/>
        </p:spPr>
        <p:txBody>
          <a:bodyPr wrap="none" rtlCol="0">
            <a:spAutoFit/>
          </a:bodyPr>
          <a:lstStyle/>
          <a:p>
            <a:r>
              <a:rPr lang="en-US" sz="2000" dirty="0"/>
              <a:t>¬(</a:t>
            </a:r>
            <a:r>
              <a:rPr lang="el-GR" sz="2000" dirty="0"/>
              <a:t>α ∨ β) ≡ ¬α ∧ ¬β,</a:t>
            </a:r>
            <a:endParaRPr lang="en-US" sz="2000" dirty="0"/>
          </a:p>
          <a:p>
            <a:r>
              <a:rPr lang="el-GR" sz="2000" dirty="0"/>
              <a:t>¬(α ∧ β) ≡ ¬α ∨ ¬β, </a:t>
            </a:r>
            <a:endParaRPr lang="en-US" sz="2000" dirty="0"/>
          </a:p>
          <a:p>
            <a:r>
              <a:rPr lang="el-GR" sz="2000" dirty="0"/>
              <a:t>¬¬α ≡ α.</a:t>
            </a:r>
            <a:endParaRPr lang="en-US" sz="2000" dirty="0"/>
          </a:p>
        </p:txBody>
      </p:sp>
      <p:sp>
        <p:nvSpPr>
          <p:cNvPr id="7" name="Rectangle: Rounded Corners 6">
            <a:extLst>
              <a:ext uri="{FF2B5EF4-FFF2-40B4-BE49-F238E27FC236}">
                <a16:creationId xmlns:a16="http://schemas.microsoft.com/office/drawing/2014/main" id="{132D6254-D638-5658-061C-A79FA0EADD3E}"/>
              </a:ext>
            </a:extLst>
          </p:cNvPr>
          <p:cNvSpPr/>
          <p:nvPr/>
        </p:nvSpPr>
        <p:spPr>
          <a:xfrm>
            <a:off x="6124644" y="2066041"/>
            <a:ext cx="3744673" cy="1058508"/>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D55122F-9553-D73A-33AA-E5720A136F85}"/>
              </a:ext>
            </a:extLst>
          </p:cNvPr>
          <p:cNvSpPr txBox="1"/>
          <p:nvPr/>
        </p:nvSpPr>
        <p:spPr>
          <a:xfrm>
            <a:off x="6235489" y="2326563"/>
            <a:ext cx="3751348" cy="707886"/>
          </a:xfrm>
          <a:prstGeom prst="rect">
            <a:avLst/>
          </a:prstGeom>
          <a:noFill/>
        </p:spPr>
        <p:txBody>
          <a:bodyPr wrap="none" rtlCol="0">
            <a:spAutoFit/>
          </a:bodyPr>
          <a:lstStyle/>
          <a:p>
            <a:r>
              <a:rPr lang="el-GR" sz="2000" dirty="0"/>
              <a:t>α ⇔ β </a:t>
            </a:r>
            <a:r>
              <a:rPr lang="en-US" sz="2000" dirty="0"/>
              <a:t>with (</a:t>
            </a:r>
            <a:r>
              <a:rPr lang="el-GR" sz="2000" dirty="0"/>
              <a:t>α ⇒ β) ∧ (β ⇒ α). </a:t>
            </a:r>
            <a:endParaRPr lang="en-US" sz="2000" dirty="0"/>
          </a:p>
          <a:p>
            <a:r>
              <a:rPr lang="el-GR" sz="2000" dirty="0"/>
              <a:t>α ⇒ β </a:t>
            </a:r>
            <a:r>
              <a:rPr lang="en-US" sz="2000" dirty="0"/>
              <a:t>with ¬</a:t>
            </a:r>
            <a:r>
              <a:rPr lang="el-GR" sz="2000" dirty="0"/>
              <a:t>α ∨ β.</a:t>
            </a:r>
            <a:endParaRPr lang="en-US" sz="2000" dirty="0"/>
          </a:p>
        </p:txBody>
      </p:sp>
      <p:sp>
        <p:nvSpPr>
          <p:cNvPr id="10" name="Rectangle: Rounded Corners 9">
            <a:extLst>
              <a:ext uri="{FF2B5EF4-FFF2-40B4-BE49-F238E27FC236}">
                <a16:creationId xmlns:a16="http://schemas.microsoft.com/office/drawing/2014/main" id="{F086A5E9-EE9F-A894-D52C-62C8505C43DA}"/>
              </a:ext>
            </a:extLst>
          </p:cNvPr>
          <p:cNvSpPr/>
          <p:nvPr/>
        </p:nvSpPr>
        <p:spPr>
          <a:xfrm>
            <a:off x="6478406" y="5225574"/>
            <a:ext cx="3737160" cy="815788"/>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1F438F10-A35F-65F1-AE3D-7A73941DCD12}"/>
              </a:ext>
            </a:extLst>
          </p:cNvPr>
          <p:cNvSpPr txBox="1"/>
          <p:nvPr/>
        </p:nvSpPr>
        <p:spPr>
          <a:xfrm>
            <a:off x="6589252" y="5388354"/>
            <a:ext cx="3626314" cy="400110"/>
          </a:xfrm>
          <a:prstGeom prst="rect">
            <a:avLst/>
          </a:prstGeom>
          <a:noFill/>
        </p:spPr>
        <p:txBody>
          <a:bodyPr wrap="none" rtlCol="0">
            <a:spAutoFit/>
          </a:bodyPr>
          <a:lstStyle/>
          <a:p>
            <a:r>
              <a:rPr lang="el-GR" sz="2000" dirty="0"/>
              <a:t>(α ∧ β) ∨ γ ≡ (α ∨ γ) ∧ (β ∨ γ)</a:t>
            </a:r>
            <a:endParaRPr lang="en-US" sz="2000" dirty="0"/>
          </a:p>
        </p:txBody>
      </p:sp>
      <p:cxnSp>
        <p:nvCxnSpPr>
          <p:cNvPr id="14" name="Connector: Elbow 13">
            <a:extLst>
              <a:ext uri="{FF2B5EF4-FFF2-40B4-BE49-F238E27FC236}">
                <a16:creationId xmlns:a16="http://schemas.microsoft.com/office/drawing/2014/main" id="{2745AC9E-5643-CBEA-55EA-2FB613BFDDEA}"/>
              </a:ext>
            </a:extLst>
          </p:cNvPr>
          <p:cNvCxnSpPr>
            <a:endCxn id="8" idx="1"/>
          </p:cNvCxnSpPr>
          <p:nvPr/>
        </p:nvCxnSpPr>
        <p:spPr>
          <a:xfrm flipV="1">
            <a:off x="3765176" y="2680506"/>
            <a:ext cx="2470313" cy="1317753"/>
          </a:xfrm>
          <a:prstGeom prst="bentConnector3">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6" name="Connector: Elbow 15">
            <a:extLst>
              <a:ext uri="{FF2B5EF4-FFF2-40B4-BE49-F238E27FC236}">
                <a16:creationId xmlns:a16="http://schemas.microsoft.com/office/drawing/2014/main" id="{7478D3E4-26C4-FA1D-42C3-B2BF2CAC7AB2}"/>
              </a:ext>
            </a:extLst>
          </p:cNvPr>
          <p:cNvCxnSpPr>
            <a:endCxn id="5" idx="1"/>
          </p:cNvCxnSpPr>
          <p:nvPr/>
        </p:nvCxnSpPr>
        <p:spPr>
          <a:xfrm flipV="1">
            <a:off x="7566212" y="4040275"/>
            <a:ext cx="1320463" cy="415498"/>
          </a:xfrm>
          <a:prstGeom prst="bentConnector3">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8" name="Connector: Elbow 17">
            <a:extLst>
              <a:ext uri="{FF2B5EF4-FFF2-40B4-BE49-F238E27FC236}">
                <a16:creationId xmlns:a16="http://schemas.microsoft.com/office/drawing/2014/main" id="{DF4AAB0F-21EA-71FE-A778-7B5437A156A4}"/>
              </a:ext>
            </a:extLst>
          </p:cNvPr>
          <p:cNvCxnSpPr>
            <a:cxnSpLocks/>
            <a:endCxn id="10" idx="1"/>
          </p:cNvCxnSpPr>
          <p:nvPr/>
        </p:nvCxnSpPr>
        <p:spPr>
          <a:xfrm>
            <a:off x="3532094" y="4686025"/>
            <a:ext cx="2946312" cy="947443"/>
          </a:xfrm>
          <a:prstGeom prst="bentConnector3">
            <a:avLst/>
          </a:prstGeom>
          <a:ln>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20625844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521F5-B03C-6ADC-03CF-A0A887F5E701}"/>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FC692172-8390-8A8B-7B5F-D35156524B5F}"/>
              </a:ext>
            </a:extLst>
          </p:cNvPr>
          <p:cNvSpPr>
            <a:spLocks noGrp="1"/>
          </p:cNvSpPr>
          <p:nvPr>
            <p:ph idx="1"/>
          </p:nvPr>
        </p:nvSpPr>
        <p:spPr>
          <a:xfrm>
            <a:off x="677334" y="2160589"/>
            <a:ext cx="3943652" cy="3880773"/>
          </a:xfrm>
        </p:spPr>
        <p:txBody>
          <a:bodyPr>
            <a:normAutofit/>
          </a:bodyPr>
          <a:lstStyle/>
          <a:p>
            <a:r>
              <a:rPr lang="en-US" dirty="0"/>
              <a:t>P ^ ( P -&gt; Q)</a:t>
            </a:r>
          </a:p>
          <a:p>
            <a:endParaRPr lang="en-US" dirty="0"/>
          </a:p>
          <a:p>
            <a:r>
              <a:rPr lang="en-US" dirty="0"/>
              <a:t>(P -&gt; Q) ^ ~Q</a:t>
            </a:r>
          </a:p>
          <a:p>
            <a:endParaRPr lang="en-US" dirty="0"/>
          </a:p>
          <a:p>
            <a:r>
              <a:rPr lang="en-US" dirty="0"/>
              <a:t>(P -&gt; Q^ R) ^ (~P -&gt; ( ~Q ^ ~R))</a:t>
            </a:r>
          </a:p>
          <a:p>
            <a:endParaRPr lang="en-US" dirty="0"/>
          </a:p>
          <a:p>
            <a:r>
              <a:rPr lang="en-US" dirty="0"/>
              <a:t>(a ^b ) v (c ^d) v e </a:t>
            </a:r>
          </a:p>
          <a:p>
            <a:endParaRPr lang="en-US" dirty="0"/>
          </a:p>
          <a:p>
            <a:r>
              <a:rPr lang="en-US" dirty="0"/>
              <a:t>(a ^ b ^ c ) v –(- d v e)</a:t>
            </a:r>
          </a:p>
        </p:txBody>
      </p:sp>
      <p:graphicFrame>
        <p:nvGraphicFramePr>
          <p:cNvPr id="5" name="Table 4">
            <a:extLst>
              <a:ext uri="{FF2B5EF4-FFF2-40B4-BE49-F238E27FC236}">
                <a16:creationId xmlns:a16="http://schemas.microsoft.com/office/drawing/2014/main" id="{BD16C034-3E2A-E182-93C9-DC5636DCBEEF}"/>
              </a:ext>
            </a:extLst>
          </p:cNvPr>
          <p:cNvGraphicFramePr>
            <a:graphicFrameLocks noGrp="1"/>
          </p:cNvGraphicFramePr>
          <p:nvPr>
            <p:extLst>
              <p:ext uri="{D42A27DB-BD31-4B8C-83A1-F6EECF244321}">
                <p14:modId xmlns:p14="http://schemas.microsoft.com/office/powerpoint/2010/main" val="2006249206"/>
              </p:ext>
            </p:extLst>
          </p:nvPr>
        </p:nvGraphicFramePr>
        <p:xfrm>
          <a:off x="4620986" y="512068"/>
          <a:ext cx="7380513" cy="2333546"/>
        </p:xfrm>
        <a:graphic>
          <a:graphicData uri="http://schemas.openxmlformats.org/drawingml/2006/table">
            <a:tbl>
              <a:tblPr firstRow="1" bandRow="1">
                <a:tableStyleId>{5C22544A-7EE6-4342-B048-85BDC9FD1C3A}</a:tableStyleId>
              </a:tblPr>
              <a:tblGrid>
                <a:gridCol w="2460171">
                  <a:extLst>
                    <a:ext uri="{9D8B030D-6E8A-4147-A177-3AD203B41FA5}">
                      <a16:colId xmlns:a16="http://schemas.microsoft.com/office/drawing/2014/main" val="1568092554"/>
                    </a:ext>
                  </a:extLst>
                </a:gridCol>
                <a:gridCol w="2460171">
                  <a:extLst>
                    <a:ext uri="{9D8B030D-6E8A-4147-A177-3AD203B41FA5}">
                      <a16:colId xmlns:a16="http://schemas.microsoft.com/office/drawing/2014/main" val="2120155923"/>
                    </a:ext>
                  </a:extLst>
                </a:gridCol>
                <a:gridCol w="2460171">
                  <a:extLst>
                    <a:ext uri="{9D8B030D-6E8A-4147-A177-3AD203B41FA5}">
                      <a16:colId xmlns:a16="http://schemas.microsoft.com/office/drawing/2014/main" val="3528515790"/>
                    </a:ext>
                  </a:extLst>
                </a:gridCol>
              </a:tblGrid>
              <a:tr h="313732">
                <a:tc>
                  <a:txBody>
                    <a:bodyPr/>
                    <a:lstStyle/>
                    <a:p>
                      <a:r>
                        <a:rPr lang="en-US" dirty="0"/>
                        <a:t>Expression Type</a:t>
                      </a:r>
                    </a:p>
                  </a:txBody>
                  <a:tcPr/>
                </a:tc>
                <a:tc>
                  <a:txBody>
                    <a:bodyPr/>
                    <a:lstStyle/>
                    <a:p>
                      <a:r>
                        <a:rPr lang="en-US" dirty="0"/>
                        <a:t>Need Distributivity?</a:t>
                      </a:r>
                    </a:p>
                  </a:txBody>
                  <a:tcPr/>
                </a:tc>
                <a:tc>
                  <a:txBody>
                    <a:bodyPr/>
                    <a:lstStyle/>
                    <a:p>
                      <a:r>
                        <a:rPr lang="en-US" dirty="0"/>
                        <a:t>Reason</a:t>
                      </a:r>
                    </a:p>
                  </a:txBody>
                  <a:tcPr/>
                </a:tc>
                <a:extLst>
                  <a:ext uri="{0D108BD9-81ED-4DB2-BD59-A6C34878D82A}">
                    <a16:rowId xmlns:a16="http://schemas.microsoft.com/office/drawing/2014/main" val="1293459330"/>
                  </a:ext>
                </a:extLst>
              </a:tr>
              <a:tr h="694333">
                <a:tc>
                  <a:txBody>
                    <a:bodyPr/>
                    <a:lstStyle/>
                    <a:p>
                      <a:r>
                        <a:rPr lang="en-US" b="1" dirty="0"/>
                        <a:t>( a ∨ b ) ∧ ¬ c</a:t>
                      </a:r>
                    </a:p>
                  </a:txBody>
                  <a:tcPr/>
                </a:tc>
                <a:tc>
                  <a:txBody>
                    <a:bodyPr/>
                    <a:lstStyle/>
                    <a:p>
                      <a:r>
                        <a:rPr lang="en-US" dirty="0"/>
                        <a:t>No</a:t>
                      </a:r>
                    </a:p>
                  </a:txBody>
                  <a:tcPr/>
                </a:tc>
                <a:tc>
                  <a:txBody>
                    <a:bodyPr/>
                    <a:lstStyle/>
                    <a:p>
                      <a:r>
                        <a:rPr lang="en-US" sz="1600" dirty="0"/>
                        <a:t>Already CNF (conjunction of clauses)</a:t>
                      </a:r>
                    </a:p>
                  </a:txBody>
                  <a:tcPr/>
                </a:tc>
                <a:extLst>
                  <a:ext uri="{0D108BD9-81ED-4DB2-BD59-A6C34878D82A}">
                    <a16:rowId xmlns:a16="http://schemas.microsoft.com/office/drawing/2014/main" val="346577435"/>
                  </a:ext>
                </a:extLst>
              </a:tr>
              <a:tr h="694333">
                <a:tc>
                  <a:txBody>
                    <a:bodyPr/>
                    <a:lstStyle/>
                    <a:p>
                      <a:r>
                        <a:rPr lang="en-US" b="1" dirty="0"/>
                        <a:t>( a ∧ b ) ∨ c</a:t>
                      </a:r>
                    </a:p>
                  </a:txBody>
                  <a:tcPr/>
                </a:tc>
                <a:tc>
                  <a:txBody>
                    <a:bodyPr/>
                    <a:lstStyle/>
                    <a:p>
                      <a:r>
                        <a:rPr lang="en-US" dirty="0"/>
                        <a:t>Yes</a:t>
                      </a:r>
                    </a:p>
                  </a:txBody>
                  <a:tcPr/>
                </a:tc>
                <a:tc>
                  <a:txBody>
                    <a:bodyPr/>
                    <a:lstStyle/>
                    <a:p>
                      <a:r>
                        <a:rPr lang="en-US" sz="1600" dirty="0"/>
                        <a:t>Disjunction over conjunction — not CNF</a:t>
                      </a:r>
                    </a:p>
                  </a:txBody>
                  <a:tcPr/>
                </a:tc>
                <a:extLst>
                  <a:ext uri="{0D108BD9-81ED-4DB2-BD59-A6C34878D82A}">
                    <a16:rowId xmlns:a16="http://schemas.microsoft.com/office/drawing/2014/main" val="3991909751"/>
                  </a:ext>
                </a:extLst>
              </a:tr>
              <a:tr h="496742">
                <a:tc>
                  <a:txBody>
                    <a:bodyPr/>
                    <a:lstStyle/>
                    <a:p>
                      <a:r>
                        <a:rPr lang="en-US" b="1" dirty="0"/>
                        <a:t>( a ∨ ( b ∧ c ) )</a:t>
                      </a:r>
                    </a:p>
                  </a:txBody>
                  <a:tcPr/>
                </a:tc>
                <a:tc>
                  <a:txBody>
                    <a:bodyPr/>
                    <a:lstStyle/>
                    <a:p>
                      <a:r>
                        <a:rPr lang="en-US" dirty="0"/>
                        <a:t>Yes</a:t>
                      </a:r>
                    </a:p>
                  </a:txBody>
                  <a:tcPr/>
                </a:tc>
                <a:tc>
                  <a:txBody>
                    <a:bodyPr/>
                    <a:lstStyle/>
                    <a:p>
                      <a:r>
                        <a:rPr lang="en-US" sz="1600" dirty="0"/>
                        <a:t>Need to distribute OR over AND</a:t>
                      </a:r>
                    </a:p>
                  </a:txBody>
                  <a:tcPr/>
                </a:tc>
                <a:extLst>
                  <a:ext uri="{0D108BD9-81ED-4DB2-BD59-A6C34878D82A}">
                    <a16:rowId xmlns:a16="http://schemas.microsoft.com/office/drawing/2014/main" val="1075311138"/>
                  </a:ext>
                </a:extLst>
              </a:tr>
            </a:tbl>
          </a:graphicData>
        </a:graphic>
      </p:graphicFrame>
      <p:sp>
        <p:nvSpPr>
          <p:cNvPr id="4" name="Content Placeholder 2">
            <a:extLst>
              <a:ext uri="{FF2B5EF4-FFF2-40B4-BE49-F238E27FC236}">
                <a16:creationId xmlns:a16="http://schemas.microsoft.com/office/drawing/2014/main" id="{E800349B-92DA-6B6F-A9E2-2BC841D7B981}"/>
              </a:ext>
            </a:extLst>
          </p:cNvPr>
          <p:cNvSpPr txBox="1">
            <a:spLocks/>
          </p:cNvSpPr>
          <p:nvPr/>
        </p:nvSpPr>
        <p:spPr>
          <a:xfrm>
            <a:off x="4854431" y="3760828"/>
            <a:ext cx="3943652" cy="233354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P  </a:t>
            </a:r>
            <a:r>
              <a:rPr lang="en-US" dirty="0">
                <a:sym typeface="Wingdings" panose="05000000000000000000" pitchFamily="2" charset="2"/>
              </a:rPr>
              <a:t></a:t>
            </a:r>
            <a:r>
              <a:rPr lang="en-US" dirty="0"/>
              <a:t> ( Q v R)</a:t>
            </a:r>
          </a:p>
          <a:p>
            <a:endParaRPr lang="en-US" dirty="0"/>
          </a:p>
          <a:p>
            <a:r>
              <a:rPr lang="en-US" dirty="0"/>
              <a:t>(-P </a:t>
            </a:r>
            <a:r>
              <a:rPr lang="en-US" dirty="0">
                <a:sym typeface="Wingdings" panose="05000000000000000000" pitchFamily="2" charset="2"/>
              </a:rPr>
              <a:t></a:t>
            </a:r>
            <a:r>
              <a:rPr lang="en-US" dirty="0"/>
              <a:t> R)  ^ ~ (P </a:t>
            </a:r>
            <a:r>
              <a:rPr lang="en-US" dirty="0">
                <a:sym typeface="Wingdings" panose="05000000000000000000" pitchFamily="2" charset="2"/>
              </a:rPr>
              <a:t>  </a:t>
            </a:r>
            <a:r>
              <a:rPr lang="en-US" dirty="0"/>
              <a:t>Q)</a:t>
            </a:r>
          </a:p>
          <a:p>
            <a:endParaRPr lang="en-US" dirty="0"/>
          </a:p>
          <a:p>
            <a:r>
              <a:rPr lang="en-US" dirty="0"/>
              <a:t>-(P v Q) </a:t>
            </a:r>
            <a:r>
              <a:rPr lang="en-US" dirty="0">
                <a:sym typeface="Wingdings" panose="05000000000000000000" pitchFamily="2" charset="2"/>
              </a:rPr>
              <a:t>  </a:t>
            </a:r>
            <a:r>
              <a:rPr lang="en-US" dirty="0"/>
              <a:t>(P ^Q) </a:t>
            </a:r>
          </a:p>
          <a:p>
            <a:pPr marL="0" indent="0">
              <a:buNone/>
            </a:pPr>
            <a:endParaRPr lang="en-US" dirty="0"/>
          </a:p>
        </p:txBody>
      </p:sp>
      <p:sp>
        <p:nvSpPr>
          <p:cNvPr id="6" name="Footer Placeholder 5">
            <a:extLst>
              <a:ext uri="{FF2B5EF4-FFF2-40B4-BE49-F238E27FC236}">
                <a16:creationId xmlns:a16="http://schemas.microsoft.com/office/drawing/2014/main" id="{D1421E69-CE2B-5A5F-4165-F2CD77CF4B05}"/>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9844638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731FC-BEBE-8D78-7686-AD3AB3CC9BF1}"/>
              </a:ext>
            </a:extLst>
          </p:cNvPr>
          <p:cNvSpPr>
            <a:spLocks noGrp="1"/>
          </p:cNvSpPr>
          <p:nvPr>
            <p:ph type="title"/>
          </p:nvPr>
        </p:nvSpPr>
        <p:spPr/>
        <p:txBody>
          <a:bodyPr/>
          <a:lstStyle/>
          <a:p>
            <a:r>
              <a:rPr lang="en-US" dirty="0"/>
              <a:t>Resolution Theorem Proving</a:t>
            </a:r>
          </a:p>
        </p:txBody>
      </p:sp>
      <p:sp>
        <p:nvSpPr>
          <p:cNvPr id="3" name="Content Placeholder 2">
            <a:extLst>
              <a:ext uri="{FF2B5EF4-FFF2-40B4-BE49-F238E27FC236}">
                <a16:creationId xmlns:a16="http://schemas.microsoft.com/office/drawing/2014/main" id="{21C483FE-8B81-C1D5-2E12-2ED514D18109}"/>
              </a:ext>
            </a:extLst>
          </p:cNvPr>
          <p:cNvSpPr>
            <a:spLocks noGrp="1"/>
          </p:cNvSpPr>
          <p:nvPr>
            <p:ph idx="1"/>
          </p:nvPr>
        </p:nvSpPr>
        <p:spPr/>
        <p:txBody>
          <a:bodyPr>
            <a:normAutofit lnSpcReduction="10000"/>
          </a:bodyPr>
          <a:lstStyle/>
          <a:p>
            <a:r>
              <a:rPr lang="en-US" sz="2400" dirty="0"/>
              <a:t> A rule of inference for CNF Used to prove if an argument is correct or not</a:t>
            </a:r>
          </a:p>
          <a:p>
            <a:r>
              <a:rPr lang="en-US" sz="2400" dirty="0"/>
              <a:t>Literals : </a:t>
            </a:r>
            <a:r>
              <a:rPr lang="en-US" sz="2000" dirty="0"/>
              <a:t>a variable or negation of variable</a:t>
            </a:r>
          </a:p>
          <a:p>
            <a:r>
              <a:rPr lang="en-US" sz="2400" dirty="0"/>
              <a:t>Clause : </a:t>
            </a:r>
            <a:r>
              <a:rPr lang="en-US" sz="2000" dirty="0"/>
              <a:t>disjunction of literals</a:t>
            </a:r>
          </a:p>
          <a:p>
            <a:r>
              <a:rPr lang="en-US" sz="2400" dirty="0"/>
              <a:t>Resolvent : </a:t>
            </a:r>
            <a:r>
              <a:rPr lang="en-US" sz="2000" dirty="0"/>
              <a:t>disjunction result obtained by deleting complements from clauses or logical consequence of 2 clauses </a:t>
            </a:r>
          </a:p>
          <a:p>
            <a:r>
              <a:rPr lang="en-US" sz="2400" dirty="0"/>
              <a:t>Key Steps:</a:t>
            </a:r>
          </a:p>
          <a:p>
            <a:pPr lvl="1"/>
            <a:r>
              <a:rPr lang="en-US" sz="2000" dirty="0"/>
              <a:t>Convert statements to CNF.</a:t>
            </a:r>
          </a:p>
          <a:p>
            <a:pPr lvl="1"/>
            <a:r>
              <a:rPr lang="en-US" sz="2000" dirty="0"/>
              <a:t>Use resolution to infer contradictions or conclusions.</a:t>
            </a:r>
            <a:endParaRPr lang="en-US" sz="2400" dirty="0"/>
          </a:p>
          <a:p>
            <a:endParaRPr lang="en-US" sz="2400" dirty="0"/>
          </a:p>
        </p:txBody>
      </p:sp>
      <p:sp>
        <p:nvSpPr>
          <p:cNvPr id="4" name="Footer Placeholder 3">
            <a:extLst>
              <a:ext uri="{FF2B5EF4-FFF2-40B4-BE49-F238E27FC236}">
                <a16:creationId xmlns:a16="http://schemas.microsoft.com/office/drawing/2014/main" id="{59112A5D-49BE-2983-33BC-5B9E2A059194}"/>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287927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D9992-9D31-E0B1-479D-E483878D60D0}"/>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DDC00E41-9D73-61FD-5202-7CA296187AE0}"/>
              </a:ext>
            </a:extLst>
          </p:cNvPr>
          <p:cNvSpPr>
            <a:spLocks noGrp="1"/>
          </p:cNvSpPr>
          <p:nvPr>
            <p:ph idx="1"/>
          </p:nvPr>
        </p:nvSpPr>
        <p:spPr/>
        <p:txBody>
          <a:bodyPr>
            <a:normAutofit lnSpcReduction="10000"/>
          </a:bodyPr>
          <a:lstStyle/>
          <a:p>
            <a:r>
              <a:rPr lang="en-US" dirty="0"/>
              <a:t>A = B v C v D</a:t>
            </a:r>
          </a:p>
          <a:p>
            <a:r>
              <a:rPr lang="en-US" dirty="0"/>
              <a:t>B = ~B v E v F</a:t>
            </a:r>
          </a:p>
          <a:p>
            <a:r>
              <a:rPr lang="en-US" dirty="0"/>
              <a:t>Resolvent is: C v D v E v F</a:t>
            </a:r>
          </a:p>
          <a:p>
            <a:endParaRPr lang="en-US" dirty="0"/>
          </a:p>
          <a:p>
            <a:r>
              <a:rPr lang="en-US" dirty="0"/>
              <a:t>Solve modus ponens , modus tollens rule. Hypothetical</a:t>
            </a:r>
          </a:p>
          <a:p>
            <a:endParaRPr lang="en-US" dirty="0"/>
          </a:p>
          <a:p>
            <a:r>
              <a:rPr lang="en-US" b="1" dirty="0"/>
              <a:t>Prove that:</a:t>
            </a:r>
            <a:r>
              <a:rPr lang="en-US" dirty="0"/>
              <a:t> </a:t>
            </a:r>
            <a:r>
              <a:rPr lang="en-US" i="1" dirty="0"/>
              <a:t>The match is canceled.</a:t>
            </a:r>
            <a:endParaRPr lang="en-US" dirty="0"/>
          </a:p>
          <a:p>
            <a:pPr marL="0" indent="0">
              <a:buNone/>
            </a:pPr>
            <a:r>
              <a:rPr lang="en-US" i="1" dirty="0"/>
              <a:t>	If it is raining, then the ground is wet.</a:t>
            </a:r>
            <a:endParaRPr lang="en-US" dirty="0"/>
          </a:p>
          <a:p>
            <a:pPr marL="0" indent="0">
              <a:buNone/>
            </a:pPr>
            <a:r>
              <a:rPr lang="en-US" i="1" dirty="0"/>
              <a:t>	If the ground is wet, then the match is canceled.</a:t>
            </a:r>
            <a:endParaRPr lang="en-US" dirty="0"/>
          </a:p>
          <a:p>
            <a:pPr marL="0" indent="0">
              <a:buNone/>
            </a:pPr>
            <a:r>
              <a:rPr lang="en-US" i="1" dirty="0"/>
              <a:t>	It is raining.</a:t>
            </a:r>
            <a:endParaRPr lang="en-US" dirty="0"/>
          </a:p>
          <a:p>
            <a:endParaRPr lang="en-US" dirty="0"/>
          </a:p>
        </p:txBody>
      </p:sp>
      <p:sp>
        <p:nvSpPr>
          <p:cNvPr id="4" name="Footer Placeholder 3">
            <a:extLst>
              <a:ext uri="{FF2B5EF4-FFF2-40B4-BE49-F238E27FC236}">
                <a16:creationId xmlns:a16="http://schemas.microsoft.com/office/drawing/2014/main" id="{1ECD4A1C-B160-AD09-DE35-F205958694EA}"/>
              </a:ext>
            </a:extLst>
          </p:cNvPr>
          <p:cNvSpPr>
            <a:spLocks noGrp="1"/>
          </p:cNvSpPr>
          <p:nvPr>
            <p:ph type="ftr" sz="quarter" idx="11"/>
          </p:nvPr>
        </p:nvSpPr>
        <p:spPr/>
        <p:txBody>
          <a:bodyPr/>
          <a:lstStyle/>
          <a:p>
            <a:r>
              <a:rPr lang="nb-NO"/>
              <a:t>kapil@nast.edu.np || kapilpant157</a:t>
            </a:r>
            <a:endParaRPr lang="en-US"/>
          </a:p>
        </p:txBody>
      </p:sp>
      <p:sp>
        <p:nvSpPr>
          <p:cNvPr id="9" name="Content Placeholder 2">
            <a:extLst>
              <a:ext uri="{FF2B5EF4-FFF2-40B4-BE49-F238E27FC236}">
                <a16:creationId xmlns:a16="http://schemas.microsoft.com/office/drawing/2014/main" id="{4C0B5C58-E4ED-D7A2-4B80-3294DBBE015C}"/>
              </a:ext>
            </a:extLst>
          </p:cNvPr>
          <p:cNvSpPr txBox="1">
            <a:spLocks/>
          </p:cNvSpPr>
          <p:nvPr/>
        </p:nvSpPr>
        <p:spPr>
          <a:xfrm>
            <a:off x="6974946" y="2840665"/>
            <a:ext cx="4879690"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dirty="0"/>
          </a:p>
        </p:txBody>
      </p:sp>
    </p:spTree>
    <p:extLst>
      <p:ext uri="{BB962C8B-B14F-4D97-AF65-F5344CB8AC3E}">
        <p14:creationId xmlns:p14="http://schemas.microsoft.com/office/powerpoint/2010/main" val="40156427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5AD41-7CDA-E21B-80CD-9F959CEA1F49}"/>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3EAB13F9-6490-A11D-CD6A-3EDCF14E9DF4}"/>
              </a:ext>
            </a:extLst>
          </p:cNvPr>
          <p:cNvSpPr>
            <a:spLocks noGrp="1"/>
          </p:cNvSpPr>
          <p:nvPr>
            <p:ph idx="1"/>
          </p:nvPr>
        </p:nvSpPr>
        <p:spPr/>
        <p:txBody>
          <a:bodyPr/>
          <a:lstStyle/>
          <a:p>
            <a:r>
              <a:rPr lang="en-US" b="1" dirty="0"/>
              <a:t>If a student studies and attends classes, then the student will pass the exam.</a:t>
            </a:r>
            <a:endParaRPr lang="en-US" dirty="0"/>
          </a:p>
          <a:p>
            <a:r>
              <a:rPr lang="en-US" b="1" dirty="0"/>
              <a:t>If a student passes the exam, then the student gets a job.</a:t>
            </a:r>
            <a:endParaRPr lang="en-US" dirty="0"/>
          </a:p>
          <a:p>
            <a:r>
              <a:rPr lang="en-US" b="1" dirty="0"/>
              <a:t>The student studies.</a:t>
            </a:r>
            <a:endParaRPr lang="en-US" dirty="0"/>
          </a:p>
          <a:p>
            <a:r>
              <a:rPr lang="en-US" b="1" dirty="0"/>
              <a:t>The student attends classes.</a:t>
            </a:r>
            <a:endParaRPr lang="en-US" dirty="0"/>
          </a:p>
          <a:p>
            <a:pPr marL="0" indent="0">
              <a:buNone/>
            </a:pPr>
            <a:r>
              <a:rPr lang="en-US" b="1" dirty="0"/>
              <a:t>Goal</a:t>
            </a:r>
          </a:p>
          <a:p>
            <a:r>
              <a:rPr lang="en-US" dirty="0"/>
              <a:t> </a:t>
            </a:r>
            <a:r>
              <a:rPr lang="en-US" b="1" dirty="0"/>
              <a:t>Prove that the student gets a job.</a:t>
            </a:r>
            <a:endParaRPr lang="en-US" dirty="0"/>
          </a:p>
          <a:p>
            <a:endParaRPr lang="en-US" dirty="0"/>
          </a:p>
        </p:txBody>
      </p:sp>
      <p:sp>
        <p:nvSpPr>
          <p:cNvPr id="4" name="Footer Placeholder 3">
            <a:extLst>
              <a:ext uri="{FF2B5EF4-FFF2-40B4-BE49-F238E27FC236}">
                <a16:creationId xmlns:a16="http://schemas.microsoft.com/office/drawing/2014/main" id="{5FC03290-83CF-EAE6-C47E-11BF0A2EF8A1}"/>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4886454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5128B-F1F1-EA94-06EA-3568D139A332}"/>
              </a:ext>
            </a:extLst>
          </p:cNvPr>
          <p:cNvSpPr>
            <a:spLocks noGrp="1"/>
          </p:cNvSpPr>
          <p:nvPr>
            <p:ph type="title"/>
          </p:nvPr>
        </p:nvSpPr>
        <p:spPr/>
        <p:txBody>
          <a:bodyPr/>
          <a:lstStyle/>
          <a:p>
            <a:r>
              <a:rPr lang="en-US" dirty="0"/>
              <a:t>Examples for propositional logic</a:t>
            </a:r>
          </a:p>
        </p:txBody>
      </p:sp>
      <p:sp>
        <p:nvSpPr>
          <p:cNvPr id="3" name="Content Placeholder 2">
            <a:extLst>
              <a:ext uri="{FF2B5EF4-FFF2-40B4-BE49-F238E27FC236}">
                <a16:creationId xmlns:a16="http://schemas.microsoft.com/office/drawing/2014/main" id="{0A59B787-9C2E-914E-EE4A-C78491768F62}"/>
              </a:ext>
            </a:extLst>
          </p:cNvPr>
          <p:cNvSpPr>
            <a:spLocks noGrp="1"/>
          </p:cNvSpPr>
          <p:nvPr>
            <p:ph idx="1"/>
          </p:nvPr>
        </p:nvSpPr>
        <p:spPr/>
        <p:txBody>
          <a:bodyPr>
            <a:normAutofit lnSpcReduction="10000"/>
          </a:bodyPr>
          <a:lstStyle/>
          <a:p>
            <a:pPr marL="0" indent="0">
              <a:buNone/>
            </a:pPr>
            <a:r>
              <a:rPr lang="en-US" sz="1800" b="1" dirty="0">
                <a:effectLst/>
                <a:latin typeface="Aptos" panose="020B0004020202020204" pitchFamily="34" charset="0"/>
                <a:ea typeface="Aptos" panose="020B0004020202020204" pitchFamily="34" charset="0"/>
                <a:cs typeface="Times New Roman" panose="02020603050405020304" pitchFamily="18" charset="0"/>
              </a:rPr>
              <a:t>If it is not raining, then the road is not wet</a:t>
            </a:r>
            <a:endParaRPr lang="en-US" b="1" dirty="0">
              <a:latin typeface="Aptos" panose="020B0004020202020204" pitchFamily="34" charset="0"/>
              <a:ea typeface="Aptos" panose="020B0004020202020204" pitchFamily="34" charset="0"/>
              <a:cs typeface="Times New Roman" panose="02020603050405020304" pitchFamily="18" charset="0"/>
            </a:endParaRPr>
          </a:p>
          <a:p>
            <a:pPr marL="0" indent="0">
              <a:buNone/>
            </a:pPr>
            <a:r>
              <a:rPr lang="en-US" sz="1800" b="1" dirty="0">
                <a:effectLst/>
                <a:latin typeface="Aptos" panose="020B0004020202020204" pitchFamily="34" charset="0"/>
                <a:ea typeface="Aptos" panose="020B0004020202020204" pitchFamily="34" charset="0"/>
                <a:cs typeface="Times New Roman" panose="02020603050405020304" pitchFamily="18" charset="0"/>
              </a:rPr>
              <a:t>If it is raining, then the road is wet, and if the road is wet, then it is raining</a:t>
            </a:r>
          </a:p>
          <a:p>
            <a:pPr marL="0" indent="0">
              <a:buNone/>
            </a:pPr>
            <a:r>
              <a:rPr lang="en-US" sz="1800" b="1" dirty="0">
                <a:effectLst/>
                <a:latin typeface="Aptos" panose="020B0004020202020204" pitchFamily="34" charset="0"/>
                <a:ea typeface="Aptos" panose="020B0004020202020204" pitchFamily="34" charset="0"/>
                <a:cs typeface="Times New Roman" panose="02020603050405020304" pitchFamily="18" charset="0"/>
              </a:rPr>
              <a:t>It is not the case that both it is baked, and the road is wet</a:t>
            </a:r>
          </a:p>
          <a:p>
            <a:pPr marL="0" indent="0">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If the road is wet, then it is raining, but if it is not raining, then the road is not wet.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r>
              <a:rPr lang="en-US" sz="1800" b="1" dirty="0">
                <a:effectLst/>
                <a:latin typeface="Aptos" panose="020B0004020202020204" pitchFamily="34" charset="0"/>
                <a:ea typeface="Aptos" panose="020B0004020202020204" pitchFamily="34" charset="0"/>
                <a:cs typeface="Times New Roman" panose="02020603050405020304" pitchFamily="18" charset="0"/>
              </a:rPr>
              <a:t>If the sun is shining, then the grass is dry; if the grass is not dry, then the sun is not shining</a:t>
            </a:r>
          </a:p>
          <a:p>
            <a:pPr marL="0" indent="0">
              <a:buNone/>
            </a:pPr>
            <a:r>
              <a:rPr lang="en-US" sz="1800" b="1" dirty="0">
                <a:effectLst/>
                <a:latin typeface="Aptos" panose="020B0004020202020204" pitchFamily="34" charset="0"/>
                <a:ea typeface="Aptos" panose="020B0004020202020204" pitchFamily="34" charset="0"/>
                <a:cs typeface="Times New Roman" panose="02020603050405020304" pitchFamily="18" charset="0"/>
              </a:rPr>
              <a:t>It is not true that both the cake is baked, and the oven is off</a:t>
            </a:r>
            <a:endParaRPr lang="en-US" b="1" dirty="0">
              <a:latin typeface="Aptos" panose="020B0004020202020204" pitchFamily="34" charset="0"/>
              <a:cs typeface="Times New Roman" panose="02020603050405020304" pitchFamily="18" charset="0"/>
            </a:endParaRPr>
          </a:p>
          <a:p>
            <a:pPr marL="0" indent="0">
              <a:buNone/>
            </a:pPr>
            <a:r>
              <a:rPr lang="en-US" sz="1800" b="1" dirty="0">
                <a:effectLst/>
                <a:latin typeface="Aptos" panose="020B0004020202020204" pitchFamily="34" charset="0"/>
                <a:ea typeface="Aptos" panose="020B0004020202020204" pitchFamily="34" charset="0"/>
                <a:cs typeface="Times New Roman" panose="02020603050405020304" pitchFamily="18" charset="0"/>
              </a:rPr>
              <a:t>If the phone is charged, then it will turn on, and if the phone turns on, then it is charged</a:t>
            </a:r>
          </a:p>
          <a:p>
            <a:pPr marL="0" indent="0">
              <a:buNone/>
            </a:pPr>
            <a:r>
              <a:rPr lang="en-US" sz="1800" b="1" dirty="0">
                <a:effectLst/>
                <a:latin typeface="Aptos" panose="020B0004020202020204" pitchFamily="34" charset="0"/>
                <a:ea typeface="Aptos" panose="020B0004020202020204" pitchFamily="34" charset="0"/>
                <a:cs typeface="Times New Roman" panose="02020603050405020304" pitchFamily="18" charset="0"/>
              </a:rPr>
              <a:t>If the library is open, then the books are available; if the books are not available, then the library is closed</a:t>
            </a:r>
            <a:endParaRPr lang="en-US" dirty="0"/>
          </a:p>
        </p:txBody>
      </p:sp>
      <p:sp>
        <p:nvSpPr>
          <p:cNvPr id="4" name="Footer Placeholder 3">
            <a:extLst>
              <a:ext uri="{FF2B5EF4-FFF2-40B4-BE49-F238E27FC236}">
                <a16:creationId xmlns:a16="http://schemas.microsoft.com/office/drawing/2014/main" id="{7B7CC7BF-7A4C-57AB-F7EF-EB68F159B769}"/>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033467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B42F8-68FA-AEB3-51E4-4711A3C129D2}"/>
              </a:ext>
            </a:extLst>
          </p:cNvPr>
          <p:cNvSpPr>
            <a:spLocks noGrp="1"/>
          </p:cNvSpPr>
          <p:nvPr>
            <p:ph type="title"/>
          </p:nvPr>
        </p:nvSpPr>
        <p:spPr/>
        <p:txBody>
          <a:bodyPr/>
          <a:lstStyle/>
          <a:p>
            <a:r>
              <a:rPr lang="en-US" dirty="0"/>
              <a:t>Limitations of Propositional Logic</a:t>
            </a:r>
          </a:p>
        </p:txBody>
      </p:sp>
      <p:sp>
        <p:nvSpPr>
          <p:cNvPr id="3" name="Content Placeholder 2">
            <a:extLst>
              <a:ext uri="{FF2B5EF4-FFF2-40B4-BE49-F238E27FC236}">
                <a16:creationId xmlns:a16="http://schemas.microsoft.com/office/drawing/2014/main" id="{928DBE94-7E72-FA45-2A78-2D84ABDC5289}"/>
              </a:ext>
            </a:extLst>
          </p:cNvPr>
          <p:cNvSpPr>
            <a:spLocks noGrp="1"/>
          </p:cNvSpPr>
          <p:nvPr>
            <p:ph idx="1"/>
          </p:nvPr>
        </p:nvSpPr>
        <p:spPr/>
        <p:txBody>
          <a:bodyPr>
            <a:normAutofit/>
          </a:bodyPr>
          <a:lstStyle/>
          <a:p>
            <a:r>
              <a:rPr lang="en-US" sz="2400" dirty="0"/>
              <a:t>Can’t establish truth of prop. That is not in the premise or that can’t be inferred by laws of inference.</a:t>
            </a:r>
          </a:p>
          <a:p>
            <a:r>
              <a:rPr lang="en-US" sz="2400" dirty="0"/>
              <a:t>Expressive Power: Cannot handle quantifiers (e.g., “for all,” “there exists”).</a:t>
            </a:r>
          </a:p>
          <a:p>
            <a:r>
              <a:rPr lang="en-US" sz="2400" dirty="0"/>
              <a:t>Scalability: Inefficient for large, complex systems.</a:t>
            </a:r>
          </a:p>
          <a:p>
            <a:r>
              <a:rPr lang="en-US" sz="2400" dirty="0"/>
              <a:t>No Reasoning About Objects: Only deals with true/false propositions.</a:t>
            </a:r>
          </a:p>
          <a:p>
            <a:endParaRPr lang="en-US" sz="2400" dirty="0"/>
          </a:p>
          <a:p>
            <a:endParaRPr lang="en-US" sz="2400" dirty="0"/>
          </a:p>
        </p:txBody>
      </p:sp>
      <p:sp>
        <p:nvSpPr>
          <p:cNvPr id="4" name="Footer Placeholder 3">
            <a:extLst>
              <a:ext uri="{FF2B5EF4-FFF2-40B4-BE49-F238E27FC236}">
                <a16:creationId xmlns:a16="http://schemas.microsoft.com/office/drawing/2014/main" id="{6FBFA804-1A5B-823A-6AAB-7E4277C7B593}"/>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8877473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ECB5A-4B0F-CC49-D478-457E8358B929}"/>
              </a:ext>
            </a:extLst>
          </p:cNvPr>
          <p:cNvSpPr>
            <a:spLocks noGrp="1"/>
          </p:cNvSpPr>
          <p:nvPr>
            <p:ph type="title"/>
          </p:nvPr>
        </p:nvSpPr>
        <p:spPr/>
        <p:txBody>
          <a:bodyPr/>
          <a:lstStyle/>
          <a:p>
            <a:r>
              <a:rPr lang="en-US" dirty="0"/>
              <a:t>Predicate logic</a:t>
            </a:r>
          </a:p>
        </p:txBody>
      </p:sp>
      <p:sp>
        <p:nvSpPr>
          <p:cNvPr id="3" name="Content Placeholder 2">
            <a:extLst>
              <a:ext uri="{FF2B5EF4-FFF2-40B4-BE49-F238E27FC236}">
                <a16:creationId xmlns:a16="http://schemas.microsoft.com/office/drawing/2014/main" id="{E06A367E-D259-23F0-B423-53F28467F876}"/>
              </a:ext>
            </a:extLst>
          </p:cNvPr>
          <p:cNvSpPr>
            <a:spLocks noGrp="1"/>
          </p:cNvSpPr>
          <p:nvPr>
            <p:ph idx="1"/>
          </p:nvPr>
        </p:nvSpPr>
        <p:spPr/>
        <p:txBody>
          <a:bodyPr>
            <a:normAutofit/>
          </a:bodyPr>
          <a:lstStyle/>
          <a:p>
            <a:r>
              <a:rPr lang="en-US" dirty="0"/>
              <a:t>In propositional logic we can represents only facts, which are either true or false. Limiting complex or natural languages.</a:t>
            </a:r>
          </a:p>
          <a:p>
            <a:r>
              <a:rPr lang="en-US" dirty="0"/>
              <a:t>Is an extension of Propositional Logic</a:t>
            </a:r>
          </a:p>
          <a:p>
            <a:r>
              <a:rPr lang="en-US" dirty="0"/>
              <a:t>Predicate logic aka First order logic aka First order predicate logic.</a:t>
            </a:r>
          </a:p>
          <a:p>
            <a:r>
              <a:rPr lang="en-US" dirty="0"/>
              <a:t>formal system that uses objects/ variables and quantifiers (∀, ∃) to formulate propositions</a:t>
            </a:r>
          </a:p>
          <a:p>
            <a:r>
              <a:rPr lang="en-US" dirty="0"/>
              <a:t>Predicate is a part of declarative sentences describing the properties of an object or relation among objects and functions.</a:t>
            </a:r>
          </a:p>
          <a:p>
            <a:r>
              <a:rPr lang="en-US" dirty="0"/>
              <a:t>Objects: A, B, People, numbers, color…..</a:t>
            </a:r>
          </a:p>
          <a:p>
            <a:r>
              <a:rPr lang="en-US" dirty="0"/>
              <a:t>Relations: It can be unary relation (red, round, is adjacent) or n-any relation (sister of, brother of, has color, comes between…)</a:t>
            </a:r>
          </a:p>
        </p:txBody>
      </p:sp>
      <p:sp>
        <p:nvSpPr>
          <p:cNvPr id="4" name="Footer Placeholder 3">
            <a:extLst>
              <a:ext uri="{FF2B5EF4-FFF2-40B4-BE49-F238E27FC236}">
                <a16:creationId xmlns:a16="http://schemas.microsoft.com/office/drawing/2014/main" id="{9F59EB21-E24C-9D5D-F3E4-FCD5AF60EEB7}"/>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6266543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AC07B-FE2D-E4BA-B5A7-D76C58C6F09B}"/>
              </a:ext>
            </a:extLst>
          </p:cNvPr>
          <p:cNvSpPr>
            <a:spLocks noGrp="1"/>
          </p:cNvSpPr>
          <p:nvPr>
            <p:ph type="title"/>
          </p:nvPr>
        </p:nvSpPr>
        <p:spPr/>
        <p:txBody>
          <a:bodyPr/>
          <a:lstStyle/>
          <a:p>
            <a:r>
              <a:rPr lang="en-US" dirty="0"/>
              <a:t>Predicate logic</a:t>
            </a:r>
          </a:p>
        </p:txBody>
      </p:sp>
      <p:sp>
        <p:nvSpPr>
          <p:cNvPr id="3" name="Content Placeholder 2">
            <a:extLst>
              <a:ext uri="{FF2B5EF4-FFF2-40B4-BE49-F238E27FC236}">
                <a16:creationId xmlns:a16="http://schemas.microsoft.com/office/drawing/2014/main" id="{E9D9547D-72B6-10D2-1BBE-B3491C576B45}"/>
              </a:ext>
            </a:extLst>
          </p:cNvPr>
          <p:cNvSpPr>
            <a:spLocks noGrp="1"/>
          </p:cNvSpPr>
          <p:nvPr>
            <p:ph idx="1"/>
          </p:nvPr>
        </p:nvSpPr>
        <p:spPr>
          <a:xfrm>
            <a:off x="677334" y="1314450"/>
            <a:ext cx="10136440" cy="5372099"/>
          </a:xfrm>
        </p:spPr>
        <p:txBody>
          <a:bodyPr>
            <a:normAutofit/>
          </a:bodyPr>
          <a:lstStyle/>
          <a:p>
            <a:r>
              <a:rPr lang="en-US" sz="2800" dirty="0"/>
              <a:t>Key Components:</a:t>
            </a:r>
          </a:p>
          <a:p>
            <a:pPr lvl="1"/>
            <a:r>
              <a:rPr lang="en-US" sz="2400" dirty="0"/>
              <a:t>Constants : represents objects A, B, C, D, cat, dog, ram, Shyam.</a:t>
            </a:r>
          </a:p>
          <a:p>
            <a:pPr lvl="1"/>
            <a:r>
              <a:rPr lang="en-US" sz="2400" dirty="0"/>
              <a:t>Variables: represents arbitrary elements ( x, y, z, a, b,..)</a:t>
            </a:r>
          </a:p>
          <a:p>
            <a:pPr lvl="1"/>
            <a:r>
              <a:rPr lang="en-US" sz="2400" dirty="0"/>
              <a:t>Predicates : Describes properties or relationships </a:t>
            </a:r>
          </a:p>
          <a:p>
            <a:pPr lvl="2"/>
            <a:r>
              <a:rPr lang="en-US" sz="2200" dirty="0"/>
              <a:t>P(x): “ x is a student“   ,    here x is subject and “is a student” is predicate</a:t>
            </a:r>
          </a:p>
          <a:p>
            <a:pPr lvl="2"/>
            <a:r>
              <a:rPr lang="en-US" sz="1900" dirty="0"/>
              <a:t>Q(x, y) : “ x is friend of y”,     here x, y are subjects and “ is a friend” is predicate</a:t>
            </a:r>
          </a:p>
        </p:txBody>
      </p:sp>
      <p:sp>
        <p:nvSpPr>
          <p:cNvPr id="4" name="Footer Placeholder 3">
            <a:extLst>
              <a:ext uri="{FF2B5EF4-FFF2-40B4-BE49-F238E27FC236}">
                <a16:creationId xmlns:a16="http://schemas.microsoft.com/office/drawing/2014/main" id="{233E6EE5-6019-8AA4-A7F1-7462DAEC6B5E}"/>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2887550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73DAC-1492-37B7-BAFD-FE88687593CB}"/>
              </a:ext>
            </a:extLst>
          </p:cNvPr>
          <p:cNvSpPr>
            <a:spLocks noGrp="1"/>
          </p:cNvSpPr>
          <p:nvPr>
            <p:ph type="title"/>
          </p:nvPr>
        </p:nvSpPr>
        <p:spPr/>
        <p:txBody>
          <a:bodyPr/>
          <a:lstStyle/>
          <a:p>
            <a:r>
              <a:rPr lang="en-US" dirty="0"/>
              <a:t>Quantifiers in Predicate logic</a:t>
            </a:r>
          </a:p>
        </p:txBody>
      </p:sp>
      <p:sp>
        <p:nvSpPr>
          <p:cNvPr id="3" name="Content Placeholder 2">
            <a:extLst>
              <a:ext uri="{FF2B5EF4-FFF2-40B4-BE49-F238E27FC236}">
                <a16:creationId xmlns:a16="http://schemas.microsoft.com/office/drawing/2014/main" id="{0F6908C1-6080-5D79-5E6C-EA0E53E61115}"/>
              </a:ext>
            </a:extLst>
          </p:cNvPr>
          <p:cNvSpPr>
            <a:spLocks noGrp="1"/>
          </p:cNvSpPr>
          <p:nvPr>
            <p:ph idx="1"/>
          </p:nvPr>
        </p:nvSpPr>
        <p:spPr>
          <a:xfrm>
            <a:off x="677334" y="1320801"/>
            <a:ext cx="9180344" cy="4927599"/>
          </a:xfrm>
        </p:spPr>
        <p:txBody>
          <a:bodyPr>
            <a:normAutofit/>
          </a:bodyPr>
          <a:lstStyle/>
          <a:p>
            <a:pPr marL="0" indent="0">
              <a:buNone/>
            </a:pPr>
            <a:r>
              <a:rPr lang="en-US" sz="2000" dirty="0"/>
              <a:t>Quantifiers specify </a:t>
            </a:r>
            <a:r>
              <a:rPr lang="en-US" sz="2000" b="1" dirty="0"/>
              <a:t>how many objects</a:t>
            </a:r>
            <a:r>
              <a:rPr lang="en-US" sz="2000" dirty="0"/>
              <a:t> satisfy a predicate</a:t>
            </a:r>
          </a:p>
          <a:p>
            <a:pPr marL="0" indent="0">
              <a:buNone/>
            </a:pPr>
            <a:r>
              <a:rPr lang="en-US" sz="2000" dirty="0"/>
              <a:t>Quantifiers : Scope of variable “ALL” or “SUM”</a:t>
            </a:r>
          </a:p>
          <a:p>
            <a:pPr marL="457200" indent="-457200">
              <a:buFont typeface="+mj-lt"/>
              <a:buAutoNum type="arabicPeriod"/>
            </a:pPr>
            <a:r>
              <a:rPr lang="en-US" sz="2000" b="1" dirty="0"/>
              <a:t>Universal Quantifier</a:t>
            </a:r>
            <a:r>
              <a:rPr lang="en-US" sz="2000" dirty="0"/>
              <a:t>: ∀x (P(x))  reads as (For All x, P(x) holds) </a:t>
            </a:r>
          </a:p>
          <a:p>
            <a:pPr marL="400050" lvl="1" indent="0">
              <a:buNone/>
            </a:pPr>
            <a:r>
              <a:rPr lang="en-US" sz="1800" dirty="0"/>
              <a:t>∀</a:t>
            </a:r>
            <a:r>
              <a:rPr lang="en-US" sz="1800" dirty="0" err="1"/>
              <a:t>xP</a:t>
            </a:r>
            <a:r>
              <a:rPr lang="en-US" sz="1800" dirty="0"/>
              <a:t>(x): "All x are students."	</a:t>
            </a:r>
          </a:p>
          <a:p>
            <a:pPr marL="457200" indent="-457200">
              <a:buFont typeface="+mj-lt"/>
              <a:buAutoNum type="arabicPeriod"/>
            </a:pPr>
            <a:r>
              <a:rPr lang="en-US" sz="2000" b="1" dirty="0"/>
              <a:t>Existential Quantifiers: </a:t>
            </a:r>
            <a:r>
              <a:rPr lang="en-US" sz="2000" dirty="0"/>
              <a:t>∃x (P(x)) (There exists x such that P(x) holds)</a:t>
            </a:r>
          </a:p>
          <a:p>
            <a:pPr marL="400050" lvl="1" indent="0">
              <a:buNone/>
            </a:pPr>
            <a:r>
              <a:rPr lang="en-US" sz="1800" dirty="0"/>
              <a:t>∃</a:t>
            </a:r>
            <a:r>
              <a:rPr lang="en-US" sz="1800" dirty="0" err="1"/>
              <a:t>xP</a:t>
            </a:r>
            <a:r>
              <a:rPr lang="en-US" sz="1800" dirty="0"/>
              <a:t>(x): "There exists an x such that x is a student.“	</a:t>
            </a:r>
          </a:p>
          <a:p>
            <a:pPr marL="0" indent="0">
              <a:buNone/>
            </a:pPr>
            <a:r>
              <a:rPr lang="en-US" sz="2000" dirty="0"/>
              <a:t>Example: “Everyone love Someone”</a:t>
            </a:r>
          </a:p>
          <a:p>
            <a:pPr marL="0" indent="0">
              <a:buNone/>
            </a:pPr>
            <a:r>
              <a:rPr lang="en-US" sz="2000" dirty="0"/>
              <a:t>	Predicate logic: ∀x ∃y Loves (x, y)</a:t>
            </a:r>
          </a:p>
          <a:p>
            <a:pPr marL="0" indent="0">
              <a:buNone/>
            </a:pPr>
            <a:r>
              <a:rPr lang="en-US" sz="2000" b="1" u="sng" dirty="0"/>
              <a:t>Use of implication and conjunction:</a:t>
            </a:r>
          </a:p>
          <a:p>
            <a:pPr marL="0" indent="0">
              <a:buNone/>
            </a:pPr>
            <a:r>
              <a:rPr lang="en-US" sz="2000" dirty="0"/>
              <a:t>All students are intelligent == ∀x Student(x) → Intelligent(x)</a:t>
            </a:r>
          </a:p>
          <a:p>
            <a:pPr marL="0" indent="0">
              <a:buNone/>
            </a:pPr>
            <a:r>
              <a:rPr lang="en-US" sz="2000" dirty="0"/>
              <a:t>There exists a student who is intelligent == ∃x Student(x) ∧ Intelligent(x)</a:t>
            </a:r>
          </a:p>
        </p:txBody>
      </p:sp>
      <p:sp>
        <p:nvSpPr>
          <p:cNvPr id="4" name="Footer Placeholder 3">
            <a:extLst>
              <a:ext uri="{FF2B5EF4-FFF2-40B4-BE49-F238E27FC236}">
                <a16:creationId xmlns:a16="http://schemas.microsoft.com/office/drawing/2014/main" id="{5871E315-EA6D-B89C-AF7A-1312CB263CFD}"/>
              </a:ext>
            </a:extLst>
          </p:cNvPr>
          <p:cNvSpPr>
            <a:spLocks noGrp="1"/>
          </p:cNvSpPr>
          <p:nvPr>
            <p:ph type="ftr" sz="quarter" idx="11"/>
          </p:nvPr>
        </p:nvSpPr>
        <p:spPr>
          <a:xfrm>
            <a:off x="677334" y="6579221"/>
            <a:ext cx="6297612" cy="365125"/>
          </a:xfrm>
        </p:spPr>
        <p:txBody>
          <a:bodyPr/>
          <a:lstStyle/>
          <a:p>
            <a:r>
              <a:rPr lang="nb-NO" dirty="0"/>
              <a:t>kapil@nast.edu.np || kapilpant157</a:t>
            </a:r>
            <a:endParaRPr lang="en-US" dirty="0"/>
          </a:p>
        </p:txBody>
      </p:sp>
    </p:spTree>
    <p:extLst>
      <p:ext uri="{BB962C8B-B14F-4D97-AF65-F5344CB8AC3E}">
        <p14:creationId xmlns:p14="http://schemas.microsoft.com/office/powerpoint/2010/main" val="29519969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B0BBA-750D-4F07-B811-CF0371E25001}"/>
              </a:ext>
            </a:extLst>
          </p:cNvPr>
          <p:cNvSpPr>
            <a:spLocks noGrp="1"/>
          </p:cNvSpPr>
          <p:nvPr>
            <p:ph type="title"/>
          </p:nvPr>
        </p:nvSpPr>
        <p:spPr/>
        <p:txBody>
          <a:bodyPr/>
          <a:lstStyle/>
          <a:p>
            <a:r>
              <a:rPr lang="en-US" dirty="0"/>
              <a:t>Syntax</a:t>
            </a:r>
          </a:p>
        </p:txBody>
      </p:sp>
      <p:sp>
        <p:nvSpPr>
          <p:cNvPr id="3" name="Content Placeholder 2">
            <a:extLst>
              <a:ext uri="{FF2B5EF4-FFF2-40B4-BE49-F238E27FC236}">
                <a16:creationId xmlns:a16="http://schemas.microsoft.com/office/drawing/2014/main" id="{52E285D2-80AA-C399-483A-58B09B9A7FBF}"/>
              </a:ext>
            </a:extLst>
          </p:cNvPr>
          <p:cNvSpPr>
            <a:spLocks noGrp="1"/>
          </p:cNvSpPr>
          <p:nvPr>
            <p:ph idx="1"/>
          </p:nvPr>
        </p:nvSpPr>
        <p:spPr/>
        <p:txBody>
          <a:bodyPr/>
          <a:lstStyle/>
          <a:p>
            <a:pPr marL="0" indent="0">
              <a:buNone/>
            </a:pPr>
            <a:r>
              <a:rPr lang="en-US" sz="1800" dirty="0"/>
              <a:t>Set of rules that makes the structure of sentence in Predicate logic</a:t>
            </a:r>
          </a:p>
          <a:p>
            <a:r>
              <a:rPr lang="en-US" b="1" dirty="0"/>
              <a:t>Atomic Formula</a:t>
            </a:r>
            <a:r>
              <a:rPr lang="en-US" dirty="0"/>
              <a:t>: Basic statements formed using predicates, constants, and variables.</a:t>
            </a:r>
          </a:p>
          <a:p>
            <a:pPr marL="0" indent="0">
              <a:buNone/>
            </a:pPr>
            <a:r>
              <a:rPr lang="en-US" dirty="0"/>
              <a:t>Example: P(a), Q(x, y)</a:t>
            </a:r>
          </a:p>
          <a:p>
            <a:pPr marL="0" indent="0">
              <a:buNone/>
            </a:pPr>
            <a:r>
              <a:rPr lang="en-US" dirty="0"/>
              <a:t>	Ram is eating : eating(Ram)</a:t>
            </a:r>
          </a:p>
          <a:p>
            <a:pPr marL="0" indent="0">
              <a:buNone/>
            </a:pPr>
            <a:r>
              <a:rPr lang="en-US" dirty="0"/>
              <a:t>	Anil and </a:t>
            </a:r>
            <a:r>
              <a:rPr lang="en-US" dirty="0" err="1"/>
              <a:t>bhuppi</a:t>
            </a:r>
            <a:r>
              <a:rPr lang="en-US" dirty="0"/>
              <a:t> are friends: friends (Anil, </a:t>
            </a:r>
            <a:r>
              <a:rPr lang="en-US" dirty="0" err="1"/>
              <a:t>Bhuppi</a:t>
            </a:r>
            <a:r>
              <a:rPr lang="en-US" dirty="0"/>
              <a:t>)</a:t>
            </a:r>
          </a:p>
          <a:p>
            <a:r>
              <a:rPr lang="en-US" b="1" dirty="0"/>
              <a:t>Complex Formula</a:t>
            </a:r>
            <a:r>
              <a:rPr lang="en-US" dirty="0"/>
              <a:t>: Built from atomic formulas using quantifiers and logical connectives.</a:t>
            </a:r>
          </a:p>
          <a:p>
            <a:pPr marL="0" indent="0">
              <a:buNone/>
            </a:pPr>
            <a:r>
              <a:rPr lang="en-US" dirty="0"/>
              <a:t>Example: ∀x(P(x)→Q(x)): "For all x, if x is a student, then x is diligent. </a:t>
            </a:r>
          </a:p>
          <a:p>
            <a:endParaRPr lang="en-US" dirty="0"/>
          </a:p>
        </p:txBody>
      </p:sp>
      <p:sp>
        <p:nvSpPr>
          <p:cNvPr id="4" name="Footer Placeholder 3">
            <a:extLst>
              <a:ext uri="{FF2B5EF4-FFF2-40B4-BE49-F238E27FC236}">
                <a16:creationId xmlns:a16="http://schemas.microsoft.com/office/drawing/2014/main" id="{8907797C-BA3A-6E0B-3F00-F58F519C898D}"/>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7372417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799DF-0929-5D84-4E05-05258436690A}"/>
              </a:ext>
            </a:extLst>
          </p:cNvPr>
          <p:cNvSpPr>
            <a:spLocks noGrp="1"/>
          </p:cNvSpPr>
          <p:nvPr>
            <p:ph type="title"/>
          </p:nvPr>
        </p:nvSpPr>
        <p:spPr/>
        <p:txBody>
          <a:bodyPr/>
          <a:lstStyle/>
          <a:p>
            <a:r>
              <a:rPr lang="en-US" dirty="0"/>
              <a:t>Semantics</a:t>
            </a:r>
          </a:p>
        </p:txBody>
      </p:sp>
      <p:sp>
        <p:nvSpPr>
          <p:cNvPr id="3" name="Content Placeholder 2">
            <a:extLst>
              <a:ext uri="{FF2B5EF4-FFF2-40B4-BE49-F238E27FC236}">
                <a16:creationId xmlns:a16="http://schemas.microsoft.com/office/drawing/2014/main" id="{B9E12913-F6C7-E1AE-50E6-A40E8C3A599E}"/>
              </a:ext>
            </a:extLst>
          </p:cNvPr>
          <p:cNvSpPr>
            <a:spLocks noGrp="1"/>
          </p:cNvSpPr>
          <p:nvPr>
            <p:ph idx="1"/>
          </p:nvPr>
        </p:nvSpPr>
        <p:spPr/>
        <p:txBody>
          <a:bodyPr/>
          <a:lstStyle/>
          <a:p>
            <a:r>
              <a:rPr lang="en-US" dirty="0"/>
              <a:t>Assigns meaning to predicates and terms (Syntax).</a:t>
            </a:r>
          </a:p>
          <a:p>
            <a:r>
              <a:rPr lang="en-US" dirty="0"/>
              <a:t>Domain: set of objects that refers variable.</a:t>
            </a:r>
          </a:p>
          <a:p>
            <a:r>
              <a:rPr lang="en-US" dirty="0"/>
              <a:t>Interpretation Function: maps constants to object, predicates to relations and variables to elements.</a:t>
            </a:r>
          </a:p>
          <a:p>
            <a:r>
              <a:rPr lang="en-US" dirty="0"/>
              <a:t>Truth Condition : </a:t>
            </a:r>
          </a:p>
          <a:p>
            <a:pPr lvl="1"/>
            <a:r>
              <a:rPr lang="en-US" dirty="0"/>
              <a:t>Universal (∀): True if the predicate holds for all elements in the domain.</a:t>
            </a:r>
          </a:p>
          <a:p>
            <a:pPr lvl="1"/>
            <a:r>
              <a:rPr lang="en-US" dirty="0"/>
              <a:t>Existential (∃): True if the predicate holds for at least one element. </a:t>
            </a:r>
          </a:p>
          <a:p>
            <a:r>
              <a:rPr lang="en-US" dirty="0"/>
              <a:t>Example:</a:t>
            </a:r>
          </a:p>
          <a:p>
            <a:pPr marL="457200" lvl="1" indent="0">
              <a:buNone/>
            </a:pPr>
            <a:r>
              <a:rPr lang="en-US" dirty="0"/>
              <a:t>Domain : {x, y}{Alice, Bob} </a:t>
            </a:r>
          </a:p>
          <a:p>
            <a:pPr marL="457200" lvl="1" indent="0">
              <a:buNone/>
            </a:pPr>
            <a:r>
              <a:rPr lang="en-US" dirty="0"/>
              <a:t>Predicate: Loves(x, y) Loves(Alice, Bob) is true if Alice loves bob.</a:t>
            </a:r>
          </a:p>
        </p:txBody>
      </p:sp>
      <p:sp>
        <p:nvSpPr>
          <p:cNvPr id="4" name="Footer Placeholder 3">
            <a:extLst>
              <a:ext uri="{FF2B5EF4-FFF2-40B4-BE49-F238E27FC236}">
                <a16:creationId xmlns:a16="http://schemas.microsoft.com/office/drawing/2014/main" id="{6B52C0C8-F77B-055A-BE1F-0D7C991FE8C6}"/>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4157357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D183D-37BE-3FB6-E021-9F1DDFCD9120}"/>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15E458D3-EB96-0456-7757-456FD31B10EC}"/>
              </a:ext>
            </a:extLst>
          </p:cNvPr>
          <p:cNvSpPr>
            <a:spLocks noGrp="1"/>
          </p:cNvSpPr>
          <p:nvPr>
            <p:ph idx="1"/>
          </p:nvPr>
        </p:nvSpPr>
        <p:spPr/>
        <p:txBody>
          <a:bodyPr/>
          <a:lstStyle/>
          <a:p>
            <a:r>
              <a:rPr lang="en-US" b="1" dirty="0"/>
              <a:t>Statement</a:t>
            </a:r>
            <a:r>
              <a:rPr lang="en-US" dirty="0"/>
              <a:t>: "All humans are mortal, and Socrates is a human. Therefore, Socrates is mortal.“</a:t>
            </a:r>
          </a:p>
          <a:p>
            <a:r>
              <a:rPr lang="en-US" b="1" dirty="0"/>
              <a:t>Representation in Predicate Logic</a:t>
            </a:r>
            <a:r>
              <a:rPr lang="en-US" dirty="0"/>
              <a:t>:</a:t>
            </a:r>
          </a:p>
          <a:p>
            <a:pPr marL="0" indent="0">
              <a:buNone/>
            </a:pPr>
            <a:r>
              <a:rPr lang="en-US" dirty="0"/>
              <a:t>Human(x): "x is a human."</a:t>
            </a:r>
          </a:p>
          <a:p>
            <a:pPr marL="0" indent="0">
              <a:buNone/>
            </a:pPr>
            <a:r>
              <a:rPr lang="en-US" dirty="0"/>
              <a:t>Mortal(x): "x is mortal."</a:t>
            </a:r>
          </a:p>
          <a:p>
            <a:pPr marL="0" indent="0">
              <a:buNone/>
            </a:pPr>
            <a:r>
              <a:rPr lang="en-US" dirty="0"/>
              <a:t>Socrates: A constant representing Socrates.</a:t>
            </a:r>
          </a:p>
          <a:p>
            <a:pPr>
              <a:buFont typeface="Arial" panose="020B0604020202020204" pitchFamily="34" charset="0"/>
              <a:buChar char="•"/>
            </a:pPr>
            <a:r>
              <a:rPr lang="en-US" dirty="0"/>
              <a:t>Logical Form:</a:t>
            </a:r>
          </a:p>
          <a:p>
            <a:pPr marL="742950" lvl="1" indent="-285750">
              <a:buFont typeface="Arial" panose="020B0604020202020204" pitchFamily="34" charset="0"/>
              <a:buChar char="•"/>
            </a:pPr>
            <a:r>
              <a:rPr lang="en-US" dirty="0"/>
              <a:t>∀x(Human(x)→Mortal(x)) 			</a:t>
            </a:r>
            <a:r>
              <a:rPr lang="en-US" dirty="0">
                <a:sym typeface="Wingdings" panose="05000000000000000000" pitchFamily="2" charset="2"/>
              </a:rPr>
              <a:t> </a:t>
            </a:r>
            <a:r>
              <a:rPr lang="en-US" dirty="0"/>
              <a:t>(All humans are mortal).</a:t>
            </a:r>
          </a:p>
          <a:p>
            <a:pPr marL="742950" lvl="1" indent="-285750">
              <a:buFont typeface="Arial" panose="020B0604020202020204" pitchFamily="34" charset="0"/>
              <a:buChar char="•"/>
            </a:pPr>
            <a:r>
              <a:rPr lang="en-US" dirty="0"/>
              <a:t>Human(Socrates)				(Socrates is a human).</a:t>
            </a:r>
          </a:p>
          <a:p>
            <a:pPr marL="457200" lvl="1" indent="0">
              <a:buNone/>
            </a:pPr>
            <a:r>
              <a:rPr lang="en-US" dirty="0"/>
              <a:t>Conclusion: Mortal(Socrates) 			</a:t>
            </a:r>
            <a:r>
              <a:rPr lang="en-US" dirty="0">
                <a:sym typeface="Wingdings" panose="05000000000000000000" pitchFamily="2" charset="2"/>
              </a:rPr>
              <a:t> </a:t>
            </a:r>
            <a:r>
              <a:rPr lang="en-US" dirty="0"/>
              <a:t>(Socrates is mortal).</a:t>
            </a:r>
          </a:p>
          <a:p>
            <a:endParaRPr lang="en-US" dirty="0"/>
          </a:p>
        </p:txBody>
      </p:sp>
      <p:sp>
        <p:nvSpPr>
          <p:cNvPr id="4" name="Footer Placeholder 3">
            <a:extLst>
              <a:ext uri="{FF2B5EF4-FFF2-40B4-BE49-F238E27FC236}">
                <a16:creationId xmlns:a16="http://schemas.microsoft.com/office/drawing/2014/main" id="{B75DB30A-3D04-5B86-E328-5292AF9E3B66}"/>
              </a:ext>
            </a:extLst>
          </p:cNvPr>
          <p:cNvSpPr>
            <a:spLocks noGrp="1"/>
          </p:cNvSpPr>
          <p:nvPr>
            <p:ph type="ftr" sz="quarter" idx="11"/>
          </p:nvPr>
        </p:nvSpPr>
        <p:spPr/>
        <p:txBody>
          <a:bodyPr/>
          <a:lstStyle/>
          <a:p>
            <a:r>
              <a:rPr lang="nb-NO"/>
              <a:t>kapil@nast.edu.np || kapilpant157</a:t>
            </a:r>
            <a:endParaRPr lang="en-US"/>
          </a:p>
        </p:txBody>
      </p:sp>
      <p:sp>
        <p:nvSpPr>
          <p:cNvPr id="6" name="TextBox 5">
            <a:extLst>
              <a:ext uri="{FF2B5EF4-FFF2-40B4-BE49-F238E27FC236}">
                <a16:creationId xmlns:a16="http://schemas.microsoft.com/office/drawing/2014/main" id="{41F76403-BDF1-49B6-660C-7055608F523B}"/>
              </a:ext>
            </a:extLst>
          </p:cNvPr>
          <p:cNvSpPr txBox="1"/>
          <p:nvPr/>
        </p:nvSpPr>
        <p:spPr>
          <a:xfrm>
            <a:off x="8162692" y="3085312"/>
            <a:ext cx="6110868" cy="2031325"/>
          </a:xfrm>
          <a:prstGeom prst="rect">
            <a:avLst/>
          </a:prstGeom>
          <a:noFill/>
        </p:spPr>
        <p:txBody>
          <a:bodyPr wrap="square">
            <a:spAutoFit/>
          </a:bodyPr>
          <a:lstStyle/>
          <a:p>
            <a:pPr>
              <a:buNone/>
            </a:pPr>
            <a:r>
              <a:rPr lang="en-US" dirty="0">
                <a:solidFill>
                  <a:schemeClr val="tx1">
                    <a:lumMod val="75000"/>
                    <a:lumOff val="25000"/>
                  </a:schemeClr>
                </a:solidFill>
              </a:rPr>
              <a:t>Example:</a:t>
            </a:r>
            <a:br>
              <a:rPr lang="en-US" dirty="0">
                <a:solidFill>
                  <a:schemeClr val="tx1">
                    <a:lumMod val="75000"/>
                    <a:lumOff val="25000"/>
                  </a:schemeClr>
                </a:solidFill>
              </a:rPr>
            </a:br>
            <a:r>
              <a:rPr lang="en-US" dirty="0">
                <a:solidFill>
                  <a:schemeClr val="tx1">
                    <a:lumMod val="75000"/>
                    <a:lumOff val="25000"/>
                  </a:schemeClr>
                </a:solidFill>
              </a:rPr>
              <a:t>Domain: {Ram, Sita}</a:t>
            </a:r>
            <a:br>
              <a:rPr lang="en-US" dirty="0">
                <a:solidFill>
                  <a:schemeClr val="tx1">
                    <a:lumMod val="75000"/>
                    <a:lumOff val="25000"/>
                  </a:schemeClr>
                </a:solidFill>
              </a:rPr>
            </a:br>
            <a:r>
              <a:rPr lang="en-US" dirty="0">
                <a:solidFill>
                  <a:schemeClr val="tx1">
                    <a:lumMod val="75000"/>
                    <a:lumOff val="25000"/>
                  </a:schemeClr>
                </a:solidFill>
              </a:rPr>
              <a:t>Predicate: Human(x)</a:t>
            </a:r>
          </a:p>
          <a:p>
            <a:pPr>
              <a:buNone/>
            </a:pPr>
            <a:r>
              <a:rPr lang="en-US" dirty="0">
                <a:solidFill>
                  <a:schemeClr val="tx1">
                    <a:lumMod val="75000"/>
                    <a:lumOff val="25000"/>
                  </a:schemeClr>
                </a:solidFill>
              </a:rPr>
              <a:t>If both are humans, then:</a:t>
            </a:r>
          </a:p>
          <a:p>
            <a:pPr>
              <a:buNone/>
            </a:pPr>
            <a:endParaRPr lang="en-US" dirty="0">
              <a:solidFill>
                <a:schemeClr val="tx1">
                  <a:lumMod val="75000"/>
                  <a:lumOff val="25000"/>
                </a:schemeClr>
              </a:solidFill>
            </a:endParaRPr>
          </a:p>
          <a:p>
            <a:pPr>
              <a:buNone/>
            </a:pPr>
            <a:r>
              <a:rPr lang="en-US" dirty="0">
                <a:solidFill>
                  <a:schemeClr val="tx1">
                    <a:lumMod val="75000"/>
                    <a:lumOff val="25000"/>
                  </a:schemeClr>
                </a:solidFill>
              </a:rPr>
              <a:t>∀x Human(x) is TRUE</a:t>
            </a:r>
          </a:p>
          <a:p>
            <a:pPr>
              <a:buNone/>
            </a:pPr>
            <a:endParaRPr lang="en-US" dirty="0"/>
          </a:p>
        </p:txBody>
      </p:sp>
    </p:spTree>
    <p:extLst>
      <p:ext uri="{BB962C8B-B14F-4D97-AF65-F5344CB8AC3E}">
        <p14:creationId xmlns:p14="http://schemas.microsoft.com/office/powerpoint/2010/main" val="33250207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68F62-687E-29E1-5D3C-5487B1512F0A}"/>
              </a:ext>
            </a:extLst>
          </p:cNvPr>
          <p:cNvSpPr>
            <a:spLocks noGrp="1"/>
          </p:cNvSpPr>
          <p:nvPr>
            <p:ph type="title"/>
          </p:nvPr>
        </p:nvSpPr>
        <p:spPr/>
        <p:txBody>
          <a:bodyPr/>
          <a:lstStyle/>
          <a:p>
            <a:r>
              <a:rPr lang="en-US" dirty="0"/>
              <a:t>Examples of Predicate logic</a:t>
            </a:r>
          </a:p>
        </p:txBody>
      </p:sp>
      <p:sp>
        <p:nvSpPr>
          <p:cNvPr id="3" name="Content Placeholder 2">
            <a:extLst>
              <a:ext uri="{FF2B5EF4-FFF2-40B4-BE49-F238E27FC236}">
                <a16:creationId xmlns:a16="http://schemas.microsoft.com/office/drawing/2014/main" id="{469061CE-FE14-F38C-1F22-635B2CEC9E41}"/>
              </a:ext>
            </a:extLst>
          </p:cNvPr>
          <p:cNvSpPr>
            <a:spLocks noGrp="1"/>
          </p:cNvSpPr>
          <p:nvPr>
            <p:ph idx="1"/>
          </p:nvPr>
        </p:nvSpPr>
        <p:spPr/>
        <p:txBody>
          <a:bodyPr>
            <a:normAutofit fontScale="92500" lnSpcReduction="20000"/>
          </a:bodyPr>
          <a:lstStyle/>
          <a:p>
            <a:r>
              <a:rPr lang="en-US" sz="1800" dirty="0">
                <a:effectLst/>
                <a:ea typeface="Aptos" panose="020B0004020202020204" pitchFamily="34" charset="0"/>
                <a:cs typeface="Times New Roman" panose="02020603050405020304" pitchFamily="18" charset="0"/>
              </a:rPr>
              <a:t>All birds can fly.</a:t>
            </a:r>
          </a:p>
          <a:p>
            <a:r>
              <a:rPr lang="en-US" dirty="0"/>
              <a:t>There exists a teacher who teaches AI.</a:t>
            </a:r>
            <a:endParaRPr lang="en-US" sz="1800" dirty="0">
              <a:effectLst/>
              <a:ea typeface="Aptos" panose="020B0004020202020204" pitchFamily="34" charset="0"/>
              <a:cs typeface="Times New Roman" panose="02020603050405020304" pitchFamily="18" charset="0"/>
            </a:endParaRPr>
          </a:p>
          <a:p>
            <a:r>
              <a:rPr lang="en-US" dirty="0"/>
              <a:t>All students who study AI are intelligent.</a:t>
            </a:r>
          </a:p>
          <a:p>
            <a:r>
              <a:rPr lang="en-US" dirty="0"/>
              <a:t>Every teacher teaches at least one subject.</a:t>
            </a:r>
          </a:p>
          <a:p>
            <a:r>
              <a:rPr lang="en-US" sz="1800" dirty="0">
                <a:effectLst/>
                <a:ea typeface="Aptos" panose="020B0004020202020204" pitchFamily="34" charset="0"/>
                <a:cs typeface="Times New Roman" panose="02020603050405020304" pitchFamily="18" charset="0"/>
              </a:rPr>
              <a:t>If the sun is shining, then the grass is dry for all locations</a:t>
            </a:r>
          </a:p>
          <a:p>
            <a:r>
              <a:rPr lang="en-US" sz="1800" dirty="0">
                <a:effectLst/>
                <a:ea typeface="Aptos" panose="020B0004020202020204" pitchFamily="34" charset="0"/>
                <a:cs typeface="Times New Roman" panose="02020603050405020304" pitchFamily="18" charset="0"/>
              </a:rPr>
              <a:t>If the grass is not dry at some location, then the sun is not shining at that location</a:t>
            </a:r>
          </a:p>
          <a:p>
            <a:r>
              <a:rPr lang="en-US" sz="1800" dirty="0">
                <a:effectLst/>
                <a:ea typeface="Aptos" panose="020B0004020202020204" pitchFamily="34" charset="0"/>
                <a:cs typeface="Times New Roman" panose="02020603050405020304" pitchFamily="18" charset="0"/>
              </a:rPr>
              <a:t>There is some location where the sun is shining, and the grass is not dry</a:t>
            </a:r>
            <a:endParaRPr lang="en-US" dirty="0">
              <a:ea typeface="Aptos" panose="020B0004020202020204" pitchFamily="34" charset="0"/>
              <a:cs typeface="Times New Roman" panose="02020603050405020304" pitchFamily="18" charset="0"/>
            </a:endParaRPr>
          </a:p>
          <a:p>
            <a:r>
              <a:rPr lang="en-US" sz="1800" dirty="0">
                <a:effectLst/>
                <a:ea typeface="Aptos" panose="020B0004020202020204" pitchFamily="34" charset="0"/>
                <a:cs typeface="Times New Roman" panose="02020603050405020304" pitchFamily="18" charset="0"/>
              </a:rPr>
              <a:t>If a car is parked, then its engine is off for all cars</a:t>
            </a:r>
          </a:p>
          <a:p>
            <a:r>
              <a:rPr lang="en-US" sz="1800" dirty="0">
                <a:effectLst/>
                <a:ea typeface="Aptos" panose="020B0004020202020204" pitchFamily="34" charset="0"/>
                <a:cs typeface="Times New Roman" panose="02020603050405020304" pitchFamily="18" charset="0"/>
              </a:rPr>
              <a:t>If a phone is charged, then it will turn on, and if it turns on, then the phone is charged</a:t>
            </a:r>
            <a:endParaRPr lang="en-US" dirty="0">
              <a:ea typeface="Aptos" panose="020B0004020202020204" pitchFamily="34" charset="0"/>
              <a:cs typeface="Times New Roman" panose="02020603050405020304" pitchFamily="18" charset="0"/>
            </a:endParaRPr>
          </a:p>
          <a:p>
            <a:r>
              <a:rPr lang="en-US" sz="1800" dirty="0">
                <a:effectLst/>
                <a:ea typeface="Aptos" panose="020B0004020202020204" pitchFamily="34" charset="0"/>
                <a:cs typeface="Times New Roman" panose="02020603050405020304" pitchFamily="18" charset="0"/>
              </a:rPr>
              <a:t>Every phone that is charged will turn on, and there is a phone that is not charged but will not turn on</a:t>
            </a:r>
            <a:endParaRPr lang="en-US" dirty="0"/>
          </a:p>
        </p:txBody>
      </p:sp>
      <p:sp>
        <p:nvSpPr>
          <p:cNvPr id="4" name="Footer Placeholder 3">
            <a:extLst>
              <a:ext uri="{FF2B5EF4-FFF2-40B4-BE49-F238E27FC236}">
                <a16:creationId xmlns:a16="http://schemas.microsoft.com/office/drawing/2014/main" id="{9688D3F4-A805-C23E-2EAA-84C6A9F92C4E}"/>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365648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B9BAA-D605-CD4B-1C61-000FEDA7959B}"/>
              </a:ext>
            </a:extLst>
          </p:cNvPr>
          <p:cNvSpPr>
            <a:spLocks noGrp="1"/>
          </p:cNvSpPr>
          <p:nvPr>
            <p:ph type="title"/>
          </p:nvPr>
        </p:nvSpPr>
        <p:spPr/>
        <p:txBody>
          <a:bodyPr/>
          <a:lstStyle/>
          <a:p>
            <a:r>
              <a:rPr lang="en-US" dirty="0"/>
              <a:t>Examples of Predicate logic</a:t>
            </a:r>
          </a:p>
        </p:txBody>
      </p:sp>
      <p:sp>
        <p:nvSpPr>
          <p:cNvPr id="3" name="Content Placeholder 2">
            <a:extLst>
              <a:ext uri="{FF2B5EF4-FFF2-40B4-BE49-F238E27FC236}">
                <a16:creationId xmlns:a16="http://schemas.microsoft.com/office/drawing/2014/main" id="{04C02478-CBC7-5EBF-DB65-6780E1DD7759}"/>
              </a:ext>
            </a:extLst>
          </p:cNvPr>
          <p:cNvSpPr>
            <a:spLocks noGrp="1"/>
          </p:cNvSpPr>
          <p:nvPr>
            <p:ph idx="1"/>
          </p:nvPr>
        </p:nvSpPr>
        <p:spPr/>
        <p:txBody>
          <a:bodyPr/>
          <a:lstStyle/>
          <a:p>
            <a:r>
              <a:rPr lang="en-US" sz="1800" b="1" dirty="0">
                <a:effectLst/>
                <a:latin typeface="Aptos" panose="020B0004020202020204" pitchFamily="34" charset="0"/>
                <a:ea typeface="Aptos" panose="020B0004020202020204" pitchFamily="34" charset="0"/>
                <a:cs typeface="Times New Roman" panose="02020603050405020304" pitchFamily="18" charset="0"/>
              </a:rPr>
              <a:t>If the sun is shining, then the grass is dry for all locations</a:t>
            </a:r>
          </a:p>
          <a:p>
            <a:pPr marL="0" indent="0">
              <a:buNone/>
            </a:pPr>
            <a:r>
              <a:rPr lang="en-US" dirty="0"/>
              <a:t>Explanation: </a:t>
            </a:r>
          </a:p>
          <a:p>
            <a:pPr marL="0" indent="0">
              <a:buNone/>
            </a:pPr>
            <a:r>
              <a:rPr lang="en-US" dirty="0"/>
              <a:t>∀x: This universal quantifier means "for all x." </a:t>
            </a:r>
          </a:p>
          <a:p>
            <a:pPr marL="0" indent="0">
              <a:buNone/>
            </a:pPr>
            <a:r>
              <a:rPr lang="en-US" dirty="0"/>
              <a:t>Shining(Sun(x)): This predicate represents "the sun is shining at location x." </a:t>
            </a:r>
          </a:p>
          <a:p>
            <a:pPr marL="0" indent="0">
              <a:buNone/>
            </a:pPr>
            <a:r>
              <a:rPr lang="en-US" dirty="0"/>
              <a:t>Dry(Grass(x)): This predicate represents "the grass is dry at location x." </a:t>
            </a:r>
          </a:p>
          <a:p>
            <a:pPr marL="0" indent="0">
              <a:buNone/>
            </a:pPr>
            <a:r>
              <a:rPr lang="en-US" dirty="0"/>
              <a:t>→: This symbol represents the logical implication "if...then." </a:t>
            </a:r>
          </a:p>
          <a:p>
            <a:pPr marL="0" indent="0">
              <a:buNone/>
            </a:pPr>
            <a:endParaRPr lang="en-US" dirty="0"/>
          </a:p>
          <a:p>
            <a:pPr marL="0" indent="0">
              <a:buNone/>
            </a:pPr>
            <a:r>
              <a:rPr lang="en-US" dirty="0"/>
              <a:t>∀x (Shining(Sun(x)) → Dry(Grass(x)))</a:t>
            </a:r>
          </a:p>
        </p:txBody>
      </p:sp>
      <p:sp>
        <p:nvSpPr>
          <p:cNvPr id="4" name="Footer Placeholder 3">
            <a:extLst>
              <a:ext uri="{FF2B5EF4-FFF2-40B4-BE49-F238E27FC236}">
                <a16:creationId xmlns:a16="http://schemas.microsoft.com/office/drawing/2014/main" id="{8E25EE15-8BD8-8D83-3270-7BF72CB0BEA3}"/>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8200421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3D4D7-3A08-B3A6-8FB9-0E90E6FB9FC1}"/>
              </a:ext>
            </a:extLst>
          </p:cNvPr>
          <p:cNvSpPr>
            <a:spLocks noGrp="1"/>
          </p:cNvSpPr>
          <p:nvPr>
            <p:ph type="title"/>
          </p:nvPr>
        </p:nvSpPr>
        <p:spPr/>
        <p:txBody>
          <a:bodyPr/>
          <a:lstStyle/>
          <a:p>
            <a:r>
              <a:rPr lang="en-US" dirty="0"/>
              <a:t>Examples of Predicate logic</a:t>
            </a:r>
          </a:p>
        </p:txBody>
      </p:sp>
      <p:sp>
        <p:nvSpPr>
          <p:cNvPr id="3" name="Content Placeholder 2">
            <a:extLst>
              <a:ext uri="{FF2B5EF4-FFF2-40B4-BE49-F238E27FC236}">
                <a16:creationId xmlns:a16="http://schemas.microsoft.com/office/drawing/2014/main" id="{FC3060D8-6C27-83DC-8829-749A8D69BEC6}"/>
              </a:ext>
            </a:extLst>
          </p:cNvPr>
          <p:cNvSpPr>
            <a:spLocks noGrp="1"/>
          </p:cNvSpPr>
          <p:nvPr>
            <p:ph idx="1"/>
          </p:nvPr>
        </p:nvSpPr>
        <p:spPr/>
        <p:txBody>
          <a:bodyPr>
            <a:normAutofit fontScale="85000" lnSpcReduction="10000"/>
          </a:bodyPr>
          <a:lstStyle/>
          <a:p>
            <a:r>
              <a:rPr lang="en-US" sz="1800" b="1" dirty="0">
                <a:effectLst/>
                <a:latin typeface="Aptos" panose="020B0004020202020204" pitchFamily="34" charset="0"/>
                <a:ea typeface="Aptos" panose="020B0004020202020204" pitchFamily="34" charset="0"/>
                <a:cs typeface="Times New Roman" panose="02020603050405020304" pitchFamily="18" charset="0"/>
              </a:rPr>
              <a:t>If the grass is not dry at some location, then the sun is not shining at that location</a:t>
            </a:r>
          </a:p>
          <a:p>
            <a:pPr marL="0" indent="0">
              <a:buNone/>
            </a:pPr>
            <a:r>
              <a:rPr lang="en-US" dirty="0"/>
              <a:t>	∃x (¬Dry(Grass(x)) → ¬Shining(Sun(x)))</a:t>
            </a:r>
          </a:p>
          <a:p>
            <a:r>
              <a:rPr lang="en-US" sz="1800" b="1" dirty="0">
                <a:effectLst/>
                <a:latin typeface="Aptos" panose="020B0004020202020204" pitchFamily="34" charset="0"/>
                <a:ea typeface="Aptos" panose="020B0004020202020204" pitchFamily="34" charset="0"/>
                <a:cs typeface="Times New Roman" panose="02020603050405020304" pitchFamily="18" charset="0"/>
              </a:rPr>
              <a:t>There is some location where the sun is shining, and the grass is not dry</a:t>
            </a:r>
          </a:p>
          <a:p>
            <a:pPr marL="0" indent="0">
              <a:buNone/>
            </a:pPr>
            <a:r>
              <a:rPr lang="en-US" dirty="0"/>
              <a:t>∃x (Shining(Sun(x)) ∧ ¬Dry(Grass(x)))</a:t>
            </a:r>
          </a:p>
          <a:p>
            <a:r>
              <a:rPr lang="en-US" sz="1800" b="1" dirty="0">
                <a:effectLst/>
                <a:latin typeface="Aptos" panose="020B0004020202020204" pitchFamily="34" charset="0"/>
                <a:ea typeface="Aptos" panose="020B0004020202020204" pitchFamily="34" charset="0"/>
                <a:cs typeface="Times New Roman" panose="02020603050405020304" pitchFamily="18" charset="0"/>
              </a:rPr>
              <a:t>If a car is parked, then its engine is off for all cars</a:t>
            </a:r>
          </a:p>
          <a:p>
            <a:r>
              <a:rPr lang="en-US" dirty="0"/>
              <a:t>∀x (Parked(Car(x)) → Off(Engine(x)))</a:t>
            </a:r>
          </a:p>
          <a:p>
            <a:endParaRPr lang="en-US" sz="1800" b="1" dirty="0">
              <a:effectLst/>
              <a:latin typeface="Aptos" panose="020B0004020202020204" pitchFamily="34" charset="0"/>
              <a:ea typeface="Aptos" panose="020B0004020202020204" pitchFamily="34" charset="0"/>
              <a:cs typeface="Times New Roman" panose="02020603050405020304" pitchFamily="18" charset="0"/>
            </a:endParaRPr>
          </a:p>
          <a:p>
            <a:r>
              <a:rPr lang="en-US" sz="1800" b="1" dirty="0">
                <a:effectLst/>
                <a:latin typeface="Aptos" panose="020B0004020202020204" pitchFamily="34" charset="0"/>
                <a:ea typeface="Aptos" panose="020B0004020202020204" pitchFamily="34" charset="0"/>
                <a:cs typeface="Times New Roman" panose="02020603050405020304" pitchFamily="18" charset="0"/>
              </a:rPr>
              <a:t>If a phone is charged, then it will turn on, and if it turns on, then the phone is charged</a:t>
            </a:r>
          </a:p>
          <a:p>
            <a:pPr marL="0" indent="0">
              <a:buNone/>
            </a:pPr>
            <a:r>
              <a:rPr kumimoji="0" lang="en-US" altLang="en-US" sz="1800" b="0" i="0" u="none" strike="noStrike" cap="none" normalizeH="0" baseline="0" dirty="0">
                <a:ln>
                  <a:noFill/>
                </a:ln>
                <a:solidFill>
                  <a:schemeClr val="tx1"/>
                </a:solidFill>
                <a:effectLst/>
                <a:latin typeface="Arial Unicode MS"/>
              </a:rPr>
              <a:t>∀x (Charged(Phone(x)) → </a:t>
            </a:r>
            <a:r>
              <a:rPr kumimoji="0" lang="en-US" altLang="en-US" sz="1800" b="0" i="0" u="none" strike="noStrike" cap="none" normalizeH="0" baseline="0" dirty="0" err="1">
                <a:ln>
                  <a:noFill/>
                </a:ln>
                <a:solidFill>
                  <a:schemeClr val="tx1"/>
                </a:solidFill>
                <a:effectLst/>
                <a:latin typeface="Arial Unicode MS"/>
              </a:rPr>
              <a:t>TurnsOn</a:t>
            </a:r>
            <a:r>
              <a:rPr kumimoji="0" lang="en-US" altLang="en-US" sz="1800" b="0" i="0" u="none" strike="noStrike" cap="none" normalizeH="0" baseline="0" dirty="0">
                <a:ln>
                  <a:noFill/>
                </a:ln>
                <a:solidFill>
                  <a:schemeClr val="tx1"/>
                </a:solidFill>
                <a:effectLst/>
                <a:latin typeface="Arial Unicode MS"/>
              </a:rPr>
              <a:t>(Phone(x))) ∧ (</a:t>
            </a:r>
            <a:r>
              <a:rPr kumimoji="0" lang="en-US" altLang="en-US" sz="1800" b="0" i="0" u="none" strike="noStrike" cap="none" normalizeH="0" baseline="0" dirty="0" err="1">
                <a:ln>
                  <a:noFill/>
                </a:ln>
                <a:solidFill>
                  <a:schemeClr val="tx1"/>
                </a:solidFill>
                <a:effectLst/>
                <a:latin typeface="Arial Unicode MS"/>
              </a:rPr>
              <a:t>TurnsOn</a:t>
            </a:r>
            <a:r>
              <a:rPr kumimoji="0" lang="en-US" altLang="en-US" sz="1800" b="0" i="0" u="none" strike="noStrike" cap="none" normalizeH="0" baseline="0" dirty="0">
                <a:ln>
                  <a:noFill/>
                </a:ln>
                <a:solidFill>
                  <a:schemeClr val="tx1"/>
                </a:solidFill>
                <a:effectLst/>
                <a:latin typeface="Arial Unicode MS"/>
              </a:rPr>
              <a:t>(Phone(x)) → Charged(Phone(x)))) </a:t>
            </a:r>
            <a:endParaRPr kumimoji="0" lang="en-US" altLang="en-US" sz="2400" b="0" i="0" u="none" strike="noStrike" cap="none" normalizeH="0" baseline="0" dirty="0">
              <a:ln>
                <a:noFill/>
              </a:ln>
              <a:solidFill>
                <a:schemeClr val="tx1"/>
              </a:solidFill>
              <a:effectLst/>
            </a:endParaRPr>
          </a:p>
          <a:p>
            <a:r>
              <a:rPr lang="en-US" sz="1800" b="1" dirty="0">
                <a:effectLst/>
                <a:latin typeface="Aptos" panose="020B0004020202020204" pitchFamily="34" charset="0"/>
                <a:ea typeface="Aptos" panose="020B0004020202020204" pitchFamily="34" charset="0"/>
                <a:cs typeface="Times New Roman" panose="02020603050405020304" pitchFamily="18" charset="0"/>
              </a:rPr>
              <a:t>Every phone that is charged will turn on, and there is a phone that is not charged but will not turn on</a:t>
            </a:r>
            <a:endParaRPr lang="en-US" dirty="0"/>
          </a:p>
          <a:p>
            <a:r>
              <a:rPr kumimoji="0" lang="en-US" altLang="en-US" sz="1800" b="0" i="0" u="none" strike="noStrike" cap="none" normalizeH="0" baseline="0" dirty="0">
                <a:ln>
                  <a:noFill/>
                </a:ln>
                <a:solidFill>
                  <a:schemeClr val="tx1"/>
                </a:solidFill>
                <a:effectLst/>
                <a:latin typeface="Arial Unicode MS"/>
              </a:rPr>
              <a:t>∀x (Charged(Phone(x)) → </a:t>
            </a:r>
            <a:r>
              <a:rPr kumimoji="0" lang="en-US" altLang="en-US" sz="1800" b="0" i="0" u="none" strike="noStrike" cap="none" normalizeH="0" baseline="0" dirty="0" err="1">
                <a:ln>
                  <a:noFill/>
                </a:ln>
                <a:solidFill>
                  <a:schemeClr val="tx1"/>
                </a:solidFill>
                <a:effectLst/>
                <a:latin typeface="Arial Unicode MS"/>
              </a:rPr>
              <a:t>TurnsOn</a:t>
            </a:r>
            <a:r>
              <a:rPr kumimoji="0" lang="en-US" altLang="en-US" sz="1800" b="0" i="0" u="none" strike="noStrike" cap="none" normalizeH="0" baseline="0" dirty="0">
                <a:ln>
                  <a:noFill/>
                </a:ln>
                <a:solidFill>
                  <a:schemeClr val="tx1"/>
                </a:solidFill>
                <a:effectLst/>
                <a:latin typeface="Arial Unicode MS"/>
              </a:rPr>
              <a:t>(Phone(x))) ∧ (</a:t>
            </a:r>
            <a:r>
              <a:rPr kumimoji="0" lang="en-US" altLang="en-US" sz="1800" b="0" i="0" u="none" strike="noStrike" cap="none" normalizeH="0" baseline="0" dirty="0" err="1">
                <a:ln>
                  <a:noFill/>
                </a:ln>
                <a:solidFill>
                  <a:schemeClr val="tx1"/>
                </a:solidFill>
                <a:effectLst/>
                <a:latin typeface="Arial Unicode MS"/>
              </a:rPr>
              <a:t>TurnsOn</a:t>
            </a:r>
            <a:r>
              <a:rPr kumimoji="0" lang="en-US" altLang="en-US" sz="1800" b="0" i="0" u="none" strike="noStrike" cap="none" normalizeH="0" baseline="0" dirty="0">
                <a:ln>
                  <a:noFill/>
                </a:ln>
                <a:solidFill>
                  <a:schemeClr val="tx1"/>
                </a:solidFill>
                <a:effectLst/>
                <a:latin typeface="Arial Unicode MS"/>
              </a:rPr>
              <a:t>(Phone(x)) → Charged(Phone(x)))) </a:t>
            </a:r>
            <a:endParaRPr kumimoji="0" lang="en-US" altLang="en-US" sz="2400" b="0" i="0" u="none" strike="noStrike" cap="none" normalizeH="0" baseline="0" dirty="0">
              <a:ln>
                <a:noFill/>
              </a:ln>
              <a:solidFill>
                <a:schemeClr val="tx1"/>
              </a:solidFill>
              <a:effectLst/>
            </a:endParaRPr>
          </a:p>
          <a:p>
            <a:endParaRPr lang="en-US" dirty="0"/>
          </a:p>
          <a:p>
            <a:endParaRPr lang="en-US" dirty="0"/>
          </a:p>
        </p:txBody>
      </p:sp>
      <p:sp>
        <p:nvSpPr>
          <p:cNvPr id="4" name="Footer Placeholder 3">
            <a:extLst>
              <a:ext uri="{FF2B5EF4-FFF2-40B4-BE49-F238E27FC236}">
                <a16:creationId xmlns:a16="http://schemas.microsoft.com/office/drawing/2014/main" id="{50A12518-FC78-94F6-EFF5-93A81FF29EB6}"/>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8327779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38239-0C9B-D7A9-414C-31FB0B117BE7}"/>
              </a:ext>
            </a:extLst>
          </p:cNvPr>
          <p:cNvSpPr>
            <a:spLocks noGrp="1"/>
          </p:cNvSpPr>
          <p:nvPr>
            <p:ph type="title"/>
          </p:nvPr>
        </p:nvSpPr>
        <p:spPr/>
        <p:txBody>
          <a:bodyPr/>
          <a:lstStyle/>
          <a:p>
            <a:r>
              <a:rPr lang="en-US" dirty="0"/>
              <a:t>Examples of Predicate logic</a:t>
            </a:r>
          </a:p>
        </p:txBody>
      </p:sp>
      <p:sp>
        <p:nvSpPr>
          <p:cNvPr id="3" name="Content Placeholder 2">
            <a:extLst>
              <a:ext uri="{FF2B5EF4-FFF2-40B4-BE49-F238E27FC236}">
                <a16:creationId xmlns:a16="http://schemas.microsoft.com/office/drawing/2014/main" id="{BBA02649-C8B7-D7E3-7C50-1A16C3B12973}"/>
              </a:ext>
            </a:extLst>
          </p:cNvPr>
          <p:cNvSpPr>
            <a:spLocks noGrp="1"/>
          </p:cNvSpPr>
          <p:nvPr>
            <p:ph idx="1"/>
          </p:nvPr>
        </p:nvSpPr>
        <p:spPr/>
        <p:txBody>
          <a:bodyPr/>
          <a:lstStyle/>
          <a:p>
            <a:r>
              <a:rPr lang="en-US" dirty="0"/>
              <a:t>If a phone is charged, then it will turn on, and if it turns on, then the phone is charged.</a:t>
            </a:r>
          </a:p>
          <a:p>
            <a:pPr marL="0" indent="0">
              <a:buNone/>
            </a:pPr>
            <a:r>
              <a:rPr lang="en-US" dirty="0"/>
              <a:t>∀x: This universal quantifier means "for all x.</a:t>
            </a:r>
          </a:p>
          <a:p>
            <a:pPr marL="0" indent="0">
              <a:buNone/>
            </a:pPr>
            <a:r>
              <a:rPr lang="en-US" dirty="0"/>
              <a:t>"Charged(Phone(x)): This predicate represents "phone x is charged.</a:t>
            </a:r>
          </a:p>
          <a:p>
            <a:pPr marL="0" indent="0">
              <a:buNone/>
            </a:pPr>
            <a:r>
              <a:rPr lang="en-US" dirty="0"/>
              <a:t>"</a:t>
            </a:r>
            <a:r>
              <a:rPr lang="en-US" dirty="0" err="1"/>
              <a:t>TurnsOn</a:t>
            </a:r>
            <a:r>
              <a:rPr lang="en-US" dirty="0"/>
              <a:t>(Phone(x)): This predicate represents "phone x turns on.</a:t>
            </a:r>
          </a:p>
          <a:p>
            <a:pPr marL="0" indent="0">
              <a:buNone/>
            </a:pPr>
            <a:r>
              <a:rPr lang="en-US" dirty="0"/>
              <a:t>"→: This symbol represents the logical implication "if...then.</a:t>
            </a:r>
          </a:p>
          <a:p>
            <a:pPr marL="0" indent="0">
              <a:buNone/>
            </a:pPr>
            <a:r>
              <a:rPr lang="en-US" dirty="0"/>
              <a:t>"∧: This symbol represents the logical conjunction "and.“</a:t>
            </a:r>
          </a:p>
          <a:p>
            <a:pPr marL="0" indent="0">
              <a:buNone/>
            </a:pPr>
            <a:endParaRPr lang="en-US" dirty="0"/>
          </a:p>
          <a:p>
            <a:pPr marL="0" indent="0">
              <a:buNone/>
            </a:pPr>
            <a:r>
              <a:rPr lang="en-US" dirty="0"/>
              <a:t>∀x (Charged(Phone(x)) → </a:t>
            </a:r>
            <a:r>
              <a:rPr lang="en-US" dirty="0" err="1"/>
              <a:t>TurnsOn</a:t>
            </a:r>
            <a:r>
              <a:rPr lang="en-US" dirty="0"/>
              <a:t>(Phone(x))) ∧ (</a:t>
            </a:r>
            <a:r>
              <a:rPr lang="en-US" dirty="0" err="1"/>
              <a:t>TurnsOn</a:t>
            </a:r>
            <a:r>
              <a:rPr lang="en-US" dirty="0"/>
              <a:t>(Phone(x)) → Charged(Phone(x)))) </a:t>
            </a:r>
          </a:p>
          <a:p>
            <a:pPr marL="0" indent="0">
              <a:buNone/>
            </a:pPr>
            <a:endParaRPr lang="en-US" dirty="0"/>
          </a:p>
        </p:txBody>
      </p:sp>
      <p:sp>
        <p:nvSpPr>
          <p:cNvPr id="4" name="Footer Placeholder 3">
            <a:extLst>
              <a:ext uri="{FF2B5EF4-FFF2-40B4-BE49-F238E27FC236}">
                <a16:creationId xmlns:a16="http://schemas.microsoft.com/office/drawing/2014/main" id="{A03BB8F9-8753-9FFC-ABCD-2B9D97261587}"/>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189874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20430-7343-C8EA-7A1D-CAADCA3EFCFC}"/>
              </a:ext>
            </a:extLst>
          </p:cNvPr>
          <p:cNvSpPr>
            <a:spLocks noGrp="1"/>
          </p:cNvSpPr>
          <p:nvPr>
            <p:ph type="title"/>
          </p:nvPr>
        </p:nvSpPr>
        <p:spPr/>
        <p:txBody>
          <a:bodyPr/>
          <a:lstStyle/>
          <a:p>
            <a:r>
              <a:rPr lang="en-US" dirty="0"/>
              <a:t>Inference in Predicate Logic</a:t>
            </a:r>
          </a:p>
        </p:txBody>
      </p:sp>
      <p:sp>
        <p:nvSpPr>
          <p:cNvPr id="3" name="Content Placeholder 2">
            <a:extLst>
              <a:ext uri="{FF2B5EF4-FFF2-40B4-BE49-F238E27FC236}">
                <a16:creationId xmlns:a16="http://schemas.microsoft.com/office/drawing/2014/main" id="{453A9F89-ADD1-6167-CE17-C0E5125B6772}"/>
              </a:ext>
            </a:extLst>
          </p:cNvPr>
          <p:cNvSpPr>
            <a:spLocks noGrp="1"/>
          </p:cNvSpPr>
          <p:nvPr>
            <p:ph idx="1"/>
          </p:nvPr>
        </p:nvSpPr>
        <p:spPr>
          <a:xfrm>
            <a:off x="677333" y="1315453"/>
            <a:ext cx="10362373" cy="5542547"/>
          </a:xfrm>
        </p:spPr>
        <p:txBody>
          <a:bodyPr>
            <a:normAutofit fontScale="92500" lnSpcReduction="20000"/>
          </a:bodyPr>
          <a:lstStyle/>
          <a:p>
            <a:pPr marL="0" indent="0">
              <a:buNone/>
            </a:pPr>
            <a:r>
              <a:rPr lang="en-US" dirty="0"/>
              <a:t>Deriving new conclusions from set of given premises using logical rules. It extends the principle of propositional logic by incorporating quantifiers , variables and predicates.</a:t>
            </a:r>
          </a:p>
          <a:p>
            <a:pPr marL="0" indent="0">
              <a:buNone/>
            </a:pPr>
            <a:r>
              <a:rPr lang="en-US" b="1" dirty="0"/>
              <a:t>Techniques</a:t>
            </a:r>
            <a:r>
              <a:rPr lang="en-US" dirty="0"/>
              <a:t>:</a:t>
            </a:r>
          </a:p>
          <a:p>
            <a:pPr marL="0" indent="0">
              <a:buNone/>
            </a:pPr>
            <a:r>
              <a:rPr lang="en-US" dirty="0"/>
              <a:t>- Substitution: Replace variables with constants or other variables.</a:t>
            </a:r>
          </a:p>
          <a:p>
            <a:pPr marL="0" indent="0">
              <a:buNone/>
            </a:pPr>
            <a:r>
              <a:rPr lang="en-US" dirty="0"/>
              <a:t>Modus Ponens: If P → Q and P are true, infer Q.</a:t>
            </a:r>
          </a:p>
          <a:p>
            <a:pPr marL="0" indent="0">
              <a:buNone/>
            </a:pPr>
            <a:r>
              <a:rPr lang="en-US" dirty="0"/>
              <a:t>- Generalization and Specialization:</a:t>
            </a:r>
          </a:p>
          <a:p>
            <a:pPr marL="0" indent="0">
              <a:buNone/>
            </a:pPr>
            <a:r>
              <a:rPr lang="en-US" dirty="0"/>
              <a:t>	From P(c) infer ∀x P(x).</a:t>
            </a:r>
          </a:p>
          <a:p>
            <a:pPr marL="0" indent="0">
              <a:buNone/>
            </a:pPr>
            <a:r>
              <a:rPr lang="en-US" dirty="0"/>
              <a:t>	From ∀x P(x) infer P(c).</a:t>
            </a:r>
          </a:p>
          <a:p>
            <a:pPr marL="0" indent="0">
              <a:buNone/>
            </a:pPr>
            <a:r>
              <a:rPr lang="en-US" dirty="0"/>
              <a:t>- Unification: Matching predicates with variables and constants.</a:t>
            </a:r>
          </a:p>
          <a:p>
            <a:pPr marL="0" indent="0">
              <a:buNone/>
            </a:pPr>
            <a:r>
              <a:rPr lang="en-US" dirty="0"/>
              <a:t>Example:</a:t>
            </a:r>
          </a:p>
          <a:p>
            <a:pPr marL="0" indent="0">
              <a:buNone/>
            </a:pPr>
            <a:r>
              <a:rPr lang="en-US" dirty="0"/>
              <a:t>	Premises: ∀x (Human(x) → Mortal(x)), Human(Socrates)</a:t>
            </a:r>
          </a:p>
          <a:p>
            <a:pPr marL="0" indent="0">
              <a:buNone/>
            </a:pPr>
            <a:r>
              <a:rPr lang="en-US" dirty="0"/>
              <a:t>	Inference: Mortal(Socrates)</a:t>
            </a:r>
          </a:p>
          <a:p>
            <a:pPr marL="0" indent="0">
              <a:buNone/>
            </a:pPr>
            <a:r>
              <a:rPr lang="en-US" dirty="0"/>
              <a:t>- Modus tollens: </a:t>
            </a:r>
          </a:p>
          <a:p>
            <a:pPr marL="0" indent="0">
              <a:buNone/>
            </a:pPr>
            <a:r>
              <a:rPr lang="en-US" dirty="0"/>
              <a:t>	If P(x) → Q(x) and ¬Q(a), conclude ¬P(a)</a:t>
            </a:r>
          </a:p>
          <a:p>
            <a:pPr marL="0" indent="0">
              <a:buNone/>
            </a:pPr>
            <a:r>
              <a:rPr lang="en-US" dirty="0"/>
              <a:t>	Premises: Animal(x) → </a:t>
            </a:r>
            <a:r>
              <a:rPr lang="en-US" dirty="0" err="1"/>
              <a:t>NeedsFood</a:t>
            </a:r>
            <a:r>
              <a:rPr lang="en-US" dirty="0"/>
              <a:t>(x), ¬</a:t>
            </a:r>
            <a:r>
              <a:rPr lang="en-US" dirty="0" err="1"/>
              <a:t>NeedsFood</a:t>
            </a:r>
            <a:r>
              <a:rPr lang="en-US" dirty="0"/>
              <a:t>(Robot)"</a:t>
            </a:r>
          </a:p>
          <a:p>
            <a:pPr marL="0" indent="0">
              <a:buNone/>
            </a:pPr>
            <a:r>
              <a:rPr lang="en-US" dirty="0"/>
              <a:t>	Conclusion: ¬Animal(Robot)"</a:t>
            </a:r>
          </a:p>
        </p:txBody>
      </p:sp>
      <p:sp>
        <p:nvSpPr>
          <p:cNvPr id="4" name="Footer Placeholder 3">
            <a:extLst>
              <a:ext uri="{FF2B5EF4-FFF2-40B4-BE49-F238E27FC236}">
                <a16:creationId xmlns:a16="http://schemas.microsoft.com/office/drawing/2014/main" id="{C12A54BE-57F4-54BB-E5A5-ABE9FEBD71F8}"/>
              </a:ext>
            </a:extLst>
          </p:cNvPr>
          <p:cNvSpPr>
            <a:spLocks noGrp="1"/>
          </p:cNvSpPr>
          <p:nvPr>
            <p:ph type="ftr" sz="quarter" idx="11"/>
          </p:nvPr>
        </p:nvSpPr>
        <p:spPr/>
        <p:txBody>
          <a:bodyPr/>
          <a:lstStyle/>
          <a:p>
            <a:r>
              <a:rPr lang="nb-NO" dirty="0"/>
              <a:t>kapil@nast.edu.np || kapilpant157</a:t>
            </a:r>
            <a:endParaRPr lang="en-US" dirty="0"/>
          </a:p>
        </p:txBody>
      </p:sp>
    </p:spTree>
    <p:extLst>
      <p:ext uri="{BB962C8B-B14F-4D97-AF65-F5344CB8AC3E}">
        <p14:creationId xmlns:p14="http://schemas.microsoft.com/office/powerpoint/2010/main" val="42359781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B47A1-2C26-1FA0-C0FC-5BE1AF101AB5}"/>
              </a:ext>
            </a:extLst>
          </p:cNvPr>
          <p:cNvSpPr>
            <a:spLocks noGrp="1"/>
          </p:cNvSpPr>
          <p:nvPr>
            <p:ph type="title"/>
          </p:nvPr>
        </p:nvSpPr>
        <p:spPr/>
        <p:txBody>
          <a:bodyPr>
            <a:normAutofit/>
          </a:bodyPr>
          <a:lstStyle/>
          <a:p>
            <a:r>
              <a:rPr lang="en-US" b="1" dirty="0"/>
              <a:t>Inference Rules in Predicate Logic</a:t>
            </a:r>
            <a:br>
              <a:rPr lang="en-US" b="1" dirty="0"/>
            </a:br>
            <a:endParaRPr lang="en-US" dirty="0"/>
          </a:p>
        </p:txBody>
      </p:sp>
      <p:sp>
        <p:nvSpPr>
          <p:cNvPr id="3" name="Content Placeholder 2">
            <a:extLst>
              <a:ext uri="{FF2B5EF4-FFF2-40B4-BE49-F238E27FC236}">
                <a16:creationId xmlns:a16="http://schemas.microsoft.com/office/drawing/2014/main" id="{2421ED70-26EE-6F75-25C7-738B6AF7157E}"/>
              </a:ext>
            </a:extLst>
          </p:cNvPr>
          <p:cNvSpPr>
            <a:spLocks noGrp="1"/>
          </p:cNvSpPr>
          <p:nvPr>
            <p:ph idx="1"/>
          </p:nvPr>
        </p:nvSpPr>
        <p:spPr>
          <a:xfrm>
            <a:off x="677334" y="2160589"/>
            <a:ext cx="4689796" cy="3880773"/>
          </a:xfrm>
        </p:spPr>
        <p:txBody>
          <a:bodyPr>
            <a:normAutofit fontScale="92500" lnSpcReduction="20000"/>
          </a:bodyPr>
          <a:lstStyle/>
          <a:p>
            <a:r>
              <a:rPr lang="en-US" b="1" dirty="0"/>
              <a:t>Universal Specification (US)</a:t>
            </a:r>
            <a:r>
              <a:rPr lang="en-US" dirty="0"/>
              <a:t>: From a universally quantified statement, you can conclude a specific instance.</a:t>
            </a:r>
          </a:p>
          <a:p>
            <a:pPr marL="457200" lvl="1" indent="0">
              <a:buNone/>
            </a:pPr>
            <a:r>
              <a:rPr lang="en-US" b="1" dirty="0"/>
              <a:t>Form</a:t>
            </a:r>
            <a:r>
              <a:rPr lang="en-US" dirty="0"/>
              <a:t>: If ∀x P(x) is true, then P(c) is true for any specific c.</a:t>
            </a:r>
          </a:p>
          <a:p>
            <a:pPr marL="457200" lvl="1" indent="0">
              <a:buNone/>
            </a:pPr>
            <a:r>
              <a:rPr lang="en-US" b="1" dirty="0"/>
              <a:t>Example</a:t>
            </a:r>
            <a:r>
              <a:rPr lang="en-US" dirty="0"/>
              <a:t>: If all humans are mortal (∀x (Human(x) → Mortal(x))), then Socrates is mortal (Mortal(Socrates)) if Socrates is a human.</a:t>
            </a:r>
          </a:p>
          <a:p>
            <a:r>
              <a:rPr lang="en-US" b="1" dirty="0"/>
              <a:t>Universal Generalization (UG)</a:t>
            </a:r>
            <a:r>
              <a:rPr lang="en-US" dirty="0"/>
              <a:t>: If a statement is true for a specific instance, it can be generalized to all instances.</a:t>
            </a:r>
          </a:p>
          <a:p>
            <a:pPr marL="457200" lvl="1" indent="0">
              <a:buNone/>
            </a:pPr>
            <a:r>
              <a:rPr lang="en-US" b="1" dirty="0"/>
              <a:t>Form</a:t>
            </a:r>
            <a:r>
              <a:rPr lang="en-US" dirty="0"/>
              <a:t>: If P(c) is true for an arbitrary c, then ∀x P(x) is true.</a:t>
            </a:r>
          </a:p>
          <a:p>
            <a:pPr marL="457200" lvl="1" indent="0">
              <a:buNone/>
            </a:pPr>
            <a:r>
              <a:rPr lang="en-US" b="1" dirty="0"/>
              <a:t>Example</a:t>
            </a:r>
            <a:r>
              <a:rPr lang="en-US" dirty="0"/>
              <a:t>: If Socrates is mortal, and he is a human, we can conclude that all humans are mortal.</a:t>
            </a:r>
          </a:p>
          <a:p>
            <a:endParaRPr lang="en-US" dirty="0"/>
          </a:p>
        </p:txBody>
      </p:sp>
      <p:sp>
        <p:nvSpPr>
          <p:cNvPr id="4" name="Footer Placeholder 3">
            <a:extLst>
              <a:ext uri="{FF2B5EF4-FFF2-40B4-BE49-F238E27FC236}">
                <a16:creationId xmlns:a16="http://schemas.microsoft.com/office/drawing/2014/main" id="{C8CDA3BA-6066-E23D-4396-FF12BB71DE65}"/>
              </a:ext>
            </a:extLst>
          </p:cNvPr>
          <p:cNvSpPr>
            <a:spLocks noGrp="1"/>
          </p:cNvSpPr>
          <p:nvPr>
            <p:ph type="ftr" sz="quarter" idx="11"/>
          </p:nvPr>
        </p:nvSpPr>
        <p:spPr/>
        <p:txBody>
          <a:bodyPr/>
          <a:lstStyle/>
          <a:p>
            <a:r>
              <a:rPr lang="nb-NO"/>
              <a:t>kapil@nast.edu.np || kapilpant157</a:t>
            </a:r>
            <a:endParaRPr lang="en-US"/>
          </a:p>
        </p:txBody>
      </p:sp>
      <p:sp>
        <p:nvSpPr>
          <p:cNvPr id="5" name="Content Placeholder 2">
            <a:extLst>
              <a:ext uri="{FF2B5EF4-FFF2-40B4-BE49-F238E27FC236}">
                <a16:creationId xmlns:a16="http://schemas.microsoft.com/office/drawing/2014/main" id="{E2CFD140-2C03-461B-CB4B-975A4F7EF8F9}"/>
              </a:ext>
            </a:extLst>
          </p:cNvPr>
          <p:cNvSpPr txBox="1">
            <a:spLocks/>
          </p:cNvSpPr>
          <p:nvPr/>
        </p:nvSpPr>
        <p:spPr>
          <a:xfrm>
            <a:off x="5629850" y="2160589"/>
            <a:ext cx="4689796" cy="3880773"/>
          </a:xfrm>
          <a:prstGeom prst="rect">
            <a:avLst/>
          </a:prstGeom>
        </p:spPr>
        <p:txBody>
          <a:bodyPr vert="horz" lIns="91440" tIns="45720" rIns="91440" bIns="45720" rtlCol="0">
            <a:normAutofit fontScale="85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Existential Specification (ES): From an existentially quantified statement, you can conclude a specific instance.</a:t>
            </a:r>
          </a:p>
          <a:p>
            <a:r>
              <a:rPr lang="en-US" dirty="0"/>
              <a:t>Form: If ∃x P(x) is true, then P(c) is true for some specific c.</a:t>
            </a:r>
          </a:p>
          <a:p>
            <a:r>
              <a:rPr lang="en-US" dirty="0"/>
              <a:t>Example: If there exists a human who is mortal (∃x (Human(x) ∧ Mortal(x))), we can name that human (e.g., Socrates) and conclude that Human(Socrates) ∧ Mortal(Socrates) is true.</a:t>
            </a:r>
          </a:p>
          <a:p>
            <a:r>
              <a:rPr lang="en-US" dirty="0"/>
              <a:t>Existential Generalization (EG): If a specific instance is true, it can be generalized to an existential statement.</a:t>
            </a:r>
          </a:p>
          <a:p>
            <a:r>
              <a:rPr lang="en-US" dirty="0"/>
              <a:t>Form: If P(c) is true, then ∃y P(y) is true</a:t>
            </a:r>
          </a:p>
          <a:p>
            <a:r>
              <a:rPr lang="en-US" dirty="0"/>
              <a:t>Example: If Socrates is mortal (Mortal(Socrates)), we can conclude that there exists a mortal (∃x Mortal(x))</a:t>
            </a:r>
          </a:p>
          <a:p>
            <a:endParaRPr lang="en-US" dirty="0"/>
          </a:p>
        </p:txBody>
      </p:sp>
    </p:spTree>
    <p:extLst>
      <p:ext uri="{BB962C8B-B14F-4D97-AF65-F5344CB8AC3E}">
        <p14:creationId xmlns:p14="http://schemas.microsoft.com/office/powerpoint/2010/main" val="29559220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08660-DA16-12DD-2486-6EE09A54F59D}"/>
              </a:ext>
            </a:extLst>
          </p:cNvPr>
          <p:cNvSpPr>
            <a:spLocks noGrp="1"/>
          </p:cNvSpPr>
          <p:nvPr>
            <p:ph type="title"/>
          </p:nvPr>
        </p:nvSpPr>
        <p:spPr/>
        <p:txBody>
          <a:bodyPr/>
          <a:lstStyle/>
          <a:p>
            <a:r>
              <a:rPr lang="en-US" dirty="0"/>
              <a:t>Conversion to CNF: Part 1</a:t>
            </a:r>
          </a:p>
        </p:txBody>
      </p:sp>
      <p:sp>
        <p:nvSpPr>
          <p:cNvPr id="3" name="Content Placeholder 2">
            <a:extLst>
              <a:ext uri="{FF2B5EF4-FFF2-40B4-BE49-F238E27FC236}">
                <a16:creationId xmlns:a16="http://schemas.microsoft.com/office/drawing/2014/main" id="{E1D5EB29-A110-0707-60C7-7F1140B4215B}"/>
              </a:ext>
            </a:extLst>
          </p:cNvPr>
          <p:cNvSpPr>
            <a:spLocks noGrp="1"/>
          </p:cNvSpPr>
          <p:nvPr>
            <p:ph idx="1"/>
          </p:nvPr>
        </p:nvSpPr>
        <p:spPr>
          <a:xfrm>
            <a:off x="677334" y="1930400"/>
            <a:ext cx="8596668" cy="3880773"/>
          </a:xfrm>
        </p:spPr>
        <p:txBody>
          <a:bodyPr>
            <a:normAutofit lnSpcReduction="10000"/>
          </a:bodyPr>
          <a:lstStyle/>
          <a:p>
            <a:pPr>
              <a:buFont typeface="+mj-lt"/>
              <a:buAutoNum type="arabicPeriod"/>
            </a:pPr>
            <a:r>
              <a:rPr lang="en-US" dirty="0"/>
              <a:t>Eliminate biconditionals and implications:</a:t>
            </a:r>
          </a:p>
          <a:p>
            <a:pPr marL="800100" lvl="1" indent="-342900">
              <a:buFont typeface="+mj-lt"/>
              <a:buAutoNum type="arabicPeriod"/>
            </a:pPr>
            <a:r>
              <a:rPr lang="en-US" dirty="0"/>
              <a:t>Eliminate ⇔, replacing </a:t>
            </a:r>
            <a:r>
              <a:rPr lang="el-GR" dirty="0"/>
              <a:t>α ⇔ β </a:t>
            </a:r>
            <a:r>
              <a:rPr lang="en-US" dirty="0"/>
              <a:t>with (</a:t>
            </a:r>
            <a:r>
              <a:rPr lang="el-GR" dirty="0"/>
              <a:t>α ⇒ β)∧(β ⇒ α).</a:t>
            </a:r>
          </a:p>
          <a:p>
            <a:pPr marL="800100" lvl="1" indent="-342900">
              <a:buFont typeface="+mj-lt"/>
              <a:buAutoNum type="arabicPeriod"/>
            </a:pPr>
            <a:r>
              <a:rPr lang="en-US" dirty="0"/>
              <a:t>Eliminate ⇒, replacing </a:t>
            </a:r>
            <a:r>
              <a:rPr lang="el-GR" dirty="0"/>
              <a:t>α ⇒ β</a:t>
            </a:r>
            <a:r>
              <a:rPr lang="en-US" dirty="0"/>
              <a:t> with ¬</a:t>
            </a:r>
            <a:r>
              <a:rPr lang="el-GR" dirty="0"/>
              <a:t>α∨β.</a:t>
            </a:r>
            <a:endParaRPr lang="en-US" dirty="0"/>
          </a:p>
          <a:p>
            <a:pPr>
              <a:buFont typeface="+mj-lt"/>
              <a:buAutoNum type="arabicPeriod"/>
            </a:pPr>
            <a:r>
              <a:rPr lang="en-US" dirty="0"/>
              <a:t>Move ¬ inwards:</a:t>
            </a:r>
          </a:p>
          <a:p>
            <a:pPr marL="800100" lvl="1" indent="-342900">
              <a:buFont typeface="+mj-lt"/>
              <a:buAutoNum type="arabicPeriod"/>
            </a:pPr>
            <a:r>
              <a:rPr lang="en-US" dirty="0"/>
              <a:t>¬(∀x p) ≡ ∃x ¬p,</a:t>
            </a:r>
          </a:p>
          <a:p>
            <a:pPr marL="800100" lvl="1" indent="-342900">
              <a:buFont typeface="+mj-lt"/>
              <a:buAutoNum type="arabicPeriod"/>
            </a:pPr>
            <a:r>
              <a:rPr lang="en-US" dirty="0"/>
              <a:t>¬(∃x p) ≡ ∀x ¬p,</a:t>
            </a:r>
          </a:p>
          <a:p>
            <a:pPr marL="800100" lvl="1" indent="-342900">
              <a:buFont typeface="+mj-lt"/>
              <a:buAutoNum type="arabicPeriod"/>
            </a:pPr>
            <a:r>
              <a:rPr lang="en-US" dirty="0"/>
              <a:t>¬(</a:t>
            </a:r>
            <a:r>
              <a:rPr lang="el-GR" dirty="0"/>
              <a:t>α∨β)</a:t>
            </a:r>
            <a:r>
              <a:rPr lang="en-US" dirty="0"/>
              <a:t> </a:t>
            </a:r>
            <a:r>
              <a:rPr lang="el-GR" dirty="0"/>
              <a:t>≡</a:t>
            </a:r>
            <a:r>
              <a:rPr lang="en-US" dirty="0"/>
              <a:t> </a:t>
            </a:r>
            <a:r>
              <a:rPr lang="el-GR" dirty="0"/>
              <a:t>¬α∧¬β,</a:t>
            </a:r>
          </a:p>
          <a:p>
            <a:pPr marL="800100" lvl="1" indent="-342900">
              <a:buFont typeface="+mj-lt"/>
              <a:buAutoNum type="arabicPeriod"/>
            </a:pPr>
            <a:r>
              <a:rPr lang="el-GR" dirty="0"/>
              <a:t>¬(α∧β)</a:t>
            </a:r>
            <a:r>
              <a:rPr lang="en-US" dirty="0"/>
              <a:t> </a:t>
            </a:r>
            <a:r>
              <a:rPr lang="el-GR" dirty="0"/>
              <a:t>≡</a:t>
            </a:r>
            <a:r>
              <a:rPr lang="en-US" dirty="0"/>
              <a:t> </a:t>
            </a:r>
            <a:r>
              <a:rPr lang="el-GR" dirty="0"/>
              <a:t>¬α∨¬β,</a:t>
            </a:r>
          </a:p>
          <a:p>
            <a:pPr marL="800100" lvl="1" indent="-342900">
              <a:buFont typeface="+mj-lt"/>
              <a:buAutoNum type="arabicPeriod"/>
            </a:pPr>
            <a:r>
              <a:rPr lang="el-GR" dirty="0"/>
              <a:t>¬¬α</a:t>
            </a:r>
            <a:r>
              <a:rPr lang="en-US" dirty="0"/>
              <a:t> </a:t>
            </a:r>
            <a:r>
              <a:rPr lang="el-GR" dirty="0"/>
              <a:t>≡</a:t>
            </a:r>
            <a:r>
              <a:rPr lang="en-US" dirty="0"/>
              <a:t> </a:t>
            </a:r>
            <a:r>
              <a:rPr lang="el-GR" dirty="0"/>
              <a:t>α.</a:t>
            </a:r>
            <a:endParaRPr lang="en-US" dirty="0"/>
          </a:p>
          <a:p>
            <a:pPr>
              <a:buFont typeface="+mj-lt"/>
              <a:buAutoNum type="arabicPeriod"/>
            </a:pPr>
            <a:r>
              <a:rPr lang="en-US" dirty="0"/>
              <a:t>Standardize variables apart by renaming them: each quantifier should use a different variable.</a:t>
            </a:r>
          </a:p>
          <a:p>
            <a:pPr>
              <a:buFont typeface="+mj-lt"/>
              <a:buAutoNum type="arabicPeriod"/>
            </a:pPr>
            <a:endParaRPr lang="en-US" dirty="0"/>
          </a:p>
        </p:txBody>
      </p:sp>
      <p:sp>
        <p:nvSpPr>
          <p:cNvPr id="4" name="Footer Placeholder 3">
            <a:extLst>
              <a:ext uri="{FF2B5EF4-FFF2-40B4-BE49-F238E27FC236}">
                <a16:creationId xmlns:a16="http://schemas.microsoft.com/office/drawing/2014/main" id="{C5762407-A015-A511-6428-29F61F8CE83F}"/>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2326330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DCBFF-FE60-9551-44FD-E7332F3B7D8F}"/>
              </a:ext>
            </a:extLst>
          </p:cNvPr>
          <p:cNvSpPr>
            <a:spLocks noGrp="1"/>
          </p:cNvSpPr>
          <p:nvPr>
            <p:ph type="title"/>
          </p:nvPr>
        </p:nvSpPr>
        <p:spPr/>
        <p:txBody>
          <a:bodyPr/>
          <a:lstStyle/>
          <a:p>
            <a:r>
              <a:rPr lang="en-US" dirty="0"/>
              <a:t>Conversion to CNF: Part 2</a:t>
            </a:r>
          </a:p>
        </p:txBody>
      </p:sp>
      <p:sp>
        <p:nvSpPr>
          <p:cNvPr id="3" name="Content Placeholder 2">
            <a:extLst>
              <a:ext uri="{FF2B5EF4-FFF2-40B4-BE49-F238E27FC236}">
                <a16:creationId xmlns:a16="http://schemas.microsoft.com/office/drawing/2014/main" id="{1A455B59-ACD3-AFE9-284F-C139E617114C}"/>
              </a:ext>
            </a:extLst>
          </p:cNvPr>
          <p:cNvSpPr>
            <a:spLocks noGrp="1"/>
          </p:cNvSpPr>
          <p:nvPr>
            <p:ph idx="1"/>
          </p:nvPr>
        </p:nvSpPr>
        <p:spPr/>
        <p:txBody>
          <a:bodyPr>
            <a:normAutofit/>
          </a:bodyPr>
          <a:lstStyle/>
          <a:p>
            <a:pPr marL="0" indent="0">
              <a:buNone/>
            </a:pPr>
            <a:r>
              <a:rPr lang="en-US" dirty="0"/>
              <a:t>4. 	</a:t>
            </a:r>
            <a:r>
              <a:rPr lang="en-US" dirty="0" err="1"/>
              <a:t>Skolemize</a:t>
            </a:r>
            <a:r>
              <a:rPr lang="en-US" dirty="0"/>
              <a:t> : each existential variable is replaced by a Skolem constant or 	Skolem function of the enclosing universally quantified variables.</a:t>
            </a:r>
          </a:p>
          <a:p>
            <a:pPr lvl="1">
              <a:buFont typeface="+mj-lt"/>
              <a:buAutoNum type="arabicPeriod"/>
            </a:pPr>
            <a:r>
              <a:rPr lang="en-US" dirty="0"/>
              <a:t>For instance, ∃</a:t>
            </a:r>
            <a:r>
              <a:rPr lang="en-US" dirty="0" err="1"/>
              <a:t>xRich</a:t>
            </a:r>
            <a:r>
              <a:rPr lang="en-US" dirty="0"/>
              <a:t>(x) becomes Rich(G1) where G1 is a new Skolem constant.</a:t>
            </a:r>
          </a:p>
          <a:p>
            <a:pPr lvl="1">
              <a:buFont typeface="+mj-lt"/>
              <a:buAutoNum type="arabicPeriod"/>
            </a:pPr>
            <a:r>
              <a:rPr lang="en-US" dirty="0"/>
              <a:t>“Everyone has a heart” ∀x Person(x) ⇒ ∃y Heart(y)∧Has(</a:t>
            </a:r>
            <a:r>
              <a:rPr lang="en-US" dirty="0" err="1"/>
              <a:t>x,y</a:t>
            </a:r>
            <a:r>
              <a:rPr lang="en-US" dirty="0"/>
              <a:t>) becomes ∀x Person(x) ⇒ Heart(H(x))∧Has(</a:t>
            </a:r>
            <a:r>
              <a:rPr lang="en-US" dirty="0" err="1"/>
              <a:t>x,H</a:t>
            </a:r>
            <a:r>
              <a:rPr lang="en-US" dirty="0"/>
              <a:t>(x)), where H is a new symbol (Skolem function).</a:t>
            </a:r>
          </a:p>
          <a:p>
            <a:pPr marL="0" indent="0">
              <a:buNone/>
            </a:pPr>
            <a:r>
              <a:rPr lang="en-US" dirty="0"/>
              <a:t>5. 	Drop universal quantifiers</a:t>
            </a:r>
          </a:p>
          <a:p>
            <a:pPr lvl="1">
              <a:buFont typeface="+mj-lt"/>
              <a:buAutoNum type="arabicPeriod"/>
            </a:pPr>
            <a:r>
              <a:rPr lang="en-US" dirty="0"/>
              <a:t>For instance, ∀x Person(x) becomes Person(x).</a:t>
            </a:r>
          </a:p>
          <a:p>
            <a:pPr marL="0" indent="0">
              <a:buNone/>
            </a:pPr>
            <a:r>
              <a:rPr lang="en-US" dirty="0"/>
              <a:t>6. 	Distribute ∧ over ∨:</a:t>
            </a:r>
          </a:p>
          <a:p>
            <a:pPr lvl="1">
              <a:buFont typeface="+mj-lt"/>
              <a:buAutoNum type="arabicPeriod"/>
            </a:pPr>
            <a:r>
              <a:rPr lang="en-US" dirty="0"/>
              <a:t>(</a:t>
            </a:r>
            <a:r>
              <a:rPr lang="el-GR" dirty="0"/>
              <a:t>α∧β)∨γ ≡(α∨γ)∧(β∨γ).</a:t>
            </a:r>
            <a:endParaRPr lang="en-US" dirty="0"/>
          </a:p>
        </p:txBody>
      </p:sp>
      <p:sp>
        <p:nvSpPr>
          <p:cNvPr id="4" name="Footer Placeholder 3">
            <a:extLst>
              <a:ext uri="{FF2B5EF4-FFF2-40B4-BE49-F238E27FC236}">
                <a16:creationId xmlns:a16="http://schemas.microsoft.com/office/drawing/2014/main" id="{D55C7BA6-0D8C-C096-28C3-53B2A3AA8646}"/>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6284148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524C2-96FC-9E2A-E4AB-630DA96B883F}"/>
              </a:ext>
            </a:extLst>
          </p:cNvPr>
          <p:cNvSpPr>
            <a:spLocks noGrp="1"/>
          </p:cNvSpPr>
          <p:nvPr>
            <p:ph type="title"/>
          </p:nvPr>
        </p:nvSpPr>
        <p:spPr/>
        <p:txBody>
          <a:bodyPr/>
          <a:lstStyle/>
          <a:p>
            <a:r>
              <a:rPr lang="en-US" dirty="0"/>
              <a:t>Resolution in Predicate Logic</a:t>
            </a:r>
          </a:p>
        </p:txBody>
      </p:sp>
      <p:sp>
        <p:nvSpPr>
          <p:cNvPr id="3" name="Content Placeholder 2">
            <a:extLst>
              <a:ext uri="{FF2B5EF4-FFF2-40B4-BE49-F238E27FC236}">
                <a16:creationId xmlns:a16="http://schemas.microsoft.com/office/drawing/2014/main" id="{385E138F-8053-368D-5034-980727810584}"/>
              </a:ext>
            </a:extLst>
          </p:cNvPr>
          <p:cNvSpPr>
            <a:spLocks noGrp="1"/>
          </p:cNvSpPr>
          <p:nvPr>
            <p:ph idx="1"/>
          </p:nvPr>
        </p:nvSpPr>
        <p:spPr>
          <a:xfrm>
            <a:off x="677334" y="1930401"/>
            <a:ext cx="8596668" cy="4110962"/>
          </a:xfrm>
        </p:spPr>
        <p:txBody>
          <a:bodyPr>
            <a:normAutofit fontScale="85000" lnSpcReduction="20000"/>
          </a:bodyPr>
          <a:lstStyle/>
          <a:p>
            <a:pPr marL="0" indent="0">
              <a:buNone/>
            </a:pPr>
            <a:r>
              <a:rPr lang="en-US" dirty="0"/>
              <a:t>A rule-based approach to infer contradictions, commonly used in automated theorem proving. || powerful rule of inference used in reasoning and proofing system that combines two clauses to eliminate a variable or predicate ad derive anew clause. </a:t>
            </a:r>
          </a:p>
          <a:p>
            <a:pPr marL="0" indent="0">
              <a:buNone/>
            </a:pPr>
            <a:r>
              <a:rPr lang="en-US" dirty="0"/>
              <a:t>Steps:</a:t>
            </a:r>
          </a:p>
          <a:p>
            <a:pPr marL="0" indent="0">
              <a:buNone/>
            </a:pPr>
            <a:r>
              <a:rPr lang="en-US" dirty="0"/>
              <a:t>	1.	Convert to Clause Form:</a:t>
            </a:r>
          </a:p>
          <a:p>
            <a:pPr marL="0" indent="0">
              <a:buNone/>
            </a:pPr>
            <a:r>
              <a:rPr lang="en-US" dirty="0"/>
              <a:t>		-Eliminate implications and rewrite in Conjunctive Normal Form (CNF).</a:t>
            </a:r>
          </a:p>
          <a:p>
            <a:pPr marL="0" indent="0">
              <a:buNone/>
            </a:pPr>
            <a:r>
              <a:rPr lang="en-US" dirty="0"/>
              <a:t>	2.	Skolemization: Remove existential quantifiers using </a:t>
            </a:r>
            <a:r>
              <a:rPr lang="en-US" dirty="0" err="1"/>
              <a:t>Skolem</a:t>
            </a:r>
            <a:r>
              <a:rPr lang="en-US" dirty="0"/>
              <a:t> constants/functions.</a:t>
            </a:r>
          </a:p>
          <a:p>
            <a:pPr marL="0" indent="0">
              <a:buNone/>
            </a:pPr>
            <a:r>
              <a:rPr lang="en-US" dirty="0"/>
              <a:t>	3.	Standardize Variables: Rename variables to avoid conflicts.</a:t>
            </a:r>
          </a:p>
          <a:p>
            <a:pPr marL="0" indent="0">
              <a:buNone/>
            </a:pPr>
            <a:r>
              <a:rPr lang="en-US" dirty="0"/>
              <a:t>	4.	Unification: Identify matching terms to resolve contradictions.</a:t>
            </a:r>
          </a:p>
          <a:p>
            <a:pPr marL="0" indent="0">
              <a:buNone/>
            </a:pPr>
            <a:r>
              <a:rPr lang="en-US" dirty="0"/>
              <a:t>	5.	Apply Resolution Rule: Combine clauses to derive a contradiction or solution.</a:t>
            </a:r>
          </a:p>
          <a:p>
            <a:pPr marL="0" indent="0">
              <a:buNone/>
            </a:pPr>
            <a:r>
              <a:rPr lang="en-US" dirty="0"/>
              <a:t>Example:</a:t>
            </a:r>
          </a:p>
          <a:p>
            <a:r>
              <a:rPr lang="en-US" dirty="0"/>
              <a:t>Premises: ¬P(x) ∨ Q(x) </a:t>
            </a:r>
          </a:p>
          <a:p>
            <a:pPr marL="914400" lvl="2" indent="0">
              <a:buNone/>
            </a:pPr>
            <a:r>
              <a:rPr lang="en-US" sz="1800" dirty="0"/>
              <a:t>~ P(x) v Q(x)</a:t>
            </a:r>
          </a:p>
          <a:p>
            <a:r>
              <a:rPr lang="en-US" dirty="0"/>
              <a:t>Resolution: Q(x) v R(x)</a:t>
            </a:r>
          </a:p>
          <a:p>
            <a:endParaRPr lang="en-US" dirty="0"/>
          </a:p>
        </p:txBody>
      </p:sp>
      <p:sp>
        <p:nvSpPr>
          <p:cNvPr id="4" name="Footer Placeholder 3">
            <a:extLst>
              <a:ext uri="{FF2B5EF4-FFF2-40B4-BE49-F238E27FC236}">
                <a16:creationId xmlns:a16="http://schemas.microsoft.com/office/drawing/2014/main" id="{7F0B97D8-CD58-AECA-5586-792E78F7369D}"/>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9102015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6B14F-E80C-C6AD-EA17-6A2D172B94A8}"/>
              </a:ext>
            </a:extLst>
          </p:cNvPr>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1044930-0DB9-073D-7CB3-9D245857FC26}"/>
                  </a:ext>
                </a:extLst>
              </p:cNvPr>
              <p:cNvSpPr>
                <a:spLocks noGrp="1"/>
              </p:cNvSpPr>
              <p:nvPr>
                <p:ph idx="1"/>
              </p:nvPr>
            </p:nvSpPr>
            <p:spPr/>
            <p:txBody>
              <a:bodyPr/>
              <a:lstStyle/>
              <a:p>
                <a:r>
                  <a:rPr lang="en-US" b="1" dirty="0"/>
                  <a:t>(</a:t>
                </a:r>
                <a:r>
                  <a:rPr lang="en-US" b="1" dirty="0" err="1"/>
                  <a:t>i</a:t>
                </a:r>
                <a:r>
                  <a:rPr lang="en-US" b="1" dirty="0"/>
                  <a:t>)</a:t>
                </a:r>
                <a:r>
                  <a:rPr lang="en-US" dirty="0"/>
                  <a:t> All creatures that live in forests are beautiful and magical</a:t>
                </a:r>
              </a:p>
              <a:p>
                <a14:m>
                  <m:oMath xmlns:m="http://schemas.openxmlformats.org/officeDocument/2006/math">
                    <m:r>
                      <a:rPr lang="en-US"/>
                      <m:t>∀</m:t>
                    </m:r>
                    <m:r>
                      <a:rPr lang="en-US" i="1"/>
                      <m:t>𝑥</m:t>
                    </m:r>
                    <m:r>
                      <m:rPr>
                        <m:nor/>
                      </m:rPr>
                      <a:rPr lang="en-US" i="1"/>
                      <m:t> </m:t>
                    </m:r>
                    <m:d>
                      <m:dPr>
                        <m:ctrlPr>
                          <a:rPr lang="ar-AE" i="1"/>
                        </m:ctrlPr>
                      </m:dPr>
                      <m:e>
                        <m:r>
                          <a:rPr lang="ar-AE" i="1"/>
                          <m:t>𝐿𝑖𝑣𝑒𝑠𝐼𝑛𝐹𝑜𝑟𝑒𝑠𝑡</m:t>
                        </m:r>
                        <m:d>
                          <m:dPr>
                            <m:ctrlPr>
                              <a:rPr lang="ar-AE" i="1"/>
                            </m:ctrlPr>
                          </m:dPr>
                          <m:e>
                            <m:r>
                              <a:rPr lang="ar-AE" i="1"/>
                              <m:t>𝑥</m:t>
                            </m:r>
                          </m:e>
                        </m:d>
                        <m:r>
                          <a:rPr lang="ar-AE"/>
                          <m:t>→</m:t>
                        </m:r>
                        <m:d>
                          <m:dPr>
                            <m:ctrlPr>
                              <a:rPr lang="ar-AE" i="1"/>
                            </m:ctrlPr>
                          </m:dPr>
                          <m:e>
                            <m:r>
                              <a:rPr lang="ar-AE" i="1"/>
                              <m:t>𝐵𝑒𝑎𝑢𝑡𝑖𝑓𝑢𝑙</m:t>
                            </m:r>
                            <m:d>
                              <m:dPr>
                                <m:ctrlPr>
                                  <a:rPr lang="ar-AE" i="1"/>
                                </m:ctrlPr>
                              </m:dPr>
                              <m:e>
                                <m:r>
                                  <a:rPr lang="ar-AE" i="1"/>
                                  <m:t>𝑥</m:t>
                                </m:r>
                              </m:e>
                            </m:d>
                            <m:r>
                              <a:rPr lang="ar-AE"/>
                              <m:t>∧</m:t>
                            </m:r>
                            <m:r>
                              <a:rPr lang="ar-AE" i="1"/>
                              <m:t>𝑀𝑎𝑔𝑖𝑐𝑎𝑙</m:t>
                            </m:r>
                            <m:d>
                              <m:dPr>
                                <m:ctrlPr>
                                  <a:rPr lang="ar-AE" i="1"/>
                                </m:ctrlPr>
                              </m:dPr>
                              <m:e>
                                <m:r>
                                  <a:rPr lang="ar-AE" i="1"/>
                                  <m:t>𝑥</m:t>
                                </m:r>
                              </m:e>
                            </m:d>
                          </m:e>
                        </m:d>
                      </m:e>
                    </m:d>
                  </m:oMath>
                </a14:m>
                <a:endParaRPr lang="ar-AE" b="0" dirty="0"/>
              </a:p>
              <a:p>
                <a:r>
                  <a:rPr lang="ar-AE" b="1" dirty="0"/>
                  <a:t>(</a:t>
                </a:r>
                <a:r>
                  <a:rPr lang="en-US" b="1" dirty="0"/>
                  <a:t>ii)</a:t>
                </a:r>
                <a:r>
                  <a:rPr lang="en-US" dirty="0"/>
                  <a:t> Unicorns live in forests</a:t>
                </a:r>
              </a:p>
              <a:p>
                <a14:m>
                  <m:oMath xmlns:m="http://schemas.openxmlformats.org/officeDocument/2006/math">
                    <m:r>
                      <a:rPr lang="en-US"/>
                      <m:t>∀</m:t>
                    </m:r>
                    <m:r>
                      <a:rPr lang="en-US" i="1"/>
                      <m:t>𝑥</m:t>
                    </m:r>
                    <m:r>
                      <m:rPr>
                        <m:nor/>
                      </m:rPr>
                      <a:rPr lang="en-US" i="1"/>
                      <m:t> </m:t>
                    </m:r>
                    <m:d>
                      <m:dPr>
                        <m:ctrlPr>
                          <a:rPr lang="ar-AE" i="1"/>
                        </m:ctrlPr>
                      </m:dPr>
                      <m:e>
                        <m:r>
                          <a:rPr lang="ar-AE" i="1"/>
                          <m:t>𝑈𝑛𝑖𝑐𝑜𝑟𝑛</m:t>
                        </m:r>
                        <m:d>
                          <m:dPr>
                            <m:ctrlPr>
                              <a:rPr lang="ar-AE" i="1"/>
                            </m:ctrlPr>
                          </m:dPr>
                          <m:e>
                            <m:r>
                              <a:rPr lang="ar-AE" i="1"/>
                              <m:t>𝑥</m:t>
                            </m:r>
                          </m:e>
                        </m:d>
                        <m:r>
                          <a:rPr lang="ar-AE"/>
                          <m:t>→</m:t>
                        </m:r>
                        <m:r>
                          <a:rPr lang="ar-AE" i="1"/>
                          <m:t>𝐿𝑖𝑣𝑒𝑠𝐼𝑛𝐹𝑜𝑟𝑒𝑠𝑡</m:t>
                        </m:r>
                        <m:d>
                          <m:dPr>
                            <m:ctrlPr>
                              <a:rPr lang="ar-AE" i="1"/>
                            </m:ctrlPr>
                          </m:dPr>
                          <m:e>
                            <m:r>
                              <a:rPr lang="ar-AE" i="1"/>
                              <m:t>𝑥</m:t>
                            </m:r>
                          </m:e>
                        </m:d>
                      </m:e>
                    </m:d>
                  </m:oMath>
                </a14:m>
                <a:endParaRPr lang="ar-AE" b="0" dirty="0"/>
              </a:p>
              <a:p>
                <a:r>
                  <a:rPr lang="ar-AE" b="1" dirty="0"/>
                  <a:t>(</a:t>
                </a:r>
                <a:r>
                  <a:rPr lang="en-US" b="1" dirty="0"/>
                  <a:t>iii)</a:t>
                </a:r>
                <a:r>
                  <a:rPr lang="en-US" dirty="0"/>
                  <a:t> The creature named Twilight is a unicorn</a:t>
                </a:r>
              </a:p>
              <a:p>
                <a14:m>
                  <m:oMath xmlns:m="http://schemas.openxmlformats.org/officeDocument/2006/math">
                    <m:r>
                      <a:rPr lang="en-US" i="1"/>
                      <m:t>𝑈𝑛𝑖𝑐𝑜𝑟𝑛</m:t>
                    </m:r>
                    <m:d>
                      <m:dPr>
                        <m:ctrlPr>
                          <a:rPr lang="ar-AE" i="1"/>
                        </m:ctrlPr>
                      </m:dPr>
                      <m:e>
                        <m:r>
                          <a:rPr lang="ar-AE" i="1"/>
                          <m:t>𝑇𝑤𝑖𝑙𝑖𝑔</m:t>
                        </m:r>
                        <m:r>
                          <a:rPr lang="ar-AE" i="1"/>
                          <m:t>h</m:t>
                        </m:r>
                        <m:r>
                          <a:rPr lang="ar-AE" i="1"/>
                          <m:t>𝑡</m:t>
                        </m:r>
                      </m:e>
                    </m:d>
                  </m:oMath>
                </a14:m>
                <a:endParaRPr lang="ar-AE" dirty="0"/>
              </a:p>
              <a:p>
                <a:r>
                  <a:rPr lang="ar-AE" b="1" dirty="0"/>
                  <a:t>(</a:t>
                </a:r>
                <a:r>
                  <a:rPr lang="en-US" b="1" dirty="0"/>
                  <a:t>iv)</a:t>
                </a:r>
                <a:r>
                  <a:rPr lang="en-US" dirty="0"/>
                  <a:t> Twilight is beautiful</a:t>
                </a:r>
              </a:p>
              <a:p>
                <a14:m>
                  <m:oMath xmlns:m="http://schemas.openxmlformats.org/officeDocument/2006/math">
                    <m:r>
                      <a:rPr lang="en-US" i="1"/>
                      <m:t>𝐵𝑒𝑎𝑢𝑡𝑖𝑓𝑢𝑙</m:t>
                    </m:r>
                    <m:d>
                      <m:dPr>
                        <m:ctrlPr>
                          <a:rPr lang="ar-AE" i="1"/>
                        </m:ctrlPr>
                      </m:dPr>
                      <m:e>
                        <m:r>
                          <a:rPr lang="ar-AE" i="1"/>
                          <m:t>𝑇𝑤𝑖𝑙𝑖𝑔</m:t>
                        </m:r>
                        <m:r>
                          <a:rPr lang="ar-AE" i="1"/>
                          <m:t>h</m:t>
                        </m:r>
                        <m:r>
                          <a:rPr lang="ar-AE" i="1"/>
                          <m:t>𝑡</m:t>
                        </m:r>
                      </m:e>
                    </m:d>
                  </m:oMath>
                </a14:m>
                <a:endParaRPr lang="ar-AE" dirty="0"/>
              </a:p>
              <a:p>
                <a:endParaRPr lang="en-US" dirty="0"/>
              </a:p>
            </p:txBody>
          </p:sp>
        </mc:Choice>
        <mc:Fallback>
          <p:sp>
            <p:nvSpPr>
              <p:cNvPr id="3" name="Content Placeholder 2">
                <a:extLst>
                  <a:ext uri="{FF2B5EF4-FFF2-40B4-BE49-F238E27FC236}">
                    <a16:creationId xmlns:a16="http://schemas.microsoft.com/office/drawing/2014/main" id="{71044930-0DB9-073D-7CB3-9D245857FC26}"/>
                  </a:ext>
                </a:extLst>
              </p:cNvPr>
              <p:cNvSpPr>
                <a:spLocks noGrp="1" noRot="1" noChangeAspect="1" noMove="1" noResize="1" noEditPoints="1" noAdjustHandles="1" noChangeArrowheads="1" noChangeShapeType="1" noTextEdit="1"/>
              </p:cNvSpPr>
              <p:nvPr>
                <p:ph idx="1"/>
              </p:nvPr>
            </p:nvSpPr>
            <p:spPr>
              <a:blipFill>
                <a:blip r:embed="rId2"/>
                <a:stretch>
                  <a:fillRect l="-142" t="-942"/>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EB7A37D1-E233-6765-E8F0-70D91E8AEADC}"/>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7211359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CA54F-753C-6181-E284-DA3344144C80}"/>
              </a:ext>
            </a:extLst>
          </p:cNvPr>
          <p:cNvSpPr>
            <a:spLocks noGrp="1"/>
          </p:cNvSpPr>
          <p:nvPr>
            <p:ph type="title"/>
          </p:nvPr>
        </p:nvSpPr>
        <p:spPr/>
        <p:txBody>
          <a:bodyPr/>
          <a:lstStyle/>
          <a:p>
            <a:r>
              <a:rPr lang="en-US" dirty="0"/>
              <a:t>Reasoning Under Uncertainty </a:t>
            </a:r>
          </a:p>
        </p:txBody>
      </p:sp>
      <p:sp>
        <p:nvSpPr>
          <p:cNvPr id="3" name="Content Placeholder 2">
            <a:extLst>
              <a:ext uri="{FF2B5EF4-FFF2-40B4-BE49-F238E27FC236}">
                <a16:creationId xmlns:a16="http://schemas.microsoft.com/office/drawing/2014/main" id="{6ED830C3-E748-F062-B1F1-744EE4B1CB1F}"/>
              </a:ext>
            </a:extLst>
          </p:cNvPr>
          <p:cNvSpPr>
            <a:spLocks noGrp="1"/>
          </p:cNvSpPr>
          <p:nvPr>
            <p:ph idx="1"/>
          </p:nvPr>
        </p:nvSpPr>
        <p:spPr>
          <a:xfrm>
            <a:off x="677334" y="3457801"/>
            <a:ext cx="8596668" cy="1537313"/>
          </a:xfrm>
        </p:spPr>
        <p:txBody>
          <a:bodyPr/>
          <a:lstStyle/>
          <a:p>
            <a:r>
              <a:rPr lang="en-US" dirty="0"/>
              <a:t>Different types of uncertainty</a:t>
            </a:r>
          </a:p>
          <a:p>
            <a:r>
              <a:rPr lang="en-US" dirty="0"/>
              <a:t>For example:</a:t>
            </a:r>
          </a:p>
        </p:txBody>
      </p:sp>
      <p:sp>
        <p:nvSpPr>
          <p:cNvPr id="4" name="TextBox 3">
            <a:extLst>
              <a:ext uri="{FF2B5EF4-FFF2-40B4-BE49-F238E27FC236}">
                <a16:creationId xmlns:a16="http://schemas.microsoft.com/office/drawing/2014/main" id="{C99DEAAC-8D4A-7956-62C9-C65179D47225}"/>
              </a:ext>
            </a:extLst>
          </p:cNvPr>
          <p:cNvSpPr txBox="1"/>
          <p:nvPr/>
        </p:nvSpPr>
        <p:spPr>
          <a:xfrm>
            <a:off x="3666914" y="5468351"/>
            <a:ext cx="3383280" cy="1200329"/>
          </a:xfrm>
          <a:prstGeom prst="rect">
            <a:avLst/>
          </a:prstGeom>
          <a:noFill/>
        </p:spPr>
        <p:txBody>
          <a:bodyPr wrap="square" rtlCol="0">
            <a:spAutoFit/>
          </a:bodyPr>
          <a:lstStyle/>
          <a:p>
            <a:r>
              <a:rPr lang="en-US" dirty="0">
                <a:solidFill>
                  <a:schemeClr val="tx1">
                    <a:lumMod val="75000"/>
                    <a:lumOff val="25000"/>
                  </a:schemeClr>
                </a:solidFill>
              </a:rPr>
              <a:t>You roll a six-sided dice. You don’t know what number will show up because of inherent randomness</a:t>
            </a:r>
          </a:p>
        </p:txBody>
      </p:sp>
      <p:sp>
        <p:nvSpPr>
          <p:cNvPr id="5" name="TextBox 4">
            <a:extLst>
              <a:ext uri="{FF2B5EF4-FFF2-40B4-BE49-F238E27FC236}">
                <a16:creationId xmlns:a16="http://schemas.microsoft.com/office/drawing/2014/main" id="{7E8704D9-CA3B-540D-72A7-01AAA34E10A9}"/>
              </a:ext>
            </a:extLst>
          </p:cNvPr>
          <p:cNvSpPr txBox="1"/>
          <p:nvPr/>
        </p:nvSpPr>
        <p:spPr>
          <a:xfrm>
            <a:off x="677334" y="4431371"/>
            <a:ext cx="3383280" cy="1200329"/>
          </a:xfrm>
          <a:prstGeom prst="rect">
            <a:avLst/>
          </a:prstGeom>
          <a:noFill/>
        </p:spPr>
        <p:txBody>
          <a:bodyPr wrap="square" rtlCol="0">
            <a:spAutoFit/>
          </a:bodyPr>
          <a:lstStyle/>
          <a:p>
            <a:pPr marL="0" indent="0">
              <a:buNone/>
            </a:pPr>
            <a:r>
              <a:rPr lang="en-US" dirty="0">
                <a:solidFill>
                  <a:schemeClr val="tx1">
                    <a:lumMod val="75000"/>
                    <a:lumOff val="25000"/>
                  </a:schemeClr>
                </a:solidFill>
              </a:rPr>
              <a:t>You’re deciding whether to carry an umbrella. You’ve seen clouds but aren’t sure if it will rain.</a:t>
            </a:r>
          </a:p>
        </p:txBody>
      </p:sp>
      <p:sp>
        <p:nvSpPr>
          <p:cNvPr id="6" name="TextBox 5">
            <a:extLst>
              <a:ext uri="{FF2B5EF4-FFF2-40B4-BE49-F238E27FC236}">
                <a16:creationId xmlns:a16="http://schemas.microsoft.com/office/drawing/2014/main" id="{17AD1D07-60A4-5448-526D-7DF393A6B3EA}"/>
              </a:ext>
            </a:extLst>
          </p:cNvPr>
          <p:cNvSpPr txBox="1"/>
          <p:nvPr/>
        </p:nvSpPr>
        <p:spPr>
          <a:xfrm>
            <a:off x="7050194" y="4494781"/>
            <a:ext cx="3383280" cy="1200329"/>
          </a:xfrm>
          <a:prstGeom prst="rect">
            <a:avLst/>
          </a:prstGeom>
          <a:noFill/>
        </p:spPr>
        <p:txBody>
          <a:bodyPr wrap="square" rtlCol="0">
            <a:spAutoFit/>
          </a:bodyPr>
          <a:lstStyle/>
          <a:p>
            <a:r>
              <a:rPr lang="en-US" dirty="0">
                <a:solidFill>
                  <a:schemeClr val="tx1">
                    <a:lumMod val="75000"/>
                    <a:lumOff val="25000"/>
                  </a:schemeClr>
                </a:solidFill>
              </a:rPr>
              <a:t>You’re predicting tomorrow’s temperature using two weather models. One predicts 20°C, the other predicts 25°C</a:t>
            </a:r>
          </a:p>
        </p:txBody>
      </p:sp>
      <p:sp>
        <p:nvSpPr>
          <p:cNvPr id="7" name="TextBox 6">
            <a:extLst>
              <a:ext uri="{FF2B5EF4-FFF2-40B4-BE49-F238E27FC236}">
                <a16:creationId xmlns:a16="http://schemas.microsoft.com/office/drawing/2014/main" id="{4D8A1601-5C3E-2804-242D-CBB21BF15512}"/>
              </a:ext>
            </a:extLst>
          </p:cNvPr>
          <p:cNvSpPr txBox="1"/>
          <p:nvPr/>
        </p:nvSpPr>
        <p:spPr>
          <a:xfrm>
            <a:off x="872150" y="1431214"/>
            <a:ext cx="6362639" cy="1569660"/>
          </a:xfrm>
          <a:prstGeom prst="rect">
            <a:avLst/>
          </a:prstGeom>
          <a:noFill/>
        </p:spPr>
        <p:txBody>
          <a:bodyPr wrap="none" rtlCol="0">
            <a:spAutoFit/>
          </a:bodyPr>
          <a:lstStyle/>
          <a:p>
            <a:r>
              <a:rPr lang="en-US" sz="2400" dirty="0">
                <a:solidFill>
                  <a:srgbClr val="FF0000"/>
                </a:solidFill>
                <a:latin typeface="Bradley Hand ITC" panose="03070402050302030203" pitchFamily="66" charset="0"/>
              </a:rPr>
              <a:t>Previously We were talking about certain events</a:t>
            </a:r>
          </a:p>
          <a:p>
            <a:r>
              <a:rPr lang="en-US" sz="2400" dirty="0">
                <a:solidFill>
                  <a:srgbClr val="FF0000"/>
                </a:solidFill>
                <a:latin typeface="Bradley Hand ITC" panose="03070402050302030203" pitchFamily="66" charset="0"/>
              </a:rPr>
              <a:t> in predicate and propositional logic,</a:t>
            </a:r>
          </a:p>
          <a:p>
            <a:r>
              <a:rPr lang="en-US" sz="2400" dirty="0">
                <a:solidFill>
                  <a:srgbClr val="FF0000"/>
                </a:solidFill>
                <a:latin typeface="Bradley Hand ITC" panose="03070402050302030203" pitchFamily="66" charset="0"/>
              </a:rPr>
              <a:t>i.e. we were sure about predicates, </a:t>
            </a:r>
          </a:p>
          <a:p>
            <a:r>
              <a:rPr lang="en-US" sz="2400" dirty="0">
                <a:solidFill>
                  <a:srgbClr val="FF0000"/>
                </a:solidFill>
                <a:latin typeface="Bradley Hand ITC" panose="03070402050302030203" pitchFamily="66" charset="0"/>
              </a:rPr>
              <a:t>whether they are true or false</a:t>
            </a:r>
          </a:p>
        </p:txBody>
      </p:sp>
      <p:sp>
        <p:nvSpPr>
          <p:cNvPr id="8" name="TextBox 7">
            <a:extLst>
              <a:ext uri="{FF2B5EF4-FFF2-40B4-BE49-F238E27FC236}">
                <a16:creationId xmlns:a16="http://schemas.microsoft.com/office/drawing/2014/main" id="{4361AB63-D2EB-D1DE-3E5C-E40BA28F81AF}"/>
              </a:ext>
            </a:extLst>
          </p:cNvPr>
          <p:cNvSpPr txBox="1"/>
          <p:nvPr/>
        </p:nvSpPr>
        <p:spPr>
          <a:xfrm>
            <a:off x="6274222" y="2036385"/>
            <a:ext cx="4935224" cy="1569660"/>
          </a:xfrm>
          <a:prstGeom prst="rect">
            <a:avLst/>
          </a:prstGeom>
          <a:noFill/>
        </p:spPr>
        <p:txBody>
          <a:bodyPr wrap="square" rtlCol="0">
            <a:spAutoFit/>
          </a:bodyPr>
          <a:lstStyle/>
          <a:p>
            <a:r>
              <a:rPr lang="en-US" sz="2400" dirty="0">
                <a:solidFill>
                  <a:srgbClr val="FF0000"/>
                </a:solidFill>
                <a:latin typeface="Bradley Hand ITC" panose="03070402050302030203" pitchFamily="66" charset="0"/>
              </a:rPr>
              <a:t>Uncertainties arises where there are incomplete or imperfect knowledge about the situation, outcomes or consequences of action</a:t>
            </a:r>
          </a:p>
        </p:txBody>
      </p:sp>
      <p:sp>
        <p:nvSpPr>
          <p:cNvPr id="10" name="TextBox 9">
            <a:extLst>
              <a:ext uri="{FF2B5EF4-FFF2-40B4-BE49-F238E27FC236}">
                <a16:creationId xmlns:a16="http://schemas.microsoft.com/office/drawing/2014/main" id="{3381C2E2-3751-5EB7-50C1-61C04EB3B261}"/>
              </a:ext>
            </a:extLst>
          </p:cNvPr>
          <p:cNvSpPr txBox="1"/>
          <p:nvPr/>
        </p:nvSpPr>
        <p:spPr>
          <a:xfrm>
            <a:off x="4378654" y="3910057"/>
            <a:ext cx="6109854" cy="369332"/>
          </a:xfrm>
          <a:prstGeom prst="rect">
            <a:avLst/>
          </a:prstGeom>
          <a:noFill/>
        </p:spPr>
        <p:txBody>
          <a:bodyPr wrap="square">
            <a:spAutoFit/>
          </a:bodyPr>
          <a:lstStyle/>
          <a:p>
            <a:r>
              <a:rPr lang="en-US" b="1" u="sng" dirty="0">
                <a:solidFill>
                  <a:schemeClr val="accent2">
                    <a:lumMod val="75000"/>
                  </a:schemeClr>
                </a:solidFill>
              </a:rPr>
              <a:t>More realistic than previous ones.</a:t>
            </a:r>
          </a:p>
        </p:txBody>
      </p:sp>
      <p:sp>
        <p:nvSpPr>
          <p:cNvPr id="9" name="Footer Placeholder 8">
            <a:extLst>
              <a:ext uri="{FF2B5EF4-FFF2-40B4-BE49-F238E27FC236}">
                <a16:creationId xmlns:a16="http://schemas.microsoft.com/office/drawing/2014/main" id="{9F9A7CBA-207B-8B6D-9583-2FEB7F854038}"/>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69557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1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5B9F4-9029-6C7A-A759-C12C274B2A0B}"/>
              </a:ext>
            </a:extLst>
          </p:cNvPr>
          <p:cNvSpPr>
            <a:spLocks noGrp="1"/>
          </p:cNvSpPr>
          <p:nvPr>
            <p:ph type="title"/>
          </p:nvPr>
        </p:nvSpPr>
        <p:spPr/>
        <p:txBody>
          <a:bodyPr/>
          <a:lstStyle/>
          <a:p>
            <a:r>
              <a:rPr lang="en-US" dirty="0"/>
              <a:t>Probabilistic Reasoning</a:t>
            </a:r>
          </a:p>
        </p:txBody>
      </p:sp>
      <p:sp>
        <p:nvSpPr>
          <p:cNvPr id="3" name="Content Placeholder 2">
            <a:extLst>
              <a:ext uri="{FF2B5EF4-FFF2-40B4-BE49-F238E27FC236}">
                <a16:creationId xmlns:a16="http://schemas.microsoft.com/office/drawing/2014/main" id="{DF5AE8B5-3AAA-7CC0-6DE8-45DE56268746}"/>
              </a:ext>
            </a:extLst>
          </p:cNvPr>
          <p:cNvSpPr>
            <a:spLocks noGrp="1"/>
          </p:cNvSpPr>
          <p:nvPr>
            <p:ph idx="1"/>
          </p:nvPr>
        </p:nvSpPr>
        <p:spPr/>
        <p:txBody>
          <a:bodyPr/>
          <a:lstStyle/>
          <a:p>
            <a:r>
              <a:rPr lang="en-US" dirty="0"/>
              <a:t>PR is the method of reasoning and decision making that deals with uncertainty by using various probability theory. </a:t>
            </a:r>
          </a:p>
          <a:p>
            <a:r>
              <a:rPr lang="en-US" dirty="0"/>
              <a:t>Unlike working with truths and certainties, PR deals with probability and that probability is used to draw conclusion</a:t>
            </a:r>
          </a:p>
          <a:p>
            <a:r>
              <a:rPr lang="en-US" dirty="0"/>
              <a:t>KEY Concepts:</a:t>
            </a:r>
          </a:p>
          <a:p>
            <a:pPr lvl="1"/>
            <a:r>
              <a:rPr lang="en-US" dirty="0"/>
              <a:t>Uncertainty</a:t>
            </a:r>
          </a:p>
          <a:p>
            <a:pPr lvl="1"/>
            <a:r>
              <a:rPr lang="en-US" dirty="0"/>
              <a:t>Probability</a:t>
            </a:r>
          </a:p>
          <a:p>
            <a:pPr lvl="1"/>
            <a:r>
              <a:rPr lang="en-US" dirty="0"/>
              <a:t>Bayesian Inference</a:t>
            </a:r>
          </a:p>
          <a:p>
            <a:pPr lvl="1"/>
            <a:r>
              <a:rPr lang="en-US" dirty="0"/>
              <a:t>Random Variables</a:t>
            </a:r>
          </a:p>
          <a:p>
            <a:pPr lvl="1"/>
            <a:r>
              <a:rPr lang="en-US" dirty="0"/>
              <a:t>Joint and conditional probabilities</a:t>
            </a:r>
          </a:p>
        </p:txBody>
      </p:sp>
      <p:pic>
        <p:nvPicPr>
          <p:cNvPr id="5" name="Picture 4">
            <a:extLst>
              <a:ext uri="{FF2B5EF4-FFF2-40B4-BE49-F238E27FC236}">
                <a16:creationId xmlns:a16="http://schemas.microsoft.com/office/drawing/2014/main" id="{7343397B-4478-40A5-9528-A7503B456D9B}"/>
              </a:ext>
            </a:extLst>
          </p:cNvPr>
          <p:cNvPicPr>
            <a:picLocks noChangeAspect="1"/>
          </p:cNvPicPr>
          <p:nvPr/>
        </p:nvPicPr>
        <p:blipFill>
          <a:blip r:embed="rId3"/>
          <a:stretch>
            <a:fillRect/>
          </a:stretch>
        </p:blipFill>
        <p:spPr>
          <a:xfrm>
            <a:off x="4370436" y="3714064"/>
            <a:ext cx="5612651" cy="983348"/>
          </a:xfrm>
          <a:prstGeom prst="rect">
            <a:avLst/>
          </a:prstGeom>
        </p:spPr>
      </p:pic>
      <p:sp>
        <p:nvSpPr>
          <p:cNvPr id="6" name="TextBox 5">
            <a:extLst>
              <a:ext uri="{FF2B5EF4-FFF2-40B4-BE49-F238E27FC236}">
                <a16:creationId xmlns:a16="http://schemas.microsoft.com/office/drawing/2014/main" id="{9EE07EBE-CA96-8050-849B-B6512B507045}"/>
              </a:ext>
            </a:extLst>
          </p:cNvPr>
          <p:cNvSpPr txBox="1"/>
          <p:nvPr/>
        </p:nvSpPr>
        <p:spPr>
          <a:xfrm>
            <a:off x="4975668" y="4995952"/>
            <a:ext cx="7003474" cy="1862048"/>
          </a:xfrm>
          <a:prstGeom prst="rect">
            <a:avLst/>
          </a:prstGeom>
          <a:noFill/>
        </p:spPr>
        <p:txBody>
          <a:bodyPr wrap="square">
            <a:spAutoFit/>
          </a:bodyPr>
          <a:lstStyle/>
          <a:p>
            <a:r>
              <a:rPr lang="en-US" sz="2300" b="1" dirty="0">
                <a:solidFill>
                  <a:schemeClr val="accent5"/>
                </a:solidFill>
                <a:latin typeface="Bradley Hand ITC" panose="03070402050302030203" pitchFamily="66" charset="0"/>
              </a:rPr>
              <a:t>0 &lt;= P(A) &lt;= 1</a:t>
            </a:r>
            <a:r>
              <a:rPr lang="en-US" sz="2300" dirty="0">
                <a:solidFill>
                  <a:schemeClr val="accent5"/>
                </a:solidFill>
                <a:latin typeface="Bradley Hand ITC" panose="03070402050302030203" pitchFamily="66" charset="0"/>
              </a:rPr>
              <a:t>, where P(A) is probability of event A</a:t>
            </a:r>
          </a:p>
          <a:p>
            <a:r>
              <a:rPr lang="en-US" sz="2300" b="1" dirty="0">
                <a:solidFill>
                  <a:schemeClr val="accent5"/>
                </a:solidFill>
                <a:latin typeface="Bradley Hand ITC" panose="03070402050302030203" pitchFamily="66" charset="0"/>
              </a:rPr>
              <a:t>P(A) = 0</a:t>
            </a:r>
            <a:r>
              <a:rPr lang="en-US" sz="2300" dirty="0">
                <a:solidFill>
                  <a:schemeClr val="accent5"/>
                </a:solidFill>
                <a:latin typeface="Bradley Hand ITC" panose="03070402050302030203" pitchFamily="66" charset="0"/>
              </a:rPr>
              <a:t>, indicated total uncertainty in an event A</a:t>
            </a:r>
          </a:p>
          <a:p>
            <a:r>
              <a:rPr lang="en-US" sz="2300" b="1" dirty="0">
                <a:solidFill>
                  <a:schemeClr val="accent5"/>
                </a:solidFill>
                <a:latin typeface="Bradley Hand ITC" panose="03070402050302030203" pitchFamily="66" charset="0"/>
              </a:rPr>
              <a:t>P(A) = 1</a:t>
            </a:r>
            <a:r>
              <a:rPr lang="en-US" sz="2300" dirty="0">
                <a:solidFill>
                  <a:schemeClr val="accent5"/>
                </a:solidFill>
                <a:latin typeface="Bradley Hand ITC" panose="03070402050302030203" pitchFamily="66" charset="0"/>
              </a:rPr>
              <a:t>, indicated total certainty in an event A</a:t>
            </a:r>
          </a:p>
          <a:p>
            <a:r>
              <a:rPr lang="en-US" sz="2300" b="1" dirty="0">
                <a:solidFill>
                  <a:schemeClr val="accent5"/>
                </a:solidFill>
                <a:latin typeface="Bradley Hand ITC" panose="03070402050302030203" pitchFamily="66" charset="0"/>
              </a:rPr>
              <a:t>P(-A)</a:t>
            </a:r>
            <a:r>
              <a:rPr lang="en-US" sz="2300" dirty="0">
                <a:solidFill>
                  <a:schemeClr val="accent5"/>
                </a:solidFill>
                <a:latin typeface="Bradley Hand ITC" panose="03070402050302030203" pitchFamily="66" charset="0"/>
              </a:rPr>
              <a:t> , probability of not happening event A</a:t>
            </a:r>
          </a:p>
          <a:p>
            <a:r>
              <a:rPr lang="en-US" sz="2300" b="1" dirty="0">
                <a:solidFill>
                  <a:schemeClr val="accent5"/>
                </a:solidFill>
                <a:latin typeface="Bradley Hand ITC" panose="03070402050302030203" pitchFamily="66" charset="0"/>
              </a:rPr>
              <a:t>P(-A) + P(A) = 1</a:t>
            </a:r>
          </a:p>
        </p:txBody>
      </p:sp>
      <p:sp>
        <p:nvSpPr>
          <p:cNvPr id="4" name="Footer Placeholder 3">
            <a:extLst>
              <a:ext uri="{FF2B5EF4-FFF2-40B4-BE49-F238E27FC236}">
                <a16:creationId xmlns:a16="http://schemas.microsoft.com/office/drawing/2014/main" id="{F680515D-350F-B94D-1AAF-AE75A7DB22FA}"/>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615468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3D989-CEB8-C625-DE62-88E6ABBB81EF}"/>
              </a:ext>
            </a:extLst>
          </p:cNvPr>
          <p:cNvSpPr>
            <a:spLocks noGrp="1"/>
          </p:cNvSpPr>
          <p:nvPr>
            <p:ph type="title"/>
          </p:nvPr>
        </p:nvSpPr>
        <p:spPr/>
        <p:txBody>
          <a:bodyPr/>
          <a:lstStyle/>
          <a:p>
            <a:r>
              <a:rPr lang="en-US" dirty="0"/>
              <a:t>Needs &amp; Application</a:t>
            </a:r>
          </a:p>
        </p:txBody>
      </p:sp>
      <p:sp>
        <p:nvSpPr>
          <p:cNvPr id="3" name="Content Placeholder 2">
            <a:extLst>
              <a:ext uri="{FF2B5EF4-FFF2-40B4-BE49-F238E27FC236}">
                <a16:creationId xmlns:a16="http://schemas.microsoft.com/office/drawing/2014/main" id="{53CF911C-397C-DF37-B6D1-37CFCF889401}"/>
              </a:ext>
            </a:extLst>
          </p:cNvPr>
          <p:cNvSpPr>
            <a:spLocks noGrp="1"/>
          </p:cNvSpPr>
          <p:nvPr>
            <p:ph idx="1"/>
          </p:nvPr>
        </p:nvSpPr>
        <p:spPr>
          <a:xfrm>
            <a:off x="677334" y="2160589"/>
            <a:ext cx="8596668" cy="3880773"/>
          </a:xfrm>
        </p:spPr>
        <p:txBody>
          <a:bodyPr/>
          <a:lstStyle/>
          <a:p>
            <a:pPr marL="0" indent="0">
              <a:buNone/>
            </a:pPr>
            <a:r>
              <a:rPr lang="en-US" dirty="0"/>
              <a:t>Needs of PR in AI</a:t>
            </a:r>
          </a:p>
          <a:p>
            <a:r>
              <a:rPr lang="en-US" dirty="0"/>
              <a:t>When there are unpredictable outcomes</a:t>
            </a:r>
          </a:p>
          <a:p>
            <a:r>
              <a:rPr lang="en-US" dirty="0"/>
              <a:t>When specifications or possibilities of predicates becomes too large to handle</a:t>
            </a:r>
          </a:p>
          <a:p>
            <a:r>
              <a:rPr lang="en-US" dirty="0"/>
              <a:t>When an unknown error occurs during an experiment.</a:t>
            </a:r>
          </a:p>
          <a:p>
            <a:pPr marL="0" indent="0">
              <a:buNone/>
            </a:pPr>
            <a:endParaRPr lang="en-US" dirty="0"/>
          </a:p>
          <a:p>
            <a:pPr marL="0" indent="0">
              <a:buNone/>
            </a:pPr>
            <a:r>
              <a:rPr lang="en-US" dirty="0"/>
              <a:t>Applications:</a:t>
            </a:r>
          </a:p>
          <a:p>
            <a:r>
              <a:rPr lang="en-US" dirty="0"/>
              <a:t>Medical Diagnosis</a:t>
            </a:r>
          </a:p>
          <a:p>
            <a:r>
              <a:rPr lang="en-US" dirty="0"/>
              <a:t>Weather Prediction</a:t>
            </a:r>
          </a:p>
          <a:p>
            <a:r>
              <a:rPr lang="en-US" dirty="0"/>
              <a:t>Natural Language Processing</a:t>
            </a:r>
          </a:p>
        </p:txBody>
      </p:sp>
      <p:sp>
        <p:nvSpPr>
          <p:cNvPr id="4" name="Footer Placeholder 3">
            <a:extLst>
              <a:ext uri="{FF2B5EF4-FFF2-40B4-BE49-F238E27FC236}">
                <a16:creationId xmlns:a16="http://schemas.microsoft.com/office/drawing/2014/main" id="{9B934A2D-5DF4-CC0C-ED72-CEF84C87E3AB}"/>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1720199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51E9D-2E4C-7C81-6519-F458F3F8F33A}"/>
              </a:ext>
            </a:extLst>
          </p:cNvPr>
          <p:cNvSpPr>
            <a:spLocks noGrp="1"/>
          </p:cNvSpPr>
          <p:nvPr>
            <p:ph type="title"/>
          </p:nvPr>
        </p:nvSpPr>
        <p:spPr/>
        <p:txBody>
          <a:bodyPr/>
          <a:lstStyle/>
          <a:p>
            <a:r>
              <a:rPr lang="en-US" dirty="0"/>
              <a:t>Bayes Theorem</a:t>
            </a:r>
          </a:p>
        </p:txBody>
      </p:sp>
      <p:sp>
        <p:nvSpPr>
          <p:cNvPr id="3" name="Content Placeholder 2">
            <a:extLst>
              <a:ext uri="{FF2B5EF4-FFF2-40B4-BE49-F238E27FC236}">
                <a16:creationId xmlns:a16="http://schemas.microsoft.com/office/drawing/2014/main" id="{18809C08-C839-D42C-CF48-8313CB45CB78}"/>
              </a:ext>
            </a:extLst>
          </p:cNvPr>
          <p:cNvSpPr>
            <a:spLocks noGrp="1"/>
          </p:cNvSpPr>
          <p:nvPr>
            <p:ph idx="1"/>
          </p:nvPr>
        </p:nvSpPr>
        <p:spPr>
          <a:xfrm>
            <a:off x="808605" y="3837791"/>
            <a:ext cx="8596668" cy="4475342"/>
          </a:xfrm>
        </p:spPr>
        <p:txBody>
          <a:bodyPr>
            <a:normAutofit/>
          </a:bodyPr>
          <a:lstStyle/>
          <a:p>
            <a:r>
              <a:rPr lang="en-US" b="0" i="0" dirty="0">
                <a:solidFill>
                  <a:srgbClr val="333333"/>
                </a:solidFill>
                <a:effectLst/>
                <a:latin typeface="ADLaM Display" panose="02010000000000000000" pitchFamily="2" charset="0"/>
                <a:ea typeface="ADLaM Display" panose="02010000000000000000" pitchFamily="2" charset="0"/>
                <a:cs typeface="ADLaM Display" panose="02010000000000000000" pitchFamily="2" charset="0"/>
              </a:rPr>
              <a:t>As from product rule we can write:</a:t>
            </a:r>
            <a:endParaRPr lang="en-US" dirty="0">
              <a:solidFill>
                <a:srgbClr val="333333"/>
              </a:solidFill>
              <a:latin typeface="ADLaM Display" panose="02010000000000000000" pitchFamily="2" charset="0"/>
              <a:ea typeface="ADLaM Display" panose="02010000000000000000" pitchFamily="2" charset="0"/>
              <a:cs typeface="ADLaM Display" panose="02010000000000000000" pitchFamily="2" charset="0"/>
            </a:endParaRPr>
          </a:p>
          <a:p>
            <a:pPr marL="457200" lvl="1" indent="0">
              <a:spcAft>
                <a:spcPts val="600"/>
              </a:spcAft>
              <a:buNone/>
            </a:pPr>
            <a:r>
              <a:rPr lang="en-US" b="0" i="0" dirty="0">
                <a:solidFill>
                  <a:srgbClr val="333333"/>
                </a:solidFill>
                <a:effectLst/>
                <a:latin typeface="ADLaM Display" panose="02010000000000000000" pitchFamily="2" charset="0"/>
                <a:ea typeface="ADLaM Display" panose="02010000000000000000" pitchFamily="2" charset="0"/>
                <a:cs typeface="ADLaM Display" panose="02010000000000000000" pitchFamily="2" charset="0"/>
              </a:rPr>
              <a:t>P(A ⋀ B)= P(A|B) P(B) </a:t>
            </a:r>
          </a:p>
          <a:p>
            <a:r>
              <a:rPr lang="en-US" b="0" i="0" dirty="0">
                <a:solidFill>
                  <a:srgbClr val="333333"/>
                </a:solidFill>
                <a:effectLst/>
                <a:latin typeface="ADLaM Display" panose="02010000000000000000" pitchFamily="2" charset="0"/>
                <a:ea typeface="ADLaM Display" panose="02010000000000000000" pitchFamily="2" charset="0"/>
                <a:cs typeface="ADLaM Display" panose="02010000000000000000" pitchFamily="2" charset="0"/>
              </a:rPr>
              <a:t>Similarly, the probability of event B with known event A:</a:t>
            </a:r>
          </a:p>
          <a:p>
            <a:pPr marL="0" indent="0">
              <a:buNone/>
            </a:pPr>
            <a:r>
              <a:rPr lang="en-US" b="0" i="0" dirty="0">
                <a:solidFill>
                  <a:srgbClr val="333333"/>
                </a:solidFill>
                <a:effectLst/>
                <a:latin typeface="ADLaM Display" panose="02010000000000000000" pitchFamily="2" charset="0"/>
                <a:ea typeface="ADLaM Display" panose="02010000000000000000" pitchFamily="2" charset="0"/>
                <a:cs typeface="ADLaM Display" panose="02010000000000000000" pitchFamily="2" charset="0"/>
              </a:rPr>
              <a:t>	P(A ⋀ B)= P(B|A) P(A)  </a:t>
            </a:r>
          </a:p>
          <a:p>
            <a:r>
              <a:rPr lang="en-US" b="0" i="0" dirty="0">
                <a:solidFill>
                  <a:srgbClr val="333333"/>
                </a:solidFill>
                <a:effectLst/>
                <a:latin typeface="ADLaM Display" panose="02010000000000000000" pitchFamily="2" charset="0"/>
                <a:ea typeface="ADLaM Display" panose="02010000000000000000" pitchFamily="2" charset="0"/>
                <a:cs typeface="ADLaM Display" panose="02010000000000000000" pitchFamily="2" charset="0"/>
              </a:rPr>
              <a:t>Equating right hand side of both the equations, we will get:</a:t>
            </a:r>
          </a:p>
          <a:p>
            <a:pPr marL="0" indent="0">
              <a:buNone/>
            </a:pPr>
            <a:r>
              <a:rPr lang="en-US" dirty="0">
                <a:latin typeface="ADLaM Display" panose="02010000000000000000" pitchFamily="2" charset="0"/>
                <a:ea typeface="ADLaM Display" panose="02010000000000000000" pitchFamily="2" charset="0"/>
                <a:cs typeface="ADLaM Display" panose="02010000000000000000" pitchFamily="2" charset="0"/>
              </a:rPr>
              <a:t>				P(A|B) = </a:t>
            </a:r>
            <a:r>
              <a:rPr lang="en-US" u="sng" dirty="0">
                <a:latin typeface="ADLaM Display" panose="02010000000000000000" pitchFamily="2" charset="0"/>
                <a:ea typeface="ADLaM Display" panose="02010000000000000000" pitchFamily="2" charset="0"/>
                <a:cs typeface="ADLaM Display" panose="02010000000000000000" pitchFamily="2" charset="0"/>
              </a:rPr>
              <a:t>P(B|A) P(A)</a:t>
            </a:r>
          </a:p>
          <a:p>
            <a:pPr marL="0" indent="0">
              <a:buNone/>
            </a:pPr>
            <a:r>
              <a:rPr lang="en-US" dirty="0">
                <a:latin typeface="ADLaM Display" panose="02010000000000000000" pitchFamily="2" charset="0"/>
                <a:ea typeface="ADLaM Display" panose="02010000000000000000" pitchFamily="2" charset="0"/>
                <a:cs typeface="ADLaM Display" panose="02010000000000000000" pitchFamily="2" charset="0"/>
              </a:rPr>
              <a:t>				 	            P(B)</a:t>
            </a:r>
            <a:br>
              <a:rPr lang="en-US" dirty="0">
                <a:latin typeface="ADLaM Display" panose="02010000000000000000" pitchFamily="2" charset="0"/>
                <a:ea typeface="ADLaM Display" panose="02010000000000000000" pitchFamily="2" charset="0"/>
                <a:cs typeface="ADLaM Display" panose="02010000000000000000" pitchFamily="2" charset="0"/>
              </a:rPr>
            </a:br>
            <a:endParaRPr lang="en-US" dirty="0">
              <a:latin typeface="ADLaM Display" panose="02010000000000000000" pitchFamily="2" charset="0"/>
              <a:ea typeface="ADLaM Display" panose="02010000000000000000" pitchFamily="2" charset="0"/>
              <a:cs typeface="ADLaM Display" panose="02010000000000000000" pitchFamily="2"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10F3960-19D2-7564-05DC-E6F39E2E94C7}"/>
                  </a:ext>
                </a:extLst>
              </p:cNvPr>
              <p:cNvSpPr txBox="1"/>
              <p:nvPr/>
            </p:nvSpPr>
            <p:spPr>
              <a:xfrm>
                <a:off x="5106939" y="89253"/>
                <a:ext cx="7085061" cy="2071336"/>
              </a:xfrm>
              <a:prstGeom prst="rect">
                <a:avLst/>
              </a:prstGeom>
              <a:noFill/>
            </p:spPr>
            <p:txBody>
              <a:bodyPr wrap="square">
                <a:spAutoFit/>
              </a:bodyPr>
              <a:lstStyle/>
              <a:p>
                <a:r>
                  <a:rPr lang="en-US" sz="2800" dirty="0">
                    <a:solidFill>
                      <a:schemeClr val="accent5"/>
                    </a:solidFill>
                    <a:latin typeface="Agency FB" panose="020B0503020202020204" pitchFamily="34" charset="0"/>
                  </a:rPr>
                  <a:t>Conditional Probability =&gt; P(A|B) = </a:t>
                </a:r>
                <a14:m>
                  <m:oMath xmlns:m="http://schemas.openxmlformats.org/officeDocument/2006/math">
                    <m:f>
                      <m:fPr>
                        <m:ctrlPr>
                          <a:rPr lang="en-US" sz="2800" i="1" dirty="0" smtClean="0">
                            <a:solidFill>
                              <a:schemeClr val="accent5"/>
                            </a:solidFill>
                            <a:latin typeface="Cambria Math" panose="02040503050406030204" pitchFamily="18" charset="0"/>
                          </a:rPr>
                        </m:ctrlPr>
                      </m:fPr>
                      <m:num>
                        <m:r>
                          <a:rPr lang="en-US" sz="2800" i="1" dirty="0">
                            <a:solidFill>
                              <a:schemeClr val="accent5"/>
                            </a:solidFill>
                            <a:latin typeface="Cambria Math" panose="02040503050406030204" pitchFamily="18" charset="0"/>
                          </a:rPr>
                          <m:t>𝑝</m:t>
                        </m:r>
                        <m:r>
                          <a:rPr lang="en-US" sz="2800" i="1" dirty="0">
                            <a:solidFill>
                              <a:schemeClr val="accent5"/>
                            </a:solidFill>
                            <a:latin typeface="Cambria Math" panose="02040503050406030204" pitchFamily="18" charset="0"/>
                          </a:rPr>
                          <m:t>(</m:t>
                        </m:r>
                        <m:r>
                          <a:rPr lang="en-US" sz="2800" i="1" dirty="0">
                            <a:solidFill>
                              <a:schemeClr val="accent5"/>
                            </a:solidFill>
                            <a:latin typeface="Cambria Math" panose="02040503050406030204" pitchFamily="18" charset="0"/>
                          </a:rPr>
                          <m:t>𝐴</m:t>
                        </m:r>
                        <m:r>
                          <a:rPr lang="en-US" sz="2800" b="0" i="1" dirty="0" smtClean="0">
                            <a:solidFill>
                              <a:schemeClr val="accent5"/>
                            </a:solidFill>
                            <a:latin typeface="Cambria Math" panose="02040503050406030204" pitchFamily="18" charset="0"/>
                          </a:rPr>
                          <m:t> </m:t>
                        </m:r>
                        <m:r>
                          <a:rPr lang="en-US" sz="2800" i="1" dirty="0">
                            <a:solidFill>
                              <a:schemeClr val="accent5"/>
                            </a:solidFill>
                            <a:latin typeface="Cambria Math" panose="02040503050406030204" pitchFamily="18" charset="0"/>
                          </a:rPr>
                          <m:t>⋀ </m:t>
                        </m:r>
                        <m:r>
                          <a:rPr lang="en-US" sz="2800" i="1" dirty="0">
                            <a:solidFill>
                              <a:schemeClr val="accent5"/>
                            </a:solidFill>
                            <a:latin typeface="Cambria Math" panose="02040503050406030204" pitchFamily="18" charset="0"/>
                          </a:rPr>
                          <m:t>𝐵</m:t>
                        </m:r>
                        <m:r>
                          <a:rPr lang="en-US" sz="2800" i="1" dirty="0">
                            <a:solidFill>
                              <a:schemeClr val="accent5"/>
                            </a:solidFill>
                            <a:latin typeface="Cambria Math" panose="02040503050406030204" pitchFamily="18" charset="0"/>
                          </a:rPr>
                          <m:t>)</m:t>
                        </m:r>
                      </m:num>
                      <m:den>
                        <m:r>
                          <a:rPr lang="en-US" sz="2800" b="0" i="1" dirty="0" smtClean="0">
                            <a:solidFill>
                              <a:schemeClr val="accent5"/>
                            </a:solidFill>
                            <a:latin typeface="Cambria Math" panose="02040503050406030204" pitchFamily="18" charset="0"/>
                          </a:rPr>
                          <m:t>𝑃</m:t>
                        </m:r>
                        <m:r>
                          <a:rPr lang="en-US" sz="2800" b="0" i="1" dirty="0" smtClean="0">
                            <a:solidFill>
                              <a:schemeClr val="accent5"/>
                            </a:solidFill>
                            <a:latin typeface="Cambria Math" panose="02040503050406030204" pitchFamily="18" charset="0"/>
                          </a:rPr>
                          <m:t>(</m:t>
                        </m:r>
                        <m:r>
                          <a:rPr lang="en-US" sz="2800" b="0" i="1" dirty="0" smtClean="0">
                            <a:solidFill>
                              <a:schemeClr val="accent5"/>
                            </a:solidFill>
                            <a:latin typeface="Cambria Math" panose="02040503050406030204" pitchFamily="18" charset="0"/>
                          </a:rPr>
                          <m:t>𝐵</m:t>
                        </m:r>
                        <m:r>
                          <a:rPr lang="en-US" sz="2800" b="0" i="1" dirty="0" smtClean="0">
                            <a:solidFill>
                              <a:schemeClr val="accent5"/>
                            </a:solidFill>
                            <a:latin typeface="Cambria Math" panose="02040503050406030204" pitchFamily="18" charset="0"/>
                          </a:rPr>
                          <m:t>)</m:t>
                        </m:r>
                      </m:den>
                    </m:f>
                  </m:oMath>
                </a14:m>
                <a:r>
                  <a:rPr lang="en-US" sz="2800" dirty="0">
                    <a:solidFill>
                      <a:schemeClr val="accent5"/>
                    </a:solidFill>
                    <a:latin typeface="Agency FB" panose="020B0503020202020204" pitchFamily="34" charset="0"/>
                  </a:rPr>
                  <a:t> where,</a:t>
                </a:r>
              </a:p>
              <a:p>
                <a:r>
                  <a:rPr lang="en-US" sz="2800" dirty="0">
                    <a:solidFill>
                      <a:schemeClr val="accent5"/>
                    </a:solidFill>
                    <a:latin typeface="Agency FB" panose="020B0503020202020204" pitchFamily="34" charset="0"/>
                  </a:rPr>
                  <a:t>P(A | B) is probability of event A with known event B</a:t>
                </a:r>
              </a:p>
              <a:p>
                <a:r>
                  <a:rPr lang="en-US" sz="2800" dirty="0">
                    <a:solidFill>
                      <a:schemeClr val="accent5"/>
                    </a:solidFill>
                    <a:latin typeface="Agency FB" panose="020B0503020202020204" pitchFamily="34" charset="0"/>
                  </a:rPr>
                  <a:t>P(A ⋀ B) is joint probability of A and B</a:t>
                </a:r>
              </a:p>
              <a:p>
                <a:r>
                  <a:rPr lang="en-US" sz="2800" dirty="0">
                    <a:solidFill>
                      <a:schemeClr val="accent5"/>
                    </a:solidFill>
                    <a:latin typeface="Agency FB" panose="020B0503020202020204" pitchFamily="34" charset="0"/>
                  </a:rPr>
                  <a:t>P(B) is marginal probability of B</a:t>
                </a:r>
              </a:p>
            </p:txBody>
          </p:sp>
        </mc:Choice>
        <mc:Fallback xmlns="">
          <p:sp>
            <p:nvSpPr>
              <p:cNvPr id="5" name="TextBox 4">
                <a:extLst>
                  <a:ext uri="{FF2B5EF4-FFF2-40B4-BE49-F238E27FC236}">
                    <a16:creationId xmlns:a16="http://schemas.microsoft.com/office/drawing/2014/main" id="{910F3960-19D2-7564-05DC-E6F39E2E94C7}"/>
                  </a:ext>
                </a:extLst>
              </p:cNvPr>
              <p:cNvSpPr txBox="1">
                <a:spLocks noRot="1" noChangeAspect="1" noMove="1" noResize="1" noEditPoints="1" noAdjustHandles="1" noChangeArrowheads="1" noChangeShapeType="1" noTextEdit="1"/>
              </p:cNvSpPr>
              <p:nvPr/>
            </p:nvSpPr>
            <p:spPr>
              <a:xfrm>
                <a:off x="5106939" y="89253"/>
                <a:ext cx="7085061" cy="2071336"/>
              </a:xfrm>
              <a:prstGeom prst="rect">
                <a:avLst/>
              </a:prstGeom>
              <a:blipFill>
                <a:blip r:embed="rId2"/>
                <a:stretch>
                  <a:fillRect l="-1807" b="-7670"/>
                </a:stretch>
              </a:blipFill>
            </p:spPr>
            <p:txBody>
              <a:bodyPr/>
              <a:lstStyle/>
              <a:p>
                <a:r>
                  <a:rPr lang="en-US">
                    <a:noFill/>
                  </a:rPr>
                  <a:t> </a:t>
                </a:r>
              </a:p>
            </p:txBody>
          </p:sp>
        </mc:Fallback>
      </mc:AlternateContent>
      <p:sp>
        <p:nvSpPr>
          <p:cNvPr id="10" name="Content Placeholder 2">
            <a:extLst>
              <a:ext uri="{FF2B5EF4-FFF2-40B4-BE49-F238E27FC236}">
                <a16:creationId xmlns:a16="http://schemas.microsoft.com/office/drawing/2014/main" id="{C25EF50C-AFBC-2B5C-8E34-C5A889B1E252}"/>
              </a:ext>
            </a:extLst>
          </p:cNvPr>
          <p:cNvSpPr txBox="1">
            <a:spLocks/>
          </p:cNvSpPr>
          <p:nvPr/>
        </p:nvSpPr>
        <p:spPr>
          <a:xfrm>
            <a:off x="808604" y="2129460"/>
            <a:ext cx="9229014" cy="447534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latin typeface="ADLaM Display" panose="02010000000000000000" pitchFamily="2" charset="0"/>
                <a:ea typeface="ADLaM Display" panose="02010000000000000000" pitchFamily="2" charset="0"/>
                <a:cs typeface="ADLaM Display" panose="02010000000000000000" pitchFamily="2" charset="0"/>
              </a:rPr>
              <a:t>Bayes' theorem is also known as Bayes' rule, Bayes' law, or Bayesian reasoning, which determines the probability of an event with uncertain knowledge.</a:t>
            </a:r>
          </a:p>
          <a:p>
            <a:r>
              <a:rPr lang="en-US" dirty="0">
                <a:solidFill>
                  <a:srgbClr val="333333"/>
                </a:solidFill>
                <a:latin typeface="ADLaM Display" panose="02010000000000000000" pitchFamily="2" charset="0"/>
                <a:ea typeface="ADLaM Display" panose="02010000000000000000" pitchFamily="2" charset="0"/>
                <a:cs typeface="ADLaM Display" panose="02010000000000000000" pitchFamily="2" charset="0"/>
              </a:rPr>
              <a:t>Bayes' theorem can be derived using product rule and conditional probability of event A with known event B:</a:t>
            </a:r>
            <a:endParaRPr lang="en-US" dirty="0">
              <a:latin typeface="ADLaM Display" panose="02010000000000000000" pitchFamily="2" charset="0"/>
              <a:ea typeface="ADLaM Display" panose="02010000000000000000" pitchFamily="2" charset="0"/>
              <a:cs typeface="ADLaM Display" panose="02010000000000000000" pitchFamily="2" charset="0"/>
            </a:endParaRPr>
          </a:p>
        </p:txBody>
      </p:sp>
      <p:grpSp>
        <p:nvGrpSpPr>
          <p:cNvPr id="28" name="Group 27">
            <a:extLst>
              <a:ext uri="{FF2B5EF4-FFF2-40B4-BE49-F238E27FC236}">
                <a16:creationId xmlns:a16="http://schemas.microsoft.com/office/drawing/2014/main" id="{FEF46E4E-7508-C680-BDE9-FF5A599AE779}"/>
              </a:ext>
            </a:extLst>
          </p:cNvPr>
          <p:cNvGrpSpPr/>
          <p:nvPr/>
        </p:nvGrpSpPr>
        <p:grpSpPr>
          <a:xfrm>
            <a:off x="7184562" y="2160589"/>
            <a:ext cx="2582892" cy="1443261"/>
            <a:chOff x="7184562" y="2160589"/>
            <a:chExt cx="2582892" cy="1443261"/>
          </a:xfrm>
        </p:grpSpPr>
        <p:cxnSp>
          <p:nvCxnSpPr>
            <p:cNvPr id="8" name="Connector: Curved 7">
              <a:extLst>
                <a:ext uri="{FF2B5EF4-FFF2-40B4-BE49-F238E27FC236}">
                  <a16:creationId xmlns:a16="http://schemas.microsoft.com/office/drawing/2014/main" id="{6D389B0A-3662-DD51-6AFC-460B847E5430}"/>
                </a:ext>
              </a:extLst>
            </p:cNvPr>
            <p:cNvCxnSpPr>
              <a:cxnSpLocks/>
              <a:stCxn id="13" idx="3"/>
            </p:cNvCxnSpPr>
            <p:nvPr/>
          </p:nvCxnSpPr>
          <p:spPr>
            <a:xfrm flipH="1" flipV="1">
              <a:off x="8624456" y="2160589"/>
              <a:ext cx="1142998" cy="1172737"/>
            </a:xfrm>
            <a:prstGeom prst="curvedConnector4">
              <a:avLst>
                <a:gd name="adj1" fmla="val -116364"/>
                <a:gd name="adj2" fmla="val 96976"/>
              </a:avLst>
            </a:prstGeom>
            <a:ln w="952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Double Bracket 12">
              <a:extLst>
                <a:ext uri="{FF2B5EF4-FFF2-40B4-BE49-F238E27FC236}">
                  <a16:creationId xmlns:a16="http://schemas.microsoft.com/office/drawing/2014/main" id="{7587FFD2-28AD-9184-E437-DA54040B5439}"/>
                </a:ext>
              </a:extLst>
            </p:cNvPr>
            <p:cNvSpPr/>
            <p:nvPr/>
          </p:nvSpPr>
          <p:spPr>
            <a:xfrm>
              <a:off x="7184562" y="3062802"/>
              <a:ext cx="2582892" cy="541048"/>
            </a:xfrm>
            <a:prstGeom prst="bracketPair">
              <a:avLst/>
            </a:prstGeom>
          </p:spPr>
          <p:style>
            <a:lnRef idx="3">
              <a:schemeClr val="accent5"/>
            </a:lnRef>
            <a:fillRef idx="0">
              <a:schemeClr val="accent5"/>
            </a:fillRef>
            <a:effectRef idx="2">
              <a:schemeClr val="accent5"/>
            </a:effectRef>
            <a:fontRef idx="minor">
              <a:schemeClr val="tx1"/>
            </a:fontRef>
          </p:style>
          <p:txBody>
            <a:bodyPr rtlCol="0" anchor="ctr"/>
            <a:lstStyle/>
            <a:p>
              <a:pPr algn="ctr"/>
              <a:endParaRPr lang="en-US"/>
            </a:p>
          </p:txBody>
        </p:sp>
      </p:grpSp>
      <p:sp>
        <p:nvSpPr>
          <p:cNvPr id="4" name="Footer Placeholder 3">
            <a:extLst>
              <a:ext uri="{FF2B5EF4-FFF2-40B4-BE49-F238E27FC236}">
                <a16:creationId xmlns:a16="http://schemas.microsoft.com/office/drawing/2014/main" id="{E852F983-245F-951C-A388-0DDE1F54D8B8}"/>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789640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circle(in)">
                                      <p:cBhvr>
                                        <p:cTn id="19" dur="2000"/>
                                        <p:tgtEl>
                                          <p:spTgt spid="2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
                                            <p:txEl>
                                              <p:pRg st="0" end="0"/>
                                            </p:txEl>
                                          </p:spTgt>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p:bldP spid="10"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4C903-5D24-3008-1D00-26AF5BF78EAD}"/>
              </a:ext>
            </a:extLst>
          </p:cNvPr>
          <p:cNvSpPr>
            <a:spLocks noGrp="1"/>
          </p:cNvSpPr>
          <p:nvPr>
            <p:ph type="title"/>
          </p:nvPr>
        </p:nvSpPr>
        <p:spPr/>
        <p:txBody>
          <a:bodyPr/>
          <a:lstStyle/>
          <a:p>
            <a:r>
              <a:rPr lang="en-US" dirty="0"/>
              <a:t>Bayes Theorem</a:t>
            </a:r>
          </a:p>
        </p:txBody>
      </p:sp>
      <p:pic>
        <p:nvPicPr>
          <p:cNvPr id="5" name="Content Placeholder 4">
            <a:extLst>
              <a:ext uri="{FF2B5EF4-FFF2-40B4-BE49-F238E27FC236}">
                <a16:creationId xmlns:a16="http://schemas.microsoft.com/office/drawing/2014/main" id="{410874BE-334D-80C2-5EAF-AFB6A63475B0}"/>
              </a:ext>
            </a:extLst>
          </p:cNvPr>
          <p:cNvPicPr>
            <a:picLocks noGrp="1" noChangeAspect="1"/>
          </p:cNvPicPr>
          <p:nvPr>
            <p:ph idx="1"/>
          </p:nvPr>
        </p:nvPicPr>
        <p:blipFill>
          <a:blip r:embed="rId2"/>
          <a:stretch>
            <a:fillRect/>
          </a:stretch>
        </p:blipFill>
        <p:spPr>
          <a:xfrm>
            <a:off x="677334" y="1604794"/>
            <a:ext cx="7995711" cy="4643606"/>
          </a:xfrm>
        </p:spPr>
      </p:pic>
      <p:sp>
        <p:nvSpPr>
          <p:cNvPr id="3" name="Footer Placeholder 2">
            <a:extLst>
              <a:ext uri="{FF2B5EF4-FFF2-40B4-BE49-F238E27FC236}">
                <a16:creationId xmlns:a16="http://schemas.microsoft.com/office/drawing/2014/main" id="{3E5FD253-FD63-80AA-CC7A-16369A5BB68C}"/>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4914583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15827-D76B-7DC6-8A36-A6234A1C22EF}"/>
              </a:ext>
            </a:extLst>
          </p:cNvPr>
          <p:cNvSpPr>
            <a:spLocks noGrp="1"/>
          </p:cNvSpPr>
          <p:nvPr>
            <p:ph type="title"/>
          </p:nvPr>
        </p:nvSpPr>
        <p:spPr/>
        <p:txBody>
          <a:bodyPr/>
          <a:lstStyle/>
          <a:p>
            <a:r>
              <a:rPr lang="en-US" dirty="0"/>
              <a:t>Belief Network | Bayesian Networks </a:t>
            </a:r>
          </a:p>
        </p:txBody>
      </p:sp>
      <p:sp>
        <p:nvSpPr>
          <p:cNvPr id="3" name="Content Placeholder 2">
            <a:extLst>
              <a:ext uri="{FF2B5EF4-FFF2-40B4-BE49-F238E27FC236}">
                <a16:creationId xmlns:a16="http://schemas.microsoft.com/office/drawing/2014/main" id="{742459C8-DC04-9D2A-FE6C-834F5E6B7B78}"/>
              </a:ext>
            </a:extLst>
          </p:cNvPr>
          <p:cNvSpPr>
            <a:spLocks noGrp="1"/>
          </p:cNvSpPr>
          <p:nvPr>
            <p:ph idx="1"/>
          </p:nvPr>
        </p:nvSpPr>
        <p:spPr/>
        <p:txBody>
          <a:bodyPr/>
          <a:lstStyle/>
          <a:p>
            <a:r>
              <a:rPr lang="en-US" dirty="0"/>
              <a:t>A graphical model representing probabilistic relationships among variables</a:t>
            </a:r>
          </a:p>
          <a:p>
            <a:r>
              <a:rPr lang="en-US" dirty="0"/>
              <a:t>It is used to model uncertainties and infer probabilities.</a:t>
            </a:r>
          </a:p>
          <a:p>
            <a:r>
              <a:rPr lang="en-US" dirty="0"/>
              <a:t>Key Components:</a:t>
            </a:r>
          </a:p>
          <a:p>
            <a:pPr lvl="1"/>
            <a:r>
              <a:rPr lang="en-US" dirty="0"/>
              <a:t>DAG, each node representing random variable</a:t>
            </a:r>
          </a:p>
          <a:p>
            <a:pPr lvl="1"/>
            <a:r>
              <a:rPr lang="en-US" dirty="0"/>
              <a:t>Edges , each representing dependencies, relation ship between variables</a:t>
            </a:r>
          </a:p>
          <a:p>
            <a:pPr lvl="1"/>
            <a:r>
              <a:rPr lang="en-US" dirty="0"/>
              <a:t>Conditional Probability distribution P(X | parent(X))</a:t>
            </a:r>
          </a:p>
          <a:p>
            <a:pPr marL="0" indent="0">
              <a:buNone/>
            </a:pPr>
            <a:r>
              <a:rPr lang="en-US" dirty="0"/>
              <a:t>Advantages:</a:t>
            </a:r>
          </a:p>
          <a:p>
            <a:r>
              <a:rPr lang="en-US" dirty="0"/>
              <a:t>Efficient inference and learning.</a:t>
            </a:r>
          </a:p>
          <a:p>
            <a:r>
              <a:rPr lang="en-US" dirty="0"/>
              <a:t>Models' complex relationships.</a:t>
            </a:r>
          </a:p>
          <a:p>
            <a:pPr marL="0" indent="0">
              <a:buNone/>
            </a:pPr>
            <a:endParaRPr lang="en-US" dirty="0"/>
          </a:p>
        </p:txBody>
      </p:sp>
      <p:sp>
        <p:nvSpPr>
          <p:cNvPr id="4" name="Footer Placeholder 3">
            <a:extLst>
              <a:ext uri="{FF2B5EF4-FFF2-40B4-BE49-F238E27FC236}">
                <a16:creationId xmlns:a16="http://schemas.microsoft.com/office/drawing/2014/main" id="{C1C3C6CC-7776-DF12-73EE-0ADDE26025D5}"/>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1031931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C289A-278B-2B85-247B-21F99A2FA47F}"/>
              </a:ext>
            </a:extLst>
          </p:cNvPr>
          <p:cNvSpPr>
            <a:spLocks noGrp="1"/>
          </p:cNvSpPr>
          <p:nvPr>
            <p:ph type="title"/>
          </p:nvPr>
        </p:nvSpPr>
        <p:spPr/>
        <p:txBody>
          <a:bodyPr/>
          <a:lstStyle/>
          <a:p>
            <a:r>
              <a:rPr lang="en-US" dirty="0"/>
              <a:t>Examples of Bayesian Network</a:t>
            </a:r>
          </a:p>
        </p:txBody>
      </p:sp>
      <p:sp>
        <p:nvSpPr>
          <p:cNvPr id="3" name="Content Placeholder 2">
            <a:extLst>
              <a:ext uri="{FF2B5EF4-FFF2-40B4-BE49-F238E27FC236}">
                <a16:creationId xmlns:a16="http://schemas.microsoft.com/office/drawing/2014/main" id="{A85FB007-CB8C-F9E2-723B-5CD863C4A70B}"/>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C633D877-8E83-4F22-6EBE-2E4AE2A86322}"/>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3438231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46E2C-5B24-F695-8A4B-AF060A77743C}"/>
              </a:ext>
            </a:extLst>
          </p:cNvPr>
          <p:cNvSpPr>
            <a:spLocks noGrp="1"/>
          </p:cNvSpPr>
          <p:nvPr>
            <p:ph type="title"/>
          </p:nvPr>
        </p:nvSpPr>
        <p:spPr/>
        <p:txBody>
          <a:bodyPr/>
          <a:lstStyle/>
          <a:p>
            <a:r>
              <a:rPr lang="en-US" dirty="0"/>
              <a:t>Probabilistic reasoning over time</a:t>
            </a:r>
          </a:p>
        </p:txBody>
      </p:sp>
      <p:sp>
        <p:nvSpPr>
          <p:cNvPr id="3" name="Content Placeholder 2">
            <a:extLst>
              <a:ext uri="{FF2B5EF4-FFF2-40B4-BE49-F238E27FC236}">
                <a16:creationId xmlns:a16="http://schemas.microsoft.com/office/drawing/2014/main" id="{0D337DE1-8E5C-DC06-DC89-D7BCF92F872F}"/>
              </a:ext>
            </a:extLst>
          </p:cNvPr>
          <p:cNvSpPr>
            <a:spLocks noGrp="1"/>
          </p:cNvSpPr>
          <p:nvPr>
            <p:ph idx="1"/>
          </p:nvPr>
        </p:nvSpPr>
        <p:spPr/>
        <p:txBody>
          <a:bodyPr>
            <a:normAutofit/>
          </a:bodyPr>
          <a:lstStyle/>
          <a:p>
            <a:r>
              <a:rPr lang="en-US" sz="2800" dirty="0"/>
              <a:t>Probabilistic reasoning deals with uncertainty in systems.</a:t>
            </a:r>
          </a:p>
          <a:p>
            <a:r>
              <a:rPr lang="en-US" sz="2800" dirty="0"/>
              <a:t>Reasoning over time involves understanding temporal dependencies.</a:t>
            </a:r>
          </a:p>
          <a:p>
            <a:r>
              <a:rPr lang="en-US" sz="2800" dirty="0"/>
              <a:t>Commonly applied in domains like speech recognition, tracking, and finance.</a:t>
            </a:r>
          </a:p>
          <a:p>
            <a:pPr marL="0" indent="0">
              <a:buNone/>
            </a:pPr>
            <a:endParaRPr lang="en-US" sz="2800" dirty="0"/>
          </a:p>
        </p:txBody>
      </p:sp>
      <p:sp>
        <p:nvSpPr>
          <p:cNvPr id="4" name="Footer Placeholder 3">
            <a:extLst>
              <a:ext uri="{FF2B5EF4-FFF2-40B4-BE49-F238E27FC236}">
                <a16:creationId xmlns:a16="http://schemas.microsoft.com/office/drawing/2014/main" id="{6B2D5DDE-C96C-E30E-95CC-34F744E89395}"/>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8591705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D84AD-6C56-CFB8-F935-218080BB6E17}"/>
              </a:ext>
            </a:extLst>
          </p:cNvPr>
          <p:cNvSpPr>
            <a:spLocks noGrp="1"/>
          </p:cNvSpPr>
          <p:nvPr>
            <p:ph type="title"/>
          </p:nvPr>
        </p:nvSpPr>
        <p:spPr/>
        <p:txBody>
          <a:bodyPr/>
          <a:lstStyle/>
          <a:p>
            <a:r>
              <a:rPr lang="en-US" dirty="0"/>
              <a:t>Key Concepts</a:t>
            </a:r>
          </a:p>
        </p:txBody>
      </p:sp>
      <p:sp>
        <p:nvSpPr>
          <p:cNvPr id="3" name="Content Placeholder 2">
            <a:extLst>
              <a:ext uri="{FF2B5EF4-FFF2-40B4-BE49-F238E27FC236}">
                <a16:creationId xmlns:a16="http://schemas.microsoft.com/office/drawing/2014/main" id="{F4D9EF3C-083C-C634-A82F-4FC827B14972}"/>
              </a:ext>
            </a:extLst>
          </p:cNvPr>
          <p:cNvSpPr>
            <a:spLocks noGrp="1"/>
          </p:cNvSpPr>
          <p:nvPr>
            <p:ph idx="1"/>
          </p:nvPr>
        </p:nvSpPr>
        <p:spPr/>
        <p:txBody>
          <a:bodyPr>
            <a:normAutofit/>
          </a:bodyPr>
          <a:lstStyle/>
          <a:p>
            <a:r>
              <a:rPr lang="en-US" sz="2400" dirty="0"/>
              <a:t> State: A representation of the system at a given time.</a:t>
            </a:r>
          </a:p>
          <a:p>
            <a:r>
              <a:rPr lang="en-US" sz="2400" dirty="0"/>
              <a:t> Observations: Evidence obtained from the system.</a:t>
            </a:r>
          </a:p>
          <a:p>
            <a:r>
              <a:rPr lang="en-US" sz="2400" dirty="0"/>
              <a:t> Transition Probabilities: Likelihood of moving from one state to another.</a:t>
            </a:r>
          </a:p>
          <a:p>
            <a:r>
              <a:rPr lang="en-US" sz="2400" dirty="0"/>
              <a:t> Emission Probabilities: Likelihood of observations given a state.</a:t>
            </a:r>
          </a:p>
        </p:txBody>
      </p:sp>
      <p:sp>
        <p:nvSpPr>
          <p:cNvPr id="4" name="Footer Placeholder 3">
            <a:extLst>
              <a:ext uri="{FF2B5EF4-FFF2-40B4-BE49-F238E27FC236}">
                <a16:creationId xmlns:a16="http://schemas.microsoft.com/office/drawing/2014/main" id="{9B0BE032-A84A-39E7-0E69-540DFD0104E0}"/>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1671119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69747-DA82-4BA7-7F7B-01CEF8836188}"/>
              </a:ext>
            </a:extLst>
          </p:cNvPr>
          <p:cNvSpPr>
            <a:spLocks noGrp="1"/>
          </p:cNvSpPr>
          <p:nvPr>
            <p:ph type="title"/>
          </p:nvPr>
        </p:nvSpPr>
        <p:spPr/>
        <p:txBody>
          <a:bodyPr/>
          <a:lstStyle/>
          <a:p>
            <a:r>
              <a:rPr lang="en-US" dirty="0"/>
              <a:t>Markov chain</a:t>
            </a:r>
          </a:p>
        </p:txBody>
      </p:sp>
      <p:sp>
        <p:nvSpPr>
          <p:cNvPr id="3" name="Content Placeholder 2">
            <a:extLst>
              <a:ext uri="{FF2B5EF4-FFF2-40B4-BE49-F238E27FC236}">
                <a16:creationId xmlns:a16="http://schemas.microsoft.com/office/drawing/2014/main" id="{9FE17F85-CE21-DBD8-1B7E-707DAE764657}"/>
              </a:ext>
            </a:extLst>
          </p:cNvPr>
          <p:cNvSpPr>
            <a:spLocks noGrp="1"/>
          </p:cNvSpPr>
          <p:nvPr>
            <p:ph idx="1"/>
          </p:nvPr>
        </p:nvSpPr>
        <p:spPr/>
        <p:txBody>
          <a:bodyPr>
            <a:normAutofit lnSpcReduction="10000"/>
          </a:bodyPr>
          <a:lstStyle/>
          <a:p>
            <a:r>
              <a:rPr lang="en-US" sz="2800" dirty="0"/>
              <a:t>Stochastic model used to model randomly changing systems</a:t>
            </a:r>
          </a:p>
          <a:p>
            <a:r>
              <a:rPr lang="en-US" sz="2800" dirty="0"/>
              <a:t>System state is fully observable</a:t>
            </a:r>
          </a:p>
          <a:p>
            <a:r>
              <a:rPr lang="en-US" sz="2800" dirty="0"/>
              <a:t>Future state depends on present state not on past events</a:t>
            </a:r>
          </a:p>
          <a:p>
            <a:r>
              <a:rPr lang="en-US" sz="2800" dirty="0"/>
              <a:t>Examples:</a:t>
            </a:r>
          </a:p>
          <a:p>
            <a:pPr marL="0" indent="0">
              <a:buNone/>
            </a:pPr>
            <a:r>
              <a:rPr lang="en-US" sz="2800" dirty="0"/>
              <a:t>	Snake ladder game</a:t>
            </a:r>
          </a:p>
          <a:p>
            <a:pPr marL="0" indent="0">
              <a:buNone/>
            </a:pPr>
            <a:r>
              <a:rPr lang="en-US" sz="2800" dirty="0"/>
              <a:t>	Weather system</a:t>
            </a:r>
          </a:p>
        </p:txBody>
      </p:sp>
      <p:sp>
        <p:nvSpPr>
          <p:cNvPr id="4" name="Footer Placeholder 3">
            <a:extLst>
              <a:ext uri="{FF2B5EF4-FFF2-40B4-BE49-F238E27FC236}">
                <a16:creationId xmlns:a16="http://schemas.microsoft.com/office/drawing/2014/main" id="{BE9D4C2C-2611-41DA-16EA-90CE29CFA95F}"/>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3444196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1D13B-3218-0E54-93BD-170762DFC304}"/>
              </a:ext>
            </a:extLst>
          </p:cNvPr>
          <p:cNvSpPr>
            <a:spLocks noGrp="1"/>
          </p:cNvSpPr>
          <p:nvPr>
            <p:ph type="title"/>
          </p:nvPr>
        </p:nvSpPr>
        <p:spPr/>
        <p:txBody>
          <a:bodyPr/>
          <a:lstStyle/>
          <a:p>
            <a:r>
              <a:rPr lang="en-US" dirty="0"/>
              <a:t>Example</a:t>
            </a:r>
          </a:p>
        </p:txBody>
      </p:sp>
      <p:pic>
        <p:nvPicPr>
          <p:cNvPr id="5" name="Content Placeholder 4">
            <a:extLst>
              <a:ext uri="{FF2B5EF4-FFF2-40B4-BE49-F238E27FC236}">
                <a16:creationId xmlns:a16="http://schemas.microsoft.com/office/drawing/2014/main" id="{0B650072-C5B7-B632-ED6D-6B24489E47B4}"/>
              </a:ext>
            </a:extLst>
          </p:cNvPr>
          <p:cNvPicPr>
            <a:picLocks noGrp="1" noChangeAspect="1"/>
          </p:cNvPicPr>
          <p:nvPr>
            <p:ph idx="1"/>
          </p:nvPr>
        </p:nvPicPr>
        <p:blipFill>
          <a:blip r:embed="rId2"/>
          <a:stretch>
            <a:fillRect/>
          </a:stretch>
        </p:blipFill>
        <p:spPr>
          <a:xfrm>
            <a:off x="1821647" y="2215663"/>
            <a:ext cx="5924639" cy="4032738"/>
          </a:xfrm>
        </p:spPr>
      </p:pic>
      <p:sp>
        <p:nvSpPr>
          <p:cNvPr id="3" name="Footer Placeholder 2">
            <a:extLst>
              <a:ext uri="{FF2B5EF4-FFF2-40B4-BE49-F238E27FC236}">
                <a16:creationId xmlns:a16="http://schemas.microsoft.com/office/drawing/2014/main" id="{C126B962-2B38-DB50-E133-5C59BD8BD5C3}"/>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42232705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8B3B1-41C9-029D-B0F0-C359AE41148B}"/>
              </a:ext>
            </a:extLst>
          </p:cNvPr>
          <p:cNvSpPr>
            <a:spLocks noGrp="1"/>
          </p:cNvSpPr>
          <p:nvPr>
            <p:ph type="title"/>
          </p:nvPr>
        </p:nvSpPr>
        <p:spPr/>
        <p:txBody>
          <a:bodyPr/>
          <a:lstStyle/>
          <a:p>
            <a:r>
              <a:rPr lang="en-US" dirty="0"/>
              <a:t>Example</a:t>
            </a:r>
          </a:p>
        </p:txBody>
      </p:sp>
      <p:pic>
        <p:nvPicPr>
          <p:cNvPr id="5" name="Content Placeholder 4">
            <a:extLst>
              <a:ext uri="{FF2B5EF4-FFF2-40B4-BE49-F238E27FC236}">
                <a16:creationId xmlns:a16="http://schemas.microsoft.com/office/drawing/2014/main" id="{97B15A3B-CD1A-9196-501D-55D2F9927D39}"/>
              </a:ext>
            </a:extLst>
          </p:cNvPr>
          <p:cNvPicPr>
            <a:picLocks noGrp="1" noChangeAspect="1"/>
          </p:cNvPicPr>
          <p:nvPr>
            <p:ph idx="1"/>
          </p:nvPr>
        </p:nvPicPr>
        <p:blipFill>
          <a:blip r:embed="rId2"/>
          <a:stretch>
            <a:fillRect/>
          </a:stretch>
        </p:blipFill>
        <p:spPr>
          <a:xfrm>
            <a:off x="1519077" y="1930400"/>
            <a:ext cx="6188062" cy="3804675"/>
          </a:xfrm>
        </p:spPr>
      </p:pic>
      <p:sp>
        <p:nvSpPr>
          <p:cNvPr id="3" name="Footer Placeholder 2">
            <a:extLst>
              <a:ext uri="{FF2B5EF4-FFF2-40B4-BE49-F238E27FC236}">
                <a16:creationId xmlns:a16="http://schemas.microsoft.com/office/drawing/2014/main" id="{C8C6A409-7E36-C7B8-4262-D3BA2E9A3695}"/>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7808384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D345B-AA20-BC37-5DDF-BD1DB8E8DF92}"/>
              </a:ext>
            </a:extLst>
          </p:cNvPr>
          <p:cNvSpPr>
            <a:spLocks noGrp="1"/>
          </p:cNvSpPr>
          <p:nvPr>
            <p:ph type="title"/>
          </p:nvPr>
        </p:nvSpPr>
        <p:spPr/>
        <p:txBody>
          <a:bodyPr/>
          <a:lstStyle/>
          <a:p>
            <a:r>
              <a:rPr lang="en-US" dirty="0"/>
              <a:t>Hidden Markov Models (HMMs)</a:t>
            </a:r>
          </a:p>
        </p:txBody>
      </p:sp>
      <p:sp>
        <p:nvSpPr>
          <p:cNvPr id="3" name="Content Placeholder 2">
            <a:extLst>
              <a:ext uri="{FF2B5EF4-FFF2-40B4-BE49-F238E27FC236}">
                <a16:creationId xmlns:a16="http://schemas.microsoft.com/office/drawing/2014/main" id="{640BBBCC-AC46-1922-9EEF-53E5A4DD1434}"/>
              </a:ext>
            </a:extLst>
          </p:cNvPr>
          <p:cNvSpPr>
            <a:spLocks noGrp="1"/>
          </p:cNvSpPr>
          <p:nvPr>
            <p:ph idx="1"/>
          </p:nvPr>
        </p:nvSpPr>
        <p:spPr>
          <a:xfrm>
            <a:off x="677334" y="2160589"/>
            <a:ext cx="8596668" cy="4345719"/>
          </a:xfrm>
        </p:spPr>
        <p:txBody>
          <a:bodyPr>
            <a:normAutofit/>
          </a:bodyPr>
          <a:lstStyle/>
          <a:p>
            <a:r>
              <a:rPr lang="en-US" sz="2400" dirty="0"/>
              <a:t> HMMs are statistical models used to describe sequences of observations.</a:t>
            </a:r>
          </a:p>
          <a:p>
            <a:r>
              <a:rPr lang="en-US" sz="2400" dirty="0"/>
              <a:t> Key components:</a:t>
            </a:r>
          </a:p>
          <a:p>
            <a:r>
              <a:rPr lang="en-US" sz="2400" dirty="0"/>
              <a:t>• States: Hidden variables</a:t>
            </a:r>
          </a:p>
          <a:p>
            <a:r>
              <a:rPr lang="en-US" sz="2400" dirty="0"/>
              <a:t>• Observations: Visible variables</a:t>
            </a:r>
          </a:p>
          <a:p>
            <a:r>
              <a:rPr lang="en-US" sz="2400" dirty="0"/>
              <a:t>• Transition and Emission Probabilities</a:t>
            </a:r>
          </a:p>
          <a:p>
            <a:r>
              <a:rPr lang="en-US" sz="2400" dirty="0"/>
              <a:t> Algorithms:</a:t>
            </a:r>
          </a:p>
          <a:p>
            <a:r>
              <a:rPr lang="en-US" sz="2400" dirty="0"/>
              <a:t>• Forward Backward: Compute probabilities</a:t>
            </a:r>
          </a:p>
          <a:p>
            <a:r>
              <a:rPr lang="en-US" sz="2400" dirty="0"/>
              <a:t>• Viterbi: Most likely sequence of states</a:t>
            </a:r>
          </a:p>
          <a:p>
            <a:endParaRPr lang="en-US" sz="2400" dirty="0"/>
          </a:p>
        </p:txBody>
      </p:sp>
      <p:sp>
        <p:nvSpPr>
          <p:cNvPr id="4" name="Footer Placeholder 3">
            <a:extLst>
              <a:ext uri="{FF2B5EF4-FFF2-40B4-BE49-F238E27FC236}">
                <a16:creationId xmlns:a16="http://schemas.microsoft.com/office/drawing/2014/main" id="{38BB6374-D50D-5009-7F5B-89E0C88F1EE5}"/>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3742468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76554-6EEF-A2F4-1BB9-FE703B26F9D1}"/>
              </a:ext>
            </a:extLst>
          </p:cNvPr>
          <p:cNvSpPr>
            <a:spLocks noGrp="1"/>
          </p:cNvSpPr>
          <p:nvPr>
            <p:ph type="title"/>
          </p:nvPr>
        </p:nvSpPr>
        <p:spPr/>
        <p:txBody>
          <a:bodyPr/>
          <a:lstStyle/>
          <a:p>
            <a:r>
              <a:rPr lang="en-US" dirty="0"/>
              <a:t>Semantic Networks</a:t>
            </a:r>
          </a:p>
        </p:txBody>
      </p:sp>
      <p:sp>
        <p:nvSpPr>
          <p:cNvPr id="3" name="Content Placeholder 2">
            <a:extLst>
              <a:ext uri="{FF2B5EF4-FFF2-40B4-BE49-F238E27FC236}">
                <a16:creationId xmlns:a16="http://schemas.microsoft.com/office/drawing/2014/main" id="{F7908307-FA86-F45F-BD9B-AD2CE11048F8}"/>
              </a:ext>
            </a:extLst>
          </p:cNvPr>
          <p:cNvSpPr>
            <a:spLocks noGrp="1"/>
          </p:cNvSpPr>
          <p:nvPr>
            <p:ph idx="1"/>
          </p:nvPr>
        </p:nvSpPr>
        <p:spPr/>
        <p:txBody>
          <a:bodyPr>
            <a:normAutofit/>
          </a:bodyPr>
          <a:lstStyle/>
          <a:p>
            <a:pPr marL="0" indent="0">
              <a:buNone/>
            </a:pPr>
            <a:r>
              <a:rPr lang="en-US" dirty="0"/>
              <a:t>A graphical representation of knowledge using nodes and links.</a:t>
            </a:r>
          </a:p>
          <a:p>
            <a:pPr marL="0" indent="0">
              <a:buNone/>
            </a:pPr>
            <a:r>
              <a:rPr lang="en-US" dirty="0"/>
              <a:t>Components:</a:t>
            </a:r>
          </a:p>
          <a:p>
            <a:r>
              <a:rPr lang="en-US" dirty="0"/>
              <a:t>Nodes: Represent objects or concepts.</a:t>
            </a:r>
          </a:p>
          <a:p>
            <a:r>
              <a:rPr lang="en-US" dirty="0"/>
              <a:t>Links: Represent relationships.</a:t>
            </a:r>
          </a:p>
          <a:p>
            <a:pPr marL="0" indent="0">
              <a:buNone/>
            </a:pPr>
            <a:r>
              <a:rPr lang="en-US" dirty="0"/>
              <a:t>Example:</a:t>
            </a:r>
          </a:p>
          <a:p>
            <a:r>
              <a:rPr lang="en-US" dirty="0"/>
              <a:t>'Dog' → (is-a) → 'Animal'</a:t>
            </a:r>
          </a:p>
          <a:p>
            <a:r>
              <a:rPr lang="en-US" dirty="0"/>
              <a:t>'Dog' → (action) → 'Barks'</a:t>
            </a:r>
          </a:p>
          <a:p>
            <a:pPr marL="0" indent="0">
              <a:buNone/>
            </a:pPr>
            <a:r>
              <a:rPr lang="en-US" dirty="0"/>
              <a:t>Advantages:</a:t>
            </a:r>
          </a:p>
          <a:p>
            <a:r>
              <a:rPr lang="en-US" dirty="0"/>
              <a:t>Intuitive and easy to visualize.</a:t>
            </a:r>
          </a:p>
        </p:txBody>
      </p:sp>
      <p:sp>
        <p:nvSpPr>
          <p:cNvPr id="4" name="Footer Placeholder 3">
            <a:extLst>
              <a:ext uri="{FF2B5EF4-FFF2-40B4-BE49-F238E27FC236}">
                <a16:creationId xmlns:a16="http://schemas.microsoft.com/office/drawing/2014/main" id="{CCFD5A62-C34F-FB18-099F-A22A8DCFD793}"/>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6758096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88355-E49D-AA82-335D-E06790C206CB}"/>
              </a:ext>
            </a:extLst>
          </p:cNvPr>
          <p:cNvSpPr>
            <a:spLocks noGrp="1"/>
          </p:cNvSpPr>
          <p:nvPr>
            <p:ph type="title"/>
          </p:nvPr>
        </p:nvSpPr>
        <p:spPr/>
        <p:txBody>
          <a:bodyPr/>
          <a:lstStyle/>
          <a:p>
            <a:r>
              <a:rPr lang="en-US" dirty="0"/>
              <a:t>Example</a:t>
            </a:r>
          </a:p>
        </p:txBody>
      </p:sp>
      <p:pic>
        <p:nvPicPr>
          <p:cNvPr id="5" name="Content Placeholder 4">
            <a:extLst>
              <a:ext uri="{FF2B5EF4-FFF2-40B4-BE49-F238E27FC236}">
                <a16:creationId xmlns:a16="http://schemas.microsoft.com/office/drawing/2014/main" id="{341657A1-A7C6-22F3-42D0-E5660C4524A5}"/>
              </a:ext>
            </a:extLst>
          </p:cNvPr>
          <p:cNvPicPr>
            <a:picLocks noGrp="1" noChangeAspect="1"/>
          </p:cNvPicPr>
          <p:nvPr>
            <p:ph idx="1"/>
          </p:nvPr>
        </p:nvPicPr>
        <p:blipFill>
          <a:blip r:embed="rId2"/>
          <a:stretch>
            <a:fillRect/>
          </a:stretch>
        </p:blipFill>
        <p:spPr>
          <a:xfrm>
            <a:off x="1034702" y="1377452"/>
            <a:ext cx="8596312" cy="3717687"/>
          </a:xfrm>
        </p:spPr>
      </p:pic>
      <p:sp>
        <p:nvSpPr>
          <p:cNvPr id="6" name="TextBox 5">
            <a:extLst>
              <a:ext uri="{FF2B5EF4-FFF2-40B4-BE49-F238E27FC236}">
                <a16:creationId xmlns:a16="http://schemas.microsoft.com/office/drawing/2014/main" id="{29B8FD08-7F8C-F7A2-24A3-309BE8D64E1C}"/>
              </a:ext>
            </a:extLst>
          </p:cNvPr>
          <p:cNvSpPr txBox="1"/>
          <p:nvPr/>
        </p:nvSpPr>
        <p:spPr>
          <a:xfrm>
            <a:off x="1239864" y="5052447"/>
            <a:ext cx="7578672" cy="1477328"/>
          </a:xfrm>
          <a:prstGeom prst="rect">
            <a:avLst/>
          </a:prstGeom>
          <a:noFill/>
        </p:spPr>
        <p:txBody>
          <a:bodyPr wrap="square" rtlCol="0">
            <a:spAutoFit/>
          </a:bodyPr>
          <a:lstStyle/>
          <a:p>
            <a:r>
              <a:rPr lang="en-US" dirty="0"/>
              <a:t>Information that can be possible:</a:t>
            </a:r>
          </a:p>
          <a:p>
            <a:r>
              <a:rPr lang="en-US" dirty="0"/>
              <a:t>1. A Scooter is a two-wheeler and is a moving vehicle</a:t>
            </a:r>
          </a:p>
          <a:p>
            <a:r>
              <a:rPr lang="en-US" dirty="0"/>
              <a:t>2. A moving vehicle needs an engine (could be petrol or diesel), a fuel engine to sustain the engine running, an electrical system for lights, horns, initial ignition and brakes.</a:t>
            </a:r>
          </a:p>
        </p:txBody>
      </p:sp>
      <p:sp>
        <p:nvSpPr>
          <p:cNvPr id="3" name="Footer Placeholder 2">
            <a:extLst>
              <a:ext uri="{FF2B5EF4-FFF2-40B4-BE49-F238E27FC236}">
                <a16:creationId xmlns:a16="http://schemas.microsoft.com/office/drawing/2014/main" id="{800176B4-112E-D025-6ED3-4BEDAB73D3FD}"/>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8943981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E13AB-2F5C-8B1E-B409-AE24088B8025}"/>
              </a:ext>
            </a:extLst>
          </p:cNvPr>
          <p:cNvSpPr>
            <a:spLocks noGrp="1"/>
          </p:cNvSpPr>
          <p:nvPr>
            <p:ph type="title"/>
          </p:nvPr>
        </p:nvSpPr>
        <p:spPr/>
        <p:txBody>
          <a:bodyPr/>
          <a:lstStyle/>
          <a:p>
            <a:r>
              <a:rPr lang="en-US" dirty="0"/>
              <a:t>Frames</a:t>
            </a:r>
          </a:p>
        </p:txBody>
      </p:sp>
      <p:sp>
        <p:nvSpPr>
          <p:cNvPr id="3" name="Content Placeholder 2">
            <a:extLst>
              <a:ext uri="{FF2B5EF4-FFF2-40B4-BE49-F238E27FC236}">
                <a16:creationId xmlns:a16="http://schemas.microsoft.com/office/drawing/2014/main" id="{6AA313EA-4B5E-E5E0-5696-CF712A951140}"/>
              </a:ext>
            </a:extLst>
          </p:cNvPr>
          <p:cNvSpPr>
            <a:spLocks noGrp="1"/>
          </p:cNvSpPr>
          <p:nvPr>
            <p:ph idx="1"/>
          </p:nvPr>
        </p:nvSpPr>
        <p:spPr/>
        <p:txBody>
          <a:bodyPr>
            <a:normAutofit lnSpcReduction="10000"/>
          </a:bodyPr>
          <a:lstStyle/>
          <a:p>
            <a:pPr marL="0" indent="0">
              <a:buNone/>
            </a:pPr>
            <a:r>
              <a:rPr lang="en-US" dirty="0"/>
              <a:t>Structured knowledge representation using attributes (slots) and values.</a:t>
            </a:r>
          </a:p>
          <a:p>
            <a:pPr marL="0" indent="0">
              <a:buNone/>
            </a:pPr>
            <a:r>
              <a:rPr lang="en-US" dirty="0"/>
              <a:t>Components:</a:t>
            </a:r>
          </a:p>
          <a:p>
            <a:r>
              <a:rPr lang="en-US" dirty="0"/>
              <a:t>Slots (Packets): Attributes of the concept.</a:t>
            </a:r>
          </a:p>
          <a:p>
            <a:r>
              <a:rPr lang="en-US" dirty="0"/>
              <a:t>Values: Information for each attribute.</a:t>
            </a:r>
          </a:p>
          <a:p>
            <a:pPr marL="0" indent="0">
              <a:buNone/>
            </a:pPr>
            <a:r>
              <a:rPr lang="en-US" dirty="0"/>
              <a:t>Example:</a:t>
            </a:r>
          </a:p>
          <a:p>
            <a:r>
              <a:rPr lang="en-US" dirty="0"/>
              <a:t>Frame: 'Hotel'</a:t>
            </a:r>
          </a:p>
          <a:p>
            <a:r>
              <a:rPr lang="en-US" dirty="0"/>
              <a:t>Slots: Rooms, Price, Location</a:t>
            </a:r>
          </a:p>
          <a:p>
            <a:r>
              <a:rPr lang="en-US" dirty="0"/>
              <a:t>Values: 100 rooms, $200/night, Downtown</a:t>
            </a:r>
          </a:p>
          <a:p>
            <a:pPr marL="0" indent="0">
              <a:buNone/>
            </a:pPr>
            <a:r>
              <a:rPr lang="en-US" dirty="0"/>
              <a:t>Advantages:</a:t>
            </a:r>
          </a:p>
          <a:p>
            <a:r>
              <a:rPr lang="en-US" dirty="0"/>
              <a:t>Good for capturing stereotypical knowledge.</a:t>
            </a:r>
          </a:p>
          <a:p>
            <a:endParaRPr lang="en-US" dirty="0"/>
          </a:p>
        </p:txBody>
      </p:sp>
      <p:sp>
        <p:nvSpPr>
          <p:cNvPr id="4" name="Footer Placeholder 3">
            <a:extLst>
              <a:ext uri="{FF2B5EF4-FFF2-40B4-BE49-F238E27FC236}">
                <a16:creationId xmlns:a16="http://schemas.microsoft.com/office/drawing/2014/main" id="{9A06C264-C909-F277-B3E8-D24403CB8746}"/>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659515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12D1A-DC33-DF11-A531-9688BA176EBA}"/>
              </a:ext>
            </a:extLst>
          </p:cNvPr>
          <p:cNvSpPr>
            <a:spLocks noGrp="1"/>
          </p:cNvSpPr>
          <p:nvPr>
            <p:ph type="title"/>
          </p:nvPr>
        </p:nvSpPr>
        <p:spPr/>
        <p:txBody>
          <a:bodyPr/>
          <a:lstStyle/>
          <a:p>
            <a:r>
              <a:rPr lang="en-US" dirty="0"/>
              <a:t>Example</a:t>
            </a:r>
          </a:p>
        </p:txBody>
      </p:sp>
      <p:pic>
        <p:nvPicPr>
          <p:cNvPr id="5" name="Content Placeholder 4">
            <a:extLst>
              <a:ext uri="{FF2B5EF4-FFF2-40B4-BE49-F238E27FC236}">
                <a16:creationId xmlns:a16="http://schemas.microsoft.com/office/drawing/2014/main" id="{6D021510-476F-E204-1C68-EBBAF87FDEF0}"/>
              </a:ext>
            </a:extLst>
          </p:cNvPr>
          <p:cNvPicPr>
            <a:picLocks noGrp="1" noChangeAspect="1"/>
          </p:cNvPicPr>
          <p:nvPr>
            <p:ph idx="1"/>
          </p:nvPr>
        </p:nvPicPr>
        <p:blipFill>
          <a:blip r:embed="rId2"/>
          <a:stretch>
            <a:fillRect/>
          </a:stretch>
        </p:blipFill>
        <p:spPr>
          <a:xfrm>
            <a:off x="1493839" y="1930400"/>
            <a:ext cx="7780163" cy="4355630"/>
          </a:xfrm>
        </p:spPr>
      </p:pic>
      <p:sp>
        <p:nvSpPr>
          <p:cNvPr id="3" name="Footer Placeholder 2">
            <a:extLst>
              <a:ext uri="{FF2B5EF4-FFF2-40B4-BE49-F238E27FC236}">
                <a16:creationId xmlns:a16="http://schemas.microsoft.com/office/drawing/2014/main" id="{26B53C55-48C1-63D3-94B1-600E6C669F90}"/>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41062458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13131-E886-BF48-21B5-ABF0FABFA47C}"/>
              </a:ext>
            </a:extLst>
          </p:cNvPr>
          <p:cNvSpPr>
            <a:spLocks noGrp="1"/>
          </p:cNvSpPr>
          <p:nvPr>
            <p:ph type="title"/>
          </p:nvPr>
        </p:nvSpPr>
        <p:spPr/>
        <p:txBody>
          <a:bodyPr/>
          <a:lstStyle/>
          <a:p>
            <a:r>
              <a:rPr lang="en-US" dirty="0"/>
              <a:t>Linking of sub frames</a:t>
            </a:r>
          </a:p>
        </p:txBody>
      </p:sp>
      <p:pic>
        <p:nvPicPr>
          <p:cNvPr id="5" name="Content Placeholder 4">
            <a:extLst>
              <a:ext uri="{FF2B5EF4-FFF2-40B4-BE49-F238E27FC236}">
                <a16:creationId xmlns:a16="http://schemas.microsoft.com/office/drawing/2014/main" id="{706C2889-3662-2341-EC48-41026870DF88}"/>
              </a:ext>
            </a:extLst>
          </p:cNvPr>
          <p:cNvPicPr>
            <a:picLocks noGrp="1" noChangeAspect="1"/>
          </p:cNvPicPr>
          <p:nvPr>
            <p:ph idx="1"/>
          </p:nvPr>
        </p:nvPicPr>
        <p:blipFill>
          <a:blip r:embed="rId2"/>
          <a:stretch>
            <a:fillRect/>
          </a:stretch>
        </p:blipFill>
        <p:spPr>
          <a:xfrm>
            <a:off x="1128472" y="1693812"/>
            <a:ext cx="7837108" cy="4729290"/>
          </a:xfrm>
        </p:spPr>
      </p:pic>
      <p:sp>
        <p:nvSpPr>
          <p:cNvPr id="3" name="Footer Placeholder 2">
            <a:extLst>
              <a:ext uri="{FF2B5EF4-FFF2-40B4-BE49-F238E27FC236}">
                <a16:creationId xmlns:a16="http://schemas.microsoft.com/office/drawing/2014/main" id="{DF2DF218-3CF1-F19E-4378-156703963CE2}"/>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41100496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B985C-78BE-AEC8-F911-C6B8D2A5F3B1}"/>
              </a:ext>
            </a:extLst>
          </p:cNvPr>
          <p:cNvSpPr>
            <a:spLocks noGrp="1"/>
          </p:cNvSpPr>
          <p:nvPr>
            <p:ph type="title"/>
          </p:nvPr>
        </p:nvSpPr>
        <p:spPr/>
        <p:txBody>
          <a:bodyPr/>
          <a:lstStyle/>
          <a:p>
            <a:r>
              <a:rPr lang="en-US" dirty="0"/>
              <a:t>Rule based Representation</a:t>
            </a:r>
          </a:p>
        </p:txBody>
      </p:sp>
      <p:sp>
        <p:nvSpPr>
          <p:cNvPr id="3" name="Content Placeholder 2">
            <a:extLst>
              <a:ext uri="{FF2B5EF4-FFF2-40B4-BE49-F238E27FC236}">
                <a16:creationId xmlns:a16="http://schemas.microsoft.com/office/drawing/2014/main" id="{968C7742-6E2C-2B1F-98C1-3A005C508636}"/>
              </a:ext>
            </a:extLst>
          </p:cNvPr>
          <p:cNvSpPr>
            <a:spLocks noGrp="1"/>
          </p:cNvSpPr>
          <p:nvPr>
            <p:ph idx="1"/>
          </p:nvPr>
        </p:nvSpPr>
        <p:spPr/>
        <p:txBody>
          <a:bodyPr>
            <a:normAutofit/>
          </a:bodyPr>
          <a:lstStyle/>
          <a:p>
            <a:pPr marL="0" indent="0">
              <a:buNone/>
            </a:pPr>
            <a:r>
              <a:rPr lang="en-US" dirty="0"/>
              <a:t>Knowledge is represented as a set of if-then rules. This belongs to PL and FOPL.</a:t>
            </a:r>
          </a:p>
          <a:p>
            <a:pPr marL="0" indent="0">
              <a:buNone/>
            </a:pPr>
            <a:r>
              <a:rPr lang="en-US" dirty="0"/>
              <a:t>Structure:</a:t>
            </a:r>
          </a:p>
          <a:p>
            <a:r>
              <a:rPr lang="en-US" dirty="0"/>
              <a:t>IF condition THEN action/conclusion.</a:t>
            </a:r>
          </a:p>
          <a:p>
            <a:endParaRPr lang="en-US" dirty="0"/>
          </a:p>
          <a:p>
            <a:pPr marL="0" indent="0">
              <a:buNone/>
            </a:pPr>
            <a:r>
              <a:rPr lang="en-US" dirty="0"/>
              <a:t>Example:</a:t>
            </a:r>
          </a:p>
          <a:p>
            <a:r>
              <a:rPr lang="en-US" dirty="0"/>
              <a:t>Rule: If it is raining, then carry an umbrella.</a:t>
            </a:r>
          </a:p>
          <a:p>
            <a:endParaRPr lang="en-US" dirty="0"/>
          </a:p>
          <a:p>
            <a:pPr marL="0" indent="0">
              <a:buNone/>
            </a:pPr>
            <a:r>
              <a:rPr lang="en-US" dirty="0"/>
              <a:t>Advantages:</a:t>
            </a:r>
          </a:p>
          <a:p>
            <a:r>
              <a:rPr lang="en-US" dirty="0"/>
              <a:t>Easy to implement and widely used in expert systems.</a:t>
            </a:r>
          </a:p>
          <a:p>
            <a:endParaRPr lang="en-US" dirty="0"/>
          </a:p>
        </p:txBody>
      </p:sp>
      <p:sp>
        <p:nvSpPr>
          <p:cNvPr id="4" name="Footer Placeholder 3">
            <a:extLst>
              <a:ext uri="{FF2B5EF4-FFF2-40B4-BE49-F238E27FC236}">
                <a16:creationId xmlns:a16="http://schemas.microsoft.com/office/drawing/2014/main" id="{336296F4-FE51-8E31-A37F-0E7ABD166C50}"/>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8930465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63325-D011-4A90-D994-2221ABA3DEF0}"/>
              </a:ext>
            </a:extLst>
          </p:cNvPr>
          <p:cNvSpPr>
            <a:spLocks noGrp="1"/>
          </p:cNvSpPr>
          <p:nvPr>
            <p:ph type="title"/>
          </p:nvPr>
        </p:nvSpPr>
        <p:spPr/>
        <p:txBody>
          <a:bodyPr/>
          <a:lstStyle/>
          <a:p>
            <a:r>
              <a:rPr lang="en-US" dirty="0"/>
              <a:t>Ontological Representation</a:t>
            </a:r>
          </a:p>
        </p:txBody>
      </p:sp>
      <p:sp>
        <p:nvSpPr>
          <p:cNvPr id="3" name="Content Placeholder 2">
            <a:extLst>
              <a:ext uri="{FF2B5EF4-FFF2-40B4-BE49-F238E27FC236}">
                <a16:creationId xmlns:a16="http://schemas.microsoft.com/office/drawing/2014/main" id="{193F8317-B023-673F-A394-ACCADBEE0154}"/>
              </a:ext>
            </a:extLst>
          </p:cNvPr>
          <p:cNvSpPr>
            <a:spLocks noGrp="1"/>
          </p:cNvSpPr>
          <p:nvPr>
            <p:ph idx="1"/>
          </p:nvPr>
        </p:nvSpPr>
        <p:spPr>
          <a:xfrm>
            <a:off x="677334" y="2160589"/>
            <a:ext cx="8596668" cy="4396328"/>
          </a:xfrm>
        </p:spPr>
        <p:txBody>
          <a:bodyPr>
            <a:normAutofit fontScale="92500" lnSpcReduction="10000"/>
          </a:bodyPr>
          <a:lstStyle/>
          <a:p>
            <a:pPr marL="0" indent="0">
              <a:buNone/>
            </a:pPr>
            <a:r>
              <a:rPr lang="en-US" dirty="0"/>
              <a:t>A formal Representation of a domain’s concepts, categories and relationships.</a:t>
            </a:r>
          </a:p>
          <a:p>
            <a:r>
              <a:rPr lang="en-US" dirty="0"/>
              <a:t>It provides a structured framework to understand and share knowledge.</a:t>
            </a:r>
          </a:p>
          <a:p>
            <a:pPr marL="0" indent="0">
              <a:buNone/>
            </a:pPr>
            <a:r>
              <a:rPr lang="en-US" dirty="0"/>
              <a:t>Purpose:</a:t>
            </a:r>
          </a:p>
          <a:p>
            <a:pPr marL="0" indent="0">
              <a:buNone/>
            </a:pPr>
            <a:r>
              <a:rPr lang="en-US" dirty="0"/>
              <a:t>	To define a common vocabulary for information sharing.</a:t>
            </a:r>
          </a:p>
          <a:p>
            <a:pPr marL="0" indent="0">
              <a:buNone/>
            </a:pPr>
            <a:r>
              <a:rPr lang="en-US" dirty="0"/>
              <a:t>	To enable reasoning about entities within a domain.</a:t>
            </a:r>
          </a:p>
          <a:p>
            <a:pPr marL="0" indent="0">
              <a:buNone/>
            </a:pPr>
            <a:r>
              <a:rPr lang="en-US" dirty="0"/>
              <a:t>Components</a:t>
            </a:r>
          </a:p>
          <a:p>
            <a:r>
              <a:rPr lang="en-US" dirty="0"/>
              <a:t>Objects: Abstract representations of objects or ideas (e.g., 'Person,' 'Vehicle').</a:t>
            </a:r>
          </a:p>
          <a:p>
            <a:r>
              <a:rPr lang="en-US" dirty="0"/>
              <a:t>Relationships :Define how concepts are interconnected (e.g., 'is-a,' 'part-of').</a:t>
            </a:r>
          </a:p>
          <a:p>
            <a:r>
              <a:rPr lang="en-US" dirty="0"/>
              <a:t>Properties: Attributes or characteristics of concepts (e.g., 'age,' 'color’).</a:t>
            </a:r>
          </a:p>
          <a:p>
            <a:r>
              <a:rPr lang="en-US" dirty="0"/>
              <a:t>Categories: Group of Objects.</a:t>
            </a:r>
          </a:p>
          <a:p>
            <a:r>
              <a:rPr lang="en-US" dirty="0"/>
              <a:t>Axioms: Logical assertions about concepts and relationships (e.g., 'Every person has a name').</a:t>
            </a:r>
          </a:p>
          <a:p>
            <a:endParaRPr lang="en-US" dirty="0"/>
          </a:p>
        </p:txBody>
      </p:sp>
      <p:sp>
        <p:nvSpPr>
          <p:cNvPr id="4" name="Footer Placeholder 3">
            <a:extLst>
              <a:ext uri="{FF2B5EF4-FFF2-40B4-BE49-F238E27FC236}">
                <a16:creationId xmlns:a16="http://schemas.microsoft.com/office/drawing/2014/main" id="{AF236975-1FB0-E46D-7D89-E95D194EB2E3}"/>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7063941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EEDF8-CA7C-1117-DD22-ED0D3B4BF992}"/>
              </a:ext>
            </a:extLst>
          </p:cNvPr>
          <p:cNvSpPr>
            <a:spLocks noGrp="1"/>
          </p:cNvSpPr>
          <p:nvPr>
            <p:ph type="title"/>
          </p:nvPr>
        </p:nvSpPr>
        <p:spPr/>
        <p:txBody>
          <a:bodyPr/>
          <a:lstStyle/>
          <a:p>
            <a:r>
              <a:rPr lang="en-US" dirty="0"/>
              <a:t>Objects and Categories</a:t>
            </a:r>
          </a:p>
        </p:txBody>
      </p:sp>
      <p:pic>
        <p:nvPicPr>
          <p:cNvPr id="5" name="Content Placeholder 4">
            <a:extLst>
              <a:ext uri="{FF2B5EF4-FFF2-40B4-BE49-F238E27FC236}">
                <a16:creationId xmlns:a16="http://schemas.microsoft.com/office/drawing/2014/main" id="{DAE31F58-2459-6817-66A0-A2EAD410273D}"/>
              </a:ext>
            </a:extLst>
          </p:cNvPr>
          <p:cNvPicPr>
            <a:picLocks noGrp="1" noChangeAspect="1"/>
          </p:cNvPicPr>
          <p:nvPr>
            <p:ph idx="1"/>
          </p:nvPr>
        </p:nvPicPr>
        <p:blipFill>
          <a:blip r:embed="rId2"/>
          <a:stretch>
            <a:fillRect/>
          </a:stretch>
        </p:blipFill>
        <p:spPr>
          <a:xfrm>
            <a:off x="5202120" y="1488281"/>
            <a:ext cx="6850136" cy="3881437"/>
          </a:xfrm>
        </p:spPr>
      </p:pic>
      <p:pic>
        <p:nvPicPr>
          <p:cNvPr id="7" name="Picture 6">
            <a:extLst>
              <a:ext uri="{FF2B5EF4-FFF2-40B4-BE49-F238E27FC236}">
                <a16:creationId xmlns:a16="http://schemas.microsoft.com/office/drawing/2014/main" id="{3943E7E2-FE31-B714-8EF9-281CCEE27E5F}"/>
              </a:ext>
            </a:extLst>
          </p:cNvPr>
          <p:cNvPicPr>
            <a:picLocks noChangeAspect="1"/>
          </p:cNvPicPr>
          <p:nvPr/>
        </p:nvPicPr>
        <p:blipFill>
          <a:blip r:embed="rId3"/>
          <a:stretch>
            <a:fillRect/>
          </a:stretch>
        </p:blipFill>
        <p:spPr>
          <a:xfrm>
            <a:off x="401355" y="2040418"/>
            <a:ext cx="4800765" cy="2777162"/>
          </a:xfrm>
          <a:prstGeom prst="rect">
            <a:avLst/>
          </a:prstGeom>
        </p:spPr>
      </p:pic>
      <p:sp>
        <p:nvSpPr>
          <p:cNvPr id="3" name="Footer Placeholder 2">
            <a:extLst>
              <a:ext uri="{FF2B5EF4-FFF2-40B4-BE49-F238E27FC236}">
                <a16:creationId xmlns:a16="http://schemas.microsoft.com/office/drawing/2014/main" id="{36D49707-5E8F-78E3-DBC3-DF930A156318}"/>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6888643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C033B-7E7E-613E-325C-52D0AB644C20}"/>
              </a:ext>
            </a:extLst>
          </p:cNvPr>
          <p:cNvSpPr>
            <a:spLocks noGrp="1"/>
          </p:cNvSpPr>
          <p:nvPr>
            <p:ph type="title"/>
          </p:nvPr>
        </p:nvSpPr>
        <p:spPr/>
        <p:txBody>
          <a:bodyPr/>
          <a:lstStyle/>
          <a:p>
            <a:r>
              <a:rPr lang="en-US" dirty="0"/>
              <a:t>Relations</a:t>
            </a:r>
          </a:p>
        </p:txBody>
      </p:sp>
      <p:pic>
        <p:nvPicPr>
          <p:cNvPr id="5" name="Content Placeholder 4">
            <a:extLst>
              <a:ext uri="{FF2B5EF4-FFF2-40B4-BE49-F238E27FC236}">
                <a16:creationId xmlns:a16="http://schemas.microsoft.com/office/drawing/2014/main" id="{D621376C-82D9-C74A-1536-C9F432C9F8BB}"/>
              </a:ext>
            </a:extLst>
          </p:cNvPr>
          <p:cNvPicPr>
            <a:picLocks noGrp="1" noChangeAspect="1"/>
          </p:cNvPicPr>
          <p:nvPr>
            <p:ph idx="1"/>
          </p:nvPr>
        </p:nvPicPr>
        <p:blipFill>
          <a:blip r:embed="rId2"/>
          <a:stretch>
            <a:fillRect/>
          </a:stretch>
        </p:blipFill>
        <p:spPr>
          <a:xfrm>
            <a:off x="3948394" y="1270000"/>
            <a:ext cx="7566272" cy="4626093"/>
          </a:xfrm>
        </p:spPr>
      </p:pic>
      <p:pic>
        <p:nvPicPr>
          <p:cNvPr id="7" name="Picture 6">
            <a:extLst>
              <a:ext uri="{FF2B5EF4-FFF2-40B4-BE49-F238E27FC236}">
                <a16:creationId xmlns:a16="http://schemas.microsoft.com/office/drawing/2014/main" id="{17494486-18A0-221D-C341-C471D9337A96}"/>
              </a:ext>
            </a:extLst>
          </p:cNvPr>
          <p:cNvPicPr>
            <a:picLocks noChangeAspect="1"/>
          </p:cNvPicPr>
          <p:nvPr/>
        </p:nvPicPr>
        <p:blipFill>
          <a:blip r:embed="rId3"/>
          <a:stretch>
            <a:fillRect/>
          </a:stretch>
        </p:blipFill>
        <p:spPr>
          <a:xfrm>
            <a:off x="375901" y="1930399"/>
            <a:ext cx="3572493" cy="2997201"/>
          </a:xfrm>
          <a:prstGeom prst="rect">
            <a:avLst/>
          </a:prstGeom>
        </p:spPr>
      </p:pic>
      <p:sp>
        <p:nvSpPr>
          <p:cNvPr id="3" name="Footer Placeholder 2">
            <a:extLst>
              <a:ext uri="{FF2B5EF4-FFF2-40B4-BE49-F238E27FC236}">
                <a16:creationId xmlns:a16="http://schemas.microsoft.com/office/drawing/2014/main" id="{6717AA7F-3C7F-3093-8596-BBDC38AE119E}"/>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458861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7CC07-1C29-D169-5B04-6F3CA7D2299E}"/>
              </a:ext>
            </a:extLst>
          </p:cNvPr>
          <p:cNvSpPr>
            <a:spLocks noGrp="1"/>
          </p:cNvSpPr>
          <p:nvPr>
            <p:ph type="title"/>
          </p:nvPr>
        </p:nvSpPr>
        <p:spPr/>
        <p:txBody>
          <a:bodyPr/>
          <a:lstStyle/>
          <a:p>
            <a:r>
              <a:rPr lang="en-US" dirty="0"/>
              <a:t>Properties</a:t>
            </a:r>
          </a:p>
        </p:txBody>
      </p:sp>
      <p:pic>
        <p:nvPicPr>
          <p:cNvPr id="5" name="Content Placeholder 4">
            <a:extLst>
              <a:ext uri="{FF2B5EF4-FFF2-40B4-BE49-F238E27FC236}">
                <a16:creationId xmlns:a16="http://schemas.microsoft.com/office/drawing/2014/main" id="{2623F78C-D47F-53F4-C5F8-47379459F034}"/>
              </a:ext>
            </a:extLst>
          </p:cNvPr>
          <p:cNvPicPr>
            <a:picLocks noGrp="1" noChangeAspect="1"/>
          </p:cNvPicPr>
          <p:nvPr>
            <p:ph idx="1"/>
          </p:nvPr>
        </p:nvPicPr>
        <p:blipFill>
          <a:blip r:embed="rId3"/>
          <a:stretch>
            <a:fillRect/>
          </a:stretch>
        </p:blipFill>
        <p:spPr>
          <a:xfrm>
            <a:off x="200722" y="2158780"/>
            <a:ext cx="4479200" cy="2768821"/>
          </a:xfrm>
        </p:spPr>
      </p:pic>
      <p:pic>
        <p:nvPicPr>
          <p:cNvPr id="7" name="Picture 6">
            <a:extLst>
              <a:ext uri="{FF2B5EF4-FFF2-40B4-BE49-F238E27FC236}">
                <a16:creationId xmlns:a16="http://schemas.microsoft.com/office/drawing/2014/main" id="{BA307A84-9D46-71F8-6A10-20AE3EF1634A}"/>
              </a:ext>
            </a:extLst>
          </p:cNvPr>
          <p:cNvPicPr>
            <a:picLocks noChangeAspect="1"/>
          </p:cNvPicPr>
          <p:nvPr/>
        </p:nvPicPr>
        <p:blipFill>
          <a:blip r:embed="rId4"/>
          <a:stretch>
            <a:fillRect/>
          </a:stretch>
        </p:blipFill>
        <p:spPr>
          <a:xfrm>
            <a:off x="4627425" y="1495029"/>
            <a:ext cx="7363853" cy="4096322"/>
          </a:xfrm>
          <a:prstGeom prst="rect">
            <a:avLst/>
          </a:prstGeom>
        </p:spPr>
      </p:pic>
      <p:sp>
        <p:nvSpPr>
          <p:cNvPr id="3" name="Footer Placeholder 2">
            <a:extLst>
              <a:ext uri="{FF2B5EF4-FFF2-40B4-BE49-F238E27FC236}">
                <a16:creationId xmlns:a16="http://schemas.microsoft.com/office/drawing/2014/main" id="{81E64BE9-2637-C39C-057B-96AA7139F780}"/>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7074612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C58F3-23C8-7EEC-1C10-7579B046C078}"/>
              </a:ext>
            </a:extLst>
          </p:cNvPr>
          <p:cNvSpPr>
            <a:spLocks noGrp="1"/>
          </p:cNvSpPr>
          <p:nvPr>
            <p:ph type="title"/>
          </p:nvPr>
        </p:nvSpPr>
        <p:spPr/>
        <p:txBody>
          <a:bodyPr/>
          <a:lstStyle/>
          <a:p>
            <a:r>
              <a:rPr lang="en-US" dirty="0"/>
              <a:t>Application AI and </a:t>
            </a:r>
            <a:r>
              <a:rPr lang="en-US" dirty="0" err="1"/>
              <a:t>challanges</a:t>
            </a:r>
            <a:endParaRPr lang="en-US" dirty="0"/>
          </a:p>
        </p:txBody>
      </p:sp>
      <p:sp>
        <p:nvSpPr>
          <p:cNvPr id="3" name="Content Placeholder 2">
            <a:extLst>
              <a:ext uri="{FF2B5EF4-FFF2-40B4-BE49-F238E27FC236}">
                <a16:creationId xmlns:a16="http://schemas.microsoft.com/office/drawing/2014/main" id="{79CF16B7-EF4E-2BBF-13B1-9AD4853DF7EB}"/>
              </a:ext>
            </a:extLst>
          </p:cNvPr>
          <p:cNvSpPr>
            <a:spLocks noGrp="1"/>
          </p:cNvSpPr>
          <p:nvPr>
            <p:ph idx="1"/>
          </p:nvPr>
        </p:nvSpPr>
        <p:spPr>
          <a:xfrm>
            <a:off x="677334" y="1930401"/>
            <a:ext cx="8596668" cy="4927600"/>
          </a:xfrm>
        </p:spPr>
        <p:txBody>
          <a:bodyPr>
            <a:normAutofit/>
          </a:bodyPr>
          <a:lstStyle/>
          <a:p>
            <a:r>
              <a:rPr lang="en-US" dirty="0"/>
              <a:t>Enables semantic search, allowing AI systems to understand the context and meaning of search queries.</a:t>
            </a:r>
          </a:p>
          <a:p>
            <a:r>
              <a:rPr lang="en-US" dirty="0"/>
              <a:t>Facilitates the development of intelligent agents by providing a structured knowledge base.</a:t>
            </a:r>
          </a:p>
          <a:p>
            <a:r>
              <a:rPr lang="en-US" dirty="0"/>
              <a:t>Supports natural language understanding by defining relationships and concepts.</a:t>
            </a:r>
          </a:p>
          <a:p>
            <a:r>
              <a:rPr lang="en-US" dirty="0"/>
              <a:t>Enhances machine learning by integrating domain-specific knowledge for better predictions and reasoning.</a:t>
            </a:r>
          </a:p>
          <a:p>
            <a:pPr marL="0" indent="0">
              <a:buNone/>
            </a:pPr>
            <a:r>
              <a:rPr lang="en-US" dirty="0"/>
              <a:t>Challenges:</a:t>
            </a:r>
          </a:p>
          <a:p>
            <a:r>
              <a:rPr lang="en-US" dirty="0"/>
              <a:t>Complexity: Developing ontologies for large domains can be time-intensive.</a:t>
            </a:r>
          </a:p>
          <a:p>
            <a:r>
              <a:rPr lang="en-US" dirty="0"/>
              <a:t>Consistency: Ensuring logical coherence across the ontology.</a:t>
            </a:r>
          </a:p>
          <a:p>
            <a:r>
              <a:rPr lang="en-US" dirty="0"/>
              <a:t>Evolution: Adapting ontologies to changes in domain knowledge.</a:t>
            </a:r>
          </a:p>
          <a:p>
            <a:r>
              <a:rPr lang="en-US" dirty="0"/>
              <a:t>Tools and Expertise: Requires specialized software and skills.</a:t>
            </a:r>
          </a:p>
          <a:p>
            <a:endParaRPr lang="en-US" dirty="0"/>
          </a:p>
          <a:p>
            <a:endParaRPr lang="en-US" dirty="0"/>
          </a:p>
        </p:txBody>
      </p:sp>
      <p:sp>
        <p:nvSpPr>
          <p:cNvPr id="4" name="Footer Placeholder 3">
            <a:extLst>
              <a:ext uri="{FF2B5EF4-FFF2-40B4-BE49-F238E27FC236}">
                <a16:creationId xmlns:a16="http://schemas.microsoft.com/office/drawing/2014/main" id="{E38F23A3-6C8A-F745-3951-8CB51DA021A9}"/>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5053575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7119A69-896C-20C3-7661-B28C668DA13C}"/>
              </a:ext>
            </a:extLst>
          </p:cNvPr>
          <p:cNvGrpSpPr/>
          <p:nvPr/>
        </p:nvGrpSpPr>
        <p:grpSpPr>
          <a:xfrm>
            <a:off x="1440234" y="137848"/>
            <a:ext cx="6716062" cy="6720152"/>
            <a:chOff x="4429481" y="583085"/>
            <a:chExt cx="6716062" cy="6720152"/>
          </a:xfrm>
        </p:grpSpPr>
        <p:pic>
          <p:nvPicPr>
            <p:cNvPr id="5" name="Picture 4">
              <a:extLst>
                <a:ext uri="{FF2B5EF4-FFF2-40B4-BE49-F238E27FC236}">
                  <a16:creationId xmlns:a16="http://schemas.microsoft.com/office/drawing/2014/main" id="{71A6858E-8B06-2E95-22C5-110149CC1F56}"/>
                </a:ext>
              </a:extLst>
            </p:cNvPr>
            <p:cNvPicPr>
              <a:picLocks noChangeAspect="1"/>
            </p:cNvPicPr>
            <p:nvPr/>
          </p:nvPicPr>
          <p:blipFill>
            <a:blip r:embed="rId3"/>
            <a:stretch>
              <a:fillRect/>
            </a:stretch>
          </p:blipFill>
          <p:spPr>
            <a:xfrm>
              <a:off x="4443995" y="583085"/>
              <a:ext cx="6649378" cy="3515216"/>
            </a:xfrm>
            <a:prstGeom prst="rect">
              <a:avLst/>
            </a:prstGeom>
          </p:spPr>
        </p:pic>
        <p:pic>
          <p:nvPicPr>
            <p:cNvPr id="7" name="Picture 6">
              <a:extLst>
                <a:ext uri="{FF2B5EF4-FFF2-40B4-BE49-F238E27FC236}">
                  <a16:creationId xmlns:a16="http://schemas.microsoft.com/office/drawing/2014/main" id="{186433B8-4906-AD34-5073-21441DD61A65}"/>
                </a:ext>
              </a:extLst>
            </p:cNvPr>
            <p:cNvPicPr>
              <a:picLocks noChangeAspect="1"/>
            </p:cNvPicPr>
            <p:nvPr/>
          </p:nvPicPr>
          <p:blipFill>
            <a:blip r:embed="rId4"/>
            <a:stretch>
              <a:fillRect/>
            </a:stretch>
          </p:blipFill>
          <p:spPr>
            <a:xfrm>
              <a:off x="4429481" y="4054759"/>
              <a:ext cx="6716062" cy="3248478"/>
            </a:xfrm>
            <a:prstGeom prst="rect">
              <a:avLst/>
            </a:prstGeom>
          </p:spPr>
        </p:pic>
      </p:grpSp>
      <p:sp>
        <p:nvSpPr>
          <p:cNvPr id="2" name="Footer Placeholder 1">
            <a:extLst>
              <a:ext uri="{FF2B5EF4-FFF2-40B4-BE49-F238E27FC236}">
                <a16:creationId xmlns:a16="http://schemas.microsoft.com/office/drawing/2014/main" id="{C6AC3885-6D8A-0104-18E5-EA6F57177F8B}"/>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425197982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8506</TotalTime>
  <Words>11222</Words>
  <Application>Microsoft Office PowerPoint</Application>
  <PresentationFormat>Widescreen</PresentationFormat>
  <Paragraphs>1171</Paragraphs>
  <Slides>64</Slides>
  <Notes>23</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64</vt:i4>
      </vt:variant>
    </vt:vector>
  </HeadingPairs>
  <TitlesOfParts>
    <vt:vector size="81" baseType="lpstr">
      <vt:lpstr>ADLaM Display</vt:lpstr>
      <vt:lpstr>Agency FB</vt:lpstr>
      <vt:lpstr>Aparajita</vt:lpstr>
      <vt:lpstr>Aptos</vt:lpstr>
      <vt:lpstr>Arial</vt:lpstr>
      <vt:lpstr>Arial Unicode MS</vt:lpstr>
      <vt:lpstr>Bradley Hand ITC</vt:lpstr>
      <vt:lpstr>Cambria Math</vt:lpstr>
      <vt:lpstr>ff3</vt:lpstr>
      <vt:lpstr>ff5</vt:lpstr>
      <vt:lpstr>Nunito</vt:lpstr>
      <vt:lpstr>Open Sans</vt:lpstr>
      <vt:lpstr>Times New Roman</vt:lpstr>
      <vt:lpstr>Trebuchet MS</vt:lpstr>
      <vt:lpstr>Wingdings</vt:lpstr>
      <vt:lpstr>Wingdings 3</vt:lpstr>
      <vt:lpstr>Facet</vt:lpstr>
      <vt:lpstr>Knowledge Representation and Reasoning</vt:lpstr>
      <vt:lpstr>Content</vt:lpstr>
      <vt:lpstr>Approaches to Knowledge Representation</vt:lpstr>
      <vt:lpstr>Approaches to Knowledge Representation</vt:lpstr>
      <vt:lpstr>Approaches to Knowledge Representation</vt:lpstr>
      <vt:lpstr>Approaches to Knowledge Representation</vt:lpstr>
      <vt:lpstr>Introduction to propositional Logic</vt:lpstr>
      <vt:lpstr>Syntax</vt:lpstr>
      <vt:lpstr>Propositional Logic</vt:lpstr>
      <vt:lpstr>Examples</vt:lpstr>
      <vt:lpstr>Practice</vt:lpstr>
      <vt:lpstr>Semantics</vt:lpstr>
      <vt:lpstr>Making Truth table</vt:lpstr>
      <vt:lpstr>Inference in propositional Logic</vt:lpstr>
      <vt:lpstr>PowerPoint Presentation</vt:lpstr>
      <vt:lpstr>Examples:</vt:lpstr>
      <vt:lpstr>Conjunctive Normal form (CNF)</vt:lpstr>
      <vt:lpstr>example</vt:lpstr>
      <vt:lpstr>Resolution Theorem Proving</vt:lpstr>
      <vt:lpstr>Example</vt:lpstr>
      <vt:lpstr>example</vt:lpstr>
      <vt:lpstr>Examples for propositional logic</vt:lpstr>
      <vt:lpstr>Limitations of Propositional Logic</vt:lpstr>
      <vt:lpstr>Predicate logic</vt:lpstr>
      <vt:lpstr>Predicate logic</vt:lpstr>
      <vt:lpstr>Quantifiers in Predicate logic</vt:lpstr>
      <vt:lpstr>Syntax</vt:lpstr>
      <vt:lpstr>Semantics</vt:lpstr>
      <vt:lpstr>Example</vt:lpstr>
      <vt:lpstr>Examples of Predicate logic</vt:lpstr>
      <vt:lpstr>Examples of Predicate logic</vt:lpstr>
      <vt:lpstr>Examples of Predicate logic</vt:lpstr>
      <vt:lpstr>Examples of Predicate logic</vt:lpstr>
      <vt:lpstr>Inference in Predicate Logic</vt:lpstr>
      <vt:lpstr>Inference Rules in Predicate Logic </vt:lpstr>
      <vt:lpstr>Conversion to CNF: Part 1</vt:lpstr>
      <vt:lpstr>Conversion to CNF: Part 2</vt:lpstr>
      <vt:lpstr>Resolution in Predicate Logic</vt:lpstr>
      <vt:lpstr>PowerPoint Presentation</vt:lpstr>
      <vt:lpstr>Reasoning Under Uncertainty </vt:lpstr>
      <vt:lpstr>Probabilistic Reasoning</vt:lpstr>
      <vt:lpstr>Needs &amp; Application</vt:lpstr>
      <vt:lpstr>Bayes Theorem</vt:lpstr>
      <vt:lpstr>Bayes Theorem</vt:lpstr>
      <vt:lpstr>Belief Network | Bayesian Networks </vt:lpstr>
      <vt:lpstr>Examples of Bayesian Network</vt:lpstr>
      <vt:lpstr>Probabilistic reasoning over time</vt:lpstr>
      <vt:lpstr>Key Concepts</vt:lpstr>
      <vt:lpstr>Markov chain</vt:lpstr>
      <vt:lpstr>Example</vt:lpstr>
      <vt:lpstr>Example</vt:lpstr>
      <vt:lpstr>Hidden Markov Models (HMMs)</vt:lpstr>
      <vt:lpstr>Semantic Networks</vt:lpstr>
      <vt:lpstr>Example</vt:lpstr>
      <vt:lpstr>Frames</vt:lpstr>
      <vt:lpstr>Example</vt:lpstr>
      <vt:lpstr>Linking of sub frames</vt:lpstr>
      <vt:lpstr>Rule based Representation</vt:lpstr>
      <vt:lpstr>Ontological Representation</vt:lpstr>
      <vt:lpstr>Objects and Categories</vt:lpstr>
      <vt:lpstr>Relations</vt:lpstr>
      <vt:lpstr>Properties</vt:lpstr>
      <vt:lpstr>Application AI and challanges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KAPIL DEV PANT</dc:creator>
  <cp:lastModifiedBy>Kapil Dev Pant</cp:lastModifiedBy>
  <cp:revision>407</cp:revision>
  <dcterms:created xsi:type="dcterms:W3CDTF">2024-11-25T12:37:41Z</dcterms:created>
  <dcterms:modified xsi:type="dcterms:W3CDTF">2026-01-13T04:19:09Z</dcterms:modified>
</cp:coreProperties>
</file>