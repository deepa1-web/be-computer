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6" r:id="rId2"/>
    <p:sldId id="257" r:id="rId3"/>
    <p:sldId id="258" r:id="rId4"/>
    <p:sldId id="260" r:id="rId5"/>
    <p:sldId id="259" r:id="rId6"/>
    <p:sldId id="276" r:id="rId7"/>
    <p:sldId id="277" r:id="rId8"/>
    <p:sldId id="261" r:id="rId9"/>
    <p:sldId id="286" r:id="rId10"/>
    <p:sldId id="282" r:id="rId11"/>
    <p:sldId id="289" r:id="rId12"/>
    <p:sldId id="262" r:id="rId13"/>
    <p:sldId id="263" r:id="rId14"/>
    <p:sldId id="264" r:id="rId15"/>
    <p:sldId id="265" r:id="rId16"/>
    <p:sldId id="266" r:id="rId17"/>
    <p:sldId id="267" r:id="rId18"/>
    <p:sldId id="268" r:id="rId19"/>
    <p:sldId id="281" r:id="rId20"/>
    <p:sldId id="284" r:id="rId21"/>
    <p:sldId id="270" r:id="rId22"/>
    <p:sldId id="280" r:id="rId23"/>
    <p:sldId id="271" r:id="rId24"/>
    <p:sldId id="272" r:id="rId25"/>
    <p:sldId id="273" r:id="rId26"/>
    <p:sldId id="285" r:id="rId27"/>
    <p:sldId id="288"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608" autoAdjust="0"/>
  </p:normalViewPr>
  <p:slideViewPr>
    <p:cSldViewPr snapToGrid="0" snapToObjects="1">
      <p:cViewPr>
        <p:scale>
          <a:sx n="60" d="100"/>
          <a:sy n="60" d="100"/>
        </p:scale>
        <p:origin x="48" y="-2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A6591B-6669-4FC6-B283-3C5431EFCF08}"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C940471F-4A70-4574-A49D-46D394178BB1}">
      <dgm:prSet custT="1"/>
      <dgm:spPr/>
      <dgm:t>
        <a:bodyPr/>
        <a:lstStyle/>
        <a:p>
          <a:r>
            <a:rPr lang="en-US" sz="2400" dirty="0"/>
            <a:t>Intelligence</a:t>
          </a:r>
        </a:p>
      </dgm:t>
    </dgm:pt>
    <dgm:pt modelId="{D1E27A10-1C7A-4A3C-8025-A274822C8DD0}" type="parTrans" cxnId="{1168B57D-D62B-4004-B5FF-1227CB986593}">
      <dgm:prSet/>
      <dgm:spPr/>
      <dgm:t>
        <a:bodyPr/>
        <a:lstStyle/>
        <a:p>
          <a:endParaRPr lang="en-US"/>
        </a:p>
      </dgm:t>
    </dgm:pt>
    <dgm:pt modelId="{F6908D5D-CB4A-48E5-8633-729314C29ED7}" type="sibTrans" cxnId="{1168B57D-D62B-4004-B5FF-1227CB986593}">
      <dgm:prSet/>
      <dgm:spPr/>
      <dgm:t>
        <a:bodyPr/>
        <a:lstStyle/>
        <a:p>
          <a:endParaRPr lang="en-US"/>
        </a:p>
      </dgm:t>
    </dgm:pt>
    <dgm:pt modelId="{FFFE009C-BBF1-47DF-A84C-A2E3622611BA}">
      <dgm:prSet custT="1"/>
      <dgm:spPr/>
      <dgm:t>
        <a:bodyPr/>
        <a:lstStyle/>
        <a:p>
          <a:r>
            <a:rPr lang="en-US" sz="1600" dirty="0"/>
            <a:t>Types of Intelligence</a:t>
          </a:r>
        </a:p>
      </dgm:t>
    </dgm:pt>
    <dgm:pt modelId="{F94A4870-0CE0-4BA9-938A-BFFAD796F86B}" type="parTrans" cxnId="{8080A2D7-E770-4BD9-A0DD-5A3831E2D686}">
      <dgm:prSet/>
      <dgm:spPr/>
      <dgm:t>
        <a:bodyPr/>
        <a:lstStyle/>
        <a:p>
          <a:endParaRPr lang="en-US"/>
        </a:p>
      </dgm:t>
    </dgm:pt>
    <dgm:pt modelId="{8AC7836A-0617-4751-B027-E268B2C2F3D3}" type="sibTrans" cxnId="{8080A2D7-E770-4BD9-A0DD-5A3831E2D686}">
      <dgm:prSet/>
      <dgm:spPr/>
      <dgm:t>
        <a:bodyPr/>
        <a:lstStyle/>
        <a:p>
          <a:endParaRPr lang="en-US"/>
        </a:p>
      </dgm:t>
    </dgm:pt>
    <dgm:pt modelId="{6AFC37FF-FAE8-47A3-A9CC-65E9507C3421}">
      <dgm:prSet custT="1"/>
      <dgm:spPr/>
      <dgm:t>
        <a:bodyPr/>
        <a:lstStyle/>
        <a:p>
          <a:r>
            <a:rPr lang="en-US" sz="1600" dirty="0"/>
            <a:t>Components of Intelligence</a:t>
          </a:r>
        </a:p>
      </dgm:t>
    </dgm:pt>
    <dgm:pt modelId="{B95550DD-D938-476A-B3AE-EB222961049B}" type="parTrans" cxnId="{8A33CF82-B691-48CC-ADBF-E72A86BB6EB0}">
      <dgm:prSet/>
      <dgm:spPr/>
      <dgm:t>
        <a:bodyPr/>
        <a:lstStyle/>
        <a:p>
          <a:endParaRPr lang="en-US"/>
        </a:p>
      </dgm:t>
    </dgm:pt>
    <dgm:pt modelId="{820F004F-1CBD-4455-82B6-B13344CBB87C}" type="sibTrans" cxnId="{8A33CF82-B691-48CC-ADBF-E72A86BB6EB0}">
      <dgm:prSet/>
      <dgm:spPr/>
      <dgm:t>
        <a:bodyPr/>
        <a:lstStyle/>
        <a:p>
          <a:endParaRPr lang="en-US"/>
        </a:p>
      </dgm:t>
    </dgm:pt>
    <dgm:pt modelId="{FD14043E-F81D-494C-9CC4-ECFAED61BF88}">
      <dgm:prSet custT="1"/>
      <dgm:spPr/>
      <dgm:t>
        <a:bodyPr/>
        <a:lstStyle/>
        <a:p>
          <a:r>
            <a:rPr lang="en-US" sz="2400" kern="1200" dirty="0">
              <a:solidFill>
                <a:prstClr val="white"/>
              </a:solidFill>
              <a:latin typeface="Trebuchet MS" panose="020B0603020202020204"/>
              <a:ea typeface="+mn-ea"/>
              <a:cs typeface="+mn-cs"/>
            </a:rPr>
            <a:t>Artificial</a:t>
          </a:r>
          <a:r>
            <a:rPr lang="en-US" sz="1400" kern="1200" dirty="0"/>
            <a:t> </a:t>
          </a:r>
          <a:r>
            <a:rPr lang="en-US" sz="2400" kern="1200" dirty="0">
              <a:solidFill>
                <a:prstClr val="white"/>
              </a:solidFill>
              <a:latin typeface="Trebuchet MS" panose="020B0603020202020204"/>
              <a:ea typeface="+mn-ea"/>
              <a:cs typeface="+mn-cs"/>
            </a:rPr>
            <a:t>Intelligence</a:t>
          </a:r>
        </a:p>
      </dgm:t>
    </dgm:pt>
    <dgm:pt modelId="{12EAE88F-0457-4835-A3F2-4F7B6292541A}" type="parTrans" cxnId="{17A64A07-5A68-404A-9430-9E09B2518856}">
      <dgm:prSet/>
      <dgm:spPr/>
      <dgm:t>
        <a:bodyPr/>
        <a:lstStyle/>
        <a:p>
          <a:endParaRPr lang="en-US"/>
        </a:p>
      </dgm:t>
    </dgm:pt>
    <dgm:pt modelId="{AAAAB47D-37C3-42F9-95F5-15C560B599B3}" type="sibTrans" cxnId="{17A64A07-5A68-404A-9430-9E09B2518856}">
      <dgm:prSet/>
      <dgm:spPr/>
      <dgm:t>
        <a:bodyPr/>
        <a:lstStyle/>
        <a:p>
          <a:endParaRPr lang="en-US"/>
        </a:p>
      </dgm:t>
    </dgm:pt>
    <dgm:pt modelId="{9AE5F8C0-A260-4BC0-85EC-C938F520F2CF}">
      <dgm:prSet custT="1"/>
      <dgm:spPr/>
      <dgm:t>
        <a:bodyPr/>
        <a:lstStyle/>
        <a:p>
          <a:r>
            <a:rPr lang="en-US" sz="1600" dirty="0"/>
            <a:t>Approaches of AI</a:t>
          </a:r>
        </a:p>
      </dgm:t>
    </dgm:pt>
    <dgm:pt modelId="{D885D728-1702-4969-A946-65ED0B0C841E}" type="parTrans" cxnId="{39AB01E0-61CF-4797-AFF4-3294B9B568D5}">
      <dgm:prSet/>
      <dgm:spPr/>
      <dgm:t>
        <a:bodyPr/>
        <a:lstStyle/>
        <a:p>
          <a:endParaRPr lang="en-US"/>
        </a:p>
      </dgm:t>
    </dgm:pt>
    <dgm:pt modelId="{B48D5D80-8D4C-4649-809A-B30B733D20EA}" type="sibTrans" cxnId="{39AB01E0-61CF-4797-AFF4-3294B9B568D5}">
      <dgm:prSet/>
      <dgm:spPr/>
      <dgm:t>
        <a:bodyPr/>
        <a:lstStyle/>
        <a:p>
          <a:endParaRPr lang="en-US"/>
        </a:p>
      </dgm:t>
    </dgm:pt>
    <dgm:pt modelId="{EFFF8CE1-D7DC-41E0-8E64-401B93A5D5FA}">
      <dgm:prSet custT="1"/>
      <dgm:spPr/>
      <dgm:t>
        <a:bodyPr/>
        <a:lstStyle/>
        <a:p>
          <a:r>
            <a:rPr lang="en-US" sz="1600" dirty="0"/>
            <a:t>Acting Humanly</a:t>
          </a:r>
        </a:p>
      </dgm:t>
    </dgm:pt>
    <dgm:pt modelId="{157EBC74-4771-4714-8F9E-2B56EF0E7BBA}" type="parTrans" cxnId="{F591A21C-EB16-4123-8E6E-7F697056ED9D}">
      <dgm:prSet/>
      <dgm:spPr/>
      <dgm:t>
        <a:bodyPr/>
        <a:lstStyle/>
        <a:p>
          <a:endParaRPr lang="en-US"/>
        </a:p>
      </dgm:t>
    </dgm:pt>
    <dgm:pt modelId="{4BD44BDE-6142-46E8-A8FA-EFD91BF6E110}" type="sibTrans" cxnId="{F591A21C-EB16-4123-8E6E-7F697056ED9D}">
      <dgm:prSet/>
      <dgm:spPr/>
      <dgm:t>
        <a:bodyPr/>
        <a:lstStyle/>
        <a:p>
          <a:endParaRPr lang="en-US"/>
        </a:p>
      </dgm:t>
    </dgm:pt>
    <dgm:pt modelId="{F6CC6DD6-EB1D-4F29-AA7E-6F1E8386D1F0}">
      <dgm:prSet custT="1"/>
      <dgm:spPr/>
      <dgm:t>
        <a:bodyPr/>
        <a:lstStyle/>
        <a:p>
          <a:r>
            <a:rPr lang="en-US" sz="1600"/>
            <a:t>Thinking Humanly</a:t>
          </a:r>
        </a:p>
      </dgm:t>
    </dgm:pt>
    <dgm:pt modelId="{0E12E008-2F96-4C02-B4EE-524C01117D9A}" type="parTrans" cxnId="{6A22A003-98CC-42C3-AFB6-C3AE27900B46}">
      <dgm:prSet/>
      <dgm:spPr/>
      <dgm:t>
        <a:bodyPr/>
        <a:lstStyle/>
        <a:p>
          <a:endParaRPr lang="en-US"/>
        </a:p>
      </dgm:t>
    </dgm:pt>
    <dgm:pt modelId="{B03EF231-2984-4646-8A32-DDCB38971560}" type="sibTrans" cxnId="{6A22A003-98CC-42C3-AFB6-C3AE27900B46}">
      <dgm:prSet/>
      <dgm:spPr/>
      <dgm:t>
        <a:bodyPr/>
        <a:lstStyle/>
        <a:p>
          <a:endParaRPr lang="en-US"/>
        </a:p>
      </dgm:t>
    </dgm:pt>
    <dgm:pt modelId="{E4F11F1D-BF84-415C-91D8-37BA7CB1CD18}">
      <dgm:prSet custT="1"/>
      <dgm:spPr/>
      <dgm:t>
        <a:bodyPr/>
        <a:lstStyle/>
        <a:p>
          <a:r>
            <a:rPr lang="en-US" sz="1600" dirty="0"/>
            <a:t>Thinking Rationally</a:t>
          </a:r>
        </a:p>
      </dgm:t>
    </dgm:pt>
    <dgm:pt modelId="{B9BAA260-CA91-49FF-AD07-898264FEF4D7}" type="parTrans" cxnId="{4944E957-90DE-4DB1-810C-FB17B2384C86}">
      <dgm:prSet/>
      <dgm:spPr/>
      <dgm:t>
        <a:bodyPr/>
        <a:lstStyle/>
        <a:p>
          <a:endParaRPr lang="en-US"/>
        </a:p>
      </dgm:t>
    </dgm:pt>
    <dgm:pt modelId="{B19221E9-7AEE-4B7F-A14B-FB3C1CE0F2E1}" type="sibTrans" cxnId="{4944E957-90DE-4DB1-810C-FB17B2384C86}">
      <dgm:prSet/>
      <dgm:spPr/>
      <dgm:t>
        <a:bodyPr/>
        <a:lstStyle/>
        <a:p>
          <a:endParaRPr lang="en-US"/>
        </a:p>
      </dgm:t>
    </dgm:pt>
    <dgm:pt modelId="{97EFB5C9-11CE-4DAD-84F8-7175F06BC78F}">
      <dgm:prSet custT="1"/>
      <dgm:spPr/>
      <dgm:t>
        <a:bodyPr/>
        <a:lstStyle/>
        <a:p>
          <a:r>
            <a:rPr lang="en-US" sz="1600"/>
            <a:t>Acting Rationally</a:t>
          </a:r>
        </a:p>
      </dgm:t>
    </dgm:pt>
    <dgm:pt modelId="{175CFC76-31D6-4AB2-BAA9-893332BD97F0}" type="parTrans" cxnId="{912482D1-AD07-4689-8FD1-3D64B5C83B51}">
      <dgm:prSet/>
      <dgm:spPr/>
      <dgm:t>
        <a:bodyPr/>
        <a:lstStyle/>
        <a:p>
          <a:endParaRPr lang="en-US"/>
        </a:p>
      </dgm:t>
    </dgm:pt>
    <dgm:pt modelId="{10239487-6284-4604-8DBC-17CDB5331098}" type="sibTrans" cxnId="{912482D1-AD07-4689-8FD1-3D64B5C83B51}">
      <dgm:prSet/>
      <dgm:spPr/>
      <dgm:t>
        <a:bodyPr/>
        <a:lstStyle/>
        <a:p>
          <a:endParaRPr lang="en-US"/>
        </a:p>
      </dgm:t>
    </dgm:pt>
    <dgm:pt modelId="{C03FF7E0-2E01-4308-90D8-BBC1FF4C331E}">
      <dgm:prSet custT="1"/>
      <dgm:spPr/>
      <dgm:t>
        <a:bodyPr/>
        <a:lstStyle/>
        <a:p>
          <a:r>
            <a:rPr lang="en-US" sz="1600"/>
            <a:t>Foundations of AI</a:t>
          </a:r>
        </a:p>
      </dgm:t>
    </dgm:pt>
    <dgm:pt modelId="{748A0E00-FEFB-4787-AE17-92A22E01E78C}" type="parTrans" cxnId="{26DD097A-7444-43AD-AE6E-A616FC4C8798}">
      <dgm:prSet/>
      <dgm:spPr/>
      <dgm:t>
        <a:bodyPr/>
        <a:lstStyle/>
        <a:p>
          <a:endParaRPr lang="en-US"/>
        </a:p>
      </dgm:t>
    </dgm:pt>
    <dgm:pt modelId="{8113F568-BEA4-478F-B22E-74A266D12595}" type="sibTrans" cxnId="{26DD097A-7444-43AD-AE6E-A616FC4C8798}">
      <dgm:prSet/>
      <dgm:spPr/>
      <dgm:t>
        <a:bodyPr/>
        <a:lstStyle/>
        <a:p>
          <a:endParaRPr lang="en-US"/>
        </a:p>
      </dgm:t>
    </dgm:pt>
    <dgm:pt modelId="{21441EF9-8FF9-4894-8EA6-8213413D3F61}">
      <dgm:prSet custT="1"/>
      <dgm:spPr/>
      <dgm:t>
        <a:bodyPr/>
        <a:lstStyle/>
        <a:p>
          <a:r>
            <a:rPr lang="en-US" sz="1600"/>
            <a:t>History of Al</a:t>
          </a:r>
        </a:p>
      </dgm:t>
    </dgm:pt>
    <dgm:pt modelId="{67F6AAE4-497C-413D-A2A7-2660B19BA832}" type="parTrans" cxnId="{4926B8E7-A380-4D0D-A510-F5936E7F7FE9}">
      <dgm:prSet/>
      <dgm:spPr/>
      <dgm:t>
        <a:bodyPr/>
        <a:lstStyle/>
        <a:p>
          <a:endParaRPr lang="en-US"/>
        </a:p>
      </dgm:t>
    </dgm:pt>
    <dgm:pt modelId="{B1230A04-537B-40CD-8FB0-AC399E1B9375}" type="sibTrans" cxnId="{4926B8E7-A380-4D0D-A510-F5936E7F7FE9}">
      <dgm:prSet/>
      <dgm:spPr/>
      <dgm:t>
        <a:bodyPr/>
        <a:lstStyle/>
        <a:p>
          <a:endParaRPr lang="en-US"/>
        </a:p>
      </dgm:t>
    </dgm:pt>
    <dgm:pt modelId="{000FF1E3-2DCC-472E-B3A3-9E179855636E}">
      <dgm:prSet custT="1"/>
      <dgm:spPr/>
      <dgm:t>
        <a:bodyPr/>
        <a:lstStyle/>
        <a:p>
          <a:r>
            <a:rPr lang="en-US" sz="1600" dirty="0"/>
            <a:t>Risk and Benefits of Al. </a:t>
          </a:r>
        </a:p>
      </dgm:t>
    </dgm:pt>
    <dgm:pt modelId="{3D41A017-2D02-48DB-AF53-DACFC0EC4617}" type="parTrans" cxnId="{001B36AD-A123-4A29-BA3B-1DBF249A7575}">
      <dgm:prSet/>
      <dgm:spPr/>
      <dgm:t>
        <a:bodyPr/>
        <a:lstStyle/>
        <a:p>
          <a:endParaRPr lang="en-US"/>
        </a:p>
      </dgm:t>
    </dgm:pt>
    <dgm:pt modelId="{0A3C9339-D1CC-4679-8F5B-33692E5DDA16}" type="sibTrans" cxnId="{001B36AD-A123-4A29-BA3B-1DBF249A7575}">
      <dgm:prSet/>
      <dgm:spPr/>
      <dgm:t>
        <a:bodyPr/>
        <a:lstStyle/>
        <a:p>
          <a:endParaRPr lang="en-US"/>
        </a:p>
      </dgm:t>
    </dgm:pt>
    <dgm:pt modelId="{B956367C-E01C-42AE-B39E-5CF942AD9C8C}">
      <dgm:prSet custT="1"/>
      <dgm:spPr/>
      <dgm:t>
        <a:bodyPr/>
        <a:lstStyle/>
        <a:p>
          <a:r>
            <a:rPr lang="en-US" sz="2400" kern="1200" dirty="0">
              <a:solidFill>
                <a:prstClr val="white"/>
              </a:solidFill>
              <a:latin typeface="Trebuchet MS" panose="020B0603020202020204"/>
              <a:ea typeface="+mn-ea"/>
              <a:cs typeface="+mn-cs"/>
            </a:rPr>
            <a:t>Ethics</a:t>
          </a:r>
          <a:r>
            <a:rPr lang="en-US" sz="1400" kern="1200" dirty="0"/>
            <a:t> </a:t>
          </a:r>
          <a:r>
            <a:rPr lang="en-US" sz="2400" kern="1200" dirty="0">
              <a:solidFill>
                <a:prstClr val="white"/>
              </a:solidFill>
              <a:latin typeface="Trebuchet MS" panose="020B0603020202020204"/>
              <a:ea typeface="+mn-ea"/>
              <a:cs typeface="+mn-cs"/>
            </a:rPr>
            <a:t>and</a:t>
          </a:r>
          <a:r>
            <a:rPr lang="en-US" sz="1400" kern="1200" dirty="0"/>
            <a:t> </a:t>
          </a:r>
          <a:r>
            <a:rPr lang="en-US" sz="2400" kern="1200" dirty="0">
              <a:solidFill>
                <a:prstClr val="white"/>
              </a:solidFill>
              <a:latin typeface="Trebuchet MS" panose="020B0603020202020204"/>
              <a:ea typeface="+mn-ea"/>
              <a:cs typeface="+mn-cs"/>
            </a:rPr>
            <a:t>Societal</a:t>
          </a:r>
          <a:r>
            <a:rPr lang="en-US" sz="1400" kern="1200" dirty="0"/>
            <a:t> </a:t>
          </a:r>
          <a:r>
            <a:rPr lang="en-US" sz="2400" kern="1200" dirty="0">
              <a:solidFill>
                <a:prstClr val="white"/>
              </a:solidFill>
              <a:latin typeface="Trebuchet MS" panose="020B0603020202020204"/>
              <a:ea typeface="+mn-ea"/>
              <a:cs typeface="+mn-cs"/>
            </a:rPr>
            <a:t>Implications</a:t>
          </a:r>
        </a:p>
      </dgm:t>
    </dgm:pt>
    <dgm:pt modelId="{BBAC74A9-C4EA-46B2-91EE-82DBF06E3DCE}" type="parTrans" cxnId="{013C91C3-FAD3-40E6-AB90-6C8D2D341FE6}">
      <dgm:prSet/>
      <dgm:spPr/>
      <dgm:t>
        <a:bodyPr/>
        <a:lstStyle/>
        <a:p>
          <a:endParaRPr lang="en-US"/>
        </a:p>
      </dgm:t>
    </dgm:pt>
    <dgm:pt modelId="{8B6675EA-B2C8-4533-9597-321C6F9C082A}" type="sibTrans" cxnId="{013C91C3-FAD3-40E6-AB90-6C8D2D341FE6}">
      <dgm:prSet/>
      <dgm:spPr/>
      <dgm:t>
        <a:bodyPr/>
        <a:lstStyle/>
        <a:p>
          <a:endParaRPr lang="en-US"/>
        </a:p>
      </dgm:t>
    </dgm:pt>
    <dgm:pt modelId="{603D3D48-C0B3-466F-90DF-0C0272CEA453}">
      <dgm:prSet custT="1"/>
      <dgm:spPr/>
      <dgm:t>
        <a:bodyPr/>
        <a:lstStyle/>
        <a:p>
          <a:r>
            <a:rPr lang="en-US" sz="1600" dirty="0"/>
            <a:t>Ethical Implications of Al</a:t>
          </a:r>
        </a:p>
      </dgm:t>
    </dgm:pt>
    <dgm:pt modelId="{F8756956-5A3F-4B8E-BCD0-B6F4135D3921}" type="parTrans" cxnId="{CA8A1EF5-2F1C-4E73-9A7B-AF9820478341}">
      <dgm:prSet/>
      <dgm:spPr/>
      <dgm:t>
        <a:bodyPr/>
        <a:lstStyle/>
        <a:p>
          <a:endParaRPr lang="en-US"/>
        </a:p>
      </dgm:t>
    </dgm:pt>
    <dgm:pt modelId="{FC044674-ACFF-4EE8-A046-E43E2327831C}" type="sibTrans" cxnId="{CA8A1EF5-2F1C-4E73-9A7B-AF9820478341}">
      <dgm:prSet/>
      <dgm:spPr/>
      <dgm:t>
        <a:bodyPr/>
        <a:lstStyle/>
        <a:p>
          <a:endParaRPr lang="en-US"/>
        </a:p>
      </dgm:t>
    </dgm:pt>
    <dgm:pt modelId="{E43D3C01-608B-40CA-BF16-E02D0270F00D}">
      <dgm:prSet custT="1"/>
      <dgm:spPr/>
      <dgm:t>
        <a:bodyPr/>
        <a:lstStyle/>
        <a:p>
          <a:r>
            <a:rPr lang="en-US" sz="1600"/>
            <a:t>Al and Society: Work and Automation, Employment, Privacy and Security</a:t>
          </a:r>
        </a:p>
      </dgm:t>
    </dgm:pt>
    <dgm:pt modelId="{DF257CF1-0713-4F89-A4B7-9867BC654EFC}" type="parTrans" cxnId="{5D329736-346B-4D01-9936-1D0E5E83E7B4}">
      <dgm:prSet/>
      <dgm:spPr/>
      <dgm:t>
        <a:bodyPr/>
        <a:lstStyle/>
        <a:p>
          <a:endParaRPr lang="en-US"/>
        </a:p>
      </dgm:t>
    </dgm:pt>
    <dgm:pt modelId="{C4006B68-5E7D-408C-83B3-56F30C25D46F}" type="sibTrans" cxnId="{5D329736-346B-4D01-9936-1D0E5E83E7B4}">
      <dgm:prSet/>
      <dgm:spPr/>
      <dgm:t>
        <a:bodyPr/>
        <a:lstStyle/>
        <a:p>
          <a:endParaRPr lang="en-US"/>
        </a:p>
      </dgm:t>
    </dgm:pt>
    <dgm:pt modelId="{4C00BDD1-123D-4641-B80A-3E7C449AA9F9}">
      <dgm:prSet custT="1"/>
      <dgm:spPr/>
      <dgm:t>
        <a:bodyPr/>
        <a:lstStyle/>
        <a:p>
          <a:r>
            <a:rPr lang="en-US" sz="1600" dirty="0"/>
            <a:t>Governance and Regulation</a:t>
          </a:r>
        </a:p>
      </dgm:t>
    </dgm:pt>
    <dgm:pt modelId="{148BD8D3-EA45-40BF-8C23-1F44CEBF46C1}" type="parTrans" cxnId="{9365FEEF-9936-481C-8E84-22974B318C31}">
      <dgm:prSet/>
      <dgm:spPr/>
      <dgm:t>
        <a:bodyPr/>
        <a:lstStyle/>
        <a:p>
          <a:endParaRPr lang="en-US"/>
        </a:p>
      </dgm:t>
    </dgm:pt>
    <dgm:pt modelId="{D2B8BE9D-0DA3-4978-B390-875E5D688891}" type="sibTrans" cxnId="{9365FEEF-9936-481C-8E84-22974B318C31}">
      <dgm:prSet/>
      <dgm:spPr/>
      <dgm:t>
        <a:bodyPr/>
        <a:lstStyle/>
        <a:p>
          <a:endParaRPr lang="en-US"/>
        </a:p>
      </dgm:t>
    </dgm:pt>
    <dgm:pt modelId="{AA3A2773-F2DE-403F-9782-68515586F3AF}" type="pres">
      <dgm:prSet presAssocID="{ADA6591B-6669-4FC6-B283-3C5431EFCF08}" presName="linear" presStyleCnt="0">
        <dgm:presLayoutVars>
          <dgm:dir/>
          <dgm:animLvl val="lvl"/>
          <dgm:resizeHandles val="exact"/>
        </dgm:presLayoutVars>
      </dgm:prSet>
      <dgm:spPr/>
    </dgm:pt>
    <dgm:pt modelId="{3CCAEF2F-B9E9-4C9C-9FB4-088A446C9FBF}" type="pres">
      <dgm:prSet presAssocID="{C940471F-4A70-4574-A49D-46D394178BB1}" presName="parentLin" presStyleCnt="0"/>
      <dgm:spPr/>
    </dgm:pt>
    <dgm:pt modelId="{FACF9DBD-5914-4D4C-A59F-F740FF595714}" type="pres">
      <dgm:prSet presAssocID="{C940471F-4A70-4574-A49D-46D394178BB1}" presName="parentLeftMargin" presStyleLbl="node1" presStyleIdx="0" presStyleCnt="3"/>
      <dgm:spPr/>
    </dgm:pt>
    <dgm:pt modelId="{450821AC-019D-4C0D-BE60-A79B513C3D97}" type="pres">
      <dgm:prSet presAssocID="{C940471F-4A70-4574-A49D-46D394178BB1}" presName="parentText" presStyleLbl="node1" presStyleIdx="0" presStyleCnt="3">
        <dgm:presLayoutVars>
          <dgm:chMax val="0"/>
          <dgm:bulletEnabled val="1"/>
        </dgm:presLayoutVars>
      </dgm:prSet>
      <dgm:spPr/>
    </dgm:pt>
    <dgm:pt modelId="{C0B879ED-86C8-4A4C-875A-00EBC15EFB1B}" type="pres">
      <dgm:prSet presAssocID="{C940471F-4A70-4574-A49D-46D394178BB1}" presName="negativeSpace" presStyleCnt="0"/>
      <dgm:spPr/>
    </dgm:pt>
    <dgm:pt modelId="{0BB58262-B2EF-4879-9BE4-EEE93FB65D7F}" type="pres">
      <dgm:prSet presAssocID="{C940471F-4A70-4574-A49D-46D394178BB1}" presName="childText" presStyleLbl="conFgAcc1" presStyleIdx="0" presStyleCnt="3">
        <dgm:presLayoutVars>
          <dgm:bulletEnabled val="1"/>
        </dgm:presLayoutVars>
      </dgm:prSet>
      <dgm:spPr/>
    </dgm:pt>
    <dgm:pt modelId="{E843C255-4A87-4F18-92E7-C0D039BEB495}" type="pres">
      <dgm:prSet presAssocID="{F6908D5D-CB4A-48E5-8633-729314C29ED7}" presName="spaceBetweenRectangles" presStyleCnt="0"/>
      <dgm:spPr/>
    </dgm:pt>
    <dgm:pt modelId="{4D667C2A-FE23-4770-8EF1-41C62A50B365}" type="pres">
      <dgm:prSet presAssocID="{FD14043E-F81D-494C-9CC4-ECFAED61BF88}" presName="parentLin" presStyleCnt="0"/>
      <dgm:spPr/>
    </dgm:pt>
    <dgm:pt modelId="{8C0B973A-643C-477B-9B3E-7B14C04AE320}" type="pres">
      <dgm:prSet presAssocID="{FD14043E-F81D-494C-9CC4-ECFAED61BF88}" presName="parentLeftMargin" presStyleLbl="node1" presStyleIdx="0" presStyleCnt="3"/>
      <dgm:spPr/>
    </dgm:pt>
    <dgm:pt modelId="{96E42B10-1A29-4759-A359-DA146A2163DE}" type="pres">
      <dgm:prSet presAssocID="{FD14043E-F81D-494C-9CC4-ECFAED61BF88}" presName="parentText" presStyleLbl="node1" presStyleIdx="1" presStyleCnt="3">
        <dgm:presLayoutVars>
          <dgm:chMax val="0"/>
          <dgm:bulletEnabled val="1"/>
        </dgm:presLayoutVars>
      </dgm:prSet>
      <dgm:spPr/>
    </dgm:pt>
    <dgm:pt modelId="{C5018087-D175-42CE-837F-7673D5025A73}" type="pres">
      <dgm:prSet presAssocID="{FD14043E-F81D-494C-9CC4-ECFAED61BF88}" presName="negativeSpace" presStyleCnt="0"/>
      <dgm:spPr/>
    </dgm:pt>
    <dgm:pt modelId="{9EBEB842-9516-4103-BD2E-343A0439EDF2}" type="pres">
      <dgm:prSet presAssocID="{FD14043E-F81D-494C-9CC4-ECFAED61BF88}" presName="childText" presStyleLbl="conFgAcc1" presStyleIdx="1" presStyleCnt="3">
        <dgm:presLayoutVars>
          <dgm:bulletEnabled val="1"/>
        </dgm:presLayoutVars>
      </dgm:prSet>
      <dgm:spPr/>
    </dgm:pt>
    <dgm:pt modelId="{2C658928-A1DE-4666-BFF0-AE5CF3BABF83}" type="pres">
      <dgm:prSet presAssocID="{AAAAB47D-37C3-42F9-95F5-15C560B599B3}" presName="spaceBetweenRectangles" presStyleCnt="0"/>
      <dgm:spPr/>
    </dgm:pt>
    <dgm:pt modelId="{5E3C4367-ECBA-4E8C-B7D8-CF880C22885A}" type="pres">
      <dgm:prSet presAssocID="{B956367C-E01C-42AE-B39E-5CF942AD9C8C}" presName="parentLin" presStyleCnt="0"/>
      <dgm:spPr/>
    </dgm:pt>
    <dgm:pt modelId="{7926992D-1BC2-4459-A93D-9EB6BB6E6C77}" type="pres">
      <dgm:prSet presAssocID="{B956367C-E01C-42AE-B39E-5CF942AD9C8C}" presName="parentLeftMargin" presStyleLbl="node1" presStyleIdx="1" presStyleCnt="3"/>
      <dgm:spPr/>
    </dgm:pt>
    <dgm:pt modelId="{DDC24D21-FC07-419C-8A27-96BB1BA58660}" type="pres">
      <dgm:prSet presAssocID="{B956367C-E01C-42AE-B39E-5CF942AD9C8C}" presName="parentText" presStyleLbl="node1" presStyleIdx="2" presStyleCnt="3">
        <dgm:presLayoutVars>
          <dgm:chMax val="0"/>
          <dgm:bulletEnabled val="1"/>
        </dgm:presLayoutVars>
      </dgm:prSet>
      <dgm:spPr/>
    </dgm:pt>
    <dgm:pt modelId="{0636FBE3-3669-4FC1-805F-6FB5CA05AD3F}" type="pres">
      <dgm:prSet presAssocID="{B956367C-E01C-42AE-B39E-5CF942AD9C8C}" presName="negativeSpace" presStyleCnt="0"/>
      <dgm:spPr/>
    </dgm:pt>
    <dgm:pt modelId="{44BBB8C0-7E09-4FEF-A6C4-FCEDB47C0211}" type="pres">
      <dgm:prSet presAssocID="{B956367C-E01C-42AE-B39E-5CF942AD9C8C}" presName="childText" presStyleLbl="conFgAcc1" presStyleIdx="2" presStyleCnt="3">
        <dgm:presLayoutVars>
          <dgm:bulletEnabled val="1"/>
        </dgm:presLayoutVars>
      </dgm:prSet>
      <dgm:spPr/>
    </dgm:pt>
  </dgm:ptLst>
  <dgm:cxnLst>
    <dgm:cxn modelId="{8D87B402-5311-4691-BC40-39A520CC3355}" type="presOf" srcId="{97EFB5C9-11CE-4DAD-84F8-7175F06BC78F}" destId="{9EBEB842-9516-4103-BD2E-343A0439EDF2}" srcOrd="0" destOrd="4" presId="urn:microsoft.com/office/officeart/2005/8/layout/list1"/>
    <dgm:cxn modelId="{6A22A003-98CC-42C3-AFB6-C3AE27900B46}" srcId="{9AE5F8C0-A260-4BC0-85EC-C938F520F2CF}" destId="{F6CC6DD6-EB1D-4F29-AA7E-6F1E8386D1F0}" srcOrd="1" destOrd="0" parTransId="{0E12E008-2F96-4C02-B4EE-524C01117D9A}" sibTransId="{B03EF231-2984-4646-8A32-DDCB38971560}"/>
    <dgm:cxn modelId="{8E525505-92F2-4477-B158-70038C6A9297}" type="presOf" srcId="{E43D3C01-608B-40CA-BF16-E02D0270F00D}" destId="{44BBB8C0-7E09-4FEF-A6C4-FCEDB47C0211}" srcOrd="0" destOrd="1" presId="urn:microsoft.com/office/officeart/2005/8/layout/list1"/>
    <dgm:cxn modelId="{17A64A07-5A68-404A-9430-9E09B2518856}" srcId="{ADA6591B-6669-4FC6-B283-3C5431EFCF08}" destId="{FD14043E-F81D-494C-9CC4-ECFAED61BF88}" srcOrd="1" destOrd="0" parTransId="{12EAE88F-0457-4835-A3F2-4F7B6292541A}" sibTransId="{AAAAB47D-37C3-42F9-95F5-15C560B599B3}"/>
    <dgm:cxn modelId="{061D1C0E-C9D7-4C7A-A7FC-35A49DC3832C}" type="presOf" srcId="{9AE5F8C0-A260-4BC0-85EC-C938F520F2CF}" destId="{9EBEB842-9516-4103-BD2E-343A0439EDF2}" srcOrd="0" destOrd="0" presId="urn:microsoft.com/office/officeart/2005/8/layout/list1"/>
    <dgm:cxn modelId="{DB403119-91A7-43BB-B54F-4B5F2093557C}" type="presOf" srcId="{EFFF8CE1-D7DC-41E0-8E64-401B93A5D5FA}" destId="{9EBEB842-9516-4103-BD2E-343A0439EDF2}" srcOrd="0" destOrd="1" presId="urn:microsoft.com/office/officeart/2005/8/layout/list1"/>
    <dgm:cxn modelId="{E15AF01A-77E0-4707-B1C3-9DFDCD0EFCAB}" type="presOf" srcId="{E4F11F1D-BF84-415C-91D8-37BA7CB1CD18}" destId="{9EBEB842-9516-4103-BD2E-343A0439EDF2}" srcOrd="0" destOrd="3" presId="urn:microsoft.com/office/officeart/2005/8/layout/list1"/>
    <dgm:cxn modelId="{F591A21C-EB16-4123-8E6E-7F697056ED9D}" srcId="{9AE5F8C0-A260-4BC0-85EC-C938F520F2CF}" destId="{EFFF8CE1-D7DC-41E0-8E64-401B93A5D5FA}" srcOrd="0" destOrd="0" parTransId="{157EBC74-4771-4714-8F9E-2B56EF0E7BBA}" sibTransId="{4BD44BDE-6142-46E8-A8FA-EFD91BF6E110}"/>
    <dgm:cxn modelId="{8F2E102A-3C93-4AA7-B98A-26F47E12D03F}" type="presOf" srcId="{B956367C-E01C-42AE-B39E-5CF942AD9C8C}" destId="{7926992D-1BC2-4459-A93D-9EB6BB6E6C77}" srcOrd="0" destOrd="0" presId="urn:microsoft.com/office/officeart/2005/8/layout/list1"/>
    <dgm:cxn modelId="{0B10782B-AF82-4E29-A91C-1E87338DC6FD}" type="presOf" srcId="{6AFC37FF-FAE8-47A3-A9CC-65E9507C3421}" destId="{0BB58262-B2EF-4879-9BE4-EEE93FB65D7F}" srcOrd="0" destOrd="1" presId="urn:microsoft.com/office/officeart/2005/8/layout/list1"/>
    <dgm:cxn modelId="{D691482C-3AD7-4A21-B6EE-5653A030565A}" type="presOf" srcId="{000FF1E3-2DCC-472E-B3A3-9E179855636E}" destId="{9EBEB842-9516-4103-BD2E-343A0439EDF2}" srcOrd="0" destOrd="7" presId="urn:microsoft.com/office/officeart/2005/8/layout/list1"/>
    <dgm:cxn modelId="{5D329736-346B-4D01-9936-1D0E5E83E7B4}" srcId="{B956367C-E01C-42AE-B39E-5CF942AD9C8C}" destId="{E43D3C01-608B-40CA-BF16-E02D0270F00D}" srcOrd="1" destOrd="0" parTransId="{DF257CF1-0713-4F89-A4B7-9867BC654EFC}" sibTransId="{C4006B68-5E7D-408C-83B3-56F30C25D46F}"/>
    <dgm:cxn modelId="{A624223C-B7CB-4F37-AEAB-F483F0C6A977}" type="presOf" srcId="{C940471F-4A70-4574-A49D-46D394178BB1}" destId="{FACF9DBD-5914-4D4C-A59F-F740FF595714}" srcOrd="0" destOrd="0" presId="urn:microsoft.com/office/officeart/2005/8/layout/list1"/>
    <dgm:cxn modelId="{8552205F-F6D6-48DB-A60B-3143B20F8666}" type="presOf" srcId="{603D3D48-C0B3-466F-90DF-0C0272CEA453}" destId="{44BBB8C0-7E09-4FEF-A6C4-FCEDB47C0211}" srcOrd="0" destOrd="0" presId="urn:microsoft.com/office/officeart/2005/8/layout/list1"/>
    <dgm:cxn modelId="{46379F47-439D-40A7-AFDA-1F91AA241470}" type="presOf" srcId="{21441EF9-8FF9-4894-8EA6-8213413D3F61}" destId="{9EBEB842-9516-4103-BD2E-343A0439EDF2}" srcOrd="0" destOrd="6" presId="urn:microsoft.com/office/officeart/2005/8/layout/list1"/>
    <dgm:cxn modelId="{09849F68-8FDD-4456-9C94-977416E0D583}" type="presOf" srcId="{C940471F-4A70-4574-A49D-46D394178BB1}" destId="{450821AC-019D-4C0D-BE60-A79B513C3D97}" srcOrd="1" destOrd="0" presId="urn:microsoft.com/office/officeart/2005/8/layout/list1"/>
    <dgm:cxn modelId="{4944E957-90DE-4DB1-810C-FB17B2384C86}" srcId="{9AE5F8C0-A260-4BC0-85EC-C938F520F2CF}" destId="{E4F11F1D-BF84-415C-91D8-37BA7CB1CD18}" srcOrd="2" destOrd="0" parTransId="{B9BAA260-CA91-49FF-AD07-898264FEF4D7}" sibTransId="{B19221E9-7AEE-4B7F-A14B-FB3C1CE0F2E1}"/>
    <dgm:cxn modelId="{26DD097A-7444-43AD-AE6E-A616FC4C8798}" srcId="{FD14043E-F81D-494C-9CC4-ECFAED61BF88}" destId="{C03FF7E0-2E01-4308-90D8-BBC1FF4C331E}" srcOrd="1" destOrd="0" parTransId="{748A0E00-FEFB-4787-AE17-92A22E01E78C}" sibTransId="{8113F568-BEA4-478F-B22E-74A266D12595}"/>
    <dgm:cxn modelId="{1168B57D-D62B-4004-B5FF-1227CB986593}" srcId="{ADA6591B-6669-4FC6-B283-3C5431EFCF08}" destId="{C940471F-4A70-4574-A49D-46D394178BB1}" srcOrd="0" destOrd="0" parTransId="{D1E27A10-1C7A-4A3C-8025-A274822C8DD0}" sibTransId="{F6908D5D-CB4A-48E5-8633-729314C29ED7}"/>
    <dgm:cxn modelId="{8A33CF82-B691-48CC-ADBF-E72A86BB6EB0}" srcId="{C940471F-4A70-4574-A49D-46D394178BB1}" destId="{6AFC37FF-FAE8-47A3-A9CC-65E9507C3421}" srcOrd="1" destOrd="0" parTransId="{B95550DD-D938-476A-B3AE-EB222961049B}" sibTransId="{820F004F-1CBD-4455-82B6-B13344CBB87C}"/>
    <dgm:cxn modelId="{612A1B96-343F-4146-A695-00C09234A810}" type="presOf" srcId="{FD14043E-F81D-494C-9CC4-ECFAED61BF88}" destId="{8C0B973A-643C-477B-9B3E-7B14C04AE320}" srcOrd="0" destOrd="0" presId="urn:microsoft.com/office/officeart/2005/8/layout/list1"/>
    <dgm:cxn modelId="{001B36AD-A123-4A29-BA3B-1DBF249A7575}" srcId="{FD14043E-F81D-494C-9CC4-ECFAED61BF88}" destId="{000FF1E3-2DCC-472E-B3A3-9E179855636E}" srcOrd="3" destOrd="0" parTransId="{3D41A017-2D02-48DB-AF53-DACFC0EC4617}" sibTransId="{0A3C9339-D1CC-4679-8F5B-33692E5DDA16}"/>
    <dgm:cxn modelId="{1CBCD9BF-4AA0-43B6-AD93-348FCBD93F51}" type="presOf" srcId="{4C00BDD1-123D-4641-B80A-3E7C449AA9F9}" destId="{44BBB8C0-7E09-4FEF-A6C4-FCEDB47C0211}" srcOrd="0" destOrd="2" presId="urn:microsoft.com/office/officeart/2005/8/layout/list1"/>
    <dgm:cxn modelId="{013C91C3-FAD3-40E6-AB90-6C8D2D341FE6}" srcId="{ADA6591B-6669-4FC6-B283-3C5431EFCF08}" destId="{B956367C-E01C-42AE-B39E-5CF942AD9C8C}" srcOrd="2" destOrd="0" parTransId="{BBAC74A9-C4EA-46B2-91EE-82DBF06E3DCE}" sibTransId="{8B6675EA-B2C8-4533-9597-321C6F9C082A}"/>
    <dgm:cxn modelId="{5AFB94C8-A5EB-4DC9-8B33-E6B5CFF769E3}" type="presOf" srcId="{FD14043E-F81D-494C-9CC4-ECFAED61BF88}" destId="{96E42B10-1A29-4759-A359-DA146A2163DE}" srcOrd="1" destOrd="0" presId="urn:microsoft.com/office/officeart/2005/8/layout/list1"/>
    <dgm:cxn modelId="{912482D1-AD07-4689-8FD1-3D64B5C83B51}" srcId="{9AE5F8C0-A260-4BC0-85EC-C938F520F2CF}" destId="{97EFB5C9-11CE-4DAD-84F8-7175F06BC78F}" srcOrd="3" destOrd="0" parTransId="{175CFC76-31D6-4AB2-BAA9-893332BD97F0}" sibTransId="{10239487-6284-4604-8DBC-17CDB5331098}"/>
    <dgm:cxn modelId="{8080A2D7-E770-4BD9-A0DD-5A3831E2D686}" srcId="{C940471F-4A70-4574-A49D-46D394178BB1}" destId="{FFFE009C-BBF1-47DF-A84C-A2E3622611BA}" srcOrd="0" destOrd="0" parTransId="{F94A4870-0CE0-4BA9-938A-BFFAD796F86B}" sibTransId="{8AC7836A-0617-4751-B027-E268B2C2F3D3}"/>
    <dgm:cxn modelId="{39AB01E0-61CF-4797-AFF4-3294B9B568D5}" srcId="{FD14043E-F81D-494C-9CC4-ECFAED61BF88}" destId="{9AE5F8C0-A260-4BC0-85EC-C938F520F2CF}" srcOrd="0" destOrd="0" parTransId="{D885D728-1702-4969-A946-65ED0B0C841E}" sibTransId="{B48D5D80-8D4C-4649-809A-B30B733D20EA}"/>
    <dgm:cxn modelId="{D8ECBAE1-D269-47EE-98EE-E87239445F86}" type="presOf" srcId="{ADA6591B-6669-4FC6-B283-3C5431EFCF08}" destId="{AA3A2773-F2DE-403F-9782-68515586F3AF}" srcOrd="0" destOrd="0" presId="urn:microsoft.com/office/officeart/2005/8/layout/list1"/>
    <dgm:cxn modelId="{4926B8E7-A380-4D0D-A510-F5936E7F7FE9}" srcId="{FD14043E-F81D-494C-9CC4-ECFAED61BF88}" destId="{21441EF9-8FF9-4894-8EA6-8213413D3F61}" srcOrd="2" destOrd="0" parTransId="{67F6AAE4-497C-413D-A2A7-2660B19BA832}" sibTransId="{B1230A04-537B-40CD-8FB0-AC399E1B9375}"/>
    <dgm:cxn modelId="{F734F3E7-AC34-457B-A19D-0E85311508B1}" type="presOf" srcId="{C03FF7E0-2E01-4308-90D8-BBC1FF4C331E}" destId="{9EBEB842-9516-4103-BD2E-343A0439EDF2}" srcOrd="0" destOrd="5" presId="urn:microsoft.com/office/officeart/2005/8/layout/list1"/>
    <dgm:cxn modelId="{E0F79BEB-8C5C-401C-B40F-3317DD55970E}" type="presOf" srcId="{FFFE009C-BBF1-47DF-A84C-A2E3622611BA}" destId="{0BB58262-B2EF-4879-9BE4-EEE93FB65D7F}" srcOrd="0" destOrd="0" presId="urn:microsoft.com/office/officeart/2005/8/layout/list1"/>
    <dgm:cxn modelId="{9365FEEF-9936-481C-8E84-22974B318C31}" srcId="{B956367C-E01C-42AE-B39E-5CF942AD9C8C}" destId="{4C00BDD1-123D-4641-B80A-3E7C449AA9F9}" srcOrd="2" destOrd="0" parTransId="{148BD8D3-EA45-40BF-8C23-1F44CEBF46C1}" sibTransId="{D2B8BE9D-0DA3-4978-B390-875E5D688891}"/>
    <dgm:cxn modelId="{CA8A1EF5-2F1C-4E73-9A7B-AF9820478341}" srcId="{B956367C-E01C-42AE-B39E-5CF942AD9C8C}" destId="{603D3D48-C0B3-466F-90DF-0C0272CEA453}" srcOrd="0" destOrd="0" parTransId="{F8756956-5A3F-4B8E-BCD0-B6F4135D3921}" sibTransId="{FC044674-ACFF-4EE8-A046-E43E2327831C}"/>
    <dgm:cxn modelId="{450749FA-3D81-406C-BF5F-F7B6541C1BFD}" type="presOf" srcId="{B956367C-E01C-42AE-B39E-5CF942AD9C8C}" destId="{DDC24D21-FC07-419C-8A27-96BB1BA58660}" srcOrd="1" destOrd="0" presId="urn:microsoft.com/office/officeart/2005/8/layout/list1"/>
    <dgm:cxn modelId="{21CB2CFE-1019-460C-9D8C-FBDE8F2B7E26}" type="presOf" srcId="{F6CC6DD6-EB1D-4F29-AA7E-6F1E8386D1F0}" destId="{9EBEB842-9516-4103-BD2E-343A0439EDF2}" srcOrd="0" destOrd="2" presId="urn:microsoft.com/office/officeart/2005/8/layout/list1"/>
    <dgm:cxn modelId="{1402FF1B-08A3-464F-BCCC-5AD92CF91EFC}" type="presParOf" srcId="{AA3A2773-F2DE-403F-9782-68515586F3AF}" destId="{3CCAEF2F-B9E9-4C9C-9FB4-088A446C9FBF}" srcOrd="0" destOrd="0" presId="urn:microsoft.com/office/officeart/2005/8/layout/list1"/>
    <dgm:cxn modelId="{3522F172-FD38-4126-A0FB-6ADB865A939A}" type="presParOf" srcId="{3CCAEF2F-B9E9-4C9C-9FB4-088A446C9FBF}" destId="{FACF9DBD-5914-4D4C-A59F-F740FF595714}" srcOrd="0" destOrd="0" presId="urn:microsoft.com/office/officeart/2005/8/layout/list1"/>
    <dgm:cxn modelId="{30B6C360-5585-4103-98F5-7FF1EA3A7494}" type="presParOf" srcId="{3CCAEF2F-B9E9-4C9C-9FB4-088A446C9FBF}" destId="{450821AC-019D-4C0D-BE60-A79B513C3D97}" srcOrd="1" destOrd="0" presId="urn:microsoft.com/office/officeart/2005/8/layout/list1"/>
    <dgm:cxn modelId="{10A6F431-057A-48A4-952B-6E411C920FEC}" type="presParOf" srcId="{AA3A2773-F2DE-403F-9782-68515586F3AF}" destId="{C0B879ED-86C8-4A4C-875A-00EBC15EFB1B}" srcOrd="1" destOrd="0" presId="urn:microsoft.com/office/officeart/2005/8/layout/list1"/>
    <dgm:cxn modelId="{427D778E-86AB-4AE3-8951-FE92DF457948}" type="presParOf" srcId="{AA3A2773-F2DE-403F-9782-68515586F3AF}" destId="{0BB58262-B2EF-4879-9BE4-EEE93FB65D7F}" srcOrd="2" destOrd="0" presId="urn:microsoft.com/office/officeart/2005/8/layout/list1"/>
    <dgm:cxn modelId="{BDA8DDC5-2352-464D-91FD-5CD46542A742}" type="presParOf" srcId="{AA3A2773-F2DE-403F-9782-68515586F3AF}" destId="{E843C255-4A87-4F18-92E7-C0D039BEB495}" srcOrd="3" destOrd="0" presId="urn:microsoft.com/office/officeart/2005/8/layout/list1"/>
    <dgm:cxn modelId="{F27ABD8A-42CB-458A-B41D-7244E4D612C4}" type="presParOf" srcId="{AA3A2773-F2DE-403F-9782-68515586F3AF}" destId="{4D667C2A-FE23-4770-8EF1-41C62A50B365}" srcOrd="4" destOrd="0" presId="urn:microsoft.com/office/officeart/2005/8/layout/list1"/>
    <dgm:cxn modelId="{7C0F2BD4-60DF-4DE4-A647-B98607F9A692}" type="presParOf" srcId="{4D667C2A-FE23-4770-8EF1-41C62A50B365}" destId="{8C0B973A-643C-477B-9B3E-7B14C04AE320}" srcOrd="0" destOrd="0" presId="urn:microsoft.com/office/officeart/2005/8/layout/list1"/>
    <dgm:cxn modelId="{67D4EE5A-C091-4574-8916-18B56B012F43}" type="presParOf" srcId="{4D667C2A-FE23-4770-8EF1-41C62A50B365}" destId="{96E42B10-1A29-4759-A359-DA146A2163DE}" srcOrd="1" destOrd="0" presId="urn:microsoft.com/office/officeart/2005/8/layout/list1"/>
    <dgm:cxn modelId="{832A51C8-2A1C-408A-BA64-8E1E342636B4}" type="presParOf" srcId="{AA3A2773-F2DE-403F-9782-68515586F3AF}" destId="{C5018087-D175-42CE-837F-7673D5025A73}" srcOrd="5" destOrd="0" presId="urn:microsoft.com/office/officeart/2005/8/layout/list1"/>
    <dgm:cxn modelId="{4FFF53E4-3830-4CFB-BCD6-CB73FFADC699}" type="presParOf" srcId="{AA3A2773-F2DE-403F-9782-68515586F3AF}" destId="{9EBEB842-9516-4103-BD2E-343A0439EDF2}" srcOrd="6" destOrd="0" presId="urn:microsoft.com/office/officeart/2005/8/layout/list1"/>
    <dgm:cxn modelId="{9E76C3B1-4ABC-4691-9D32-A28A3048AA65}" type="presParOf" srcId="{AA3A2773-F2DE-403F-9782-68515586F3AF}" destId="{2C658928-A1DE-4666-BFF0-AE5CF3BABF83}" srcOrd="7" destOrd="0" presId="urn:microsoft.com/office/officeart/2005/8/layout/list1"/>
    <dgm:cxn modelId="{BBDE9BD4-EBE5-456C-AFD7-E4AD64FAEFFD}" type="presParOf" srcId="{AA3A2773-F2DE-403F-9782-68515586F3AF}" destId="{5E3C4367-ECBA-4E8C-B7D8-CF880C22885A}" srcOrd="8" destOrd="0" presId="urn:microsoft.com/office/officeart/2005/8/layout/list1"/>
    <dgm:cxn modelId="{9BDAA241-C527-46DA-97AE-E9EECBCEC9AE}" type="presParOf" srcId="{5E3C4367-ECBA-4E8C-B7D8-CF880C22885A}" destId="{7926992D-1BC2-4459-A93D-9EB6BB6E6C77}" srcOrd="0" destOrd="0" presId="urn:microsoft.com/office/officeart/2005/8/layout/list1"/>
    <dgm:cxn modelId="{EA2813E6-3074-457C-9288-C19AD0A3F185}" type="presParOf" srcId="{5E3C4367-ECBA-4E8C-B7D8-CF880C22885A}" destId="{DDC24D21-FC07-419C-8A27-96BB1BA58660}" srcOrd="1" destOrd="0" presId="urn:microsoft.com/office/officeart/2005/8/layout/list1"/>
    <dgm:cxn modelId="{7ECCC63C-15BC-494E-B1B4-36D8E7308AD2}" type="presParOf" srcId="{AA3A2773-F2DE-403F-9782-68515586F3AF}" destId="{0636FBE3-3669-4FC1-805F-6FB5CA05AD3F}" srcOrd="9" destOrd="0" presId="urn:microsoft.com/office/officeart/2005/8/layout/list1"/>
    <dgm:cxn modelId="{876F6860-47A2-4C59-8108-62AF92F292F4}" type="presParOf" srcId="{AA3A2773-F2DE-403F-9782-68515586F3AF}" destId="{44BBB8C0-7E09-4FEF-A6C4-FCEDB47C021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387F49-5192-401B-AC85-A8576E84272B}"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7A4DA82A-3872-4DDF-B67B-B6A9BF330213}">
      <dgm:prSet/>
      <dgm:spPr/>
      <dgm:t>
        <a:bodyPr/>
        <a:lstStyle/>
        <a:p>
          <a:r>
            <a:rPr lang="en-US"/>
            <a:t>Reasoning </a:t>
          </a:r>
        </a:p>
      </dgm:t>
    </dgm:pt>
    <dgm:pt modelId="{AA4B2C76-29F9-4AD7-AC17-C8CB3951662C}" type="parTrans" cxnId="{8D332F16-2B42-49D0-B239-590A465CC0C2}">
      <dgm:prSet/>
      <dgm:spPr/>
      <dgm:t>
        <a:bodyPr/>
        <a:lstStyle/>
        <a:p>
          <a:endParaRPr lang="en-US"/>
        </a:p>
      </dgm:t>
    </dgm:pt>
    <dgm:pt modelId="{5EBD0862-9CC6-4E46-8EA8-A050AFFFE873}" type="sibTrans" cxnId="{8D332F16-2B42-49D0-B239-590A465CC0C2}">
      <dgm:prSet/>
      <dgm:spPr/>
      <dgm:t>
        <a:bodyPr/>
        <a:lstStyle/>
        <a:p>
          <a:endParaRPr lang="en-US"/>
        </a:p>
      </dgm:t>
    </dgm:pt>
    <dgm:pt modelId="{BF2E5C3E-96D8-451C-BC0F-810E5261541C}">
      <dgm:prSet/>
      <dgm:spPr/>
      <dgm:t>
        <a:bodyPr/>
        <a:lstStyle/>
        <a:p>
          <a:r>
            <a:rPr lang="en-US"/>
            <a:t>Types</a:t>
          </a:r>
        </a:p>
      </dgm:t>
    </dgm:pt>
    <dgm:pt modelId="{CEB17281-0177-425E-8CED-3174E772945C}" type="parTrans" cxnId="{E3B6DD77-E73B-42E8-A38E-6DEA6F4984B7}">
      <dgm:prSet/>
      <dgm:spPr/>
      <dgm:t>
        <a:bodyPr/>
        <a:lstStyle/>
        <a:p>
          <a:endParaRPr lang="en-US"/>
        </a:p>
      </dgm:t>
    </dgm:pt>
    <dgm:pt modelId="{0766CA4F-0E70-49B8-A2BF-3A1018A83532}" type="sibTrans" cxnId="{E3B6DD77-E73B-42E8-A38E-6DEA6F4984B7}">
      <dgm:prSet/>
      <dgm:spPr/>
      <dgm:t>
        <a:bodyPr/>
        <a:lstStyle/>
        <a:p>
          <a:endParaRPr lang="en-US"/>
        </a:p>
      </dgm:t>
    </dgm:pt>
    <dgm:pt modelId="{C1683D95-9F4E-499A-BF26-0681B4345C2C}">
      <dgm:prSet/>
      <dgm:spPr/>
      <dgm:t>
        <a:bodyPr/>
        <a:lstStyle/>
        <a:p>
          <a:r>
            <a:rPr lang="en-US"/>
            <a:t>Applications</a:t>
          </a:r>
        </a:p>
      </dgm:t>
    </dgm:pt>
    <dgm:pt modelId="{ADE0B212-F1EC-4188-9F4E-8FEF43EB67AB}" type="parTrans" cxnId="{AA089EE0-E5CF-40A3-979C-A8585EAF03F4}">
      <dgm:prSet/>
      <dgm:spPr/>
      <dgm:t>
        <a:bodyPr/>
        <a:lstStyle/>
        <a:p>
          <a:endParaRPr lang="en-US"/>
        </a:p>
      </dgm:t>
    </dgm:pt>
    <dgm:pt modelId="{D136E188-048C-4503-9A6C-75833E17A6BE}" type="sibTrans" cxnId="{AA089EE0-E5CF-40A3-979C-A8585EAF03F4}">
      <dgm:prSet/>
      <dgm:spPr/>
      <dgm:t>
        <a:bodyPr/>
        <a:lstStyle/>
        <a:p>
          <a:endParaRPr lang="en-US"/>
        </a:p>
      </dgm:t>
    </dgm:pt>
    <dgm:pt modelId="{AC1639F8-FC04-4C81-823E-E51818D98D34}">
      <dgm:prSet/>
      <dgm:spPr/>
      <dgm:t>
        <a:bodyPr/>
        <a:lstStyle/>
        <a:p>
          <a:r>
            <a:rPr lang="en-US"/>
            <a:t>Problem-solving</a:t>
          </a:r>
        </a:p>
      </dgm:t>
    </dgm:pt>
    <dgm:pt modelId="{DFE8B096-307A-4C08-A681-0DDDECA6E4CC}" type="parTrans" cxnId="{0A94B651-EEB4-4B03-8637-659E1E5FC060}">
      <dgm:prSet/>
      <dgm:spPr/>
      <dgm:t>
        <a:bodyPr/>
        <a:lstStyle/>
        <a:p>
          <a:endParaRPr lang="en-US"/>
        </a:p>
      </dgm:t>
    </dgm:pt>
    <dgm:pt modelId="{146F5D1D-DB9B-4390-9A87-A991A4513BB6}" type="sibTrans" cxnId="{0A94B651-EEB4-4B03-8637-659E1E5FC060}">
      <dgm:prSet/>
      <dgm:spPr/>
      <dgm:t>
        <a:bodyPr/>
        <a:lstStyle/>
        <a:p>
          <a:endParaRPr lang="en-US"/>
        </a:p>
      </dgm:t>
    </dgm:pt>
    <dgm:pt modelId="{F76651AA-317C-4CC6-8E02-C2039F85429E}">
      <dgm:prSet/>
      <dgm:spPr/>
      <dgm:t>
        <a:bodyPr/>
        <a:lstStyle/>
        <a:p>
          <a:r>
            <a:rPr lang="en-US"/>
            <a:t>Types</a:t>
          </a:r>
        </a:p>
      </dgm:t>
    </dgm:pt>
    <dgm:pt modelId="{93943D20-8D28-42F2-B44C-B310276C75FD}" type="parTrans" cxnId="{FA58B1FB-1781-4F3D-A997-44C904E487C9}">
      <dgm:prSet/>
      <dgm:spPr/>
      <dgm:t>
        <a:bodyPr/>
        <a:lstStyle/>
        <a:p>
          <a:endParaRPr lang="en-US"/>
        </a:p>
      </dgm:t>
    </dgm:pt>
    <dgm:pt modelId="{C3A74E4F-310D-4006-B82B-B1FEEC10A4FF}" type="sibTrans" cxnId="{FA58B1FB-1781-4F3D-A997-44C904E487C9}">
      <dgm:prSet/>
      <dgm:spPr/>
      <dgm:t>
        <a:bodyPr/>
        <a:lstStyle/>
        <a:p>
          <a:endParaRPr lang="en-US"/>
        </a:p>
      </dgm:t>
    </dgm:pt>
    <dgm:pt modelId="{C8EBAE05-C646-47FA-A125-082D835005E1}">
      <dgm:prSet/>
      <dgm:spPr/>
      <dgm:t>
        <a:bodyPr/>
        <a:lstStyle/>
        <a:p>
          <a:r>
            <a:rPr lang="en-US"/>
            <a:t>Applications</a:t>
          </a:r>
        </a:p>
      </dgm:t>
    </dgm:pt>
    <dgm:pt modelId="{B2E2DF67-1D59-4150-BB3B-1A0CA4943FDE}" type="parTrans" cxnId="{8B514EDC-55F5-4471-89C1-5B256242FF01}">
      <dgm:prSet/>
      <dgm:spPr/>
      <dgm:t>
        <a:bodyPr/>
        <a:lstStyle/>
        <a:p>
          <a:endParaRPr lang="en-US"/>
        </a:p>
      </dgm:t>
    </dgm:pt>
    <dgm:pt modelId="{9E96D0D8-5D89-40CF-B6F4-DD6542505DCE}" type="sibTrans" cxnId="{8B514EDC-55F5-4471-89C1-5B256242FF01}">
      <dgm:prSet/>
      <dgm:spPr/>
      <dgm:t>
        <a:bodyPr/>
        <a:lstStyle/>
        <a:p>
          <a:endParaRPr lang="en-US"/>
        </a:p>
      </dgm:t>
    </dgm:pt>
    <dgm:pt modelId="{3010AE94-DEE5-472F-9C17-A91BCECB91C4}">
      <dgm:prSet/>
      <dgm:spPr/>
      <dgm:t>
        <a:bodyPr/>
        <a:lstStyle/>
        <a:p>
          <a:r>
            <a:rPr lang="en-US"/>
            <a:t>Learning</a:t>
          </a:r>
        </a:p>
      </dgm:t>
    </dgm:pt>
    <dgm:pt modelId="{DE8BABD1-8D2E-482A-B2BC-41EE6164BA30}" type="parTrans" cxnId="{F1E3A3E5-19C3-41A9-AD4D-C58E578FF3CF}">
      <dgm:prSet/>
      <dgm:spPr/>
      <dgm:t>
        <a:bodyPr/>
        <a:lstStyle/>
        <a:p>
          <a:endParaRPr lang="en-US"/>
        </a:p>
      </dgm:t>
    </dgm:pt>
    <dgm:pt modelId="{4D780811-82FB-43E3-87E3-77F85EFEFD8E}" type="sibTrans" cxnId="{F1E3A3E5-19C3-41A9-AD4D-C58E578FF3CF}">
      <dgm:prSet/>
      <dgm:spPr/>
      <dgm:t>
        <a:bodyPr/>
        <a:lstStyle/>
        <a:p>
          <a:endParaRPr lang="en-US"/>
        </a:p>
      </dgm:t>
    </dgm:pt>
    <dgm:pt modelId="{1FBED10C-827E-49DD-8957-B0582C03442C}">
      <dgm:prSet/>
      <dgm:spPr/>
      <dgm:t>
        <a:bodyPr/>
        <a:lstStyle/>
        <a:p>
          <a:r>
            <a:rPr lang="en-US"/>
            <a:t>Types</a:t>
          </a:r>
        </a:p>
      </dgm:t>
    </dgm:pt>
    <dgm:pt modelId="{F690F16A-9EB4-4B84-AD6E-A455B28A3371}" type="parTrans" cxnId="{C7B0EAAF-EAD4-4332-8BB3-E1E54A76F335}">
      <dgm:prSet/>
      <dgm:spPr/>
      <dgm:t>
        <a:bodyPr/>
        <a:lstStyle/>
        <a:p>
          <a:endParaRPr lang="en-US"/>
        </a:p>
      </dgm:t>
    </dgm:pt>
    <dgm:pt modelId="{855290D6-9736-4CEC-B654-84575813A844}" type="sibTrans" cxnId="{C7B0EAAF-EAD4-4332-8BB3-E1E54A76F335}">
      <dgm:prSet/>
      <dgm:spPr/>
      <dgm:t>
        <a:bodyPr/>
        <a:lstStyle/>
        <a:p>
          <a:endParaRPr lang="en-US"/>
        </a:p>
      </dgm:t>
    </dgm:pt>
    <dgm:pt modelId="{B89B4274-5A52-48BE-B1D7-60FE115FC9EB}">
      <dgm:prSet/>
      <dgm:spPr/>
      <dgm:t>
        <a:bodyPr/>
        <a:lstStyle/>
        <a:p>
          <a:r>
            <a:rPr lang="en-US"/>
            <a:t>Applications</a:t>
          </a:r>
        </a:p>
      </dgm:t>
    </dgm:pt>
    <dgm:pt modelId="{92394072-1370-45B0-B430-6E29B5EA8AB0}" type="parTrans" cxnId="{16FBAB31-7728-47DF-AF52-85CDF64C0314}">
      <dgm:prSet/>
      <dgm:spPr/>
      <dgm:t>
        <a:bodyPr/>
        <a:lstStyle/>
        <a:p>
          <a:endParaRPr lang="en-US"/>
        </a:p>
      </dgm:t>
    </dgm:pt>
    <dgm:pt modelId="{7C4A5858-BB8C-4AE0-9760-83840CE49457}" type="sibTrans" cxnId="{16FBAB31-7728-47DF-AF52-85CDF64C0314}">
      <dgm:prSet/>
      <dgm:spPr/>
      <dgm:t>
        <a:bodyPr/>
        <a:lstStyle/>
        <a:p>
          <a:endParaRPr lang="en-US"/>
        </a:p>
      </dgm:t>
    </dgm:pt>
    <dgm:pt modelId="{9C473B85-CCA6-4F27-A7CB-F719F9D046F7}">
      <dgm:prSet/>
      <dgm:spPr/>
      <dgm:t>
        <a:bodyPr/>
        <a:lstStyle/>
        <a:p>
          <a:r>
            <a:rPr lang="en-US"/>
            <a:t>Perception</a:t>
          </a:r>
        </a:p>
      </dgm:t>
    </dgm:pt>
    <dgm:pt modelId="{50176117-9A98-45E6-B981-D7BE89C3EBD3}" type="parTrans" cxnId="{841733E0-059E-4D79-B6AC-4EAE3208FA56}">
      <dgm:prSet/>
      <dgm:spPr/>
      <dgm:t>
        <a:bodyPr/>
        <a:lstStyle/>
        <a:p>
          <a:endParaRPr lang="en-US"/>
        </a:p>
      </dgm:t>
    </dgm:pt>
    <dgm:pt modelId="{01CAA3FB-BCB2-4318-B42C-1C7908663486}" type="sibTrans" cxnId="{841733E0-059E-4D79-B6AC-4EAE3208FA56}">
      <dgm:prSet/>
      <dgm:spPr/>
      <dgm:t>
        <a:bodyPr/>
        <a:lstStyle/>
        <a:p>
          <a:endParaRPr lang="en-US"/>
        </a:p>
      </dgm:t>
    </dgm:pt>
    <dgm:pt modelId="{51F4B2A7-8617-4000-A490-9B567CA12EE5}">
      <dgm:prSet/>
      <dgm:spPr/>
      <dgm:t>
        <a:bodyPr/>
        <a:lstStyle/>
        <a:p>
          <a:r>
            <a:rPr lang="en-US"/>
            <a:t>Types</a:t>
          </a:r>
        </a:p>
      </dgm:t>
    </dgm:pt>
    <dgm:pt modelId="{9F5459BA-9CB3-4113-8069-647301939D62}" type="parTrans" cxnId="{E0492D4B-6AA3-4F46-8DEF-C82723A93257}">
      <dgm:prSet/>
      <dgm:spPr/>
      <dgm:t>
        <a:bodyPr/>
        <a:lstStyle/>
        <a:p>
          <a:endParaRPr lang="en-US"/>
        </a:p>
      </dgm:t>
    </dgm:pt>
    <dgm:pt modelId="{2E771E8E-4686-45DA-A11D-7C6A265CCBC1}" type="sibTrans" cxnId="{E0492D4B-6AA3-4F46-8DEF-C82723A93257}">
      <dgm:prSet/>
      <dgm:spPr/>
      <dgm:t>
        <a:bodyPr/>
        <a:lstStyle/>
        <a:p>
          <a:endParaRPr lang="en-US"/>
        </a:p>
      </dgm:t>
    </dgm:pt>
    <dgm:pt modelId="{71A824C2-0F2F-4D52-90FA-4ACC888045BB}">
      <dgm:prSet/>
      <dgm:spPr/>
      <dgm:t>
        <a:bodyPr/>
        <a:lstStyle/>
        <a:p>
          <a:r>
            <a:rPr lang="en-US"/>
            <a:t>Applications</a:t>
          </a:r>
        </a:p>
      </dgm:t>
    </dgm:pt>
    <dgm:pt modelId="{EAC87EF8-A09E-4DB0-B7DB-3F35428A1142}" type="parTrans" cxnId="{946C5326-C73E-4AEC-8C8B-36194116D546}">
      <dgm:prSet/>
      <dgm:spPr/>
      <dgm:t>
        <a:bodyPr/>
        <a:lstStyle/>
        <a:p>
          <a:endParaRPr lang="en-US"/>
        </a:p>
      </dgm:t>
    </dgm:pt>
    <dgm:pt modelId="{9C1CB308-0D8A-43B6-8489-26058C746BA6}" type="sibTrans" cxnId="{946C5326-C73E-4AEC-8C8B-36194116D546}">
      <dgm:prSet/>
      <dgm:spPr/>
      <dgm:t>
        <a:bodyPr/>
        <a:lstStyle/>
        <a:p>
          <a:endParaRPr lang="en-US"/>
        </a:p>
      </dgm:t>
    </dgm:pt>
    <dgm:pt modelId="{DE177B49-FED3-4568-A866-412BE7A16A09}" type="pres">
      <dgm:prSet presAssocID="{DB387F49-5192-401B-AC85-A8576E84272B}" presName="Name0" presStyleCnt="0">
        <dgm:presLayoutVars>
          <dgm:dir/>
          <dgm:animLvl val="lvl"/>
          <dgm:resizeHandles val="exact"/>
        </dgm:presLayoutVars>
      </dgm:prSet>
      <dgm:spPr/>
    </dgm:pt>
    <dgm:pt modelId="{BF0040F7-A977-452A-BB12-E10D747582E9}" type="pres">
      <dgm:prSet presAssocID="{7A4DA82A-3872-4DDF-B67B-B6A9BF330213}" presName="linNode" presStyleCnt="0"/>
      <dgm:spPr/>
    </dgm:pt>
    <dgm:pt modelId="{B4FA5CE1-4E68-44A6-878F-B7034B1F3146}" type="pres">
      <dgm:prSet presAssocID="{7A4DA82A-3872-4DDF-B67B-B6A9BF330213}" presName="parentText" presStyleLbl="node1" presStyleIdx="0" presStyleCnt="4">
        <dgm:presLayoutVars>
          <dgm:chMax val="1"/>
          <dgm:bulletEnabled val="1"/>
        </dgm:presLayoutVars>
      </dgm:prSet>
      <dgm:spPr/>
    </dgm:pt>
    <dgm:pt modelId="{F863EB63-A384-4D4A-AE40-71F61C34D0D4}" type="pres">
      <dgm:prSet presAssocID="{7A4DA82A-3872-4DDF-B67B-B6A9BF330213}" presName="descendantText" presStyleLbl="alignAccFollowNode1" presStyleIdx="0" presStyleCnt="4">
        <dgm:presLayoutVars>
          <dgm:bulletEnabled val="1"/>
        </dgm:presLayoutVars>
      </dgm:prSet>
      <dgm:spPr/>
    </dgm:pt>
    <dgm:pt modelId="{028B5EFC-C66F-45B0-9E3F-0D77A4F386D0}" type="pres">
      <dgm:prSet presAssocID="{5EBD0862-9CC6-4E46-8EA8-A050AFFFE873}" presName="sp" presStyleCnt="0"/>
      <dgm:spPr/>
    </dgm:pt>
    <dgm:pt modelId="{3DB9CF8C-8C1A-4AFA-A756-05EFA26E772F}" type="pres">
      <dgm:prSet presAssocID="{AC1639F8-FC04-4C81-823E-E51818D98D34}" presName="linNode" presStyleCnt="0"/>
      <dgm:spPr/>
    </dgm:pt>
    <dgm:pt modelId="{DF6EB9E5-22D4-457D-A8B6-D6BE768E503F}" type="pres">
      <dgm:prSet presAssocID="{AC1639F8-FC04-4C81-823E-E51818D98D34}" presName="parentText" presStyleLbl="node1" presStyleIdx="1" presStyleCnt="4">
        <dgm:presLayoutVars>
          <dgm:chMax val="1"/>
          <dgm:bulletEnabled val="1"/>
        </dgm:presLayoutVars>
      </dgm:prSet>
      <dgm:spPr/>
    </dgm:pt>
    <dgm:pt modelId="{72CBC7C1-B0FD-4626-9850-7A596D1DB0A5}" type="pres">
      <dgm:prSet presAssocID="{AC1639F8-FC04-4C81-823E-E51818D98D34}" presName="descendantText" presStyleLbl="alignAccFollowNode1" presStyleIdx="1" presStyleCnt="4">
        <dgm:presLayoutVars>
          <dgm:bulletEnabled val="1"/>
        </dgm:presLayoutVars>
      </dgm:prSet>
      <dgm:spPr/>
    </dgm:pt>
    <dgm:pt modelId="{60A83E35-A4B3-4E97-8470-9E2A69890B61}" type="pres">
      <dgm:prSet presAssocID="{146F5D1D-DB9B-4390-9A87-A991A4513BB6}" presName="sp" presStyleCnt="0"/>
      <dgm:spPr/>
    </dgm:pt>
    <dgm:pt modelId="{0571BC80-2A00-42D0-B3A0-B0A45865D671}" type="pres">
      <dgm:prSet presAssocID="{3010AE94-DEE5-472F-9C17-A91BCECB91C4}" presName="linNode" presStyleCnt="0"/>
      <dgm:spPr/>
    </dgm:pt>
    <dgm:pt modelId="{EE5179D5-2E2F-4198-8A62-682DE90D597E}" type="pres">
      <dgm:prSet presAssocID="{3010AE94-DEE5-472F-9C17-A91BCECB91C4}" presName="parentText" presStyleLbl="node1" presStyleIdx="2" presStyleCnt="4">
        <dgm:presLayoutVars>
          <dgm:chMax val="1"/>
          <dgm:bulletEnabled val="1"/>
        </dgm:presLayoutVars>
      </dgm:prSet>
      <dgm:spPr/>
    </dgm:pt>
    <dgm:pt modelId="{0CDEE9DA-B777-4F0A-921F-027F8392A8E2}" type="pres">
      <dgm:prSet presAssocID="{3010AE94-DEE5-472F-9C17-A91BCECB91C4}" presName="descendantText" presStyleLbl="alignAccFollowNode1" presStyleIdx="2" presStyleCnt="4">
        <dgm:presLayoutVars>
          <dgm:bulletEnabled val="1"/>
        </dgm:presLayoutVars>
      </dgm:prSet>
      <dgm:spPr/>
    </dgm:pt>
    <dgm:pt modelId="{482C0639-C87B-4CAA-8461-BE9B0D25DE97}" type="pres">
      <dgm:prSet presAssocID="{4D780811-82FB-43E3-87E3-77F85EFEFD8E}" presName="sp" presStyleCnt="0"/>
      <dgm:spPr/>
    </dgm:pt>
    <dgm:pt modelId="{1B0C5820-E2F9-4FEB-BF70-E6A2042572F9}" type="pres">
      <dgm:prSet presAssocID="{9C473B85-CCA6-4F27-A7CB-F719F9D046F7}" presName="linNode" presStyleCnt="0"/>
      <dgm:spPr/>
    </dgm:pt>
    <dgm:pt modelId="{09045394-BC14-4A0C-9C0D-C031189D9D3C}" type="pres">
      <dgm:prSet presAssocID="{9C473B85-CCA6-4F27-A7CB-F719F9D046F7}" presName="parentText" presStyleLbl="node1" presStyleIdx="3" presStyleCnt="4">
        <dgm:presLayoutVars>
          <dgm:chMax val="1"/>
          <dgm:bulletEnabled val="1"/>
        </dgm:presLayoutVars>
      </dgm:prSet>
      <dgm:spPr/>
    </dgm:pt>
    <dgm:pt modelId="{3C131FFC-C243-4D50-A75D-E6E6464274D7}" type="pres">
      <dgm:prSet presAssocID="{9C473B85-CCA6-4F27-A7CB-F719F9D046F7}" presName="descendantText" presStyleLbl="alignAccFollowNode1" presStyleIdx="3" presStyleCnt="4">
        <dgm:presLayoutVars>
          <dgm:bulletEnabled val="1"/>
        </dgm:presLayoutVars>
      </dgm:prSet>
      <dgm:spPr/>
    </dgm:pt>
  </dgm:ptLst>
  <dgm:cxnLst>
    <dgm:cxn modelId="{E4FD310B-48AF-4829-A092-A7ED3F837909}" type="presOf" srcId="{F76651AA-317C-4CC6-8E02-C2039F85429E}" destId="{72CBC7C1-B0FD-4626-9850-7A596D1DB0A5}" srcOrd="0" destOrd="0" presId="urn:microsoft.com/office/officeart/2005/8/layout/vList5"/>
    <dgm:cxn modelId="{AC477610-92AA-49B6-88EC-F9953310A3E8}" type="presOf" srcId="{7A4DA82A-3872-4DDF-B67B-B6A9BF330213}" destId="{B4FA5CE1-4E68-44A6-878F-B7034B1F3146}" srcOrd="0" destOrd="0" presId="urn:microsoft.com/office/officeart/2005/8/layout/vList5"/>
    <dgm:cxn modelId="{8D332F16-2B42-49D0-B239-590A465CC0C2}" srcId="{DB387F49-5192-401B-AC85-A8576E84272B}" destId="{7A4DA82A-3872-4DDF-B67B-B6A9BF330213}" srcOrd="0" destOrd="0" parTransId="{AA4B2C76-29F9-4AD7-AC17-C8CB3951662C}" sibTransId="{5EBD0862-9CC6-4E46-8EA8-A050AFFFE873}"/>
    <dgm:cxn modelId="{946C5326-C73E-4AEC-8C8B-36194116D546}" srcId="{9C473B85-CCA6-4F27-A7CB-F719F9D046F7}" destId="{71A824C2-0F2F-4D52-90FA-4ACC888045BB}" srcOrd="1" destOrd="0" parTransId="{EAC87EF8-A09E-4DB0-B7DB-3F35428A1142}" sibTransId="{9C1CB308-0D8A-43B6-8489-26058C746BA6}"/>
    <dgm:cxn modelId="{E6D6C82E-6C40-41EA-9813-5FDA0B422AB7}" type="presOf" srcId="{DB387F49-5192-401B-AC85-A8576E84272B}" destId="{DE177B49-FED3-4568-A866-412BE7A16A09}" srcOrd="0" destOrd="0" presId="urn:microsoft.com/office/officeart/2005/8/layout/vList5"/>
    <dgm:cxn modelId="{16FBAB31-7728-47DF-AF52-85CDF64C0314}" srcId="{3010AE94-DEE5-472F-9C17-A91BCECB91C4}" destId="{B89B4274-5A52-48BE-B1D7-60FE115FC9EB}" srcOrd="1" destOrd="0" parTransId="{92394072-1370-45B0-B430-6E29B5EA8AB0}" sibTransId="{7C4A5858-BB8C-4AE0-9760-83840CE49457}"/>
    <dgm:cxn modelId="{C15A253A-9701-4E1F-A8EA-B975EE325B01}" type="presOf" srcId="{C8EBAE05-C646-47FA-A125-082D835005E1}" destId="{72CBC7C1-B0FD-4626-9850-7A596D1DB0A5}" srcOrd="0" destOrd="1" presId="urn:microsoft.com/office/officeart/2005/8/layout/vList5"/>
    <dgm:cxn modelId="{20D54D3B-FE5E-436C-85D8-FF77B3E4DFC2}" type="presOf" srcId="{71A824C2-0F2F-4D52-90FA-4ACC888045BB}" destId="{3C131FFC-C243-4D50-A75D-E6E6464274D7}" srcOrd="0" destOrd="1" presId="urn:microsoft.com/office/officeart/2005/8/layout/vList5"/>
    <dgm:cxn modelId="{E0492D4B-6AA3-4F46-8DEF-C82723A93257}" srcId="{9C473B85-CCA6-4F27-A7CB-F719F9D046F7}" destId="{51F4B2A7-8617-4000-A490-9B567CA12EE5}" srcOrd="0" destOrd="0" parTransId="{9F5459BA-9CB3-4113-8069-647301939D62}" sibTransId="{2E771E8E-4686-45DA-A11D-7C6A265CCBC1}"/>
    <dgm:cxn modelId="{0A94B651-EEB4-4B03-8637-659E1E5FC060}" srcId="{DB387F49-5192-401B-AC85-A8576E84272B}" destId="{AC1639F8-FC04-4C81-823E-E51818D98D34}" srcOrd="1" destOrd="0" parTransId="{DFE8B096-307A-4C08-A681-0DDDECA6E4CC}" sibTransId="{146F5D1D-DB9B-4390-9A87-A991A4513BB6}"/>
    <dgm:cxn modelId="{9F596475-3768-4FE1-B90A-F365A5B2BF0F}" type="presOf" srcId="{C1683D95-9F4E-499A-BF26-0681B4345C2C}" destId="{F863EB63-A384-4D4A-AE40-71F61C34D0D4}" srcOrd="0" destOrd="1" presId="urn:microsoft.com/office/officeart/2005/8/layout/vList5"/>
    <dgm:cxn modelId="{E3B6DD77-E73B-42E8-A38E-6DEA6F4984B7}" srcId="{7A4DA82A-3872-4DDF-B67B-B6A9BF330213}" destId="{BF2E5C3E-96D8-451C-BC0F-810E5261541C}" srcOrd="0" destOrd="0" parTransId="{CEB17281-0177-425E-8CED-3174E772945C}" sibTransId="{0766CA4F-0E70-49B8-A2BF-3A1018A83532}"/>
    <dgm:cxn modelId="{8BC1FE8B-F418-486B-B13D-FBF7258F1D89}" type="presOf" srcId="{AC1639F8-FC04-4C81-823E-E51818D98D34}" destId="{DF6EB9E5-22D4-457D-A8B6-D6BE768E503F}" srcOrd="0" destOrd="0" presId="urn:microsoft.com/office/officeart/2005/8/layout/vList5"/>
    <dgm:cxn modelId="{5ABE1896-630F-4ECB-AB72-FA43FD9AD34F}" type="presOf" srcId="{9C473B85-CCA6-4F27-A7CB-F719F9D046F7}" destId="{09045394-BC14-4A0C-9C0D-C031189D9D3C}" srcOrd="0" destOrd="0" presId="urn:microsoft.com/office/officeart/2005/8/layout/vList5"/>
    <dgm:cxn modelId="{0247B2AC-84F6-41FF-A0FE-61ACC92A4367}" type="presOf" srcId="{51F4B2A7-8617-4000-A490-9B567CA12EE5}" destId="{3C131FFC-C243-4D50-A75D-E6E6464274D7}" srcOrd="0" destOrd="0" presId="urn:microsoft.com/office/officeart/2005/8/layout/vList5"/>
    <dgm:cxn modelId="{C7B0EAAF-EAD4-4332-8BB3-E1E54A76F335}" srcId="{3010AE94-DEE5-472F-9C17-A91BCECB91C4}" destId="{1FBED10C-827E-49DD-8957-B0582C03442C}" srcOrd="0" destOrd="0" parTransId="{F690F16A-9EB4-4B84-AD6E-A455B28A3371}" sibTransId="{855290D6-9736-4CEC-B654-84575813A844}"/>
    <dgm:cxn modelId="{428321C7-EB87-4BCC-865B-A9BFF0F6C8E5}" type="presOf" srcId="{B89B4274-5A52-48BE-B1D7-60FE115FC9EB}" destId="{0CDEE9DA-B777-4F0A-921F-027F8392A8E2}" srcOrd="0" destOrd="1" presId="urn:microsoft.com/office/officeart/2005/8/layout/vList5"/>
    <dgm:cxn modelId="{8B514EDC-55F5-4471-89C1-5B256242FF01}" srcId="{AC1639F8-FC04-4C81-823E-E51818D98D34}" destId="{C8EBAE05-C646-47FA-A125-082D835005E1}" srcOrd="1" destOrd="0" parTransId="{B2E2DF67-1D59-4150-BB3B-1A0CA4943FDE}" sibTransId="{9E96D0D8-5D89-40CF-B6F4-DD6542505DCE}"/>
    <dgm:cxn modelId="{841733E0-059E-4D79-B6AC-4EAE3208FA56}" srcId="{DB387F49-5192-401B-AC85-A8576E84272B}" destId="{9C473B85-CCA6-4F27-A7CB-F719F9D046F7}" srcOrd="3" destOrd="0" parTransId="{50176117-9A98-45E6-B981-D7BE89C3EBD3}" sibTransId="{01CAA3FB-BCB2-4318-B42C-1C7908663486}"/>
    <dgm:cxn modelId="{AA089EE0-E5CF-40A3-979C-A8585EAF03F4}" srcId="{7A4DA82A-3872-4DDF-B67B-B6A9BF330213}" destId="{C1683D95-9F4E-499A-BF26-0681B4345C2C}" srcOrd="1" destOrd="0" parTransId="{ADE0B212-F1EC-4188-9F4E-8FEF43EB67AB}" sibTransId="{D136E188-048C-4503-9A6C-75833E17A6BE}"/>
    <dgm:cxn modelId="{F1E3A3E5-19C3-41A9-AD4D-C58E578FF3CF}" srcId="{DB387F49-5192-401B-AC85-A8576E84272B}" destId="{3010AE94-DEE5-472F-9C17-A91BCECB91C4}" srcOrd="2" destOrd="0" parTransId="{DE8BABD1-8D2E-482A-B2BC-41EE6164BA30}" sibTransId="{4D780811-82FB-43E3-87E3-77F85EFEFD8E}"/>
    <dgm:cxn modelId="{30CB18E6-FAD0-4926-A494-C6F8086C85C9}" type="presOf" srcId="{3010AE94-DEE5-472F-9C17-A91BCECB91C4}" destId="{EE5179D5-2E2F-4198-8A62-682DE90D597E}" srcOrd="0" destOrd="0" presId="urn:microsoft.com/office/officeart/2005/8/layout/vList5"/>
    <dgm:cxn modelId="{6096E4EB-B846-4727-9A9F-5184309ED9F5}" type="presOf" srcId="{1FBED10C-827E-49DD-8957-B0582C03442C}" destId="{0CDEE9DA-B777-4F0A-921F-027F8392A8E2}" srcOrd="0" destOrd="0" presId="urn:microsoft.com/office/officeart/2005/8/layout/vList5"/>
    <dgm:cxn modelId="{8C0D87F1-E112-40AF-BC5A-EA22A28FAA7A}" type="presOf" srcId="{BF2E5C3E-96D8-451C-BC0F-810E5261541C}" destId="{F863EB63-A384-4D4A-AE40-71F61C34D0D4}" srcOrd="0" destOrd="0" presId="urn:microsoft.com/office/officeart/2005/8/layout/vList5"/>
    <dgm:cxn modelId="{FA58B1FB-1781-4F3D-A997-44C904E487C9}" srcId="{AC1639F8-FC04-4C81-823E-E51818D98D34}" destId="{F76651AA-317C-4CC6-8E02-C2039F85429E}" srcOrd="0" destOrd="0" parTransId="{93943D20-8D28-42F2-B44C-B310276C75FD}" sibTransId="{C3A74E4F-310D-4006-B82B-B1FEEC10A4FF}"/>
    <dgm:cxn modelId="{B0DC1C74-34CB-44BC-80B6-A99C22025686}" type="presParOf" srcId="{DE177B49-FED3-4568-A866-412BE7A16A09}" destId="{BF0040F7-A977-452A-BB12-E10D747582E9}" srcOrd="0" destOrd="0" presId="urn:microsoft.com/office/officeart/2005/8/layout/vList5"/>
    <dgm:cxn modelId="{24FAD8E2-3C8D-4334-BC4D-917A28746C0C}" type="presParOf" srcId="{BF0040F7-A977-452A-BB12-E10D747582E9}" destId="{B4FA5CE1-4E68-44A6-878F-B7034B1F3146}" srcOrd="0" destOrd="0" presId="urn:microsoft.com/office/officeart/2005/8/layout/vList5"/>
    <dgm:cxn modelId="{D763B81B-CAFF-4E97-98CB-8CE78DB5FD0D}" type="presParOf" srcId="{BF0040F7-A977-452A-BB12-E10D747582E9}" destId="{F863EB63-A384-4D4A-AE40-71F61C34D0D4}" srcOrd="1" destOrd="0" presId="urn:microsoft.com/office/officeart/2005/8/layout/vList5"/>
    <dgm:cxn modelId="{FD13C1FA-1BF3-4BA9-B895-F8B060148C0A}" type="presParOf" srcId="{DE177B49-FED3-4568-A866-412BE7A16A09}" destId="{028B5EFC-C66F-45B0-9E3F-0D77A4F386D0}" srcOrd="1" destOrd="0" presId="urn:microsoft.com/office/officeart/2005/8/layout/vList5"/>
    <dgm:cxn modelId="{5B6B9A4C-630F-43C2-8238-3B9E22D5E644}" type="presParOf" srcId="{DE177B49-FED3-4568-A866-412BE7A16A09}" destId="{3DB9CF8C-8C1A-4AFA-A756-05EFA26E772F}" srcOrd="2" destOrd="0" presId="urn:microsoft.com/office/officeart/2005/8/layout/vList5"/>
    <dgm:cxn modelId="{67432FCF-5F78-49A2-94DC-D2E54C41B23D}" type="presParOf" srcId="{3DB9CF8C-8C1A-4AFA-A756-05EFA26E772F}" destId="{DF6EB9E5-22D4-457D-A8B6-D6BE768E503F}" srcOrd="0" destOrd="0" presId="urn:microsoft.com/office/officeart/2005/8/layout/vList5"/>
    <dgm:cxn modelId="{E8E26FF3-21A9-4094-916F-C9C633C9CE37}" type="presParOf" srcId="{3DB9CF8C-8C1A-4AFA-A756-05EFA26E772F}" destId="{72CBC7C1-B0FD-4626-9850-7A596D1DB0A5}" srcOrd="1" destOrd="0" presId="urn:microsoft.com/office/officeart/2005/8/layout/vList5"/>
    <dgm:cxn modelId="{0BA147DC-DA23-42E4-B58A-CE3541B14AB8}" type="presParOf" srcId="{DE177B49-FED3-4568-A866-412BE7A16A09}" destId="{60A83E35-A4B3-4E97-8470-9E2A69890B61}" srcOrd="3" destOrd="0" presId="urn:microsoft.com/office/officeart/2005/8/layout/vList5"/>
    <dgm:cxn modelId="{360EDE8E-23DA-4742-B62C-2690037A475C}" type="presParOf" srcId="{DE177B49-FED3-4568-A866-412BE7A16A09}" destId="{0571BC80-2A00-42D0-B3A0-B0A45865D671}" srcOrd="4" destOrd="0" presId="urn:microsoft.com/office/officeart/2005/8/layout/vList5"/>
    <dgm:cxn modelId="{3AC5E6ED-DBD9-4967-A9C2-5C6D93DD7350}" type="presParOf" srcId="{0571BC80-2A00-42D0-B3A0-B0A45865D671}" destId="{EE5179D5-2E2F-4198-8A62-682DE90D597E}" srcOrd="0" destOrd="0" presId="urn:microsoft.com/office/officeart/2005/8/layout/vList5"/>
    <dgm:cxn modelId="{90E43161-C3E7-4A90-87EE-7A7C95803C36}" type="presParOf" srcId="{0571BC80-2A00-42D0-B3A0-B0A45865D671}" destId="{0CDEE9DA-B777-4F0A-921F-027F8392A8E2}" srcOrd="1" destOrd="0" presId="urn:microsoft.com/office/officeart/2005/8/layout/vList5"/>
    <dgm:cxn modelId="{A56D4DA3-71FB-48A9-B3BB-7D5F77B3218C}" type="presParOf" srcId="{DE177B49-FED3-4568-A866-412BE7A16A09}" destId="{482C0639-C87B-4CAA-8461-BE9B0D25DE97}" srcOrd="5" destOrd="0" presId="urn:microsoft.com/office/officeart/2005/8/layout/vList5"/>
    <dgm:cxn modelId="{51C7C267-439F-4F44-A063-8C6BD47EEDB8}" type="presParOf" srcId="{DE177B49-FED3-4568-A866-412BE7A16A09}" destId="{1B0C5820-E2F9-4FEB-BF70-E6A2042572F9}" srcOrd="6" destOrd="0" presId="urn:microsoft.com/office/officeart/2005/8/layout/vList5"/>
    <dgm:cxn modelId="{66DFC20A-E53F-4396-9F43-CEC46FB0D09A}" type="presParOf" srcId="{1B0C5820-E2F9-4FEB-BF70-E6A2042572F9}" destId="{09045394-BC14-4A0C-9C0D-C031189D9D3C}" srcOrd="0" destOrd="0" presId="urn:microsoft.com/office/officeart/2005/8/layout/vList5"/>
    <dgm:cxn modelId="{7CB2E0DA-B9FD-4A84-8DDB-8ED64C4E1F5F}" type="presParOf" srcId="{1B0C5820-E2F9-4FEB-BF70-E6A2042572F9}" destId="{3C131FFC-C243-4D50-A75D-E6E6464274D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6BFFAC-D56E-4782-B79D-394745C69BE0}"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37A1CC0E-3684-4B97-9B16-65BCD3173A6B}">
      <dgm:prSet/>
      <dgm:spPr/>
      <dgm:t>
        <a:bodyPr/>
        <a:lstStyle/>
        <a:p>
          <a:r>
            <a:rPr lang="en-US" dirty="0"/>
            <a:t>Refers to intelligence demonstrated by biological entities (humans and animals).</a:t>
          </a:r>
        </a:p>
      </dgm:t>
    </dgm:pt>
    <dgm:pt modelId="{153CCCDA-2CAA-48E4-80B6-C854FC260053}" type="parTrans" cxnId="{620463D3-0E63-48F4-A4C8-B155FA1975CB}">
      <dgm:prSet/>
      <dgm:spPr/>
      <dgm:t>
        <a:bodyPr/>
        <a:lstStyle/>
        <a:p>
          <a:endParaRPr lang="en-US"/>
        </a:p>
      </dgm:t>
    </dgm:pt>
    <dgm:pt modelId="{9AE6FFD1-E13A-4935-AB5A-DCF496B56AA2}" type="sibTrans" cxnId="{620463D3-0E63-48F4-A4C8-B155FA1975CB}">
      <dgm:prSet/>
      <dgm:spPr/>
      <dgm:t>
        <a:bodyPr/>
        <a:lstStyle/>
        <a:p>
          <a:endParaRPr lang="en-US"/>
        </a:p>
      </dgm:t>
    </dgm:pt>
    <dgm:pt modelId="{1F1019BF-42B5-4A33-A235-06017E5E9216}">
      <dgm:prSet/>
      <dgm:spPr/>
      <dgm:t>
        <a:bodyPr/>
        <a:lstStyle/>
        <a:p>
          <a:r>
            <a:rPr lang="en-US" b="1" dirty="0"/>
            <a:t>Key Characteristics</a:t>
          </a:r>
          <a:r>
            <a:rPr lang="en-US" dirty="0"/>
            <a:t>:</a:t>
          </a:r>
        </a:p>
      </dgm:t>
    </dgm:pt>
    <dgm:pt modelId="{D00379AA-0BD9-45DE-A8DB-EF02D2029E56}" type="parTrans" cxnId="{A4053AC6-4A38-480D-BA5A-71383B5E9E75}">
      <dgm:prSet/>
      <dgm:spPr/>
      <dgm:t>
        <a:bodyPr/>
        <a:lstStyle/>
        <a:p>
          <a:endParaRPr lang="en-US"/>
        </a:p>
      </dgm:t>
    </dgm:pt>
    <dgm:pt modelId="{C96CF6DD-24E7-472E-B777-AAC2CDA4F155}" type="sibTrans" cxnId="{A4053AC6-4A38-480D-BA5A-71383B5E9E75}">
      <dgm:prSet/>
      <dgm:spPr/>
      <dgm:t>
        <a:bodyPr/>
        <a:lstStyle/>
        <a:p>
          <a:endParaRPr lang="en-US"/>
        </a:p>
      </dgm:t>
    </dgm:pt>
    <dgm:pt modelId="{A4BD04E0-5113-489C-8F29-34DE2E3C1FF7}">
      <dgm:prSet custT="1"/>
      <dgm:spPr>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gm:spPr>
      <dgm:t>
        <a:bodyPr spcFirstLastPara="0" vert="horz" wrap="square" lIns="113792" tIns="20320" rIns="113792" bIns="20320" numCol="1" spcCol="1270" anchor="ctr" anchorCtr="0"/>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Adaptability: Adjusts behavior based on experiences.</a:t>
          </a:r>
        </a:p>
      </dgm:t>
    </dgm:pt>
    <dgm:pt modelId="{7C0D41A1-9CB4-40B9-BE35-A5D9C7210163}" type="parTrans" cxnId="{53CFAF01-EA82-4F55-921D-B0E132CAC7E5}">
      <dgm:prSet/>
      <dgm:spPr/>
      <dgm:t>
        <a:bodyPr/>
        <a:lstStyle/>
        <a:p>
          <a:endParaRPr lang="en-US"/>
        </a:p>
      </dgm:t>
    </dgm:pt>
    <dgm:pt modelId="{B0020B15-F333-4A0C-8542-00DB28B8EB5C}" type="sibTrans" cxnId="{53CFAF01-EA82-4F55-921D-B0E132CAC7E5}">
      <dgm:prSet/>
      <dgm:spPr/>
      <dgm:t>
        <a:bodyPr/>
        <a:lstStyle/>
        <a:p>
          <a:endParaRPr lang="en-US"/>
        </a:p>
      </dgm:t>
    </dgm:pt>
    <dgm:pt modelId="{41924A5A-921B-49E2-95BC-604EEF9F0811}">
      <dgm:prSet custT="1"/>
      <dgm:spPr>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gm:spPr>
      <dgm:t>
        <a:bodyPr spcFirstLastPara="0" vert="horz" wrap="square" lIns="113792" tIns="20320" rIns="113792" bIns="20320" numCol="1" spcCol="1270" anchor="ctr" anchorCtr="0"/>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Emotional &amp; Social Skills: Interprets emotions and navigates social interactions.</a:t>
          </a:r>
        </a:p>
      </dgm:t>
    </dgm:pt>
    <dgm:pt modelId="{AEC31F0A-DE82-4921-8586-AF192934A90A}" type="parTrans" cxnId="{1D2A6CC5-75AB-4022-849E-9E52FF457652}">
      <dgm:prSet/>
      <dgm:spPr/>
      <dgm:t>
        <a:bodyPr/>
        <a:lstStyle/>
        <a:p>
          <a:endParaRPr lang="en-US"/>
        </a:p>
      </dgm:t>
    </dgm:pt>
    <dgm:pt modelId="{484C552A-7B2A-419A-8C27-2D83EA8017D1}" type="sibTrans" cxnId="{1D2A6CC5-75AB-4022-849E-9E52FF457652}">
      <dgm:prSet/>
      <dgm:spPr/>
      <dgm:t>
        <a:bodyPr/>
        <a:lstStyle/>
        <a:p>
          <a:endParaRPr lang="en-US"/>
        </a:p>
      </dgm:t>
    </dgm:pt>
    <dgm:pt modelId="{DD7A44FF-009B-4D07-A8FF-D0BA16CDC231}">
      <dgm:prSet custT="1"/>
      <dgm:spPr>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gm:spPr>
      <dgm:t>
        <a:bodyPr spcFirstLastPara="0" vert="horz" wrap="square" lIns="113792" tIns="20320" rIns="113792" bIns="20320" numCol="1" spcCol="1270" anchor="ctr" anchorCtr="0"/>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Creative Thinking: Generates new ideas and uses imagination.</a:t>
          </a:r>
        </a:p>
      </dgm:t>
    </dgm:pt>
    <dgm:pt modelId="{8EE814E2-5BCD-4919-974D-03BA83973AE0}" type="parTrans" cxnId="{DF443F70-4DA1-4EF1-8BE8-F69C867DF434}">
      <dgm:prSet/>
      <dgm:spPr/>
      <dgm:t>
        <a:bodyPr/>
        <a:lstStyle/>
        <a:p>
          <a:endParaRPr lang="en-US"/>
        </a:p>
      </dgm:t>
    </dgm:pt>
    <dgm:pt modelId="{0D9D82FB-4CD9-4E1B-BC0A-6BC82A1FFA1B}" type="sibTrans" cxnId="{DF443F70-4DA1-4EF1-8BE8-F69C867DF434}">
      <dgm:prSet/>
      <dgm:spPr/>
      <dgm:t>
        <a:bodyPr/>
        <a:lstStyle/>
        <a:p>
          <a:endParaRPr lang="en-US"/>
        </a:p>
      </dgm:t>
    </dgm:pt>
    <dgm:pt modelId="{D7376430-A0FF-4738-BC44-9B93A281C411}">
      <dgm:prSet custT="1"/>
      <dgm:spPr/>
      <dgm:t>
        <a:bodyPr/>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Intuition: Solves problems without structured analysis.</a:t>
          </a:r>
        </a:p>
      </dgm:t>
    </dgm:pt>
    <dgm:pt modelId="{B7F84E99-1423-441B-804F-2C29607A22C6}" type="parTrans" cxnId="{15AFCD07-E724-4A7C-8EE3-31B39F967A62}">
      <dgm:prSet/>
      <dgm:spPr/>
      <dgm:t>
        <a:bodyPr/>
        <a:lstStyle/>
        <a:p>
          <a:endParaRPr lang="en-US"/>
        </a:p>
      </dgm:t>
    </dgm:pt>
    <dgm:pt modelId="{A4EED03A-C3C3-48B6-B240-8BB09877DC1B}" type="sibTrans" cxnId="{15AFCD07-E724-4A7C-8EE3-31B39F967A62}">
      <dgm:prSet/>
      <dgm:spPr/>
      <dgm:t>
        <a:bodyPr/>
        <a:lstStyle/>
        <a:p>
          <a:endParaRPr lang="en-US"/>
        </a:p>
      </dgm:t>
    </dgm:pt>
    <dgm:pt modelId="{92197B60-2265-4C5B-AC1C-1B191836D4D2}" type="pres">
      <dgm:prSet presAssocID="{776BFFAC-D56E-4782-B79D-394745C69BE0}" presName="Name0" presStyleCnt="0">
        <dgm:presLayoutVars>
          <dgm:dir/>
          <dgm:animLvl val="lvl"/>
          <dgm:resizeHandles val="exact"/>
        </dgm:presLayoutVars>
      </dgm:prSet>
      <dgm:spPr/>
    </dgm:pt>
    <dgm:pt modelId="{645010C3-2C62-47BD-9B72-02860F88A133}" type="pres">
      <dgm:prSet presAssocID="{1F1019BF-42B5-4A33-A235-06017E5E9216}" presName="boxAndChildren" presStyleCnt="0"/>
      <dgm:spPr/>
    </dgm:pt>
    <dgm:pt modelId="{6B630365-CE7A-4084-A41E-AFEBA1D8A97C}" type="pres">
      <dgm:prSet presAssocID="{1F1019BF-42B5-4A33-A235-06017E5E9216}" presName="parentTextBox" presStyleLbl="node1" presStyleIdx="0" presStyleCnt="2"/>
      <dgm:spPr/>
    </dgm:pt>
    <dgm:pt modelId="{74B3D88A-FB14-46F0-BE07-CD64F4ACFD4D}" type="pres">
      <dgm:prSet presAssocID="{1F1019BF-42B5-4A33-A235-06017E5E9216}" presName="entireBox" presStyleLbl="node1" presStyleIdx="0" presStyleCnt="2" custScaleY="219994"/>
      <dgm:spPr/>
    </dgm:pt>
    <dgm:pt modelId="{3CA85AF8-E64E-4A37-9438-CA3B43F2944C}" type="pres">
      <dgm:prSet presAssocID="{1F1019BF-42B5-4A33-A235-06017E5E9216}" presName="descendantBox" presStyleCnt="0"/>
      <dgm:spPr/>
    </dgm:pt>
    <dgm:pt modelId="{15F7713E-D95C-484E-B234-FA24D4501729}" type="pres">
      <dgm:prSet presAssocID="{A4BD04E0-5113-489C-8F29-34DE2E3C1FF7}" presName="childTextBox" presStyleLbl="fgAccFollowNode1" presStyleIdx="0" presStyleCnt="4" custScaleY="313404">
        <dgm:presLayoutVars>
          <dgm:bulletEnabled val="1"/>
        </dgm:presLayoutVars>
      </dgm:prSet>
      <dgm:spPr>
        <a:xfrm>
          <a:off x="3522" y="2537346"/>
          <a:ext cx="1801638" cy="1242720"/>
        </a:xfrm>
        <a:prstGeom prst="rect">
          <a:avLst/>
        </a:prstGeom>
      </dgm:spPr>
    </dgm:pt>
    <dgm:pt modelId="{36CB3B98-F8E9-4B62-84B4-939692D30458}" type="pres">
      <dgm:prSet presAssocID="{41924A5A-921B-49E2-95BC-604EEF9F0811}" presName="childTextBox" presStyleLbl="fgAccFollowNode1" presStyleIdx="1" presStyleCnt="4" custScaleY="249363">
        <dgm:presLayoutVars>
          <dgm:bulletEnabled val="1"/>
        </dgm:presLayoutVars>
      </dgm:prSet>
      <dgm:spPr>
        <a:xfrm>
          <a:off x="1805161" y="2905862"/>
          <a:ext cx="1801638" cy="505688"/>
        </a:xfrm>
        <a:prstGeom prst="rect">
          <a:avLst/>
        </a:prstGeom>
      </dgm:spPr>
    </dgm:pt>
    <dgm:pt modelId="{EEED0B63-74FF-478A-A44F-5080200C7940}" type="pres">
      <dgm:prSet presAssocID="{DD7A44FF-009B-4D07-A8FF-D0BA16CDC231}" presName="childTextBox" presStyleLbl="fgAccFollowNode1" presStyleIdx="2" presStyleCnt="4" custScaleY="221047">
        <dgm:presLayoutVars>
          <dgm:bulletEnabled val="1"/>
        </dgm:presLayoutVars>
      </dgm:prSet>
      <dgm:spPr>
        <a:xfrm>
          <a:off x="3606800" y="2905862"/>
          <a:ext cx="1801638" cy="505688"/>
        </a:xfrm>
        <a:prstGeom prst="rect">
          <a:avLst/>
        </a:prstGeom>
      </dgm:spPr>
    </dgm:pt>
    <dgm:pt modelId="{BA13C1B6-7CC1-46C6-83CA-D2203781AF7B}" type="pres">
      <dgm:prSet presAssocID="{D7376430-A0FF-4738-BC44-9B93A281C411}" presName="childTextBox" presStyleLbl="fgAccFollowNode1" presStyleIdx="3" presStyleCnt="4" custScaleY="266736">
        <dgm:presLayoutVars>
          <dgm:bulletEnabled val="1"/>
        </dgm:presLayoutVars>
      </dgm:prSet>
      <dgm:spPr/>
    </dgm:pt>
    <dgm:pt modelId="{C5544191-1A51-4A19-B28C-4BE5EB894A7C}" type="pres">
      <dgm:prSet presAssocID="{9AE6FFD1-E13A-4935-AB5A-DCF496B56AA2}" presName="sp" presStyleCnt="0"/>
      <dgm:spPr/>
    </dgm:pt>
    <dgm:pt modelId="{0B947E83-CD36-466D-96B9-12C6FAAE017B}" type="pres">
      <dgm:prSet presAssocID="{37A1CC0E-3684-4B97-9B16-65BCD3173A6B}" presName="arrowAndChildren" presStyleCnt="0"/>
      <dgm:spPr/>
    </dgm:pt>
    <dgm:pt modelId="{E9D6082E-732E-4B79-A2EB-B01F3702C551}" type="pres">
      <dgm:prSet presAssocID="{37A1CC0E-3684-4B97-9B16-65BCD3173A6B}" presName="parentTextArrow" presStyleLbl="node1" presStyleIdx="1" presStyleCnt="2" custScaleY="70634"/>
      <dgm:spPr/>
    </dgm:pt>
  </dgm:ptLst>
  <dgm:cxnLst>
    <dgm:cxn modelId="{53CFAF01-EA82-4F55-921D-B0E132CAC7E5}" srcId="{1F1019BF-42B5-4A33-A235-06017E5E9216}" destId="{A4BD04E0-5113-489C-8F29-34DE2E3C1FF7}" srcOrd="0" destOrd="0" parTransId="{7C0D41A1-9CB4-40B9-BE35-A5D9C7210163}" sibTransId="{B0020B15-F333-4A0C-8542-00DB28B8EB5C}"/>
    <dgm:cxn modelId="{C09B4504-BF92-4E1C-BB22-4E07E317F6C3}" type="presOf" srcId="{DD7A44FF-009B-4D07-A8FF-D0BA16CDC231}" destId="{EEED0B63-74FF-478A-A44F-5080200C7940}" srcOrd="0" destOrd="0" presId="urn:microsoft.com/office/officeart/2005/8/layout/process4"/>
    <dgm:cxn modelId="{15AFCD07-E724-4A7C-8EE3-31B39F967A62}" srcId="{1F1019BF-42B5-4A33-A235-06017E5E9216}" destId="{D7376430-A0FF-4738-BC44-9B93A281C411}" srcOrd="3" destOrd="0" parTransId="{B7F84E99-1423-441B-804F-2C29607A22C6}" sibTransId="{A4EED03A-C3C3-48B6-B240-8BB09877DC1B}"/>
    <dgm:cxn modelId="{43EBFD2D-7A90-4E54-A479-28416FDE526E}" type="presOf" srcId="{41924A5A-921B-49E2-95BC-604EEF9F0811}" destId="{36CB3B98-F8E9-4B62-84B4-939692D30458}" srcOrd="0" destOrd="0" presId="urn:microsoft.com/office/officeart/2005/8/layout/process4"/>
    <dgm:cxn modelId="{A2C89440-9215-4D41-B81C-9AFFA7693635}" type="presOf" srcId="{1F1019BF-42B5-4A33-A235-06017E5E9216}" destId="{6B630365-CE7A-4084-A41E-AFEBA1D8A97C}" srcOrd="0" destOrd="0" presId="urn:microsoft.com/office/officeart/2005/8/layout/process4"/>
    <dgm:cxn modelId="{DF443F70-4DA1-4EF1-8BE8-F69C867DF434}" srcId="{1F1019BF-42B5-4A33-A235-06017E5E9216}" destId="{DD7A44FF-009B-4D07-A8FF-D0BA16CDC231}" srcOrd="2" destOrd="0" parTransId="{8EE814E2-5BCD-4919-974D-03BA83973AE0}" sibTransId="{0D9D82FB-4CD9-4E1B-BC0A-6BC82A1FFA1B}"/>
    <dgm:cxn modelId="{0F751673-7B7E-48E5-84CA-31D0D07843B9}" type="presOf" srcId="{1F1019BF-42B5-4A33-A235-06017E5E9216}" destId="{74B3D88A-FB14-46F0-BE07-CD64F4ACFD4D}" srcOrd="1" destOrd="0" presId="urn:microsoft.com/office/officeart/2005/8/layout/process4"/>
    <dgm:cxn modelId="{9ABFC493-ADAD-4CF0-958C-81CBB5DD690A}" type="presOf" srcId="{37A1CC0E-3684-4B97-9B16-65BCD3173A6B}" destId="{E9D6082E-732E-4B79-A2EB-B01F3702C551}" srcOrd="0" destOrd="0" presId="urn:microsoft.com/office/officeart/2005/8/layout/process4"/>
    <dgm:cxn modelId="{C28472A8-644D-4550-BBE8-C2E24700A160}" type="presOf" srcId="{A4BD04E0-5113-489C-8F29-34DE2E3C1FF7}" destId="{15F7713E-D95C-484E-B234-FA24D4501729}" srcOrd="0" destOrd="0" presId="urn:microsoft.com/office/officeart/2005/8/layout/process4"/>
    <dgm:cxn modelId="{1D2A6CC5-75AB-4022-849E-9E52FF457652}" srcId="{1F1019BF-42B5-4A33-A235-06017E5E9216}" destId="{41924A5A-921B-49E2-95BC-604EEF9F0811}" srcOrd="1" destOrd="0" parTransId="{AEC31F0A-DE82-4921-8586-AF192934A90A}" sibTransId="{484C552A-7B2A-419A-8C27-2D83EA8017D1}"/>
    <dgm:cxn modelId="{A4053AC6-4A38-480D-BA5A-71383B5E9E75}" srcId="{776BFFAC-D56E-4782-B79D-394745C69BE0}" destId="{1F1019BF-42B5-4A33-A235-06017E5E9216}" srcOrd="1" destOrd="0" parTransId="{D00379AA-0BD9-45DE-A8DB-EF02D2029E56}" sibTransId="{C96CF6DD-24E7-472E-B777-AAC2CDA4F155}"/>
    <dgm:cxn modelId="{620463D3-0E63-48F4-A4C8-B155FA1975CB}" srcId="{776BFFAC-D56E-4782-B79D-394745C69BE0}" destId="{37A1CC0E-3684-4B97-9B16-65BCD3173A6B}" srcOrd="0" destOrd="0" parTransId="{153CCCDA-2CAA-48E4-80B6-C854FC260053}" sibTransId="{9AE6FFD1-E13A-4935-AB5A-DCF496B56AA2}"/>
    <dgm:cxn modelId="{6E1E75DE-8FB7-4A2D-B20A-067FD8AA05AF}" type="presOf" srcId="{D7376430-A0FF-4738-BC44-9B93A281C411}" destId="{BA13C1B6-7CC1-46C6-83CA-D2203781AF7B}" srcOrd="0" destOrd="0" presId="urn:microsoft.com/office/officeart/2005/8/layout/process4"/>
    <dgm:cxn modelId="{D3EF16FA-A719-41C1-976A-8F4A5FD588F1}" type="presOf" srcId="{776BFFAC-D56E-4782-B79D-394745C69BE0}" destId="{92197B60-2265-4C5B-AC1C-1B191836D4D2}" srcOrd="0" destOrd="0" presId="urn:microsoft.com/office/officeart/2005/8/layout/process4"/>
    <dgm:cxn modelId="{3B2F5A4B-C3E5-4281-ACF3-722F1A28019F}" type="presParOf" srcId="{92197B60-2265-4C5B-AC1C-1B191836D4D2}" destId="{645010C3-2C62-47BD-9B72-02860F88A133}" srcOrd="0" destOrd="0" presId="urn:microsoft.com/office/officeart/2005/8/layout/process4"/>
    <dgm:cxn modelId="{2D076B46-D7AA-4A34-94E4-F4F3821EF915}" type="presParOf" srcId="{645010C3-2C62-47BD-9B72-02860F88A133}" destId="{6B630365-CE7A-4084-A41E-AFEBA1D8A97C}" srcOrd="0" destOrd="0" presId="urn:microsoft.com/office/officeart/2005/8/layout/process4"/>
    <dgm:cxn modelId="{F66B3DAC-E862-4563-B6E2-80A7FA2CF35D}" type="presParOf" srcId="{645010C3-2C62-47BD-9B72-02860F88A133}" destId="{74B3D88A-FB14-46F0-BE07-CD64F4ACFD4D}" srcOrd="1" destOrd="0" presId="urn:microsoft.com/office/officeart/2005/8/layout/process4"/>
    <dgm:cxn modelId="{2C3C33E8-06D8-4898-8CD8-6A3A66C64A8E}" type="presParOf" srcId="{645010C3-2C62-47BD-9B72-02860F88A133}" destId="{3CA85AF8-E64E-4A37-9438-CA3B43F2944C}" srcOrd="2" destOrd="0" presId="urn:microsoft.com/office/officeart/2005/8/layout/process4"/>
    <dgm:cxn modelId="{33F524F2-4A59-4C0C-A889-E3311AF4AFB8}" type="presParOf" srcId="{3CA85AF8-E64E-4A37-9438-CA3B43F2944C}" destId="{15F7713E-D95C-484E-B234-FA24D4501729}" srcOrd="0" destOrd="0" presId="urn:microsoft.com/office/officeart/2005/8/layout/process4"/>
    <dgm:cxn modelId="{9DC03C90-B89C-4E91-ADD3-BDA9AED43A3B}" type="presParOf" srcId="{3CA85AF8-E64E-4A37-9438-CA3B43F2944C}" destId="{36CB3B98-F8E9-4B62-84B4-939692D30458}" srcOrd="1" destOrd="0" presId="urn:microsoft.com/office/officeart/2005/8/layout/process4"/>
    <dgm:cxn modelId="{CBF1918F-EF45-4293-9DAE-75E73451C002}" type="presParOf" srcId="{3CA85AF8-E64E-4A37-9438-CA3B43F2944C}" destId="{EEED0B63-74FF-478A-A44F-5080200C7940}" srcOrd="2" destOrd="0" presId="urn:microsoft.com/office/officeart/2005/8/layout/process4"/>
    <dgm:cxn modelId="{AA3D1500-9DA0-49AF-9D80-6E7CEB5CD38C}" type="presParOf" srcId="{3CA85AF8-E64E-4A37-9438-CA3B43F2944C}" destId="{BA13C1B6-7CC1-46C6-83CA-D2203781AF7B}" srcOrd="3" destOrd="0" presId="urn:microsoft.com/office/officeart/2005/8/layout/process4"/>
    <dgm:cxn modelId="{53308ADE-2778-40C5-B242-F03F154BC6EB}" type="presParOf" srcId="{92197B60-2265-4C5B-AC1C-1B191836D4D2}" destId="{C5544191-1A51-4A19-B28C-4BE5EB894A7C}" srcOrd="1" destOrd="0" presId="urn:microsoft.com/office/officeart/2005/8/layout/process4"/>
    <dgm:cxn modelId="{1D34E3C5-15CF-4D11-B6EA-E4EF624850F4}" type="presParOf" srcId="{92197B60-2265-4C5B-AC1C-1B191836D4D2}" destId="{0B947E83-CD36-466D-96B9-12C6FAAE017B}" srcOrd="2" destOrd="0" presId="urn:microsoft.com/office/officeart/2005/8/layout/process4"/>
    <dgm:cxn modelId="{F8E4063D-A947-4572-B443-E1B197930B96}" type="presParOf" srcId="{0B947E83-CD36-466D-96B9-12C6FAAE017B}" destId="{E9D6082E-732E-4B79-A2EB-B01F3702C551}"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5FFF8F-2374-42C6-9010-81AC574C879F}"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91E06A42-5605-41CB-9973-079985BEE959}">
      <dgm:prSet/>
      <dgm:spPr/>
      <dgm:t>
        <a:bodyPr/>
        <a:lstStyle/>
        <a:p>
          <a:r>
            <a:rPr lang="en-US" dirty="0"/>
            <a:t>Aims to promote</a:t>
          </a:r>
        </a:p>
      </dgm:t>
    </dgm:pt>
    <dgm:pt modelId="{80F372EA-3945-4E30-B0B2-7E314B151989}" type="parTrans" cxnId="{FFF2F484-1085-4320-8B63-40C886E47554}">
      <dgm:prSet/>
      <dgm:spPr/>
      <dgm:t>
        <a:bodyPr/>
        <a:lstStyle/>
        <a:p>
          <a:endParaRPr lang="en-US"/>
        </a:p>
      </dgm:t>
    </dgm:pt>
    <dgm:pt modelId="{5DCC16AD-DFBA-4D75-AD2F-A06CE766A5B2}" type="sibTrans" cxnId="{FFF2F484-1085-4320-8B63-40C886E47554}">
      <dgm:prSet/>
      <dgm:spPr/>
      <dgm:t>
        <a:bodyPr/>
        <a:lstStyle/>
        <a:p>
          <a:endParaRPr lang="en-US"/>
        </a:p>
      </dgm:t>
    </dgm:pt>
    <dgm:pt modelId="{9D61E501-3603-4A8D-B316-76A4BD7386E7}">
      <dgm:prSet custT="1"/>
      <dgm:spPr/>
      <dgm:t>
        <a:bodyPr/>
        <a:lstStyle/>
        <a:p>
          <a:r>
            <a:rPr lang="en-US" sz="2400" kern="1200" dirty="0">
              <a:solidFill>
                <a:prstClr val="white"/>
              </a:solidFill>
              <a:latin typeface="Trebuchet MS" panose="020B0603020202020204"/>
              <a:ea typeface="+mn-ea"/>
              <a:cs typeface="+mn-cs"/>
            </a:rPr>
            <a:t>Fairness</a:t>
          </a:r>
        </a:p>
      </dgm:t>
    </dgm:pt>
    <dgm:pt modelId="{5E33480A-3E9E-46F7-8DEB-E0872652D494}" type="parTrans" cxnId="{4D137EB7-3E36-4162-950D-7BAA1E5614B9}">
      <dgm:prSet/>
      <dgm:spPr/>
      <dgm:t>
        <a:bodyPr/>
        <a:lstStyle/>
        <a:p>
          <a:endParaRPr lang="en-US"/>
        </a:p>
      </dgm:t>
    </dgm:pt>
    <dgm:pt modelId="{B317AA9D-73FB-4C3F-864F-5D7B0F622298}" type="sibTrans" cxnId="{4D137EB7-3E36-4162-950D-7BAA1E5614B9}">
      <dgm:prSet/>
      <dgm:spPr/>
      <dgm:t>
        <a:bodyPr/>
        <a:lstStyle/>
        <a:p>
          <a:endParaRPr lang="en-US"/>
        </a:p>
      </dgm:t>
    </dgm:pt>
    <dgm:pt modelId="{C4BBDCBB-745A-40B0-A256-E570422FEEF8}">
      <dgm:prSet custT="1"/>
      <dgm:spPr/>
      <dgm:t>
        <a:bodyPr/>
        <a:lstStyle/>
        <a:p>
          <a:r>
            <a:rPr lang="en-US" sz="2400" kern="1200" dirty="0">
              <a:solidFill>
                <a:prstClr val="white"/>
              </a:solidFill>
              <a:latin typeface="Trebuchet MS" panose="020B0603020202020204"/>
              <a:ea typeface="+mn-ea"/>
              <a:cs typeface="+mn-cs"/>
            </a:rPr>
            <a:t>Explainability</a:t>
          </a:r>
        </a:p>
      </dgm:t>
    </dgm:pt>
    <dgm:pt modelId="{3F224D3F-3E08-4A03-A6EE-E51B73C86B5A}" type="parTrans" cxnId="{6886B130-EA35-40F2-AACA-060CDD57CEA4}">
      <dgm:prSet/>
      <dgm:spPr/>
      <dgm:t>
        <a:bodyPr/>
        <a:lstStyle/>
        <a:p>
          <a:endParaRPr lang="en-US"/>
        </a:p>
      </dgm:t>
    </dgm:pt>
    <dgm:pt modelId="{E9FF1811-B16F-4F2A-9715-2190E1F714EB}" type="sibTrans" cxnId="{6886B130-EA35-40F2-AACA-060CDD57CEA4}">
      <dgm:prSet/>
      <dgm:spPr/>
      <dgm:t>
        <a:bodyPr/>
        <a:lstStyle/>
        <a:p>
          <a:endParaRPr lang="en-US"/>
        </a:p>
      </dgm:t>
    </dgm:pt>
    <dgm:pt modelId="{A134C664-28CB-4F1F-8816-C54FE52518EE}">
      <dgm:prSet custT="1"/>
      <dgm:spPr/>
      <dgm:t>
        <a:bodyPr/>
        <a:lstStyle/>
        <a:p>
          <a:r>
            <a:rPr lang="en-US" sz="2400" kern="1200" dirty="0">
              <a:solidFill>
                <a:prstClr val="white"/>
              </a:solidFill>
              <a:latin typeface="Trebuchet MS" panose="020B0603020202020204"/>
              <a:ea typeface="+mn-ea"/>
              <a:cs typeface="+mn-cs"/>
            </a:rPr>
            <a:t>Robustness</a:t>
          </a:r>
        </a:p>
      </dgm:t>
    </dgm:pt>
    <dgm:pt modelId="{EBB0D3CD-ACFD-4CA7-A72E-74E8C1480DBB}" type="parTrans" cxnId="{527D5C1B-C875-4680-9325-68756A900590}">
      <dgm:prSet/>
      <dgm:spPr/>
      <dgm:t>
        <a:bodyPr/>
        <a:lstStyle/>
        <a:p>
          <a:endParaRPr lang="en-US"/>
        </a:p>
      </dgm:t>
    </dgm:pt>
    <dgm:pt modelId="{7078392C-36AE-4C78-AA52-F46F1752C4A7}" type="sibTrans" cxnId="{527D5C1B-C875-4680-9325-68756A900590}">
      <dgm:prSet/>
      <dgm:spPr/>
      <dgm:t>
        <a:bodyPr/>
        <a:lstStyle/>
        <a:p>
          <a:endParaRPr lang="en-US"/>
        </a:p>
      </dgm:t>
    </dgm:pt>
    <dgm:pt modelId="{D2C3720C-F328-4CC8-8980-0389194A5E50}">
      <dgm:prSet custT="1"/>
      <dgm:spPr/>
      <dgm:t>
        <a:bodyPr/>
        <a:lstStyle/>
        <a:p>
          <a:r>
            <a:rPr lang="en-US" sz="2400" kern="1200" dirty="0">
              <a:solidFill>
                <a:prstClr val="white"/>
              </a:solidFill>
              <a:latin typeface="Trebuchet MS" panose="020B0603020202020204"/>
              <a:ea typeface="+mn-ea"/>
              <a:cs typeface="+mn-cs"/>
            </a:rPr>
            <a:t>Transparency</a:t>
          </a:r>
        </a:p>
      </dgm:t>
    </dgm:pt>
    <dgm:pt modelId="{BF497DC8-E709-489B-9173-E16C0828BD7F}" type="parTrans" cxnId="{9454C327-946D-486D-80EE-0F8BBD98C64B}">
      <dgm:prSet/>
      <dgm:spPr/>
      <dgm:t>
        <a:bodyPr/>
        <a:lstStyle/>
        <a:p>
          <a:endParaRPr lang="en-US"/>
        </a:p>
      </dgm:t>
    </dgm:pt>
    <dgm:pt modelId="{2AABA22A-C912-40C0-A591-441BAAB49E24}" type="sibTrans" cxnId="{9454C327-946D-486D-80EE-0F8BBD98C64B}">
      <dgm:prSet/>
      <dgm:spPr/>
      <dgm:t>
        <a:bodyPr/>
        <a:lstStyle/>
        <a:p>
          <a:endParaRPr lang="en-US"/>
        </a:p>
      </dgm:t>
    </dgm:pt>
    <dgm:pt modelId="{11724267-FA3B-4F89-93BC-C380121CB8FD}">
      <dgm:prSet custT="1"/>
      <dgm:spPr/>
      <dgm:t>
        <a:bodyPr/>
        <a:lstStyle/>
        <a:p>
          <a:r>
            <a:rPr lang="en-US" sz="2400" kern="1200" dirty="0">
              <a:solidFill>
                <a:prstClr val="white"/>
              </a:solidFill>
              <a:latin typeface="Trebuchet MS" panose="020B0603020202020204"/>
              <a:ea typeface="+mn-ea"/>
              <a:cs typeface="+mn-cs"/>
            </a:rPr>
            <a:t>Data</a:t>
          </a:r>
          <a:r>
            <a:rPr lang="en-US" sz="1100" kern="1200" dirty="0"/>
            <a:t> </a:t>
          </a:r>
          <a:r>
            <a:rPr lang="en-US" sz="2400" kern="1200" dirty="0">
              <a:solidFill>
                <a:prstClr val="white"/>
              </a:solidFill>
              <a:latin typeface="Trebuchet MS" panose="020B0603020202020204"/>
              <a:ea typeface="+mn-ea"/>
              <a:cs typeface="+mn-cs"/>
            </a:rPr>
            <a:t>Privacy</a:t>
          </a:r>
        </a:p>
      </dgm:t>
    </dgm:pt>
    <dgm:pt modelId="{29F9EA48-D359-40E6-90E0-57B5C8C19D03}" type="parTrans" cxnId="{8F918074-DE8D-41BE-B2A1-31E804C3D03E}">
      <dgm:prSet/>
      <dgm:spPr/>
      <dgm:t>
        <a:bodyPr/>
        <a:lstStyle/>
        <a:p>
          <a:endParaRPr lang="en-US"/>
        </a:p>
      </dgm:t>
    </dgm:pt>
    <dgm:pt modelId="{34B7DF76-0DD3-4AB7-9CD4-ACD98D6C2908}" type="sibTrans" cxnId="{8F918074-DE8D-41BE-B2A1-31E804C3D03E}">
      <dgm:prSet/>
      <dgm:spPr/>
      <dgm:t>
        <a:bodyPr/>
        <a:lstStyle/>
        <a:p>
          <a:endParaRPr lang="en-US"/>
        </a:p>
      </dgm:t>
    </dgm:pt>
    <dgm:pt modelId="{1FAC68D2-9568-4F6C-AA5A-243128D0E48C}" type="pres">
      <dgm:prSet presAssocID="{915FFF8F-2374-42C6-9010-81AC574C879F}" presName="cycle" presStyleCnt="0">
        <dgm:presLayoutVars>
          <dgm:chMax val="1"/>
          <dgm:dir/>
          <dgm:animLvl val="ctr"/>
          <dgm:resizeHandles val="exact"/>
        </dgm:presLayoutVars>
      </dgm:prSet>
      <dgm:spPr/>
    </dgm:pt>
    <dgm:pt modelId="{3B65BBFD-F3AC-4362-9A87-9B2822DD0C09}" type="pres">
      <dgm:prSet presAssocID="{91E06A42-5605-41CB-9973-079985BEE959}" presName="centerShape" presStyleLbl="node0" presStyleIdx="0" presStyleCnt="1"/>
      <dgm:spPr/>
    </dgm:pt>
    <dgm:pt modelId="{951F8907-620A-45BF-8CC1-D6CEF0FDB851}" type="pres">
      <dgm:prSet presAssocID="{5E33480A-3E9E-46F7-8DEB-E0872652D494}" presName="parTrans" presStyleLbl="bgSibTrans2D1" presStyleIdx="0" presStyleCnt="5"/>
      <dgm:spPr/>
    </dgm:pt>
    <dgm:pt modelId="{A29F26B8-62D9-4071-A96C-EFC63B51512B}" type="pres">
      <dgm:prSet presAssocID="{9D61E501-3603-4A8D-B316-76A4BD7386E7}" presName="node" presStyleLbl="node1" presStyleIdx="0" presStyleCnt="5">
        <dgm:presLayoutVars>
          <dgm:bulletEnabled val="1"/>
        </dgm:presLayoutVars>
      </dgm:prSet>
      <dgm:spPr/>
    </dgm:pt>
    <dgm:pt modelId="{75922704-A432-4CC3-9A72-D8B40406A75C}" type="pres">
      <dgm:prSet presAssocID="{3F224D3F-3E08-4A03-A6EE-E51B73C86B5A}" presName="parTrans" presStyleLbl="bgSibTrans2D1" presStyleIdx="1" presStyleCnt="5"/>
      <dgm:spPr/>
    </dgm:pt>
    <dgm:pt modelId="{EEEBCCA4-B3FB-411F-BCD3-0B5B564CBA2E}" type="pres">
      <dgm:prSet presAssocID="{C4BBDCBB-745A-40B0-A256-E570422FEEF8}" presName="node" presStyleLbl="node1" presStyleIdx="1" presStyleCnt="5" custScaleX="122183" custRadScaleRad="109700" custRadScaleInc="-12955">
        <dgm:presLayoutVars>
          <dgm:bulletEnabled val="1"/>
        </dgm:presLayoutVars>
      </dgm:prSet>
      <dgm:spPr/>
    </dgm:pt>
    <dgm:pt modelId="{BFCED52C-EFB9-47EF-B977-CD32C256C9F1}" type="pres">
      <dgm:prSet presAssocID="{EBB0D3CD-ACFD-4CA7-A72E-74E8C1480DBB}" presName="parTrans" presStyleLbl="bgSibTrans2D1" presStyleIdx="2" presStyleCnt="5"/>
      <dgm:spPr/>
    </dgm:pt>
    <dgm:pt modelId="{BC202845-94A6-4A12-A803-7C171D735E3F}" type="pres">
      <dgm:prSet presAssocID="{A134C664-28CB-4F1F-8816-C54FE52518EE}" presName="node" presStyleLbl="node1" presStyleIdx="2" presStyleCnt="5">
        <dgm:presLayoutVars>
          <dgm:bulletEnabled val="1"/>
        </dgm:presLayoutVars>
      </dgm:prSet>
      <dgm:spPr/>
    </dgm:pt>
    <dgm:pt modelId="{5D1451CD-F906-483D-AFB8-7BF6248E05EA}" type="pres">
      <dgm:prSet presAssocID="{BF497DC8-E709-489B-9173-E16C0828BD7F}" presName="parTrans" presStyleLbl="bgSibTrans2D1" presStyleIdx="3" presStyleCnt="5"/>
      <dgm:spPr/>
    </dgm:pt>
    <dgm:pt modelId="{0365D589-1B37-4ED3-9396-695427B153D3}" type="pres">
      <dgm:prSet presAssocID="{D2C3720C-F328-4CC8-8980-0389194A5E50}" presName="node" presStyleLbl="node1" presStyleIdx="3" presStyleCnt="5" custScaleX="129925" custRadScaleRad="109999" custRadScaleInc="13322">
        <dgm:presLayoutVars>
          <dgm:bulletEnabled val="1"/>
        </dgm:presLayoutVars>
      </dgm:prSet>
      <dgm:spPr/>
    </dgm:pt>
    <dgm:pt modelId="{C47D9A21-0F40-4992-B6C9-77DE6DE6CC97}" type="pres">
      <dgm:prSet presAssocID="{29F9EA48-D359-40E6-90E0-57B5C8C19D03}" presName="parTrans" presStyleLbl="bgSibTrans2D1" presStyleIdx="4" presStyleCnt="5"/>
      <dgm:spPr/>
    </dgm:pt>
    <dgm:pt modelId="{5E9F01D7-834C-40D7-B032-2D5F00CF09DC}" type="pres">
      <dgm:prSet presAssocID="{11724267-FA3B-4F89-93BC-C380121CB8FD}" presName="node" presStyleLbl="node1" presStyleIdx="4" presStyleCnt="5">
        <dgm:presLayoutVars>
          <dgm:bulletEnabled val="1"/>
        </dgm:presLayoutVars>
      </dgm:prSet>
      <dgm:spPr/>
    </dgm:pt>
  </dgm:ptLst>
  <dgm:cxnLst>
    <dgm:cxn modelId="{527D5C1B-C875-4680-9325-68756A900590}" srcId="{91E06A42-5605-41CB-9973-079985BEE959}" destId="{A134C664-28CB-4F1F-8816-C54FE52518EE}" srcOrd="2" destOrd="0" parTransId="{EBB0D3CD-ACFD-4CA7-A72E-74E8C1480DBB}" sibTransId="{7078392C-36AE-4C78-AA52-F46F1752C4A7}"/>
    <dgm:cxn modelId="{14D6821E-4DB1-4F20-AB4D-6A0487ADC86D}" type="presOf" srcId="{3F224D3F-3E08-4A03-A6EE-E51B73C86B5A}" destId="{75922704-A432-4CC3-9A72-D8B40406A75C}" srcOrd="0" destOrd="0" presId="urn:microsoft.com/office/officeart/2005/8/layout/radial4"/>
    <dgm:cxn modelId="{9454C327-946D-486D-80EE-0F8BBD98C64B}" srcId="{91E06A42-5605-41CB-9973-079985BEE959}" destId="{D2C3720C-F328-4CC8-8980-0389194A5E50}" srcOrd="3" destOrd="0" parTransId="{BF497DC8-E709-489B-9173-E16C0828BD7F}" sibTransId="{2AABA22A-C912-40C0-A591-441BAAB49E24}"/>
    <dgm:cxn modelId="{6886B130-EA35-40F2-AACA-060CDD57CEA4}" srcId="{91E06A42-5605-41CB-9973-079985BEE959}" destId="{C4BBDCBB-745A-40B0-A256-E570422FEEF8}" srcOrd="1" destOrd="0" parTransId="{3F224D3F-3E08-4A03-A6EE-E51B73C86B5A}" sibTransId="{E9FF1811-B16F-4F2A-9715-2190E1F714EB}"/>
    <dgm:cxn modelId="{138A7D61-FE4A-465A-9469-A14E2448B3C5}" type="presOf" srcId="{EBB0D3CD-ACFD-4CA7-A72E-74E8C1480DBB}" destId="{BFCED52C-EFB9-47EF-B977-CD32C256C9F1}" srcOrd="0" destOrd="0" presId="urn:microsoft.com/office/officeart/2005/8/layout/radial4"/>
    <dgm:cxn modelId="{D1746B62-A226-42A5-BBBD-081FB5C78C6C}" type="presOf" srcId="{29F9EA48-D359-40E6-90E0-57B5C8C19D03}" destId="{C47D9A21-0F40-4992-B6C9-77DE6DE6CC97}" srcOrd="0" destOrd="0" presId="urn:microsoft.com/office/officeart/2005/8/layout/radial4"/>
    <dgm:cxn modelId="{17B67F42-84A5-43D4-B73D-7571829B61BE}" type="presOf" srcId="{5E33480A-3E9E-46F7-8DEB-E0872652D494}" destId="{951F8907-620A-45BF-8CC1-D6CEF0FDB851}" srcOrd="0" destOrd="0" presId="urn:microsoft.com/office/officeart/2005/8/layout/radial4"/>
    <dgm:cxn modelId="{8F918074-DE8D-41BE-B2A1-31E804C3D03E}" srcId="{91E06A42-5605-41CB-9973-079985BEE959}" destId="{11724267-FA3B-4F89-93BC-C380121CB8FD}" srcOrd="4" destOrd="0" parTransId="{29F9EA48-D359-40E6-90E0-57B5C8C19D03}" sibTransId="{34B7DF76-0DD3-4AB7-9CD4-ACD98D6C2908}"/>
    <dgm:cxn modelId="{F6650484-E058-427A-9521-BEB8BE3F8BA7}" type="presOf" srcId="{915FFF8F-2374-42C6-9010-81AC574C879F}" destId="{1FAC68D2-9568-4F6C-AA5A-243128D0E48C}" srcOrd="0" destOrd="0" presId="urn:microsoft.com/office/officeart/2005/8/layout/radial4"/>
    <dgm:cxn modelId="{FFF2F484-1085-4320-8B63-40C886E47554}" srcId="{915FFF8F-2374-42C6-9010-81AC574C879F}" destId="{91E06A42-5605-41CB-9973-079985BEE959}" srcOrd="0" destOrd="0" parTransId="{80F372EA-3945-4E30-B0B2-7E314B151989}" sibTransId="{5DCC16AD-DFBA-4D75-AD2F-A06CE766A5B2}"/>
    <dgm:cxn modelId="{1800FF8C-75D4-48B4-A215-B8B152679AA9}" type="presOf" srcId="{91E06A42-5605-41CB-9973-079985BEE959}" destId="{3B65BBFD-F3AC-4362-9A87-9B2822DD0C09}" srcOrd="0" destOrd="0" presId="urn:microsoft.com/office/officeart/2005/8/layout/radial4"/>
    <dgm:cxn modelId="{8C97B7A9-B61F-4E92-94BB-E8BA5D6BA8A4}" type="presOf" srcId="{11724267-FA3B-4F89-93BC-C380121CB8FD}" destId="{5E9F01D7-834C-40D7-B032-2D5F00CF09DC}" srcOrd="0" destOrd="0" presId="urn:microsoft.com/office/officeart/2005/8/layout/radial4"/>
    <dgm:cxn modelId="{2A7773AF-9756-4DBE-B220-775CE90D9574}" type="presOf" srcId="{C4BBDCBB-745A-40B0-A256-E570422FEEF8}" destId="{EEEBCCA4-B3FB-411F-BCD3-0B5B564CBA2E}" srcOrd="0" destOrd="0" presId="urn:microsoft.com/office/officeart/2005/8/layout/radial4"/>
    <dgm:cxn modelId="{9FCA74B1-85D7-4561-8E6B-29385A3DBE42}" type="presOf" srcId="{D2C3720C-F328-4CC8-8980-0389194A5E50}" destId="{0365D589-1B37-4ED3-9396-695427B153D3}" srcOrd="0" destOrd="0" presId="urn:microsoft.com/office/officeart/2005/8/layout/radial4"/>
    <dgm:cxn modelId="{4D137EB7-3E36-4162-950D-7BAA1E5614B9}" srcId="{91E06A42-5605-41CB-9973-079985BEE959}" destId="{9D61E501-3603-4A8D-B316-76A4BD7386E7}" srcOrd="0" destOrd="0" parTransId="{5E33480A-3E9E-46F7-8DEB-E0872652D494}" sibTransId="{B317AA9D-73FB-4C3F-864F-5D7B0F622298}"/>
    <dgm:cxn modelId="{E5EB29C3-F3F5-4EE1-9F17-B66DAC438F08}" type="presOf" srcId="{BF497DC8-E709-489B-9173-E16C0828BD7F}" destId="{5D1451CD-F906-483D-AFB8-7BF6248E05EA}" srcOrd="0" destOrd="0" presId="urn:microsoft.com/office/officeart/2005/8/layout/radial4"/>
    <dgm:cxn modelId="{D0167DD8-6320-4C80-823C-F8BECBB21249}" type="presOf" srcId="{A134C664-28CB-4F1F-8816-C54FE52518EE}" destId="{BC202845-94A6-4A12-A803-7C171D735E3F}" srcOrd="0" destOrd="0" presId="urn:microsoft.com/office/officeart/2005/8/layout/radial4"/>
    <dgm:cxn modelId="{095698EF-EE2E-4530-835C-9BEECE4E03B2}" type="presOf" srcId="{9D61E501-3603-4A8D-B316-76A4BD7386E7}" destId="{A29F26B8-62D9-4071-A96C-EFC63B51512B}" srcOrd="0" destOrd="0" presId="urn:microsoft.com/office/officeart/2005/8/layout/radial4"/>
    <dgm:cxn modelId="{8F33B572-89DB-4D60-85D5-2769956C7DDE}" type="presParOf" srcId="{1FAC68D2-9568-4F6C-AA5A-243128D0E48C}" destId="{3B65BBFD-F3AC-4362-9A87-9B2822DD0C09}" srcOrd="0" destOrd="0" presId="urn:microsoft.com/office/officeart/2005/8/layout/radial4"/>
    <dgm:cxn modelId="{DEB26821-A227-4707-A81D-30CD4E309E71}" type="presParOf" srcId="{1FAC68D2-9568-4F6C-AA5A-243128D0E48C}" destId="{951F8907-620A-45BF-8CC1-D6CEF0FDB851}" srcOrd="1" destOrd="0" presId="urn:microsoft.com/office/officeart/2005/8/layout/radial4"/>
    <dgm:cxn modelId="{01E13030-BFF8-438B-9315-8926C9B98877}" type="presParOf" srcId="{1FAC68D2-9568-4F6C-AA5A-243128D0E48C}" destId="{A29F26B8-62D9-4071-A96C-EFC63B51512B}" srcOrd="2" destOrd="0" presId="urn:microsoft.com/office/officeart/2005/8/layout/radial4"/>
    <dgm:cxn modelId="{6CF0D901-5B0D-4C19-8447-15327E61ACE2}" type="presParOf" srcId="{1FAC68D2-9568-4F6C-AA5A-243128D0E48C}" destId="{75922704-A432-4CC3-9A72-D8B40406A75C}" srcOrd="3" destOrd="0" presId="urn:microsoft.com/office/officeart/2005/8/layout/radial4"/>
    <dgm:cxn modelId="{1FD9DCB0-EEAB-407A-899F-4755B2D4F415}" type="presParOf" srcId="{1FAC68D2-9568-4F6C-AA5A-243128D0E48C}" destId="{EEEBCCA4-B3FB-411F-BCD3-0B5B564CBA2E}" srcOrd="4" destOrd="0" presId="urn:microsoft.com/office/officeart/2005/8/layout/radial4"/>
    <dgm:cxn modelId="{73209B52-B384-4E99-9049-58E4DBC312AA}" type="presParOf" srcId="{1FAC68D2-9568-4F6C-AA5A-243128D0E48C}" destId="{BFCED52C-EFB9-47EF-B977-CD32C256C9F1}" srcOrd="5" destOrd="0" presId="urn:microsoft.com/office/officeart/2005/8/layout/radial4"/>
    <dgm:cxn modelId="{32B40A5B-AA3D-4A87-B0C3-8575FE09E00D}" type="presParOf" srcId="{1FAC68D2-9568-4F6C-AA5A-243128D0E48C}" destId="{BC202845-94A6-4A12-A803-7C171D735E3F}" srcOrd="6" destOrd="0" presId="urn:microsoft.com/office/officeart/2005/8/layout/radial4"/>
    <dgm:cxn modelId="{8E050DC3-D013-4BE3-B27F-85CD11348F3C}" type="presParOf" srcId="{1FAC68D2-9568-4F6C-AA5A-243128D0E48C}" destId="{5D1451CD-F906-483D-AFB8-7BF6248E05EA}" srcOrd="7" destOrd="0" presId="urn:microsoft.com/office/officeart/2005/8/layout/radial4"/>
    <dgm:cxn modelId="{F8878CE1-0325-46FD-AC90-55BDFDB5FAA6}" type="presParOf" srcId="{1FAC68D2-9568-4F6C-AA5A-243128D0E48C}" destId="{0365D589-1B37-4ED3-9396-695427B153D3}" srcOrd="8" destOrd="0" presId="urn:microsoft.com/office/officeart/2005/8/layout/radial4"/>
    <dgm:cxn modelId="{ED752B4A-D455-434E-A087-DC36E5BE1FDD}" type="presParOf" srcId="{1FAC68D2-9568-4F6C-AA5A-243128D0E48C}" destId="{C47D9A21-0F40-4992-B6C9-77DE6DE6CC97}" srcOrd="9" destOrd="0" presId="urn:microsoft.com/office/officeart/2005/8/layout/radial4"/>
    <dgm:cxn modelId="{CA61DF1F-B10D-4569-9520-0A63DB47225C}" type="presParOf" srcId="{1FAC68D2-9568-4F6C-AA5A-243128D0E48C}" destId="{5E9F01D7-834C-40D7-B032-2D5F00CF09DC}" srcOrd="10"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B58262-B2EF-4879-9BE4-EEE93FB65D7F}">
      <dsp:nvSpPr>
        <dsp:cNvPr id="0" name=""/>
        <dsp:cNvSpPr/>
      </dsp:nvSpPr>
      <dsp:spPr>
        <a:xfrm>
          <a:off x="0" y="233429"/>
          <a:ext cx="8082640" cy="85995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7303" tIns="291592" rIns="627303"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Types of Intelligence</a:t>
          </a:r>
        </a:p>
        <a:p>
          <a:pPr marL="171450" lvl="1" indent="-171450" algn="l" defTabSz="711200">
            <a:lnSpc>
              <a:spcPct val="90000"/>
            </a:lnSpc>
            <a:spcBef>
              <a:spcPct val="0"/>
            </a:spcBef>
            <a:spcAft>
              <a:spcPct val="15000"/>
            </a:spcAft>
            <a:buChar char="•"/>
          </a:pPr>
          <a:r>
            <a:rPr lang="en-US" sz="1600" kern="1200" dirty="0"/>
            <a:t>Components of Intelligence</a:t>
          </a:r>
        </a:p>
      </dsp:txBody>
      <dsp:txXfrm>
        <a:off x="0" y="233429"/>
        <a:ext cx="8082640" cy="859950"/>
      </dsp:txXfrm>
    </dsp:sp>
    <dsp:sp modelId="{450821AC-019D-4C0D-BE60-A79B513C3D97}">
      <dsp:nvSpPr>
        <dsp:cNvPr id="0" name=""/>
        <dsp:cNvSpPr/>
      </dsp:nvSpPr>
      <dsp:spPr>
        <a:xfrm>
          <a:off x="404132" y="26789"/>
          <a:ext cx="5657848" cy="41328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853" tIns="0" rIns="213853" bIns="0" numCol="1" spcCol="1270" anchor="ctr" anchorCtr="0">
          <a:noAutofit/>
        </a:bodyPr>
        <a:lstStyle/>
        <a:p>
          <a:pPr marL="0" lvl="0" indent="0" algn="l" defTabSz="1066800">
            <a:lnSpc>
              <a:spcPct val="90000"/>
            </a:lnSpc>
            <a:spcBef>
              <a:spcPct val="0"/>
            </a:spcBef>
            <a:spcAft>
              <a:spcPct val="35000"/>
            </a:spcAft>
            <a:buNone/>
          </a:pPr>
          <a:r>
            <a:rPr lang="en-US" sz="2400" kern="1200" dirty="0"/>
            <a:t>Intelligence</a:t>
          </a:r>
        </a:p>
      </dsp:txBody>
      <dsp:txXfrm>
        <a:off x="424307" y="46964"/>
        <a:ext cx="5617498" cy="372930"/>
      </dsp:txXfrm>
    </dsp:sp>
    <dsp:sp modelId="{9EBEB842-9516-4103-BD2E-343A0439EDF2}">
      <dsp:nvSpPr>
        <dsp:cNvPr id="0" name=""/>
        <dsp:cNvSpPr/>
      </dsp:nvSpPr>
      <dsp:spPr>
        <a:xfrm>
          <a:off x="0" y="1375619"/>
          <a:ext cx="8082640" cy="2337300"/>
        </a:xfrm>
        <a:prstGeom prst="rect">
          <a:avLst/>
        </a:prstGeom>
        <a:solidFill>
          <a:schemeClr val="lt1">
            <a:alpha val="90000"/>
            <a:hueOff val="0"/>
            <a:satOff val="0"/>
            <a:lumOff val="0"/>
            <a:alphaOff val="0"/>
          </a:schemeClr>
        </a:solidFill>
        <a:ln w="19050" cap="rnd" cmpd="sng" algn="ctr">
          <a:solidFill>
            <a:schemeClr val="accent2">
              <a:hueOff val="-1482143"/>
              <a:satOff val="7100"/>
              <a:lumOff val="65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7303" tIns="291592" rIns="627303"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Approaches of AI</a:t>
          </a:r>
        </a:p>
        <a:p>
          <a:pPr marL="342900" lvl="2" indent="-171450" algn="l" defTabSz="711200">
            <a:lnSpc>
              <a:spcPct val="90000"/>
            </a:lnSpc>
            <a:spcBef>
              <a:spcPct val="0"/>
            </a:spcBef>
            <a:spcAft>
              <a:spcPct val="15000"/>
            </a:spcAft>
            <a:buChar char="•"/>
          </a:pPr>
          <a:r>
            <a:rPr lang="en-US" sz="1600" kern="1200" dirty="0"/>
            <a:t>Acting Humanly</a:t>
          </a:r>
        </a:p>
        <a:p>
          <a:pPr marL="342900" lvl="2" indent="-171450" algn="l" defTabSz="711200">
            <a:lnSpc>
              <a:spcPct val="90000"/>
            </a:lnSpc>
            <a:spcBef>
              <a:spcPct val="0"/>
            </a:spcBef>
            <a:spcAft>
              <a:spcPct val="15000"/>
            </a:spcAft>
            <a:buChar char="•"/>
          </a:pPr>
          <a:r>
            <a:rPr lang="en-US" sz="1600" kern="1200"/>
            <a:t>Thinking Humanly</a:t>
          </a:r>
        </a:p>
        <a:p>
          <a:pPr marL="342900" lvl="2" indent="-171450" algn="l" defTabSz="711200">
            <a:lnSpc>
              <a:spcPct val="90000"/>
            </a:lnSpc>
            <a:spcBef>
              <a:spcPct val="0"/>
            </a:spcBef>
            <a:spcAft>
              <a:spcPct val="15000"/>
            </a:spcAft>
            <a:buChar char="•"/>
          </a:pPr>
          <a:r>
            <a:rPr lang="en-US" sz="1600" kern="1200" dirty="0"/>
            <a:t>Thinking Rationally</a:t>
          </a:r>
        </a:p>
        <a:p>
          <a:pPr marL="342900" lvl="2" indent="-171450" algn="l" defTabSz="711200">
            <a:lnSpc>
              <a:spcPct val="90000"/>
            </a:lnSpc>
            <a:spcBef>
              <a:spcPct val="0"/>
            </a:spcBef>
            <a:spcAft>
              <a:spcPct val="15000"/>
            </a:spcAft>
            <a:buChar char="•"/>
          </a:pPr>
          <a:r>
            <a:rPr lang="en-US" sz="1600" kern="1200"/>
            <a:t>Acting Rationally</a:t>
          </a:r>
        </a:p>
        <a:p>
          <a:pPr marL="171450" lvl="1" indent="-171450" algn="l" defTabSz="711200">
            <a:lnSpc>
              <a:spcPct val="90000"/>
            </a:lnSpc>
            <a:spcBef>
              <a:spcPct val="0"/>
            </a:spcBef>
            <a:spcAft>
              <a:spcPct val="15000"/>
            </a:spcAft>
            <a:buChar char="•"/>
          </a:pPr>
          <a:r>
            <a:rPr lang="en-US" sz="1600" kern="1200"/>
            <a:t>Foundations of AI</a:t>
          </a:r>
        </a:p>
        <a:p>
          <a:pPr marL="171450" lvl="1" indent="-171450" algn="l" defTabSz="711200">
            <a:lnSpc>
              <a:spcPct val="90000"/>
            </a:lnSpc>
            <a:spcBef>
              <a:spcPct val="0"/>
            </a:spcBef>
            <a:spcAft>
              <a:spcPct val="15000"/>
            </a:spcAft>
            <a:buChar char="•"/>
          </a:pPr>
          <a:r>
            <a:rPr lang="en-US" sz="1600" kern="1200"/>
            <a:t>History of Al</a:t>
          </a:r>
        </a:p>
        <a:p>
          <a:pPr marL="171450" lvl="1" indent="-171450" algn="l" defTabSz="711200">
            <a:lnSpc>
              <a:spcPct val="90000"/>
            </a:lnSpc>
            <a:spcBef>
              <a:spcPct val="0"/>
            </a:spcBef>
            <a:spcAft>
              <a:spcPct val="15000"/>
            </a:spcAft>
            <a:buChar char="•"/>
          </a:pPr>
          <a:r>
            <a:rPr lang="en-US" sz="1600" kern="1200" dirty="0"/>
            <a:t>Risk and Benefits of Al. </a:t>
          </a:r>
        </a:p>
      </dsp:txBody>
      <dsp:txXfrm>
        <a:off x="0" y="1375619"/>
        <a:ext cx="8082640" cy="2337300"/>
      </dsp:txXfrm>
    </dsp:sp>
    <dsp:sp modelId="{96E42B10-1A29-4759-A359-DA146A2163DE}">
      <dsp:nvSpPr>
        <dsp:cNvPr id="0" name=""/>
        <dsp:cNvSpPr/>
      </dsp:nvSpPr>
      <dsp:spPr>
        <a:xfrm>
          <a:off x="404132" y="1168979"/>
          <a:ext cx="5657848" cy="413280"/>
        </a:xfrm>
        <a:prstGeom prst="roundRect">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853" tIns="0" rIns="213853"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Artificial</a:t>
          </a:r>
          <a:r>
            <a:rPr lang="en-US" sz="1400" kern="1200" dirty="0"/>
            <a:t> </a:t>
          </a:r>
          <a:r>
            <a:rPr lang="en-US" sz="2400" kern="1200" dirty="0">
              <a:solidFill>
                <a:prstClr val="white"/>
              </a:solidFill>
              <a:latin typeface="Trebuchet MS" panose="020B0603020202020204"/>
              <a:ea typeface="+mn-ea"/>
              <a:cs typeface="+mn-cs"/>
            </a:rPr>
            <a:t>Intelligence</a:t>
          </a:r>
        </a:p>
      </dsp:txBody>
      <dsp:txXfrm>
        <a:off x="424307" y="1189154"/>
        <a:ext cx="5617498" cy="372930"/>
      </dsp:txXfrm>
    </dsp:sp>
    <dsp:sp modelId="{44BBB8C0-7E09-4FEF-A6C4-FCEDB47C0211}">
      <dsp:nvSpPr>
        <dsp:cNvPr id="0" name=""/>
        <dsp:cNvSpPr/>
      </dsp:nvSpPr>
      <dsp:spPr>
        <a:xfrm>
          <a:off x="0" y="3995159"/>
          <a:ext cx="8082640" cy="1102500"/>
        </a:xfrm>
        <a:prstGeom prst="rect">
          <a:avLst/>
        </a:prstGeom>
        <a:solidFill>
          <a:schemeClr val="lt1">
            <a:alpha val="90000"/>
            <a:hueOff val="0"/>
            <a:satOff val="0"/>
            <a:lumOff val="0"/>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7303" tIns="291592" rIns="627303"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Ethical Implications of Al</a:t>
          </a:r>
        </a:p>
        <a:p>
          <a:pPr marL="171450" lvl="1" indent="-171450" algn="l" defTabSz="711200">
            <a:lnSpc>
              <a:spcPct val="90000"/>
            </a:lnSpc>
            <a:spcBef>
              <a:spcPct val="0"/>
            </a:spcBef>
            <a:spcAft>
              <a:spcPct val="15000"/>
            </a:spcAft>
            <a:buChar char="•"/>
          </a:pPr>
          <a:r>
            <a:rPr lang="en-US" sz="1600" kern="1200"/>
            <a:t>Al and Society: Work and Automation, Employment, Privacy and Security</a:t>
          </a:r>
        </a:p>
        <a:p>
          <a:pPr marL="171450" lvl="1" indent="-171450" algn="l" defTabSz="711200">
            <a:lnSpc>
              <a:spcPct val="90000"/>
            </a:lnSpc>
            <a:spcBef>
              <a:spcPct val="0"/>
            </a:spcBef>
            <a:spcAft>
              <a:spcPct val="15000"/>
            </a:spcAft>
            <a:buChar char="•"/>
          </a:pPr>
          <a:r>
            <a:rPr lang="en-US" sz="1600" kern="1200" dirty="0"/>
            <a:t>Governance and Regulation</a:t>
          </a:r>
        </a:p>
      </dsp:txBody>
      <dsp:txXfrm>
        <a:off x="0" y="3995159"/>
        <a:ext cx="8082640" cy="1102500"/>
      </dsp:txXfrm>
    </dsp:sp>
    <dsp:sp modelId="{DDC24D21-FC07-419C-8A27-96BB1BA58660}">
      <dsp:nvSpPr>
        <dsp:cNvPr id="0" name=""/>
        <dsp:cNvSpPr/>
      </dsp:nvSpPr>
      <dsp:spPr>
        <a:xfrm>
          <a:off x="404132" y="3788519"/>
          <a:ext cx="5657848" cy="413280"/>
        </a:xfrm>
        <a:prstGeom prst="roundRec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853" tIns="0" rIns="213853"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Ethics</a:t>
          </a:r>
          <a:r>
            <a:rPr lang="en-US" sz="1400" kern="1200" dirty="0"/>
            <a:t> </a:t>
          </a:r>
          <a:r>
            <a:rPr lang="en-US" sz="2400" kern="1200" dirty="0">
              <a:solidFill>
                <a:prstClr val="white"/>
              </a:solidFill>
              <a:latin typeface="Trebuchet MS" panose="020B0603020202020204"/>
              <a:ea typeface="+mn-ea"/>
              <a:cs typeface="+mn-cs"/>
            </a:rPr>
            <a:t>and</a:t>
          </a:r>
          <a:r>
            <a:rPr lang="en-US" sz="1400" kern="1200" dirty="0"/>
            <a:t> </a:t>
          </a:r>
          <a:r>
            <a:rPr lang="en-US" sz="2400" kern="1200" dirty="0">
              <a:solidFill>
                <a:prstClr val="white"/>
              </a:solidFill>
              <a:latin typeface="Trebuchet MS" panose="020B0603020202020204"/>
              <a:ea typeface="+mn-ea"/>
              <a:cs typeface="+mn-cs"/>
            </a:rPr>
            <a:t>Societal</a:t>
          </a:r>
          <a:r>
            <a:rPr lang="en-US" sz="1400" kern="1200" dirty="0"/>
            <a:t> </a:t>
          </a:r>
          <a:r>
            <a:rPr lang="en-US" sz="2400" kern="1200" dirty="0">
              <a:solidFill>
                <a:prstClr val="white"/>
              </a:solidFill>
              <a:latin typeface="Trebuchet MS" panose="020B0603020202020204"/>
              <a:ea typeface="+mn-ea"/>
              <a:cs typeface="+mn-cs"/>
            </a:rPr>
            <a:t>Implications</a:t>
          </a:r>
        </a:p>
      </dsp:txBody>
      <dsp:txXfrm>
        <a:off x="424307" y="3808694"/>
        <a:ext cx="5617498"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3EB63-A384-4D4A-AE40-71F61C34D0D4}">
      <dsp:nvSpPr>
        <dsp:cNvPr id="0" name=""/>
        <dsp:cNvSpPr/>
      </dsp:nvSpPr>
      <dsp:spPr>
        <a:xfrm rot="5400000">
          <a:off x="3942769" y="-1562231"/>
          <a:ext cx="747351" cy="4062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Types</a:t>
          </a:r>
        </a:p>
        <a:p>
          <a:pPr marL="228600" lvl="1" indent="-228600" algn="l" defTabSz="933450">
            <a:lnSpc>
              <a:spcPct val="90000"/>
            </a:lnSpc>
            <a:spcBef>
              <a:spcPct val="0"/>
            </a:spcBef>
            <a:spcAft>
              <a:spcPct val="15000"/>
            </a:spcAft>
            <a:buChar char="•"/>
          </a:pPr>
          <a:r>
            <a:rPr lang="en-US" sz="2100" kern="1200"/>
            <a:t>Applications</a:t>
          </a:r>
        </a:p>
      </dsp:txBody>
      <dsp:txXfrm rot="-5400000">
        <a:off x="2285177" y="131844"/>
        <a:ext cx="4026053" cy="674385"/>
      </dsp:txXfrm>
    </dsp:sp>
    <dsp:sp modelId="{B4FA5CE1-4E68-44A6-878F-B7034B1F3146}">
      <dsp:nvSpPr>
        <dsp:cNvPr id="0" name=""/>
        <dsp:cNvSpPr/>
      </dsp:nvSpPr>
      <dsp:spPr>
        <a:xfrm>
          <a:off x="0" y="1942"/>
          <a:ext cx="2285177" cy="934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Reasoning </a:t>
          </a:r>
        </a:p>
      </dsp:txBody>
      <dsp:txXfrm>
        <a:off x="45603" y="47545"/>
        <a:ext cx="2193971" cy="842983"/>
      </dsp:txXfrm>
    </dsp:sp>
    <dsp:sp modelId="{72CBC7C1-B0FD-4626-9850-7A596D1DB0A5}">
      <dsp:nvSpPr>
        <dsp:cNvPr id="0" name=""/>
        <dsp:cNvSpPr/>
      </dsp:nvSpPr>
      <dsp:spPr>
        <a:xfrm rot="5400000">
          <a:off x="3942769" y="-581331"/>
          <a:ext cx="747351" cy="4062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Types</a:t>
          </a:r>
        </a:p>
        <a:p>
          <a:pPr marL="228600" lvl="1" indent="-228600" algn="l" defTabSz="933450">
            <a:lnSpc>
              <a:spcPct val="90000"/>
            </a:lnSpc>
            <a:spcBef>
              <a:spcPct val="0"/>
            </a:spcBef>
            <a:spcAft>
              <a:spcPct val="15000"/>
            </a:spcAft>
            <a:buChar char="•"/>
          </a:pPr>
          <a:r>
            <a:rPr lang="en-US" sz="2100" kern="1200"/>
            <a:t>Applications</a:t>
          </a:r>
        </a:p>
      </dsp:txBody>
      <dsp:txXfrm rot="-5400000">
        <a:off x="2285177" y="1112744"/>
        <a:ext cx="4026053" cy="674385"/>
      </dsp:txXfrm>
    </dsp:sp>
    <dsp:sp modelId="{DF6EB9E5-22D4-457D-A8B6-D6BE768E503F}">
      <dsp:nvSpPr>
        <dsp:cNvPr id="0" name=""/>
        <dsp:cNvSpPr/>
      </dsp:nvSpPr>
      <dsp:spPr>
        <a:xfrm>
          <a:off x="0" y="982841"/>
          <a:ext cx="2285177" cy="934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Problem-solving</a:t>
          </a:r>
        </a:p>
      </dsp:txBody>
      <dsp:txXfrm>
        <a:off x="45603" y="1028444"/>
        <a:ext cx="2193971" cy="842983"/>
      </dsp:txXfrm>
    </dsp:sp>
    <dsp:sp modelId="{0CDEE9DA-B777-4F0A-921F-027F8392A8E2}">
      <dsp:nvSpPr>
        <dsp:cNvPr id="0" name=""/>
        <dsp:cNvSpPr/>
      </dsp:nvSpPr>
      <dsp:spPr>
        <a:xfrm rot="5400000">
          <a:off x="3942769" y="399567"/>
          <a:ext cx="747351" cy="4062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Types</a:t>
          </a:r>
        </a:p>
        <a:p>
          <a:pPr marL="228600" lvl="1" indent="-228600" algn="l" defTabSz="933450">
            <a:lnSpc>
              <a:spcPct val="90000"/>
            </a:lnSpc>
            <a:spcBef>
              <a:spcPct val="0"/>
            </a:spcBef>
            <a:spcAft>
              <a:spcPct val="15000"/>
            </a:spcAft>
            <a:buChar char="•"/>
          </a:pPr>
          <a:r>
            <a:rPr lang="en-US" sz="2100" kern="1200"/>
            <a:t>Applications</a:t>
          </a:r>
        </a:p>
      </dsp:txBody>
      <dsp:txXfrm rot="-5400000">
        <a:off x="2285177" y="2093643"/>
        <a:ext cx="4026053" cy="674385"/>
      </dsp:txXfrm>
    </dsp:sp>
    <dsp:sp modelId="{EE5179D5-2E2F-4198-8A62-682DE90D597E}">
      <dsp:nvSpPr>
        <dsp:cNvPr id="0" name=""/>
        <dsp:cNvSpPr/>
      </dsp:nvSpPr>
      <dsp:spPr>
        <a:xfrm>
          <a:off x="0" y="1963741"/>
          <a:ext cx="2285177" cy="934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Learning</a:t>
          </a:r>
        </a:p>
      </dsp:txBody>
      <dsp:txXfrm>
        <a:off x="45603" y="2009344"/>
        <a:ext cx="2193971" cy="842983"/>
      </dsp:txXfrm>
    </dsp:sp>
    <dsp:sp modelId="{3C131FFC-C243-4D50-A75D-E6E6464274D7}">
      <dsp:nvSpPr>
        <dsp:cNvPr id="0" name=""/>
        <dsp:cNvSpPr/>
      </dsp:nvSpPr>
      <dsp:spPr>
        <a:xfrm rot="5400000">
          <a:off x="3942769" y="1380467"/>
          <a:ext cx="747351" cy="4062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Types</a:t>
          </a:r>
        </a:p>
        <a:p>
          <a:pPr marL="228600" lvl="1" indent="-228600" algn="l" defTabSz="933450">
            <a:lnSpc>
              <a:spcPct val="90000"/>
            </a:lnSpc>
            <a:spcBef>
              <a:spcPct val="0"/>
            </a:spcBef>
            <a:spcAft>
              <a:spcPct val="15000"/>
            </a:spcAft>
            <a:buChar char="•"/>
          </a:pPr>
          <a:r>
            <a:rPr lang="en-US" sz="2100" kern="1200"/>
            <a:t>Applications</a:t>
          </a:r>
        </a:p>
      </dsp:txBody>
      <dsp:txXfrm rot="-5400000">
        <a:off x="2285177" y="3074543"/>
        <a:ext cx="4026053" cy="674385"/>
      </dsp:txXfrm>
    </dsp:sp>
    <dsp:sp modelId="{09045394-BC14-4A0C-9C0D-C031189D9D3C}">
      <dsp:nvSpPr>
        <dsp:cNvPr id="0" name=""/>
        <dsp:cNvSpPr/>
      </dsp:nvSpPr>
      <dsp:spPr>
        <a:xfrm>
          <a:off x="0" y="2944640"/>
          <a:ext cx="2285177" cy="934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Perception</a:t>
          </a:r>
        </a:p>
      </dsp:txBody>
      <dsp:txXfrm>
        <a:off x="45603" y="2990243"/>
        <a:ext cx="2193971" cy="8429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3D88A-FB14-46F0-BE07-CD64F4ACFD4D}">
      <dsp:nvSpPr>
        <dsp:cNvPr id="0" name=""/>
        <dsp:cNvSpPr/>
      </dsp:nvSpPr>
      <dsp:spPr>
        <a:xfrm>
          <a:off x="0" y="1511661"/>
          <a:ext cx="7213600" cy="3103687"/>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kern="1200" dirty="0"/>
            <a:t>Key Characteristics</a:t>
          </a:r>
          <a:r>
            <a:rPr lang="en-US" sz="2400" kern="1200" dirty="0"/>
            <a:t>:</a:t>
          </a:r>
        </a:p>
      </dsp:txBody>
      <dsp:txXfrm>
        <a:off x="0" y="1511661"/>
        <a:ext cx="7213600" cy="1675991"/>
      </dsp:txXfrm>
    </dsp:sp>
    <dsp:sp modelId="{15F7713E-D95C-484E-B234-FA24D4501729}">
      <dsp:nvSpPr>
        <dsp:cNvPr id="0" name=""/>
        <dsp:cNvSpPr/>
      </dsp:nvSpPr>
      <dsp:spPr>
        <a:xfrm>
          <a:off x="3522" y="2399256"/>
          <a:ext cx="1801638" cy="2033899"/>
        </a:xfrm>
        <a:prstGeom prst="rect">
          <a:avLst/>
        </a:prstGeom>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Adaptability: Adjusts behavior based on experiences.</a:t>
          </a:r>
        </a:p>
      </dsp:txBody>
      <dsp:txXfrm>
        <a:off x="3522" y="2399256"/>
        <a:ext cx="1801638" cy="2033899"/>
      </dsp:txXfrm>
    </dsp:sp>
    <dsp:sp modelId="{36CB3B98-F8E9-4B62-84B4-939692D30458}">
      <dsp:nvSpPr>
        <dsp:cNvPr id="0" name=""/>
        <dsp:cNvSpPr/>
      </dsp:nvSpPr>
      <dsp:spPr>
        <a:xfrm>
          <a:off x="1805161" y="2607060"/>
          <a:ext cx="1801638" cy="1618292"/>
        </a:xfrm>
        <a:prstGeom prst="rect">
          <a:avLst/>
        </a:prstGeom>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Emotional &amp; Social Skills: Interprets emotions and navigates social interactions.</a:t>
          </a:r>
        </a:p>
      </dsp:txBody>
      <dsp:txXfrm>
        <a:off x="1805161" y="2607060"/>
        <a:ext cx="1801638" cy="1618292"/>
      </dsp:txXfrm>
    </dsp:sp>
    <dsp:sp modelId="{EEED0B63-74FF-478A-A44F-5080200C7940}">
      <dsp:nvSpPr>
        <dsp:cNvPr id="0" name=""/>
        <dsp:cNvSpPr/>
      </dsp:nvSpPr>
      <dsp:spPr>
        <a:xfrm>
          <a:off x="3606800" y="2698941"/>
          <a:ext cx="1801638" cy="1434529"/>
        </a:xfrm>
        <a:prstGeom prst="rect">
          <a:avLst/>
        </a:prstGeom>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Creative Thinking: Generates new ideas and uses imagination.</a:t>
          </a:r>
        </a:p>
      </dsp:txBody>
      <dsp:txXfrm>
        <a:off x="3606800" y="2698941"/>
        <a:ext cx="1801638" cy="1434529"/>
      </dsp:txXfrm>
    </dsp:sp>
    <dsp:sp modelId="{BA13C1B6-7CC1-46C6-83CA-D2203781AF7B}">
      <dsp:nvSpPr>
        <dsp:cNvPr id="0" name=""/>
        <dsp:cNvSpPr/>
      </dsp:nvSpPr>
      <dsp:spPr>
        <a:xfrm>
          <a:off x="5408438" y="2550687"/>
          <a:ext cx="1801638" cy="1731037"/>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black">
                  <a:hueOff val="0"/>
                  <a:satOff val="0"/>
                  <a:lumOff val="0"/>
                  <a:alphaOff val="0"/>
                </a:prstClr>
              </a:solidFill>
              <a:latin typeface="Trebuchet MS" panose="020B0603020202020204"/>
              <a:ea typeface="+mn-ea"/>
              <a:cs typeface="+mn-cs"/>
            </a:rPr>
            <a:t>Intuition: Solves problems without structured analysis.</a:t>
          </a:r>
        </a:p>
      </dsp:txBody>
      <dsp:txXfrm>
        <a:off x="5408438" y="2550687"/>
        <a:ext cx="1801638" cy="1731037"/>
      </dsp:txXfrm>
    </dsp:sp>
    <dsp:sp modelId="{E9D6082E-732E-4B79-A2EB-B01F3702C551}">
      <dsp:nvSpPr>
        <dsp:cNvPr id="0" name=""/>
        <dsp:cNvSpPr/>
      </dsp:nvSpPr>
      <dsp:spPr>
        <a:xfrm rot="10800000">
          <a:off x="0" y="193"/>
          <a:ext cx="7213600" cy="1532629"/>
        </a:xfrm>
        <a:prstGeom prst="upArrowCallou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Refers to intelligence demonstrated by biological entities (humans and animals).</a:t>
          </a:r>
        </a:p>
      </dsp:txBody>
      <dsp:txXfrm rot="10800000">
        <a:off x="0" y="193"/>
        <a:ext cx="7213600" cy="9958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5BBFD-F3AC-4362-9A87-9B2822DD0C09}">
      <dsp:nvSpPr>
        <dsp:cNvPr id="0" name=""/>
        <dsp:cNvSpPr/>
      </dsp:nvSpPr>
      <dsp:spPr>
        <a:xfrm>
          <a:off x="2645272" y="2785402"/>
          <a:ext cx="1833268" cy="1833268"/>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Aims to promote</a:t>
          </a:r>
        </a:p>
      </dsp:txBody>
      <dsp:txXfrm>
        <a:off x="2913748" y="3053878"/>
        <a:ext cx="1296316" cy="1296316"/>
      </dsp:txXfrm>
    </dsp:sp>
    <dsp:sp modelId="{951F8907-620A-45BF-8CC1-D6CEF0FDB851}">
      <dsp:nvSpPr>
        <dsp:cNvPr id="0" name=""/>
        <dsp:cNvSpPr/>
      </dsp:nvSpPr>
      <dsp:spPr>
        <a:xfrm rot="10800000">
          <a:off x="871348" y="3440795"/>
          <a:ext cx="1676358" cy="52248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29F26B8-62D9-4071-A96C-EFC63B51512B}">
      <dsp:nvSpPr>
        <dsp:cNvPr id="0" name=""/>
        <dsp:cNvSpPr/>
      </dsp:nvSpPr>
      <dsp:spPr>
        <a:xfrm>
          <a:off x="545" y="3005394"/>
          <a:ext cx="1741605" cy="139328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Fairness</a:t>
          </a:r>
        </a:p>
      </dsp:txBody>
      <dsp:txXfrm>
        <a:off x="41353" y="3046202"/>
        <a:ext cx="1659989" cy="1311668"/>
      </dsp:txXfrm>
    </dsp:sp>
    <dsp:sp modelId="{75922704-A432-4CC3-9A72-D8B40406A75C}">
      <dsp:nvSpPr>
        <dsp:cNvPr id="0" name=""/>
        <dsp:cNvSpPr/>
      </dsp:nvSpPr>
      <dsp:spPr>
        <a:xfrm rot="13220172">
          <a:off x="1083478" y="2152694"/>
          <a:ext cx="1922988" cy="52248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EBCCA4-B3FB-411F-BCD3-0B5B564CBA2E}">
      <dsp:nvSpPr>
        <dsp:cNvPr id="0" name=""/>
        <dsp:cNvSpPr/>
      </dsp:nvSpPr>
      <dsp:spPr>
        <a:xfrm>
          <a:off x="248092" y="1094945"/>
          <a:ext cx="2127945" cy="139328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Explainability</a:t>
          </a:r>
        </a:p>
      </dsp:txBody>
      <dsp:txXfrm>
        <a:off x="288900" y="1135753"/>
        <a:ext cx="2046329" cy="1311668"/>
      </dsp:txXfrm>
    </dsp:sp>
    <dsp:sp modelId="{BFCED52C-EFB9-47EF-B977-CD32C256C9F1}">
      <dsp:nvSpPr>
        <dsp:cNvPr id="0" name=""/>
        <dsp:cNvSpPr/>
      </dsp:nvSpPr>
      <dsp:spPr>
        <a:xfrm rot="16200000">
          <a:off x="2723727" y="1588416"/>
          <a:ext cx="1676358" cy="52248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202845-94A6-4A12-A803-7C171D735E3F}">
      <dsp:nvSpPr>
        <dsp:cNvPr id="0" name=""/>
        <dsp:cNvSpPr/>
      </dsp:nvSpPr>
      <dsp:spPr>
        <a:xfrm>
          <a:off x="2691103" y="314836"/>
          <a:ext cx="1741605" cy="139328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Robustness</a:t>
          </a:r>
        </a:p>
      </dsp:txBody>
      <dsp:txXfrm>
        <a:off x="2731911" y="355644"/>
        <a:ext cx="1659989" cy="1311668"/>
      </dsp:txXfrm>
    </dsp:sp>
    <dsp:sp modelId="{5D1451CD-F906-483D-AFB8-7BF6248E05EA}">
      <dsp:nvSpPr>
        <dsp:cNvPr id="0" name=""/>
        <dsp:cNvSpPr/>
      </dsp:nvSpPr>
      <dsp:spPr>
        <a:xfrm rot="19187755">
          <a:off x="4119751" y="2153456"/>
          <a:ext cx="1930590" cy="52248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65D589-1B37-4ED3-9396-695427B153D3}">
      <dsp:nvSpPr>
        <dsp:cNvPr id="0" name=""/>
        <dsp:cNvSpPr/>
      </dsp:nvSpPr>
      <dsp:spPr>
        <a:xfrm>
          <a:off x="4690901" y="1094945"/>
          <a:ext cx="2262780" cy="139328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Transparency</a:t>
          </a:r>
        </a:p>
      </dsp:txBody>
      <dsp:txXfrm>
        <a:off x="4731709" y="1135753"/>
        <a:ext cx="2181164" cy="1311668"/>
      </dsp:txXfrm>
    </dsp:sp>
    <dsp:sp modelId="{C47D9A21-0F40-4992-B6C9-77DE6DE6CC97}">
      <dsp:nvSpPr>
        <dsp:cNvPr id="0" name=""/>
        <dsp:cNvSpPr/>
      </dsp:nvSpPr>
      <dsp:spPr>
        <a:xfrm>
          <a:off x="4576106" y="3440795"/>
          <a:ext cx="1676358" cy="52248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E9F01D7-834C-40D7-B032-2D5F00CF09DC}">
      <dsp:nvSpPr>
        <dsp:cNvPr id="0" name=""/>
        <dsp:cNvSpPr/>
      </dsp:nvSpPr>
      <dsp:spPr>
        <a:xfrm>
          <a:off x="5381662" y="3005394"/>
          <a:ext cx="1741605" cy="139328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prstClr val="white"/>
              </a:solidFill>
              <a:latin typeface="Trebuchet MS" panose="020B0603020202020204"/>
              <a:ea typeface="+mn-ea"/>
              <a:cs typeface="+mn-cs"/>
            </a:rPr>
            <a:t>Data</a:t>
          </a:r>
          <a:r>
            <a:rPr lang="en-US" sz="1100" kern="1200" dirty="0"/>
            <a:t> </a:t>
          </a:r>
          <a:r>
            <a:rPr lang="en-US" sz="2400" kern="1200" dirty="0">
              <a:solidFill>
                <a:prstClr val="white"/>
              </a:solidFill>
              <a:latin typeface="Trebuchet MS" panose="020B0603020202020204"/>
              <a:ea typeface="+mn-ea"/>
              <a:cs typeface="+mn-cs"/>
            </a:rPr>
            <a:t>Privacy</a:t>
          </a:r>
        </a:p>
      </dsp:txBody>
      <dsp:txXfrm>
        <a:off x="5422470" y="3046202"/>
        <a:ext cx="1659989" cy="13116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BA28B-C62F-41F8-BFBA-9AC5640AD251}" type="datetimeFigureOut">
              <a:rPr lang="en-US" smtClean="0"/>
              <a:t>11/15/2025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D64D6C-984B-4BCD-BF41-447FBABEB894}" type="slidenum">
              <a:rPr lang="en-US" smtClean="0"/>
              <a:t>‹#›</a:t>
            </a:fld>
            <a:endParaRPr lang="en-US"/>
          </a:p>
        </p:txBody>
      </p:sp>
    </p:spTree>
    <p:extLst>
      <p:ext uri="{BB962C8B-B14F-4D97-AF65-F5344CB8AC3E}">
        <p14:creationId xmlns:p14="http://schemas.microsoft.com/office/powerpoint/2010/main" val="2691150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Exploring the Concept of Intelligence:</a:t>
            </a:r>
          </a:p>
          <a:p>
            <a:endParaRPr lang="en-US" dirty="0"/>
          </a:p>
          <a:p>
            <a:r>
              <a:rPr lang="en-US" dirty="0"/>
              <a:t>Intelligence refers to the ability to learn from experience, adapt to new situations, understand complex ideas, and apply knowledge to manipulate one’s environment or solve problems. It is a multifaceted trait that encompasses various cognitive abilities.</a:t>
            </a:r>
          </a:p>
          <a:p>
            <a:endParaRPr lang="en-US" dirty="0"/>
          </a:p>
          <a:p>
            <a:r>
              <a:rPr lang="en-US" dirty="0"/>
              <a:t> Various Aspects of Intelligence:</a:t>
            </a:r>
          </a:p>
          <a:p>
            <a:endParaRPr lang="en-US" dirty="0"/>
          </a:p>
          <a:p>
            <a:r>
              <a:rPr lang="en-US" dirty="0"/>
              <a:t>1. Cognitive Ability:</a:t>
            </a:r>
          </a:p>
          <a:p>
            <a:r>
              <a:rPr lang="en-US" dirty="0"/>
              <a:t>   - This involves mental processes like memory, attention, perception, reasoning, and problem-solving. It is a fundamental aspect of intelligence and determines how well individuals can process information.</a:t>
            </a:r>
          </a:p>
          <a:p>
            <a:endParaRPr lang="en-US" dirty="0"/>
          </a:p>
          <a:p>
            <a:r>
              <a:rPr lang="en-US" dirty="0"/>
              <a:t>2. Emotional Intelligence:</a:t>
            </a:r>
          </a:p>
          <a:p>
            <a:r>
              <a:rPr lang="en-US" dirty="0"/>
              <a:t>   - Emotional intelligence refers to the capacity to recognize, understand, manage, and influence one's own emotions as well as the emotions of others. It plays a crucial role in interpersonal relationships and decision-making.</a:t>
            </a:r>
          </a:p>
          <a:p>
            <a:endParaRPr lang="en-US" dirty="0"/>
          </a:p>
          <a:p>
            <a:r>
              <a:rPr lang="en-US" dirty="0"/>
              <a:t>3. Social Intelligence:</a:t>
            </a:r>
          </a:p>
          <a:p>
            <a:r>
              <a:rPr lang="en-US" dirty="0"/>
              <a:t>   - Social intelligence is the ability to effectively navigate and negotiate complex social environments and relationships. It involves understanding social cues, empathy, and the capacity to influence others.</a:t>
            </a:r>
          </a:p>
          <a:p>
            <a:endParaRPr lang="en-US" dirty="0"/>
          </a:p>
          <a:p>
            <a:r>
              <a:rPr lang="en-US" dirty="0"/>
              <a:t>4. Practical Intelligence:</a:t>
            </a:r>
          </a:p>
          <a:p>
            <a:r>
              <a:rPr lang="en-US" dirty="0"/>
              <a:t>   - Often referred to as "street smarts," practical intelligence is the ability to solve everyday problems using knowledge gained from experience. It includes skills related to managing tasks and adapting to changing circumstances.</a:t>
            </a:r>
          </a:p>
          <a:p>
            <a:endParaRPr lang="en-US" dirty="0"/>
          </a:p>
          <a:p>
            <a:r>
              <a:rPr lang="en-US" dirty="0"/>
              <a:t>5. Creative Intelligence:</a:t>
            </a:r>
          </a:p>
          <a:p>
            <a:r>
              <a:rPr lang="en-US" dirty="0"/>
              <a:t>   - This aspect of intelligence focuses on the ability to think outside the box and generate novel ideas or solutions. It is often associated with innovation and artistic endeavors.</a:t>
            </a:r>
          </a:p>
          <a:p>
            <a:endParaRPr lang="en-US" dirty="0"/>
          </a:p>
          <a:p>
            <a:r>
              <a:rPr lang="en-US" dirty="0"/>
              <a:t>6. Analytical Intelligence:</a:t>
            </a:r>
          </a:p>
          <a:p>
            <a:r>
              <a:rPr lang="en-US" dirty="0"/>
              <a:t>   - Closely linked with traditional IQ tests, analytical intelligence pertains to logical reasoning, mathematical problem-solving, and the ability to evaluate information systematically.</a:t>
            </a:r>
          </a:p>
          <a:p>
            <a:endParaRPr lang="en-US" dirty="0"/>
          </a:p>
          <a:p>
            <a:r>
              <a:rPr lang="en-US" dirty="0"/>
              <a:t>Intelligence is not a singular trait but a combination of multiple abilities, and individuals may excel in different types of intelligence.</a:t>
            </a:r>
          </a:p>
        </p:txBody>
      </p:sp>
      <p:sp>
        <p:nvSpPr>
          <p:cNvPr id="4" name="Slide Number Placeholder 3"/>
          <p:cNvSpPr>
            <a:spLocks noGrp="1"/>
          </p:cNvSpPr>
          <p:nvPr>
            <p:ph type="sldNum" sz="quarter" idx="5"/>
          </p:nvPr>
        </p:nvSpPr>
        <p:spPr/>
        <p:txBody>
          <a:bodyPr/>
          <a:lstStyle/>
          <a:p>
            <a:fld id="{D7D64D6C-984B-4BCD-BF41-447FBABEB894}" type="slidenum">
              <a:rPr lang="en-US" smtClean="0"/>
              <a:t>3</a:t>
            </a:fld>
            <a:endParaRPr lang="en-US"/>
          </a:p>
        </p:txBody>
      </p:sp>
    </p:spTree>
    <p:extLst>
      <p:ext uri="{BB962C8B-B14F-4D97-AF65-F5344CB8AC3E}">
        <p14:creationId xmlns:p14="http://schemas.microsoft.com/office/powerpoint/2010/main" val="2106364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Components of Intelligence:</a:t>
            </a:r>
          </a:p>
          <a:p>
            <a:endParaRPr lang="en-US" dirty="0"/>
          </a:p>
          <a:p>
            <a:r>
              <a:rPr lang="en-US" dirty="0"/>
              <a:t>Intelligence is often understood through various cognitive processes that enable humans (and machines, in the case of AI) to navigate complex tasks, solve problems, and learn from experiences. Here are the four key components that make up intelligence:</a:t>
            </a:r>
          </a:p>
          <a:p>
            <a:endParaRPr lang="en-US" dirty="0"/>
          </a:p>
          <a:p>
            <a:r>
              <a:rPr lang="en-US" dirty="0"/>
              <a:t>---</a:t>
            </a:r>
          </a:p>
          <a:p>
            <a:endParaRPr lang="en-US" dirty="0"/>
          </a:p>
          <a:p>
            <a:r>
              <a:rPr lang="en-US" dirty="0"/>
              <a:t> 1. Reasoning:</a:t>
            </a:r>
          </a:p>
          <a:p>
            <a:r>
              <a:rPr lang="en-US" dirty="0"/>
              <a:t>   - Definition: The process of forming conclusions, judgments, or inferences from facts or premises.</a:t>
            </a:r>
          </a:p>
          <a:p>
            <a:r>
              <a:rPr lang="en-US" dirty="0"/>
              <a:t>   - Types of Reasoning:</a:t>
            </a:r>
          </a:p>
          <a:p>
            <a:r>
              <a:rPr lang="en-US" dirty="0"/>
              <a:t>     - Deductive Reasoning: Drawing specific conclusions from general premises. Example: If all humans are mortal, and Socrates is a human, then Socrates is mortal.</a:t>
            </a:r>
          </a:p>
          <a:p>
            <a:r>
              <a:rPr lang="en-US" dirty="0"/>
              <a:t>     - Inductive Reasoning: Forming generalizations based on specific observations. Example: Observing that the sun has risen every morning, we infer that it will rise again tomorrow.</a:t>
            </a:r>
          </a:p>
          <a:p>
            <a:r>
              <a:rPr lang="en-US" dirty="0"/>
              <a:t>     - Abductive Reasoning: Inference to the best explanation, often used in diagnostic tasks. Example: A doctor determining the most likely cause of symptoms.</a:t>
            </a:r>
          </a:p>
          <a:p>
            <a:r>
              <a:rPr lang="en-US" dirty="0"/>
              <a:t>   - Applications: Logical problem-solving, making predictions, scientific thinking.</a:t>
            </a:r>
          </a:p>
          <a:p>
            <a:endParaRPr lang="en-US" dirty="0"/>
          </a:p>
          <a:p>
            <a:r>
              <a:rPr lang="en-US" dirty="0"/>
              <a:t> 2. Problem-Solving:</a:t>
            </a:r>
          </a:p>
          <a:p>
            <a:r>
              <a:rPr lang="en-US" dirty="0"/>
              <a:t>   - Definition: The ability to identify, analyze, and solve complex problems by breaking them down into smaller, manageable parts.</a:t>
            </a:r>
          </a:p>
          <a:p>
            <a:r>
              <a:rPr lang="en-US" dirty="0"/>
              <a:t>   - Problem-Solving Stages:</a:t>
            </a:r>
          </a:p>
          <a:p>
            <a:r>
              <a:rPr lang="en-US" dirty="0"/>
              <a:t>     - Problem Identification: Recognizing and defining the problem.</a:t>
            </a:r>
          </a:p>
          <a:p>
            <a:r>
              <a:rPr lang="en-US" dirty="0"/>
              <a:t>     - Strategy Formulation: Planning how to solve the problem.</a:t>
            </a:r>
          </a:p>
          <a:p>
            <a:r>
              <a:rPr lang="en-US" dirty="0"/>
              <a:t>     - Execution: Implementing the chosen solution.</a:t>
            </a:r>
          </a:p>
          <a:p>
            <a:r>
              <a:rPr lang="en-US" dirty="0"/>
              <a:t>     - Evaluation: Assessing the effectiveness of the solution.</a:t>
            </a:r>
          </a:p>
          <a:p>
            <a:r>
              <a:rPr lang="en-US" dirty="0"/>
              <a:t>   - Approaches:</a:t>
            </a:r>
          </a:p>
          <a:p>
            <a:r>
              <a:rPr lang="en-US" dirty="0"/>
              <a:t>     - Trial and Error: Testing multiple approaches until the correct solution is found.</a:t>
            </a:r>
          </a:p>
          <a:p>
            <a:r>
              <a:rPr lang="en-US" dirty="0"/>
              <a:t>     - Algorithms: Step-by-step procedures to arrive at a solution.</a:t>
            </a:r>
          </a:p>
          <a:p>
            <a:r>
              <a:rPr lang="en-US" dirty="0"/>
              <a:t>     - Heuristics: Rule-of-thumb strategies for quick decision-making.</a:t>
            </a:r>
          </a:p>
          <a:p>
            <a:r>
              <a:rPr lang="en-US" dirty="0"/>
              <a:t>   - Applications: Engineering, programming, strategic decision-making.</a:t>
            </a:r>
          </a:p>
          <a:p>
            <a:endParaRPr lang="en-US" dirty="0"/>
          </a:p>
          <a:p>
            <a:r>
              <a:rPr lang="en-US" dirty="0"/>
              <a:t> 3. Learning:</a:t>
            </a:r>
          </a:p>
          <a:p>
            <a:r>
              <a:rPr lang="en-US" dirty="0"/>
              <a:t>   - Definition: The process of acquiring knowledge or skills through experience, education, or training.</a:t>
            </a:r>
          </a:p>
          <a:p>
            <a:r>
              <a:rPr lang="en-US" dirty="0"/>
              <a:t>   - Types of Learning:</a:t>
            </a:r>
          </a:p>
          <a:p>
            <a:r>
              <a:rPr lang="en-US" dirty="0"/>
              <a:t>     - Supervised Learning: Involves guidance, such as a teacher or a labeled dataset, to help the learner improve.</a:t>
            </a:r>
          </a:p>
          <a:p>
            <a:r>
              <a:rPr lang="en-US" dirty="0"/>
              <a:t>     - Unsupervised Learning: Discovering patterns in data or learning without explicit instruction.</a:t>
            </a:r>
          </a:p>
          <a:p>
            <a:r>
              <a:rPr lang="en-US" dirty="0"/>
              <a:t>     - Reinforcement Learning: Learning from the consequences of actions (rewards and punishments).</a:t>
            </a:r>
          </a:p>
          <a:p>
            <a:r>
              <a:rPr lang="en-US" dirty="0"/>
              <a:t>   - Mechanisms:</a:t>
            </a:r>
          </a:p>
          <a:p>
            <a:r>
              <a:rPr lang="en-US" dirty="0"/>
              <a:t>     - Imitation: Learning by observing others.</a:t>
            </a:r>
          </a:p>
          <a:p>
            <a:r>
              <a:rPr lang="en-US" dirty="0"/>
              <a:t>     - Practice: Refining skills through repetition.</a:t>
            </a:r>
          </a:p>
          <a:p>
            <a:r>
              <a:rPr lang="en-US" dirty="0"/>
              <a:t>     - Feedback: Adjusting based on results or outcomes.</a:t>
            </a:r>
          </a:p>
          <a:p>
            <a:r>
              <a:rPr lang="en-US" dirty="0"/>
              <a:t>   - Applications: Education, machine learning, skill development.</a:t>
            </a:r>
          </a:p>
          <a:p>
            <a:endParaRPr lang="en-US" dirty="0"/>
          </a:p>
          <a:p>
            <a:r>
              <a:rPr lang="en-US" dirty="0"/>
              <a:t> 4. Perception:</a:t>
            </a:r>
          </a:p>
          <a:p>
            <a:r>
              <a:rPr lang="en-US" dirty="0"/>
              <a:t>   - Definition: The ability to recognize, interpret, and make sense of sensory information from the environment.</a:t>
            </a:r>
          </a:p>
          <a:p>
            <a:r>
              <a:rPr lang="en-US" dirty="0"/>
              <a:t>   - Types of Perception:</a:t>
            </a:r>
          </a:p>
          <a:p>
            <a:r>
              <a:rPr lang="en-US" dirty="0"/>
              <a:t>     - Visual Perception: Interpreting information from light, objects, and surroundings.</a:t>
            </a:r>
          </a:p>
          <a:p>
            <a:r>
              <a:rPr lang="en-US" dirty="0"/>
              <a:t>     - Auditory Perception: Recognizing sounds, tones, and voices.</a:t>
            </a:r>
          </a:p>
          <a:p>
            <a:r>
              <a:rPr lang="en-US" dirty="0"/>
              <a:t>     - Tactile Perception: Understanding information through touch.</a:t>
            </a:r>
          </a:p>
          <a:p>
            <a:r>
              <a:rPr lang="en-US" dirty="0"/>
              <a:t>     - Olfactory and Gustatory Perception: Interpreting smells and tastes.</a:t>
            </a:r>
          </a:p>
          <a:p>
            <a:r>
              <a:rPr lang="en-US" dirty="0"/>
              <a:t>   - Applications: Robotics (e.g., object recognition), virtual reality, pattern recognition.</a:t>
            </a:r>
          </a:p>
          <a:p>
            <a:endParaRPr lang="en-US" dirty="0"/>
          </a:p>
          <a:p>
            <a:r>
              <a:rPr lang="en-US" dirty="0"/>
              <a:t>---</a:t>
            </a:r>
          </a:p>
          <a:p>
            <a:endParaRPr lang="en-US" dirty="0"/>
          </a:p>
          <a:p>
            <a:r>
              <a:rPr lang="en-US" dirty="0"/>
              <a:t>Together, these components enable individuals and systems to operate effectively in the world, combining logic, analysis, and sensory information to navigate challenges and make decisions.</a:t>
            </a:r>
          </a:p>
        </p:txBody>
      </p:sp>
      <p:sp>
        <p:nvSpPr>
          <p:cNvPr id="4" name="Slide Number Placeholder 3"/>
          <p:cNvSpPr>
            <a:spLocks noGrp="1"/>
          </p:cNvSpPr>
          <p:nvPr>
            <p:ph type="sldNum" sz="quarter" idx="5"/>
          </p:nvPr>
        </p:nvSpPr>
        <p:spPr/>
        <p:txBody>
          <a:bodyPr/>
          <a:lstStyle/>
          <a:p>
            <a:fld id="{D7D64D6C-984B-4BCD-BF41-447FBABEB894}" type="slidenum">
              <a:rPr lang="en-US" smtClean="0"/>
              <a:t>4</a:t>
            </a:fld>
            <a:endParaRPr lang="en-US"/>
          </a:p>
        </p:txBody>
      </p:sp>
    </p:spTree>
    <p:extLst>
      <p:ext uri="{BB962C8B-B14F-4D97-AF65-F5344CB8AC3E}">
        <p14:creationId xmlns:p14="http://schemas.microsoft.com/office/powerpoint/2010/main" val="341178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Different Types of Intelligence:</a:t>
            </a:r>
          </a:p>
          <a:p>
            <a:endParaRPr lang="en-US" dirty="0"/>
          </a:p>
          <a:p>
            <a:r>
              <a:rPr lang="en-US" dirty="0"/>
              <a:t>Intelligence is a multi-dimensional concept, and there are various types that reflect the different ways individuals process information and solve problems. Here are the primary types of intelligence:</a:t>
            </a:r>
          </a:p>
          <a:p>
            <a:endParaRPr lang="en-US" dirty="0"/>
          </a:p>
          <a:p>
            <a:r>
              <a:rPr lang="en-US" dirty="0"/>
              <a:t> 1. Natural Intelligence:</a:t>
            </a:r>
          </a:p>
          <a:p>
            <a:r>
              <a:rPr lang="en-US" dirty="0"/>
              <a:t>   - Definition: This refers to the biological intelligence present in humans and animals, often driven by instinct and experiential learning.</a:t>
            </a:r>
          </a:p>
          <a:p>
            <a:r>
              <a:rPr lang="en-US" dirty="0"/>
              <a:t>   - Characteristics: Problem-solving in real-world environments, adaptation to surroundings, survival instincts.</a:t>
            </a:r>
          </a:p>
          <a:p>
            <a:endParaRPr lang="en-US" dirty="0"/>
          </a:p>
          <a:p>
            <a:r>
              <a:rPr lang="en-US" dirty="0"/>
              <a:t> 2. Emotional Intelligence (EI):</a:t>
            </a:r>
          </a:p>
          <a:p>
            <a:r>
              <a:rPr lang="en-US" dirty="0"/>
              <a:t>   - Definition: The ability to recognize, understand, and manage one’s own emotions as well as influence the emotions of others.</a:t>
            </a:r>
          </a:p>
          <a:p>
            <a:r>
              <a:rPr lang="en-US" dirty="0"/>
              <a:t>   - Key Components:</a:t>
            </a:r>
          </a:p>
          <a:p>
            <a:r>
              <a:rPr lang="en-US" dirty="0"/>
              <a:t>     - Self-awareness: Recognizing your own emotions.</a:t>
            </a:r>
          </a:p>
          <a:p>
            <a:r>
              <a:rPr lang="en-US" dirty="0"/>
              <a:t>     - Self-regulation: Managing emotional reactions.</a:t>
            </a:r>
          </a:p>
          <a:p>
            <a:r>
              <a:rPr lang="en-US" dirty="0"/>
              <a:t>     - Empathy: Understanding others' emotions.</a:t>
            </a:r>
          </a:p>
          <a:p>
            <a:r>
              <a:rPr lang="en-US" dirty="0"/>
              <a:t>     - Social skills: Building relationships and managing conflicts.</a:t>
            </a:r>
          </a:p>
          <a:p>
            <a:r>
              <a:rPr lang="en-US" dirty="0"/>
              <a:t>   - Applications: Leadership, teamwork, conflict resolution.</a:t>
            </a:r>
          </a:p>
          <a:p>
            <a:endParaRPr lang="en-US" dirty="0"/>
          </a:p>
          <a:p>
            <a:r>
              <a:rPr lang="en-US" dirty="0"/>
              <a:t> 3. Social Intelligence:</a:t>
            </a:r>
          </a:p>
          <a:p>
            <a:r>
              <a:rPr lang="en-US" dirty="0"/>
              <a:t>   - Definition: The ability to effectively navigate social interactions and understand interpersonal dynamics.</a:t>
            </a:r>
          </a:p>
          <a:p>
            <a:r>
              <a:rPr lang="en-US" dirty="0"/>
              <a:t>   - Characteristics:</a:t>
            </a:r>
          </a:p>
          <a:p>
            <a:r>
              <a:rPr lang="en-US" dirty="0"/>
              <a:t>     - Recognizing social cues.</a:t>
            </a:r>
          </a:p>
          <a:p>
            <a:r>
              <a:rPr lang="en-US" dirty="0"/>
              <a:t>     - Understanding group dynamics.</a:t>
            </a:r>
          </a:p>
          <a:p>
            <a:r>
              <a:rPr lang="en-US" dirty="0"/>
              <a:t>     - Forming meaningful relationships.</a:t>
            </a:r>
          </a:p>
          <a:p>
            <a:r>
              <a:rPr lang="en-US" dirty="0"/>
              <a:t>   - Applications: Communication, negotiation, leadership.</a:t>
            </a:r>
          </a:p>
          <a:p>
            <a:endParaRPr lang="en-US" dirty="0"/>
          </a:p>
          <a:p>
            <a:r>
              <a:rPr lang="en-US" dirty="0"/>
              <a:t> 4. Logical-Mathematical Intelligence:</a:t>
            </a:r>
          </a:p>
          <a:p>
            <a:r>
              <a:rPr lang="en-US" dirty="0"/>
              <a:t>   - Definition: The ability to analyze problems logically, perform mathematical operations, and investigate issues scientifically.</a:t>
            </a:r>
          </a:p>
          <a:p>
            <a:r>
              <a:rPr lang="en-US" dirty="0"/>
              <a:t>   - Characteristics:</a:t>
            </a:r>
          </a:p>
          <a:p>
            <a:r>
              <a:rPr lang="en-US" dirty="0"/>
              <a:t>     - Problem-solving using logic.</a:t>
            </a:r>
          </a:p>
          <a:p>
            <a:r>
              <a:rPr lang="en-US" dirty="0"/>
              <a:t>     - Understanding patterns and relationships.</a:t>
            </a:r>
          </a:p>
          <a:p>
            <a:r>
              <a:rPr lang="en-US" dirty="0"/>
              <a:t>     - Performing complex calculations.</a:t>
            </a:r>
          </a:p>
          <a:p>
            <a:r>
              <a:rPr lang="en-US" dirty="0"/>
              <a:t>   - Applications: Mathematics, engineering, computer science.</a:t>
            </a:r>
          </a:p>
          <a:p>
            <a:endParaRPr lang="en-US" dirty="0"/>
          </a:p>
          <a:p>
            <a:r>
              <a:rPr lang="en-US" dirty="0"/>
              <a:t> 5. Linguistic Intelligence:</a:t>
            </a:r>
          </a:p>
          <a:p>
            <a:r>
              <a:rPr lang="en-US" dirty="0"/>
              <a:t>   - Definition: The capacity to use language effectively, whether in writing or speaking.</a:t>
            </a:r>
          </a:p>
          <a:p>
            <a:r>
              <a:rPr lang="en-US" dirty="0"/>
              <a:t>   - Characteristics:</a:t>
            </a:r>
          </a:p>
          <a:p>
            <a:r>
              <a:rPr lang="en-US" dirty="0"/>
              <a:t>     - Understanding syntax and semantics.</a:t>
            </a:r>
          </a:p>
          <a:p>
            <a:r>
              <a:rPr lang="en-US" dirty="0"/>
              <a:t>     - Ability to learn new languages.</a:t>
            </a:r>
          </a:p>
          <a:p>
            <a:r>
              <a:rPr lang="en-US" dirty="0"/>
              <a:t>     - Articulating thoughts clearly.</a:t>
            </a:r>
          </a:p>
          <a:p>
            <a:r>
              <a:rPr lang="en-US" dirty="0"/>
              <a:t>   - Applications: Writing, public speaking, communication.</a:t>
            </a:r>
          </a:p>
          <a:p>
            <a:endParaRPr lang="en-US" dirty="0"/>
          </a:p>
          <a:p>
            <a:r>
              <a:rPr lang="en-US" dirty="0"/>
              <a:t> 6. Spatial Intelligence:</a:t>
            </a:r>
          </a:p>
          <a:p>
            <a:r>
              <a:rPr lang="en-US" dirty="0"/>
              <a:t>   - Definition: The ability to visualize and manipulate objects and spaces in the mind.</a:t>
            </a:r>
          </a:p>
          <a:p>
            <a:r>
              <a:rPr lang="en-US" dirty="0"/>
              <a:t>   - Characteristics:</a:t>
            </a:r>
          </a:p>
          <a:p>
            <a:r>
              <a:rPr lang="en-US" dirty="0"/>
              <a:t>     - Mental imagery and spatial reasoning.</a:t>
            </a:r>
          </a:p>
          <a:p>
            <a:r>
              <a:rPr lang="en-US" dirty="0"/>
              <a:t>     - Understanding spatial relationships.</a:t>
            </a:r>
          </a:p>
          <a:p>
            <a:r>
              <a:rPr lang="en-US" dirty="0"/>
              <a:t>     - Excellent at visualizing 3D objects.</a:t>
            </a:r>
          </a:p>
          <a:p>
            <a:r>
              <a:rPr lang="en-US" dirty="0"/>
              <a:t>   - Applications: Architecture, design, navigation.</a:t>
            </a:r>
          </a:p>
          <a:p>
            <a:endParaRPr lang="en-US" dirty="0"/>
          </a:p>
          <a:p>
            <a:r>
              <a:rPr lang="en-US" dirty="0"/>
              <a:t> 7. Creative Intelligence:</a:t>
            </a:r>
          </a:p>
          <a:p>
            <a:r>
              <a:rPr lang="en-US" dirty="0"/>
              <a:t>   - Definition: The capacity to produce new and innovative ideas, think outside the box, and solve problems creatively.</a:t>
            </a:r>
          </a:p>
          <a:p>
            <a:r>
              <a:rPr lang="en-US" dirty="0"/>
              <a:t>   - Characteristics:</a:t>
            </a:r>
          </a:p>
          <a:p>
            <a:r>
              <a:rPr lang="en-US" dirty="0"/>
              <a:t>     - Ability to generate novel ideas.</a:t>
            </a:r>
          </a:p>
          <a:p>
            <a:r>
              <a:rPr lang="en-US" dirty="0"/>
              <a:t>     - Originality and flexibility in thinking.</a:t>
            </a:r>
          </a:p>
          <a:p>
            <a:r>
              <a:rPr lang="en-US" dirty="0"/>
              <a:t>     - Adapting old ideas for new purposes.</a:t>
            </a:r>
          </a:p>
          <a:p>
            <a:r>
              <a:rPr lang="en-US" dirty="0"/>
              <a:t>   - Applications: Art, invention, entrepreneurship.</a:t>
            </a:r>
          </a:p>
          <a:p>
            <a:endParaRPr lang="en-US" dirty="0"/>
          </a:p>
          <a:p>
            <a:r>
              <a:rPr lang="en-US" dirty="0"/>
              <a:t> 8. Practical Intelligence:</a:t>
            </a:r>
          </a:p>
          <a:p>
            <a:r>
              <a:rPr lang="en-US" dirty="0"/>
              <a:t>   - Definition: Often referred to as "street smarts," practical intelligence involves solving real-world problems and adapting to changing environments.</a:t>
            </a:r>
          </a:p>
          <a:p>
            <a:r>
              <a:rPr lang="en-US" dirty="0"/>
              <a:t>   - Characteristics:</a:t>
            </a:r>
          </a:p>
          <a:p>
            <a:r>
              <a:rPr lang="en-US" dirty="0"/>
              <a:t>     - Managing day-to-day tasks efficiently.</a:t>
            </a:r>
          </a:p>
          <a:p>
            <a:r>
              <a:rPr lang="en-US" dirty="0"/>
              <a:t>     - Learning from experiences.</a:t>
            </a:r>
          </a:p>
          <a:p>
            <a:r>
              <a:rPr lang="en-US" dirty="0"/>
              <a:t>     - Applying knowledge to practical situations.</a:t>
            </a:r>
          </a:p>
          <a:p>
            <a:r>
              <a:rPr lang="en-US" dirty="0"/>
              <a:t>   - Applications: Management, everyday problem-solving, decision-making.</a:t>
            </a:r>
          </a:p>
          <a:p>
            <a:endParaRPr lang="en-US" dirty="0"/>
          </a:p>
          <a:p>
            <a:r>
              <a:rPr lang="en-US" dirty="0"/>
              <a:t>---</a:t>
            </a:r>
          </a:p>
          <a:p>
            <a:endParaRPr lang="en-US" dirty="0"/>
          </a:p>
          <a:p>
            <a:r>
              <a:rPr lang="en-US" dirty="0"/>
              <a:t>Each type of intelligence plays a role in how individuals interact with the world and face challenges, and it’s possible for people to excel in multiple types depending on their experiences and strengths.</a:t>
            </a:r>
          </a:p>
        </p:txBody>
      </p:sp>
      <p:sp>
        <p:nvSpPr>
          <p:cNvPr id="4" name="Slide Number Placeholder 3"/>
          <p:cNvSpPr>
            <a:spLocks noGrp="1"/>
          </p:cNvSpPr>
          <p:nvPr>
            <p:ph type="sldNum" sz="quarter" idx="5"/>
          </p:nvPr>
        </p:nvSpPr>
        <p:spPr/>
        <p:txBody>
          <a:bodyPr/>
          <a:lstStyle/>
          <a:p>
            <a:fld id="{D7D64D6C-984B-4BCD-BF41-447FBABEB894}" type="slidenum">
              <a:rPr lang="en-US" smtClean="0"/>
              <a:t>5</a:t>
            </a:fld>
            <a:endParaRPr lang="en-US"/>
          </a:p>
        </p:txBody>
      </p:sp>
    </p:spTree>
    <p:extLst>
      <p:ext uri="{BB962C8B-B14F-4D97-AF65-F5344CB8AC3E}">
        <p14:creationId xmlns:p14="http://schemas.microsoft.com/office/powerpoint/2010/main" val="2777370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Defining Artificial Intelligence and Its Relation to Natural Intelligence:</a:t>
            </a:r>
          </a:p>
          <a:p>
            <a:endParaRPr lang="en-US" dirty="0"/>
          </a:p>
          <a:p>
            <a:r>
              <a:rPr lang="en-US" dirty="0"/>
              <a:t> What is Artificial Intelligence (AI)?</a:t>
            </a:r>
          </a:p>
          <a:p>
            <a:r>
              <a:rPr lang="en-US" dirty="0"/>
              <a:t>Artificial Intelligence (AI) is the field of computer science that focuses on creating systems and machines that can perform tasks requiring human-like intelligence. These tasks typically include problem-solving, learning, reasoning, understanding language, and recognizing patterns. AI aims to simulate cognitive functions associated with the human brain by using algorithms, models, and computational power.</a:t>
            </a:r>
          </a:p>
          <a:p>
            <a:endParaRPr lang="en-US" dirty="0"/>
          </a:p>
          <a:p>
            <a:r>
              <a:rPr lang="en-US" dirty="0"/>
              <a:t>AI systems can range from simple automated processes to complex systems that simulate human reasoning, decision-making, and learning. AI can be divided into narrow AI, which focuses on a single task (e.g., virtual assistants like Siri), and general AI, which aims to perform any intellectual task that a human can do (although general AI remains largely theoretical).</a:t>
            </a:r>
          </a:p>
          <a:p>
            <a:endParaRPr lang="en-US" dirty="0"/>
          </a:p>
          <a:p>
            <a:r>
              <a:rPr lang="en-US" dirty="0"/>
              <a:t> Key Characteristics of AI:</a:t>
            </a:r>
          </a:p>
          <a:p>
            <a:r>
              <a:rPr lang="en-US" dirty="0"/>
              <a:t>- Automation: AI can perform repetitive tasks without human intervention.</a:t>
            </a:r>
          </a:p>
          <a:p>
            <a:r>
              <a:rPr lang="en-US" dirty="0"/>
              <a:t>- Learning: AI systems, especially through machine learning, can improve performance based on experience and data input.</a:t>
            </a:r>
          </a:p>
          <a:p>
            <a:r>
              <a:rPr lang="en-US" dirty="0"/>
              <a:t>- Reasoning: AI can analyze situations and make decisions based on rules and algorithms.</a:t>
            </a:r>
          </a:p>
          <a:p>
            <a:r>
              <a:rPr lang="en-US" dirty="0"/>
              <a:t>- Perception: AI can interpret sensory input (e.g., images, sounds) similar to how humans perceive their environment.</a:t>
            </a:r>
          </a:p>
          <a:p>
            <a:endParaRPr lang="en-US" dirty="0"/>
          </a:p>
          <a:p>
            <a:r>
              <a:rPr lang="en-US" dirty="0"/>
              <a:t>---</a:t>
            </a:r>
          </a:p>
          <a:p>
            <a:endParaRPr lang="en-US" dirty="0"/>
          </a:p>
          <a:p>
            <a:r>
              <a:rPr lang="en-US" dirty="0"/>
              <a:t> What is Natural Intelligence?</a:t>
            </a:r>
          </a:p>
          <a:p>
            <a:r>
              <a:rPr lang="en-US" dirty="0"/>
              <a:t>Natural Intelligence refers to the intelligence demonstrated by biological entities, particularly humans and animals. It is characterized by:</a:t>
            </a:r>
          </a:p>
          <a:p>
            <a:r>
              <a:rPr lang="en-US" dirty="0"/>
              <a:t>- Adaptability: The ability to adjust behavior based on experiences.</a:t>
            </a:r>
          </a:p>
          <a:p>
            <a:r>
              <a:rPr lang="en-US" dirty="0"/>
              <a:t>- Emotional and Social Skills: Humans can interpret emotions and navigate social environments.</a:t>
            </a:r>
          </a:p>
          <a:p>
            <a:r>
              <a:rPr lang="en-US" dirty="0"/>
              <a:t>- Creative Thinking: Humans can generate new ideas, innovate, and use imagination.</a:t>
            </a:r>
          </a:p>
          <a:p>
            <a:r>
              <a:rPr lang="en-US" dirty="0"/>
              <a:t>- Intuition: Natural intelligence often involves understanding or solving problems without a structured analytical process.</a:t>
            </a:r>
          </a:p>
          <a:p>
            <a:endParaRPr lang="en-US" dirty="0"/>
          </a:p>
          <a:p>
            <a:r>
              <a:rPr lang="en-US" dirty="0"/>
              <a:t>---</a:t>
            </a:r>
          </a:p>
          <a:p>
            <a:endParaRPr lang="en-US" dirty="0"/>
          </a:p>
          <a:p>
            <a:r>
              <a:rPr lang="en-US" dirty="0"/>
              <a:t> How AI Relates to Natural Intelligence:</a:t>
            </a:r>
          </a:p>
          <a:p>
            <a:endParaRPr lang="en-US" dirty="0"/>
          </a:p>
          <a:p>
            <a:r>
              <a:rPr lang="en-US" dirty="0"/>
              <a:t>1. Mimicking Cognitive Functions:</a:t>
            </a:r>
          </a:p>
          <a:p>
            <a:r>
              <a:rPr lang="en-US" dirty="0"/>
              <a:t>   - Learning: Just as humans learn from experiences, AI systems (especially in machine learning) improve their performance over time by analyzing data.</a:t>
            </a:r>
          </a:p>
          <a:p>
            <a:r>
              <a:rPr lang="en-US" dirty="0"/>
              <a:t>   - Reasoning: Humans use logic and critical thinking to solve problems, and AI systems try to replicate this through algorithms that mimic decision-making processes.</a:t>
            </a:r>
          </a:p>
          <a:p>
            <a:r>
              <a:rPr lang="en-US" dirty="0"/>
              <a:t>   - Perception: Both AI and humans process information from the environment (visual, auditory, etc.), though AI uses sensors and algorithms to interpret inputs.</a:t>
            </a:r>
          </a:p>
          <a:p>
            <a:endParaRPr lang="en-US" dirty="0"/>
          </a:p>
          <a:p>
            <a:r>
              <a:rPr lang="en-US" dirty="0"/>
              <a:t>2. Differences in Learning and Adaptation:</a:t>
            </a:r>
          </a:p>
          <a:p>
            <a:r>
              <a:rPr lang="en-US" dirty="0"/>
              <a:t>   - Natural Intelligence: Humans learn not just from structured data but from complex, nuanced experiences, including emotions, culture, and instincts. Natural intelligence also involves adaptability and intuition.</a:t>
            </a:r>
          </a:p>
          <a:p>
            <a:r>
              <a:rPr lang="en-US" dirty="0"/>
              <a:t>   - Artificial Intelligence: AI learns from structured datasets and specific tasks. AI relies on pre-defined rules and algorithms to process information and lacks the emotional and social context that humans have.</a:t>
            </a:r>
          </a:p>
          <a:p>
            <a:endParaRPr lang="en-US" dirty="0"/>
          </a:p>
          <a:p>
            <a:r>
              <a:rPr lang="en-US" dirty="0"/>
              <a:t>3. Limitations of AI Compared to Natural Intelligence:</a:t>
            </a:r>
          </a:p>
          <a:p>
            <a:r>
              <a:rPr lang="en-US" dirty="0"/>
              <a:t>   - Emotions and Creativity: AI cannot experience emotions or generate truly creative ideas the way humans do. It can only simulate aspects of these behaviors based on programming.</a:t>
            </a:r>
          </a:p>
          <a:p>
            <a:r>
              <a:rPr lang="en-US" dirty="0"/>
              <a:t>   - Generalization: Humans can generalize learning across various domains, while AI often struggles with transferring knowledge between unrelated tasks unless it is explicitly programmed to do so.</a:t>
            </a:r>
          </a:p>
          <a:p>
            <a:endParaRPr lang="en-US" dirty="0"/>
          </a:p>
          <a:p>
            <a:r>
              <a:rPr lang="en-US" dirty="0"/>
              <a:t>4. Enhancing Natural Intelligence:</a:t>
            </a:r>
          </a:p>
          <a:p>
            <a:r>
              <a:rPr lang="en-US" dirty="0"/>
              <a:t>   - AI systems complement natural intelligence by automating mundane tasks, analyzing large datasets, and assisting with decision-making in fields like healthcare, finance, and engineering. However, they lack the innate flexibility and emotional intelligence that humans possess.</a:t>
            </a:r>
          </a:p>
          <a:p>
            <a:endParaRPr lang="en-US" dirty="0"/>
          </a:p>
          <a:p>
            <a:r>
              <a:rPr lang="en-US" dirty="0"/>
              <a:t>---</a:t>
            </a:r>
          </a:p>
          <a:p>
            <a:endParaRPr lang="en-US" dirty="0"/>
          </a:p>
          <a:p>
            <a:r>
              <a:rPr lang="en-US" dirty="0"/>
              <a:t>In summary, Artificial Intelligence attempts to replicate the cognitive functions of Natural Intelligence but is fundamentally different in how it processes information, learns, and adapts. While AI is highly effective in specific tasks, it does not yet approach the full scope of human intelligence, which includes emotional, social, and intuitive capabilities.</a:t>
            </a:r>
          </a:p>
        </p:txBody>
      </p:sp>
      <p:sp>
        <p:nvSpPr>
          <p:cNvPr id="4" name="Slide Number Placeholder 3"/>
          <p:cNvSpPr>
            <a:spLocks noGrp="1"/>
          </p:cNvSpPr>
          <p:nvPr>
            <p:ph type="sldNum" sz="quarter" idx="5"/>
          </p:nvPr>
        </p:nvSpPr>
        <p:spPr/>
        <p:txBody>
          <a:bodyPr/>
          <a:lstStyle/>
          <a:p>
            <a:fld id="{D7D64D6C-984B-4BCD-BF41-447FBABEB894}" type="slidenum">
              <a:rPr lang="en-US" smtClean="0"/>
              <a:t>6</a:t>
            </a:fld>
            <a:endParaRPr lang="en-US"/>
          </a:p>
        </p:txBody>
      </p:sp>
    </p:spTree>
    <p:extLst>
      <p:ext uri="{BB962C8B-B14F-4D97-AF65-F5344CB8AC3E}">
        <p14:creationId xmlns:p14="http://schemas.microsoft.com/office/powerpoint/2010/main" val="203472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7</a:t>
            </a:fld>
            <a:endParaRPr lang="en-US"/>
          </a:p>
        </p:txBody>
      </p:sp>
    </p:spTree>
    <p:extLst>
      <p:ext uri="{BB962C8B-B14F-4D97-AF65-F5344CB8AC3E}">
        <p14:creationId xmlns:p14="http://schemas.microsoft.com/office/powerpoint/2010/main" val="900601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Defining Artificial Intelligence and Its Relation to Natural Intelligence:</a:t>
            </a:r>
          </a:p>
          <a:p>
            <a:endParaRPr lang="en-US" dirty="0"/>
          </a:p>
          <a:p>
            <a:r>
              <a:rPr lang="en-US" dirty="0"/>
              <a:t> What is Artificial Intelligence (AI)?</a:t>
            </a:r>
          </a:p>
          <a:p>
            <a:r>
              <a:rPr lang="en-US" dirty="0"/>
              <a:t>Artificial Intelligence (AI) is the field of computer science that focuses on creating systems and machines that can perform tasks requiring human-like intelligence. These tasks typically include problem-solving, learning, reasoning, understanding language, and recognizing patterns. AI aims to simulate cognitive functions associated with the human brain by using algorithms, models, and computational power.</a:t>
            </a:r>
          </a:p>
          <a:p>
            <a:endParaRPr lang="en-US" dirty="0"/>
          </a:p>
          <a:p>
            <a:r>
              <a:rPr lang="en-US" dirty="0"/>
              <a:t>AI systems can range from simple automated processes to complex systems that simulate human reasoning, decision-making, and learning. AI can be divided into narrow AI, which focuses on a single task (e.g., virtual assistants like Siri), and general AI, which aims to perform any intellectual task that a human can do (although general AI remains largely theoretical).</a:t>
            </a:r>
          </a:p>
          <a:p>
            <a:endParaRPr lang="en-US" dirty="0"/>
          </a:p>
          <a:p>
            <a:r>
              <a:rPr lang="en-US" dirty="0"/>
              <a:t> Key Characteristics of AI:</a:t>
            </a:r>
          </a:p>
          <a:p>
            <a:r>
              <a:rPr lang="en-US" dirty="0"/>
              <a:t>- Automation: AI can perform repetitive tasks without human intervention.</a:t>
            </a:r>
          </a:p>
          <a:p>
            <a:r>
              <a:rPr lang="en-US" dirty="0"/>
              <a:t>- Learning: AI systems, especially through machine learning, can improve performance based on experience and data input.</a:t>
            </a:r>
          </a:p>
          <a:p>
            <a:r>
              <a:rPr lang="en-US" dirty="0"/>
              <a:t>- Reasoning: AI can analyze situations and make decisions based on rules and algorithms.</a:t>
            </a:r>
          </a:p>
          <a:p>
            <a:r>
              <a:rPr lang="en-US" dirty="0"/>
              <a:t>- Perception: AI can interpret sensory input (e.g., images, sounds) similar to how humans perceive their environment.</a:t>
            </a:r>
          </a:p>
          <a:p>
            <a:endParaRPr lang="en-US" dirty="0"/>
          </a:p>
          <a:p>
            <a:r>
              <a:rPr lang="en-US" dirty="0"/>
              <a:t>---</a:t>
            </a:r>
          </a:p>
          <a:p>
            <a:endParaRPr lang="en-US" dirty="0"/>
          </a:p>
          <a:p>
            <a:r>
              <a:rPr lang="en-US" dirty="0"/>
              <a:t> What is Natural Intelligence?</a:t>
            </a:r>
          </a:p>
          <a:p>
            <a:r>
              <a:rPr lang="en-US" dirty="0"/>
              <a:t>Natural Intelligence refers to the intelligence demonstrated by biological entities, particularly humans and animals. It is characterized by:</a:t>
            </a:r>
          </a:p>
          <a:p>
            <a:r>
              <a:rPr lang="en-US" dirty="0"/>
              <a:t>- Adaptability: The ability to adjust behavior based on experiences.</a:t>
            </a:r>
          </a:p>
          <a:p>
            <a:r>
              <a:rPr lang="en-US" dirty="0"/>
              <a:t>- Emotional and Social Skills: Humans can interpret emotions and navigate social environments.</a:t>
            </a:r>
          </a:p>
          <a:p>
            <a:r>
              <a:rPr lang="en-US" dirty="0"/>
              <a:t>- Creative Thinking: Humans can generate new ideas, innovate, and use imagination.</a:t>
            </a:r>
          </a:p>
          <a:p>
            <a:r>
              <a:rPr lang="en-US" dirty="0"/>
              <a:t>- Intuition: Natural intelligence often involves understanding or solving problems without a structured analytical process.</a:t>
            </a:r>
          </a:p>
          <a:p>
            <a:endParaRPr lang="en-US" dirty="0"/>
          </a:p>
          <a:p>
            <a:r>
              <a:rPr lang="en-US" dirty="0"/>
              <a:t>---</a:t>
            </a:r>
          </a:p>
          <a:p>
            <a:endParaRPr lang="en-US" dirty="0"/>
          </a:p>
          <a:p>
            <a:r>
              <a:rPr lang="en-US" dirty="0"/>
              <a:t> How AI Relates to Natural Intelligence:</a:t>
            </a:r>
          </a:p>
          <a:p>
            <a:endParaRPr lang="en-US" dirty="0"/>
          </a:p>
          <a:p>
            <a:r>
              <a:rPr lang="en-US" dirty="0"/>
              <a:t>1. Mimicking Cognitive Functions:</a:t>
            </a:r>
          </a:p>
          <a:p>
            <a:r>
              <a:rPr lang="en-US" dirty="0"/>
              <a:t>   - Learning: Just as humans learn from experiences, AI systems (especially in machine learning) improve their performance over time by analyzing data.</a:t>
            </a:r>
          </a:p>
          <a:p>
            <a:r>
              <a:rPr lang="en-US" dirty="0"/>
              <a:t>   - Reasoning: Humans use logic and critical thinking to solve problems, and AI systems try to replicate this through algorithms that mimic decision-making processes.</a:t>
            </a:r>
          </a:p>
          <a:p>
            <a:r>
              <a:rPr lang="en-US" dirty="0"/>
              <a:t>   - Perception: Both AI and humans process information from the environment (visual, auditory, etc.), though AI uses sensors and algorithms to interpret inputs.</a:t>
            </a:r>
          </a:p>
          <a:p>
            <a:endParaRPr lang="en-US" dirty="0"/>
          </a:p>
          <a:p>
            <a:r>
              <a:rPr lang="en-US" dirty="0"/>
              <a:t>2. Differences in Learning and Adaptation:</a:t>
            </a:r>
          </a:p>
          <a:p>
            <a:r>
              <a:rPr lang="en-US" dirty="0"/>
              <a:t>   - Natural Intelligence: Humans learn not just from structured data but from complex, nuanced experiences, including emotions, culture, and instincts. Natural intelligence also involves adaptability and intuition.</a:t>
            </a:r>
          </a:p>
          <a:p>
            <a:r>
              <a:rPr lang="en-US" dirty="0"/>
              <a:t>   - Artificial Intelligence: AI learns from structured datasets and specific tasks. AI relies on pre-defined rules and algorithms to process information and lacks the emotional and social context that humans have.</a:t>
            </a:r>
          </a:p>
          <a:p>
            <a:endParaRPr lang="en-US" dirty="0"/>
          </a:p>
          <a:p>
            <a:r>
              <a:rPr lang="en-US" dirty="0"/>
              <a:t>3. Limitations of AI Compared to Natural Intelligence:</a:t>
            </a:r>
          </a:p>
          <a:p>
            <a:r>
              <a:rPr lang="en-US" dirty="0"/>
              <a:t>   - Emotions and Creativity: AI cannot experience emotions or generate truly creative ideas the way humans do. It can only simulate aspects of these behaviors based on programming.</a:t>
            </a:r>
          </a:p>
          <a:p>
            <a:r>
              <a:rPr lang="en-US" dirty="0"/>
              <a:t>   - Generalization: Humans can generalize learning across various domains, while AI often struggles with transferring knowledge between unrelated tasks unless it is explicitly programmed to do so.</a:t>
            </a:r>
          </a:p>
          <a:p>
            <a:endParaRPr lang="en-US" dirty="0"/>
          </a:p>
          <a:p>
            <a:r>
              <a:rPr lang="en-US" dirty="0"/>
              <a:t>4. Enhancing Natural Intelligence:</a:t>
            </a:r>
          </a:p>
          <a:p>
            <a:r>
              <a:rPr lang="en-US" dirty="0"/>
              <a:t>   - AI systems complement natural intelligence by automating mundane tasks, analyzing large datasets, and assisting with decision-making in fields like healthcare, finance, and engineering. However, they lack the innate flexibility and emotional intelligence that humans possess.</a:t>
            </a:r>
          </a:p>
          <a:p>
            <a:endParaRPr lang="en-US" dirty="0"/>
          </a:p>
          <a:p>
            <a:r>
              <a:rPr lang="en-US" dirty="0"/>
              <a:t>---</a:t>
            </a:r>
          </a:p>
          <a:p>
            <a:endParaRPr lang="en-US" dirty="0"/>
          </a:p>
          <a:p>
            <a:r>
              <a:rPr lang="en-US" dirty="0"/>
              <a:t>In summary, Artificial Intelligence attempts to replicate the cognitive functions of Natural Intelligence but is fundamentally different in how it processes information, learns, and adapts. While AI is highly effective in specific tasks, it does not yet approach the full scope of human intelligence, which includes emotional, social, and intuitive capabilities.</a:t>
            </a: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8</a:t>
            </a:fld>
            <a:endParaRPr lang="en-US"/>
          </a:p>
        </p:txBody>
      </p:sp>
    </p:spTree>
    <p:extLst>
      <p:ext uri="{BB962C8B-B14F-4D97-AF65-F5344CB8AC3E}">
        <p14:creationId xmlns:p14="http://schemas.microsoft.com/office/powerpoint/2010/main" val="1861190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 Machine Learning (ML) – AI that learns from data</a:t>
            </a:r>
          </a:p>
          <a:p>
            <a:pPr>
              <a:buFont typeface="Arial" panose="020B0604020202020204" pitchFamily="34" charset="0"/>
              <a:buChar char="•"/>
            </a:pPr>
            <a:r>
              <a:rPr lang="en-US" b="1" dirty="0"/>
              <a:t>Definition</a:t>
            </a:r>
            <a:r>
              <a:rPr lang="en-US" dirty="0"/>
              <a:t>: Machine Learning is a subset of AI that enables systems to learn patterns from data and make decisions without being explicitly programmed.</a:t>
            </a:r>
          </a:p>
          <a:p>
            <a:pPr>
              <a:buFont typeface="Arial" panose="020B0604020202020204" pitchFamily="34" charset="0"/>
              <a:buChar char="•"/>
            </a:pPr>
            <a:r>
              <a:rPr lang="en-US" b="1" dirty="0"/>
              <a:t>Types</a:t>
            </a:r>
            <a:r>
              <a:rPr lang="en-US" dirty="0"/>
              <a:t>:</a:t>
            </a:r>
          </a:p>
          <a:p>
            <a:pPr marL="742950" lvl="1" indent="-285750">
              <a:buFont typeface="Arial" panose="020B0604020202020204" pitchFamily="34" charset="0"/>
              <a:buChar char="•"/>
            </a:pPr>
            <a:r>
              <a:rPr lang="en-US" i="1" dirty="0"/>
              <a:t>Supervised Learning</a:t>
            </a:r>
            <a:r>
              <a:rPr lang="en-US" dirty="0"/>
              <a:t>: Learns from labeled data (e.g., spam detection).</a:t>
            </a:r>
          </a:p>
          <a:p>
            <a:pPr marL="742950" lvl="1" indent="-285750">
              <a:buFont typeface="Arial" panose="020B0604020202020204" pitchFamily="34" charset="0"/>
              <a:buChar char="•"/>
            </a:pPr>
            <a:r>
              <a:rPr lang="en-US" i="1" dirty="0"/>
              <a:t>Unsupervised Learning</a:t>
            </a:r>
            <a:r>
              <a:rPr lang="en-US" dirty="0"/>
              <a:t>: Finds patterns in unlabeled data (e.g., customer segmentation).</a:t>
            </a:r>
          </a:p>
          <a:p>
            <a:pPr marL="742950" lvl="1" indent="-285750">
              <a:buFont typeface="Arial" panose="020B0604020202020204" pitchFamily="34" charset="0"/>
              <a:buChar char="•"/>
            </a:pPr>
            <a:r>
              <a:rPr lang="en-US" i="1" dirty="0"/>
              <a:t>Reinforcement Learning</a:t>
            </a:r>
            <a:r>
              <a:rPr lang="en-US" dirty="0"/>
              <a:t>: Learns via reward-punishment systems (e.g., game-playing bots).</a:t>
            </a:r>
          </a:p>
          <a:p>
            <a:pPr>
              <a:buFont typeface="Arial" panose="020B0604020202020204" pitchFamily="34" charset="0"/>
              <a:buChar char="•"/>
            </a:pPr>
            <a:r>
              <a:rPr lang="en-US" b="1" dirty="0"/>
              <a:t>Applications</a:t>
            </a:r>
            <a:r>
              <a:rPr lang="en-US" dirty="0"/>
              <a:t>: Email filtering, recommendation systems, predictive analytics, fraud detection.</a:t>
            </a:r>
          </a:p>
          <a:p>
            <a:pPr>
              <a:buNone/>
            </a:pPr>
            <a:r>
              <a:rPr lang="en-US" b="1" dirty="0"/>
              <a:t>2. Natural Language Processing (NLP) – Understanding human language</a:t>
            </a:r>
          </a:p>
          <a:p>
            <a:pPr>
              <a:buFont typeface="Arial" panose="020B0604020202020204" pitchFamily="34" charset="0"/>
              <a:buChar char="•"/>
            </a:pPr>
            <a:r>
              <a:rPr lang="en-US" b="1" dirty="0"/>
              <a:t>Definition</a:t>
            </a:r>
            <a:r>
              <a:rPr lang="en-US" dirty="0"/>
              <a:t>: NLP focuses on the interaction between computers and human language, aiming to read, understand, and derive meaning from natural language input.</a:t>
            </a:r>
          </a:p>
          <a:p>
            <a:pPr>
              <a:buFont typeface="Arial" panose="020B0604020202020204" pitchFamily="34" charset="0"/>
              <a:buChar char="•"/>
            </a:pPr>
            <a:r>
              <a:rPr lang="en-US" b="1" dirty="0"/>
              <a:t>Tasks</a:t>
            </a:r>
            <a:r>
              <a:rPr lang="en-US" dirty="0"/>
              <a:t>:</a:t>
            </a:r>
          </a:p>
          <a:p>
            <a:pPr marL="742950" lvl="1" indent="-285750">
              <a:buFont typeface="Arial" panose="020B0604020202020204" pitchFamily="34" charset="0"/>
              <a:buChar char="•"/>
            </a:pPr>
            <a:r>
              <a:rPr lang="en-US" i="1" dirty="0"/>
              <a:t>Sentiment Analysis</a:t>
            </a:r>
            <a:r>
              <a:rPr lang="en-US" dirty="0"/>
              <a:t>: Detects opinions in texts (positive/negative).</a:t>
            </a:r>
          </a:p>
          <a:p>
            <a:pPr marL="742950" lvl="1" indent="-285750">
              <a:buFont typeface="Arial" panose="020B0604020202020204" pitchFamily="34" charset="0"/>
              <a:buChar char="•"/>
            </a:pPr>
            <a:r>
              <a:rPr lang="en-US" i="1" dirty="0"/>
              <a:t>Machine Translation</a:t>
            </a:r>
            <a:r>
              <a:rPr lang="en-US" dirty="0"/>
              <a:t>: Translates languages (e.g., Google Translate).</a:t>
            </a:r>
          </a:p>
          <a:p>
            <a:pPr marL="742950" lvl="1" indent="-285750">
              <a:buFont typeface="Arial" panose="020B0604020202020204" pitchFamily="34" charset="0"/>
              <a:buChar char="•"/>
            </a:pPr>
            <a:r>
              <a:rPr lang="en-US" i="1" dirty="0"/>
              <a:t>Speech Recognition</a:t>
            </a:r>
            <a:r>
              <a:rPr lang="en-US" dirty="0"/>
              <a:t>: Converts speech to text (e.g., virtual assistants).</a:t>
            </a:r>
          </a:p>
          <a:p>
            <a:pPr marL="742950" lvl="1" indent="-285750">
              <a:buFont typeface="Arial" panose="020B0604020202020204" pitchFamily="34" charset="0"/>
              <a:buChar char="•"/>
            </a:pPr>
            <a:r>
              <a:rPr lang="en-US" i="1" dirty="0"/>
              <a:t>Text Summarization</a:t>
            </a:r>
            <a:r>
              <a:rPr lang="en-US" dirty="0"/>
              <a:t>: Generates concise summaries from longer texts.</a:t>
            </a:r>
          </a:p>
          <a:p>
            <a:pPr>
              <a:buFont typeface="Arial" panose="020B0604020202020204" pitchFamily="34" charset="0"/>
              <a:buChar char="•"/>
            </a:pPr>
            <a:r>
              <a:rPr lang="en-US" b="1" dirty="0"/>
              <a:t>Applications</a:t>
            </a:r>
            <a:r>
              <a:rPr lang="en-US" dirty="0"/>
              <a:t>: Chatbots, language translation, virtual assistants like Siri and Alexa.</a:t>
            </a:r>
          </a:p>
          <a:p>
            <a:pPr>
              <a:buNone/>
            </a:pPr>
            <a:r>
              <a:rPr lang="en-US" b="1" dirty="0"/>
              <a:t>3. Computer Vision – Interpreting visual information</a:t>
            </a:r>
          </a:p>
          <a:p>
            <a:pPr>
              <a:buFont typeface="Arial" panose="020B0604020202020204" pitchFamily="34" charset="0"/>
              <a:buChar char="•"/>
            </a:pPr>
            <a:r>
              <a:rPr lang="en-US" b="1" dirty="0"/>
              <a:t>Definition</a:t>
            </a:r>
            <a:r>
              <a:rPr lang="en-US" dirty="0"/>
              <a:t>: Computer Vision enables machines to process and interpret images and video the way humans do.</a:t>
            </a:r>
          </a:p>
          <a:p>
            <a:pPr>
              <a:buFont typeface="Arial" panose="020B0604020202020204" pitchFamily="34" charset="0"/>
              <a:buChar char="•"/>
            </a:pPr>
            <a:r>
              <a:rPr lang="en-US" b="1" dirty="0"/>
              <a:t>Tasks</a:t>
            </a:r>
            <a:r>
              <a:rPr lang="en-US" dirty="0"/>
              <a:t>:</a:t>
            </a:r>
          </a:p>
          <a:p>
            <a:pPr marL="742950" lvl="1" indent="-285750">
              <a:buFont typeface="Arial" panose="020B0604020202020204" pitchFamily="34" charset="0"/>
              <a:buChar char="•"/>
            </a:pPr>
            <a:r>
              <a:rPr lang="en-US" i="1" dirty="0"/>
              <a:t>Object Detection</a:t>
            </a:r>
            <a:r>
              <a:rPr lang="en-US" dirty="0"/>
              <a:t>: Locating objects in an image or video.</a:t>
            </a:r>
          </a:p>
          <a:p>
            <a:pPr marL="742950" lvl="1" indent="-285750">
              <a:buFont typeface="Arial" panose="020B0604020202020204" pitchFamily="34" charset="0"/>
              <a:buChar char="•"/>
            </a:pPr>
            <a:r>
              <a:rPr lang="en-US" i="1" dirty="0"/>
              <a:t>Image Classification</a:t>
            </a:r>
            <a:r>
              <a:rPr lang="en-US" dirty="0"/>
              <a:t>: Identifying what’s in a photo (e.g., dog, cat).</a:t>
            </a:r>
          </a:p>
          <a:p>
            <a:pPr marL="742950" lvl="1" indent="-285750">
              <a:buFont typeface="Arial" panose="020B0604020202020204" pitchFamily="34" charset="0"/>
              <a:buChar char="•"/>
            </a:pPr>
            <a:r>
              <a:rPr lang="en-US" i="1" dirty="0"/>
              <a:t>Facial Recognition</a:t>
            </a:r>
            <a:r>
              <a:rPr lang="en-US" dirty="0"/>
              <a:t>: Identifying or verifying a person from a digital image.</a:t>
            </a:r>
          </a:p>
          <a:p>
            <a:pPr>
              <a:buFont typeface="Arial" panose="020B0604020202020204" pitchFamily="34" charset="0"/>
              <a:buChar char="•"/>
            </a:pPr>
            <a:r>
              <a:rPr lang="en-US" b="1" dirty="0"/>
              <a:t>Applications</a:t>
            </a:r>
            <a:r>
              <a:rPr lang="en-US" dirty="0"/>
              <a:t>: Autonomous vehicles, medical imaging, security systems, augmented reality.</a:t>
            </a:r>
          </a:p>
          <a:p>
            <a:pPr>
              <a:buNone/>
            </a:pPr>
            <a:r>
              <a:rPr lang="en-US" b="1" dirty="0"/>
              <a:t>4. Robotics – AI integrated with physical systems</a:t>
            </a:r>
          </a:p>
          <a:p>
            <a:pPr>
              <a:buFont typeface="Arial" panose="020B0604020202020204" pitchFamily="34" charset="0"/>
              <a:buChar char="•"/>
            </a:pPr>
            <a:r>
              <a:rPr lang="en-US" b="1" dirty="0"/>
              <a:t>Definition</a:t>
            </a:r>
            <a:r>
              <a:rPr lang="en-US" dirty="0"/>
              <a:t>: Robotics involves designing intelligent machines that can perform tasks in the real world, often using AI for decision-making.</a:t>
            </a:r>
          </a:p>
          <a:p>
            <a:pPr>
              <a:buFont typeface="Arial" panose="020B0604020202020204" pitchFamily="34" charset="0"/>
              <a:buChar char="•"/>
            </a:pPr>
            <a:r>
              <a:rPr lang="en-US" b="1" dirty="0"/>
              <a:t>Components</a:t>
            </a:r>
            <a:r>
              <a:rPr lang="en-US" dirty="0"/>
              <a:t>:</a:t>
            </a:r>
          </a:p>
          <a:p>
            <a:pPr marL="742950" lvl="1" indent="-285750">
              <a:buFont typeface="Arial" panose="020B0604020202020204" pitchFamily="34" charset="0"/>
              <a:buChar char="•"/>
            </a:pPr>
            <a:r>
              <a:rPr lang="en-US" i="1" dirty="0"/>
              <a:t>Sensors</a:t>
            </a:r>
            <a:r>
              <a:rPr lang="en-US" dirty="0"/>
              <a:t>: To perceive surroundings.</a:t>
            </a:r>
          </a:p>
          <a:p>
            <a:pPr marL="742950" lvl="1" indent="-285750">
              <a:buFont typeface="Arial" panose="020B0604020202020204" pitchFamily="34" charset="0"/>
              <a:buChar char="•"/>
            </a:pPr>
            <a:r>
              <a:rPr lang="en-US" i="1" dirty="0"/>
              <a:t>Actuators</a:t>
            </a:r>
            <a:r>
              <a:rPr lang="en-US" dirty="0"/>
              <a:t>: To perform physical tasks.</a:t>
            </a:r>
          </a:p>
          <a:p>
            <a:pPr marL="742950" lvl="1" indent="-285750">
              <a:buFont typeface="Arial" panose="020B0604020202020204" pitchFamily="34" charset="0"/>
              <a:buChar char="•"/>
            </a:pPr>
            <a:r>
              <a:rPr lang="en-US" i="1" dirty="0"/>
              <a:t>Control Systems</a:t>
            </a:r>
            <a:r>
              <a:rPr lang="en-US" dirty="0"/>
              <a:t>: To process input and make decisions.</a:t>
            </a:r>
          </a:p>
          <a:p>
            <a:pPr>
              <a:buFont typeface="Arial" panose="020B0604020202020204" pitchFamily="34" charset="0"/>
              <a:buChar char="•"/>
            </a:pPr>
            <a:r>
              <a:rPr lang="en-US" b="1" dirty="0"/>
              <a:t>Applications</a:t>
            </a:r>
            <a:r>
              <a:rPr lang="en-US" dirty="0"/>
              <a:t>: Manufacturing robots, delivery drones, medical surgery robots, robotic vacuum cleaners.</a:t>
            </a:r>
          </a:p>
          <a:p>
            <a:pPr>
              <a:buNone/>
            </a:pPr>
            <a:r>
              <a:rPr lang="en-US" b="1" dirty="0"/>
              <a:t>5. Data Science – Analyzing data using AI techniques</a:t>
            </a:r>
          </a:p>
          <a:p>
            <a:pPr>
              <a:buFont typeface="Arial" panose="020B0604020202020204" pitchFamily="34" charset="0"/>
              <a:buChar char="•"/>
            </a:pPr>
            <a:r>
              <a:rPr lang="en-US" b="1" dirty="0"/>
              <a:t>Definition</a:t>
            </a:r>
            <a:r>
              <a:rPr lang="en-US" dirty="0"/>
              <a:t>: Data Science combines domain expertise, programming skills, and knowledge of mathematics and statistics to extract meaningful insights from data.</a:t>
            </a:r>
          </a:p>
          <a:p>
            <a:pPr>
              <a:buFont typeface="Arial" panose="020B0604020202020204" pitchFamily="34" charset="0"/>
              <a:buChar char="•"/>
            </a:pPr>
            <a:r>
              <a:rPr lang="en-US" b="1" dirty="0"/>
              <a:t>Process</a:t>
            </a:r>
            <a:r>
              <a:rPr lang="en-US" dirty="0"/>
              <a:t>:</a:t>
            </a:r>
          </a:p>
          <a:p>
            <a:pPr marL="742950" lvl="1" indent="-285750">
              <a:buFont typeface="Arial" panose="020B0604020202020204" pitchFamily="34" charset="0"/>
              <a:buChar char="•"/>
            </a:pPr>
            <a:r>
              <a:rPr lang="en-US" i="1" dirty="0"/>
              <a:t>Data Collection &amp; Cleaning</a:t>
            </a:r>
            <a:r>
              <a:rPr lang="en-US" dirty="0"/>
              <a:t>: Preparing raw data.</a:t>
            </a:r>
          </a:p>
          <a:p>
            <a:pPr marL="742950" lvl="1" indent="-285750">
              <a:buFont typeface="Arial" panose="020B0604020202020204" pitchFamily="34" charset="0"/>
              <a:buChar char="•"/>
            </a:pPr>
            <a:r>
              <a:rPr lang="en-US" i="1" dirty="0"/>
              <a:t>Data Analysis</a:t>
            </a:r>
            <a:r>
              <a:rPr lang="en-US" dirty="0"/>
              <a:t>: Finding trends and patterns.</a:t>
            </a:r>
          </a:p>
          <a:p>
            <a:pPr marL="742950" lvl="1" indent="-285750">
              <a:buFont typeface="Arial" panose="020B0604020202020204" pitchFamily="34" charset="0"/>
              <a:buChar char="•"/>
            </a:pPr>
            <a:r>
              <a:rPr lang="en-US" i="1" dirty="0"/>
              <a:t>Modeling</a:t>
            </a:r>
            <a:r>
              <a:rPr lang="en-US" dirty="0"/>
              <a:t>: Using ML/AI to build predictive models.</a:t>
            </a:r>
          </a:p>
          <a:p>
            <a:pPr marL="742950" lvl="1" indent="-285750">
              <a:buFont typeface="Arial" panose="020B0604020202020204" pitchFamily="34" charset="0"/>
              <a:buChar char="•"/>
            </a:pPr>
            <a:r>
              <a:rPr lang="en-US" i="1" dirty="0"/>
              <a:t>Visualization &amp; Interpretation</a:t>
            </a:r>
            <a:r>
              <a:rPr lang="en-US" dirty="0"/>
              <a:t>: Presenting data in understandable formats.</a:t>
            </a:r>
          </a:p>
          <a:p>
            <a:pPr>
              <a:buFont typeface="Arial" panose="020B0604020202020204" pitchFamily="34" charset="0"/>
              <a:buChar char="•"/>
            </a:pPr>
            <a:r>
              <a:rPr lang="en-US" b="1" dirty="0"/>
              <a:t>Applications</a:t>
            </a:r>
            <a:r>
              <a:rPr lang="en-US" dirty="0"/>
              <a:t>: Business intelligence, healthcare analytics, marketing insights, risk management.</a:t>
            </a:r>
          </a:p>
          <a:p>
            <a:endParaRPr lang="en-US" dirty="0"/>
          </a:p>
        </p:txBody>
      </p:sp>
      <p:sp>
        <p:nvSpPr>
          <p:cNvPr id="4" name="Slide Number Placeholder 3"/>
          <p:cNvSpPr>
            <a:spLocks noGrp="1"/>
          </p:cNvSpPr>
          <p:nvPr>
            <p:ph type="sldNum" sz="quarter" idx="5"/>
          </p:nvPr>
        </p:nvSpPr>
        <p:spPr/>
        <p:txBody>
          <a:bodyPr/>
          <a:lstStyle/>
          <a:p>
            <a:fld id="{80A37FD5-ACD6-4E90-AA62-BEB6C9998151}" type="slidenum">
              <a:rPr lang="en-US" smtClean="0"/>
              <a:t>9</a:t>
            </a:fld>
            <a:endParaRPr lang="en-US"/>
          </a:p>
        </p:txBody>
      </p:sp>
    </p:spTree>
    <p:extLst>
      <p:ext uri="{BB962C8B-B14F-4D97-AF65-F5344CB8AC3E}">
        <p14:creationId xmlns:p14="http://schemas.microsoft.com/office/powerpoint/2010/main" val="3793207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 Narrow AI (Weak AI)</a:t>
            </a:r>
          </a:p>
          <a:p>
            <a:pPr>
              <a:buNone/>
            </a:pPr>
            <a:r>
              <a:rPr lang="en-US" b="1" dirty="0"/>
              <a:t>Definition:</a:t>
            </a:r>
            <a:br>
              <a:rPr lang="en-US" dirty="0"/>
            </a:br>
            <a:r>
              <a:rPr lang="en-US" dirty="0"/>
              <a:t>Narrow AI is artificial intelligence that is designed and trained to perform a specific task or a narrow range of tasks.</a:t>
            </a:r>
          </a:p>
          <a:p>
            <a:pPr>
              <a:buNone/>
            </a:pPr>
            <a:r>
              <a:rPr lang="en-US" b="1" dirty="0"/>
              <a:t>Key Features:</a:t>
            </a:r>
            <a:endParaRPr lang="en-US" dirty="0"/>
          </a:p>
          <a:p>
            <a:pPr>
              <a:buFont typeface="Arial" panose="020B0604020202020204" pitchFamily="34" charset="0"/>
              <a:buChar char="•"/>
            </a:pPr>
            <a:r>
              <a:rPr lang="en-US" dirty="0"/>
              <a:t>It focuses on one task only and cannot perform tasks outside its domain.</a:t>
            </a:r>
          </a:p>
          <a:p>
            <a:pPr>
              <a:buFont typeface="Arial" panose="020B0604020202020204" pitchFamily="34" charset="0"/>
              <a:buChar char="•"/>
            </a:pPr>
            <a:r>
              <a:rPr lang="en-US" dirty="0"/>
              <a:t>It operates under a limited, pre-defined set of conditions.</a:t>
            </a:r>
          </a:p>
          <a:p>
            <a:pPr>
              <a:buFont typeface="Arial" panose="020B0604020202020204" pitchFamily="34" charset="0"/>
              <a:buChar char="•"/>
            </a:pPr>
            <a:r>
              <a:rPr lang="en-US" dirty="0"/>
              <a:t>It </a:t>
            </a:r>
            <a:r>
              <a:rPr lang="en-US" b="1" dirty="0"/>
              <a:t>does not possess consciousness, understanding, or genuine intelligence</a:t>
            </a:r>
            <a:r>
              <a:rPr lang="en-US" dirty="0"/>
              <a:t>—it only simulates intelligent behavior.</a:t>
            </a:r>
          </a:p>
          <a:p>
            <a:pPr>
              <a:buNone/>
            </a:pPr>
            <a:r>
              <a:rPr lang="en-US" b="1" dirty="0"/>
              <a:t>Examples:</a:t>
            </a:r>
            <a:endParaRPr lang="en-US" dirty="0"/>
          </a:p>
          <a:p>
            <a:pPr>
              <a:buFont typeface="Arial" panose="020B0604020202020204" pitchFamily="34" charset="0"/>
              <a:buChar char="•"/>
            </a:pPr>
            <a:r>
              <a:rPr lang="en-US" b="1" dirty="0"/>
              <a:t>Facial recognition systems</a:t>
            </a:r>
            <a:endParaRPr lang="en-US" dirty="0"/>
          </a:p>
          <a:p>
            <a:pPr>
              <a:buFont typeface="Arial" panose="020B0604020202020204" pitchFamily="34" charset="0"/>
              <a:buChar char="•"/>
            </a:pPr>
            <a:r>
              <a:rPr lang="en-US" b="1" dirty="0"/>
              <a:t>Voice assistants</a:t>
            </a:r>
            <a:r>
              <a:rPr lang="en-US" dirty="0"/>
              <a:t> (e.g., Siri, Alexa)</a:t>
            </a:r>
          </a:p>
          <a:p>
            <a:pPr>
              <a:buFont typeface="Arial" panose="020B0604020202020204" pitchFamily="34" charset="0"/>
              <a:buChar char="•"/>
            </a:pPr>
            <a:r>
              <a:rPr lang="en-US" b="1" dirty="0"/>
              <a:t>Recommendation systems</a:t>
            </a:r>
            <a:r>
              <a:rPr lang="en-US" dirty="0"/>
              <a:t> (e.g., Netflix, YouTube)</a:t>
            </a:r>
          </a:p>
          <a:p>
            <a:pPr>
              <a:buFont typeface="Arial" panose="020B0604020202020204" pitchFamily="34" charset="0"/>
              <a:buChar char="•"/>
            </a:pPr>
            <a:r>
              <a:rPr lang="en-US" b="1" dirty="0"/>
              <a:t>Spam filters</a:t>
            </a:r>
            <a:r>
              <a:rPr lang="en-US" dirty="0"/>
              <a:t> in email</a:t>
            </a:r>
          </a:p>
          <a:p>
            <a:pPr>
              <a:buNone/>
            </a:pPr>
            <a:r>
              <a:rPr lang="en-US" b="1" dirty="0"/>
              <a:t>2. General AI (Strong AI)</a:t>
            </a:r>
          </a:p>
          <a:p>
            <a:pPr>
              <a:buNone/>
            </a:pPr>
            <a:r>
              <a:rPr lang="en-US" b="1" dirty="0"/>
              <a:t>Definition:</a:t>
            </a:r>
            <a:br>
              <a:rPr lang="en-US" dirty="0"/>
            </a:br>
            <a:r>
              <a:rPr lang="en-US" dirty="0"/>
              <a:t>General AI refers to a type of AI that has the </a:t>
            </a:r>
            <a:r>
              <a:rPr lang="en-US" b="1" dirty="0"/>
              <a:t>ability to understand, learn, and apply intelligence across a wide range of tasks</a:t>
            </a:r>
            <a:r>
              <a:rPr lang="en-US" dirty="0"/>
              <a:t>—similar to a human being.</a:t>
            </a:r>
          </a:p>
          <a:p>
            <a:pPr>
              <a:buNone/>
            </a:pPr>
            <a:r>
              <a:rPr lang="en-US" b="1" dirty="0"/>
              <a:t>Key Features:</a:t>
            </a:r>
            <a:endParaRPr lang="en-US" dirty="0"/>
          </a:p>
          <a:p>
            <a:pPr>
              <a:buFont typeface="Arial" panose="020B0604020202020204" pitchFamily="34" charset="0"/>
              <a:buChar char="•"/>
            </a:pPr>
            <a:r>
              <a:rPr lang="en-US" dirty="0"/>
              <a:t>Can reason, solve problems, make decisions, and adapt to new environments.</a:t>
            </a:r>
          </a:p>
          <a:p>
            <a:pPr>
              <a:buFont typeface="Arial" panose="020B0604020202020204" pitchFamily="34" charset="0"/>
              <a:buChar char="•"/>
            </a:pPr>
            <a:r>
              <a:rPr lang="en-US" dirty="0"/>
              <a:t>Has the </a:t>
            </a:r>
            <a:r>
              <a:rPr lang="en-US" b="1" dirty="0"/>
              <a:t>capacity to learn from experience</a:t>
            </a:r>
            <a:r>
              <a:rPr lang="en-US" dirty="0"/>
              <a:t> and improve itself.</a:t>
            </a:r>
          </a:p>
          <a:p>
            <a:pPr>
              <a:buFont typeface="Arial" panose="020B0604020202020204" pitchFamily="34" charset="0"/>
              <a:buChar char="•"/>
            </a:pPr>
            <a:r>
              <a:rPr lang="en-US" dirty="0"/>
              <a:t>Not limited to a single domain or task.</a:t>
            </a:r>
          </a:p>
          <a:p>
            <a:pPr>
              <a:buNone/>
            </a:pPr>
            <a:r>
              <a:rPr lang="en-US" b="1" dirty="0"/>
              <a:t>Status:</a:t>
            </a:r>
            <a:endParaRPr lang="en-US" dirty="0"/>
          </a:p>
          <a:p>
            <a:pPr>
              <a:buFont typeface="Arial" panose="020B0604020202020204" pitchFamily="34" charset="0"/>
              <a:buChar char="•"/>
            </a:pPr>
            <a:r>
              <a:rPr lang="en-US" dirty="0"/>
              <a:t>General AI </a:t>
            </a:r>
            <a:r>
              <a:rPr lang="en-US" b="1" dirty="0"/>
              <a:t>does not currently exist</a:t>
            </a:r>
            <a:r>
              <a:rPr lang="en-US" dirty="0"/>
              <a:t>.</a:t>
            </a:r>
          </a:p>
          <a:p>
            <a:pPr>
              <a:buFont typeface="Arial" panose="020B0604020202020204" pitchFamily="34" charset="0"/>
              <a:buChar char="•"/>
            </a:pPr>
            <a:r>
              <a:rPr lang="en-US" dirty="0"/>
              <a:t>It is still a goal in AI research and development.</a:t>
            </a:r>
          </a:p>
          <a:p>
            <a:pPr>
              <a:buNone/>
            </a:pPr>
            <a:r>
              <a:rPr lang="en-US" b="1" dirty="0"/>
              <a:t>Vision:</a:t>
            </a:r>
            <a:br>
              <a:rPr lang="en-US" dirty="0"/>
            </a:br>
            <a:r>
              <a:rPr lang="en-US" dirty="0"/>
              <a:t>A machine with General AI could do anything a human can—understand language, solve mathematical problems, paint art, fix a car, or write music.</a:t>
            </a:r>
          </a:p>
          <a:p>
            <a:pPr>
              <a:buNone/>
            </a:pPr>
            <a:r>
              <a:rPr lang="en-US" b="1" dirty="0"/>
              <a:t>3. Superintelligence</a:t>
            </a:r>
          </a:p>
          <a:p>
            <a:pPr>
              <a:buNone/>
            </a:pPr>
            <a:r>
              <a:rPr lang="en-US" b="1" dirty="0"/>
              <a:t>Definition:</a:t>
            </a:r>
            <a:br>
              <a:rPr lang="en-US" dirty="0"/>
            </a:br>
            <a:r>
              <a:rPr lang="en-US" dirty="0"/>
              <a:t>Superintelligence is a </a:t>
            </a:r>
            <a:r>
              <a:rPr lang="en-US" b="1" dirty="0"/>
              <a:t>hypothetical form of AI that surpasses the intelligence of the best human minds</a:t>
            </a:r>
            <a:r>
              <a:rPr lang="en-US" dirty="0"/>
              <a:t> in every field, including creativity, general wisdom, and problem-solving.</a:t>
            </a:r>
          </a:p>
          <a:p>
            <a:pPr>
              <a:buNone/>
            </a:pPr>
            <a:r>
              <a:rPr lang="en-US" b="1" dirty="0"/>
              <a:t>Key Features:</a:t>
            </a:r>
            <a:endParaRPr lang="en-US" dirty="0"/>
          </a:p>
          <a:p>
            <a:pPr>
              <a:buFont typeface="Arial" panose="020B0604020202020204" pitchFamily="34" charset="0"/>
              <a:buChar char="•"/>
            </a:pPr>
            <a:r>
              <a:rPr lang="en-US" dirty="0"/>
              <a:t>Vastly superior to human intelligence.</a:t>
            </a:r>
          </a:p>
          <a:p>
            <a:pPr>
              <a:buFont typeface="Arial" panose="020B0604020202020204" pitchFamily="34" charset="0"/>
              <a:buChar char="•"/>
            </a:pPr>
            <a:r>
              <a:rPr lang="en-US" dirty="0"/>
              <a:t>Might possess the ability to improve itself beyond human control (recursive self-improvement).</a:t>
            </a:r>
          </a:p>
          <a:p>
            <a:pPr>
              <a:buFont typeface="Arial" panose="020B0604020202020204" pitchFamily="34" charset="0"/>
              <a:buChar char="•"/>
            </a:pPr>
            <a:r>
              <a:rPr lang="en-US" dirty="0"/>
              <a:t>Often associated with futuristic or science fiction scenarios.</a:t>
            </a:r>
          </a:p>
          <a:p>
            <a:pPr>
              <a:buNone/>
            </a:pPr>
            <a:r>
              <a:rPr lang="en-US" b="1" dirty="0"/>
              <a:t>Concerns and Discussions:</a:t>
            </a:r>
            <a:endParaRPr lang="en-US" dirty="0"/>
          </a:p>
          <a:p>
            <a:pPr>
              <a:buFont typeface="Arial" panose="020B0604020202020204" pitchFamily="34" charset="0"/>
              <a:buChar char="•"/>
            </a:pPr>
            <a:r>
              <a:rPr lang="en-US" b="1" dirty="0"/>
              <a:t>Ethical implications</a:t>
            </a:r>
            <a:r>
              <a:rPr lang="en-US" dirty="0"/>
              <a:t>: Will it be controllable?</a:t>
            </a:r>
          </a:p>
          <a:p>
            <a:pPr>
              <a:buFont typeface="Arial" panose="020B0604020202020204" pitchFamily="34" charset="0"/>
              <a:buChar char="•"/>
            </a:pPr>
            <a:r>
              <a:rPr lang="en-US" b="1" dirty="0"/>
              <a:t>Existential risks</a:t>
            </a:r>
            <a:r>
              <a:rPr lang="en-US" dirty="0"/>
              <a:t>: Could it act against human interests?</a:t>
            </a:r>
          </a:p>
          <a:p>
            <a:pPr>
              <a:buFont typeface="Arial" panose="020B0604020202020204" pitchFamily="34" charset="0"/>
              <a:buChar char="•"/>
            </a:pPr>
            <a:r>
              <a:rPr lang="en-US" b="1" dirty="0"/>
              <a:t>Popularized by thinkers</a:t>
            </a:r>
            <a:r>
              <a:rPr lang="en-US" dirty="0"/>
              <a:t> like Nick Bostrom and Elon Musk.</a:t>
            </a:r>
          </a:p>
          <a:p>
            <a:pPr>
              <a:buNone/>
            </a:pPr>
            <a:r>
              <a:rPr lang="en-US" b="1" dirty="0"/>
              <a:t>Summary Table:</a:t>
            </a:r>
          </a:p>
          <a:p>
            <a:r>
              <a:rPr lang="en-US" dirty="0"/>
              <a:t>Feature		Narrow AI		General AI			Superintelligence</a:t>
            </a:r>
          </a:p>
          <a:p>
            <a:r>
              <a:rPr lang="en-US" dirty="0"/>
              <a:t>Task Scope		Specific task		Broad/human-like		Beyond human capabilities</a:t>
            </a:r>
          </a:p>
          <a:p>
            <a:r>
              <a:rPr lang="en-US" dirty="0"/>
              <a:t>Current Status		Exists and widely used	Still theoretical		Speculative/futuristic</a:t>
            </a:r>
          </a:p>
          <a:p>
            <a:r>
              <a:rPr lang="en-US" dirty="0"/>
              <a:t>Intelligence Level	Simulates intelligence	Matches human intelligence		Exceeds all human intelligence</a:t>
            </a:r>
          </a:p>
          <a:p>
            <a:r>
              <a:rPr lang="en-US" dirty="0"/>
              <a:t>Examples		Siri, Google Translate	None (yet)			Hypothetical future AI</a:t>
            </a:r>
          </a:p>
          <a:p>
            <a:endParaRPr lang="en-US" dirty="0"/>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10</a:t>
            </a:fld>
            <a:endParaRPr lang="en-US"/>
          </a:p>
        </p:txBody>
      </p:sp>
    </p:spTree>
    <p:extLst>
      <p:ext uri="{BB962C8B-B14F-4D97-AF65-F5344CB8AC3E}">
        <p14:creationId xmlns:p14="http://schemas.microsoft.com/office/powerpoint/2010/main" val="566262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“What we know” – The foundation of intelligence.</a:t>
            </a:r>
            <a:endParaRPr lang="en-US" dirty="0"/>
          </a:p>
          <a:p>
            <a:pPr>
              <a:buFont typeface="Arial" panose="020B0604020202020204" pitchFamily="34" charset="0"/>
              <a:buChar char="•"/>
            </a:pPr>
            <a:r>
              <a:rPr lang="en-US" b="1" dirty="0"/>
              <a:t>Definition</a:t>
            </a:r>
            <a:r>
              <a:rPr lang="en-US" dirty="0"/>
              <a:t>:</a:t>
            </a:r>
            <a:br>
              <a:rPr lang="en-US" dirty="0"/>
            </a:br>
            <a:r>
              <a:rPr lang="en-US" dirty="0"/>
              <a:t>Knowledge refers to the facts, information, and skills acquired through experience, education, or training.</a:t>
            </a:r>
          </a:p>
          <a:p>
            <a:pPr>
              <a:buFont typeface="Arial" panose="020B0604020202020204" pitchFamily="34" charset="0"/>
              <a:buChar char="•"/>
            </a:pPr>
            <a:r>
              <a:rPr lang="en-US" b="1" dirty="0"/>
              <a:t>Types of Knowledge</a:t>
            </a:r>
            <a:r>
              <a:rPr lang="en-US" dirty="0"/>
              <a:t>:</a:t>
            </a:r>
          </a:p>
          <a:p>
            <a:pPr marL="742950" lvl="1" indent="-285750">
              <a:buFont typeface="Arial" panose="020B0604020202020204" pitchFamily="34" charset="0"/>
              <a:buChar char="•"/>
            </a:pPr>
            <a:r>
              <a:rPr lang="en-US" b="1" dirty="0"/>
              <a:t>Declarative Knowledge (What)</a:t>
            </a:r>
            <a:endParaRPr lang="en-US" dirty="0"/>
          </a:p>
          <a:p>
            <a:pPr marL="1143000" lvl="2" indent="-228600">
              <a:buFont typeface="Arial" panose="020B0604020202020204" pitchFamily="34" charset="0"/>
              <a:buChar char="•"/>
            </a:pPr>
            <a:r>
              <a:rPr lang="en-US" dirty="0"/>
              <a:t>Descriptive knowledge about facts and things.</a:t>
            </a:r>
          </a:p>
          <a:p>
            <a:pPr marL="1143000" lvl="2" indent="-228600">
              <a:buFont typeface="Arial" panose="020B0604020202020204" pitchFamily="34" charset="0"/>
              <a:buChar char="•"/>
            </a:pPr>
            <a:r>
              <a:rPr lang="en-US" dirty="0"/>
              <a:t>Example: “Paris is the capital of France.”</a:t>
            </a:r>
          </a:p>
          <a:p>
            <a:pPr marL="742950" lvl="1" indent="-285750">
              <a:buFont typeface="Arial" panose="020B0604020202020204" pitchFamily="34" charset="0"/>
              <a:buChar char="•"/>
            </a:pPr>
            <a:r>
              <a:rPr lang="en-US" b="1" dirty="0"/>
              <a:t>Procedural Knowledge (How)</a:t>
            </a:r>
            <a:endParaRPr lang="en-US" dirty="0"/>
          </a:p>
          <a:p>
            <a:pPr marL="1143000" lvl="2" indent="-228600">
              <a:buFont typeface="Arial" panose="020B0604020202020204" pitchFamily="34" charset="0"/>
              <a:buChar char="•"/>
            </a:pPr>
            <a:r>
              <a:rPr lang="en-US" dirty="0"/>
              <a:t>Knowledge of processes and procedures.</a:t>
            </a:r>
          </a:p>
          <a:p>
            <a:pPr marL="1143000" lvl="2" indent="-228600">
              <a:buFont typeface="Arial" panose="020B0604020202020204" pitchFamily="34" charset="0"/>
              <a:buChar char="•"/>
            </a:pPr>
            <a:r>
              <a:rPr lang="en-US" dirty="0"/>
              <a:t>Example: How to ride a bicycle or solve a math problem.</a:t>
            </a:r>
          </a:p>
          <a:p>
            <a:pPr>
              <a:buFont typeface="Arial" panose="020B0604020202020204" pitchFamily="34" charset="0"/>
              <a:buChar char="•"/>
            </a:pPr>
            <a:r>
              <a:rPr lang="en-US" b="1" dirty="0"/>
              <a:t>Importance in AI</a:t>
            </a:r>
            <a:r>
              <a:rPr lang="en-US" dirty="0"/>
              <a:t>:</a:t>
            </a:r>
            <a:br>
              <a:rPr lang="en-US" dirty="0"/>
            </a:br>
            <a:r>
              <a:rPr lang="en-US" dirty="0"/>
              <a:t>AI systems need a knowledge base to reason, infer, and make decisions, especially in expert systems and rule-based models.</a:t>
            </a:r>
          </a:p>
          <a:p>
            <a:pPr>
              <a:buNone/>
            </a:pPr>
            <a:r>
              <a:rPr lang="en-US" b="1" dirty="0"/>
              <a:t>📈 Learning</a:t>
            </a:r>
          </a:p>
          <a:p>
            <a:pPr>
              <a:buNone/>
            </a:pPr>
            <a:r>
              <a:rPr lang="en-US" i="1" dirty="0"/>
              <a:t>“How systems get smarter over time.”</a:t>
            </a:r>
            <a:endParaRPr lang="en-US" dirty="0"/>
          </a:p>
          <a:p>
            <a:pPr>
              <a:buFont typeface="Arial" panose="020B0604020202020204" pitchFamily="34" charset="0"/>
              <a:buChar char="•"/>
            </a:pPr>
            <a:r>
              <a:rPr lang="en-US" b="1" dirty="0"/>
              <a:t>Definition</a:t>
            </a:r>
            <a:r>
              <a:rPr lang="en-US" dirty="0"/>
              <a:t>:</a:t>
            </a:r>
            <a:br>
              <a:rPr lang="en-US" dirty="0"/>
            </a:br>
            <a:r>
              <a:rPr lang="en-US" dirty="0"/>
              <a:t>Learning in AI is the process by which machines improve their performance on tasks through experience and data, without being explicitly programmed for each scenario.</a:t>
            </a:r>
          </a:p>
          <a:p>
            <a:pPr>
              <a:buFont typeface="Arial" panose="020B0604020202020204" pitchFamily="34" charset="0"/>
              <a:buChar char="•"/>
            </a:pPr>
            <a:r>
              <a:rPr lang="en-US" b="1" dirty="0"/>
              <a:t>Types of Learning</a:t>
            </a:r>
            <a:r>
              <a:rPr lang="en-US" dirty="0"/>
              <a:t>:</a:t>
            </a:r>
          </a:p>
          <a:p>
            <a:pPr marL="742950" lvl="1" indent="-285750">
              <a:buFont typeface="Arial" panose="020B0604020202020204" pitchFamily="34" charset="0"/>
              <a:buChar char="•"/>
            </a:pPr>
            <a:r>
              <a:rPr lang="en-US" b="1" dirty="0"/>
              <a:t>Supervised Learning</a:t>
            </a:r>
            <a:endParaRPr lang="en-US" dirty="0"/>
          </a:p>
          <a:p>
            <a:pPr marL="1143000" lvl="2" indent="-228600">
              <a:buFont typeface="Arial" panose="020B0604020202020204" pitchFamily="34" charset="0"/>
              <a:buChar char="•"/>
            </a:pPr>
            <a:r>
              <a:rPr lang="en-US" dirty="0"/>
              <a:t>Learns from labeled data (input-output pairs).</a:t>
            </a:r>
          </a:p>
          <a:p>
            <a:pPr marL="1143000" lvl="2" indent="-228600">
              <a:buFont typeface="Arial" panose="020B0604020202020204" pitchFamily="34" charset="0"/>
              <a:buChar char="•"/>
            </a:pPr>
            <a:r>
              <a:rPr lang="en-US" dirty="0"/>
              <a:t>Example: Email spam detection.</a:t>
            </a:r>
          </a:p>
          <a:p>
            <a:pPr marL="742950" lvl="1" indent="-285750">
              <a:buFont typeface="Arial" panose="020B0604020202020204" pitchFamily="34" charset="0"/>
              <a:buChar char="•"/>
            </a:pPr>
            <a:r>
              <a:rPr lang="en-US" b="1" dirty="0"/>
              <a:t>Unsupervised Learning</a:t>
            </a:r>
            <a:endParaRPr lang="en-US" dirty="0"/>
          </a:p>
          <a:p>
            <a:pPr marL="1143000" lvl="2" indent="-228600">
              <a:buFont typeface="Arial" panose="020B0604020202020204" pitchFamily="34" charset="0"/>
              <a:buChar char="•"/>
            </a:pPr>
            <a:r>
              <a:rPr lang="en-US" dirty="0"/>
              <a:t>Finds hidden patterns or structures in unlabeled data.</a:t>
            </a:r>
          </a:p>
          <a:p>
            <a:pPr marL="1143000" lvl="2" indent="-228600">
              <a:buFont typeface="Arial" panose="020B0604020202020204" pitchFamily="34" charset="0"/>
              <a:buChar char="•"/>
            </a:pPr>
            <a:r>
              <a:rPr lang="en-US" dirty="0"/>
              <a:t>Example: Customer segmentation in marketing.</a:t>
            </a:r>
          </a:p>
          <a:p>
            <a:pPr marL="742950" lvl="1" indent="-285750">
              <a:buFont typeface="Arial" panose="020B0604020202020204" pitchFamily="34" charset="0"/>
              <a:buChar char="•"/>
            </a:pPr>
            <a:r>
              <a:rPr lang="en-US" b="1" dirty="0"/>
              <a:t>Reinforcement Learning</a:t>
            </a:r>
            <a:endParaRPr lang="en-US" dirty="0"/>
          </a:p>
          <a:p>
            <a:pPr marL="1143000" lvl="2" indent="-228600">
              <a:buFont typeface="Arial" panose="020B0604020202020204" pitchFamily="34" charset="0"/>
              <a:buChar char="•"/>
            </a:pPr>
            <a:r>
              <a:rPr lang="en-US" dirty="0"/>
              <a:t>Learns through trial-and-error by receiving rewards or penalties.</a:t>
            </a:r>
          </a:p>
          <a:p>
            <a:pPr marL="1143000" lvl="2" indent="-228600">
              <a:buFont typeface="Arial" panose="020B0604020202020204" pitchFamily="34" charset="0"/>
              <a:buChar char="•"/>
            </a:pPr>
            <a:r>
              <a:rPr lang="en-US" dirty="0"/>
              <a:t>Example: AI agents playing games like chess or Go.</a:t>
            </a:r>
          </a:p>
          <a:p>
            <a:pPr>
              <a:buFont typeface="Arial" panose="020B0604020202020204" pitchFamily="34" charset="0"/>
              <a:buChar char="•"/>
            </a:pPr>
            <a:r>
              <a:rPr lang="en-US" b="1" dirty="0"/>
              <a:t>Real-World Example</a:t>
            </a:r>
            <a:r>
              <a:rPr lang="en-US" dirty="0"/>
              <a:t>:</a:t>
            </a:r>
            <a:br>
              <a:rPr lang="en-US" dirty="0"/>
            </a:br>
            <a:r>
              <a:rPr lang="en-US" dirty="0"/>
              <a:t>Netflix recommending shows based on your viewing habits is a form of machine learning.</a:t>
            </a:r>
          </a:p>
          <a:p>
            <a:endParaRPr lang="en-US" dirty="0"/>
          </a:p>
        </p:txBody>
      </p:sp>
      <p:sp>
        <p:nvSpPr>
          <p:cNvPr id="4" name="Slide Number Placeholder 3"/>
          <p:cNvSpPr>
            <a:spLocks noGrp="1"/>
          </p:cNvSpPr>
          <p:nvPr>
            <p:ph type="sldNum" sz="quarter" idx="5"/>
          </p:nvPr>
        </p:nvSpPr>
        <p:spPr/>
        <p:txBody>
          <a:bodyPr/>
          <a:lstStyle/>
          <a:p>
            <a:fld id="{80A37FD5-ACD6-4E90-AA62-BEB6C9998151}" type="slidenum">
              <a:rPr lang="en-US" smtClean="0"/>
              <a:t>11</a:t>
            </a:fld>
            <a:endParaRPr lang="en-US"/>
          </a:p>
        </p:txBody>
      </p:sp>
    </p:spTree>
    <p:extLst>
      <p:ext uri="{BB962C8B-B14F-4D97-AF65-F5344CB8AC3E}">
        <p14:creationId xmlns:p14="http://schemas.microsoft.com/office/powerpoint/2010/main" val="1600128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Mathematics</a:t>
            </a:r>
            <a:endParaRPr lang="en-US" dirty="0"/>
          </a:p>
          <a:p>
            <a:pPr>
              <a:buFont typeface="Arial" panose="020B0604020202020204" pitchFamily="34" charset="0"/>
              <a:buChar char="•"/>
            </a:pPr>
            <a:r>
              <a:rPr lang="en-US" b="1" dirty="0"/>
              <a:t>Role in AI:</a:t>
            </a:r>
            <a:endParaRPr lang="en-US" dirty="0"/>
          </a:p>
          <a:p>
            <a:pPr marL="742950" lvl="1" indent="-285750">
              <a:buFont typeface="Arial" panose="020B0604020202020204" pitchFamily="34" charset="0"/>
              <a:buChar char="•"/>
            </a:pPr>
            <a:r>
              <a:rPr lang="en-US" dirty="0"/>
              <a:t>Provides the formal language and tools for algorithms and models.</a:t>
            </a:r>
          </a:p>
          <a:p>
            <a:pPr>
              <a:buFont typeface="Arial" panose="020B0604020202020204" pitchFamily="34" charset="0"/>
              <a:buChar char="•"/>
            </a:pPr>
            <a:r>
              <a:rPr lang="en-US" b="1" dirty="0"/>
              <a:t>Key Areas:</a:t>
            </a:r>
            <a:endParaRPr lang="en-US" dirty="0"/>
          </a:p>
          <a:p>
            <a:pPr marL="742950" lvl="1" indent="-285750">
              <a:buFont typeface="Arial" panose="020B0604020202020204" pitchFamily="34" charset="0"/>
              <a:buChar char="•"/>
            </a:pPr>
            <a:r>
              <a:rPr lang="en-US" dirty="0"/>
              <a:t>Linear Algebra (e.g., matrix operations for neural networks)</a:t>
            </a:r>
          </a:p>
          <a:p>
            <a:pPr marL="742950" lvl="1" indent="-285750">
              <a:buFont typeface="Arial" panose="020B0604020202020204" pitchFamily="34" charset="0"/>
              <a:buChar char="•"/>
            </a:pPr>
            <a:r>
              <a:rPr lang="en-US" dirty="0"/>
              <a:t>Calculus (e.g., optimization in training models)</a:t>
            </a:r>
          </a:p>
          <a:p>
            <a:pPr marL="742950" lvl="1" indent="-285750">
              <a:buFont typeface="Arial" panose="020B0604020202020204" pitchFamily="34" charset="0"/>
              <a:buChar char="•"/>
            </a:pPr>
            <a:r>
              <a:rPr lang="en-US" dirty="0"/>
              <a:t>Probability &amp; Statistics (e.g., probabilistic reasoning, Bayesian inference)</a:t>
            </a:r>
          </a:p>
          <a:p>
            <a:pPr marL="742950" lvl="1" indent="-285750">
              <a:buFont typeface="Arial" panose="020B0604020202020204" pitchFamily="34" charset="0"/>
              <a:buChar char="•"/>
            </a:pPr>
            <a:r>
              <a:rPr lang="en-US" dirty="0"/>
              <a:t>Discrete Mathematics (e.g., logic, graph theory)</a:t>
            </a:r>
          </a:p>
          <a:p>
            <a:pPr>
              <a:buNone/>
            </a:pPr>
            <a:endParaRPr lang="en-US" b="1" dirty="0"/>
          </a:p>
          <a:p>
            <a:pPr>
              <a:buNone/>
            </a:pPr>
            <a:r>
              <a:rPr lang="en-US" b="1" dirty="0"/>
              <a:t>Computer Science</a:t>
            </a:r>
            <a:endParaRPr lang="en-US" dirty="0"/>
          </a:p>
          <a:p>
            <a:pPr>
              <a:buFont typeface="Arial" panose="020B0604020202020204" pitchFamily="34" charset="0"/>
              <a:buChar char="•"/>
            </a:pPr>
            <a:r>
              <a:rPr lang="en-US" b="1" dirty="0"/>
              <a:t>Role in AI:</a:t>
            </a:r>
            <a:endParaRPr lang="en-US" dirty="0"/>
          </a:p>
          <a:p>
            <a:pPr marL="742950" lvl="1" indent="-285750">
              <a:buFont typeface="Arial" panose="020B0604020202020204" pitchFamily="34" charset="0"/>
              <a:buChar char="•"/>
            </a:pPr>
            <a:r>
              <a:rPr lang="en-US" dirty="0"/>
              <a:t>Offers the computational frameworks and algorithms needed to implement AI.</a:t>
            </a:r>
          </a:p>
          <a:p>
            <a:pPr>
              <a:buFont typeface="Arial" panose="020B0604020202020204" pitchFamily="34" charset="0"/>
              <a:buChar char="•"/>
            </a:pPr>
            <a:r>
              <a:rPr lang="en-US" b="1" dirty="0"/>
              <a:t>Key Areas:</a:t>
            </a:r>
            <a:endParaRPr lang="en-US" dirty="0"/>
          </a:p>
          <a:p>
            <a:pPr marL="742950" lvl="1" indent="-285750">
              <a:buFont typeface="Arial" panose="020B0604020202020204" pitchFamily="34" charset="0"/>
              <a:buChar char="•"/>
            </a:pPr>
            <a:r>
              <a:rPr lang="en-US" dirty="0"/>
              <a:t>Algorithms and Data Structures</a:t>
            </a:r>
          </a:p>
          <a:p>
            <a:pPr marL="742950" lvl="1" indent="-285750">
              <a:buFont typeface="Arial" panose="020B0604020202020204" pitchFamily="34" charset="0"/>
              <a:buChar char="•"/>
            </a:pPr>
            <a:r>
              <a:rPr lang="en-US" dirty="0"/>
              <a:t>Programming Languages</a:t>
            </a:r>
          </a:p>
          <a:p>
            <a:pPr marL="742950" lvl="1" indent="-285750">
              <a:buFont typeface="Arial" panose="020B0604020202020204" pitchFamily="34" charset="0"/>
              <a:buChar char="•"/>
            </a:pPr>
            <a:r>
              <a:rPr lang="en-US" dirty="0"/>
              <a:t>Machine Learning and Deep Learning</a:t>
            </a:r>
          </a:p>
          <a:p>
            <a:pPr marL="742950" lvl="1" indent="-285750">
              <a:buFont typeface="Arial" panose="020B0604020202020204" pitchFamily="34" charset="0"/>
              <a:buChar char="•"/>
            </a:pPr>
            <a:r>
              <a:rPr lang="en-US" dirty="0"/>
              <a:t>Computational Complexity</a:t>
            </a:r>
          </a:p>
          <a:p>
            <a:pPr marL="742950" lvl="1" indent="-285750">
              <a:buFont typeface="Arial" panose="020B0604020202020204" pitchFamily="34" charset="0"/>
              <a:buChar char="•"/>
            </a:pPr>
            <a:r>
              <a:rPr lang="en-US" dirty="0"/>
              <a:t>Software Engineering</a:t>
            </a:r>
          </a:p>
          <a:p>
            <a:pPr>
              <a:buNone/>
            </a:pPr>
            <a:endParaRPr lang="en-US" b="1" dirty="0"/>
          </a:p>
          <a:p>
            <a:pPr>
              <a:buNone/>
            </a:pPr>
            <a:r>
              <a:rPr lang="en-US" b="1" dirty="0"/>
              <a:t>Philosophy</a:t>
            </a:r>
            <a:endParaRPr lang="en-US" dirty="0"/>
          </a:p>
          <a:p>
            <a:pPr>
              <a:buFont typeface="Arial" panose="020B0604020202020204" pitchFamily="34" charset="0"/>
              <a:buChar char="•"/>
            </a:pPr>
            <a:r>
              <a:rPr lang="en-US" b="1" dirty="0"/>
              <a:t>Role in AI:</a:t>
            </a:r>
            <a:endParaRPr lang="en-US" dirty="0"/>
          </a:p>
          <a:p>
            <a:pPr marL="742950" lvl="1" indent="-285750">
              <a:buFont typeface="Arial" panose="020B0604020202020204" pitchFamily="34" charset="0"/>
              <a:buChar char="•"/>
            </a:pPr>
            <a:r>
              <a:rPr lang="en-US" dirty="0"/>
              <a:t>Addresses the fundamental questions about intelligence, consciousness, and ethics.</a:t>
            </a:r>
          </a:p>
          <a:p>
            <a:pPr>
              <a:buFont typeface="Arial" panose="020B0604020202020204" pitchFamily="34" charset="0"/>
              <a:buChar char="•"/>
            </a:pPr>
            <a:r>
              <a:rPr lang="en-US" b="1" dirty="0"/>
              <a:t>Key Areas:</a:t>
            </a:r>
            <a:endParaRPr lang="en-US" dirty="0"/>
          </a:p>
          <a:p>
            <a:pPr marL="742950" lvl="1" indent="-285750">
              <a:buFont typeface="Arial" panose="020B0604020202020204" pitchFamily="34" charset="0"/>
              <a:buChar char="•"/>
            </a:pPr>
            <a:r>
              <a:rPr lang="en-US" dirty="0"/>
              <a:t>Philosophy of Mind</a:t>
            </a:r>
          </a:p>
          <a:p>
            <a:pPr marL="742950" lvl="1" indent="-285750">
              <a:buFont typeface="Arial" panose="020B0604020202020204" pitchFamily="34" charset="0"/>
              <a:buChar char="•"/>
            </a:pPr>
            <a:r>
              <a:rPr lang="en-US" dirty="0"/>
              <a:t>Epistemology (theory of knowledge)</a:t>
            </a:r>
          </a:p>
          <a:p>
            <a:pPr marL="742950" lvl="1" indent="-285750">
              <a:buFont typeface="Arial" panose="020B0604020202020204" pitchFamily="34" charset="0"/>
              <a:buChar char="•"/>
            </a:pPr>
            <a:r>
              <a:rPr lang="en-US" dirty="0"/>
              <a:t>Ethics in AI</a:t>
            </a:r>
          </a:p>
          <a:p>
            <a:pPr marL="742950" lvl="1" indent="-285750">
              <a:buFont typeface="Arial" panose="020B0604020202020204" pitchFamily="34" charset="0"/>
              <a:buChar char="•"/>
            </a:pPr>
            <a:r>
              <a:rPr lang="en-US" dirty="0"/>
              <a:t>Logic and Reasoning</a:t>
            </a:r>
          </a:p>
          <a:p>
            <a:pPr>
              <a:buNone/>
            </a:pPr>
            <a:endParaRPr lang="en-US" b="1" dirty="0"/>
          </a:p>
          <a:p>
            <a:pPr>
              <a:buNone/>
            </a:pPr>
            <a:r>
              <a:rPr lang="en-US" b="1" dirty="0"/>
              <a:t>Psychology</a:t>
            </a:r>
            <a:endParaRPr lang="en-US" dirty="0"/>
          </a:p>
          <a:p>
            <a:pPr>
              <a:buFont typeface="Arial" panose="020B0604020202020204" pitchFamily="34" charset="0"/>
              <a:buChar char="•"/>
            </a:pPr>
            <a:r>
              <a:rPr lang="en-US" b="1" dirty="0"/>
              <a:t>Role in AI:</a:t>
            </a:r>
            <a:endParaRPr lang="en-US" dirty="0"/>
          </a:p>
          <a:p>
            <a:pPr marL="742950" lvl="1" indent="-285750">
              <a:buFont typeface="Arial" panose="020B0604020202020204" pitchFamily="34" charset="0"/>
              <a:buChar char="•"/>
            </a:pPr>
            <a:r>
              <a:rPr lang="en-US" dirty="0"/>
              <a:t>Helps model and simulate human cognition and behavior.</a:t>
            </a:r>
          </a:p>
          <a:p>
            <a:pPr>
              <a:buFont typeface="Arial" panose="020B0604020202020204" pitchFamily="34" charset="0"/>
              <a:buChar char="•"/>
            </a:pPr>
            <a:r>
              <a:rPr lang="en-US" b="1" dirty="0"/>
              <a:t>Key Areas:</a:t>
            </a:r>
            <a:endParaRPr lang="en-US" dirty="0"/>
          </a:p>
          <a:p>
            <a:pPr marL="742950" lvl="1" indent="-285750">
              <a:buFont typeface="Arial" panose="020B0604020202020204" pitchFamily="34" charset="0"/>
              <a:buChar char="•"/>
            </a:pPr>
            <a:r>
              <a:rPr lang="en-US" dirty="0"/>
              <a:t>Cognitive Psychology (perception, learning, memory)</a:t>
            </a:r>
          </a:p>
          <a:p>
            <a:pPr marL="742950" lvl="1" indent="-285750">
              <a:buFont typeface="Arial" panose="020B0604020202020204" pitchFamily="34" charset="0"/>
              <a:buChar char="•"/>
            </a:pPr>
            <a:r>
              <a:rPr lang="en-US" dirty="0"/>
              <a:t>Behavioral Psychology (reinforcement learning)</a:t>
            </a:r>
          </a:p>
          <a:p>
            <a:pPr marL="742950" lvl="1" indent="-285750">
              <a:buFont typeface="Arial" panose="020B0604020202020204" pitchFamily="34" charset="0"/>
              <a:buChar char="•"/>
            </a:pPr>
            <a:r>
              <a:rPr lang="en-US" dirty="0"/>
              <a:t>Developmental Psychology (learning over time)</a:t>
            </a:r>
          </a:p>
          <a:p>
            <a:pPr>
              <a:buNone/>
            </a:pPr>
            <a:endParaRPr lang="en-US" b="1" dirty="0"/>
          </a:p>
          <a:p>
            <a:pPr>
              <a:buNone/>
            </a:pPr>
            <a:r>
              <a:rPr lang="en-US" b="1" dirty="0"/>
              <a:t>Linguistics</a:t>
            </a:r>
            <a:endParaRPr lang="en-US" dirty="0"/>
          </a:p>
          <a:p>
            <a:pPr>
              <a:buFont typeface="Arial" panose="020B0604020202020204" pitchFamily="34" charset="0"/>
              <a:buChar char="•"/>
            </a:pPr>
            <a:r>
              <a:rPr lang="en-US" b="1" dirty="0"/>
              <a:t>Role in AI:</a:t>
            </a:r>
            <a:endParaRPr lang="en-US" dirty="0"/>
          </a:p>
          <a:p>
            <a:pPr marL="742950" lvl="1" indent="-285750">
              <a:buFont typeface="Arial" panose="020B0604020202020204" pitchFamily="34" charset="0"/>
              <a:buChar char="•"/>
            </a:pPr>
            <a:r>
              <a:rPr lang="en-US" dirty="0"/>
              <a:t>Critical for Natural Language Processing (NLP).</a:t>
            </a:r>
          </a:p>
          <a:p>
            <a:pPr>
              <a:buFont typeface="Arial" panose="020B0604020202020204" pitchFamily="34" charset="0"/>
              <a:buChar char="•"/>
            </a:pPr>
            <a:r>
              <a:rPr lang="en-US" b="1" dirty="0"/>
              <a:t>Key Areas:</a:t>
            </a:r>
            <a:endParaRPr lang="en-US" dirty="0"/>
          </a:p>
          <a:p>
            <a:pPr marL="742950" lvl="1" indent="-285750">
              <a:buFont typeface="Arial" panose="020B0604020202020204" pitchFamily="34" charset="0"/>
              <a:buChar char="•"/>
            </a:pPr>
            <a:r>
              <a:rPr lang="en-US" dirty="0"/>
              <a:t>Syntax and Grammar</a:t>
            </a:r>
          </a:p>
          <a:p>
            <a:pPr marL="742950" lvl="1" indent="-285750">
              <a:buFont typeface="Arial" panose="020B0604020202020204" pitchFamily="34" charset="0"/>
              <a:buChar char="•"/>
            </a:pPr>
            <a:r>
              <a:rPr lang="en-US" dirty="0"/>
              <a:t>Semantics and Pragmatics</a:t>
            </a:r>
          </a:p>
          <a:p>
            <a:pPr marL="742950" lvl="1" indent="-285750">
              <a:buFont typeface="Arial" panose="020B0604020202020204" pitchFamily="34" charset="0"/>
              <a:buChar char="•"/>
            </a:pPr>
            <a:r>
              <a:rPr lang="en-US" dirty="0"/>
              <a:t>Computational Linguistics</a:t>
            </a:r>
          </a:p>
          <a:p>
            <a:pPr>
              <a:buNone/>
            </a:pPr>
            <a:endParaRPr lang="en-US" b="1" dirty="0"/>
          </a:p>
          <a:p>
            <a:pPr>
              <a:buNone/>
            </a:pPr>
            <a:r>
              <a:rPr lang="en-US" b="1" dirty="0"/>
              <a:t>Neuroscience</a:t>
            </a:r>
            <a:endParaRPr lang="en-US" dirty="0"/>
          </a:p>
          <a:p>
            <a:pPr>
              <a:buFont typeface="Arial" panose="020B0604020202020204" pitchFamily="34" charset="0"/>
              <a:buChar char="•"/>
            </a:pPr>
            <a:r>
              <a:rPr lang="en-US" b="1" dirty="0"/>
              <a:t>Role in AI:</a:t>
            </a:r>
            <a:endParaRPr lang="en-US" dirty="0"/>
          </a:p>
          <a:p>
            <a:pPr marL="742950" lvl="1" indent="-285750">
              <a:buFont typeface="Arial" panose="020B0604020202020204" pitchFamily="34" charset="0"/>
              <a:buChar char="•"/>
            </a:pPr>
            <a:r>
              <a:rPr lang="en-US" dirty="0"/>
              <a:t>Inspires biologically plausible models of computation.</a:t>
            </a:r>
          </a:p>
          <a:p>
            <a:pPr>
              <a:buFont typeface="Arial" panose="020B0604020202020204" pitchFamily="34" charset="0"/>
              <a:buChar char="•"/>
            </a:pPr>
            <a:r>
              <a:rPr lang="en-US" b="1" dirty="0"/>
              <a:t>Key Areas:</a:t>
            </a:r>
            <a:endParaRPr lang="en-US" dirty="0"/>
          </a:p>
          <a:p>
            <a:pPr marL="742950" lvl="1" indent="-285750">
              <a:buFont typeface="Arial" panose="020B0604020202020204" pitchFamily="34" charset="0"/>
              <a:buChar char="•"/>
            </a:pPr>
            <a:r>
              <a:rPr lang="en-US" dirty="0"/>
              <a:t>Neural Networks</a:t>
            </a:r>
          </a:p>
          <a:p>
            <a:pPr marL="742950" lvl="1" indent="-285750">
              <a:buFont typeface="Arial" panose="020B0604020202020204" pitchFamily="34" charset="0"/>
              <a:buChar char="•"/>
            </a:pPr>
            <a:r>
              <a:rPr lang="en-US" dirty="0"/>
              <a:t>Brain Function and Structure</a:t>
            </a:r>
          </a:p>
          <a:p>
            <a:pPr marL="742950" lvl="1" indent="-285750">
              <a:buFont typeface="Arial" panose="020B0604020202020204" pitchFamily="34" charset="0"/>
              <a:buChar char="•"/>
            </a:pPr>
            <a:r>
              <a:rPr lang="en-US" dirty="0"/>
              <a:t>Learning Mechanisms in the Brain</a:t>
            </a:r>
          </a:p>
          <a:p>
            <a:pPr>
              <a:buNone/>
            </a:pPr>
            <a:endParaRPr lang="en-US" b="1" dirty="0"/>
          </a:p>
          <a:p>
            <a:pPr>
              <a:buNone/>
            </a:pPr>
            <a:r>
              <a:rPr lang="en-US" b="1" dirty="0"/>
              <a:t>Interdisciplinary Synergy</a:t>
            </a:r>
            <a:endParaRPr lang="en-US" dirty="0"/>
          </a:p>
          <a:p>
            <a:pPr>
              <a:buFont typeface="Arial" panose="020B0604020202020204" pitchFamily="34" charset="0"/>
              <a:buChar char="•"/>
            </a:pPr>
            <a:r>
              <a:rPr lang="en-US" b="1" dirty="0"/>
              <a:t>Content:</a:t>
            </a:r>
            <a:endParaRPr lang="en-US" dirty="0"/>
          </a:p>
          <a:p>
            <a:pPr marL="742950" lvl="1" indent="-285750">
              <a:buFont typeface="Arial" panose="020B0604020202020204" pitchFamily="34" charset="0"/>
              <a:buChar char="•"/>
            </a:pPr>
            <a:r>
              <a:rPr lang="en-US" dirty="0"/>
              <a:t>AI thrives at the intersection of these fields.</a:t>
            </a:r>
          </a:p>
          <a:p>
            <a:pPr marL="742950" lvl="1" indent="-285750">
              <a:buFont typeface="Arial" panose="020B0604020202020204" pitchFamily="34" charset="0"/>
              <a:buChar char="•"/>
            </a:pPr>
            <a:r>
              <a:rPr lang="en-US" dirty="0"/>
              <a:t>Example: Deep Learning combines neuroscience, mathematics, and computer science.</a:t>
            </a:r>
          </a:p>
          <a:p>
            <a:pPr marL="742950" lvl="1" indent="-285750">
              <a:buFont typeface="Arial" panose="020B0604020202020204" pitchFamily="34" charset="0"/>
              <a:buChar char="•"/>
            </a:pPr>
            <a:r>
              <a:rPr lang="en-US" dirty="0"/>
              <a:t>Ethics in AI requires insights from philosophy, psychology, and law.</a:t>
            </a: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17</a:t>
            </a:fld>
            <a:endParaRPr lang="en-US"/>
          </a:p>
        </p:txBody>
      </p:sp>
    </p:spTree>
    <p:extLst>
      <p:ext uri="{BB962C8B-B14F-4D97-AF65-F5344CB8AC3E}">
        <p14:creationId xmlns:p14="http://schemas.microsoft.com/office/powerpoint/2010/main" val="3242576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1950s: Turing Test proposed by Alan Turing</a:t>
            </a:r>
          </a:p>
          <a:p>
            <a:pPr>
              <a:buFont typeface="Arial" panose="020B0604020202020204" pitchFamily="34" charset="0"/>
              <a:buChar char="•"/>
            </a:pPr>
            <a:r>
              <a:rPr lang="en-US" b="1" dirty="0"/>
              <a:t>Event:</a:t>
            </a:r>
            <a:r>
              <a:rPr lang="en-US" dirty="0"/>
              <a:t> Alan Turing, a British mathematician and computer scientist, introduced the </a:t>
            </a:r>
            <a:r>
              <a:rPr lang="en-US" b="1" dirty="0"/>
              <a:t>Turing Test</a:t>
            </a:r>
            <a:r>
              <a:rPr lang="en-US" dirty="0"/>
              <a:t> in his 1950 paper </a:t>
            </a:r>
            <a:r>
              <a:rPr lang="en-US" i="1" dirty="0"/>
              <a:t>“Computing Machinery and Intelligence.”</a:t>
            </a:r>
            <a:endParaRPr lang="en-US" dirty="0"/>
          </a:p>
          <a:p>
            <a:pPr>
              <a:buFont typeface="Arial" panose="020B0604020202020204" pitchFamily="34" charset="0"/>
              <a:buChar char="•"/>
            </a:pPr>
            <a:r>
              <a:rPr lang="en-US" b="1" dirty="0"/>
              <a:t>Significance:</a:t>
            </a:r>
            <a:r>
              <a:rPr lang="en-US" dirty="0"/>
              <a:t> The test was designed to assess a machine's ability to exhibit </a:t>
            </a:r>
            <a:r>
              <a:rPr lang="en-US" b="1" dirty="0"/>
              <a:t>intelligent behavior</a:t>
            </a:r>
            <a:r>
              <a:rPr lang="en-US" dirty="0"/>
              <a:t> indistinguishable from a human. If a human interrogator could not reliably tell the machine from a person, the machine was considered to have passed.</a:t>
            </a:r>
          </a:p>
          <a:p>
            <a:pPr>
              <a:buFont typeface="Arial" panose="020B0604020202020204" pitchFamily="34" charset="0"/>
              <a:buChar char="•"/>
            </a:pPr>
            <a:r>
              <a:rPr lang="en-US" b="1" dirty="0"/>
              <a:t>Impact:</a:t>
            </a:r>
            <a:r>
              <a:rPr lang="en-US" dirty="0"/>
              <a:t> This became a foundational concept in the philosophy of AI, posing the question, “Can machines think?”</a:t>
            </a:r>
          </a:p>
          <a:p>
            <a:pPr>
              <a:buNone/>
            </a:pPr>
            <a:r>
              <a:rPr lang="en-US" b="1" dirty="0"/>
              <a:t>1956: Term 'Artificial Intelligence' coined at Dartmouth Conference</a:t>
            </a:r>
          </a:p>
          <a:p>
            <a:pPr>
              <a:buFont typeface="Arial" panose="020B0604020202020204" pitchFamily="34" charset="0"/>
              <a:buChar char="•"/>
            </a:pPr>
            <a:r>
              <a:rPr lang="en-US" b="1" dirty="0"/>
              <a:t>Event:</a:t>
            </a:r>
            <a:r>
              <a:rPr lang="en-US" dirty="0"/>
              <a:t> The </a:t>
            </a:r>
            <a:r>
              <a:rPr lang="en-US" b="1" dirty="0"/>
              <a:t>Dartmouth Summer Research Project on Artificial Intelligence</a:t>
            </a:r>
            <a:r>
              <a:rPr lang="en-US" dirty="0"/>
              <a:t>, led by John McCarthy, Marvin Minsky, Nathaniel Rochester, and Claude Shannon, was held.</a:t>
            </a:r>
          </a:p>
          <a:p>
            <a:pPr>
              <a:buFont typeface="Arial" panose="020B0604020202020204" pitchFamily="34" charset="0"/>
              <a:buChar char="•"/>
            </a:pPr>
            <a:r>
              <a:rPr lang="en-US" b="1" dirty="0"/>
              <a:t>Significance:</a:t>
            </a:r>
            <a:r>
              <a:rPr lang="en-US" dirty="0"/>
              <a:t> This is where the term </a:t>
            </a:r>
            <a:r>
              <a:rPr lang="en-US" b="1" dirty="0"/>
              <a:t>“Artificial Intelligence”</a:t>
            </a:r>
            <a:r>
              <a:rPr lang="en-US" dirty="0"/>
              <a:t> was first formally introduced.</a:t>
            </a:r>
          </a:p>
          <a:p>
            <a:pPr>
              <a:buFont typeface="Arial" panose="020B0604020202020204" pitchFamily="34" charset="0"/>
              <a:buChar char="•"/>
            </a:pPr>
            <a:r>
              <a:rPr lang="en-US" b="1" dirty="0"/>
              <a:t>Impact:</a:t>
            </a:r>
            <a:r>
              <a:rPr lang="en-US" dirty="0"/>
              <a:t> It marked the official beginning of AI as a field of study. The conference proposed that “every aspect of learning or any other feature of intelligence can in principle be so precisely described that a machine can be made to simulate it.”</a:t>
            </a:r>
          </a:p>
          <a:p>
            <a:pPr>
              <a:buNone/>
            </a:pPr>
            <a:r>
              <a:rPr lang="en-US" b="1" dirty="0"/>
              <a:t>1970s–80s: Emergence of expert systems</a:t>
            </a:r>
          </a:p>
          <a:p>
            <a:pPr>
              <a:buFont typeface="Arial" panose="020B0604020202020204" pitchFamily="34" charset="0"/>
              <a:buChar char="•"/>
            </a:pPr>
            <a:r>
              <a:rPr lang="en-US" b="1" dirty="0"/>
              <a:t>Event:</a:t>
            </a:r>
            <a:r>
              <a:rPr lang="en-US" dirty="0"/>
              <a:t> AI development focused on creating </a:t>
            </a:r>
            <a:r>
              <a:rPr lang="en-US" b="1" dirty="0"/>
              <a:t>expert systems</a:t>
            </a:r>
            <a:r>
              <a:rPr lang="en-US" dirty="0"/>
              <a:t>, computer programs that mimicked the decision-making ability of a human expert.</a:t>
            </a:r>
          </a:p>
          <a:p>
            <a:pPr>
              <a:buFont typeface="Arial" panose="020B0604020202020204" pitchFamily="34" charset="0"/>
              <a:buChar char="•"/>
            </a:pPr>
            <a:r>
              <a:rPr lang="en-US" b="1" dirty="0"/>
              <a:t>Examples:</a:t>
            </a:r>
            <a:r>
              <a:rPr lang="en-US" dirty="0"/>
              <a:t> Notable systems include </a:t>
            </a:r>
            <a:r>
              <a:rPr lang="en-US" b="1" dirty="0"/>
              <a:t>MYCIN</a:t>
            </a:r>
            <a:r>
              <a:rPr lang="en-US" dirty="0"/>
              <a:t> (medical diagnosis) and </a:t>
            </a:r>
            <a:r>
              <a:rPr lang="en-US" b="1" dirty="0"/>
              <a:t>DENDRAL</a:t>
            </a:r>
            <a:r>
              <a:rPr lang="en-US" dirty="0"/>
              <a:t> (chemical analysis).</a:t>
            </a:r>
          </a:p>
          <a:p>
            <a:pPr>
              <a:buFont typeface="Arial" panose="020B0604020202020204" pitchFamily="34" charset="0"/>
              <a:buChar char="•"/>
            </a:pPr>
            <a:r>
              <a:rPr lang="en-US" b="1" dirty="0"/>
              <a:t>Significance:</a:t>
            </a:r>
            <a:r>
              <a:rPr lang="en-US" dirty="0"/>
              <a:t> These systems were </a:t>
            </a:r>
            <a:r>
              <a:rPr lang="en-US" b="1" dirty="0"/>
              <a:t>rule-based</a:t>
            </a:r>
            <a:r>
              <a:rPr lang="en-US" dirty="0"/>
              <a:t> and used a </a:t>
            </a:r>
            <a:r>
              <a:rPr lang="en-US" b="1" dirty="0"/>
              <a:t>knowledge base</a:t>
            </a:r>
            <a:r>
              <a:rPr lang="en-US" dirty="0"/>
              <a:t> and </a:t>
            </a:r>
            <a:r>
              <a:rPr lang="en-US" b="1" dirty="0"/>
              <a:t>inference engine</a:t>
            </a:r>
            <a:r>
              <a:rPr lang="en-US" dirty="0"/>
              <a:t> to solve complex problems in specialized domains.</a:t>
            </a:r>
          </a:p>
          <a:p>
            <a:pPr>
              <a:buFont typeface="Arial" panose="020B0604020202020204" pitchFamily="34" charset="0"/>
              <a:buChar char="•"/>
            </a:pPr>
            <a:r>
              <a:rPr lang="en-US" b="1" dirty="0"/>
              <a:t>Impact:</a:t>
            </a:r>
            <a:r>
              <a:rPr lang="en-US" dirty="0"/>
              <a:t> Expert systems brought practical applications of AI into industries like healthcare and finance, although they eventually faced limitations in scalability and adaptability.</a:t>
            </a:r>
          </a:p>
          <a:p>
            <a:pPr>
              <a:buNone/>
            </a:pPr>
            <a:r>
              <a:rPr lang="en-US" b="1" dirty="0"/>
              <a:t>1997: IBM’s Deep Blue defeated chess champion Garry Kasparov</a:t>
            </a:r>
          </a:p>
          <a:p>
            <a:pPr>
              <a:buFont typeface="Arial" panose="020B0604020202020204" pitchFamily="34" charset="0"/>
              <a:buChar char="•"/>
            </a:pPr>
            <a:r>
              <a:rPr lang="en-US" b="1" dirty="0"/>
              <a:t>Event:</a:t>
            </a:r>
            <a:r>
              <a:rPr lang="en-US" dirty="0"/>
              <a:t> IBM's supercomputer </a:t>
            </a:r>
            <a:r>
              <a:rPr lang="en-US" b="1" dirty="0"/>
              <a:t>Deep Blue</a:t>
            </a:r>
            <a:r>
              <a:rPr lang="en-US" dirty="0"/>
              <a:t> defeated reigning world chess champion </a:t>
            </a:r>
            <a:r>
              <a:rPr lang="en-US" b="1" dirty="0"/>
              <a:t>Garry Kasparov</a:t>
            </a:r>
            <a:r>
              <a:rPr lang="en-US" dirty="0"/>
              <a:t> in a six-game match.</a:t>
            </a:r>
          </a:p>
          <a:p>
            <a:pPr>
              <a:buFont typeface="Arial" panose="020B0604020202020204" pitchFamily="34" charset="0"/>
              <a:buChar char="•"/>
            </a:pPr>
            <a:r>
              <a:rPr lang="en-US" b="1" dirty="0"/>
              <a:t>Significance:</a:t>
            </a:r>
            <a:r>
              <a:rPr lang="en-US" dirty="0"/>
              <a:t> This was a </a:t>
            </a:r>
            <a:r>
              <a:rPr lang="en-US" b="1" dirty="0"/>
              <a:t>milestone</a:t>
            </a:r>
            <a:r>
              <a:rPr lang="en-US" dirty="0"/>
              <a:t> in AI, showing that machines could outperform humans in a highly intellectual and strategic game.</a:t>
            </a:r>
          </a:p>
          <a:p>
            <a:pPr>
              <a:buFont typeface="Arial" panose="020B0604020202020204" pitchFamily="34" charset="0"/>
              <a:buChar char="•"/>
            </a:pPr>
            <a:r>
              <a:rPr lang="en-US" b="1" dirty="0"/>
              <a:t>Impact:</a:t>
            </a:r>
            <a:r>
              <a:rPr lang="en-US" dirty="0"/>
              <a:t> It highlighted the </a:t>
            </a:r>
            <a:r>
              <a:rPr lang="en-US" b="1" dirty="0"/>
              <a:t>computational power</a:t>
            </a:r>
            <a:r>
              <a:rPr lang="en-US" dirty="0"/>
              <a:t> of AI and inspired further research into machine intelligence and game-playing algorithms.</a:t>
            </a:r>
          </a:p>
          <a:p>
            <a:pPr>
              <a:buNone/>
            </a:pPr>
            <a:r>
              <a:rPr lang="en-US" b="1" dirty="0"/>
              <a:t>2010s–Present: Rise of deep learning and AI in daily life</a:t>
            </a:r>
          </a:p>
          <a:p>
            <a:pPr>
              <a:buFont typeface="Arial" panose="020B0604020202020204" pitchFamily="34" charset="0"/>
              <a:buChar char="•"/>
            </a:pPr>
            <a:r>
              <a:rPr lang="en-US" b="1" dirty="0"/>
              <a:t>Event:</a:t>
            </a:r>
            <a:r>
              <a:rPr lang="en-US" dirty="0"/>
              <a:t> The </a:t>
            </a:r>
            <a:r>
              <a:rPr lang="en-US" b="1" dirty="0"/>
              <a:t>revival of neural networks</a:t>
            </a:r>
            <a:r>
              <a:rPr lang="en-US" dirty="0"/>
              <a:t> with large-scale </a:t>
            </a:r>
            <a:r>
              <a:rPr lang="en-US" b="1" dirty="0"/>
              <a:t>deep learning</a:t>
            </a:r>
            <a:r>
              <a:rPr lang="en-US" dirty="0"/>
              <a:t> algorithms, powered by big data and high-performance GPUs.</a:t>
            </a:r>
          </a:p>
          <a:p>
            <a:pPr>
              <a:buFont typeface="Arial" panose="020B0604020202020204" pitchFamily="34" charset="0"/>
              <a:buChar char="•"/>
            </a:pPr>
            <a:r>
              <a:rPr lang="en-US" b="1" dirty="0"/>
              <a:t>Key breakthroughs:</a:t>
            </a:r>
            <a:r>
              <a:rPr lang="en-US" dirty="0"/>
              <a:t> Image and speech recognition (e.g., Google Translate, Siri, Alexa), autonomous vehicles, recommendation systems (e.g., Netflix, YouTube), ChatGPT, and more.</a:t>
            </a:r>
          </a:p>
          <a:p>
            <a:pPr>
              <a:buFont typeface="Arial" panose="020B0604020202020204" pitchFamily="34" charset="0"/>
              <a:buChar char="•"/>
            </a:pPr>
            <a:r>
              <a:rPr lang="en-US" b="1" dirty="0"/>
              <a:t>Significance:</a:t>
            </a:r>
            <a:r>
              <a:rPr lang="en-US" dirty="0"/>
              <a:t> AI became </a:t>
            </a:r>
            <a:r>
              <a:rPr lang="en-US" b="1" dirty="0"/>
              <a:t>mainstream</a:t>
            </a:r>
            <a:r>
              <a:rPr lang="en-US" dirty="0"/>
              <a:t>, embedded in consumer applications and used for tasks like personalization, automation, medical diagnosis, and more.</a:t>
            </a:r>
          </a:p>
          <a:p>
            <a:pPr>
              <a:buFont typeface="Arial" panose="020B0604020202020204" pitchFamily="34" charset="0"/>
              <a:buChar char="•"/>
            </a:pPr>
            <a:r>
              <a:rPr lang="en-US" b="1" dirty="0"/>
              <a:t>Impact:</a:t>
            </a:r>
            <a:r>
              <a:rPr lang="en-US" dirty="0"/>
              <a:t> AI shifted from academic labs to real-world applications, profoundly transforming industries and daily life.</a:t>
            </a:r>
          </a:p>
          <a:p>
            <a:endParaRPr lang="en-US" dirty="0"/>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18</a:t>
            </a:fld>
            <a:endParaRPr lang="en-US"/>
          </a:p>
        </p:txBody>
      </p:sp>
    </p:spTree>
    <p:extLst>
      <p:ext uri="{BB962C8B-B14F-4D97-AF65-F5344CB8AC3E}">
        <p14:creationId xmlns:p14="http://schemas.microsoft.com/office/powerpoint/2010/main" val="134471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personalized treatment, and drug discovery.</a:t>
            </a:r>
          </a:p>
          <a:p>
            <a:endParaRPr lang="en-US" dirty="0"/>
          </a:p>
          <a:p>
            <a:endParaRPr lang="en-US" dirty="0"/>
          </a:p>
          <a:p>
            <a:r>
              <a:rPr lang="en-US" dirty="0"/>
              <a:t>Autonomous Vehicles: Self-driving cars use AI for navigation and safety.</a:t>
            </a:r>
          </a:p>
          <a:p>
            <a:endParaRPr lang="en-US" dirty="0"/>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19</a:t>
            </a:fld>
            <a:endParaRPr lang="en-US"/>
          </a:p>
        </p:txBody>
      </p:sp>
    </p:spTree>
    <p:extLst>
      <p:ext uri="{BB962C8B-B14F-4D97-AF65-F5344CB8AC3E}">
        <p14:creationId xmlns:p14="http://schemas.microsoft.com/office/powerpoint/2010/main" val="2869226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15000"/>
              </a:lnSpc>
              <a:spcBef>
                <a:spcPts val="0"/>
              </a:spcBef>
              <a:spcAft>
                <a:spcPts val="800"/>
              </a:spcAft>
              <a:buFont typeface="+mj-lt"/>
              <a:buNone/>
              <a:tabLst>
                <a:tab pos="457200" algn="l"/>
              </a:tabLst>
            </a:pPr>
            <a:r>
              <a:rPr lang="en-US" sz="1800" kern="100" dirty="0">
                <a:effectLst/>
                <a:latin typeface="Aptos" panose="020B0004020202020204" pitchFamily="34" charset="0"/>
                <a:ea typeface="Aptos" panose="020B0004020202020204" pitchFamily="34" charset="0"/>
                <a:cs typeface="Mangal" panose="02040503050203030202" pitchFamily="18" charset="0"/>
              </a:rPr>
              <a:t>Balancing &gt;……</a:t>
            </a:r>
          </a:p>
          <a:p>
            <a:pPr marL="0" marR="0" lvl="0" indent="0">
              <a:lnSpc>
                <a:spcPct val="115000"/>
              </a:lnSpc>
              <a:spcBef>
                <a:spcPts val="0"/>
              </a:spcBef>
              <a:spcAft>
                <a:spcPts val="800"/>
              </a:spcAft>
              <a:buFont typeface="+mj-lt"/>
              <a:buNone/>
              <a:tabLst>
                <a:tab pos="457200" algn="l"/>
              </a:tabLst>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As AI becomes more integrated into society, there's a critical need to balance the benefits it brings with the ethical implications it raises. Policies and guidelines are needed to ensure AI development is aligned with human values and societal well-being.</a:t>
            </a: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21</a:t>
            </a:fld>
            <a:endParaRPr lang="en-US"/>
          </a:p>
        </p:txBody>
      </p:sp>
    </p:spTree>
    <p:extLst>
      <p:ext uri="{BB962C8B-B14F-4D97-AF65-F5344CB8AC3E}">
        <p14:creationId xmlns:p14="http://schemas.microsoft.com/office/powerpoint/2010/main" val="125212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Imagine a biased loan approval algorithm or an opaque facial recognition system. These are examples of how AI, without ethical considerations, can lead to unfair outcomes. AI ethics tackles these concerns head-on by establishing a set of guiding principles for responsible AI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3 =&gt;……</a:t>
            </a:r>
            <a:r>
              <a:rPr lang="en-US" sz="1800" dirty="0">
                <a:effectLst/>
                <a:latin typeface="Aptos" panose="020B0004020202020204" pitchFamily="34" charset="0"/>
                <a:ea typeface="Aptos" panose="020B0004020202020204" pitchFamily="34" charset="0"/>
                <a:cs typeface="Mangal" panose="02040503050203030202" pitchFamily="18" charset="0"/>
              </a:rPr>
              <a:t>These principles aim to promote fairness, accountability, transparency, and privacy throughout the AI lifecycle.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4 &gt;&gt;&gt; AI's capabilities are shaped by the data it's trained on. This data can include historical information, code, and other elements that may reflect societal biases or prejudices. If such biases are present, the AI could replicate or even amplify them in its outputs.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22</a:t>
            </a:fld>
            <a:endParaRPr lang="en-US"/>
          </a:p>
        </p:txBody>
      </p:sp>
    </p:spTree>
    <p:extLst>
      <p:ext uri="{BB962C8B-B14F-4D97-AF65-F5344CB8AC3E}">
        <p14:creationId xmlns:p14="http://schemas.microsoft.com/office/powerpoint/2010/main" val="818588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202020"/>
                </a:solidFill>
                <a:effectLst/>
                <a:latin typeface="__Inter_36bd41"/>
              </a:rPr>
              <a:t>Fairness</a:t>
            </a:r>
            <a:r>
              <a:rPr lang="en-US" b="0" i="0" dirty="0">
                <a:solidFill>
                  <a:srgbClr val="202020"/>
                </a:solidFill>
                <a:effectLst/>
                <a:latin typeface="__Inter_36bd41"/>
              </a:rPr>
              <a:t>: Ensuring AI models are equitable, especially for historically underrepresented groups. </a:t>
            </a:r>
          </a:p>
          <a:p>
            <a:pPr algn="l">
              <a:buFont typeface="Arial" panose="020B0604020202020204" pitchFamily="34" charset="0"/>
              <a:buChar char="•"/>
            </a:pPr>
            <a:endParaRPr lang="en-US" b="0" i="0" dirty="0">
              <a:solidFill>
                <a:srgbClr val="202020"/>
              </a:solidFill>
              <a:effectLst/>
              <a:latin typeface="__Inter_36bd41"/>
            </a:endParaRPr>
          </a:p>
          <a:p>
            <a:pPr algn="l">
              <a:buFont typeface="Arial" panose="020B0604020202020204" pitchFamily="34" charset="0"/>
              <a:buChar char="•"/>
            </a:pPr>
            <a:r>
              <a:rPr lang="en-US" b="1" i="0" dirty="0">
                <a:solidFill>
                  <a:srgbClr val="202020"/>
                </a:solidFill>
                <a:effectLst/>
                <a:latin typeface="__Inter_36bd41"/>
              </a:rPr>
              <a:t>Explainability</a:t>
            </a:r>
            <a:r>
              <a:rPr lang="en-US" b="0" i="0" dirty="0">
                <a:solidFill>
                  <a:srgbClr val="202020"/>
                </a:solidFill>
                <a:effectLst/>
                <a:latin typeface="__Inter_36bd41"/>
              </a:rPr>
              <a:t>: Ability to clarify the data sets and methods used in AI model training. </a:t>
            </a:r>
          </a:p>
          <a:p>
            <a:pPr algn="l">
              <a:buFont typeface="Arial" panose="020B0604020202020204" pitchFamily="34" charset="0"/>
              <a:buChar char="•"/>
            </a:pPr>
            <a:endParaRPr lang="en-US" b="0" i="0" dirty="0">
              <a:solidFill>
                <a:srgbClr val="202020"/>
              </a:solidFill>
              <a:effectLst/>
              <a:latin typeface="__Inter_36bd41"/>
            </a:endParaRPr>
          </a:p>
          <a:p>
            <a:pPr algn="l">
              <a:buFont typeface="Arial" panose="020B0604020202020204" pitchFamily="34" charset="0"/>
              <a:buChar char="•"/>
            </a:pPr>
            <a:r>
              <a:rPr lang="en-US" b="1" i="0" dirty="0">
                <a:solidFill>
                  <a:srgbClr val="202020"/>
                </a:solidFill>
                <a:effectLst/>
                <a:latin typeface="__Inter_36bd41"/>
              </a:rPr>
              <a:t>Robustness</a:t>
            </a:r>
            <a:r>
              <a:rPr lang="en-US" b="0" i="0" dirty="0">
                <a:solidFill>
                  <a:srgbClr val="202020"/>
                </a:solidFill>
                <a:effectLst/>
                <a:latin typeface="__Inter_36bd41"/>
              </a:rPr>
              <a:t>: Assurance against hacking and manipulation that could disadvantage individuals. </a:t>
            </a:r>
          </a:p>
          <a:p>
            <a:pPr algn="l">
              <a:buFont typeface="Arial" panose="020B0604020202020204" pitchFamily="34" charset="0"/>
              <a:buChar char="•"/>
            </a:pPr>
            <a:endParaRPr lang="en-US" b="0" i="0" dirty="0">
              <a:solidFill>
                <a:srgbClr val="202020"/>
              </a:solidFill>
              <a:effectLst/>
              <a:latin typeface="__Inter_36bd41"/>
            </a:endParaRPr>
          </a:p>
          <a:p>
            <a:pPr algn="l">
              <a:buFont typeface="Arial" panose="020B0604020202020204" pitchFamily="34" charset="0"/>
              <a:buChar char="•"/>
            </a:pPr>
            <a:r>
              <a:rPr lang="en-US" b="1" i="0" dirty="0">
                <a:solidFill>
                  <a:srgbClr val="202020"/>
                </a:solidFill>
                <a:effectLst/>
                <a:latin typeface="__Inter_36bd41"/>
              </a:rPr>
              <a:t>Transparency</a:t>
            </a:r>
            <a:r>
              <a:rPr lang="en-US" b="0" i="0" dirty="0">
                <a:solidFill>
                  <a:srgbClr val="202020"/>
                </a:solidFill>
                <a:effectLst/>
                <a:latin typeface="__Inter_36bd41"/>
              </a:rPr>
              <a:t>: Clear communication that AI is being used in decision-making processes, including access to relevant information. </a:t>
            </a:r>
          </a:p>
          <a:p>
            <a:pPr algn="l">
              <a:buFont typeface="Arial" panose="020B0604020202020204" pitchFamily="34" charset="0"/>
              <a:buChar char="•"/>
            </a:pPr>
            <a:endParaRPr lang="en-US" b="0" i="0" dirty="0">
              <a:solidFill>
                <a:srgbClr val="202020"/>
              </a:solidFill>
              <a:effectLst/>
              <a:latin typeface="__Inter_36bd41"/>
            </a:endParaRPr>
          </a:p>
          <a:p>
            <a:pPr algn="l">
              <a:buFont typeface="Arial" panose="020B0604020202020204" pitchFamily="34" charset="0"/>
              <a:buChar char="•"/>
            </a:pPr>
            <a:r>
              <a:rPr lang="en-US" b="1" i="0" dirty="0">
                <a:solidFill>
                  <a:srgbClr val="202020"/>
                </a:solidFill>
                <a:effectLst/>
                <a:latin typeface="__Inter_36bd41"/>
              </a:rPr>
              <a:t>Data Privacy</a:t>
            </a:r>
            <a:r>
              <a:rPr lang="en-US" b="0" i="0" dirty="0">
                <a:solidFill>
                  <a:srgbClr val="202020"/>
                </a:solidFill>
                <a:effectLst/>
                <a:latin typeface="__Inter_36bd41"/>
              </a:rPr>
              <a:t>: Commitment to protecting individuals' data in AI applications. </a:t>
            </a: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23</a:t>
            </a:fld>
            <a:endParaRPr lang="en-US"/>
          </a:p>
        </p:txBody>
      </p:sp>
    </p:spTree>
    <p:extLst>
      <p:ext uri="{BB962C8B-B14F-4D97-AF65-F5344CB8AC3E}">
        <p14:creationId xmlns:p14="http://schemas.microsoft.com/office/powerpoint/2010/main" val="682420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To ensure fair and unbiased AI models, the training data needs to be representative of the entire population the model will be used on, with particular attention to including minority groups. If the training data fails to reflect marginalized communities accurately, AI systems can produce biased outputs, further widening disparities in their results.</a:t>
            </a:r>
          </a:p>
          <a:p>
            <a:endParaRPr lang="en-US" dirty="0"/>
          </a:p>
          <a:p>
            <a:r>
              <a:rPr lang="en-US" dirty="0"/>
              <a:t>Security and data privacy</a:t>
            </a:r>
          </a:p>
          <a:p>
            <a:r>
              <a:rPr lang="en-US" sz="1800" dirty="0">
                <a:effectLst/>
                <a:latin typeface="Aptos" panose="020B0004020202020204" pitchFamily="34" charset="0"/>
                <a:ea typeface="Aptos" panose="020B0004020202020204" pitchFamily="34" charset="0"/>
                <a:cs typeface="Mangal" panose="02040503050203030202" pitchFamily="18" charset="0"/>
              </a:rPr>
              <a:t>Another critical concern arises when the training data includes sensitive information such as PII (</a:t>
            </a:r>
            <a:r>
              <a:rPr lang="en-US" sz="2800" b="0" i="0" dirty="0">
                <a:solidFill>
                  <a:srgbClr val="E8E8E8"/>
                </a:solidFill>
                <a:effectLst/>
                <a:latin typeface="Google Sans"/>
              </a:rPr>
              <a:t>Personally identifiable information</a:t>
            </a:r>
            <a:r>
              <a:rPr lang="en-US" sz="1800" dirty="0">
                <a:effectLst/>
                <a:latin typeface="Aptos" panose="020B0004020202020204" pitchFamily="34" charset="0"/>
                <a:ea typeface="Aptos" panose="020B0004020202020204" pitchFamily="34" charset="0"/>
                <a:cs typeface="Mangal" panose="02040503050203030202" pitchFamily="18" charset="0"/>
              </a:rPr>
              <a:t>), health records, or financial details. A breach could expose this sensitive data, potentially leading to identity theft, financial fraud, and other malicious uses.</a:t>
            </a:r>
          </a:p>
          <a:p>
            <a:endParaRPr lang="en-US" sz="1800" dirty="0">
              <a:effectLst/>
              <a:latin typeface="Aptos" panose="020B0004020202020204" pitchFamily="34" charset="0"/>
              <a:cs typeface="Mangal" panose="02040503050203030202"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&gt;&gt;&gt;Misinformation &amp; disinformation</a:t>
            </a:r>
          </a:p>
          <a:p>
            <a:r>
              <a:rPr lang="en-US" sz="1800" dirty="0">
                <a:effectLst/>
                <a:latin typeface="Aptos" panose="020B0004020202020204" pitchFamily="34" charset="0"/>
                <a:ea typeface="Aptos" panose="020B0004020202020204" pitchFamily="34" charset="0"/>
                <a:cs typeface="Mangal" panose="02040503050203030202" pitchFamily="18" charset="0"/>
              </a:rPr>
              <a:t>generative AI applications has introduced new concerns, particularly regarding misinformation and disinformation.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Mangal" panose="02040503050203030202" pitchFamily="18" charset="0"/>
              </a:rPr>
              <a:t>Difficult to distinguish between real and fake content</a:t>
            </a:r>
          </a:p>
          <a:p>
            <a:endParaRPr lang="en-US" sz="1800" dirty="0">
              <a:effectLst/>
              <a:latin typeface="Aptos" panose="020B0004020202020204" pitchFamily="34" charset="0"/>
              <a:ea typeface="Aptos" panose="020B0004020202020204" pitchFamily="34" charset="0"/>
              <a:cs typeface="Mangal" panose="02040503050203030202" pitchFamily="18" charset="0"/>
            </a:endParaRPr>
          </a:p>
          <a:p>
            <a:r>
              <a:rPr lang="en-US" sz="1800" dirty="0">
                <a:effectLst/>
                <a:latin typeface="Aptos" panose="020B0004020202020204" pitchFamily="34" charset="0"/>
                <a:ea typeface="Aptos" panose="020B0004020202020204" pitchFamily="34" charset="0"/>
                <a:cs typeface="Mangal" panose="02040503050203030202" pitchFamily="18" charset="0"/>
              </a:rPr>
              <a:t>generating human-like output has taken everyone by surprise. However, such unparalleled text-generation ability, when used with malicious intent, can proliferate fake content at a massive scale and amplify misinformation.</a:t>
            </a:r>
          </a:p>
          <a:p>
            <a:endParaRPr lang="en-US" sz="1800" dirty="0">
              <a:effectLst/>
              <a:latin typeface="Aptos" panose="020B0004020202020204" pitchFamily="34" charset="0"/>
              <a:cs typeface="Mangal" panose="02040503050203030202" pitchFamily="18" charset="0"/>
            </a:endParaRPr>
          </a:p>
          <a:p>
            <a:endParaRPr lang="en-US" sz="1800" dirty="0">
              <a:effectLst/>
              <a:latin typeface="Aptos" panose="020B0004020202020204" pitchFamily="34" charset="0"/>
              <a:cs typeface="Mangal" panose="02040503050203030202" pitchFamily="18" charset="0"/>
            </a:endParaRPr>
          </a:p>
          <a:p>
            <a:endParaRPr lang="en-US" sz="1800" dirty="0">
              <a:effectLst/>
              <a:latin typeface="Aptos" panose="020B0004020202020204" pitchFamily="34" charset="0"/>
              <a:cs typeface="Mangal" panose="02040503050203030202" pitchFamily="18" charset="0"/>
            </a:endParaRPr>
          </a:p>
          <a:p>
            <a:r>
              <a:rPr lang="en-US" sz="1800" dirty="0">
                <a:effectLst/>
                <a:latin typeface="Aptos" panose="020B0004020202020204" pitchFamily="34" charset="0"/>
                <a:cs typeface="Mangal" panose="02040503050203030202" pitchFamily="18" charset="0"/>
              </a:rPr>
              <a:t>Long: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Job displacement</a:t>
            </a:r>
          </a:p>
          <a:p>
            <a:pPr marL="0" marR="0" algn="just">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One of AI's core benefits is bringing efficiency by improving processes through automation. However, the harsh reality of such automation leads to job loss, particularly those involving low-skilled, repetitive, or routine work, such as customer service and administrative support.</a:t>
            </a:r>
          </a:p>
          <a:p>
            <a:endParaRPr lang="en-US" sz="1800" kern="100" dirty="0">
              <a:effectLst/>
              <a:latin typeface="Aptos" panose="020B0004020202020204" pitchFamily="34" charset="0"/>
              <a:cs typeface="Mangal" panose="02040503050203030202" pitchFamily="18" charset="0"/>
            </a:endParaRP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Erosion of privacy &amp; human autonomy</a:t>
            </a:r>
          </a:p>
          <a:p>
            <a:pPr marL="0" marR="0" algn="just">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AI-powered facial and audio systems can analyze incoming feeds from surveillance devices to identify and track individuals in real time. However, such mass monitoring is often implied without consent, thereby raising concerns over privacy erosion.</a:t>
            </a:r>
          </a:p>
          <a:p>
            <a:endParaRPr lang="en-US" sz="1800" kern="100" dirty="0">
              <a:effectLst/>
              <a:latin typeface="Aptos" panose="020B0004020202020204" pitchFamily="34" charset="0"/>
              <a:cs typeface="Mangal" panose="02040503050203030202" pitchFamily="18" charset="0"/>
            </a:endParaRP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AI misalignment &amp; existential risk</a:t>
            </a:r>
          </a:p>
          <a:p>
            <a:pPr marL="0" marR="0">
              <a:lnSpc>
                <a:spcPct val="115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As autonomous AI systems rapidly evolve, a critical debate is consuming industry professionals, AI veterans, and the public: are we hurtling towards "superintelligence?"</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This hypothetical scenario envisions AI surpassing human cognitive abilities and potentially posing a threat. The core concern lies in the potential misalignment between AI objectives and human values.</a:t>
            </a:r>
          </a:p>
          <a:p>
            <a:endParaRPr lang="en-US" sz="1800" dirty="0">
              <a:effectLst/>
              <a:latin typeface="Aptos" panose="020B0004020202020204" pitchFamily="34" charset="0"/>
              <a:cs typeface="Mangal" panose="02040503050203030202" pitchFamily="18" charset="0"/>
            </a:endParaRP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24</a:t>
            </a:fld>
            <a:endParaRPr lang="en-US"/>
          </a:p>
        </p:txBody>
      </p:sp>
    </p:spTree>
    <p:extLst>
      <p:ext uri="{BB962C8B-B14F-4D97-AF65-F5344CB8AC3E}">
        <p14:creationId xmlns:p14="http://schemas.microsoft.com/office/powerpoint/2010/main" val="2028623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Mangal" panose="02040503050203030202" pitchFamily="18" charset="0"/>
              </a:rPr>
              <a:t>Global Efforts:</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Mangal" panose="02040503050203030202" pitchFamily="18" charset="0"/>
              </a:rPr>
              <a:t>International Agreements</a:t>
            </a:r>
            <a:r>
              <a:rPr lang="en-US" sz="1800" kern="100" dirty="0">
                <a:effectLst/>
                <a:latin typeface="Aptos" panose="020B0004020202020204" pitchFamily="34" charset="0"/>
                <a:ea typeface="Aptos" panose="020B0004020202020204" pitchFamily="34" charset="0"/>
                <a:cs typeface="Mangal" panose="02040503050203030202" pitchFamily="18" charset="0"/>
              </a:rPr>
              <a:t>: Organizations like the United Nations (UN) and the European Union (EU) are pushing for global standards. The EU, for instance, is leading with the </a:t>
            </a:r>
            <a:r>
              <a:rPr lang="en-US" sz="1800" b="1" kern="100" dirty="0">
                <a:effectLst/>
                <a:latin typeface="Aptos" panose="020B0004020202020204" pitchFamily="34" charset="0"/>
                <a:ea typeface="Aptos" panose="020B0004020202020204" pitchFamily="34" charset="0"/>
                <a:cs typeface="Mangal" panose="02040503050203030202" pitchFamily="18" charset="0"/>
              </a:rPr>
              <a:t>Artificial Intelligence Act</a:t>
            </a:r>
            <a:r>
              <a:rPr lang="en-US" sz="1800" kern="100" dirty="0">
                <a:effectLst/>
                <a:latin typeface="Aptos" panose="020B0004020202020204" pitchFamily="34" charset="0"/>
                <a:ea typeface="Aptos" panose="020B0004020202020204" pitchFamily="34" charset="0"/>
                <a:cs typeface="Mangal" panose="02040503050203030202" pitchFamily="18" charset="0"/>
              </a:rPr>
              <a:t>, aimed at regulating high-risk AI applications.</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Mangal" panose="02040503050203030202" pitchFamily="18" charset="0"/>
              </a:rPr>
              <a:t>Ethical Guidelines</a:t>
            </a:r>
            <a:r>
              <a:rPr lang="en-US" sz="1800" kern="100" dirty="0">
                <a:effectLst/>
                <a:latin typeface="Aptos" panose="020B0004020202020204" pitchFamily="34" charset="0"/>
                <a:ea typeface="Aptos" panose="020B0004020202020204" pitchFamily="34" charset="0"/>
                <a:cs typeface="Mangal" panose="02040503050203030202" pitchFamily="18" charset="0"/>
              </a:rPr>
              <a:t>: The </a:t>
            </a:r>
            <a:r>
              <a:rPr lang="en-US" sz="1800" b="1" kern="100" dirty="0">
                <a:effectLst/>
                <a:latin typeface="Aptos" panose="020B0004020202020204" pitchFamily="34" charset="0"/>
                <a:ea typeface="Aptos" panose="020B0004020202020204" pitchFamily="34" charset="0"/>
                <a:cs typeface="Mangal" panose="02040503050203030202" pitchFamily="18" charset="0"/>
              </a:rPr>
              <a:t>OECD AI Principles</a:t>
            </a:r>
            <a:r>
              <a:rPr lang="en-US" sz="1800" kern="100" dirty="0">
                <a:effectLst/>
                <a:latin typeface="Aptos" panose="020B0004020202020204" pitchFamily="34" charset="0"/>
                <a:ea typeface="Aptos" panose="020B0004020202020204" pitchFamily="34" charset="0"/>
                <a:cs typeface="Mangal" panose="02040503050203030202" pitchFamily="18" charset="0"/>
              </a:rPr>
              <a:t> and the </a:t>
            </a:r>
            <a:r>
              <a:rPr lang="en-US" sz="1800" b="1" kern="100" dirty="0">
                <a:effectLst/>
                <a:latin typeface="Aptos" panose="020B0004020202020204" pitchFamily="34" charset="0"/>
                <a:ea typeface="Aptos" panose="020B0004020202020204" pitchFamily="34" charset="0"/>
                <a:cs typeface="Mangal" panose="02040503050203030202" pitchFamily="18" charset="0"/>
              </a:rPr>
              <a:t>G20 AI Principles</a:t>
            </a:r>
            <a:r>
              <a:rPr lang="en-US" sz="1800" kern="100" dirty="0">
                <a:effectLst/>
                <a:latin typeface="Aptos" panose="020B0004020202020204" pitchFamily="34" charset="0"/>
                <a:ea typeface="Aptos" panose="020B0004020202020204" pitchFamily="34" charset="0"/>
                <a:cs typeface="Mangal" panose="02040503050203030202" pitchFamily="18" charset="0"/>
              </a:rPr>
              <a:t> offer ethical guidelines focusing on transparency, human rights, and accountability in AI deployment.</a:t>
            </a:r>
          </a:p>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Mangal" panose="02040503050203030202" pitchFamily="18" charset="0"/>
              </a:rPr>
              <a:t>Local Efforts:</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Mangal" panose="02040503050203030202" pitchFamily="18" charset="0"/>
              </a:rPr>
              <a:t>National Policies</a:t>
            </a:r>
            <a:r>
              <a:rPr lang="en-US" sz="1800" kern="100" dirty="0">
                <a:effectLst/>
                <a:latin typeface="Aptos" panose="020B0004020202020204" pitchFamily="34" charset="0"/>
                <a:ea typeface="Aptos" panose="020B0004020202020204" pitchFamily="34" charset="0"/>
                <a:cs typeface="Mangal" panose="02040503050203030202" pitchFamily="18" charset="0"/>
              </a:rPr>
              <a:t>: Countries like the United States, China, and India are developing their own AI governance models to protect citizens and encourage innovation.</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Mangal" panose="02040503050203030202" pitchFamily="18" charset="0"/>
              </a:rPr>
              <a:t>Public and Private Collaboration</a:t>
            </a:r>
            <a:r>
              <a:rPr lang="en-US" sz="1800" kern="100" dirty="0">
                <a:effectLst/>
                <a:latin typeface="Aptos" panose="020B0004020202020204" pitchFamily="34" charset="0"/>
                <a:ea typeface="Aptos" panose="020B0004020202020204" pitchFamily="34" charset="0"/>
                <a:cs typeface="Mangal" panose="02040503050203030202" pitchFamily="18" charset="0"/>
              </a:rPr>
              <a:t>: Local governments often collaborate with tech companies and research institutions to create AI standards that align with legal and ethical norms.</a:t>
            </a:r>
          </a:p>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Mangal" panose="02040503050203030202" pitchFamily="18" charset="0"/>
              </a:rPr>
              <a:t>Key Legal and Ethical Considerations:</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Mangal" panose="02040503050203030202" pitchFamily="18" charset="0"/>
              </a:rPr>
              <a:t>Privacy and Data Protection</a:t>
            </a:r>
            <a:r>
              <a:rPr lang="en-US" sz="1800" kern="100" dirty="0">
                <a:effectLst/>
                <a:latin typeface="Aptos" panose="020B0004020202020204" pitchFamily="34" charset="0"/>
                <a:ea typeface="Aptos" panose="020B0004020202020204" pitchFamily="34" charset="0"/>
                <a:cs typeface="Mangal" panose="02040503050203030202" pitchFamily="18" charset="0"/>
              </a:rPr>
              <a:t>: Laws like </a:t>
            </a:r>
            <a:r>
              <a:rPr lang="en-US" sz="1800" b="1" kern="100" dirty="0">
                <a:effectLst/>
                <a:latin typeface="Aptos" panose="020B0004020202020204" pitchFamily="34" charset="0"/>
                <a:ea typeface="Aptos" panose="020B0004020202020204" pitchFamily="34" charset="0"/>
                <a:cs typeface="Mangal" panose="02040503050203030202" pitchFamily="18" charset="0"/>
              </a:rPr>
              <a:t>GDPR</a:t>
            </a:r>
            <a:r>
              <a:rPr lang="en-US" sz="1800" kern="100" dirty="0">
                <a:effectLst/>
                <a:latin typeface="Aptos" panose="020B0004020202020204" pitchFamily="34" charset="0"/>
                <a:ea typeface="Aptos" panose="020B0004020202020204" pitchFamily="34" charset="0"/>
                <a:cs typeface="Mangal" panose="02040503050203030202" pitchFamily="18" charset="0"/>
              </a:rPr>
              <a:t> in Europe focus on data privacy, ensuring AI does not infringe on individuals' rights.</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Mangal" panose="02040503050203030202" pitchFamily="18" charset="0"/>
              </a:rPr>
              <a:t>Bias and Fairness</a:t>
            </a:r>
            <a:r>
              <a:rPr lang="en-US" sz="1800" kern="100" dirty="0">
                <a:effectLst/>
                <a:latin typeface="Aptos" panose="020B0004020202020204" pitchFamily="34" charset="0"/>
                <a:ea typeface="Aptos" panose="020B0004020202020204" pitchFamily="34" charset="0"/>
                <a:cs typeface="Mangal" panose="02040503050203030202" pitchFamily="18" charset="0"/>
              </a:rPr>
              <a:t>: Frameworks are being established to mitigate biases in AI, particularly around discrimination and fairness.</a:t>
            </a:r>
          </a:p>
          <a:p>
            <a:pPr marL="342900" marR="0" lvl="0" indent="-342900">
              <a:lnSpc>
                <a:spcPct val="115000"/>
              </a:lnSpc>
              <a:spcBef>
                <a:spcPts val="0"/>
              </a:spcBef>
              <a:spcAft>
                <a:spcPts val="800"/>
              </a:spcAft>
              <a:buFont typeface="+mj-lt"/>
              <a:buAutoNum type="arabicPeriod"/>
              <a:tabLst>
                <a:tab pos="457200" algn="l"/>
              </a:tabLst>
            </a:pP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Mangal" panose="02040503050203030202" pitchFamily="18" charset="0"/>
              </a:rPr>
              <a:t>These regulations aim to strike a balance between promoting AI innovation and ensuring ethical standards are upheld. Let me know if you'd like to explore specific regulations or ethical frameworks further!</a:t>
            </a:r>
          </a:p>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25</a:t>
            </a:fld>
            <a:endParaRPr lang="en-US"/>
          </a:p>
        </p:txBody>
      </p:sp>
    </p:spTree>
    <p:extLst>
      <p:ext uri="{BB962C8B-B14F-4D97-AF65-F5344CB8AC3E}">
        <p14:creationId xmlns:p14="http://schemas.microsoft.com/office/powerpoint/2010/main" val="755357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64D6C-984B-4BCD-BF41-447FBABEB894}" type="slidenum">
              <a:rPr lang="en-US" smtClean="0"/>
              <a:t>27</a:t>
            </a:fld>
            <a:endParaRPr lang="en-US"/>
          </a:p>
        </p:txBody>
      </p:sp>
    </p:spTree>
    <p:extLst>
      <p:ext uri="{BB962C8B-B14F-4D97-AF65-F5344CB8AC3E}">
        <p14:creationId xmlns:p14="http://schemas.microsoft.com/office/powerpoint/2010/main" val="1478980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hasCustomPrompt="1"/>
          </p:nvPr>
        </p:nvSpPr>
        <p:spPr>
          <a:xfrm>
            <a:off x="1130595" y="2404534"/>
            <a:ext cx="5826719" cy="1646302"/>
          </a:xfrm>
        </p:spPr>
        <p:txBody>
          <a:bodyPr anchor="b">
            <a:noAutofit/>
          </a:bodyPr>
          <a:lstStyle>
            <a:lvl1pPr algn="r">
              <a:defRPr sz="5400">
                <a:solidFill>
                  <a:schemeClr val="accent1"/>
                </a:solidFill>
              </a:defRPr>
            </a:lvl1pPr>
          </a:lstStyle>
          <a:p>
            <a:r>
              <a:rPr lang="en-US" dirty="0"/>
              <a:t>Introduction to Artificial Intelligence</a:t>
            </a:r>
          </a:p>
        </p:txBody>
      </p:sp>
      <p:sp>
        <p:nvSpPr>
          <p:cNvPr id="3" name="Subtitle 2"/>
          <p:cNvSpPr>
            <a:spLocks noGrp="1"/>
          </p:cNvSpPr>
          <p:nvPr>
            <p:ph type="subTitle" idx="1" hasCustomPrompt="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Kapil Dev Pant</a:t>
            </a:r>
          </a:p>
        </p:txBody>
      </p:sp>
      <p:sp>
        <p:nvSpPr>
          <p:cNvPr id="4" name="Date Placeholder 3"/>
          <p:cNvSpPr>
            <a:spLocks noGrp="1"/>
          </p:cNvSpPr>
          <p:nvPr>
            <p:ph type="dt" sz="half" idx="10"/>
          </p:nvPr>
        </p:nvSpPr>
        <p:spPr/>
        <p:txBody>
          <a:bodyPr/>
          <a:lstStyle/>
          <a:p>
            <a:fld id="{E199E982-8166-46E5-97DD-3BDF5F74910E}" type="datetime1">
              <a:rPr lang="en-US" smtClean="0"/>
              <a:t>11/15/2025</a:t>
            </a:fld>
            <a:endParaRPr lang="en-US"/>
          </a:p>
        </p:txBody>
      </p:sp>
      <p:sp>
        <p:nvSpPr>
          <p:cNvPr id="5" name="Footer Placeholder 4"/>
          <p:cNvSpPr>
            <a:spLocks noGrp="1"/>
          </p:cNvSpPr>
          <p:nvPr>
            <p:ph type="ftr" sz="quarter" idx="11"/>
          </p:nvPr>
        </p:nvSpPr>
        <p:spPr>
          <a:xfrm>
            <a:off x="582067" y="6272806"/>
            <a:ext cx="4622973" cy="365125"/>
          </a:xfrm>
        </p:spPr>
        <p:txBody>
          <a:bodyPr/>
          <a:lstStyle>
            <a:lvl1pPr>
              <a:defRPr>
                <a:solidFill>
                  <a:schemeClr val="tx1"/>
                </a:solidFill>
              </a:defRPr>
            </a:lvl1pPr>
          </a:lstStyle>
          <a:p>
            <a:r>
              <a:rPr lang="en-US" dirty="0"/>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7276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F541EBF-9125-4034-9614-036E4AF1359F}" type="datetime1">
              <a:rPr lang="en-US" smtClean="0"/>
              <a:t>11/15/2025</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Footer Placeholder 4">
            <a:extLst>
              <a:ext uri="{FF2B5EF4-FFF2-40B4-BE49-F238E27FC236}">
                <a16:creationId xmlns:a16="http://schemas.microsoft.com/office/drawing/2014/main" id="{DFB062E2-E38D-C0F8-0945-FE1965F8F480}"/>
              </a:ext>
            </a:extLst>
          </p:cNvPr>
          <p:cNvSpPr txBox="1">
            <a:spLocks/>
          </p:cNvSpPr>
          <p:nvPr userDrawn="1"/>
        </p:nvSpPr>
        <p:spPr>
          <a:xfrm>
            <a:off x="627537" y="6088990"/>
            <a:ext cx="4622973" cy="36512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Kapil Dev Pant || Kapil@nast.edu.np || kapilpant157</a:t>
            </a:r>
          </a:p>
        </p:txBody>
      </p:sp>
    </p:spTree>
    <p:extLst>
      <p:ext uri="{BB962C8B-B14F-4D97-AF65-F5344CB8AC3E}">
        <p14:creationId xmlns:p14="http://schemas.microsoft.com/office/powerpoint/2010/main" val="2366313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FC8EFB-1526-40A8-93D8-6790FB97833F}"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8223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B4DA8F-1542-45C4-B4BE-C16C87DEC9F4}" type="datetime1">
              <a:rPr lang="en-US" smtClean="0"/>
              <a:t>11/15/2025</a:t>
            </a:fld>
            <a:endParaRPr lang="en-US"/>
          </a:p>
        </p:txBody>
      </p:sp>
      <p:sp>
        <p:nvSpPr>
          <p:cNvPr id="6" name="Footer Placeholder 5"/>
          <p:cNvSpPr>
            <a:spLocks noGrp="1"/>
          </p:cNvSpPr>
          <p:nvPr>
            <p:ph type="ftr" sz="quarter" idx="11"/>
          </p:nvPr>
        </p:nvSpPr>
        <p:spPr/>
        <p:txBody>
          <a:bodyPr/>
          <a:lstStyle/>
          <a:p>
            <a:r>
              <a:rPr lang="en-US"/>
              <a:t>Kapil Dev Pant || Kapil@nast.edu.np || kapilpant157</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3954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FF745F-358B-48DC-8A1A-89DB787E91CA}" type="datetime1">
              <a:rPr lang="en-US" smtClean="0"/>
              <a:t>11/15/2025</a:t>
            </a:fld>
            <a:endParaRPr lang="en-US"/>
          </a:p>
        </p:txBody>
      </p:sp>
      <p:sp>
        <p:nvSpPr>
          <p:cNvPr id="8" name="Footer Placeholder 7"/>
          <p:cNvSpPr>
            <a:spLocks noGrp="1"/>
          </p:cNvSpPr>
          <p:nvPr>
            <p:ph type="ftr" sz="quarter" idx="11"/>
          </p:nvPr>
        </p:nvSpPr>
        <p:spPr/>
        <p:txBody>
          <a:bodyPr/>
          <a:lstStyle/>
          <a:p>
            <a:r>
              <a:rPr lang="en-US"/>
              <a:t>Kapil Dev Pant || Kapil@nast.edu.np || kapilpant157</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1175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4AE53-5E3C-4243-91B6-E5A5AF470105}" type="datetime1">
              <a:rPr lang="en-US" smtClean="0"/>
              <a:t>11/15/2025</a:t>
            </a:fld>
            <a:endParaRPr lang="en-US"/>
          </a:p>
        </p:txBody>
      </p:sp>
      <p:sp>
        <p:nvSpPr>
          <p:cNvPr id="4" name="Footer Placeholder 3"/>
          <p:cNvSpPr>
            <a:spLocks noGrp="1"/>
          </p:cNvSpPr>
          <p:nvPr>
            <p:ph type="ftr" sz="quarter" idx="11"/>
          </p:nvPr>
        </p:nvSpPr>
        <p:spPr/>
        <p:txBody>
          <a:bodyPr/>
          <a:lstStyle/>
          <a:p>
            <a:r>
              <a:rPr lang="en-US"/>
              <a:t>Kapil Dev Pant || Kapil@nast.edu.np || kapilpant157</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3730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229295-1454-4B3C-9DAA-108D4C8A6984}" type="datetime1">
              <a:rPr lang="en-US" smtClean="0"/>
              <a:t>11/15/2025</a:t>
            </a:fld>
            <a:endParaRPr lang="en-US"/>
          </a:p>
        </p:txBody>
      </p:sp>
      <p:sp>
        <p:nvSpPr>
          <p:cNvPr id="3" name="Footer Placeholder 2"/>
          <p:cNvSpPr>
            <a:spLocks noGrp="1"/>
          </p:cNvSpPr>
          <p:nvPr>
            <p:ph type="ftr" sz="quarter" idx="11"/>
          </p:nvPr>
        </p:nvSpPr>
        <p:spPr/>
        <p:txBody>
          <a:bodyPr/>
          <a:lstStyle/>
          <a:p>
            <a:r>
              <a:rPr lang="en-US"/>
              <a:t>Kapil Dev Pant || Kapil@nast.edu.np || kapilpant157</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5280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55877E4-9155-41A1-8404-E530368FC28C}" type="datetime1">
              <a:rPr lang="en-US" smtClean="0"/>
              <a:t>11/15/2025</a:t>
            </a:fld>
            <a:endParaRPr lang="en-US"/>
          </a:p>
        </p:txBody>
      </p:sp>
      <p:sp>
        <p:nvSpPr>
          <p:cNvPr id="6" name="Footer Placeholder 5"/>
          <p:cNvSpPr>
            <a:spLocks noGrp="1"/>
          </p:cNvSpPr>
          <p:nvPr>
            <p:ph type="ftr" sz="quarter" idx="11"/>
          </p:nvPr>
        </p:nvSpPr>
        <p:spPr/>
        <p:txBody>
          <a:bodyPr/>
          <a:lstStyle/>
          <a:p>
            <a:r>
              <a:rPr lang="en-US"/>
              <a:t>Kapil Dev Pant || Kapil@nast.edu.np || kapilpant157</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0533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5F2644-7B94-4D9A-875F-2FA16966D66C}" type="datetime1">
              <a:rPr lang="en-US" smtClean="0"/>
              <a:t>11/15/2025</a:t>
            </a:fld>
            <a:endParaRPr lang="en-US"/>
          </a:p>
        </p:txBody>
      </p:sp>
      <p:sp>
        <p:nvSpPr>
          <p:cNvPr id="6" name="Footer Placeholder 5"/>
          <p:cNvSpPr>
            <a:spLocks noGrp="1"/>
          </p:cNvSpPr>
          <p:nvPr>
            <p:ph type="ftr" sz="quarter" idx="11"/>
          </p:nvPr>
        </p:nvSpPr>
        <p:spPr/>
        <p:txBody>
          <a:bodyPr/>
          <a:lstStyle/>
          <a:p>
            <a:r>
              <a:rPr lang="en-US"/>
              <a:t>Kapil Dev Pant || Kapil@nast.edu.np || kapilpant157</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8026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97F46-4CDC-4D2C-90CC-0BD53DF2E224}"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484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6CA9C0-569B-466F-A247-56BED567A692}"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42797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0282F-C60E-49E9-91A7-FAF84EA3978E}"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7553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EBBE0-7851-4384-B6FF-67C02DAF03DD}"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3713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A3AC4-D99E-4B6C-BCBB-AFC1958B7C70}"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0626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334E33-A511-4E83-83DF-B944C9A00DF7}"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1787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F8680A-BDFF-46FA-8CBB-C17F5BE6A6FF}" type="datetime1">
              <a:rPr lang="en-US" smtClean="0"/>
              <a:t>11/15/2025</a:t>
            </a:fld>
            <a:endParaRPr lang="en-US"/>
          </a:p>
        </p:txBody>
      </p:sp>
      <p:sp>
        <p:nvSpPr>
          <p:cNvPr id="5" name="Footer Placeholder 4"/>
          <p:cNvSpPr>
            <a:spLocks noGrp="1"/>
          </p:cNvSpPr>
          <p:nvPr>
            <p:ph type="ftr" sz="quarter" idx="11"/>
          </p:nvPr>
        </p:nvSpPr>
        <p:spPr/>
        <p:txBody>
          <a:bodyPr/>
          <a:lstStyle/>
          <a:p>
            <a:r>
              <a:rPr lang="en-US"/>
              <a:t>Kapil Dev Pant || Kapil@nast.edu.np || kapilpant157</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7819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B69AA68-2625-4B5F-871D-201141719624}" type="datetime1">
              <a:rPr lang="en-US" smtClean="0"/>
              <a:t>11/15/2025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Kapil Dev Pant || Kapil@nast.edu.np || kapilpant157</a:t>
            </a: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7594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1" y="800100"/>
            <a:ext cx="6271514" cy="3250736"/>
          </a:xfrm>
        </p:spPr>
        <p:txBody>
          <a:bodyPr/>
          <a:lstStyle/>
          <a:p>
            <a:r>
              <a:rPr dirty="0"/>
              <a:t>Introduction to Artificial Intelligence</a:t>
            </a:r>
          </a:p>
        </p:txBody>
      </p:sp>
      <p:sp>
        <p:nvSpPr>
          <p:cNvPr id="3" name="Subtitle 2"/>
          <p:cNvSpPr>
            <a:spLocks noGrp="1"/>
          </p:cNvSpPr>
          <p:nvPr>
            <p:ph type="subTitle" idx="1"/>
          </p:nvPr>
        </p:nvSpPr>
        <p:spPr/>
        <p:txBody>
          <a:bodyPr/>
          <a:lstStyle/>
          <a:p>
            <a:r>
              <a:rPr lang="en-US" dirty="0"/>
              <a:t>Kapil Dev Pant</a:t>
            </a:r>
            <a:endParaRPr dirty="0"/>
          </a:p>
        </p:txBody>
      </p:sp>
      <p:sp>
        <p:nvSpPr>
          <p:cNvPr id="4" name="Footer Placeholder 3">
            <a:extLst>
              <a:ext uri="{FF2B5EF4-FFF2-40B4-BE49-F238E27FC236}">
                <a16:creationId xmlns:a16="http://schemas.microsoft.com/office/drawing/2014/main" id="{4320DDBA-2CCB-0FD1-DF5B-9A64CCE8083A}"/>
              </a:ext>
            </a:extLst>
          </p:cNvPr>
          <p:cNvSpPr>
            <a:spLocks noGrp="1"/>
          </p:cNvSpPr>
          <p:nvPr>
            <p:ph type="ftr" sz="quarter" idx="11"/>
          </p:nvPr>
        </p:nvSpPr>
        <p:spPr/>
        <p:txBody>
          <a:bodyPr/>
          <a:lstStyle/>
          <a:p>
            <a:r>
              <a:rPr lang="en-US">
                <a:solidFill>
                  <a:srgbClr val="FF0000"/>
                </a:solidFill>
              </a:rPr>
              <a:t>Kapil Dev Pant || Kapil@nast.edu.np || kapilpant157</a:t>
            </a:r>
            <a:endParaRPr lang="en-US"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rPr lang="en-US"/>
              <a:t>Content</a:t>
            </a:r>
            <a:endParaRPr lang="en-US" dirty="0"/>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Content Placeholder 2">
            <a:extLst>
              <a:ext uri="{FF2B5EF4-FFF2-40B4-BE49-F238E27FC236}">
                <a16:creationId xmlns:a16="http://schemas.microsoft.com/office/drawing/2014/main" id="{76EB34D7-AEB1-9E6F-DAA5-D963091B6290}"/>
              </a:ext>
            </a:extLst>
          </p:cNvPr>
          <p:cNvGraphicFramePr>
            <a:graphicFrameLocks noGrp="1"/>
          </p:cNvGraphicFramePr>
          <p:nvPr>
            <p:ph idx="1"/>
            <p:extLst>
              <p:ext uri="{D42A27DB-BD31-4B8C-83A1-F6EECF244321}">
                <p14:modId xmlns:p14="http://schemas.microsoft.com/office/powerpoint/2010/main" val="2743479590"/>
              </p:ext>
            </p:extLst>
          </p:nvPr>
        </p:nvGraphicFramePr>
        <p:xfrm>
          <a:off x="530680" y="1447800"/>
          <a:ext cx="8082640" cy="5124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B92DEE-6E7A-2472-888E-7ADB0FEACB12}"/>
              </a:ext>
            </a:extLst>
          </p:cNvPr>
          <p:cNvPicPr>
            <a:picLocks noChangeAspect="1"/>
          </p:cNvPicPr>
          <p:nvPr/>
        </p:nvPicPr>
        <p:blipFill>
          <a:blip r:embed="rId3"/>
          <a:srcRect l="24188" r="27078"/>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dirty="0"/>
              <a:t>Intelligence</a:t>
            </a:r>
          </a:p>
        </p:txBody>
      </p:sp>
      <p:sp>
        <p:nvSpPr>
          <p:cNvPr id="3" name="Content Placeholder 2"/>
          <p:cNvSpPr>
            <a:spLocks noGrp="1"/>
          </p:cNvSpPr>
          <p:nvPr>
            <p:ph idx="1"/>
          </p:nvPr>
        </p:nvSpPr>
        <p:spPr>
          <a:xfrm>
            <a:off x="508000" y="2160589"/>
            <a:ext cx="2888342" cy="3880773"/>
          </a:xfrm>
        </p:spPr>
        <p:txBody>
          <a:bodyPr>
            <a:normAutofit/>
          </a:bodyPr>
          <a:lstStyle/>
          <a:p>
            <a:pPr marL="0" indent="0">
              <a:lnSpc>
                <a:spcPct val="90000"/>
              </a:lnSpc>
              <a:buNone/>
            </a:pPr>
            <a:r>
              <a:rPr lang="en-US" dirty="0"/>
              <a:t>What is Intelligence ?</a:t>
            </a:r>
          </a:p>
          <a:p>
            <a:pPr marL="0" indent="0">
              <a:lnSpc>
                <a:spcPct val="90000"/>
              </a:lnSpc>
              <a:buNone/>
            </a:pPr>
            <a:endParaRPr lang="en-US" dirty="0"/>
          </a:p>
          <a:p>
            <a:pPr>
              <a:lnSpc>
                <a:spcPct val="90000"/>
              </a:lnSpc>
            </a:pPr>
            <a:r>
              <a:rPr lang="en-US" dirty="0"/>
              <a:t>Various Aspects :</a:t>
            </a:r>
          </a:p>
          <a:p>
            <a:pPr lvl="1">
              <a:lnSpc>
                <a:spcPct val="90000"/>
              </a:lnSpc>
            </a:pPr>
            <a:r>
              <a:rPr lang="en-US" dirty="0"/>
              <a:t>Cognitive ability.</a:t>
            </a:r>
          </a:p>
          <a:p>
            <a:pPr lvl="1">
              <a:lnSpc>
                <a:spcPct val="90000"/>
              </a:lnSpc>
            </a:pPr>
            <a:r>
              <a:rPr lang="en-US" dirty="0"/>
              <a:t>Emotional Intelligence.</a:t>
            </a:r>
          </a:p>
          <a:p>
            <a:pPr lvl="1">
              <a:lnSpc>
                <a:spcPct val="90000"/>
              </a:lnSpc>
            </a:pPr>
            <a:r>
              <a:rPr lang="en-US" dirty="0"/>
              <a:t>Social Intelligence</a:t>
            </a:r>
          </a:p>
          <a:p>
            <a:pPr lvl="1">
              <a:lnSpc>
                <a:spcPct val="90000"/>
              </a:lnSpc>
            </a:pPr>
            <a:r>
              <a:rPr lang="en-US" dirty="0"/>
              <a:t>Practical Intelligence</a:t>
            </a:r>
          </a:p>
          <a:p>
            <a:pPr lvl="1">
              <a:lnSpc>
                <a:spcPct val="90000"/>
              </a:lnSpc>
            </a:pPr>
            <a:r>
              <a:rPr lang="en-US" dirty="0"/>
              <a:t>Creative Intelligence</a:t>
            </a:r>
          </a:p>
          <a:p>
            <a:pPr lvl="1">
              <a:lnSpc>
                <a:spcPct val="90000"/>
              </a:lnSpc>
            </a:pPr>
            <a:r>
              <a:rPr lang="en-US" dirty="0"/>
              <a:t>Analytical Intelligence</a:t>
            </a:r>
          </a:p>
          <a:p>
            <a:pPr>
              <a:lnSpc>
                <a:spcPct val="90000"/>
              </a:lnSpc>
            </a:pPr>
            <a:endParaRPr lang="en-US" dirty="0"/>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Components of Intelligence</a:t>
            </a:r>
          </a:p>
        </p:txBody>
      </p:sp>
      <p:graphicFrame>
        <p:nvGraphicFramePr>
          <p:cNvPr id="5" name="Content Placeholder 2">
            <a:extLst>
              <a:ext uri="{FF2B5EF4-FFF2-40B4-BE49-F238E27FC236}">
                <a16:creationId xmlns:a16="http://schemas.microsoft.com/office/drawing/2014/main" id="{14DAD2EF-4E91-1CD5-543E-512A5AACFC81}"/>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Intelligence</a:t>
            </a:r>
          </a:p>
        </p:txBody>
      </p:sp>
      <p:sp>
        <p:nvSpPr>
          <p:cNvPr id="3" name="Content Placeholder 2"/>
          <p:cNvSpPr>
            <a:spLocks noGrp="1"/>
          </p:cNvSpPr>
          <p:nvPr>
            <p:ph idx="1"/>
          </p:nvPr>
        </p:nvSpPr>
        <p:spPr>
          <a:xfrm>
            <a:off x="630864" y="2160590"/>
            <a:ext cx="6347714" cy="3880773"/>
          </a:xfrm>
        </p:spPr>
        <p:txBody>
          <a:bodyPr/>
          <a:lstStyle/>
          <a:p>
            <a:r>
              <a:rPr lang="en-US" dirty="0"/>
              <a:t>Natural Intelligence</a:t>
            </a:r>
          </a:p>
          <a:p>
            <a:r>
              <a:rPr lang="en-US" dirty="0"/>
              <a:t>Emotional Intelligence (EI):</a:t>
            </a:r>
          </a:p>
          <a:p>
            <a:r>
              <a:rPr lang="en-US" dirty="0"/>
              <a:t>Social Intelligence</a:t>
            </a:r>
          </a:p>
          <a:p>
            <a:r>
              <a:rPr lang="en-US" dirty="0"/>
              <a:t>Logical-Mathematical Intelligence</a:t>
            </a:r>
          </a:p>
          <a:p>
            <a:r>
              <a:rPr lang="en-US" dirty="0"/>
              <a:t>Linguistic Intelligence</a:t>
            </a:r>
          </a:p>
          <a:p>
            <a:r>
              <a:rPr lang="en-US" dirty="0"/>
              <a:t>Spatial Intelligence</a:t>
            </a:r>
          </a:p>
          <a:p>
            <a:r>
              <a:rPr lang="en-US" dirty="0"/>
              <a:t>Creative Intelligence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rPr lang="en-US" dirty="0"/>
              <a:t>Natural</a:t>
            </a:r>
            <a:r>
              <a:rPr dirty="0"/>
              <a:t> Intelligence</a:t>
            </a:r>
          </a:p>
        </p:txBody>
      </p:sp>
      <p:sp>
        <p:nvSpPr>
          <p:cNvPr id="31" name="Isosceles Triangle 3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5" name="Content Placeholder 2">
            <a:extLst>
              <a:ext uri="{FF2B5EF4-FFF2-40B4-BE49-F238E27FC236}">
                <a16:creationId xmlns:a16="http://schemas.microsoft.com/office/drawing/2014/main" id="{5D0054FC-6B5C-8E57-62E5-E5BA502BA8C3}"/>
              </a:ext>
            </a:extLst>
          </p:cNvPr>
          <p:cNvGraphicFramePr>
            <a:graphicFrameLocks noGrp="1"/>
          </p:cNvGraphicFramePr>
          <p:nvPr>
            <p:ph idx="1"/>
            <p:extLst>
              <p:ext uri="{D42A27DB-BD31-4B8C-83A1-F6EECF244321}">
                <p14:modId xmlns:p14="http://schemas.microsoft.com/office/powerpoint/2010/main" val="2091602913"/>
              </p:ext>
            </p:extLst>
          </p:nvPr>
        </p:nvGraphicFramePr>
        <p:xfrm>
          <a:off x="965199" y="1709058"/>
          <a:ext cx="7213600" cy="4615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6799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962" y="1179151"/>
            <a:ext cx="2475485" cy="4463889"/>
          </a:xfrm>
        </p:spPr>
        <p:txBody>
          <a:bodyPr anchor="ctr">
            <a:normAutofit/>
          </a:bodyPr>
          <a:lstStyle/>
          <a:p>
            <a:r>
              <a:rPr lang="en-US" sz="3300"/>
              <a:t>Natural Intelligence</a:t>
            </a:r>
          </a:p>
        </p:txBody>
      </p:sp>
      <p:sp>
        <p:nvSpPr>
          <p:cNvPr id="40" name="Isosceles Triangle 3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336549"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42" name="Straight Connector 4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2502"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45" name="Content Placeholder 3">
            <a:extLst>
              <a:ext uri="{FF2B5EF4-FFF2-40B4-BE49-F238E27FC236}">
                <a16:creationId xmlns:a16="http://schemas.microsoft.com/office/drawing/2014/main" id="{424C2CB2-0905-2068-2700-3F695FC1B17F}"/>
              </a:ext>
            </a:extLst>
          </p:cNvPr>
          <p:cNvSpPr>
            <a:spLocks noGrp="1"/>
          </p:cNvSpPr>
          <p:nvPr>
            <p:ph idx="1"/>
          </p:nvPr>
        </p:nvSpPr>
        <p:spPr>
          <a:xfrm>
            <a:off x="3492502" y="1109144"/>
            <a:ext cx="4997448" cy="4902549"/>
          </a:xfrm>
        </p:spPr>
        <p:txBody>
          <a:bodyPr anchor="ctr">
            <a:normAutofit/>
          </a:bodyPr>
          <a:lstStyle/>
          <a:p>
            <a:pPr>
              <a:lnSpc>
                <a:spcPct val="90000"/>
              </a:lnSpc>
            </a:pPr>
            <a:r>
              <a:rPr lang="en-US" sz="1400" dirty="0"/>
              <a:t>Similarities</a:t>
            </a:r>
          </a:p>
          <a:p>
            <a:pPr lvl="1">
              <a:lnSpc>
                <a:spcPct val="90000"/>
              </a:lnSpc>
            </a:pPr>
            <a:r>
              <a:rPr lang="en-US" sz="1400" dirty="0"/>
              <a:t>Learning: Both AI and humans learn from experiences/data.</a:t>
            </a:r>
          </a:p>
          <a:p>
            <a:pPr lvl="1">
              <a:lnSpc>
                <a:spcPct val="90000"/>
              </a:lnSpc>
            </a:pPr>
            <a:r>
              <a:rPr lang="en-US" sz="1400" dirty="0"/>
              <a:t>Reasoning: Both apply logic to problem-solving.</a:t>
            </a:r>
          </a:p>
          <a:p>
            <a:pPr lvl="1">
              <a:lnSpc>
                <a:spcPct val="90000"/>
              </a:lnSpc>
            </a:pPr>
            <a:r>
              <a:rPr lang="en-US" sz="1400" dirty="0"/>
              <a:t>Perception: Both interpret inputs from the environment (though differently).</a:t>
            </a:r>
          </a:p>
          <a:p>
            <a:pPr>
              <a:lnSpc>
                <a:spcPct val="90000"/>
              </a:lnSpc>
            </a:pPr>
            <a:r>
              <a:rPr lang="en-US" sz="1400" dirty="0"/>
              <a:t>Differences</a:t>
            </a:r>
          </a:p>
          <a:p>
            <a:pPr lvl="1">
              <a:lnSpc>
                <a:spcPct val="90000"/>
              </a:lnSpc>
            </a:pPr>
            <a:r>
              <a:rPr lang="en-US" sz="1400" dirty="0"/>
              <a:t>Natural Intelligence: Involves emotions, intuition, and creativity. Humans can generalize across domains.</a:t>
            </a:r>
          </a:p>
          <a:p>
            <a:pPr lvl="1">
              <a:lnSpc>
                <a:spcPct val="90000"/>
              </a:lnSpc>
            </a:pPr>
            <a:r>
              <a:rPr lang="en-US" sz="1400" dirty="0"/>
              <a:t>AI: Lacks emotional and social understanding, creativity is based on programming, struggles with cross-domain generalization.</a:t>
            </a:r>
          </a:p>
          <a:p>
            <a:pPr>
              <a:lnSpc>
                <a:spcPct val="90000"/>
              </a:lnSpc>
            </a:pPr>
            <a:r>
              <a:rPr lang="en-US" sz="1400" dirty="0"/>
              <a:t>Complementary Nature</a:t>
            </a:r>
          </a:p>
          <a:p>
            <a:pPr lvl="1">
              <a:lnSpc>
                <a:spcPct val="90000"/>
              </a:lnSpc>
            </a:pPr>
            <a:r>
              <a:rPr lang="en-US" sz="1400" dirty="0"/>
              <a:t>AI assists humans in automating tasks and processing large datasets but lacks the flexibility and emotional intelligence of humans.</a:t>
            </a:r>
          </a:p>
        </p:txBody>
      </p:sp>
      <p:sp>
        <p:nvSpPr>
          <p:cNvPr id="44" name="Isosceles Triangle 4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23104" y="0"/>
            <a:ext cx="631947"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17391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dirty="0"/>
              <a:t>Artificial Intelligence</a:t>
            </a:r>
          </a:p>
        </p:txBody>
      </p:sp>
      <p:sp>
        <p:nvSpPr>
          <p:cNvPr id="23" name="Isosceles Triangle 22">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2160589"/>
            <a:ext cx="6447501" cy="3880773"/>
          </a:xfrm>
        </p:spPr>
        <p:txBody>
          <a:bodyPr>
            <a:noAutofit/>
          </a:bodyPr>
          <a:lstStyle/>
          <a:p>
            <a:pPr marL="0" indent="0">
              <a:lnSpc>
                <a:spcPct val="90000"/>
              </a:lnSpc>
              <a:buNone/>
            </a:pPr>
            <a:r>
              <a:rPr lang="en-US" dirty="0"/>
              <a:t>Field of computer science focused on creating systems capable of tasks requiring human-like intelligence i.e. making intelligent machines, especially intelligent computer programs.</a:t>
            </a:r>
          </a:p>
          <a:p>
            <a:pPr marL="0" indent="0">
              <a:lnSpc>
                <a:spcPct val="90000"/>
              </a:lnSpc>
              <a:buNone/>
            </a:pPr>
            <a:r>
              <a:rPr lang="en-US" b="1" dirty="0"/>
              <a:t>Key Features:</a:t>
            </a:r>
          </a:p>
          <a:p>
            <a:pPr>
              <a:lnSpc>
                <a:spcPct val="90000"/>
              </a:lnSpc>
            </a:pPr>
            <a:r>
              <a:rPr lang="en-US" sz="1800" dirty="0"/>
              <a:t>Automation: Performs tasks without human intervention.</a:t>
            </a:r>
          </a:p>
          <a:p>
            <a:pPr>
              <a:lnSpc>
                <a:spcPct val="90000"/>
              </a:lnSpc>
            </a:pPr>
            <a:r>
              <a:rPr lang="en-US" sz="1800" dirty="0"/>
              <a:t>Learning: Improves performance through experience (machine learning).</a:t>
            </a:r>
          </a:p>
          <a:p>
            <a:pPr>
              <a:lnSpc>
                <a:spcPct val="90000"/>
              </a:lnSpc>
            </a:pPr>
            <a:r>
              <a:rPr lang="en-US" sz="1800" dirty="0"/>
              <a:t>Reasoning: Analyzes situations and makes decisions using algorithms.</a:t>
            </a:r>
          </a:p>
          <a:p>
            <a:pPr>
              <a:lnSpc>
                <a:spcPct val="90000"/>
              </a:lnSpc>
            </a:pPr>
            <a:r>
              <a:rPr lang="en-US" sz="1800" dirty="0"/>
              <a:t>Perception: Interprets sensory input like images, sounds, etc.</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and Related Fields</a:t>
            </a:r>
          </a:p>
        </p:txBody>
      </p:sp>
      <p:sp>
        <p:nvSpPr>
          <p:cNvPr id="3" name="Content Placeholder 2"/>
          <p:cNvSpPr>
            <a:spLocks noGrp="1"/>
          </p:cNvSpPr>
          <p:nvPr>
            <p:ph idx="1"/>
          </p:nvPr>
        </p:nvSpPr>
        <p:spPr/>
        <p:txBody>
          <a:bodyPr/>
          <a:lstStyle/>
          <a:p>
            <a:r>
              <a:rPr dirty="0"/>
              <a:t>Machine Learning (ML): AI that learns from data</a:t>
            </a:r>
          </a:p>
          <a:p>
            <a:r>
              <a:rPr dirty="0"/>
              <a:t>Natural Language Processing (NLP): Understanding human language</a:t>
            </a:r>
          </a:p>
          <a:p>
            <a:r>
              <a:rPr dirty="0"/>
              <a:t>Computer Vision: Interpreting visual information</a:t>
            </a:r>
          </a:p>
          <a:p>
            <a:r>
              <a:rPr dirty="0"/>
              <a:t>Robotics: AI integrated with physical systems</a:t>
            </a:r>
          </a:p>
          <a:p>
            <a:r>
              <a:rPr dirty="0"/>
              <a:t>Data Science: Analyzing data using AI techniques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960B-AE01-3896-36E5-A4CE81B22A0F}"/>
              </a:ext>
            </a:extLst>
          </p:cNvPr>
          <p:cNvSpPr>
            <a:spLocks noGrp="1"/>
          </p:cNvSpPr>
          <p:nvPr>
            <p:ph type="title"/>
          </p:nvPr>
        </p:nvSpPr>
        <p:spPr/>
        <p:txBody>
          <a:bodyPr/>
          <a:lstStyle/>
          <a:p>
            <a:r>
              <a:rPr lang="en-US" dirty="0"/>
              <a:t>Types of Artificial Intelligence</a:t>
            </a:r>
          </a:p>
        </p:txBody>
      </p:sp>
      <p:sp>
        <p:nvSpPr>
          <p:cNvPr id="3" name="Content Placeholder 2">
            <a:extLst>
              <a:ext uri="{FF2B5EF4-FFF2-40B4-BE49-F238E27FC236}">
                <a16:creationId xmlns:a16="http://schemas.microsoft.com/office/drawing/2014/main" id="{DD826CA9-A735-CC97-1D47-735A8C170AFB}"/>
              </a:ext>
            </a:extLst>
          </p:cNvPr>
          <p:cNvSpPr>
            <a:spLocks noGrp="1"/>
          </p:cNvSpPr>
          <p:nvPr>
            <p:ph idx="1"/>
          </p:nvPr>
        </p:nvSpPr>
        <p:spPr/>
        <p:txBody>
          <a:bodyPr/>
          <a:lstStyle/>
          <a:p>
            <a:r>
              <a:rPr lang="en-US" dirty="0"/>
              <a:t>Narrow AI (Weak AI): Designed to perform a narrow task (e.g., facial recognition).</a:t>
            </a:r>
          </a:p>
          <a:p>
            <a:endParaRPr lang="en-US" dirty="0"/>
          </a:p>
          <a:p>
            <a:r>
              <a:rPr lang="en-US" dirty="0"/>
              <a:t>General AI (Strong AI): Possesses the ability to perform any intellectual task a human can do.</a:t>
            </a:r>
          </a:p>
          <a:p>
            <a:endParaRPr lang="en-US" dirty="0"/>
          </a:p>
          <a:p>
            <a:r>
              <a:rPr lang="en-US" dirty="0"/>
              <a:t>Superintelligence: Surpasses human intelligence, often a concept in speculative futures.</a:t>
            </a:r>
          </a:p>
          <a:p>
            <a:endParaRPr lang="en-US" dirty="0"/>
          </a:p>
          <a:p>
            <a:endParaRPr lang="en-US" dirty="0"/>
          </a:p>
        </p:txBody>
      </p:sp>
    </p:spTree>
    <p:extLst>
      <p:ext uri="{BB962C8B-B14F-4D97-AF65-F5344CB8AC3E}">
        <p14:creationId xmlns:p14="http://schemas.microsoft.com/office/powerpoint/2010/main" val="821716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Knowledge and Learning</a:t>
            </a:r>
          </a:p>
        </p:txBody>
      </p:sp>
      <p:sp>
        <p:nvSpPr>
          <p:cNvPr id="3" name="Content Placeholder 2"/>
          <p:cNvSpPr>
            <a:spLocks noGrp="1"/>
          </p:cNvSpPr>
          <p:nvPr>
            <p:ph idx="1"/>
          </p:nvPr>
        </p:nvSpPr>
        <p:spPr>
          <a:xfrm>
            <a:off x="609598" y="2160590"/>
            <a:ext cx="6705601" cy="4087810"/>
          </a:xfrm>
        </p:spPr>
        <p:txBody>
          <a:bodyPr/>
          <a:lstStyle/>
          <a:p>
            <a:pPr marL="0" indent="0">
              <a:buNone/>
            </a:pPr>
            <a:r>
              <a:rPr dirty="0"/>
              <a:t>Knowledge:</a:t>
            </a:r>
          </a:p>
          <a:p>
            <a:r>
              <a:rPr dirty="0"/>
              <a:t>Facts, information, and skills acquired through experience or education</a:t>
            </a:r>
          </a:p>
          <a:p>
            <a:r>
              <a:rPr dirty="0"/>
              <a:t>Types: Declarative (what), Procedural (how)</a:t>
            </a:r>
          </a:p>
          <a:p>
            <a:pPr marL="0" indent="0">
              <a:buNone/>
            </a:pPr>
            <a:r>
              <a:rPr dirty="0"/>
              <a:t>Learning:</a:t>
            </a:r>
          </a:p>
          <a:p>
            <a:r>
              <a:rPr dirty="0"/>
              <a:t>The process by which systems improve performance over time without being explicitly programmed</a:t>
            </a:r>
          </a:p>
          <a:p>
            <a:r>
              <a:rPr dirty="0"/>
              <a:t>Types: Supervised, Unsupervised, Reinforcement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Approaches of AI</a:t>
            </a:r>
          </a:p>
        </p:txBody>
      </p:sp>
      <p:sp>
        <p:nvSpPr>
          <p:cNvPr id="4" name="AutoShape 2" descr="DAY 7 - Four Main Approaches to Artificial Intelligence - IT Consultant -  SAP, Artificial Intelligence and Machine Learning">
            <a:extLst>
              <a:ext uri="{FF2B5EF4-FFF2-40B4-BE49-F238E27FC236}">
                <a16:creationId xmlns:a16="http://schemas.microsoft.com/office/drawing/2014/main" id="{7250F2B9-41D1-2866-420C-8626B3E58D7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Four Main Approaches to Artificial Intelligence">
            <a:extLst>
              <a:ext uri="{FF2B5EF4-FFF2-40B4-BE49-F238E27FC236}">
                <a16:creationId xmlns:a16="http://schemas.microsoft.com/office/drawing/2014/main" id="{08721033-3269-7A5B-604C-944029A74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218" y="1765543"/>
            <a:ext cx="5961094" cy="36317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Acting Humanly</a:t>
            </a:r>
            <a:r>
              <a:rPr lang="en-US" dirty="0"/>
              <a:t> (The Turing test Approach)</a:t>
            </a:r>
            <a:endParaRPr dirty="0"/>
          </a:p>
        </p:txBody>
      </p:sp>
      <p:sp>
        <p:nvSpPr>
          <p:cNvPr id="3" name="Content Placeholder 2"/>
          <p:cNvSpPr>
            <a:spLocks noGrp="1"/>
          </p:cNvSpPr>
          <p:nvPr>
            <p:ph idx="1"/>
          </p:nvPr>
        </p:nvSpPr>
        <p:spPr/>
        <p:txBody>
          <a:bodyPr>
            <a:normAutofit fontScale="85000" lnSpcReduction="20000"/>
          </a:bodyPr>
          <a:lstStyle/>
          <a:p>
            <a:r>
              <a:rPr lang="en-US" dirty="0"/>
              <a:t>A machine is considered intelligent if it can act like a human, especially in conversation and behavior.</a:t>
            </a:r>
          </a:p>
          <a:p>
            <a:r>
              <a:rPr lang="en-US" dirty="0"/>
              <a:t>Focus:</a:t>
            </a:r>
          </a:p>
          <a:p>
            <a:pPr lvl="1"/>
            <a:r>
              <a:rPr lang="en-US" dirty="0"/>
              <a:t>Natural language communication</a:t>
            </a:r>
          </a:p>
          <a:p>
            <a:pPr lvl="1"/>
            <a:r>
              <a:rPr lang="en-US" dirty="0"/>
              <a:t>Ability to reason like a human</a:t>
            </a:r>
          </a:p>
          <a:p>
            <a:pPr lvl="1"/>
            <a:r>
              <a:rPr lang="en-US" dirty="0"/>
              <a:t>Ability to learn</a:t>
            </a:r>
          </a:p>
          <a:p>
            <a:pPr lvl="1"/>
            <a:r>
              <a:rPr lang="en-US" dirty="0"/>
              <a:t>Ability to use knowledge</a:t>
            </a:r>
          </a:p>
          <a:p>
            <a:pPr lvl="1"/>
            <a:r>
              <a:rPr lang="en-US" dirty="0"/>
              <a:t>Ability to respond and behave like humans</a:t>
            </a:r>
          </a:p>
          <a:p>
            <a:r>
              <a:rPr lang="en-US" dirty="0"/>
              <a:t>Example:</a:t>
            </a:r>
          </a:p>
          <a:p>
            <a:pPr lvl="1"/>
            <a:r>
              <a:rPr lang="en-US" dirty="0"/>
              <a:t>Chatbots trying to pass the Turing Test</a:t>
            </a:r>
          </a:p>
          <a:p>
            <a:pPr lvl="1"/>
            <a:r>
              <a:rPr lang="en-US" dirty="0"/>
              <a:t>Virtual assistants trying to mimic human conversation</a:t>
            </a:r>
          </a:p>
          <a:p>
            <a:pPr marL="0" indent="0">
              <a:buNone/>
            </a:pPr>
            <a:r>
              <a:rPr lang="en-US" dirty="0"/>
              <a:t>If a machine behaves in a way that a human cannot distinguish from real human behavior, it is intelligent.</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Thinking Humanly</a:t>
            </a:r>
            <a:r>
              <a:rPr lang="en-US" dirty="0"/>
              <a:t> (The cognitive Modeling Approach)</a:t>
            </a:r>
            <a:endParaRPr dirty="0"/>
          </a:p>
        </p:txBody>
      </p:sp>
      <p:sp>
        <p:nvSpPr>
          <p:cNvPr id="3" name="Content Placeholder 2"/>
          <p:cNvSpPr>
            <a:spLocks noGrp="1"/>
          </p:cNvSpPr>
          <p:nvPr>
            <p:ph idx="1"/>
          </p:nvPr>
        </p:nvSpPr>
        <p:spPr/>
        <p:txBody>
          <a:bodyPr>
            <a:normAutofit fontScale="85000" lnSpcReduction="20000"/>
          </a:bodyPr>
          <a:lstStyle/>
          <a:p>
            <a:r>
              <a:rPr dirty="0"/>
              <a:t>Replicating the human thought process in machines (e.g., cognitive modeling).</a:t>
            </a:r>
            <a:endParaRPr lang="en-US" dirty="0"/>
          </a:p>
          <a:p>
            <a:r>
              <a:rPr lang="en-US" dirty="0"/>
              <a:t>This approach focuses on how humans think and tries to replicate that mental process inside a machine.</a:t>
            </a:r>
          </a:p>
          <a:p>
            <a:r>
              <a:rPr lang="en-US" dirty="0"/>
              <a:t>Focus:</a:t>
            </a:r>
          </a:p>
          <a:p>
            <a:pPr lvl="1"/>
            <a:r>
              <a:rPr lang="en-US" dirty="0"/>
              <a:t>Understanding human cognition</a:t>
            </a:r>
          </a:p>
          <a:p>
            <a:pPr lvl="1"/>
            <a:r>
              <a:rPr lang="en-US" dirty="0"/>
              <a:t>Modeling how the brain works</a:t>
            </a:r>
          </a:p>
          <a:p>
            <a:pPr lvl="1"/>
            <a:r>
              <a:rPr lang="en-US" dirty="0"/>
              <a:t>Using psychology and neuroscience</a:t>
            </a:r>
          </a:p>
          <a:p>
            <a:r>
              <a:rPr lang="en-US" dirty="0"/>
              <a:t>Example:</a:t>
            </a:r>
          </a:p>
          <a:p>
            <a:pPr lvl="1"/>
            <a:r>
              <a:rPr lang="en-US" dirty="0"/>
              <a:t>Cognitive architectures (ACT-R, SOAR)</a:t>
            </a:r>
          </a:p>
          <a:p>
            <a:pPr lvl="1"/>
            <a:r>
              <a:rPr lang="en-US" dirty="0"/>
              <a:t>Models that simulate human memory or problem-solving</a:t>
            </a:r>
          </a:p>
          <a:p>
            <a:pPr lvl="1"/>
            <a:r>
              <a:rPr lang="en-US" dirty="0"/>
              <a:t>Systems replicating human decision-making steps</a:t>
            </a:r>
          </a:p>
          <a:p>
            <a:pPr marL="0" indent="0">
              <a:buNone/>
            </a:pPr>
            <a:r>
              <a:rPr lang="en-US" dirty="0"/>
              <a:t>The machine should think the same way as humans do.</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Thinking Rationally</a:t>
            </a:r>
            <a:r>
              <a:rPr lang="en-US" dirty="0"/>
              <a:t> (The Laws of Thought Approach)</a:t>
            </a:r>
            <a:br>
              <a:rPr lang="en-US" dirty="0"/>
            </a:br>
            <a:endParaRPr dirty="0"/>
          </a:p>
        </p:txBody>
      </p:sp>
      <p:sp>
        <p:nvSpPr>
          <p:cNvPr id="3" name="Content Placeholder 2"/>
          <p:cNvSpPr>
            <a:spLocks noGrp="1"/>
          </p:cNvSpPr>
          <p:nvPr>
            <p:ph idx="1"/>
          </p:nvPr>
        </p:nvSpPr>
        <p:spPr/>
        <p:txBody>
          <a:bodyPr>
            <a:normAutofit lnSpcReduction="10000"/>
          </a:bodyPr>
          <a:lstStyle/>
          <a:p>
            <a:pPr marL="0" indent="0">
              <a:buNone/>
            </a:pPr>
            <a:r>
              <a:rPr lang="en-US" dirty="0"/>
              <a:t>This approach focuses on making machines that reason logically using correct rules of inference. </a:t>
            </a:r>
          </a:p>
          <a:p>
            <a:r>
              <a:rPr lang="en-US" dirty="0"/>
              <a:t>Focus:</a:t>
            </a:r>
          </a:p>
          <a:p>
            <a:pPr lvl="1"/>
            <a:r>
              <a:rPr lang="en-US" dirty="0"/>
              <a:t>Logic (propositional and first-order logic)</a:t>
            </a:r>
          </a:p>
          <a:p>
            <a:pPr lvl="1"/>
            <a:r>
              <a:rPr lang="en-US" dirty="0"/>
              <a:t>Correct, provable reasoning</a:t>
            </a:r>
          </a:p>
          <a:p>
            <a:pPr lvl="1"/>
            <a:r>
              <a:rPr lang="en-US" dirty="0"/>
              <a:t>Deductive problem solving</a:t>
            </a:r>
          </a:p>
          <a:p>
            <a:r>
              <a:rPr lang="en-US" dirty="0"/>
              <a:t>Example:</a:t>
            </a:r>
          </a:p>
          <a:p>
            <a:pPr lvl="1"/>
            <a:r>
              <a:rPr lang="en-US" dirty="0"/>
              <a:t>Logic-based expert systems</a:t>
            </a:r>
          </a:p>
          <a:p>
            <a:pPr lvl="1"/>
            <a:r>
              <a:rPr lang="en-US" dirty="0"/>
              <a:t>Theorem provers</a:t>
            </a:r>
          </a:p>
          <a:p>
            <a:pPr lvl="1"/>
            <a:r>
              <a:rPr lang="en-US" dirty="0"/>
              <a:t>Automated reasoning systems</a:t>
            </a:r>
          </a:p>
          <a:p>
            <a:pPr marL="0" indent="0">
              <a:buNone/>
            </a:pPr>
            <a:r>
              <a:rPr lang="en-US" dirty="0"/>
              <a:t>The machine must think using perfect logical reasoning.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Acting Rationally</a:t>
            </a:r>
            <a:r>
              <a:rPr lang="en-US" dirty="0"/>
              <a:t> (Most Modern AI)</a:t>
            </a:r>
            <a:endParaRPr dirty="0"/>
          </a:p>
        </p:txBody>
      </p:sp>
      <p:sp>
        <p:nvSpPr>
          <p:cNvPr id="3" name="Content Placeholder 2"/>
          <p:cNvSpPr>
            <a:spLocks noGrp="1"/>
          </p:cNvSpPr>
          <p:nvPr>
            <p:ph idx="1"/>
          </p:nvPr>
        </p:nvSpPr>
        <p:spPr>
          <a:xfrm>
            <a:off x="609599" y="2160590"/>
            <a:ext cx="6347714" cy="4087810"/>
          </a:xfrm>
        </p:spPr>
        <p:txBody>
          <a:bodyPr>
            <a:normAutofit fontScale="85000" lnSpcReduction="20000"/>
          </a:bodyPr>
          <a:lstStyle/>
          <a:p>
            <a:pPr marL="0" indent="0">
              <a:buNone/>
            </a:pPr>
            <a:r>
              <a:rPr lang="en-US" dirty="0"/>
              <a:t>A rational agent acts to achieve the best possible outcome or maximize performance, based on available information.</a:t>
            </a:r>
          </a:p>
          <a:p>
            <a:r>
              <a:rPr lang="en-US" dirty="0"/>
              <a:t>Focus:</a:t>
            </a:r>
          </a:p>
          <a:p>
            <a:pPr lvl="1"/>
            <a:r>
              <a:rPr lang="en-US" dirty="0"/>
              <a:t>Making optimal decisions</a:t>
            </a:r>
          </a:p>
          <a:p>
            <a:pPr lvl="1"/>
            <a:r>
              <a:rPr lang="en-US" dirty="0"/>
              <a:t>Goal-driven behavior</a:t>
            </a:r>
          </a:p>
          <a:p>
            <a:pPr lvl="1"/>
            <a:r>
              <a:rPr lang="en-US" dirty="0"/>
              <a:t>Adapting to the environment</a:t>
            </a:r>
          </a:p>
          <a:p>
            <a:pPr lvl="1"/>
            <a:r>
              <a:rPr lang="en-US" dirty="0"/>
              <a:t>Autonomous agents</a:t>
            </a:r>
          </a:p>
          <a:p>
            <a:r>
              <a:rPr lang="en-US" dirty="0"/>
              <a:t>Example:</a:t>
            </a:r>
          </a:p>
          <a:p>
            <a:pPr lvl="1"/>
            <a:r>
              <a:rPr lang="en-US" dirty="0"/>
              <a:t>Self-driving cars making optimal driving decisions</a:t>
            </a:r>
          </a:p>
          <a:p>
            <a:pPr lvl="1"/>
            <a:r>
              <a:rPr lang="en-US" dirty="0"/>
              <a:t>Intelligent robots</a:t>
            </a:r>
          </a:p>
          <a:p>
            <a:pPr lvl="1"/>
            <a:r>
              <a:rPr lang="en-US" dirty="0"/>
              <a:t>Reinforcement learning agents</a:t>
            </a:r>
          </a:p>
          <a:p>
            <a:pPr lvl="1"/>
            <a:r>
              <a:rPr lang="en-US" dirty="0"/>
              <a:t>Game-playing AI (Chess, Go)</a:t>
            </a:r>
          </a:p>
          <a:p>
            <a:pPr marL="0" indent="0">
              <a:buNone/>
            </a:pPr>
            <a:r>
              <a:rPr lang="en-US" dirty="0"/>
              <a:t>The machine should act rationally </a:t>
            </a:r>
            <a:r>
              <a:rPr lang="en-US" dirty="0" err="1"/>
              <a:t>ie</a:t>
            </a:r>
            <a:r>
              <a:rPr lang="en-US" dirty="0"/>
              <a:t>. choosing the best action to achieve its goals.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Foundations of AI</a:t>
            </a:r>
          </a:p>
        </p:txBody>
      </p:sp>
      <p:sp>
        <p:nvSpPr>
          <p:cNvPr id="3" name="Content Placeholder 2"/>
          <p:cNvSpPr>
            <a:spLocks noGrp="1"/>
          </p:cNvSpPr>
          <p:nvPr>
            <p:ph idx="1"/>
          </p:nvPr>
        </p:nvSpPr>
        <p:spPr>
          <a:xfrm>
            <a:off x="609598" y="2160590"/>
            <a:ext cx="6726383" cy="3880773"/>
          </a:xfrm>
        </p:spPr>
        <p:txBody>
          <a:bodyPr>
            <a:normAutofit/>
          </a:bodyPr>
          <a:lstStyle/>
          <a:p>
            <a:pPr marL="0" indent="0">
              <a:buNone/>
            </a:pPr>
            <a:r>
              <a:rPr lang="en-US" dirty="0"/>
              <a:t>AI is not just a technical field. t is deeply interdisciplinary.</a:t>
            </a:r>
          </a:p>
          <a:p>
            <a:pPr marL="0" indent="0">
              <a:buNone/>
            </a:pPr>
            <a:r>
              <a:rPr lang="en-US" dirty="0"/>
              <a:t>A strong foundation in these areas leads to a deeper understanding and better innovation in AI.</a:t>
            </a:r>
          </a:p>
          <a:p>
            <a:r>
              <a:rPr lang="en-US" dirty="0"/>
              <a:t>M</a:t>
            </a:r>
            <a:r>
              <a:rPr dirty="0"/>
              <a:t>athematics</a:t>
            </a:r>
            <a:endParaRPr lang="en-US" dirty="0"/>
          </a:p>
          <a:p>
            <a:r>
              <a:rPr lang="en-US" dirty="0"/>
              <a:t>C</a:t>
            </a:r>
            <a:r>
              <a:rPr dirty="0"/>
              <a:t>omputer science</a:t>
            </a:r>
            <a:endParaRPr lang="en-US" dirty="0"/>
          </a:p>
          <a:p>
            <a:r>
              <a:rPr lang="en-US" dirty="0"/>
              <a:t>P</a:t>
            </a:r>
            <a:r>
              <a:rPr dirty="0"/>
              <a:t>hilosophy</a:t>
            </a:r>
            <a:endParaRPr lang="en-US" dirty="0"/>
          </a:p>
          <a:p>
            <a:r>
              <a:rPr lang="en-US" dirty="0"/>
              <a:t>P</a:t>
            </a:r>
            <a:r>
              <a:rPr dirty="0"/>
              <a:t>sychology</a:t>
            </a:r>
            <a:endParaRPr lang="en-US" dirty="0"/>
          </a:p>
          <a:p>
            <a:r>
              <a:rPr lang="en-US" dirty="0"/>
              <a:t>Linguistics</a:t>
            </a:r>
          </a:p>
          <a:p>
            <a:r>
              <a:rPr lang="en-US" dirty="0"/>
              <a:t>Neuroscience</a:t>
            </a:r>
          </a:p>
          <a:p>
            <a:r>
              <a:rPr lang="en-US" dirty="0"/>
              <a:t>Interdisciplinary Synergy</a:t>
            </a:r>
          </a:p>
          <a:p>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Brief History of Artificial Intelligence</a:t>
            </a:r>
          </a:p>
        </p:txBody>
      </p:sp>
      <p:sp>
        <p:nvSpPr>
          <p:cNvPr id="3" name="Content Placeholder 2"/>
          <p:cNvSpPr>
            <a:spLocks noGrp="1"/>
          </p:cNvSpPr>
          <p:nvPr>
            <p:ph idx="1"/>
          </p:nvPr>
        </p:nvSpPr>
        <p:spPr>
          <a:xfrm>
            <a:off x="609599" y="2160590"/>
            <a:ext cx="6535480" cy="4087810"/>
          </a:xfrm>
        </p:spPr>
        <p:txBody>
          <a:bodyPr>
            <a:normAutofit fontScale="92500" lnSpcReduction="10000"/>
          </a:bodyPr>
          <a:lstStyle/>
          <a:p>
            <a:r>
              <a:rPr lang="en-US" dirty="0"/>
              <a:t>1950s: Turing Test proposed by Alan Turing</a:t>
            </a:r>
          </a:p>
          <a:p>
            <a:r>
              <a:rPr lang="en-US" dirty="0"/>
              <a:t>1956: Term 'Artificial Intelligence' coined at Dartmouth Conference</a:t>
            </a:r>
          </a:p>
          <a:p>
            <a:pPr lvl="1"/>
            <a:r>
              <a:rPr lang="en-US" dirty="0"/>
              <a:t>The </a:t>
            </a:r>
            <a:r>
              <a:rPr lang="en-US" b="1" dirty="0"/>
              <a:t>Dartmouth Summer Research Project on Artificial Intelligence</a:t>
            </a:r>
            <a:r>
              <a:rPr lang="en-US" dirty="0"/>
              <a:t>, led by John McCarthy, </a:t>
            </a:r>
          </a:p>
          <a:p>
            <a:r>
              <a:rPr lang="en-US" dirty="0"/>
              <a:t>1970s–80s: Emergence of expert systems</a:t>
            </a:r>
          </a:p>
          <a:p>
            <a:pPr lvl="1"/>
            <a:r>
              <a:rPr lang="en-US" dirty="0"/>
              <a:t>Notable systems include </a:t>
            </a:r>
            <a:r>
              <a:rPr lang="en-US" b="1" dirty="0"/>
              <a:t>MYCIN </a:t>
            </a:r>
            <a:r>
              <a:rPr lang="en-US" dirty="0"/>
              <a:t>(medical diagnosis) and </a:t>
            </a:r>
            <a:r>
              <a:rPr lang="en-US" b="1" dirty="0"/>
              <a:t>DENDRAL </a:t>
            </a:r>
            <a:r>
              <a:rPr lang="en-US" dirty="0"/>
              <a:t>(chemical analysis).</a:t>
            </a:r>
          </a:p>
          <a:p>
            <a:r>
              <a:rPr lang="en-US" dirty="0"/>
              <a:t>1997: IBM’s Deep Blue defeated chess champion Garry Kasparov</a:t>
            </a:r>
          </a:p>
          <a:p>
            <a:r>
              <a:rPr lang="en-US" dirty="0"/>
              <a:t>2010s–Present: Rise of deep learning and AI in daily life</a:t>
            </a:r>
          </a:p>
          <a:p>
            <a:pPr lvl="1"/>
            <a:r>
              <a:rPr lang="en-US" dirty="0"/>
              <a:t>Image and speech recognition (e.g., Google Translate, Siri, Alexa), autonomous vehicles, recommendation systems (e.g., Netflix, YouTube), ChatGPT, and more.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BA39-2A31-8E14-CF0D-FA040F71DFD4}"/>
              </a:ext>
            </a:extLst>
          </p:cNvPr>
          <p:cNvSpPr>
            <a:spLocks noGrp="1"/>
          </p:cNvSpPr>
          <p:nvPr>
            <p:ph type="title"/>
          </p:nvPr>
        </p:nvSpPr>
        <p:spPr/>
        <p:txBody>
          <a:bodyPr/>
          <a:lstStyle/>
          <a:p>
            <a:r>
              <a:rPr lang="en-US" dirty="0"/>
              <a:t>Importance and Applications of AI</a:t>
            </a:r>
          </a:p>
        </p:txBody>
      </p:sp>
      <p:sp>
        <p:nvSpPr>
          <p:cNvPr id="3" name="Content Placeholder 2">
            <a:extLst>
              <a:ext uri="{FF2B5EF4-FFF2-40B4-BE49-F238E27FC236}">
                <a16:creationId xmlns:a16="http://schemas.microsoft.com/office/drawing/2014/main" id="{672B2EA8-8D16-EC4C-8548-7F9AFDFF88DC}"/>
              </a:ext>
            </a:extLst>
          </p:cNvPr>
          <p:cNvSpPr>
            <a:spLocks noGrp="1"/>
          </p:cNvSpPr>
          <p:nvPr>
            <p:ph idx="1"/>
          </p:nvPr>
        </p:nvSpPr>
        <p:spPr>
          <a:xfrm>
            <a:off x="609599" y="2160589"/>
            <a:ext cx="7265438" cy="4314855"/>
          </a:xfrm>
        </p:spPr>
        <p:txBody>
          <a:bodyPr>
            <a:normAutofit/>
          </a:bodyPr>
          <a:lstStyle/>
          <a:p>
            <a:r>
              <a:rPr lang="en-US" dirty="0"/>
              <a:t>Automates repetitive tasks</a:t>
            </a:r>
          </a:p>
          <a:p>
            <a:r>
              <a:rPr lang="en-US" dirty="0"/>
              <a:t>Enhances decision-making</a:t>
            </a:r>
          </a:p>
          <a:p>
            <a:r>
              <a:rPr lang="en-US" dirty="0"/>
              <a:t>Drives innovation across industries</a:t>
            </a:r>
          </a:p>
          <a:p>
            <a:pPr marL="0" indent="0">
              <a:buNone/>
            </a:pPr>
            <a:r>
              <a:rPr lang="en-US" b="1" dirty="0"/>
              <a:t>Applications:</a:t>
            </a:r>
          </a:p>
          <a:p>
            <a:r>
              <a:rPr lang="en-US" dirty="0"/>
              <a:t>Healthcare: Diagnosis, treatment recommendations</a:t>
            </a:r>
          </a:p>
          <a:p>
            <a:r>
              <a:rPr lang="en-US" dirty="0"/>
              <a:t>Finance: Fraud detection, algorithmic trading and Customer Service chatbots</a:t>
            </a:r>
          </a:p>
          <a:p>
            <a:r>
              <a:rPr lang="en-US" dirty="0"/>
              <a:t>Transportation: Self-driving cars</a:t>
            </a:r>
          </a:p>
          <a:p>
            <a:r>
              <a:rPr lang="en-US" dirty="0"/>
              <a:t>Entertainment: Recommendation systems</a:t>
            </a:r>
          </a:p>
          <a:p>
            <a:r>
              <a:rPr lang="en-US" dirty="0"/>
              <a:t>Robotics: AI enables robots to perform complex tasks in industries like manufacturing.</a:t>
            </a:r>
          </a:p>
        </p:txBody>
      </p:sp>
    </p:spTree>
    <p:extLst>
      <p:ext uri="{BB962C8B-B14F-4D97-AF65-F5344CB8AC3E}">
        <p14:creationId xmlns:p14="http://schemas.microsoft.com/office/powerpoint/2010/main" val="3239278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DC6B-D2DF-5075-1ADF-87FD7B1EBBEF}"/>
              </a:ext>
            </a:extLst>
          </p:cNvPr>
          <p:cNvSpPr>
            <a:spLocks noGrp="1"/>
          </p:cNvSpPr>
          <p:nvPr>
            <p:ph type="title"/>
          </p:nvPr>
        </p:nvSpPr>
        <p:spPr/>
        <p:txBody>
          <a:bodyPr/>
          <a:lstStyle/>
          <a:p>
            <a:r>
              <a:rPr lang="en-US" dirty="0"/>
              <a:t>Risks and Benefits of AI</a:t>
            </a:r>
          </a:p>
        </p:txBody>
      </p:sp>
      <p:sp>
        <p:nvSpPr>
          <p:cNvPr id="3" name="Content Placeholder 2">
            <a:extLst>
              <a:ext uri="{FF2B5EF4-FFF2-40B4-BE49-F238E27FC236}">
                <a16:creationId xmlns:a16="http://schemas.microsoft.com/office/drawing/2014/main" id="{2C1137E1-3915-40DE-E015-131795305295}"/>
              </a:ext>
            </a:extLst>
          </p:cNvPr>
          <p:cNvSpPr>
            <a:spLocks noGrp="1"/>
          </p:cNvSpPr>
          <p:nvPr>
            <p:ph idx="1"/>
          </p:nvPr>
        </p:nvSpPr>
        <p:spPr>
          <a:xfrm>
            <a:off x="609599" y="1930400"/>
            <a:ext cx="6817568" cy="4110963"/>
          </a:xfrm>
        </p:spPr>
        <p:txBody>
          <a:bodyPr>
            <a:normAutofit fontScale="92500" lnSpcReduction="20000"/>
          </a:bodyPr>
          <a:lstStyle/>
          <a:p>
            <a:pPr marL="0" indent="0">
              <a:buNone/>
            </a:pPr>
            <a:r>
              <a:rPr lang="en-US" b="1" dirty="0"/>
              <a:t>Benefits</a:t>
            </a:r>
          </a:p>
          <a:p>
            <a:r>
              <a:rPr lang="en-US" dirty="0"/>
              <a:t>Automation of repetitive tasks, improving efficiency</a:t>
            </a:r>
          </a:p>
          <a:p>
            <a:r>
              <a:rPr lang="en-US" dirty="0"/>
              <a:t>Enhanced decision-making through data-driven insights</a:t>
            </a:r>
          </a:p>
          <a:p>
            <a:r>
              <a:rPr lang="en-US" dirty="0"/>
              <a:t>Reduces human error in tasks such as diagnostics and predictions</a:t>
            </a:r>
          </a:p>
          <a:p>
            <a:r>
              <a:rPr lang="en-US" dirty="0"/>
              <a:t>AI can work 24/7 without breaks or downtime</a:t>
            </a:r>
          </a:p>
          <a:p>
            <a:pPr marL="0" indent="0">
              <a:buNone/>
            </a:pPr>
            <a:r>
              <a:rPr lang="en-US" b="1" dirty="0"/>
              <a:t>Risks:</a:t>
            </a:r>
          </a:p>
          <a:p>
            <a:r>
              <a:rPr lang="en-US" dirty="0"/>
              <a:t>Job displacement due to automation.</a:t>
            </a:r>
          </a:p>
          <a:p>
            <a:r>
              <a:rPr lang="en-US" dirty="0"/>
              <a:t>High costs of implementation and maintenance.</a:t>
            </a:r>
          </a:p>
          <a:p>
            <a:r>
              <a:rPr lang="en-US" dirty="0"/>
              <a:t>Ethical concerns, such as AI bias and lack of transparency.</a:t>
            </a:r>
          </a:p>
          <a:p>
            <a:r>
              <a:rPr lang="en-US" dirty="0"/>
              <a:t>Bias in AI algorithms leading to unfair decisions</a:t>
            </a:r>
          </a:p>
          <a:p>
            <a:r>
              <a:rPr lang="en-US" dirty="0"/>
              <a:t>Dependency on machines, leading to reduced human skill development.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80450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Ethics and Societal Implications</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Ethical Consideration</a:t>
            </a:r>
          </a:p>
          <a:p>
            <a:r>
              <a:rPr lang="en-US" dirty="0"/>
              <a:t>Bias and Fairness:</a:t>
            </a:r>
          </a:p>
          <a:p>
            <a:r>
              <a:rPr lang="en-US" dirty="0"/>
              <a:t>Transparency: </a:t>
            </a:r>
          </a:p>
          <a:p>
            <a:r>
              <a:rPr lang="en-US" dirty="0"/>
              <a:t>Privacy: </a:t>
            </a:r>
          </a:p>
          <a:p>
            <a:r>
              <a:rPr lang="en-US" dirty="0"/>
              <a:t>Autonomy and Control:</a:t>
            </a:r>
          </a:p>
          <a:p>
            <a:pPr marL="0" indent="0">
              <a:buNone/>
            </a:pPr>
            <a:r>
              <a:rPr lang="en-US" dirty="0"/>
              <a:t>I</a:t>
            </a:r>
            <a:r>
              <a:rPr lang="en-US" b="1" dirty="0"/>
              <a:t>mpact on Society</a:t>
            </a:r>
          </a:p>
          <a:p>
            <a:r>
              <a:rPr lang="en-US" dirty="0"/>
              <a:t>Job Market Disruption: </a:t>
            </a:r>
          </a:p>
          <a:p>
            <a:r>
              <a:rPr lang="en-US" dirty="0"/>
              <a:t>Economic Inequality: </a:t>
            </a:r>
          </a:p>
          <a:p>
            <a:r>
              <a:rPr lang="en-US" dirty="0"/>
              <a:t>Security Risks: </a:t>
            </a:r>
          </a:p>
          <a:p>
            <a:r>
              <a:rPr lang="en-US" dirty="0"/>
              <a:t>Healthcare Advancements:</a:t>
            </a:r>
          </a:p>
          <a:p>
            <a:pPr marL="0" indent="0" algn="ctr">
              <a:buNone/>
            </a:pPr>
            <a:r>
              <a:rPr lang="en-US" b="1" dirty="0"/>
              <a:t>Balancing Innovation and Responsibility:</a:t>
            </a:r>
          </a:p>
          <a:p>
            <a:pPr marL="0" indent="0" algn="ctr">
              <a:buNone/>
            </a:pPr>
            <a:endParaRPr lang="en-US"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66B83-080D-75AE-E07E-B0375BFD6475}"/>
              </a:ext>
            </a:extLst>
          </p:cNvPr>
          <p:cNvSpPr>
            <a:spLocks noGrp="1"/>
          </p:cNvSpPr>
          <p:nvPr>
            <p:ph type="title"/>
          </p:nvPr>
        </p:nvSpPr>
        <p:spPr/>
        <p:txBody>
          <a:bodyPr/>
          <a:lstStyle/>
          <a:p>
            <a:r>
              <a:rPr lang="en-US" dirty="0"/>
              <a:t>What is Ethics ?</a:t>
            </a:r>
          </a:p>
        </p:txBody>
      </p:sp>
      <p:sp>
        <p:nvSpPr>
          <p:cNvPr id="3" name="Content Placeholder 2">
            <a:extLst>
              <a:ext uri="{FF2B5EF4-FFF2-40B4-BE49-F238E27FC236}">
                <a16:creationId xmlns:a16="http://schemas.microsoft.com/office/drawing/2014/main" id="{DA22A140-DE42-336F-7C8A-1445E19AF0AF}"/>
              </a:ext>
            </a:extLst>
          </p:cNvPr>
          <p:cNvSpPr>
            <a:spLocks noGrp="1"/>
          </p:cNvSpPr>
          <p:nvPr>
            <p:ph idx="1"/>
          </p:nvPr>
        </p:nvSpPr>
        <p:spPr>
          <a:xfrm>
            <a:off x="609599" y="2160590"/>
            <a:ext cx="6347714" cy="3836173"/>
          </a:xfrm>
        </p:spPr>
        <p:txBody>
          <a:bodyPr>
            <a:normAutofit/>
          </a:bodyPr>
          <a:lstStyle/>
          <a:p>
            <a:pPr marL="0" indent="0">
              <a:buNone/>
            </a:pPr>
            <a:r>
              <a:rPr lang="en-US" dirty="0">
                <a:effectLst/>
                <a:latin typeface="Aptos" panose="020B0004020202020204" pitchFamily="34" charset="0"/>
                <a:ea typeface="Aptos" panose="020B0004020202020204" pitchFamily="34" charset="0"/>
                <a:cs typeface="Mangal" panose="02040503050203030202" pitchFamily="18" charset="0"/>
              </a:rPr>
              <a:t>Framework for deciding what is moral and what is not.</a:t>
            </a:r>
          </a:p>
          <a:p>
            <a:pPr marL="0" indent="0" algn="ctr">
              <a:buNone/>
            </a:pPr>
            <a:r>
              <a:rPr lang="en-US" b="1" dirty="0">
                <a:effectLst/>
                <a:latin typeface="Aptos" panose="020B0004020202020204" pitchFamily="34" charset="0"/>
                <a:ea typeface="Aptos" panose="020B0004020202020204" pitchFamily="34" charset="0"/>
                <a:cs typeface="Mangal" panose="02040503050203030202" pitchFamily="18" charset="0"/>
              </a:rPr>
              <a:t>In the realm of technology</a:t>
            </a:r>
            <a:endParaRPr lang="en-US" b="1" dirty="0">
              <a:latin typeface="Aptos" panose="020B0004020202020204" pitchFamily="34" charset="0"/>
              <a:ea typeface="Aptos" panose="020B0004020202020204" pitchFamily="34" charset="0"/>
              <a:cs typeface="Mangal" panose="02040503050203030202" pitchFamily="18" charset="0"/>
            </a:endParaRPr>
          </a:p>
          <a:p>
            <a:r>
              <a:rPr lang="en-US" dirty="0">
                <a:effectLst/>
                <a:latin typeface="Aptos" panose="020B0004020202020204" pitchFamily="34" charset="0"/>
                <a:ea typeface="Aptos" panose="020B0004020202020204" pitchFamily="34" charset="0"/>
                <a:cs typeface="Mangal" panose="02040503050203030202" pitchFamily="18" charset="0"/>
              </a:rPr>
              <a:t>AI ethics is the application of moral frameworks to the development and use of artificial intelligence.</a:t>
            </a:r>
          </a:p>
          <a:p>
            <a:r>
              <a:rPr lang="en-US" dirty="0">
                <a:latin typeface="Aptos" panose="020B0004020202020204" pitchFamily="34" charset="0"/>
                <a:ea typeface="Aptos" panose="020B0004020202020204" pitchFamily="34" charset="0"/>
                <a:cs typeface="Mangal" panose="02040503050203030202" pitchFamily="18" charset="0"/>
              </a:rPr>
              <a:t>E</a:t>
            </a:r>
            <a:r>
              <a:rPr lang="en-US" dirty="0">
                <a:effectLst/>
                <a:latin typeface="Aptos" panose="020B0004020202020204" pitchFamily="34" charset="0"/>
                <a:ea typeface="Aptos" panose="020B0004020202020204" pitchFamily="34" charset="0"/>
                <a:cs typeface="Mangal" panose="02040503050203030202" pitchFamily="18" charset="0"/>
              </a:rPr>
              <a:t>stablish set of guiding principles </a:t>
            </a:r>
          </a:p>
          <a:p>
            <a:r>
              <a:rPr lang="en-US" dirty="0">
                <a:latin typeface="Aptos" panose="020B0004020202020204" pitchFamily="34" charset="0"/>
                <a:ea typeface="Aptos" panose="020B0004020202020204" pitchFamily="34" charset="0"/>
                <a:cs typeface="Mangal" panose="02040503050203030202" pitchFamily="18" charset="0"/>
              </a:rPr>
              <a:t>To remove biases from the training data</a:t>
            </a:r>
            <a:endParaRPr lang="en-US" dirty="0">
              <a:effectLst/>
              <a:latin typeface="Aptos" panose="020B0004020202020204" pitchFamily="34" charset="0"/>
              <a:ea typeface="Aptos" panose="020B0004020202020204" pitchFamily="34" charset="0"/>
              <a:cs typeface="Mangal" panose="02040503050203030202" pitchFamily="18" charset="0"/>
            </a:endParaRPr>
          </a:p>
        </p:txBody>
      </p:sp>
    </p:spTree>
    <p:extLst>
      <p:ext uri="{BB962C8B-B14F-4D97-AF65-F5344CB8AC3E}">
        <p14:creationId xmlns:p14="http://schemas.microsoft.com/office/powerpoint/2010/main" val="1371425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Ethical Implications of AI</a:t>
            </a:r>
          </a:p>
        </p:txBody>
      </p:sp>
      <p:graphicFrame>
        <p:nvGraphicFramePr>
          <p:cNvPr id="6" name="Content Placeholder 5">
            <a:extLst>
              <a:ext uri="{FF2B5EF4-FFF2-40B4-BE49-F238E27FC236}">
                <a16:creationId xmlns:a16="http://schemas.microsoft.com/office/drawing/2014/main" id="{222E4CE2-7FB1-0100-C2A5-03C529B588F9}"/>
              </a:ext>
            </a:extLst>
          </p:cNvPr>
          <p:cNvGraphicFramePr>
            <a:graphicFrameLocks noGrp="1"/>
          </p:cNvGraphicFramePr>
          <p:nvPr>
            <p:ph idx="1"/>
            <p:extLst>
              <p:ext uri="{D42A27DB-BD31-4B8C-83A1-F6EECF244321}">
                <p14:modId xmlns:p14="http://schemas.microsoft.com/office/powerpoint/2010/main" val="985222893"/>
              </p:ext>
            </p:extLst>
          </p:nvPr>
        </p:nvGraphicFramePr>
        <p:xfrm>
          <a:off x="361507" y="1637414"/>
          <a:ext cx="7123813" cy="49335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910874" cy="1320800"/>
          </a:xfrm>
        </p:spPr>
        <p:txBody>
          <a:bodyPr>
            <a:normAutofit fontScale="90000"/>
          </a:bodyPr>
          <a:lstStyle/>
          <a:p>
            <a:r>
              <a:rPr dirty="0"/>
              <a:t>AI and Society: Work and Automation, Employment, Privacy and Security</a:t>
            </a:r>
          </a:p>
        </p:txBody>
      </p:sp>
      <p:sp>
        <p:nvSpPr>
          <p:cNvPr id="3" name="Content Placeholder 2"/>
          <p:cNvSpPr>
            <a:spLocks noGrp="1"/>
          </p:cNvSpPr>
          <p:nvPr>
            <p:ph idx="1"/>
          </p:nvPr>
        </p:nvSpPr>
        <p:spPr>
          <a:xfrm>
            <a:off x="609599" y="2367627"/>
            <a:ext cx="6347714" cy="3880773"/>
          </a:xfrm>
        </p:spPr>
        <p:txBody>
          <a:bodyPr/>
          <a:lstStyle/>
          <a:p>
            <a:pPr marL="0" indent="0">
              <a:buNone/>
            </a:pPr>
            <a:r>
              <a:rPr lang="en-US" b="1" dirty="0"/>
              <a:t>Short term Risk </a:t>
            </a:r>
          </a:p>
          <a:p>
            <a:r>
              <a:rPr lang="en-US" dirty="0"/>
              <a:t>Bias</a:t>
            </a:r>
          </a:p>
          <a:p>
            <a:r>
              <a:rPr lang="en-US" dirty="0"/>
              <a:t>Security and data privacy (breach)</a:t>
            </a:r>
          </a:p>
          <a:p>
            <a:r>
              <a:rPr lang="en-US" dirty="0"/>
              <a:t>Misinformation (real or fake )</a:t>
            </a:r>
          </a:p>
          <a:p>
            <a:pPr marL="0" indent="0">
              <a:buNone/>
            </a:pPr>
            <a:r>
              <a:rPr lang="en-US" b="1" dirty="0"/>
              <a:t>Long Term Risks</a:t>
            </a:r>
          </a:p>
          <a:p>
            <a:r>
              <a:rPr lang="en-US" dirty="0"/>
              <a:t>Job Displacement &gt; Automation</a:t>
            </a:r>
          </a:p>
          <a:p>
            <a:r>
              <a:rPr lang="en-US" dirty="0"/>
              <a:t>Privacy Erosion</a:t>
            </a:r>
          </a:p>
          <a:p>
            <a:r>
              <a:rPr lang="en-US" dirty="0"/>
              <a:t>AI misalignment and existential risk</a:t>
            </a:r>
          </a:p>
          <a:p>
            <a:endParaRPr lang="en-US" dirty="0"/>
          </a:p>
          <a:p>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Governance and Regulation</a:t>
            </a:r>
          </a:p>
        </p:txBody>
      </p:sp>
      <p:sp>
        <p:nvSpPr>
          <p:cNvPr id="3" name="Content Placeholder 2"/>
          <p:cNvSpPr>
            <a:spLocks noGrp="1"/>
          </p:cNvSpPr>
          <p:nvPr>
            <p:ph idx="1"/>
          </p:nvPr>
        </p:nvSpPr>
        <p:spPr/>
        <p:txBody>
          <a:bodyPr/>
          <a:lstStyle/>
          <a:p>
            <a:r>
              <a:rPr lang="en-US" dirty="0"/>
              <a:t>Global Efforts:</a:t>
            </a:r>
          </a:p>
          <a:p>
            <a:pPr lvl="1"/>
            <a:r>
              <a:rPr lang="en-US" dirty="0"/>
              <a:t>International Agreements</a:t>
            </a:r>
          </a:p>
          <a:p>
            <a:pPr lvl="1"/>
            <a:r>
              <a:rPr lang="en-US" dirty="0"/>
              <a:t>Ethical Guidelines</a:t>
            </a:r>
          </a:p>
          <a:p>
            <a:r>
              <a:rPr lang="en-US" dirty="0"/>
              <a:t>Local Efforts</a:t>
            </a:r>
          </a:p>
          <a:p>
            <a:pPr lvl="1"/>
            <a:r>
              <a:rPr lang="en-US" dirty="0"/>
              <a:t>National Policies</a:t>
            </a:r>
          </a:p>
          <a:p>
            <a:pPr lvl="1"/>
            <a:r>
              <a:rPr lang="en-US" dirty="0"/>
              <a:t>Public and private policies</a:t>
            </a:r>
          </a:p>
          <a:p>
            <a:r>
              <a:rPr lang="en-US" dirty="0"/>
              <a:t>Legal and Ethical consideration:</a:t>
            </a:r>
          </a:p>
          <a:p>
            <a:pPr lvl="1"/>
            <a:r>
              <a:rPr lang="en-US" dirty="0"/>
              <a:t>Privacy and Data Protection</a:t>
            </a:r>
          </a:p>
          <a:p>
            <a:pPr lvl="1"/>
            <a:r>
              <a:rPr lang="en-US" dirty="0"/>
              <a:t>Bias and Fairness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B1E27-C0B6-2E10-3D84-BCCF5D15FDF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423691A-C9DF-2C42-68B2-6DF20BE66884}"/>
              </a:ext>
            </a:extLst>
          </p:cNvPr>
          <p:cNvSpPr>
            <a:spLocks noGrp="1"/>
          </p:cNvSpPr>
          <p:nvPr>
            <p:ph idx="1"/>
          </p:nvPr>
        </p:nvSpPr>
        <p:spPr/>
        <p:txBody>
          <a:bodyPr/>
          <a:lstStyle/>
          <a:p>
            <a:r>
              <a:rPr lang="en-US" dirty="0"/>
              <a:t>Is a transformative technology with far-reaching implications.</a:t>
            </a:r>
          </a:p>
          <a:p>
            <a:r>
              <a:rPr lang="en-US" dirty="0"/>
              <a:t>While it offers numerous benefits such as automation and enhanced decision-making</a:t>
            </a:r>
          </a:p>
          <a:p>
            <a:r>
              <a:rPr lang="en-US" dirty="0"/>
              <a:t>also presents challenges that must be addressed, including ethical issues and job displacement.</a:t>
            </a:r>
          </a:p>
          <a:p>
            <a:r>
              <a:rPr lang="en-US" dirty="0"/>
              <a:t>The future of AI depends on responsible development and use.</a:t>
            </a:r>
          </a:p>
          <a:p>
            <a:endParaRPr lang="en-US" dirty="0"/>
          </a:p>
        </p:txBody>
      </p:sp>
    </p:spTree>
    <p:extLst>
      <p:ext uri="{BB962C8B-B14F-4D97-AF65-F5344CB8AC3E}">
        <p14:creationId xmlns:p14="http://schemas.microsoft.com/office/powerpoint/2010/main" val="237537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Q&amp;A</a:t>
            </a:r>
          </a:p>
        </p:txBody>
      </p:sp>
      <p:sp>
        <p:nvSpPr>
          <p:cNvPr id="3" name="Content Placeholder 2"/>
          <p:cNvSpPr>
            <a:spLocks noGrp="1"/>
          </p:cNvSpPr>
          <p:nvPr>
            <p:ph idx="1"/>
          </p:nvPr>
        </p:nvSpPr>
        <p:spPr/>
        <p:txBody>
          <a:bodyPr>
            <a:normAutofit lnSpcReduction="10000"/>
          </a:bodyPr>
          <a:lstStyle/>
          <a:p>
            <a:r>
              <a:rPr lang="en-US"/>
              <a:t>Explain different Approaches </a:t>
            </a:r>
            <a:r>
              <a:rPr lang="en-US" dirty="0"/>
              <a:t>of AI?</a:t>
            </a:r>
          </a:p>
          <a:p>
            <a:r>
              <a:rPr lang="en-US" dirty="0"/>
              <a:t>Differentiate between Data, info, knowledge, wisdom.</a:t>
            </a:r>
          </a:p>
          <a:p>
            <a:r>
              <a:rPr lang="en-US" dirty="0"/>
              <a:t>What do you understand by Turing test. Also explain total Turing test.</a:t>
            </a:r>
          </a:p>
          <a:p>
            <a:r>
              <a:rPr lang="en-US" dirty="0"/>
              <a:t>Importance and Applications of AI</a:t>
            </a:r>
          </a:p>
          <a:p>
            <a:r>
              <a:rPr lang="en-US" dirty="0"/>
              <a:t>What are various Risks and Benefits of AI</a:t>
            </a:r>
          </a:p>
          <a:p>
            <a:r>
              <a:rPr lang="en-US" dirty="0"/>
              <a:t>Explain some impact of AI in real life.</a:t>
            </a:r>
          </a:p>
          <a:p>
            <a:r>
              <a:rPr lang="en-US" dirty="0"/>
              <a:t>Difference between Intelligence and AI</a:t>
            </a:r>
          </a:p>
          <a:p>
            <a:r>
              <a:rPr lang="en-US" dirty="0"/>
              <a:t>Why are ethics and societal implications necessary?</a:t>
            </a:r>
          </a:p>
          <a:p>
            <a:r>
              <a:rPr lang="en-US" dirty="0"/>
              <a:t>What are types of Governance and regulations? Explain how AI is regulated in your country?</a:t>
            </a:r>
          </a:p>
        </p:txBody>
      </p:sp>
      <p:sp>
        <p:nvSpPr>
          <p:cNvPr id="4" name="Title 1">
            <a:extLst>
              <a:ext uri="{FF2B5EF4-FFF2-40B4-BE49-F238E27FC236}">
                <a16:creationId xmlns:a16="http://schemas.microsoft.com/office/drawing/2014/main" id="{47FC3100-C021-B582-49D9-C47DB78608F4}"/>
              </a:ext>
            </a:extLst>
          </p:cNvPr>
          <p:cNvSpPr txBox="1">
            <a:spLocks/>
          </p:cNvSpPr>
          <p:nvPr/>
        </p:nvSpPr>
        <p:spPr>
          <a:xfrm>
            <a:off x="5203371" y="5941353"/>
            <a:ext cx="224245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Toolify.ai</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1841</TotalTime>
  <Words>6927</Words>
  <Application>Microsoft Office PowerPoint</Application>
  <PresentationFormat>On-screen Show (4:3)</PresentationFormat>
  <Paragraphs>733</Paragraphs>
  <Slides>27</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__Inter_36bd41</vt:lpstr>
      <vt:lpstr>Aptos</vt:lpstr>
      <vt:lpstr>Arial</vt:lpstr>
      <vt:lpstr>Franklin Gothic Book</vt:lpstr>
      <vt:lpstr>Franklin Gothic Medium</vt:lpstr>
      <vt:lpstr>Google Sans</vt:lpstr>
      <vt:lpstr>Trebuchet MS</vt:lpstr>
      <vt:lpstr>Wingdings 3</vt:lpstr>
      <vt:lpstr>Facet</vt:lpstr>
      <vt:lpstr>Introduction to Artificial Intelligence</vt:lpstr>
      <vt:lpstr>Content</vt:lpstr>
      <vt:lpstr>Intelligence</vt:lpstr>
      <vt:lpstr>Components of Intelligence</vt:lpstr>
      <vt:lpstr>Types of Intelligence</vt:lpstr>
      <vt:lpstr>Natural Intelligence</vt:lpstr>
      <vt:lpstr>Natural Intelligence</vt:lpstr>
      <vt:lpstr>Artificial Intelligence</vt:lpstr>
      <vt:lpstr>AI and Related Fields</vt:lpstr>
      <vt:lpstr>Types of Artificial Intelligence</vt:lpstr>
      <vt:lpstr>Definition of Knowledge and Learning</vt:lpstr>
      <vt:lpstr>Approaches of AI</vt:lpstr>
      <vt:lpstr>Acting Humanly (The Turing test Approach)</vt:lpstr>
      <vt:lpstr>Thinking Humanly (The cognitive Modeling Approach)</vt:lpstr>
      <vt:lpstr>Thinking Rationally (The Laws of Thought Approach) </vt:lpstr>
      <vt:lpstr>Acting Rationally (Most Modern AI)</vt:lpstr>
      <vt:lpstr>Foundations of AI</vt:lpstr>
      <vt:lpstr>Brief History of Artificial Intelligence</vt:lpstr>
      <vt:lpstr>Importance and Applications of AI</vt:lpstr>
      <vt:lpstr>Risks and Benefits of AI</vt:lpstr>
      <vt:lpstr>Ethics and Societal Implications</vt:lpstr>
      <vt:lpstr>What is Ethics ?</vt:lpstr>
      <vt:lpstr>Ethical Implications of AI</vt:lpstr>
      <vt:lpstr>AI and Society: Work and Automation, Employment, Privacy and Security</vt:lpstr>
      <vt:lpstr>Governance and Regulation</vt:lpstr>
      <vt:lpstr>Conclusion</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Kapil Dev Pant</cp:lastModifiedBy>
  <cp:revision>174</cp:revision>
  <dcterms:created xsi:type="dcterms:W3CDTF">2013-01-27T09:14:16Z</dcterms:created>
  <dcterms:modified xsi:type="dcterms:W3CDTF">2025-11-15T02:48:16Z</dcterms:modified>
  <cp:category/>
</cp:coreProperties>
</file>