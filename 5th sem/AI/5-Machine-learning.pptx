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11.jpg" ContentType="image/pn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56"/>
  </p:notesMasterIdLst>
  <p:sldIdLst>
    <p:sldId id="256" r:id="rId2"/>
    <p:sldId id="317" r:id="rId3"/>
    <p:sldId id="260" r:id="rId4"/>
    <p:sldId id="259" r:id="rId5"/>
    <p:sldId id="258" r:id="rId6"/>
    <p:sldId id="261" r:id="rId7"/>
    <p:sldId id="318" r:id="rId8"/>
    <p:sldId id="262" r:id="rId9"/>
    <p:sldId id="264" r:id="rId10"/>
    <p:sldId id="268" r:id="rId11"/>
    <p:sldId id="265" r:id="rId12"/>
    <p:sldId id="269" r:id="rId13"/>
    <p:sldId id="277" r:id="rId14"/>
    <p:sldId id="301" r:id="rId15"/>
    <p:sldId id="302" r:id="rId16"/>
    <p:sldId id="292" r:id="rId17"/>
    <p:sldId id="293" r:id="rId18"/>
    <p:sldId id="294" r:id="rId19"/>
    <p:sldId id="298" r:id="rId20"/>
    <p:sldId id="299" r:id="rId21"/>
    <p:sldId id="300" r:id="rId22"/>
    <p:sldId id="296" r:id="rId23"/>
    <p:sldId id="267" r:id="rId24"/>
    <p:sldId id="270" r:id="rId25"/>
    <p:sldId id="271" r:id="rId26"/>
    <p:sldId id="278" r:id="rId27"/>
    <p:sldId id="279" r:id="rId28"/>
    <p:sldId id="303" r:id="rId29"/>
    <p:sldId id="304" r:id="rId30"/>
    <p:sldId id="305" r:id="rId31"/>
    <p:sldId id="306" r:id="rId32"/>
    <p:sldId id="272" r:id="rId33"/>
    <p:sldId id="273" r:id="rId34"/>
    <p:sldId id="274" r:id="rId35"/>
    <p:sldId id="310" r:id="rId36"/>
    <p:sldId id="312" r:id="rId37"/>
    <p:sldId id="311" r:id="rId38"/>
    <p:sldId id="315" r:id="rId39"/>
    <p:sldId id="313" r:id="rId40"/>
    <p:sldId id="280" r:id="rId41"/>
    <p:sldId id="281" r:id="rId42"/>
    <p:sldId id="282" r:id="rId43"/>
    <p:sldId id="288" r:id="rId44"/>
    <p:sldId id="320" r:id="rId45"/>
    <p:sldId id="289" r:id="rId46"/>
    <p:sldId id="283" r:id="rId47"/>
    <p:sldId id="284" r:id="rId48"/>
    <p:sldId id="286" r:id="rId49"/>
    <p:sldId id="285" r:id="rId50"/>
    <p:sldId id="287" r:id="rId51"/>
    <p:sldId id="319" r:id="rId52"/>
    <p:sldId id="314" r:id="rId53"/>
    <p:sldId id="290" r:id="rId54"/>
    <p:sldId id="291"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85" autoAdjust="0"/>
    <p:restoredTop sz="63867" autoAdjust="0"/>
  </p:normalViewPr>
  <p:slideViewPr>
    <p:cSldViewPr snapToGrid="0">
      <p:cViewPr varScale="1">
        <p:scale>
          <a:sx n="43" d="100"/>
          <a:sy n="43" d="100"/>
        </p:scale>
        <p:origin x="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B625AC-C737-43EF-95E8-711B4C4B1D39}"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2362EB5B-C8C0-403C-9649-94BC7F27E919}">
      <dgm:prSet/>
      <dgm:spPr/>
      <dgm:t>
        <a:bodyPr/>
        <a:lstStyle/>
        <a:p>
          <a:r>
            <a:rPr lang="en-US" dirty="0"/>
            <a:t>Types of Learning</a:t>
          </a:r>
        </a:p>
      </dgm:t>
    </dgm:pt>
    <dgm:pt modelId="{D412D0F3-7133-4702-BC17-0AA1E89A6900}" type="parTrans" cxnId="{B8630C18-59DD-4085-A7DC-6F6283157A64}">
      <dgm:prSet/>
      <dgm:spPr/>
      <dgm:t>
        <a:bodyPr/>
        <a:lstStyle/>
        <a:p>
          <a:endParaRPr lang="en-US"/>
        </a:p>
      </dgm:t>
    </dgm:pt>
    <dgm:pt modelId="{D195CFDB-31D7-430F-B62D-E4A2BBE3BD82}" type="sibTrans" cxnId="{B8630C18-59DD-4085-A7DC-6F6283157A64}">
      <dgm:prSet/>
      <dgm:spPr/>
      <dgm:t>
        <a:bodyPr/>
        <a:lstStyle/>
        <a:p>
          <a:endParaRPr lang="en-US"/>
        </a:p>
      </dgm:t>
    </dgm:pt>
    <dgm:pt modelId="{D2881738-A2F0-4EC4-8A06-4093CABF3F73}">
      <dgm:prSet custT="1"/>
      <dgm:spPr/>
      <dgm:t>
        <a:bodyPr/>
        <a:lstStyle/>
        <a:p>
          <a:r>
            <a:rPr lang="en-US" sz="2400" dirty="0"/>
            <a:t>Supervised Learning</a:t>
          </a:r>
        </a:p>
      </dgm:t>
    </dgm:pt>
    <dgm:pt modelId="{BB9968A6-0A60-4E33-9A36-CB2DFD8435BB}" type="parTrans" cxnId="{53F4DBFA-61AE-463B-AF80-CDD45D029FE6}">
      <dgm:prSet/>
      <dgm:spPr/>
      <dgm:t>
        <a:bodyPr/>
        <a:lstStyle/>
        <a:p>
          <a:endParaRPr lang="en-US"/>
        </a:p>
      </dgm:t>
    </dgm:pt>
    <dgm:pt modelId="{63C344D0-5C19-4CEC-97B4-F1681890D5D7}" type="sibTrans" cxnId="{53F4DBFA-61AE-463B-AF80-CDD45D029FE6}">
      <dgm:prSet/>
      <dgm:spPr/>
      <dgm:t>
        <a:bodyPr/>
        <a:lstStyle/>
        <a:p>
          <a:endParaRPr lang="en-US"/>
        </a:p>
      </dgm:t>
    </dgm:pt>
    <dgm:pt modelId="{18095962-3585-4390-8169-17802CC5EC25}">
      <dgm:prSet custT="1"/>
      <dgm:spPr/>
      <dgm:t>
        <a:bodyPr/>
        <a:lstStyle/>
        <a:p>
          <a:r>
            <a:rPr lang="en-US" sz="2400" dirty="0">
              <a:latin typeface="+mn-lt"/>
            </a:rPr>
            <a:t>Unsupervised Learning</a:t>
          </a:r>
        </a:p>
      </dgm:t>
    </dgm:pt>
    <dgm:pt modelId="{CA6AFE2F-A4C7-4DA7-8688-A4DCCF5EE653}" type="parTrans" cxnId="{2D633B5B-A601-437F-BE55-9532EC902BA2}">
      <dgm:prSet/>
      <dgm:spPr/>
      <dgm:t>
        <a:bodyPr/>
        <a:lstStyle/>
        <a:p>
          <a:endParaRPr lang="en-US"/>
        </a:p>
      </dgm:t>
    </dgm:pt>
    <dgm:pt modelId="{38116388-1863-4A0C-B681-DC779E7102E5}" type="sibTrans" cxnId="{2D633B5B-A601-437F-BE55-9532EC902BA2}">
      <dgm:prSet/>
      <dgm:spPr/>
      <dgm:t>
        <a:bodyPr/>
        <a:lstStyle/>
        <a:p>
          <a:endParaRPr lang="en-US"/>
        </a:p>
      </dgm:t>
    </dgm:pt>
    <dgm:pt modelId="{C0728A81-0844-498A-B1DC-FDB7020A3DD9}">
      <dgm:prSet custT="1"/>
      <dgm:spPr/>
      <dgm:t>
        <a:bodyPr/>
        <a:lstStyle/>
        <a:p>
          <a:r>
            <a:rPr lang="en-US" sz="2400" dirty="0"/>
            <a:t>Reinforced Learning</a:t>
          </a:r>
        </a:p>
      </dgm:t>
    </dgm:pt>
    <dgm:pt modelId="{51114BA3-8650-49A7-B41A-1B131D218CF9}" type="parTrans" cxnId="{B01F8DFD-D484-4BEC-AC31-8AF17163196E}">
      <dgm:prSet/>
      <dgm:spPr/>
      <dgm:t>
        <a:bodyPr/>
        <a:lstStyle/>
        <a:p>
          <a:endParaRPr lang="en-US"/>
        </a:p>
      </dgm:t>
    </dgm:pt>
    <dgm:pt modelId="{F1562514-843E-42FD-880D-3A9187DC2E5D}" type="sibTrans" cxnId="{B01F8DFD-D484-4BEC-AC31-8AF17163196E}">
      <dgm:prSet/>
      <dgm:spPr/>
      <dgm:t>
        <a:bodyPr/>
        <a:lstStyle/>
        <a:p>
          <a:endParaRPr lang="en-US"/>
        </a:p>
      </dgm:t>
    </dgm:pt>
    <dgm:pt modelId="{75EA4D45-FBCB-436F-9CD8-0968E7BF9433}" type="pres">
      <dgm:prSet presAssocID="{EFB625AC-C737-43EF-95E8-711B4C4B1D39}" presName="Name0" presStyleCnt="0">
        <dgm:presLayoutVars>
          <dgm:chMax val="1"/>
          <dgm:chPref val="1"/>
          <dgm:dir/>
          <dgm:animOne val="branch"/>
          <dgm:animLvl val="lvl"/>
        </dgm:presLayoutVars>
      </dgm:prSet>
      <dgm:spPr/>
    </dgm:pt>
    <dgm:pt modelId="{F5CEF53B-D551-499A-B392-77FF5ADAEBA3}" type="pres">
      <dgm:prSet presAssocID="{2362EB5B-C8C0-403C-9649-94BC7F27E919}" presName="singleCycle" presStyleCnt="0"/>
      <dgm:spPr/>
    </dgm:pt>
    <dgm:pt modelId="{DE3FA7ED-CA7A-4A34-9B23-6299464426EF}" type="pres">
      <dgm:prSet presAssocID="{2362EB5B-C8C0-403C-9649-94BC7F27E919}" presName="singleCenter" presStyleLbl="node1" presStyleIdx="0" presStyleCnt="4" custScaleX="192456" custLinFactNeighborX="2013" custLinFactNeighborY="-15012">
        <dgm:presLayoutVars>
          <dgm:chMax val="7"/>
          <dgm:chPref val="7"/>
        </dgm:presLayoutVars>
      </dgm:prSet>
      <dgm:spPr/>
    </dgm:pt>
    <dgm:pt modelId="{7633E150-8A56-4D10-BBE4-EB96D1AF659E}" type="pres">
      <dgm:prSet presAssocID="{BB9968A6-0A60-4E33-9A36-CB2DFD8435BB}" presName="Name56" presStyleLbl="parChTrans1D2" presStyleIdx="0" presStyleCnt="3"/>
      <dgm:spPr/>
    </dgm:pt>
    <dgm:pt modelId="{A5E3CD87-A770-4007-B663-7734738516DC}" type="pres">
      <dgm:prSet presAssocID="{D2881738-A2F0-4EC4-8A06-4093CABF3F73}" presName="text0" presStyleLbl="node1" presStyleIdx="1" presStyleCnt="4" custScaleX="463754" custRadScaleRad="113786" custRadScaleInc="3379">
        <dgm:presLayoutVars>
          <dgm:bulletEnabled val="1"/>
        </dgm:presLayoutVars>
      </dgm:prSet>
      <dgm:spPr/>
    </dgm:pt>
    <dgm:pt modelId="{443E898B-9D16-4677-AF0D-1A75489AD812}" type="pres">
      <dgm:prSet presAssocID="{CA6AFE2F-A4C7-4DA7-8688-A4DCCF5EE653}" presName="Name56" presStyleLbl="parChTrans1D2" presStyleIdx="1" presStyleCnt="3"/>
      <dgm:spPr/>
    </dgm:pt>
    <dgm:pt modelId="{ECB76EB0-1CAC-402E-B166-5EDD8AF35305}" type="pres">
      <dgm:prSet presAssocID="{18095962-3585-4390-8169-17802CC5EC25}" presName="text0" presStyleLbl="node1" presStyleIdx="2" presStyleCnt="4" custScaleX="424490" custRadScaleRad="139740" custRadScaleInc="-12305">
        <dgm:presLayoutVars>
          <dgm:bulletEnabled val="1"/>
        </dgm:presLayoutVars>
      </dgm:prSet>
      <dgm:spPr/>
    </dgm:pt>
    <dgm:pt modelId="{48FF8398-C68A-49C8-BC3E-FB242086FF99}" type="pres">
      <dgm:prSet presAssocID="{51114BA3-8650-49A7-B41A-1B131D218CF9}" presName="Name56" presStyleLbl="parChTrans1D2" presStyleIdx="2" presStyleCnt="3"/>
      <dgm:spPr/>
    </dgm:pt>
    <dgm:pt modelId="{5DA419D3-D47F-44CF-AD58-7D2A5A7305DE}" type="pres">
      <dgm:prSet presAssocID="{C0728A81-0844-498A-B1DC-FDB7020A3DD9}" presName="text0" presStyleLbl="node1" presStyleIdx="3" presStyleCnt="4" custScaleX="387568" custRadScaleRad="124934" custRadScaleInc="7538">
        <dgm:presLayoutVars>
          <dgm:bulletEnabled val="1"/>
        </dgm:presLayoutVars>
      </dgm:prSet>
      <dgm:spPr/>
    </dgm:pt>
  </dgm:ptLst>
  <dgm:cxnLst>
    <dgm:cxn modelId="{A101FC05-98CC-453A-81ED-6494F09307CC}" type="presOf" srcId="{C0728A81-0844-498A-B1DC-FDB7020A3DD9}" destId="{5DA419D3-D47F-44CF-AD58-7D2A5A7305DE}" srcOrd="0" destOrd="0" presId="urn:microsoft.com/office/officeart/2008/layout/RadialCluster"/>
    <dgm:cxn modelId="{B8630C18-59DD-4085-A7DC-6F6283157A64}" srcId="{EFB625AC-C737-43EF-95E8-711B4C4B1D39}" destId="{2362EB5B-C8C0-403C-9649-94BC7F27E919}" srcOrd="0" destOrd="0" parTransId="{D412D0F3-7133-4702-BC17-0AA1E89A6900}" sibTransId="{D195CFDB-31D7-430F-B62D-E4A2BBE3BD82}"/>
    <dgm:cxn modelId="{90A63437-0881-4F02-AE44-F71730A025B0}" type="presOf" srcId="{BB9968A6-0A60-4E33-9A36-CB2DFD8435BB}" destId="{7633E150-8A56-4D10-BBE4-EB96D1AF659E}" srcOrd="0" destOrd="0" presId="urn:microsoft.com/office/officeart/2008/layout/RadialCluster"/>
    <dgm:cxn modelId="{2D633B5B-A601-437F-BE55-9532EC902BA2}" srcId="{2362EB5B-C8C0-403C-9649-94BC7F27E919}" destId="{18095962-3585-4390-8169-17802CC5EC25}" srcOrd="1" destOrd="0" parTransId="{CA6AFE2F-A4C7-4DA7-8688-A4DCCF5EE653}" sibTransId="{38116388-1863-4A0C-B681-DC779E7102E5}"/>
    <dgm:cxn modelId="{5855266D-7052-4DC0-9A5E-72FC6131875C}" type="presOf" srcId="{CA6AFE2F-A4C7-4DA7-8688-A4DCCF5EE653}" destId="{443E898B-9D16-4677-AF0D-1A75489AD812}" srcOrd="0" destOrd="0" presId="urn:microsoft.com/office/officeart/2008/layout/RadialCluster"/>
    <dgm:cxn modelId="{BDCF0582-2093-4F38-9DE4-7D547DAF53CA}" type="presOf" srcId="{18095962-3585-4390-8169-17802CC5EC25}" destId="{ECB76EB0-1CAC-402E-B166-5EDD8AF35305}" srcOrd="0" destOrd="0" presId="urn:microsoft.com/office/officeart/2008/layout/RadialCluster"/>
    <dgm:cxn modelId="{4E17CAA4-95D9-4E08-83C3-A23679B80C77}" type="presOf" srcId="{EFB625AC-C737-43EF-95E8-711B4C4B1D39}" destId="{75EA4D45-FBCB-436F-9CD8-0968E7BF9433}" srcOrd="0" destOrd="0" presId="urn:microsoft.com/office/officeart/2008/layout/RadialCluster"/>
    <dgm:cxn modelId="{C8F923B6-D0C3-4BD6-BA07-31831C719917}" type="presOf" srcId="{D2881738-A2F0-4EC4-8A06-4093CABF3F73}" destId="{A5E3CD87-A770-4007-B663-7734738516DC}" srcOrd="0" destOrd="0" presId="urn:microsoft.com/office/officeart/2008/layout/RadialCluster"/>
    <dgm:cxn modelId="{5377B6BD-25E8-4BF5-86FD-02CAE985DEA7}" type="presOf" srcId="{51114BA3-8650-49A7-B41A-1B131D218CF9}" destId="{48FF8398-C68A-49C8-BC3E-FB242086FF99}" srcOrd="0" destOrd="0" presId="urn:microsoft.com/office/officeart/2008/layout/RadialCluster"/>
    <dgm:cxn modelId="{D10BF3CA-4AE7-4832-B8FC-C1390AE67FF7}" type="presOf" srcId="{2362EB5B-C8C0-403C-9649-94BC7F27E919}" destId="{DE3FA7ED-CA7A-4A34-9B23-6299464426EF}" srcOrd="0" destOrd="0" presId="urn:microsoft.com/office/officeart/2008/layout/RadialCluster"/>
    <dgm:cxn modelId="{53F4DBFA-61AE-463B-AF80-CDD45D029FE6}" srcId="{2362EB5B-C8C0-403C-9649-94BC7F27E919}" destId="{D2881738-A2F0-4EC4-8A06-4093CABF3F73}" srcOrd="0" destOrd="0" parTransId="{BB9968A6-0A60-4E33-9A36-CB2DFD8435BB}" sibTransId="{63C344D0-5C19-4CEC-97B4-F1681890D5D7}"/>
    <dgm:cxn modelId="{B01F8DFD-D484-4BEC-AC31-8AF17163196E}" srcId="{2362EB5B-C8C0-403C-9649-94BC7F27E919}" destId="{C0728A81-0844-498A-B1DC-FDB7020A3DD9}" srcOrd="2" destOrd="0" parTransId="{51114BA3-8650-49A7-B41A-1B131D218CF9}" sibTransId="{F1562514-843E-42FD-880D-3A9187DC2E5D}"/>
    <dgm:cxn modelId="{E4A90F51-DB37-4549-B509-400966640425}" type="presParOf" srcId="{75EA4D45-FBCB-436F-9CD8-0968E7BF9433}" destId="{F5CEF53B-D551-499A-B392-77FF5ADAEBA3}" srcOrd="0" destOrd="0" presId="urn:microsoft.com/office/officeart/2008/layout/RadialCluster"/>
    <dgm:cxn modelId="{3B65EF05-6807-4E8A-8B8C-F81734DFBBFC}" type="presParOf" srcId="{F5CEF53B-D551-499A-B392-77FF5ADAEBA3}" destId="{DE3FA7ED-CA7A-4A34-9B23-6299464426EF}" srcOrd="0" destOrd="0" presId="urn:microsoft.com/office/officeart/2008/layout/RadialCluster"/>
    <dgm:cxn modelId="{560E164E-9323-4369-8935-DB21AF88AFCA}" type="presParOf" srcId="{F5CEF53B-D551-499A-B392-77FF5ADAEBA3}" destId="{7633E150-8A56-4D10-BBE4-EB96D1AF659E}" srcOrd="1" destOrd="0" presId="urn:microsoft.com/office/officeart/2008/layout/RadialCluster"/>
    <dgm:cxn modelId="{A7383E82-B371-4D12-AAF6-5B791863C753}" type="presParOf" srcId="{F5CEF53B-D551-499A-B392-77FF5ADAEBA3}" destId="{A5E3CD87-A770-4007-B663-7734738516DC}" srcOrd="2" destOrd="0" presId="urn:microsoft.com/office/officeart/2008/layout/RadialCluster"/>
    <dgm:cxn modelId="{77140073-5647-4C07-ACE6-2043DE6A7C71}" type="presParOf" srcId="{F5CEF53B-D551-499A-B392-77FF5ADAEBA3}" destId="{443E898B-9D16-4677-AF0D-1A75489AD812}" srcOrd="3" destOrd="0" presId="urn:microsoft.com/office/officeart/2008/layout/RadialCluster"/>
    <dgm:cxn modelId="{7ABB1DB5-CF07-4267-9C0D-A865AC021F4E}" type="presParOf" srcId="{F5CEF53B-D551-499A-B392-77FF5ADAEBA3}" destId="{ECB76EB0-1CAC-402E-B166-5EDD8AF35305}" srcOrd="4" destOrd="0" presId="urn:microsoft.com/office/officeart/2008/layout/RadialCluster"/>
    <dgm:cxn modelId="{0CB585C3-4696-492E-98FC-4DE951D3AE8A}" type="presParOf" srcId="{F5CEF53B-D551-499A-B392-77FF5ADAEBA3}" destId="{48FF8398-C68A-49C8-BC3E-FB242086FF99}" srcOrd="5" destOrd="0" presId="urn:microsoft.com/office/officeart/2008/layout/RadialCluster"/>
    <dgm:cxn modelId="{750296C4-A28B-4204-9AFA-A98F74584609}" type="presParOf" srcId="{F5CEF53B-D551-499A-B392-77FF5ADAEBA3}" destId="{5DA419D3-D47F-44CF-AD58-7D2A5A7305DE}"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FA7ED-CA7A-4A34-9B23-6299464426EF}">
      <dsp:nvSpPr>
        <dsp:cNvPr id="0" name=""/>
        <dsp:cNvSpPr/>
      </dsp:nvSpPr>
      <dsp:spPr>
        <a:xfrm>
          <a:off x="3326290" y="1343637"/>
          <a:ext cx="2373537" cy="123328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360" tIns="86360" rIns="86360" bIns="86360" numCol="1" spcCol="1270" anchor="ctr" anchorCtr="0">
          <a:noAutofit/>
        </a:bodyPr>
        <a:lstStyle/>
        <a:p>
          <a:pPr marL="0" lvl="0" indent="0" algn="ctr" defTabSz="1511300">
            <a:lnSpc>
              <a:spcPct val="90000"/>
            </a:lnSpc>
            <a:spcBef>
              <a:spcPct val="0"/>
            </a:spcBef>
            <a:spcAft>
              <a:spcPct val="35000"/>
            </a:spcAft>
            <a:buNone/>
          </a:pPr>
          <a:r>
            <a:rPr lang="en-US" sz="3400" kern="1200" dirty="0"/>
            <a:t>Types of Learning</a:t>
          </a:r>
        </a:p>
      </dsp:txBody>
      <dsp:txXfrm>
        <a:off x="3386494" y="1403841"/>
        <a:ext cx="2253129" cy="1112880"/>
      </dsp:txXfrm>
    </dsp:sp>
    <dsp:sp modelId="{7633E150-8A56-4D10-BBE4-EB96D1AF659E}">
      <dsp:nvSpPr>
        <dsp:cNvPr id="0" name=""/>
        <dsp:cNvSpPr/>
      </dsp:nvSpPr>
      <dsp:spPr>
        <a:xfrm rot="16199977">
          <a:off x="4254386" y="1084970"/>
          <a:ext cx="517333" cy="0"/>
        </a:xfrm>
        <a:custGeom>
          <a:avLst/>
          <a:gdLst/>
          <a:ahLst/>
          <a:cxnLst/>
          <a:rect l="0" t="0" r="0" b="0"/>
          <a:pathLst>
            <a:path>
              <a:moveTo>
                <a:pt x="0" y="0"/>
              </a:moveTo>
              <a:lnTo>
                <a:pt x="517333"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E3CD87-A770-4007-B663-7734738516DC}">
      <dsp:nvSpPr>
        <dsp:cNvPr id="0" name=""/>
        <dsp:cNvSpPr/>
      </dsp:nvSpPr>
      <dsp:spPr>
        <a:xfrm>
          <a:off x="2597041" y="0"/>
          <a:ext cx="3832014" cy="82630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t>Supervised Learning</a:t>
          </a:r>
        </a:p>
      </dsp:txBody>
      <dsp:txXfrm>
        <a:off x="2637378" y="40337"/>
        <a:ext cx="3751340" cy="745629"/>
      </dsp:txXfrm>
    </dsp:sp>
    <dsp:sp modelId="{443E898B-9D16-4677-AF0D-1A75489AD812}">
      <dsp:nvSpPr>
        <dsp:cNvPr id="0" name=""/>
        <dsp:cNvSpPr/>
      </dsp:nvSpPr>
      <dsp:spPr>
        <a:xfrm rot="2029999">
          <a:off x="5348263" y="2855645"/>
          <a:ext cx="1001186" cy="0"/>
        </a:xfrm>
        <a:custGeom>
          <a:avLst/>
          <a:gdLst/>
          <a:ahLst/>
          <a:cxnLst/>
          <a:rect l="0" t="0" r="0" b="0"/>
          <a:pathLst>
            <a:path>
              <a:moveTo>
                <a:pt x="0" y="0"/>
              </a:moveTo>
              <a:lnTo>
                <a:pt x="1001186"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B76EB0-1CAC-402E-B166-5EDD8AF35305}">
      <dsp:nvSpPr>
        <dsp:cNvPr id="0" name=""/>
        <dsp:cNvSpPr/>
      </dsp:nvSpPr>
      <dsp:spPr>
        <a:xfrm>
          <a:off x="5127275" y="3134365"/>
          <a:ext cx="3507575" cy="82630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mn-lt"/>
            </a:rPr>
            <a:t>Unsupervised Learning</a:t>
          </a:r>
        </a:p>
      </dsp:txBody>
      <dsp:txXfrm>
        <a:off x="5167612" y="3174702"/>
        <a:ext cx="3426901" cy="745629"/>
      </dsp:txXfrm>
    </dsp:sp>
    <dsp:sp modelId="{48FF8398-C68A-49C8-BC3E-FB242086FF99}">
      <dsp:nvSpPr>
        <dsp:cNvPr id="0" name=""/>
        <dsp:cNvSpPr/>
      </dsp:nvSpPr>
      <dsp:spPr>
        <a:xfrm rot="8661352">
          <a:off x="2786149" y="2855653"/>
          <a:ext cx="956597" cy="0"/>
        </a:xfrm>
        <a:custGeom>
          <a:avLst/>
          <a:gdLst/>
          <a:ahLst/>
          <a:cxnLst/>
          <a:rect l="0" t="0" r="0" b="0"/>
          <a:pathLst>
            <a:path>
              <a:moveTo>
                <a:pt x="0" y="0"/>
              </a:moveTo>
              <a:lnTo>
                <a:pt x="956597"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A419D3-D47F-44CF-AD58-7D2A5A7305DE}">
      <dsp:nvSpPr>
        <dsp:cNvPr id="0" name=""/>
        <dsp:cNvSpPr/>
      </dsp:nvSpPr>
      <dsp:spPr>
        <a:xfrm>
          <a:off x="698368" y="3134382"/>
          <a:ext cx="3202487" cy="82630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t>Reinforced Learning</a:t>
          </a:r>
        </a:p>
      </dsp:txBody>
      <dsp:txXfrm>
        <a:off x="738705" y="3174719"/>
        <a:ext cx="3121813" cy="745629"/>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59EAF3-D6BF-4509-BDB9-71AF79AE023F}"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63C0F-E2D8-497F-879E-155DA398F7D4}" type="slidenum">
              <a:rPr lang="en-US" smtClean="0"/>
              <a:t>‹#›</a:t>
            </a:fld>
            <a:endParaRPr lang="en-US"/>
          </a:p>
        </p:txBody>
      </p:sp>
    </p:spTree>
    <p:extLst>
      <p:ext uri="{BB962C8B-B14F-4D97-AF65-F5344CB8AC3E}">
        <p14:creationId xmlns:p14="http://schemas.microsoft.com/office/powerpoint/2010/main" val="125848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www.geeksforgeeks.org/getting-started-with-transformers/" TargetMode="External"/><Relationship Id="rId3" Type="http://schemas.openxmlformats.org/officeDocument/2006/relationships/hyperlink" Target="https://www.geeksforgeeks.org/feedforward-neural-network/" TargetMode="External"/><Relationship Id="rId7" Type="http://schemas.openxmlformats.org/officeDocument/2006/relationships/hyperlink" Target="https://www.geeksforgeeks.org/auto-encoders/"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www.geeksforgeeks.org/generative-adversarial-network-gan/" TargetMode="External"/><Relationship Id="rId5" Type="http://schemas.openxmlformats.org/officeDocument/2006/relationships/hyperlink" Target="https://www.geeksforgeeks.org/introduction-to-recurrent-neural-network/" TargetMode="External"/><Relationship Id="rId4" Type="http://schemas.openxmlformats.org/officeDocument/2006/relationships/hyperlink" Target="https://www.geeksforgeeks.org/introduction-convolution-neural-network/"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Data-driven Approach</a:t>
            </a:r>
            <a:r>
              <a:rPr lang="en-US" dirty="0"/>
              <a:t>:</a:t>
            </a:r>
          </a:p>
          <a:p>
            <a:pPr>
              <a:buFont typeface="Arial" panose="020B0604020202020204" pitchFamily="34" charset="0"/>
              <a:buChar char="•"/>
            </a:pPr>
            <a:r>
              <a:rPr lang="en-US" dirty="0"/>
              <a:t>Machine learning relies heavily on data. It learns patterns, relationships, and trends from historical data to make predictions or decisions without requiring explicit programming for each task.</a:t>
            </a:r>
          </a:p>
          <a:p>
            <a:pPr>
              <a:buFont typeface="Arial" panose="020B0604020202020204" pitchFamily="34" charset="0"/>
              <a:buChar char="•"/>
            </a:pPr>
            <a:r>
              <a:rPr lang="en-US" dirty="0"/>
              <a:t>The more data it has, the better the model can learn and perform.</a:t>
            </a:r>
          </a:p>
          <a:p>
            <a:endParaRPr lang="en-US" b="1" dirty="0"/>
          </a:p>
          <a:p>
            <a:r>
              <a:rPr lang="en-US" b="1" dirty="0"/>
              <a:t>Adaptive and Scalable</a:t>
            </a:r>
            <a:r>
              <a:rPr lang="en-US" dirty="0"/>
              <a:t>:</a:t>
            </a:r>
          </a:p>
          <a:p>
            <a:pPr>
              <a:buFont typeface="Arial" panose="020B0604020202020204" pitchFamily="34" charset="0"/>
              <a:buChar char="•"/>
            </a:pPr>
            <a:r>
              <a:rPr lang="en-US" dirty="0"/>
              <a:t>Machine learning models can adapt to new data over time, improving their accuracy and efficiency without manual intervention.</a:t>
            </a:r>
          </a:p>
          <a:p>
            <a:pPr>
              <a:buFont typeface="Arial" panose="020B0604020202020204" pitchFamily="34" charset="0"/>
              <a:buChar char="•"/>
            </a:pPr>
            <a:r>
              <a:rPr lang="en-US" dirty="0"/>
              <a:t>Scalability refers to their ability to handle increasing amounts of data or complexity, making them suitable for real-world applications.</a:t>
            </a:r>
          </a:p>
          <a:p>
            <a:endParaRPr lang="en-US" b="1" dirty="0"/>
          </a:p>
          <a:p>
            <a:r>
              <a:rPr lang="en-US" b="1" dirty="0"/>
              <a:t>Predictive Modeling</a:t>
            </a:r>
            <a:r>
              <a:rPr lang="en-US" dirty="0"/>
              <a:t>:</a:t>
            </a:r>
          </a:p>
          <a:p>
            <a:pPr>
              <a:buFont typeface="Arial" panose="020B0604020202020204" pitchFamily="34" charset="0"/>
              <a:buChar char="•"/>
            </a:pPr>
            <a:r>
              <a:rPr lang="en-US" dirty="0"/>
              <a:t>One of the core strengths of machine learning is its ability to predict future outcomes based on learned patterns.</a:t>
            </a:r>
          </a:p>
          <a:p>
            <a:pPr>
              <a:buFont typeface="Arial" panose="020B0604020202020204" pitchFamily="34" charset="0"/>
              <a:buChar char="•"/>
            </a:pPr>
            <a:r>
              <a:rPr lang="en-US" dirty="0"/>
              <a:t>It is widely used in forecasting, such as predicting stock prices, customer behavior, or disease outbreaks.</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3</a:t>
            </a:fld>
            <a:endParaRPr lang="en-US"/>
          </a:p>
        </p:txBody>
      </p:sp>
    </p:spTree>
    <p:extLst>
      <p:ext uri="{BB962C8B-B14F-4D97-AF65-F5344CB8AC3E}">
        <p14:creationId xmlns:p14="http://schemas.microsoft.com/office/powerpoint/2010/main" val="2857112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Early Foundations (1940s–1950s)</a:t>
            </a:r>
          </a:p>
          <a:p>
            <a:r>
              <a:rPr lang="en-US" b="1" dirty="0"/>
              <a:t>Biological Inspiration &amp; First Ideas</a:t>
            </a:r>
            <a:endParaRPr lang="en-US" dirty="0"/>
          </a:p>
          <a:p>
            <a:r>
              <a:rPr lang="en-US" dirty="0"/>
              <a:t>In 1943, Warren </a:t>
            </a:r>
            <a:r>
              <a:rPr lang="en-US" b="1" dirty="0"/>
              <a:t>McCulloch</a:t>
            </a:r>
            <a:r>
              <a:rPr lang="en-US" dirty="0"/>
              <a:t> and Walter </a:t>
            </a:r>
            <a:r>
              <a:rPr lang="en-US" b="1" dirty="0"/>
              <a:t>Pitts</a:t>
            </a:r>
            <a:r>
              <a:rPr lang="en-US" dirty="0"/>
              <a:t> created the first mathematical model of a neuron, proposing a network of artificial neurons. </a:t>
            </a:r>
          </a:p>
          <a:p>
            <a:r>
              <a:rPr lang="en-US" dirty="0"/>
              <a:t>In 1949, Donald </a:t>
            </a:r>
            <a:r>
              <a:rPr lang="en-US" b="1" dirty="0"/>
              <a:t>Hebb</a:t>
            </a:r>
            <a:r>
              <a:rPr lang="en-US" dirty="0"/>
              <a:t> published a theory on learning in the brain, later influencing how artificial neural networks adjust weights.</a:t>
            </a:r>
          </a:p>
          <a:p>
            <a:endParaRPr lang="en-US" b="1" i="0" dirty="0">
              <a:solidFill>
                <a:srgbClr val="202122"/>
              </a:solidFill>
              <a:effectLst/>
              <a:latin typeface="Arial" panose="020B0604020202020204" pitchFamily="34" charset="0"/>
            </a:endParaRPr>
          </a:p>
          <a:p>
            <a:r>
              <a:rPr lang="en-US" b="1" dirty="0"/>
              <a:t>2. Birth of Machine Learning (1950s–1960s)</a:t>
            </a:r>
          </a:p>
          <a:p>
            <a:r>
              <a:rPr lang="en-US" b="1" dirty="0"/>
              <a:t>Early ML Concepts and Algorithms</a:t>
            </a:r>
            <a:endParaRPr lang="en-US" dirty="0"/>
          </a:p>
          <a:p>
            <a:r>
              <a:rPr lang="en-US" dirty="0"/>
              <a:t>1950: Alan </a:t>
            </a:r>
            <a:r>
              <a:rPr lang="en-US" b="1" dirty="0"/>
              <a:t>Turing</a:t>
            </a:r>
            <a:r>
              <a:rPr lang="en-US" dirty="0"/>
              <a:t> proposed the idea of “thinking machines” and the </a:t>
            </a:r>
            <a:r>
              <a:rPr lang="en-US" b="1" dirty="0"/>
              <a:t>Turing Test</a:t>
            </a:r>
            <a:r>
              <a:rPr lang="en-US" dirty="0"/>
              <a:t>. </a:t>
            </a:r>
          </a:p>
          <a:p>
            <a:r>
              <a:rPr lang="en-US" dirty="0"/>
              <a:t>1956: Term </a:t>
            </a:r>
            <a:r>
              <a:rPr lang="en-US" b="1" dirty="0"/>
              <a:t>“Artificial Intelligence”</a:t>
            </a:r>
            <a:r>
              <a:rPr lang="en-US" dirty="0"/>
              <a:t> was coined at the Dartmouth Conference, marking AI as a field. </a:t>
            </a:r>
          </a:p>
          <a:p>
            <a:r>
              <a:rPr lang="en-US" dirty="0"/>
              <a:t>1957: </a:t>
            </a:r>
            <a:r>
              <a:rPr lang="en-US" b="1" dirty="0"/>
              <a:t>Perceptron</a:t>
            </a:r>
            <a:r>
              <a:rPr lang="en-US" dirty="0"/>
              <a:t> : first practical artificial neuron model by Frank Rosenblatt is introduced. </a:t>
            </a:r>
          </a:p>
          <a:p>
            <a:r>
              <a:rPr lang="en-US" dirty="0"/>
              <a:t>These early ML models could </a:t>
            </a:r>
            <a:r>
              <a:rPr lang="en-US" i="1" dirty="0"/>
              <a:t>learn from data</a:t>
            </a:r>
            <a:r>
              <a:rPr lang="en-US" dirty="0"/>
              <a:t>, but were limited in power and scope.</a:t>
            </a:r>
          </a:p>
          <a:p>
            <a:endParaRPr lang="en-US" b="1" i="0" dirty="0">
              <a:solidFill>
                <a:srgbClr val="202122"/>
              </a:solidFill>
              <a:effectLst/>
              <a:latin typeface="Arial" panose="020B0604020202020204" pitchFamily="34" charset="0"/>
            </a:endParaRPr>
          </a:p>
          <a:p>
            <a:r>
              <a:rPr lang="en-US" b="1" dirty="0"/>
              <a:t>3. Classical Machine Learning (1970s–1990s)</a:t>
            </a:r>
          </a:p>
          <a:p>
            <a:r>
              <a:rPr lang="en-US" b="1" dirty="0"/>
              <a:t>Statistics + Algorithms Become Core</a:t>
            </a:r>
            <a:endParaRPr lang="en-US" dirty="0"/>
          </a:p>
          <a:p>
            <a:r>
              <a:rPr lang="en-US" dirty="0"/>
              <a:t>ML expands beyond neural nets to </a:t>
            </a:r>
            <a:r>
              <a:rPr lang="en-US" b="1" dirty="0"/>
              <a:t>statistical models</a:t>
            </a:r>
            <a:r>
              <a:rPr lang="en-US" dirty="0"/>
              <a:t> and </a:t>
            </a:r>
            <a:r>
              <a:rPr lang="en-US" b="1" dirty="0"/>
              <a:t>rule-based learning</a:t>
            </a:r>
            <a:r>
              <a:rPr lang="en-US" dirty="0"/>
              <a:t>. </a:t>
            </a:r>
          </a:p>
          <a:p>
            <a:r>
              <a:rPr lang="en-US" dirty="0"/>
              <a:t>Common models developed or popularized:</a:t>
            </a:r>
          </a:p>
          <a:p>
            <a:pPr lvl="1"/>
            <a:r>
              <a:rPr lang="en-US" b="1" dirty="0"/>
              <a:t>Nearest Neighbors (k-NN)</a:t>
            </a:r>
            <a:endParaRPr lang="en-US" dirty="0"/>
          </a:p>
          <a:p>
            <a:pPr lvl="1"/>
            <a:r>
              <a:rPr lang="en-US" b="1" dirty="0"/>
              <a:t>Decision Trees</a:t>
            </a:r>
            <a:endParaRPr lang="en-US" dirty="0"/>
          </a:p>
          <a:p>
            <a:pPr lvl="1"/>
            <a:r>
              <a:rPr lang="en-US" b="1" dirty="0"/>
              <a:t>Support Vector Machines (SVMs)</a:t>
            </a:r>
            <a:r>
              <a:rPr lang="en-US" dirty="0"/>
              <a:t> (1990s)</a:t>
            </a:r>
          </a:p>
          <a:p>
            <a:pPr lvl="1"/>
            <a:r>
              <a:rPr lang="en-US" b="1" dirty="0"/>
              <a:t>Boosting and ensemble methods</a:t>
            </a:r>
            <a:r>
              <a:rPr lang="en-US" dirty="0"/>
              <a:t> like AdaBoost and Random Forests.</a:t>
            </a:r>
          </a:p>
          <a:p>
            <a:endParaRPr lang="en-US" b="1" dirty="0"/>
          </a:p>
          <a:p>
            <a:r>
              <a:rPr lang="en-US" b="1" dirty="0"/>
              <a:t>Backpropagation Revival (1986)</a:t>
            </a:r>
            <a:endParaRPr lang="en-US" dirty="0"/>
          </a:p>
          <a:p>
            <a:r>
              <a:rPr lang="en-US" dirty="0"/>
              <a:t>Rumelhart, Hinton &amp; Williams rediscover </a:t>
            </a:r>
            <a:r>
              <a:rPr lang="en-US" i="1" dirty="0"/>
              <a:t>backpropagation</a:t>
            </a:r>
            <a:r>
              <a:rPr lang="en-US" dirty="0"/>
              <a:t>, enabling neural networks to </a:t>
            </a:r>
            <a:r>
              <a:rPr lang="en-US" i="1" dirty="0"/>
              <a:t>learn multi-layer models</a:t>
            </a:r>
            <a:endParaRPr lang="en-US" dirty="0"/>
          </a:p>
          <a:p>
            <a:endParaRPr lang="en-US" b="1" i="0" dirty="0">
              <a:solidFill>
                <a:srgbClr val="202122"/>
              </a:solidFill>
              <a:effectLst/>
              <a:latin typeface="Arial" panose="020B0604020202020204" pitchFamily="34" charset="0"/>
            </a:endParaRPr>
          </a:p>
          <a:p>
            <a:r>
              <a:rPr lang="en-US" b="1" dirty="0"/>
              <a:t>4. Deep Learning Revolution (2000s–2010s)</a:t>
            </a:r>
          </a:p>
          <a:p>
            <a:r>
              <a:rPr lang="en-US" b="1" dirty="0"/>
              <a:t>Data + Compute + GPUs</a:t>
            </a:r>
            <a:endParaRPr lang="en-US" dirty="0"/>
          </a:p>
          <a:p>
            <a:r>
              <a:rPr lang="en-US" dirty="0"/>
              <a:t>The availability of big data and powerful parallel GPUs transforms ML dramatically. </a:t>
            </a:r>
          </a:p>
          <a:p>
            <a:r>
              <a:rPr lang="en-US" b="1" dirty="0"/>
              <a:t>2006:</a:t>
            </a:r>
            <a:r>
              <a:rPr lang="en-US" dirty="0"/>
              <a:t> Deep belief networks show deep models can be effectively trained. </a:t>
            </a:r>
          </a:p>
          <a:p>
            <a:r>
              <a:rPr lang="en-US" b="1" dirty="0"/>
              <a:t>2012:</a:t>
            </a:r>
            <a:r>
              <a:rPr lang="en-US" dirty="0"/>
              <a:t> </a:t>
            </a:r>
            <a:r>
              <a:rPr lang="en-US" i="1" dirty="0" err="1"/>
              <a:t>AlexNet</a:t>
            </a:r>
            <a:r>
              <a:rPr lang="en-US" dirty="0"/>
              <a:t> wins ImageNet, a huge AI milestone, proving deep learning vastly outperforms traditional ML in image recognition</a:t>
            </a:r>
          </a:p>
          <a:p>
            <a:endParaRPr lang="en-US" b="1" i="0" dirty="0">
              <a:solidFill>
                <a:srgbClr val="202122"/>
              </a:solidFill>
              <a:effectLst/>
              <a:latin typeface="Arial" panose="020B0604020202020204" pitchFamily="34" charset="0"/>
            </a:endParaRPr>
          </a:p>
          <a:p>
            <a:r>
              <a:rPr lang="en-US" b="1" dirty="0"/>
              <a:t>5. Modern ML: NLP &amp; Transformers (2017+)</a:t>
            </a:r>
          </a:p>
          <a:p>
            <a:r>
              <a:rPr lang="en-US" b="1" dirty="0"/>
              <a:t>Transformers Architecture</a:t>
            </a:r>
            <a:endParaRPr lang="en-US" dirty="0"/>
          </a:p>
          <a:p>
            <a:r>
              <a:rPr lang="en-US" dirty="0"/>
              <a:t>In 2017, the </a:t>
            </a:r>
            <a:r>
              <a:rPr lang="en-US" b="1" dirty="0"/>
              <a:t>Transformer</a:t>
            </a:r>
            <a:r>
              <a:rPr lang="en-US" dirty="0"/>
              <a:t> model introduces self-attention, enabling much more powerful language understanding. </a:t>
            </a:r>
          </a:p>
          <a:p>
            <a:r>
              <a:rPr lang="en-US" dirty="0"/>
              <a:t>This approach fuels </a:t>
            </a:r>
            <a:r>
              <a:rPr lang="en-US" b="1" dirty="0"/>
              <a:t>BERT</a:t>
            </a:r>
            <a:r>
              <a:rPr lang="en-US" dirty="0"/>
              <a:t>, </a:t>
            </a:r>
            <a:r>
              <a:rPr lang="en-US" b="1" dirty="0"/>
              <a:t>GPT</a:t>
            </a:r>
            <a:r>
              <a:rPr lang="en-US" dirty="0"/>
              <a:t>, and other </a:t>
            </a:r>
            <a:r>
              <a:rPr lang="en-US" i="1" dirty="0"/>
              <a:t>pretrained foundation models</a:t>
            </a:r>
            <a:r>
              <a:rPr lang="en-US" dirty="0"/>
              <a:t> that excel at language tasks. </a:t>
            </a:r>
          </a:p>
          <a:p>
            <a:r>
              <a:rPr lang="en-US" dirty="0"/>
              <a:t>Example modern breakthroughs:</a:t>
            </a:r>
          </a:p>
          <a:p>
            <a:r>
              <a:rPr lang="en-US" dirty="0"/>
              <a:t>GPT-3 (2020): Large language model with 175B parameters</a:t>
            </a:r>
          </a:p>
          <a:p>
            <a:r>
              <a:rPr lang="en-US" dirty="0"/>
              <a:t>ChatGPT (2022): Popularized generative conversational AI</a:t>
            </a:r>
          </a:p>
          <a:p>
            <a:r>
              <a:rPr lang="en-US" dirty="0"/>
              <a:t>GPT-4+: Multimodal models handling text + images + more</a:t>
            </a:r>
          </a:p>
          <a:p>
            <a:endParaRPr lang="en-US" b="1" i="0" dirty="0">
              <a:solidFill>
                <a:srgbClr val="202122"/>
              </a:solidFill>
              <a:effectLst/>
              <a:latin typeface="Arial" panose="020B0604020202020204" pitchFamily="34" charset="0"/>
            </a:endParaRPr>
          </a:p>
          <a:p>
            <a:r>
              <a:rPr lang="en-US" b="1" dirty="0"/>
              <a:t>6. Reinforcement &amp; Interactive AI</a:t>
            </a:r>
          </a:p>
          <a:p>
            <a:r>
              <a:rPr lang="en-US" b="1" dirty="0"/>
              <a:t>Reinforcement Learning (RL) Gains Prominence</a:t>
            </a:r>
            <a:endParaRPr lang="en-US" dirty="0"/>
          </a:p>
          <a:p>
            <a:r>
              <a:rPr lang="en-US" dirty="0"/>
              <a:t>Though developed earlier, RL becomes central with successes like AlphaGo’s Go victory (2016) and robotics learning through experimentation. </a:t>
            </a:r>
          </a:p>
          <a:p>
            <a:r>
              <a:rPr lang="en-US" dirty="0"/>
              <a:t>RL ideas also power adaptive systems in robotics, gaming, finance, and autonomous control</a:t>
            </a:r>
          </a:p>
          <a:p>
            <a:endParaRPr lang="en-US" b="1" i="0" dirty="0">
              <a:solidFill>
                <a:srgbClr val="202122"/>
              </a:solidFill>
              <a:effectLst/>
              <a:latin typeface="Arial" panose="020B0604020202020204" pitchFamily="34" charset="0"/>
            </a:endParaRPr>
          </a:p>
          <a:p>
            <a:r>
              <a:rPr lang="en-US" b="1" dirty="0"/>
              <a:t>7. Large-Scale &amp; Generative AI Era (2020s–2026)</a:t>
            </a:r>
          </a:p>
          <a:p>
            <a:endParaRPr lang="en-US" b="1" dirty="0"/>
          </a:p>
          <a:p>
            <a:r>
              <a:rPr lang="en-US" b="1" dirty="0"/>
              <a:t>Era of Foundation Models &amp; Generative AI</a:t>
            </a:r>
            <a:endParaRPr lang="en-US" dirty="0"/>
          </a:p>
          <a:p>
            <a:r>
              <a:rPr lang="en-US" dirty="0"/>
              <a:t>ML shifts from narrow models to </a:t>
            </a:r>
            <a:r>
              <a:rPr lang="en-US" i="1" dirty="0"/>
              <a:t>large pretrained systems</a:t>
            </a:r>
            <a:r>
              <a:rPr lang="en-US" dirty="0"/>
              <a:t> capable of generation (texts, images, code, music). </a:t>
            </a:r>
          </a:p>
          <a:p>
            <a:r>
              <a:rPr lang="en-US" dirty="0"/>
              <a:t>Generative AI now drives automation, creativity tools, assistants, agents, and personalized services across industries.</a:t>
            </a:r>
          </a:p>
          <a:p>
            <a:endParaRPr lang="en-US" b="1" dirty="0"/>
          </a:p>
          <a:p>
            <a:r>
              <a:rPr lang="en-US" b="1" dirty="0"/>
              <a:t>Emerging Trends (2025–2026)</a:t>
            </a:r>
            <a:endParaRPr lang="en-US" dirty="0"/>
          </a:p>
          <a:p>
            <a:r>
              <a:rPr lang="en-US" dirty="0"/>
              <a:t>New approaches like </a:t>
            </a:r>
            <a:r>
              <a:rPr lang="en-US" b="1" dirty="0"/>
              <a:t>energy-based reasoning models</a:t>
            </a:r>
            <a:r>
              <a:rPr lang="en-US" dirty="0"/>
              <a:t> are being pursued to improve reasoning and reduce hallucinations. </a:t>
            </a:r>
          </a:p>
          <a:p>
            <a:r>
              <a:rPr lang="en-US" dirty="0"/>
              <a:t>Integration of ML with physical systems (robots that adapt and learn in dynamic environments) is accelerating. </a:t>
            </a:r>
          </a:p>
          <a:p>
            <a:r>
              <a:rPr lang="en-US" dirty="0"/>
              <a:t>The lines between traditional supervised ML and generative methods are blurring as automation and synthetic data reshape workflows. </a:t>
            </a:r>
          </a:p>
          <a:p>
            <a:r>
              <a:rPr lang="en-US" dirty="0"/>
              <a:t>The research community continues to explore more efficient models, hardware accelerators, and democratization of ML tools</a:t>
            </a:r>
          </a:p>
          <a:p>
            <a:endParaRPr lang="en-US" b="1" i="0" dirty="0">
              <a:solidFill>
                <a:srgbClr val="202122"/>
              </a:solidFill>
              <a:effectLst/>
              <a:latin typeface="Arial" panose="020B0604020202020204" pitchFamily="34" charset="0"/>
            </a:endParaRPr>
          </a:p>
          <a:p>
            <a:endParaRPr lang="en-US" b="1" i="0" dirty="0">
              <a:solidFill>
                <a:srgbClr val="202122"/>
              </a:solidFill>
              <a:effectLst/>
              <a:latin typeface="Arial" panose="020B0604020202020204" pitchFamily="34" charset="0"/>
            </a:endParaRPr>
          </a:p>
          <a:p>
            <a:endParaRPr lang="en-US" b="1" i="0" dirty="0">
              <a:solidFill>
                <a:srgbClr val="202122"/>
              </a:solidFill>
              <a:effectLst/>
              <a:latin typeface="Arial" panose="020B0604020202020204" pitchFamily="34" charset="0"/>
            </a:endParaRPr>
          </a:p>
          <a:p>
            <a:r>
              <a:rPr lang="en-US" b="1" i="0" dirty="0">
                <a:solidFill>
                  <a:srgbClr val="202122"/>
                </a:solidFill>
                <a:effectLst/>
                <a:latin typeface="Arial" panose="020B0604020202020204" pitchFamily="34" charset="0"/>
              </a:rPr>
              <a:t>symbolic artificial intelligence</a:t>
            </a:r>
            <a:r>
              <a:rPr lang="en-US" b="0" i="0" dirty="0">
                <a:solidFill>
                  <a:srgbClr val="202122"/>
                </a:solidFill>
                <a:effectLst/>
                <a:latin typeface="Arial" panose="020B0604020202020204" pitchFamily="34" charset="0"/>
              </a:rPr>
              <a:t> (also known as </a:t>
            </a:r>
            <a:r>
              <a:rPr lang="en-US" b="1" i="0" dirty="0">
                <a:solidFill>
                  <a:srgbClr val="202122"/>
                </a:solidFill>
                <a:effectLst/>
                <a:latin typeface="Arial" panose="020B0604020202020204" pitchFamily="34" charset="0"/>
              </a:rPr>
              <a:t>classical artificial intelligence </a:t>
            </a:r>
            <a:r>
              <a:rPr lang="en-US" b="0" i="0" dirty="0">
                <a:solidFill>
                  <a:srgbClr val="202122"/>
                </a:solidFill>
                <a:effectLst/>
                <a:latin typeface="Arial" panose="020B0604020202020204" pitchFamily="34" charset="0"/>
              </a:rPr>
              <a:t>or </a:t>
            </a:r>
            <a:r>
              <a:rPr lang="en-US" b="1" i="0" dirty="0">
                <a:solidFill>
                  <a:srgbClr val="202122"/>
                </a:solidFill>
                <a:effectLst/>
                <a:latin typeface="Arial" panose="020B0604020202020204" pitchFamily="34" charset="0"/>
              </a:rPr>
              <a:t>logic-based artificial intelligence</a:t>
            </a:r>
            <a:r>
              <a:rPr lang="en-US" b="0" i="0" dirty="0">
                <a:solidFill>
                  <a:srgbClr val="202122"/>
                </a:solidFill>
                <a:effectLst/>
                <a:latin typeface="Arial" panose="020B0604020202020204" pitchFamily="34" charset="0"/>
              </a:rPr>
              <a:t>)</a:t>
            </a:r>
            <a:r>
              <a:rPr lang="en-US" b="0" i="0" u="none" strike="noStrike" baseline="30000" dirty="0">
                <a:solidFill>
                  <a:srgbClr val="202122"/>
                </a:solidFill>
                <a:effectLst/>
                <a:latin typeface="Arial" panose="020B0604020202020204" pitchFamily="34" charset="0"/>
              </a:rPr>
              <a:t> </a:t>
            </a:r>
            <a:r>
              <a:rPr lang="en-US" b="0" i="0" dirty="0">
                <a:solidFill>
                  <a:srgbClr val="202122"/>
                </a:solidFill>
                <a:effectLst/>
                <a:latin typeface="Arial" panose="020B0604020202020204" pitchFamily="34" charset="0"/>
              </a:rPr>
              <a:t>is the term for the collection of all methods in artificial intelligence research that are based on high-level </a:t>
            </a:r>
            <a:r>
              <a:rPr lang="en-US" b="0" i="0" u="none" strike="noStrike" dirty="0">
                <a:effectLst/>
                <a:latin typeface="Arial" panose="020B0604020202020204" pitchFamily="34" charset="0"/>
              </a:rPr>
              <a:t>symbolic</a:t>
            </a:r>
            <a:r>
              <a:rPr lang="en-US" b="0" i="0" dirty="0">
                <a:solidFill>
                  <a:srgbClr val="202122"/>
                </a:solidFill>
                <a:effectLst/>
                <a:latin typeface="Arial" panose="020B0604020202020204" pitchFamily="34" charset="0"/>
              </a:rPr>
              <a:t> (human-readable) representations of problems, </a:t>
            </a:r>
            <a:r>
              <a:rPr lang="en-US" b="0" i="0" u="none" strike="noStrike" dirty="0">
                <a:effectLst/>
                <a:latin typeface="Arial" panose="020B0604020202020204" pitchFamily="34" charset="0"/>
              </a:rPr>
              <a:t>logic</a:t>
            </a:r>
            <a:r>
              <a:rPr lang="en-US" b="0" i="0" dirty="0">
                <a:solidFill>
                  <a:srgbClr val="202122"/>
                </a:solidFill>
                <a:effectLst/>
                <a:latin typeface="Arial" panose="020B0604020202020204" pitchFamily="34" charset="0"/>
              </a:rPr>
              <a:t> and </a:t>
            </a:r>
            <a:r>
              <a:rPr lang="en-US" b="0" i="0" u="none" strike="noStrike" dirty="0">
                <a:effectLst/>
                <a:latin typeface="Arial" panose="020B0604020202020204" pitchFamily="34" charset="0"/>
              </a:rPr>
              <a:t>search</a:t>
            </a:r>
            <a:endParaRPr lang="en-US" b="0" i="0" dirty="0">
              <a:solidFill>
                <a:srgbClr val="202122"/>
              </a:solidFill>
              <a:effectLst/>
              <a:latin typeface="Arial" panose="020B0604020202020204" pitchFamily="34" charset="0"/>
            </a:endParaRPr>
          </a:p>
          <a:p>
            <a:r>
              <a:rPr lang="en-US" b="0" i="0" dirty="0">
                <a:solidFill>
                  <a:srgbClr val="202122"/>
                </a:solidFill>
                <a:effectLst/>
                <a:latin typeface="Arial" panose="020B0604020202020204" pitchFamily="34" charset="0"/>
              </a:rPr>
              <a:t>Symbolic AI used tools such as </a:t>
            </a:r>
            <a:r>
              <a:rPr lang="en-US" b="0" i="0" u="none" strike="noStrike" dirty="0">
                <a:effectLst/>
                <a:latin typeface="Arial" panose="020B0604020202020204" pitchFamily="34" charset="0"/>
              </a:rPr>
              <a:t>logic programming</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production rules</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semantic nets</a:t>
            </a:r>
            <a:r>
              <a:rPr lang="en-US" b="0" i="0" dirty="0">
                <a:solidFill>
                  <a:srgbClr val="202122"/>
                </a:solidFill>
                <a:effectLst/>
                <a:latin typeface="Arial" panose="020B0604020202020204" pitchFamily="34" charset="0"/>
              </a:rPr>
              <a:t> and </a:t>
            </a:r>
            <a:r>
              <a:rPr lang="en-US" b="0" i="0" u="none" strike="noStrike" dirty="0">
                <a:effectLst/>
                <a:latin typeface="Arial" panose="020B0604020202020204" pitchFamily="34" charset="0"/>
              </a:rPr>
              <a:t>frames</a:t>
            </a:r>
            <a:r>
              <a:rPr lang="en-US" b="0" i="0" dirty="0">
                <a:solidFill>
                  <a:srgbClr val="202122"/>
                </a:solidFill>
                <a:effectLst/>
                <a:latin typeface="Arial" panose="020B0604020202020204" pitchFamily="34" charset="0"/>
              </a:rPr>
              <a:t> and it developed applications such as </a:t>
            </a:r>
            <a:r>
              <a:rPr lang="en-US" b="0" i="0" u="none" strike="noStrike" dirty="0">
                <a:effectLst/>
                <a:latin typeface="Arial" panose="020B0604020202020204" pitchFamily="34" charset="0"/>
              </a:rPr>
              <a:t>knowledge-based systems</a:t>
            </a:r>
            <a:r>
              <a:rPr lang="en-US" b="0" i="0" dirty="0">
                <a:solidFill>
                  <a:srgbClr val="202122"/>
                </a:solidFill>
                <a:effectLst/>
                <a:latin typeface="Arial" panose="020B0604020202020204" pitchFamily="34" charset="0"/>
              </a:rPr>
              <a:t> (in particular, </a:t>
            </a:r>
            <a:r>
              <a:rPr lang="en-US" b="0" i="0" u="none" strike="noStrike" dirty="0">
                <a:effectLst/>
                <a:latin typeface="Arial" panose="020B0604020202020204" pitchFamily="34" charset="0"/>
              </a:rPr>
              <a:t>expert systems</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symbolic mathematics</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automated theorem provers</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ontologies</a:t>
            </a:r>
            <a:r>
              <a:rPr lang="en-US" b="0" i="0" dirty="0">
                <a:solidFill>
                  <a:srgbClr val="202122"/>
                </a:solidFill>
                <a:effectLst/>
                <a:latin typeface="Arial" panose="020B0604020202020204" pitchFamily="34" charset="0"/>
              </a:rPr>
              <a:t>, the </a:t>
            </a:r>
            <a:r>
              <a:rPr lang="en-US" b="0" i="0" u="none" strike="noStrike" dirty="0">
                <a:effectLst/>
                <a:latin typeface="Arial" panose="020B0604020202020204" pitchFamily="34" charset="0"/>
              </a:rPr>
              <a:t>semantic web</a:t>
            </a:r>
            <a:r>
              <a:rPr lang="en-US" b="0" i="0" dirty="0">
                <a:solidFill>
                  <a:srgbClr val="202122"/>
                </a:solidFill>
                <a:effectLst/>
                <a:latin typeface="Arial" panose="020B0604020202020204" pitchFamily="34" charset="0"/>
              </a:rPr>
              <a:t>, and </a:t>
            </a:r>
            <a:r>
              <a:rPr lang="en-US" b="0" i="0" u="none" strike="noStrike" dirty="0">
                <a:effectLst/>
                <a:latin typeface="Arial" panose="020B0604020202020204" pitchFamily="34" charset="0"/>
              </a:rPr>
              <a:t>automated planning and scheduling</a:t>
            </a:r>
            <a:r>
              <a:rPr lang="en-US" b="0" i="0" dirty="0">
                <a:solidFill>
                  <a:srgbClr val="202122"/>
                </a:solidFill>
                <a:effectLst/>
                <a:latin typeface="Arial" panose="020B0604020202020204" pitchFamily="34" charset="0"/>
              </a:rPr>
              <a:t> systems. </a:t>
            </a:r>
          </a:p>
          <a:p>
            <a:r>
              <a:rPr lang="en-US" b="0" i="0" dirty="0">
                <a:solidFill>
                  <a:srgbClr val="202122"/>
                </a:solidFill>
                <a:effectLst/>
                <a:latin typeface="Arial" panose="020B0604020202020204" pitchFamily="34" charset="0"/>
              </a:rPr>
              <a:t>The Symbolic AI paradigm led to seminal ideas in </a:t>
            </a:r>
            <a:r>
              <a:rPr lang="en-US" b="0" i="0" u="none" strike="noStrike" dirty="0">
                <a:effectLst/>
                <a:latin typeface="Arial" panose="020B0604020202020204" pitchFamily="34" charset="0"/>
              </a:rPr>
              <a:t>search</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symbolic programming</a:t>
            </a:r>
            <a:r>
              <a:rPr lang="en-US" b="0" i="0" dirty="0">
                <a:solidFill>
                  <a:srgbClr val="202122"/>
                </a:solidFill>
                <a:effectLst/>
                <a:latin typeface="Arial" panose="020B0604020202020204" pitchFamily="34" charset="0"/>
              </a:rPr>
              <a:t> languages, </a:t>
            </a:r>
            <a:r>
              <a:rPr lang="en-US" b="0" i="0" u="none" strike="noStrike" dirty="0">
                <a:effectLst/>
                <a:latin typeface="Arial" panose="020B0604020202020204" pitchFamily="34" charset="0"/>
              </a:rPr>
              <a:t>agents</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rPr>
              <a:t>multi-agent systems</a:t>
            </a:r>
            <a:r>
              <a:rPr lang="en-US" b="0" i="0" dirty="0">
                <a:solidFill>
                  <a:srgbClr val="202122"/>
                </a:solidFill>
                <a:effectLst/>
                <a:latin typeface="Arial" panose="020B0604020202020204" pitchFamily="34" charset="0"/>
              </a:rPr>
              <a:t>, the </a:t>
            </a:r>
            <a:r>
              <a:rPr lang="en-US" b="0" i="0" u="none" strike="noStrike" dirty="0">
                <a:effectLst/>
                <a:latin typeface="Arial" panose="020B0604020202020204" pitchFamily="34" charset="0"/>
              </a:rPr>
              <a:t>semantic web</a:t>
            </a:r>
            <a:r>
              <a:rPr lang="en-US" b="0" i="0" dirty="0">
                <a:solidFill>
                  <a:srgbClr val="202122"/>
                </a:solidFill>
                <a:effectLst/>
                <a:latin typeface="Arial" panose="020B0604020202020204" pitchFamily="34" charset="0"/>
              </a:rPr>
              <a:t>, and the strengths and limitations of formal knowledge and </a:t>
            </a:r>
            <a:r>
              <a:rPr lang="en-US" b="0" i="0" u="none" strike="noStrike" dirty="0">
                <a:effectLst/>
                <a:latin typeface="Arial" panose="020B0604020202020204" pitchFamily="34" charset="0"/>
              </a:rPr>
              <a:t>reasoning systems</a:t>
            </a:r>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4</a:t>
            </a:fld>
            <a:endParaRPr lang="en-US"/>
          </a:p>
        </p:txBody>
      </p:sp>
    </p:spTree>
    <p:extLst>
      <p:ext uri="{BB962C8B-B14F-4D97-AF65-F5344CB8AC3E}">
        <p14:creationId xmlns:p14="http://schemas.microsoft.com/office/powerpoint/2010/main" val="3525673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is needed because traditional programming fails when rules are too complex, data is huge, or systems must learn and adapt automatically.</a:t>
            </a:r>
          </a:p>
          <a:p>
            <a:endParaRPr lang="en-US" dirty="0"/>
          </a:p>
          <a:p>
            <a:pPr marL="228600" indent="-228600">
              <a:buAutoNum type="arabicPeriod"/>
            </a:pPr>
            <a:r>
              <a:rPr lang="en-US" dirty="0"/>
              <a:t>Limitations of Traditional Programming</a:t>
            </a:r>
          </a:p>
          <a:p>
            <a:pPr marL="0" indent="0">
              <a:buNone/>
            </a:pPr>
            <a:r>
              <a:rPr lang="en-US" dirty="0"/>
              <a:t>Traditional Programming: </a:t>
            </a:r>
            <a:r>
              <a:rPr lang="en-US" b="1" dirty="0"/>
              <a:t>Rules + Data → Output</a:t>
            </a:r>
          </a:p>
          <a:p>
            <a:pPr marL="0" indent="0">
              <a:buNone/>
            </a:pPr>
            <a:r>
              <a:rPr lang="en-US" b="0" dirty="0"/>
              <a:t>Problems:</a:t>
            </a:r>
          </a:p>
          <a:p>
            <a:pPr marL="171450" indent="-171450">
              <a:buFont typeface="Arial" panose="020B0604020202020204" pitchFamily="34" charset="0"/>
              <a:buChar char="•"/>
            </a:pPr>
            <a:r>
              <a:rPr lang="en-US" b="0" dirty="0"/>
              <a:t>Rules must be explicitly written</a:t>
            </a:r>
          </a:p>
          <a:p>
            <a:pPr marL="171450" indent="-171450">
              <a:buFont typeface="Arial" panose="020B0604020202020204" pitchFamily="34" charset="0"/>
              <a:buChar char="•"/>
            </a:pPr>
            <a:r>
              <a:rPr lang="en-US" b="0" dirty="0"/>
              <a:t>Not scalable for complex problems</a:t>
            </a:r>
          </a:p>
          <a:p>
            <a:pPr marL="171450" indent="-171450">
              <a:buFont typeface="Arial" panose="020B0604020202020204" pitchFamily="34" charset="0"/>
              <a:buChar char="•"/>
            </a:pPr>
            <a:r>
              <a:rPr lang="en-US" b="0" dirty="0"/>
              <a:t>Cannot adapt or improve automatically</a:t>
            </a:r>
          </a:p>
          <a:p>
            <a:r>
              <a:rPr lang="en-US" dirty="0"/>
              <a:t> But What ML does ? ::::</a:t>
            </a:r>
            <a:r>
              <a:rPr lang="en-US" b="1" dirty="0"/>
              <a:t>Data + Output → Rules (Model</a:t>
            </a:r>
            <a:r>
              <a:rPr lang="en-US" dirty="0"/>
              <a:t>)</a:t>
            </a:r>
          </a:p>
          <a:p>
            <a:r>
              <a:rPr lang="en-US" dirty="0"/>
              <a:t>Thus-.</a:t>
            </a:r>
          </a:p>
          <a:p>
            <a:r>
              <a:rPr lang="en-US" dirty="0"/>
              <a:t>Learns patterns automatically</a:t>
            </a:r>
            <a:br>
              <a:rPr lang="en-US" dirty="0"/>
            </a:br>
            <a:r>
              <a:rPr lang="en-US" dirty="0"/>
              <a:t>Improves with more data</a:t>
            </a:r>
          </a:p>
          <a:p>
            <a:r>
              <a:rPr lang="en-US" b="1" dirty="0"/>
              <a:t>Example: </a:t>
            </a:r>
            <a:r>
              <a:rPr lang="en-US" dirty="0"/>
              <a:t>Spam detection</a:t>
            </a:r>
          </a:p>
          <a:p>
            <a:r>
              <a:rPr lang="en-US" dirty="0"/>
              <a:t>Traditional: Write thousands of rules </a:t>
            </a:r>
          </a:p>
          <a:p>
            <a:r>
              <a:rPr lang="en-US" dirty="0"/>
              <a:t>ML: Learn spam patterns from emails </a:t>
            </a:r>
          </a:p>
          <a:p>
            <a:endParaRPr lang="en-US" dirty="0"/>
          </a:p>
          <a:p>
            <a:r>
              <a:rPr lang="en-US" b="1" dirty="0"/>
              <a:t>2. Explosion of Data (Big Data Era)</a:t>
            </a:r>
          </a:p>
          <a:p>
            <a:r>
              <a:rPr lang="en-US" dirty="0"/>
              <a:t>Today we generate:</a:t>
            </a:r>
          </a:p>
          <a:p>
            <a:pPr marL="228600" indent="-228600">
              <a:buFont typeface="+mj-lt"/>
              <a:buAutoNum type="arabicPeriod"/>
            </a:pPr>
            <a:r>
              <a:rPr lang="en-US" dirty="0"/>
              <a:t>Social media data</a:t>
            </a:r>
          </a:p>
          <a:p>
            <a:pPr marL="228600" indent="-228600">
              <a:buFont typeface="+mj-lt"/>
              <a:buAutoNum type="arabicPeriod"/>
            </a:pPr>
            <a:r>
              <a:rPr lang="en-US" dirty="0"/>
              <a:t>Sensor data</a:t>
            </a:r>
          </a:p>
          <a:p>
            <a:pPr marL="228600" indent="-228600">
              <a:buFont typeface="+mj-lt"/>
              <a:buAutoNum type="arabicPeriod"/>
            </a:pPr>
            <a:r>
              <a:rPr lang="en-US" dirty="0"/>
              <a:t>Images, videos, audio</a:t>
            </a:r>
          </a:p>
          <a:p>
            <a:pPr marL="228600" indent="-228600">
              <a:buFont typeface="+mj-lt"/>
              <a:buAutoNum type="arabicPeriod"/>
            </a:pPr>
            <a:r>
              <a:rPr lang="en-US" dirty="0"/>
              <a:t>Transaction records</a:t>
            </a:r>
          </a:p>
          <a:p>
            <a:r>
              <a:rPr lang="en-US" dirty="0"/>
              <a:t>Humans cannot analyze this manually but ML </a:t>
            </a:r>
            <a:r>
              <a:rPr lang="en-US" b="1" dirty="0"/>
              <a:t>finds hidden patterns</a:t>
            </a:r>
            <a:r>
              <a:rPr lang="en-US" dirty="0"/>
              <a:t> in massive data</a:t>
            </a:r>
          </a:p>
          <a:p>
            <a:r>
              <a:rPr lang="en-US" dirty="0"/>
              <a:t>Example: Netflix recommendations</a:t>
            </a:r>
          </a:p>
          <a:p>
            <a:r>
              <a:rPr lang="en-US" dirty="0"/>
              <a:t>Google search ranking</a:t>
            </a:r>
          </a:p>
          <a:p>
            <a:r>
              <a:rPr lang="en-US" dirty="0"/>
              <a:t>Credit card fraud detection</a:t>
            </a:r>
          </a:p>
          <a:p>
            <a:endParaRPr lang="en-US" dirty="0"/>
          </a:p>
          <a:p>
            <a:r>
              <a:rPr lang="en-US" b="1" dirty="0"/>
              <a:t>3. Problems Where Rules Are Unknown or Impossible</a:t>
            </a:r>
          </a:p>
          <a:p>
            <a:r>
              <a:rPr lang="en-US" dirty="0"/>
              <a:t>Some problems </a:t>
            </a:r>
            <a:r>
              <a:rPr lang="en-US" b="1" dirty="0"/>
              <a:t>cannot be defined using fixed rules</a:t>
            </a:r>
            <a:r>
              <a:rPr lang="en-US" dirty="0"/>
              <a:t>.</a:t>
            </a:r>
          </a:p>
          <a:p>
            <a:r>
              <a:rPr lang="en-US" dirty="0"/>
              <a:t>Examples:</a:t>
            </a:r>
          </a:p>
          <a:p>
            <a:pPr marL="228600" indent="-228600">
              <a:buFont typeface="+mj-lt"/>
              <a:buAutoNum type="arabicPeriod"/>
            </a:pPr>
            <a:r>
              <a:rPr lang="en-US" dirty="0"/>
              <a:t>Speech recognition</a:t>
            </a:r>
          </a:p>
          <a:p>
            <a:pPr marL="228600" indent="-228600">
              <a:buFont typeface="+mj-lt"/>
              <a:buAutoNum type="arabicPeriod"/>
            </a:pPr>
            <a:r>
              <a:rPr lang="en-US" dirty="0"/>
              <a:t>Face recognition</a:t>
            </a:r>
          </a:p>
          <a:p>
            <a:pPr marL="228600" indent="-228600">
              <a:buFont typeface="+mj-lt"/>
              <a:buAutoNum type="arabicPeriod"/>
            </a:pPr>
            <a:r>
              <a:rPr lang="en-US" dirty="0"/>
              <a:t>Language translation</a:t>
            </a:r>
          </a:p>
          <a:p>
            <a:pPr marL="228600" indent="-228600">
              <a:buFont typeface="+mj-lt"/>
              <a:buAutoNum type="arabicPeriod"/>
            </a:pPr>
            <a:r>
              <a:rPr lang="en-US" dirty="0"/>
              <a:t>Handwriting recognition</a:t>
            </a:r>
          </a:p>
          <a:p>
            <a:r>
              <a:rPr lang="en-US" dirty="0"/>
              <a:t>ML learns directly from examples instead of rules</a:t>
            </a:r>
          </a:p>
          <a:p>
            <a:endParaRPr lang="en-US" dirty="0"/>
          </a:p>
          <a:p>
            <a:r>
              <a:rPr lang="en-US" b="1" dirty="0"/>
              <a:t>4. Systems That Must Learn &amp; Adapt</a:t>
            </a:r>
          </a:p>
          <a:p>
            <a:r>
              <a:rPr lang="en-US" dirty="0"/>
              <a:t>ML systems can </a:t>
            </a:r>
            <a:r>
              <a:rPr lang="en-US" b="1" dirty="0"/>
              <a:t>improve over time</a:t>
            </a:r>
            <a:r>
              <a:rPr lang="en-US" dirty="0"/>
              <a:t>.</a:t>
            </a:r>
          </a:p>
          <a:p>
            <a:r>
              <a:rPr lang="en-US" dirty="0"/>
              <a:t>Examples:</a:t>
            </a:r>
          </a:p>
          <a:p>
            <a:pPr marL="171450" indent="-171450">
              <a:buFont typeface="Arial" panose="020B0604020202020204" pitchFamily="34" charset="0"/>
              <a:buChar char="•"/>
            </a:pPr>
            <a:r>
              <a:rPr lang="en-US" dirty="0"/>
              <a:t>Self-driving cars learning road behavior</a:t>
            </a:r>
          </a:p>
          <a:p>
            <a:pPr marL="171450" indent="-171450">
              <a:buFont typeface="Arial" panose="020B0604020202020204" pitchFamily="34" charset="0"/>
              <a:buChar char="•"/>
            </a:pPr>
            <a:r>
              <a:rPr lang="en-US" dirty="0"/>
              <a:t>Recommendation systems adapting to user taste</a:t>
            </a:r>
          </a:p>
          <a:p>
            <a:pPr marL="171450" indent="-171450">
              <a:buFont typeface="Arial" panose="020B0604020202020204" pitchFamily="34" charset="0"/>
              <a:buChar char="•"/>
            </a:pPr>
            <a:r>
              <a:rPr lang="en-US" dirty="0"/>
              <a:t>Stock prediction models updating with new data</a:t>
            </a:r>
          </a:p>
          <a:p>
            <a:endParaRPr lang="en-US" dirty="0"/>
          </a:p>
          <a:p>
            <a:r>
              <a:rPr lang="en-US" b="1" dirty="0"/>
              <a:t>5. Automation &amp; Efficiency</a:t>
            </a:r>
          </a:p>
          <a:p>
            <a:r>
              <a:rPr lang="en-US" dirty="0"/>
              <a:t>ML enables:</a:t>
            </a:r>
          </a:p>
          <a:p>
            <a:pPr marL="171450" indent="-171450">
              <a:buFont typeface="Arial" panose="020B0604020202020204" pitchFamily="34" charset="0"/>
              <a:buChar char="•"/>
            </a:pPr>
            <a:r>
              <a:rPr lang="en-US" dirty="0"/>
              <a:t>Faster decision-making</a:t>
            </a:r>
          </a:p>
          <a:p>
            <a:pPr marL="171450" indent="-171450">
              <a:buFont typeface="Arial" panose="020B0604020202020204" pitchFamily="34" charset="0"/>
              <a:buChar char="•"/>
            </a:pPr>
            <a:r>
              <a:rPr lang="en-US" dirty="0"/>
              <a:t>Reduced human effort</a:t>
            </a:r>
          </a:p>
          <a:p>
            <a:pPr marL="171450" indent="-171450">
              <a:buFont typeface="Arial" panose="020B0604020202020204" pitchFamily="34" charset="0"/>
              <a:buChar char="•"/>
            </a:pPr>
            <a:r>
              <a:rPr lang="en-US" dirty="0"/>
              <a:t>24/7 operation</a:t>
            </a:r>
          </a:p>
          <a:p>
            <a:r>
              <a:rPr lang="en-US" dirty="0"/>
              <a:t>Examples:</a:t>
            </a:r>
          </a:p>
          <a:p>
            <a:pPr marL="171450" indent="-171450">
              <a:buFont typeface="Arial" panose="020B0604020202020204" pitchFamily="34" charset="0"/>
              <a:buChar char="•"/>
            </a:pPr>
            <a:r>
              <a:rPr lang="en-US" dirty="0"/>
              <a:t>Chatbots</a:t>
            </a:r>
          </a:p>
          <a:p>
            <a:pPr marL="171450" indent="-171450">
              <a:buFont typeface="Arial" panose="020B0604020202020204" pitchFamily="34" charset="0"/>
              <a:buChar char="•"/>
            </a:pPr>
            <a:r>
              <a:rPr lang="en-US" dirty="0"/>
              <a:t>Automated medical diagnosis</a:t>
            </a:r>
          </a:p>
          <a:p>
            <a:pPr marL="171450" indent="-171450">
              <a:buFont typeface="Arial" panose="020B0604020202020204" pitchFamily="34" charset="0"/>
              <a:buChar char="•"/>
            </a:pPr>
            <a:r>
              <a:rPr lang="en-US" dirty="0"/>
              <a:t>Smart assistants</a:t>
            </a:r>
          </a:p>
          <a:p>
            <a:endParaRPr lang="en-US" dirty="0"/>
          </a:p>
          <a:p>
            <a:r>
              <a:rPr lang="en-US" b="1" dirty="0"/>
              <a:t>6. Better Accuracy &amp; Predictions</a:t>
            </a:r>
          </a:p>
          <a:p>
            <a:r>
              <a:rPr lang="en-US" dirty="0"/>
              <a:t>ML models often outperform humans and rule-based systems when:</a:t>
            </a:r>
          </a:p>
          <a:p>
            <a:pPr marL="228600" indent="-228600">
              <a:buFont typeface="+mj-lt"/>
              <a:buAutoNum type="arabicPeriod"/>
            </a:pPr>
            <a:r>
              <a:rPr lang="en-US" dirty="0"/>
              <a:t>Data is large</a:t>
            </a:r>
          </a:p>
          <a:p>
            <a:pPr marL="228600" indent="-228600">
              <a:buFont typeface="+mj-lt"/>
              <a:buAutoNum type="arabicPeriod"/>
            </a:pPr>
            <a:r>
              <a:rPr lang="en-US" dirty="0"/>
              <a:t>Patterns are complex</a:t>
            </a:r>
          </a:p>
          <a:p>
            <a:r>
              <a:rPr lang="en-US" dirty="0"/>
              <a:t>Examples:</a:t>
            </a:r>
          </a:p>
          <a:p>
            <a:pPr marL="171450" indent="-171450">
              <a:buFont typeface="Arial" panose="020B0604020202020204" pitchFamily="34" charset="0"/>
              <a:buChar char="•"/>
            </a:pPr>
            <a:r>
              <a:rPr lang="en-US" dirty="0"/>
              <a:t>Disease prediction</a:t>
            </a:r>
          </a:p>
          <a:p>
            <a:pPr marL="171450" indent="-171450">
              <a:buFont typeface="Arial" panose="020B0604020202020204" pitchFamily="34" charset="0"/>
              <a:buChar char="•"/>
            </a:pPr>
            <a:r>
              <a:rPr lang="en-US" dirty="0"/>
              <a:t>Weather forecasting</a:t>
            </a:r>
          </a:p>
          <a:p>
            <a:pPr marL="171450" indent="-171450">
              <a:buFont typeface="Arial" panose="020B0604020202020204" pitchFamily="34" charset="0"/>
              <a:buChar char="•"/>
            </a:pPr>
            <a:r>
              <a:rPr lang="en-US" dirty="0"/>
              <a:t>Demand forecasting</a:t>
            </a:r>
          </a:p>
          <a:p>
            <a:endParaRPr lang="en-US" dirty="0"/>
          </a:p>
          <a:p>
            <a:r>
              <a:rPr lang="en-US" b="1" dirty="0"/>
              <a:t>7. Foundation of Modern AI</a:t>
            </a:r>
          </a:p>
          <a:p>
            <a:r>
              <a:rPr lang="en-US" dirty="0"/>
              <a:t>Machine Learning powers:</a:t>
            </a:r>
          </a:p>
          <a:p>
            <a:pPr marL="171450" indent="-171450">
              <a:buFont typeface="Arial" panose="020B0604020202020204" pitchFamily="34" charset="0"/>
              <a:buChar char="•"/>
            </a:pPr>
            <a:r>
              <a:rPr lang="en-US" dirty="0"/>
              <a:t>Artificial Intelligence</a:t>
            </a:r>
          </a:p>
          <a:p>
            <a:pPr marL="171450" indent="-171450">
              <a:buFont typeface="Arial" panose="020B0604020202020204" pitchFamily="34" charset="0"/>
              <a:buChar char="•"/>
            </a:pPr>
            <a:r>
              <a:rPr lang="en-US" dirty="0"/>
              <a:t>Deep Learning</a:t>
            </a:r>
          </a:p>
          <a:p>
            <a:pPr marL="171450" indent="-171450">
              <a:buFont typeface="Arial" panose="020B0604020202020204" pitchFamily="34" charset="0"/>
              <a:buChar char="•"/>
            </a:pPr>
            <a:r>
              <a:rPr lang="en-US" dirty="0"/>
              <a:t>Generative AI</a:t>
            </a:r>
          </a:p>
          <a:p>
            <a:pPr marL="171450" indent="-171450">
              <a:buFont typeface="Arial" panose="020B0604020202020204" pitchFamily="34" charset="0"/>
              <a:buChar char="•"/>
            </a:pPr>
            <a:r>
              <a:rPr lang="en-US" dirty="0"/>
              <a:t>Robotics</a:t>
            </a:r>
          </a:p>
          <a:p>
            <a:r>
              <a:rPr lang="en-US" dirty="0"/>
              <a:t>Without ML:  AI would remain </a:t>
            </a:r>
            <a:r>
              <a:rPr lang="en-US" b="1" dirty="0"/>
              <a:t>static and rule-based</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5</a:t>
            </a:fld>
            <a:endParaRPr lang="en-US"/>
          </a:p>
        </p:txBody>
      </p:sp>
    </p:spTree>
    <p:extLst>
      <p:ext uri="{BB962C8B-B14F-4D97-AF65-F5344CB8AC3E}">
        <p14:creationId xmlns:p14="http://schemas.microsoft.com/office/powerpoint/2010/main" val="2101467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endParaRPr lang="en-US" dirty="0"/>
          </a:p>
          <a:p>
            <a:pPr>
              <a:buFont typeface="Arial" panose="020B0604020202020204" pitchFamily="34" charset="0"/>
              <a:buChar char="•"/>
            </a:pPr>
            <a:r>
              <a:rPr lang="en-US" dirty="0"/>
              <a:t>Learning by analogy involves solving new problems or understanding new situations by drawing parallels with previously encountered problems or situations. It is a process of mapping knowledge from one domain to another.</a:t>
            </a:r>
          </a:p>
          <a:p>
            <a:r>
              <a:rPr lang="en-US" b="1" dirty="0"/>
              <a:t>Example:</a:t>
            </a:r>
            <a:endParaRPr lang="en-US" dirty="0"/>
          </a:p>
          <a:p>
            <a:pPr>
              <a:buFont typeface="Arial" panose="020B0604020202020204" pitchFamily="34" charset="0"/>
              <a:buChar char="•"/>
            </a:pPr>
            <a:r>
              <a:rPr lang="en-US" dirty="0"/>
              <a:t>Imagine solving a complex engineering problem by applying a solution learned in biology, such as using the structure of a honeycomb to design lightweight, strong building materials. This demonstrates how knowledge from one context is adapted to another.</a:t>
            </a:r>
          </a:p>
          <a:p>
            <a:endParaRPr lang="en-US" b="1" dirty="0"/>
          </a:p>
          <a:p>
            <a:r>
              <a:rPr lang="en-US" b="1" dirty="0"/>
              <a:t>Applications:</a:t>
            </a:r>
            <a:endParaRPr lang="en-US" dirty="0"/>
          </a:p>
          <a:p>
            <a:pPr>
              <a:buFont typeface="+mj-lt"/>
              <a:buAutoNum type="arabicPeriod"/>
            </a:pPr>
            <a:r>
              <a:rPr lang="en-US" b="1" dirty="0"/>
              <a:t>Case-Based Reasoning Systems</a:t>
            </a:r>
            <a:r>
              <a:rPr lang="en-US" dirty="0"/>
              <a:t>:</a:t>
            </a:r>
          </a:p>
          <a:p>
            <a:pPr marL="742950" lvl="1" indent="-285750">
              <a:buFont typeface="+mj-lt"/>
              <a:buAutoNum type="arabicPeriod"/>
            </a:pPr>
            <a:r>
              <a:rPr lang="en-US" dirty="0"/>
              <a:t>Systems store past cases and use analogies to solve new problems by finding and adapting solutions from similar previous cases.</a:t>
            </a:r>
          </a:p>
          <a:p>
            <a:pPr>
              <a:buFont typeface="+mj-lt"/>
              <a:buAutoNum type="arabicPeriod"/>
            </a:pPr>
            <a:r>
              <a:rPr lang="en-US" b="1" dirty="0"/>
              <a:t>Natural Language Processing (NLP)</a:t>
            </a:r>
            <a:r>
              <a:rPr lang="en-US" dirty="0"/>
              <a:t>:</a:t>
            </a:r>
          </a:p>
          <a:p>
            <a:pPr marL="742950" lvl="1" indent="-285750">
              <a:buFont typeface="+mj-lt"/>
              <a:buAutoNum type="arabicPeriod"/>
            </a:pPr>
            <a:r>
              <a:rPr lang="en-US" dirty="0"/>
              <a:t>Understanding metaphors and analogies in language, such as interpreting expressions like “time is money,” involves analogy-based reasoning.</a:t>
            </a:r>
          </a:p>
          <a:p>
            <a:r>
              <a:rPr lang="en-US" b="1" dirty="0"/>
              <a:t>Advantages:</a:t>
            </a:r>
            <a:endParaRPr lang="en-US" dirty="0"/>
          </a:p>
          <a:p>
            <a:pPr>
              <a:buFont typeface="Arial" panose="020B0604020202020204" pitchFamily="34" charset="0"/>
              <a:buChar char="•"/>
            </a:pPr>
            <a:r>
              <a:rPr lang="en-US" b="1" dirty="0"/>
              <a:t>Intuitive</a:t>
            </a:r>
            <a:r>
              <a:rPr lang="en-US" dirty="0"/>
              <a:t>: Mimics human reasoning, making it a natural and relatable learning method.</a:t>
            </a:r>
          </a:p>
          <a:p>
            <a:pPr>
              <a:buFont typeface="Arial" panose="020B0604020202020204" pitchFamily="34" charset="0"/>
              <a:buChar char="•"/>
            </a:pPr>
            <a:r>
              <a:rPr lang="en-US" b="1" dirty="0"/>
              <a:t>Efficient</a:t>
            </a:r>
            <a:r>
              <a:rPr lang="en-US" dirty="0"/>
              <a:t>: Reduces the need for exhaustive computation by leveraging existing knowledge.</a:t>
            </a:r>
          </a:p>
          <a:p>
            <a:endParaRPr lang="en-US" dirty="0"/>
          </a:p>
          <a:p>
            <a:endParaRPr lang="en-US" dirty="0"/>
          </a:p>
          <a:p>
            <a:r>
              <a:rPr lang="en-US" b="1" dirty="0"/>
              <a:t>Examples:</a:t>
            </a:r>
          </a:p>
          <a:p>
            <a:pPr>
              <a:buFont typeface="+mj-lt"/>
              <a:buAutoNum type="arabicPeriod"/>
            </a:pPr>
            <a:r>
              <a:rPr lang="en-US" b="1" dirty="0"/>
              <a:t>Biomimicry in Engineering</a:t>
            </a:r>
            <a:r>
              <a:rPr lang="en-US" dirty="0"/>
              <a:t>:</a:t>
            </a:r>
          </a:p>
          <a:p>
            <a:pPr marL="742950" lvl="1" indent="-285750">
              <a:buFont typeface="+mj-lt"/>
              <a:buAutoNum type="arabicPeriod"/>
            </a:pPr>
            <a:r>
              <a:rPr lang="en-US" dirty="0"/>
              <a:t>Engineers design bullet trains inspired by the beak of the kingfisher bird, which reduces noise and drag when diving into water. The analogy from nature helps improve efficiency in transportation.</a:t>
            </a:r>
          </a:p>
          <a:p>
            <a:pPr>
              <a:buFont typeface="+mj-lt"/>
              <a:buAutoNum type="arabicPeriod"/>
            </a:pPr>
            <a:r>
              <a:rPr lang="en-US" b="1" dirty="0"/>
              <a:t>Education and Teaching</a:t>
            </a:r>
            <a:r>
              <a:rPr lang="en-US" dirty="0"/>
              <a:t>:</a:t>
            </a:r>
          </a:p>
          <a:p>
            <a:pPr marL="742950" lvl="1" indent="-285750">
              <a:buFont typeface="+mj-lt"/>
              <a:buAutoNum type="arabicPeriod"/>
            </a:pPr>
            <a:r>
              <a:rPr lang="en-US" dirty="0"/>
              <a:t>Teachers often use analogies to explain complex concepts. For example:</a:t>
            </a:r>
          </a:p>
          <a:p>
            <a:pPr marL="1143000" lvl="2" indent="-228600">
              <a:buFont typeface="+mj-lt"/>
              <a:buAutoNum type="arabicPeriod"/>
            </a:pPr>
            <a:r>
              <a:rPr lang="en-US" dirty="0"/>
              <a:t>Teaching electricity flow by comparing it to water flowing through pipes.</a:t>
            </a:r>
          </a:p>
          <a:p>
            <a:pPr marL="1143000" lvl="2" indent="-228600">
              <a:buFont typeface="+mj-lt"/>
              <a:buAutoNum type="arabicPeriod"/>
            </a:pPr>
            <a:r>
              <a:rPr lang="en-US" dirty="0"/>
              <a:t>Explaining the structure of an atom by comparing it to a solar system (electrons orbiting the nucleus like planets around the sun).</a:t>
            </a:r>
          </a:p>
          <a:p>
            <a:pPr>
              <a:buFont typeface="+mj-lt"/>
              <a:buAutoNum type="arabicPeriod"/>
            </a:pPr>
            <a:r>
              <a:rPr lang="en-US" b="1" dirty="0"/>
              <a:t>Medical Diagnosis</a:t>
            </a:r>
            <a:r>
              <a:rPr lang="en-US" dirty="0"/>
              <a:t>:</a:t>
            </a:r>
          </a:p>
          <a:p>
            <a:pPr marL="742950" lvl="1" indent="-285750">
              <a:buFont typeface="+mj-lt"/>
              <a:buAutoNum type="arabicPeriod"/>
            </a:pPr>
            <a:r>
              <a:rPr lang="en-US" dirty="0"/>
              <a:t>Doctors use analogy-based reasoning to diagnose diseases. For instance, if a patient’s symptoms resemble a known case of a specific illness, they use the knowledge of the prior case to suggest treatments.</a:t>
            </a:r>
          </a:p>
          <a:p>
            <a:pPr>
              <a:buFont typeface="+mj-lt"/>
              <a:buAutoNum type="arabicPeriod"/>
            </a:pPr>
            <a:r>
              <a:rPr lang="en-US" b="1" dirty="0"/>
              <a:t>Software Development</a:t>
            </a:r>
            <a:r>
              <a:rPr lang="en-US" dirty="0"/>
              <a:t>:</a:t>
            </a:r>
          </a:p>
          <a:p>
            <a:pPr marL="742950" lvl="1" indent="-285750">
              <a:buFont typeface="+mj-lt"/>
              <a:buAutoNum type="arabicPeriod"/>
            </a:pPr>
            <a:r>
              <a:rPr lang="en-US" dirty="0"/>
              <a:t>A programmer may solve a new software bug by recalling a similar issue they resolved in another project and adapting the solution.</a:t>
            </a:r>
          </a:p>
          <a:p>
            <a:pPr>
              <a:buFont typeface="+mj-lt"/>
              <a:buAutoNum type="arabicPeriod"/>
            </a:pPr>
            <a:r>
              <a:rPr lang="en-US" b="1" dirty="0"/>
              <a:t>Marketing and Advertising</a:t>
            </a:r>
            <a:r>
              <a:rPr lang="en-US" dirty="0"/>
              <a:t>:</a:t>
            </a:r>
          </a:p>
          <a:p>
            <a:pPr marL="742950" lvl="1" indent="-285750">
              <a:buFont typeface="+mj-lt"/>
              <a:buAutoNum type="arabicPeriod"/>
            </a:pPr>
            <a:r>
              <a:rPr lang="en-US" dirty="0"/>
              <a:t>Analogies are often used in branding and messaging. For example, Apple used the analogy of “bicycles for the mind” to describe computers, emphasizing their ability to amplify human capabilities.</a:t>
            </a:r>
          </a:p>
          <a:p>
            <a:pPr>
              <a:buFont typeface="+mj-lt"/>
              <a:buAutoNum type="arabicPeriod"/>
            </a:pPr>
            <a:r>
              <a:rPr lang="en-US" b="1" dirty="0"/>
              <a:t>Robotics</a:t>
            </a:r>
            <a:r>
              <a:rPr lang="en-US" dirty="0"/>
              <a:t>:</a:t>
            </a:r>
          </a:p>
          <a:p>
            <a:pPr marL="742950" lvl="1" indent="-285750">
              <a:buFont typeface="+mj-lt"/>
              <a:buAutoNum type="arabicPeriod"/>
            </a:pPr>
            <a:r>
              <a:rPr lang="en-US" dirty="0"/>
              <a:t>Robots learn to perform tasks by observing human behavior. For example, a robot may learn to grasp objects by observing how humans manipulate objects using their hands.</a:t>
            </a:r>
          </a:p>
          <a:p>
            <a:pPr>
              <a:buFont typeface="+mj-lt"/>
              <a:buAutoNum type="arabicPeriod"/>
            </a:pPr>
            <a:r>
              <a:rPr lang="en-US" b="1" dirty="0"/>
              <a:t>Design Thinking</a:t>
            </a:r>
            <a:r>
              <a:rPr lang="en-US" dirty="0"/>
              <a:t>:</a:t>
            </a:r>
          </a:p>
          <a:p>
            <a:pPr marL="742950" lvl="1" indent="-285750">
              <a:buFont typeface="+mj-lt"/>
              <a:buAutoNum type="arabicPeriod"/>
            </a:pPr>
            <a:r>
              <a:rPr lang="en-US" dirty="0"/>
              <a:t>Designers use analogy to create innovative solutions. For example, designing a user interface for a complex software program by using the metaphor of a physical workspace (e.g., desktop icons representing documents or tools).</a:t>
            </a:r>
          </a:p>
          <a:p>
            <a:r>
              <a:rPr lang="en-US" b="1" dirty="0"/>
              <a:t>Why Analogical Learning is Powerful:</a:t>
            </a:r>
          </a:p>
          <a:p>
            <a:pPr>
              <a:buFont typeface="Arial" panose="020B0604020202020204" pitchFamily="34" charset="0"/>
              <a:buChar char="•"/>
            </a:pPr>
            <a:r>
              <a:rPr lang="en-US" dirty="0"/>
              <a:t>It bridges gaps between unfamiliar and familiar concepts.</a:t>
            </a:r>
          </a:p>
          <a:p>
            <a:pPr>
              <a:buFont typeface="Arial" panose="020B0604020202020204" pitchFamily="34" charset="0"/>
              <a:buChar char="•"/>
            </a:pPr>
            <a:r>
              <a:rPr lang="en-US" dirty="0"/>
              <a:t>It facilitates problem-solving in fields where direct solutions are unavailable by using insights from unrelated domains.</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6</a:t>
            </a:fld>
            <a:endParaRPr lang="en-US"/>
          </a:p>
        </p:txBody>
      </p:sp>
    </p:spTree>
    <p:extLst>
      <p:ext uri="{BB962C8B-B14F-4D97-AF65-F5344CB8AC3E}">
        <p14:creationId xmlns:p14="http://schemas.microsoft.com/office/powerpoint/2010/main" val="606455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Explanation-Based Learning (EBL) is a form of machine learning where the system learns from examples by constructing a general explanation of the problem domain. Unlike traditional learning techniques, which typically rely on a large number of labeled training examples, EBL focuses on using a single or a few examples, along with background knowledge, to form a general rule that can be applied to other similar situations.</a:t>
            </a:r>
          </a:p>
          <a:p>
            <a:r>
              <a:rPr lang="en-US" dirty="0"/>
              <a:t>Here’s how EBL generally works:</a:t>
            </a:r>
          </a:p>
          <a:p>
            <a:pPr>
              <a:buFont typeface="+mj-lt"/>
              <a:buAutoNum type="arabicPeriod"/>
            </a:pPr>
            <a:r>
              <a:rPr lang="en-US" b="1" dirty="0"/>
              <a:t>Observation</a:t>
            </a:r>
            <a:r>
              <a:rPr lang="en-US" dirty="0"/>
              <a:t>: The system observes a specific instance or a few examples of the task at hand. These are typically situations where the system has already observed or completed some form of reasoning or decision-making.</a:t>
            </a:r>
          </a:p>
          <a:p>
            <a:pPr>
              <a:buFont typeface="+mj-lt"/>
              <a:buAutoNum type="arabicPeriod"/>
            </a:pPr>
            <a:r>
              <a:rPr lang="en-US" b="1" dirty="0"/>
              <a:t>Explanation</a:t>
            </a:r>
            <a:r>
              <a:rPr lang="en-US" dirty="0"/>
              <a:t>: The system then uses its background knowledge to generate an explanation of why the observed instance is a valid example. This could involve applying existing domain rules or reasoning processes to the example to understand why the outcome occurred.</a:t>
            </a:r>
          </a:p>
          <a:p>
            <a:pPr>
              <a:buFont typeface="+mj-lt"/>
              <a:buAutoNum type="arabicPeriod"/>
            </a:pPr>
            <a:r>
              <a:rPr lang="en-US" b="1" dirty="0"/>
              <a:t>Generalization</a:t>
            </a:r>
            <a:r>
              <a:rPr lang="en-US" dirty="0"/>
              <a:t>: From the explanation, the system abstracts a more general rule or principle that applies not just to the example, but to a broader set of similar situations. This step may involve simplifying or removing irrelevant details, focusing only on the core features that lead to the outcome.</a:t>
            </a:r>
          </a:p>
          <a:p>
            <a:pPr>
              <a:buFont typeface="+mj-lt"/>
              <a:buAutoNum type="arabicPeriod"/>
            </a:pPr>
            <a:r>
              <a:rPr lang="en-US" b="1" dirty="0"/>
              <a:t>Learning</a:t>
            </a:r>
            <a:r>
              <a:rPr lang="en-US" dirty="0"/>
              <a:t>: The system incorporates this general rule into its knowledge base, effectively "learning" from the instance. The learned rule can then be used to solve new, unseen instances that share similar characteristics.</a:t>
            </a:r>
          </a:p>
          <a:p>
            <a:pPr>
              <a:buFont typeface="+mj-lt"/>
              <a:buAutoNum type="arabicPeriod"/>
            </a:pPr>
            <a:endParaRPr lang="en-US" dirty="0"/>
          </a:p>
          <a:p>
            <a:r>
              <a:rPr lang="en-US" b="1" dirty="0"/>
              <a:t>Advantages of EBL:</a:t>
            </a:r>
          </a:p>
          <a:p>
            <a:pPr>
              <a:buFont typeface="Arial" panose="020B0604020202020204" pitchFamily="34" charset="0"/>
              <a:buChar char="•"/>
            </a:pPr>
            <a:r>
              <a:rPr lang="en-US" b="1" dirty="0"/>
              <a:t>Efficiency</a:t>
            </a:r>
            <a:r>
              <a:rPr lang="en-US" dirty="0"/>
              <a:t>: Since it requires fewer examples, EBL can be more efficient in scenarios where examples are hard to obtain or expensive.</a:t>
            </a:r>
          </a:p>
          <a:p>
            <a:pPr>
              <a:buFont typeface="Arial" panose="020B0604020202020204" pitchFamily="34" charset="0"/>
              <a:buChar char="•"/>
            </a:pPr>
            <a:r>
              <a:rPr lang="en-US" b="1" dirty="0"/>
              <a:t>Leverage of background knowledge</a:t>
            </a:r>
            <a:r>
              <a:rPr lang="en-US" dirty="0"/>
              <a:t>: EBL makes explicit use of domain knowledge, which can improve learning in complex tasks where raw data alone may not be sufficient.</a:t>
            </a:r>
          </a:p>
          <a:p>
            <a:r>
              <a:rPr lang="en-US" b="1" dirty="0"/>
              <a:t>Example:</a:t>
            </a:r>
          </a:p>
          <a:p>
            <a:r>
              <a:rPr lang="en-US" dirty="0"/>
              <a:t>Consider a scenario where a robot needs to learn how to stack objects. If it observes one successful attempt at stacking, it can generate an explanation based on its knowledge (such as stability rules for stacking), and then generalize that rule to other stacking situations. Instead of needing hundreds of examples, it learns the principle from a single successful experience.</a:t>
            </a:r>
          </a:p>
          <a:p>
            <a:r>
              <a:rPr lang="en-US" dirty="0"/>
              <a:t>EBL is often seen as a way to improve learning efficiency, especially in cases where deep, domain-specific understanding is required to make sense of individual examples.</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8</a:t>
            </a:fld>
            <a:endParaRPr lang="en-US"/>
          </a:p>
        </p:txBody>
      </p:sp>
    </p:spTree>
    <p:extLst>
      <p:ext uri="{BB962C8B-B14F-4D97-AF65-F5344CB8AC3E}">
        <p14:creationId xmlns:p14="http://schemas.microsoft.com/office/powerpoint/2010/main" val="3033831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p>
          <a:p>
            <a:r>
              <a:rPr lang="en-US" dirty="0"/>
              <a:t>Supervised learning is a type of machine learning where the algorithm is trained on a </a:t>
            </a:r>
            <a:r>
              <a:rPr lang="en-US" b="1" dirty="0"/>
              <a:t>labeled dataset</a:t>
            </a:r>
            <a:r>
              <a:rPr lang="en-US" dirty="0"/>
              <a:t>. This means that for each input data point, the corresponding </a:t>
            </a:r>
            <a:r>
              <a:rPr lang="en-US" b="1" dirty="0"/>
              <a:t>correct output (label)</a:t>
            </a:r>
            <a:r>
              <a:rPr lang="en-US" dirty="0"/>
              <a:t> is also provided. The goal is for the model to learn the mapping from inputs to outputs so that it can </a:t>
            </a:r>
            <a:r>
              <a:rPr lang="en-US" b="1" dirty="0"/>
              <a:t>predict the output for new, unseen inputs</a:t>
            </a:r>
            <a:r>
              <a:rPr lang="en-US" dirty="0"/>
              <a:t>.</a:t>
            </a:r>
          </a:p>
          <a:p>
            <a:r>
              <a:rPr lang="en-US" dirty="0"/>
              <a:t>It is called </a:t>
            </a:r>
            <a:r>
              <a:rPr lang="en-US" i="1" dirty="0"/>
              <a:t>“supervised”</a:t>
            </a:r>
            <a:r>
              <a:rPr lang="en-US" dirty="0"/>
              <a:t> because the learning process is guided by the ground truth labels, like a teacher supervising the learning process.</a:t>
            </a:r>
          </a:p>
          <a:p>
            <a:r>
              <a:rPr lang="en-US" b="1" dirty="0"/>
              <a:t>🔹 Example:</a:t>
            </a:r>
          </a:p>
          <a:p>
            <a:r>
              <a:rPr lang="en-US" dirty="0"/>
              <a:t>Imagine a dataset of student exam scores and their final grades (A, B, C...).</a:t>
            </a:r>
            <a:br>
              <a:rPr lang="en-US" dirty="0"/>
            </a:br>
            <a:r>
              <a:rPr lang="en-US" dirty="0"/>
              <a:t>Here, the input features might be:</a:t>
            </a:r>
          </a:p>
          <a:p>
            <a:r>
              <a:rPr lang="en-US" dirty="0"/>
              <a:t>Hours studied</a:t>
            </a:r>
          </a:p>
          <a:p>
            <a:r>
              <a:rPr lang="en-US" dirty="0"/>
              <a:t>Attendance</a:t>
            </a:r>
          </a:p>
          <a:p>
            <a:r>
              <a:rPr lang="en-US" dirty="0"/>
              <a:t>Assignment scores</a:t>
            </a:r>
          </a:p>
          <a:p>
            <a:r>
              <a:rPr lang="en-US" dirty="0"/>
              <a:t>The label/output is:</a:t>
            </a:r>
          </a:p>
          <a:p>
            <a:r>
              <a:rPr lang="en-US" dirty="0"/>
              <a:t>Final grade</a:t>
            </a:r>
          </a:p>
          <a:p>
            <a:r>
              <a:rPr lang="en-US" dirty="0"/>
              <a:t>The model learns how these inputs relate to the output so it can predict a student’s grade based on similar features.</a:t>
            </a:r>
          </a:p>
          <a:p>
            <a:r>
              <a:rPr lang="en-US" b="1" dirty="0"/>
              <a:t>🔹 How it Works:</a:t>
            </a:r>
          </a:p>
          <a:p>
            <a:r>
              <a:rPr lang="en-US" dirty="0"/>
              <a:t>You provide the algorithm with a </a:t>
            </a:r>
            <a:r>
              <a:rPr lang="en-US" b="1" dirty="0"/>
              <a:t>training dataset</a:t>
            </a:r>
            <a:r>
              <a:rPr lang="en-US" dirty="0"/>
              <a:t> that includes both the input (features) and the correct output (label).</a:t>
            </a:r>
          </a:p>
          <a:p>
            <a:r>
              <a:rPr lang="en-US" dirty="0"/>
              <a:t>The algorithm processes the data and adjusts its internal parameters to </a:t>
            </a:r>
            <a:r>
              <a:rPr lang="en-US" b="1" dirty="0"/>
              <a:t>minimize the difference between the predicted output and the actual output</a:t>
            </a:r>
            <a:r>
              <a:rPr lang="en-US" dirty="0"/>
              <a:t>.</a:t>
            </a:r>
          </a:p>
          <a:p>
            <a:r>
              <a:rPr lang="en-US" dirty="0"/>
              <a:t>After training, the model is tested on new data to check how accurately it can </a:t>
            </a:r>
            <a:r>
              <a:rPr lang="en-US" b="1" dirty="0"/>
              <a:t>generalize</a:t>
            </a:r>
            <a:r>
              <a:rPr lang="en-US" dirty="0"/>
              <a:t> the pattern it has learned.</a:t>
            </a:r>
          </a:p>
          <a:p>
            <a:r>
              <a:rPr lang="en-US" b="1" dirty="0"/>
              <a:t>🔹 Core Idea:</a:t>
            </a:r>
          </a:p>
          <a:p>
            <a:r>
              <a:rPr lang="en-US" dirty="0"/>
              <a:t>It’s essentially a </a:t>
            </a:r>
            <a:r>
              <a:rPr lang="en-US" b="1" dirty="0"/>
              <a:t>function approximation problem</a:t>
            </a:r>
            <a:r>
              <a:rPr lang="en-US" dirty="0"/>
              <a:t> — the model tries to find a function f(x) such that:</a:t>
            </a:r>
          </a:p>
          <a:p>
            <a:r>
              <a:rPr lang="en-US" dirty="0"/>
              <a:t>f(input) ≈ output</a:t>
            </a:r>
          </a:p>
          <a:p>
            <a:r>
              <a:rPr lang="en-US" b="1" dirty="0"/>
              <a:t>🔹 Categories of Supervised Learning:</a:t>
            </a:r>
          </a:p>
          <a:p>
            <a:r>
              <a:rPr lang="en-US" b="1" dirty="0"/>
              <a:t>Classification</a:t>
            </a:r>
            <a:r>
              <a:rPr lang="en-US" dirty="0"/>
              <a:t> – When the output is a category (e.g., Spam/Not Spam)</a:t>
            </a:r>
          </a:p>
          <a:p>
            <a:r>
              <a:rPr lang="en-US" b="1" dirty="0"/>
              <a:t>Regression</a:t>
            </a:r>
            <a:r>
              <a:rPr lang="en-US" dirty="0"/>
              <a:t> – When the output is a continuous value (e.g., price, temperature)</a:t>
            </a:r>
          </a:p>
          <a:p>
            <a:r>
              <a:rPr lang="en-US" b="1" dirty="0"/>
              <a:t>🔹 Importance:</a:t>
            </a:r>
          </a:p>
          <a:p>
            <a:r>
              <a:rPr lang="en-US" dirty="0"/>
              <a:t>Supervised learning is widely used in practical applications because </a:t>
            </a:r>
            <a:r>
              <a:rPr lang="en-US" b="1" dirty="0"/>
              <a:t>real-world problems often come with labeled data</a:t>
            </a:r>
            <a:r>
              <a:rPr lang="en-US" dirty="0"/>
              <a:t>.</a:t>
            </a:r>
          </a:p>
          <a:p>
            <a:r>
              <a:rPr lang="en-US" dirty="0"/>
              <a:t>It allows us to </a:t>
            </a:r>
            <a:r>
              <a:rPr lang="en-US" b="1" dirty="0"/>
              <a:t>make informed decisions and predictions</a:t>
            </a:r>
            <a:r>
              <a:rPr lang="en-US" dirty="0"/>
              <a:t> based on historical data.</a:t>
            </a:r>
          </a:p>
          <a:p>
            <a:endParaRPr lang="en-US" dirty="0"/>
          </a:p>
          <a:p>
            <a:endParaRPr lang="en-US" dirty="0"/>
          </a:p>
          <a:p>
            <a:endParaRPr lang="en-US" dirty="0"/>
          </a:p>
          <a:p>
            <a:endParaRPr lang="en-US" dirty="0"/>
          </a:p>
          <a:p>
            <a:endParaRPr lang="en-US" dirty="0"/>
          </a:p>
          <a:p>
            <a:endParaRPr lang="en-US" dirty="0"/>
          </a:p>
          <a:p>
            <a:endParaRPr lang="en-US"/>
          </a:p>
          <a:p>
            <a:endParaRPr lang="en-US" dirty="0"/>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10</a:t>
            </a:fld>
            <a:endParaRPr lang="en-US"/>
          </a:p>
        </p:txBody>
      </p:sp>
    </p:spTree>
    <p:extLst>
      <p:ext uri="{BB962C8B-B14F-4D97-AF65-F5344CB8AC3E}">
        <p14:creationId xmlns:p14="http://schemas.microsoft.com/office/powerpoint/2010/main" val="12390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spcAft>
                <a:spcPts val="1050"/>
              </a:spcAft>
            </a:pPr>
            <a:r>
              <a:rPr lang="en-US" b="0" i="0" dirty="0">
                <a:solidFill>
                  <a:srgbClr val="444444"/>
                </a:solidFill>
                <a:effectLst/>
                <a:latin typeface="Titillium"/>
              </a:rPr>
              <a:t>Advantages of Supervised Learning</a:t>
            </a:r>
          </a:p>
          <a:p>
            <a:pPr algn="l" fontAlgn="base"/>
            <a:r>
              <a:rPr lang="en-US" b="0" i="0" dirty="0">
                <a:solidFill>
                  <a:srgbClr val="444444"/>
                </a:solidFill>
                <a:effectLst/>
                <a:latin typeface="Titillium"/>
              </a:rPr>
              <a:t>1. This type of learning is easy to understand. It is the most common type of learning method. For, learning ML, people should start by practicing supervised learning.</a:t>
            </a:r>
          </a:p>
          <a:p>
            <a:pPr algn="l" fontAlgn="base"/>
            <a:r>
              <a:rPr lang="en-US" b="0" i="0" dirty="0">
                <a:solidFill>
                  <a:srgbClr val="444444"/>
                </a:solidFill>
                <a:effectLst/>
                <a:latin typeface="Titillium"/>
              </a:rPr>
              <a:t>2. The training data is only necessary for training the model. Since it is large it occupies a lot of </a:t>
            </a:r>
            <a:r>
              <a:rPr lang="en-US" b="1" i="0" dirty="0">
                <a:solidFill>
                  <a:srgbClr val="444444"/>
                </a:solidFill>
                <a:effectLst/>
                <a:latin typeface="inherit"/>
              </a:rPr>
              <a:t>space</a:t>
            </a:r>
            <a:r>
              <a:rPr lang="en-US" b="0" i="0" dirty="0">
                <a:solidFill>
                  <a:srgbClr val="444444"/>
                </a:solidFill>
                <a:effectLst/>
                <a:latin typeface="Titillium"/>
              </a:rPr>
              <a:t>. But, it’s removed from the memory as it is of no importance after training is complete.</a:t>
            </a:r>
          </a:p>
          <a:p>
            <a:pPr algn="l" fontAlgn="base"/>
            <a:r>
              <a:rPr lang="en-US" b="0" i="0" dirty="0">
                <a:solidFill>
                  <a:srgbClr val="444444"/>
                </a:solidFill>
                <a:effectLst/>
                <a:latin typeface="Titillium"/>
              </a:rPr>
              <a:t>3. We would already know the number of classes in the data.</a:t>
            </a:r>
          </a:p>
          <a:p>
            <a:pPr algn="l" fontAlgn="base"/>
            <a:r>
              <a:rPr lang="en-US" b="0" i="0" dirty="0">
                <a:solidFill>
                  <a:srgbClr val="444444"/>
                </a:solidFill>
                <a:effectLst/>
                <a:latin typeface="Titillium"/>
              </a:rPr>
              <a:t>4. After training, the model would for which specific data the output needs to be predicted as all the data in the collection is not important.</a:t>
            </a:r>
          </a:p>
          <a:p>
            <a:pPr algn="l" fontAlgn="base"/>
            <a:r>
              <a:rPr lang="en-US" b="0" i="0" dirty="0">
                <a:solidFill>
                  <a:srgbClr val="444444"/>
                </a:solidFill>
                <a:effectLst/>
                <a:latin typeface="Titillium"/>
              </a:rPr>
              <a:t>5. It is very helpful in solving real-world computational problems.</a:t>
            </a:r>
          </a:p>
          <a:p>
            <a:pPr algn="l" fontAlgn="base"/>
            <a:r>
              <a:rPr lang="en-US" b="0" i="0" dirty="0">
                <a:solidFill>
                  <a:srgbClr val="444444"/>
                </a:solidFill>
                <a:effectLst/>
                <a:latin typeface="Titillium"/>
              </a:rPr>
              <a:t>6. This learning method can also help the model to learn from previous experiences and to improve its accuracy in prediction.</a:t>
            </a:r>
          </a:p>
          <a:p>
            <a:endParaRPr lang="en-US" dirty="0"/>
          </a:p>
          <a:p>
            <a:endParaRPr lang="en-US" dirty="0"/>
          </a:p>
          <a:p>
            <a:endParaRPr lang="en-US" dirty="0"/>
          </a:p>
          <a:p>
            <a:pPr algn="l" fontAlgn="base">
              <a:spcAft>
                <a:spcPts val="1050"/>
              </a:spcAft>
            </a:pPr>
            <a:r>
              <a:rPr lang="en-US" b="0" i="0" dirty="0">
                <a:solidFill>
                  <a:srgbClr val="444444"/>
                </a:solidFill>
                <a:effectLst/>
                <a:latin typeface="Titillium"/>
              </a:rPr>
              <a:t>Disadvantages of Supervised Machine Learning</a:t>
            </a:r>
          </a:p>
          <a:p>
            <a:pPr algn="l" fontAlgn="base"/>
            <a:r>
              <a:rPr lang="en-US" b="0" i="0" dirty="0">
                <a:solidFill>
                  <a:srgbClr val="444444"/>
                </a:solidFill>
                <a:effectLst/>
                <a:latin typeface="Titillium"/>
              </a:rPr>
              <a:t>1. It’s performances are limited to the fact that it can’t handle complex problems in ML.</a:t>
            </a:r>
          </a:p>
          <a:p>
            <a:pPr algn="l" fontAlgn="base"/>
            <a:r>
              <a:rPr lang="en-US" b="0" i="0" dirty="0">
                <a:solidFill>
                  <a:srgbClr val="444444"/>
                </a:solidFill>
                <a:effectLst/>
                <a:latin typeface="Titillium"/>
              </a:rPr>
              <a:t>2. It cannot create labels of its own. This means that, it cannot discover data on its own like </a:t>
            </a:r>
            <a:r>
              <a:rPr lang="en-US" b="1" i="0" dirty="0">
                <a:solidFill>
                  <a:srgbClr val="444444"/>
                </a:solidFill>
                <a:effectLst/>
                <a:latin typeface="inherit"/>
              </a:rPr>
              <a:t>unsupervised</a:t>
            </a:r>
            <a:r>
              <a:rPr lang="en-US" b="0" i="0" dirty="0">
                <a:solidFill>
                  <a:srgbClr val="444444"/>
                </a:solidFill>
                <a:effectLst/>
                <a:latin typeface="Titillium"/>
              </a:rPr>
              <a:t> learning.</a:t>
            </a:r>
          </a:p>
          <a:p>
            <a:pPr algn="l" fontAlgn="base"/>
            <a:r>
              <a:rPr lang="en-US" b="0" i="0" dirty="0">
                <a:solidFill>
                  <a:srgbClr val="444444"/>
                </a:solidFill>
                <a:effectLst/>
                <a:latin typeface="Titillium"/>
              </a:rPr>
              <a:t>3. If we enter new data, it has to be from any of the given classes only. If you enter watermelon data in a collection of apples and oranges, it might classify the watermelon into one of these classes, which won’t be right.</a:t>
            </a:r>
          </a:p>
          <a:p>
            <a:pPr algn="l" fontAlgn="base"/>
            <a:r>
              <a:rPr lang="en-US" b="0" i="0" dirty="0">
                <a:solidFill>
                  <a:srgbClr val="444444"/>
                </a:solidFill>
                <a:effectLst/>
                <a:latin typeface="Titillium"/>
              </a:rPr>
              <a:t>4. It would require a good computer with quality processors to train a supervised learning-based model. It requires high computation power, which not all PC’s might have.</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11</a:t>
            </a:fld>
            <a:endParaRPr lang="en-US"/>
          </a:p>
        </p:txBody>
      </p:sp>
    </p:spTree>
    <p:extLst>
      <p:ext uri="{BB962C8B-B14F-4D97-AF65-F5344CB8AC3E}">
        <p14:creationId xmlns:p14="http://schemas.microsoft.com/office/powerpoint/2010/main" val="2850753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444444"/>
                </a:solidFill>
                <a:latin typeface="Titillium"/>
              </a:rPr>
              <a:t>1. Classification</a:t>
            </a:r>
          </a:p>
          <a:p>
            <a:pPr algn="l" fontAlgn="base"/>
            <a:r>
              <a:rPr lang="en-US" b="0" i="0" dirty="0">
                <a:solidFill>
                  <a:srgbClr val="444444"/>
                </a:solidFill>
                <a:effectLst/>
                <a:latin typeface="Titillium"/>
              </a:rPr>
              <a:t>Classification is a technique with which we can </a:t>
            </a:r>
            <a:r>
              <a:rPr lang="en-US" b="1" i="0" dirty="0">
                <a:solidFill>
                  <a:srgbClr val="444444"/>
                </a:solidFill>
                <a:effectLst/>
                <a:latin typeface="inherit"/>
              </a:rPr>
              <a:t>affiliate</a:t>
            </a:r>
            <a:r>
              <a:rPr lang="en-US" b="0" i="0" dirty="0">
                <a:solidFill>
                  <a:srgbClr val="444444"/>
                </a:solidFill>
                <a:effectLst/>
                <a:latin typeface="Titillium"/>
              </a:rPr>
              <a:t> data under certain labels. We can train algorithms and models to classify data under different classes.</a:t>
            </a:r>
          </a:p>
          <a:p>
            <a:pPr algn="l" fontAlgn="base"/>
            <a:r>
              <a:rPr lang="en-US" b="0" i="0" dirty="0">
                <a:solidFill>
                  <a:srgbClr val="444444"/>
                </a:solidFill>
                <a:effectLst/>
                <a:latin typeface="Titillium"/>
              </a:rPr>
              <a:t>For example, if you have data of fruits consisting of apples and oranges, your model will learn from the data about the specifications of the fruits.</a:t>
            </a:r>
          </a:p>
          <a:p>
            <a:pPr algn="l" fontAlgn="base"/>
            <a:r>
              <a:rPr lang="en-US" b="0" i="0" dirty="0">
                <a:solidFill>
                  <a:srgbClr val="444444"/>
                </a:solidFill>
                <a:effectLst/>
                <a:latin typeface="Titillium"/>
              </a:rPr>
              <a:t>The next time you enter new data, the model will compare your data and then classify it under either class. </a:t>
            </a:r>
            <a:endParaRPr lang="en-US" dirty="0">
              <a:solidFill>
                <a:srgbClr val="444444"/>
              </a:solidFill>
              <a:latin typeface="Titillium"/>
            </a:endParaRPr>
          </a:p>
          <a:p>
            <a:pPr marL="0" indent="0">
              <a:buNone/>
            </a:pPr>
            <a:r>
              <a:rPr lang="en-US" dirty="0">
                <a:solidFill>
                  <a:srgbClr val="444444"/>
                </a:solidFill>
                <a:latin typeface="Titillium"/>
              </a:rPr>
              <a:t>	Binomial Classification</a:t>
            </a:r>
          </a:p>
          <a:p>
            <a:pPr marL="0" indent="0">
              <a:buNone/>
            </a:pPr>
            <a:r>
              <a:rPr lang="en-US" dirty="0">
                <a:solidFill>
                  <a:srgbClr val="444444"/>
                </a:solidFill>
                <a:latin typeface="Titillium"/>
              </a:rPr>
              <a:t>	Multi-Class Classification</a:t>
            </a:r>
            <a:endParaRPr lang="en-US" b="0" i="0" dirty="0">
              <a:solidFill>
                <a:srgbClr val="444444"/>
              </a:solidFill>
              <a:effectLst/>
              <a:latin typeface="Titillium"/>
            </a:endParaRPr>
          </a:p>
          <a:p>
            <a:r>
              <a:rPr lang="en-US" b="0" i="0" dirty="0">
                <a:solidFill>
                  <a:srgbClr val="444444"/>
                </a:solidFill>
                <a:effectLst/>
                <a:latin typeface="Titillium"/>
              </a:rPr>
              <a:t>2. Regression</a:t>
            </a:r>
          </a:p>
          <a:p>
            <a:pPr algn="l" fontAlgn="base"/>
            <a:r>
              <a:rPr lang="en-US" b="0" i="0" dirty="0">
                <a:solidFill>
                  <a:srgbClr val="444444"/>
                </a:solidFill>
                <a:effectLst/>
                <a:latin typeface="Titillium"/>
              </a:rPr>
              <a:t>Regression helps us to understand the relationship between various data points and helps us to find hidden patterns among the data.</a:t>
            </a:r>
          </a:p>
          <a:p>
            <a:pPr algn="l" fontAlgn="base"/>
            <a:r>
              <a:rPr lang="en-US" b="0" i="0" dirty="0">
                <a:solidFill>
                  <a:srgbClr val="444444"/>
                </a:solidFill>
                <a:effectLst/>
                <a:latin typeface="Titillium"/>
              </a:rPr>
              <a:t>We have both dependent and independent variables in this case which can help us to understand the relation with the help of </a:t>
            </a:r>
            <a:r>
              <a:rPr lang="en-US" b="1" i="0" dirty="0">
                <a:solidFill>
                  <a:srgbClr val="444444"/>
                </a:solidFill>
                <a:effectLst/>
                <a:latin typeface="inherit"/>
              </a:rPr>
              <a:t>graphical</a:t>
            </a:r>
            <a:r>
              <a:rPr lang="en-US" b="0" i="0" dirty="0">
                <a:solidFill>
                  <a:srgbClr val="444444"/>
                </a:solidFill>
                <a:effectLst/>
                <a:latin typeface="Titillium"/>
              </a:rPr>
              <a:t> representations.</a:t>
            </a:r>
          </a:p>
          <a:p>
            <a:pPr marL="0" indent="0">
              <a:buNone/>
            </a:pPr>
            <a:r>
              <a:rPr lang="en-US" b="0" i="0" dirty="0">
                <a:solidFill>
                  <a:srgbClr val="444444"/>
                </a:solidFill>
                <a:effectLst/>
                <a:latin typeface="Titillium"/>
              </a:rPr>
              <a:t>	Linear Regression</a:t>
            </a:r>
            <a:br>
              <a:rPr lang="en-US" b="0" i="0" dirty="0">
                <a:solidFill>
                  <a:srgbClr val="444444"/>
                </a:solidFill>
                <a:effectLst/>
                <a:latin typeface="Titillium"/>
              </a:rPr>
            </a:br>
            <a:r>
              <a:rPr lang="en-US" b="0" i="0" dirty="0">
                <a:solidFill>
                  <a:srgbClr val="444444"/>
                </a:solidFill>
                <a:effectLst/>
                <a:latin typeface="Titillium"/>
              </a:rPr>
              <a:t>	Logistics Regression</a:t>
            </a:r>
          </a:p>
          <a:p>
            <a:endParaRPr lang="en-US" dirty="0"/>
          </a:p>
          <a:p>
            <a:pPr algn="l" fontAlgn="base">
              <a:spcAft>
                <a:spcPts val="1050"/>
              </a:spcAft>
            </a:pPr>
            <a:r>
              <a:rPr lang="en-US" b="0" i="0" dirty="0">
                <a:solidFill>
                  <a:srgbClr val="444444"/>
                </a:solidFill>
                <a:effectLst/>
                <a:latin typeface="Titillium"/>
              </a:rPr>
              <a:t>a. Linear Regression in ML</a:t>
            </a:r>
          </a:p>
          <a:p>
            <a:pPr algn="l" fontAlgn="base"/>
            <a:r>
              <a:rPr lang="en-US" b="0" i="0" dirty="0">
                <a:solidFill>
                  <a:srgbClr val="444444"/>
                </a:solidFill>
                <a:effectLst/>
                <a:latin typeface="Titillium"/>
              </a:rPr>
              <a:t>It is an ML algorithm, which includes modelling with the help of a dependent variable. As the name suggests, this is a linear model. The format of the projection for this model is </a:t>
            </a:r>
            <a:r>
              <a:rPr lang="en-US" b="1" i="0" dirty="0">
                <a:solidFill>
                  <a:srgbClr val="444444"/>
                </a:solidFill>
                <a:effectLst/>
                <a:latin typeface="inherit"/>
              </a:rPr>
              <a:t>Y= </a:t>
            </a:r>
            <a:r>
              <a:rPr lang="en-US" b="1" i="0" dirty="0" err="1">
                <a:solidFill>
                  <a:srgbClr val="444444"/>
                </a:solidFill>
                <a:effectLst/>
                <a:latin typeface="inherit"/>
              </a:rPr>
              <a:t>ax+b</a:t>
            </a:r>
            <a:r>
              <a:rPr lang="en-US" b="0" i="0" dirty="0">
                <a:solidFill>
                  <a:srgbClr val="444444"/>
                </a:solidFill>
                <a:effectLst/>
                <a:latin typeface="Titillium"/>
              </a:rPr>
              <a:t>.</a:t>
            </a:r>
          </a:p>
          <a:p>
            <a:pPr algn="l" fontAlgn="base"/>
            <a:r>
              <a:rPr lang="en-US" b="0" i="0" dirty="0">
                <a:solidFill>
                  <a:srgbClr val="444444"/>
                </a:solidFill>
                <a:effectLst/>
                <a:latin typeface="Titillium"/>
              </a:rPr>
              <a:t>Linear regression is an algorithm, which helps us to understand the relationship between two variables.</a:t>
            </a:r>
          </a:p>
          <a:p>
            <a:pPr algn="l" fontAlgn="base">
              <a:spcAft>
                <a:spcPts val="1050"/>
              </a:spcAft>
            </a:pPr>
            <a:r>
              <a:rPr lang="en-US" b="0" i="0" dirty="0">
                <a:solidFill>
                  <a:srgbClr val="444444"/>
                </a:solidFill>
                <a:effectLst/>
                <a:latin typeface="Titillium"/>
              </a:rPr>
              <a:t>b. Logistics Regression in ML</a:t>
            </a:r>
          </a:p>
          <a:p>
            <a:pPr algn="l" fontAlgn="base"/>
            <a:r>
              <a:rPr lang="en-US" b="0" i="0" dirty="0">
                <a:solidFill>
                  <a:srgbClr val="444444"/>
                </a:solidFill>
                <a:effectLst/>
                <a:latin typeface="Titillium"/>
              </a:rPr>
              <a:t>This type of regression helps us to understand the relationship between one binary dependent variable and an independent variable. This is not a linear relation; it is actually a logarithmic relation.</a:t>
            </a:r>
          </a:p>
          <a:p>
            <a:pPr algn="l" fontAlgn="base"/>
            <a:r>
              <a:rPr lang="en-US" b="0" i="0" dirty="0">
                <a:solidFill>
                  <a:srgbClr val="444444"/>
                </a:solidFill>
                <a:effectLst/>
                <a:latin typeface="Titillium"/>
              </a:rPr>
              <a:t>It is shown as</a:t>
            </a:r>
            <a:r>
              <a:rPr lang="en-US" b="1" i="0" dirty="0">
                <a:solidFill>
                  <a:srgbClr val="444444"/>
                </a:solidFill>
                <a:effectLst/>
                <a:latin typeface="inherit"/>
              </a:rPr>
              <a:t> y = ln(P/(1-P))</a:t>
            </a:r>
            <a:r>
              <a:rPr lang="en-US" b="0" i="0" dirty="0">
                <a:solidFill>
                  <a:srgbClr val="444444"/>
                </a:solidFill>
                <a:effectLst/>
                <a:latin typeface="Titillium"/>
              </a:rPr>
              <a:t>.</a:t>
            </a:r>
          </a:p>
          <a:p>
            <a:pPr algn="l" fontAlgn="base"/>
            <a:r>
              <a:rPr lang="en-US" b="0" i="0" dirty="0">
                <a:solidFill>
                  <a:srgbClr val="444444"/>
                </a:solidFill>
                <a:effectLst/>
                <a:latin typeface="Titillium"/>
              </a:rPr>
              <a:t>The graph for this is S-shaped.</a:t>
            </a:r>
          </a:p>
          <a:p>
            <a:pPr algn="l" fontAlgn="base">
              <a:spcAft>
                <a:spcPts val="1050"/>
              </a:spcAft>
            </a:pPr>
            <a:r>
              <a:rPr lang="en-US" b="0" i="0" dirty="0">
                <a:solidFill>
                  <a:srgbClr val="444444"/>
                </a:solidFill>
                <a:effectLst/>
                <a:latin typeface="Titillium"/>
              </a:rPr>
              <a:t>c. Decision Trees in ML</a:t>
            </a:r>
          </a:p>
          <a:p>
            <a:pPr algn="l" fontAlgn="base"/>
            <a:r>
              <a:rPr lang="en-US" b="0" i="0" dirty="0">
                <a:solidFill>
                  <a:srgbClr val="444444"/>
                </a:solidFill>
                <a:effectLst/>
                <a:latin typeface="Titillium"/>
              </a:rPr>
              <a:t>Decision trees are </a:t>
            </a:r>
            <a:r>
              <a:rPr lang="en-US" b="1" i="0" dirty="0">
                <a:solidFill>
                  <a:srgbClr val="444444"/>
                </a:solidFill>
                <a:effectLst/>
                <a:latin typeface="inherit"/>
              </a:rPr>
              <a:t>binary</a:t>
            </a:r>
            <a:r>
              <a:rPr lang="en-US" b="0" i="0" dirty="0">
                <a:solidFill>
                  <a:srgbClr val="444444"/>
                </a:solidFill>
                <a:effectLst/>
                <a:latin typeface="Titillium"/>
              </a:rPr>
              <a:t> trees, which help in the classification, which is a type of supervised learning approach. It might have higher complexity depending on the number of leaves and nodes the tree has. This tree is useful in ‘yes or no’ and ‘if and then’ situations.</a:t>
            </a:r>
          </a:p>
          <a:p>
            <a:pPr algn="l" fontAlgn="base">
              <a:spcAft>
                <a:spcPts val="1050"/>
              </a:spcAft>
            </a:pPr>
            <a:r>
              <a:rPr lang="en-US" b="0" i="0" dirty="0">
                <a:solidFill>
                  <a:srgbClr val="444444"/>
                </a:solidFill>
                <a:effectLst/>
                <a:latin typeface="Titillium"/>
              </a:rPr>
              <a:t>d. K-nearest neighbors in ML</a:t>
            </a:r>
          </a:p>
          <a:p>
            <a:pPr algn="l" fontAlgn="base"/>
            <a:r>
              <a:rPr lang="en-US" b="0" i="0" dirty="0">
                <a:solidFill>
                  <a:srgbClr val="444444"/>
                </a:solidFill>
                <a:effectLst/>
                <a:latin typeface="Titillium"/>
              </a:rPr>
              <a:t>This method helps to find in which class does a point belongs using distance. Here, </a:t>
            </a:r>
            <a:r>
              <a:rPr lang="en-US" b="1" i="0" dirty="0">
                <a:solidFill>
                  <a:srgbClr val="444444"/>
                </a:solidFill>
                <a:effectLst/>
                <a:latin typeface="inherit"/>
              </a:rPr>
              <a:t>k</a:t>
            </a:r>
            <a:r>
              <a:rPr lang="en-US" b="0" i="0" dirty="0">
                <a:solidFill>
                  <a:srgbClr val="444444"/>
                </a:solidFill>
                <a:effectLst/>
                <a:latin typeface="Titillium"/>
              </a:rPr>
              <a:t> is the number of points to measure with. If you choose k=3, then the point which you want to classify will be measured with three of it’s nearest neighbors. The point gets classified in the class of which the majority of neighbors are part of.</a:t>
            </a:r>
          </a:p>
          <a:p>
            <a:pPr algn="l" fontAlgn="base">
              <a:spcAft>
                <a:spcPts val="1050"/>
              </a:spcAft>
            </a:pPr>
            <a:r>
              <a:rPr lang="en-US" b="0" i="0" dirty="0">
                <a:solidFill>
                  <a:srgbClr val="444444"/>
                </a:solidFill>
                <a:effectLst/>
                <a:latin typeface="Titillium"/>
              </a:rPr>
              <a:t>e. Random Forests in ML</a:t>
            </a:r>
          </a:p>
          <a:p>
            <a:pPr algn="l" fontAlgn="base"/>
            <a:r>
              <a:rPr lang="en-US" b="0" i="0" dirty="0">
                <a:solidFill>
                  <a:srgbClr val="444444"/>
                </a:solidFill>
                <a:effectLst/>
                <a:latin typeface="Titillium"/>
              </a:rPr>
              <a:t>Random forest is a huge collection of </a:t>
            </a:r>
            <a:r>
              <a:rPr lang="en-US" b="1" i="0" dirty="0">
                <a:solidFill>
                  <a:srgbClr val="444444"/>
                </a:solidFill>
                <a:effectLst/>
                <a:latin typeface="inherit"/>
              </a:rPr>
              <a:t>decision</a:t>
            </a:r>
            <a:r>
              <a:rPr lang="en-US" b="0" i="0" dirty="0">
                <a:solidFill>
                  <a:srgbClr val="444444"/>
                </a:solidFill>
                <a:effectLst/>
                <a:latin typeface="Titillium"/>
              </a:rPr>
              <a:t> trees. So, for a situation, there are many possible outcomes that the random forest helps us to see. It is different from a decision tree (as decision trees are always binary and they a single unit) as it has multiple trees.</a:t>
            </a:r>
          </a:p>
          <a:p>
            <a:pPr algn="l" fontAlgn="base"/>
            <a:r>
              <a:rPr lang="en-US" b="0" i="0" dirty="0">
                <a:solidFill>
                  <a:srgbClr val="444444"/>
                </a:solidFill>
                <a:effectLst/>
                <a:latin typeface="Titillium"/>
              </a:rPr>
              <a:t>This algorithm helps to find new patterns and possibilities for anything as the collection of trees helps in analyzing data in many ways. It has a more complex algorithm than a decision tree.</a:t>
            </a:r>
          </a:p>
          <a:p>
            <a:pPr algn="l" fontAlgn="base"/>
            <a:r>
              <a:rPr lang="en-US" b="0" i="0" dirty="0">
                <a:solidFill>
                  <a:srgbClr val="444444"/>
                </a:solidFill>
                <a:effectLst/>
                <a:latin typeface="Titillium"/>
              </a:rPr>
              <a:t>Hence, it would consume a lot more computational power.</a:t>
            </a:r>
          </a:p>
          <a:p>
            <a:pPr algn="l" fontAlgn="base">
              <a:spcAft>
                <a:spcPts val="1050"/>
              </a:spcAft>
            </a:pPr>
            <a:r>
              <a:rPr lang="en-US" b="0" i="0" dirty="0">
                <a:solidFill>
                  <a:srgbClr val="444444"/>
                </a:solidFill>
                <a:effectLst/>
                <a:latin typeface="Titillium"/>
              </a:rPr>
              <a:t>f. SVM in ML</a:t>
            </a:r>
          </a:p>
          <a:p>
            <a:pPr algn="l" fontAlgn="base"/>
            <a:r>
              <a:rPr lang="en-US" b="0" i="0" dirty="0">
                <a:solidFill>
                  <a:srgbClr val="444444"/>
                </a:solidFill>
                <a:effectLst/>
                <a:latin typeface="Titillium"/>
              </a:rPr>
              <a:t>SVM or Support Vector Machines are also very popular algorithms used in supervised learning. They help to classify and analyze the data with the help of a hyperplane. The hyperplane is a line or a plane, which divides the data points into two separate categories. The aim is to find an </a:t>
            </a:r>
            <a:r>
              <a:rPr lang="en-US" b="1" i="0" dirty="0">
                <a:solidFill>
                  <a:srgbClr val="444444"/>
                </a:solidFill>
                <a:effectLst/>
                <a:latin typeface="inherit"/>
              </a:rPr>
              <a:t>optimal</a:t>
            </a:r>
            <a:r>
              <a:rPr lang="en-US" b="0" i="0" dirty="0">
                <a:solidFill>
                  <a:srgbClr val="444444"/>
                </a:solidFill>
                <a:effectLst/>
                <a:latin typeface="Titillium"/>
              </a:rPr>
              <a:t> plane, which divides both datapoints.</a:t>
            </a:r>
          </a:p>
          <a:p>
            <a:pPr algn="l" fontAlgn="base"/>
            <a:r>
              <a:rPr lang="en-US" b="0" i="0" dirty="0">
                <a:solidFill>
                  <a:srgbClr val="444444"/>
                </a:solidFill>
                <a:effectLst/>
                <a:latin typeface="Titillium"/>
              </a:rPr>
              <a:t>By maximizing the margin of the hyperplane, we increase the distance between the data points on either side. This is done up to the point where datapoints are distinct from each other. For determining the margins of the hyperplane, support vectors (data points that appear to lie on the plane or are close to it) are necessary.</a:t>
            </a:r>
          </a:p>
          <a:p>
            <a:pPr algn="l" fontAlgn="base">
              <a:spcAft>
                <a:spcPts val="1050"/>
              </a:spcAft>
            </a:pPr>
            <a:r>
              <a:rPr lang="en-US" b="0" i="0" dirty="0">
                <a:solidFill>
                  <a:srgbClr val="444444"/>
                </a:solidFill>
                <a:effectLst/>
                <a:latin typeface="Titillium"/>
              </a:rPr>
              <a:t>g. ANN</a:t>
            </a:r>
          </a:p>
          <a:p>
            <a:pPr algn="l" fontAlgn="base"/>
            <a:r>
              <a:rPr lang="en-US" b="0" i="0" dirty="0">
                <a:solidFill>
                  <a:srgbClr val="444444"/>
                </a:solidFill>
                <a:effectLst/>
                <a:latin typeface="Titillium"/>
              </a:rPr>
              <a:t>ANN or Artificial Neural Networks come under modern-day deep learning. In this, we study algorithms that involve neural networks.</a:t>
            </a:r>
          </a:p>
          <a:p>
            <a:pPr algn="l" fontAlgn="base"/>
            <a:r>
              <a:rPr lang="en-US" b="0" i="0" dirty="0">
                <a:solidFill>
                  <a:srgbClr val="444444"/>
                </a:solidFill>
                <a:effectLst/>
                <a:latin typeface="Titillium"/>
              </a:rPr>
              <a:t>Neural networks are very helpful in processing complex problems and in finding more hidden patterns efficiently. They have three layers namely the</a:t>
            </a:r>
            <a:r>
              <a:rPr lang="en-US" b="1" i="0" dirty="0">
                <a:solidFill>
                  <a:srgbClr val="444444"/>
                </a:solidFill>
                <a:effectLst/>
                <a:latin typeface="inherit"/>
              </a:rPr>
              <a:t> input layer</a:t>
            </a:r>
            <a:r>
              <a:rPr lang="en-US" b="0" i="0" dirty="0">
                <a:solidFill>
                  <a:srgbClr val="444444"/>
                </a:solidFill>
                <a:effectLst/>
                <a:latin typeface="Titillium"/>
              </a:rPr>
              <a:t>, </a:t>
            </a:r>
            <a:r>
              <a:rPr lang="en-US" b="1" i="0" dirty="0">
                <a:solidFill>
                  <a:srgbClr val="444444"/>
                </a:solidFill>
                <a:effectLst/>
                <a:latin typeface="inherit"/>
              </a:rPr>
              <a:t>hidden layer</a:t>
            </a:r>
            <a:r>
              <a:rPr lang="en-US" b="0" i="0" dirty="0">
                <a:solidFill>
                  <a:srgbClr val="444444"/>
                </a:solidFill>
                <a:effectLst/>
                <a:latin typeface="Titillium"/>
              </a:rPr>
              <a:t>, and </a:t>
            </a:r>
            <a:r>
              <a:rPr lang="en-US" b="1" i="0" dirty="0">
                <a:solidFill>
                  <a:srgbClr val="444444"/>
                </a:solidFill>
                <a:effectLst/>
                <a:latin typeface="inherit"/>
              </a:rPr>
              <a:t>output layer</a:t>
            </a:r>
            <a:r>
              <a:rPr lang="en-US" b="0" i="0" dirty="0">
                <a:solidFill>
                  <a:srgbClr val="444444"/>
                </a:solidFill>
                <a:effectLst/>
                <a:latin typeface="Titillium"/>
              </a:rPr>
              <a:t>.</a:t>
            </a:r>
          </a:p>
          <a:p>
            <a:pPr algn="l" fontAlgn="base"/>
            <a:r>
              <a:rPr lang="en-US" b="0" i="0" dirty="0">
                <a:solidFill>
                  <a:srgbClr val="444444"/>
                </a:solidFill>
                <a:effectLst/>
                <a:latin typeface="Titillium"/>
              </a:rPr>
              <a:t>The input layer takes the data, the hidden layer has multiple patterns and layers that process the data and analyze the best result. Then comes the output layer.</a:t>
            </a:r>
          </a:p>
          <a:p>
            <a:pPr algn="l" fontAlgn="base"/>
            <a:r>
              <a:rPr lang="en-US" b="0" i="0" dirty="0">
                <a:solidFill>
                  <a:srgbClr val="444444"/>
                </a:solidFill>
                <a:effectLst/>
                <a:latin typeface="Titillium"/>
              </a:rPr>
              <a:t>This concept was created by keeping in mind the functioning of the real neuron. So, that is why it is called an artificial neural network. It is quite significant in modern research and has great potential ahead.</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12</a:t>
            </a:fld>
            <a:endParaRPr lang="en-US"/>
          </a:p>
        </p:txBody>
      </p:sp>
    </p:spTree>
    <p:extLst>
      <p:ext uri="{BB962C8B-B14F-4D97-AF65-F5344CB8AC3E}">
        <p14:creationId xmlns:p14="http://schemas.microsoft.com/office/powerpoint/2010/main" val="3937181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is an unsupervised dimensionality reduction technique that transforms a large set of possibly correlated variables into a smaller set of uncorrelated variables called </a:t>
            </a:r>
            <a:r>
              <a:rPr lang="en-US" sz="1200" b="1" i="0" kern="1200" dirty="0">
                <a:solidFill>
                  <a:schemeClr val="tx1"/>
                </a:solidFill>
                <a:effectLst/>
                <a:latin typeface="+mn-lt"/>
                <a:ea typeface="+mn-ea"/>
                <a:cs typeface="+mn-cs"/>
              </a:rPr>
              <a:t>principal components. </a:t>
            </a:r>
            <a:r>
              <a:rPr lang="en-US" sz="1200" b="0" i="0" kern="1200" dirty="0">
                <a:solidFill>
                  <a:schemeClr val="tx1"/>
                </a:solidFill>
                <a:effectLst/>
                <a:latin typeface="+mn-lt"/>
                <a:ea typeface="+mn-ea"/>
                <a:cs typeface="+mn-cs"/>
              </a:rPr>
              <a:t>I </a:t>
            </a:r>
            <a:r>
              <a:rPr lang="en-US" sz="1200" b="0" i="0" kern="1200" dirty="0" err="1">
                <a:solidFill>
                  <a:schemeClr val="tx1"/>
                </a:solidFill>
                <a:effectLst/>
                <a:latin typeface="+mn-lt"/>
                <a:ea typeface="+mn-ea"/>
                <a:cs typeface="+mn-cs"/>
              </a:rPr>
              <a:t>tetains</a:t>
            </a:r>
            <a:r>
              <a:rPr lang="en-US" sz="1200" b="0" i="0" kern="1200" dirty="0">
                <a:solidFill>
                  <a:schemeClr val="tx1"/>
                </a:solidFill>
                <a:effectLst/>
                <a:latin typeface="+mn-lt"/>
                <a:ea typeface="+mn-ea"/>
                <a:cs typeface="+mn-cs"/>
              </a:rPr>
              <a:t> most of the original data's variance and information, making datasets easier to visualize, analyze, and process faster by removing redundancy and noise.</a:t>
            </a:r>
          </a:p>
          <a:p>
            <a:r>
              <a:rPr lang="en-US" sz="1200" b="0" i="0" kern="1200" dirty="0">
                <a:solidFill>
                  <a:schemeClr val="tx1"/>
                </a:solidFill>
                <a:effectLst/>
                <a:latin typeface="+mn-lt"/>
                <a:ea typeface="+mn-ea"/>
                <a:cs typeface="+mn-cs"/>
              </a:rPr>
              <a:t>It works by finding new axes (components) that capture the maximum spread (variance) in the data, effectively compressing high-dimensional data into a lower-dimensional space.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How PCA Works (High-Level)</a:t>
            </a:r>
          </a:p>
          <a:p>
            <a:r>
              <a:rPr lang="en-US" sz="1200" b="1" i="0" kern="1200" dirty="0">
                <a:solidFill>
                  <a:schemeClr val="tx1"/>
                </a:solidFill>
                <a:effectLst/>
                <a:latin typeface="+mn-lt"/>
                <a:ea typeface="+mn-ea"/>
                <a:cs typeface="+mn-cs"/>
              </a:rPr>
              <a:t>1. Standardize Data</a:t>
            </a:r>
            <a:r>
              <a:rPr lang="en-US" sz="1200" b="0" i="0" kern="1200" dirty="0">
                <a:solidFill>
                  <a:schemeClr val="tx1"/>
                </a:solidFill>
                <a:effectLst/>
                <a:latin typeface="+mn-lt"/>
                <a:ea typeface="+mn-ea"/>
                <a:cs typeface="+mn-cs"/>
              </a:rPr>
              <a:t>: Scale features so they contribute equally.</a:t>
            </a:r>
          </a:p>
          <a:p>
            <a:r>
              <a:rPr lang="en-US" sz="1200" b="1" i="0" kern="1200" dirty="0">
                <a:solidFill>
                  <a:schemeClr val="tx1"/>
                </a:solidFill>
                <a:effectLst/>
                <a:latin typeface="+mn-lt"/>
                <a:ea typeface="+mn-ea"/>
                <a:cs typeface="+mn-cs"/>
              </a:rPr>
              <a:t>2. Covariance Matrix</a:t>
            </a:r>
            <a:r>
              <a:rPr lang="en-US" sz="1200" b="0" i="0" kern="1200" dirty="0">
                <a:solidFill>
                  <a:schemeClr val="tx1"/>
                </a:solidFill>
                <a:effectLst/>
                <a:latin typeface="+mn-lt"/>
                <a:ea typeface="+mn-ea"/>
                <a:cs typeface="+mn-cs"/>
              </a:rPr>
              <a:t>: Calculate the covariance matrix to understand feature relationships.</a:t>
            </a:r>
          </a:p>
          <a:p>
            <a:r>
              <a:rPr lang="en-US" sz="1200" b="1" i="0" kern="1200" dirty="0">
                <a:solidFill>
                  <a:schemeClr val="tx1"/>
                </a:solidFill>
                <a:effectLst/>
                <a:latin typeface="+mn-lt"/>
                <a:ea typeface="+mn-ea"/>
                <a:cs typeface="+mn-cs"/>
              </a:rPr>
              <a:t>3. Eigenvectors &amp; Eigenvalues</a:t>
            </a:r>
            <a:r>
              <a:rPr lang="en-US" sz="1200" b="0" i="0" kern="1200" dirty="0">
                <a:solidFill>
                  <a:schemeClr val="tx1"/>
                </a:solidFill>
                <a:effectLst/>
                <a:latin typeface="+mn-lt"/>
                <a:ea typeface="+mn-ea"/>
                <a:cs typeface="+mn-cs"/>
              </a:rPr>
              <a:t> : Find the eigenvectors (directions) and eigenvalues (importance/variance) from the covariance matrix/</a:t>
            </a:r>
          </a:p>
          <a:p>
            <a:r>
              <a:rPr lang="en-US" sz="1200" b="1" i="0" kern="1200" dirty="0">
                <a:solidFill>
                  <a:schemeClr val="tx1"/>
                </a:solidFill>
                <a:effectLst/>
                <a:latin typeface="+mn-lt"/>
                <a:ea typeface="+mn-ea"/>
                <a:cs typeface="+mn-cs"/>
              </a:rPr>
              <a:t>4. Select Components</a:t>
            </a:r>
            <a:r>
              <a:rPr lang="en-US" sz="1200" b="0" i="0" kern="1200" dirty="0">
                <a:solidFill>
                  <a:schemeClr val="tx1"/>
                </a:solidFill>
                <a:effectLst/>
                <a:latin typeface="+mn-lt"/>
                <a:ea typeface="+mn-ea"/>
                <a:cs typeface="+mn-cs"/>
              </a:rPr>
              <a:t>: Choose the top components (eigenvectors) with the highest eigenvalues that explain most of the variance.</a:t>
            </a:r>
          </a:p>
          <a:p>
            <a:r>
              <a:rPr lang="en-US" sz="1200" b="1" i="0" kern="1200" dirty="0">
                <a:solidFill>
                  <a:schemeClr val="tx1"/>
                </a:solidFill>
                <a:effectLst/>
                <a:latin typeface="+mn-lt"/>
                <a:ea typeface="+mn-ea"/>
                <a:cs typeface="+mn-cs"/>
              </a:rPr>
              <a:t>5. Transform Data</a:t>
            </a:r>
            <a:r>
              <a:rPr lang="en-US" sz="1200" b="0" i="0" kern="1200" dirty="0">
                <a:solidFill>
                  <a:schemeClr val="tx1"/>
                </a:solidFill>
                <a:effectLst/>
                <a:latin typeface="+mn-lt"/>
                <a:ea typeface="+mn-ea"/>
                <a:cs typeface="+mn-cs"/>
              </a:rPr>
              <a:t>: Project the original data onto these new, fewer components</a:t>
            </a:r>
          </a:p>
          <a:p>
            <a:endParaRPr lang="en-US" b="0" dirty="0"/>
          </a:p>
          <a:p>
            <a:endParaRPr lang="en-US" b="0" dirty="0"/>
          </a:p>
          <a:p>
            <a:r>
              <a:rPr lang="en-US" sz="1200" b="1" kern="1200" dirty="0">
                <a:solidFill>
                  <a:schemeClr val="tx1"/>
                </a:solidFill>
                <a:effectLst/>
                <a:latin typeface="+mn-lt"/>
                <a:ea typeface="+mn-ea"/>
                <a:cs typeface="+mn-cs"/>
              </a:rPr>
              <a:t>Key Uses in Machine Learning</a:t>
            </a:r>
          </a:p>
          <a:p>
            <a:r>
              <a:rPr lang="en-US" sz="1200" b="1" i="0" kern="1200" dirty="0">
                <a:solidFill>
                  <a:schemeClr val="tx1"/>
                </a:solidFill>
                <a:effectLst/>
                <a:latin typeface="+mn-lt"/>
                <a:ea typeface="+mn-ea"/>
                <a:cs typeface="+mn-cs"/>
              </a:rPr>
              <a:t>Dimensionality Reduction</a:t>
            </a:r>
            <a:r>
              <a:rPr lang="en-US" sz="1200" b="0" i="0" kern="1200" dirty="0">
                <a:solidFill>
                  <a:schemeClr val="tx1"/>
                </a:solidFill>
                <a:effectLst/>
                <a:latin typeface="+mn-lt"/>
                <a:ea typeface="+mn-ea"/>
                <a:cs typeface="+mn-cs"/>
              </a:rPr>
              <a:t>: Reduces the number of features, speeding up training and preventing the curse of dimensionality.</a:t>
            </a:r>
          </a:p>
          <a:p>
            <a:r>
              <a:rPr lang="en-US" sz="1200" b="1" i="0" kern="1200" dirty="0">
                <a:solidFill>
                  <a:schemeClr val="tx1"/>
                </a:solidFill>
                <a:effectLst/>
                <a:latin typeface="+mn-lt"/>
                <a:ea typeface="+mn-ea"/>
                <a:cs typeface="+mn-cs"/>
              </a:rPr>
              <a:t>Data Visualization</a:t>
            </a:r>
            <a:r>
              <a:rPr lang="en-US" sz="1200" b="0" i="0" kern="1200" dirty="0">
                <a:solidFill>
                  <a:schemeClr val="tx1"/>
                </a:solidFill>
                <a:effectLst/>
                <a:latin typeface="+mn-lt"/>
                <a:ea typeface="+mn-ea"/>
                <a:cs typeface="+mn-cs"/>
              </a:rPr>
              <a:t>:  Projects high-dimensional data (e.g., 100 features) into 2D or 3D for visual inspection of patterns, clusters, and correlations.</a:t>
            </a:r>
          </a:p>
          <a:p>
            <a:r>
              <a:rPr lang="en-US" sz="1200" b="1" i="0" kern="1200" dirty="0">
                <a:solidFill>
                  <a:schemeClr val="tx1"/>
                </a:solidFill>
                <a:effectLst/>
                <a:latin typeface="+mn-lt"/>
                <a:ea typeface="+mn-ea"/>
                <a:cs typeface="+mn-cs"/>
              </a:rPr>
              <a:t>Feature Extraction</a:t>
            </a:r>
            <a:r>
              <a:rPr lang="en-US" sz="1200" b="0" i="0" kern="1200" dirty="0">
                <a:solidFill>
                  <a:schemeClr val="tx1"/>
                </a:solidFill>
                <a:effectLst/>
                <a:latin typeface="+mn-lt"/>
                <a:ea typeface="+mn-ea"/>
                <a:cs typeface="+mn-cs"/>
              </a:rPr>
              <a:t>: Creates new, more informative, uncorrelated features (principal components).</a:t>
            </a:r>
          </a:p>
          <a:p>
            <a:r>
              <a:rPr lang="en-US" sz="1200" b="1" i="0" kern="1200" dirty="0">
                <a:solidFill>
                  <a:schemeClr val="tx1"/>
                </a:solidFill>
                <a:effectLst/>
                <a:latin typeface="+mn-lt"/>
                <a:ea typeface="+mn-ea"/>
                <a:cs typeface="+mn-cs"/>
              </a:rPr>
              <a:t>Noise Reduction</a:t>
            </a:r>
            <a:r>
              <a:rPr lang="en-US" sz="1200" b="0" i="0" kern="1200" dirty="0">
                <a:solidFill>
                  <a:schemeClr val="tx1"/>
                </a:solidFill>
                <a:effectLst/>
                <a:latin typeface="+mn-lt"/>
                <a:ea typeface="+mn-ea"/>
                <a:cs typeface="+mn-cs"/>
              </a:rPr>
              <a:t>: Filters out less important dimensions that might contain noise, improving model performance.</a:t>
            </a:r>
          </a:p>
          <a:p>
            <a:r>
              <a:rPr lang="en-US" sz="1200" b="1" i="0" kern="1200" dirty="0">
                <a:solidFill>
                  <a:schemeClr val="tx1"/>
                </a:solidFill>
                <a:effectLst/>
                <a:latin typeface="+mn-lt"/>
                <a:ea typeface="+mn-ea"/>
                <a:cs typeface="+mn-cs"/>
              </a:rPr>
              <a:t>Overfitting Prevention</a:t>
            </a:r>
            <a:r>
              <a:rPr lang="en-US" sz="1200" b="0" i="0" kern="1200" dirty="0">
                <a:solidFill>
                  <a:schemeClr val="tx1"/>
                </a:solidFill>
                <a:effectLst/>
                <a:latin typeface="+mn-lt"/>
                <a:ea typeface="+mn-ea"/>
                <a:cs typeface="+mn-cs"/>
              </a:rPr>
              <a:t>: By reducing features, it can help models generalize better to new data</a:t>
            </a:r>
          </a:p>
          <a:p>
            <a:endParaRPr lang="en-US" b="0" dirty="0"/>
          </a:p>
          <a:p>
            <a:r>
              <a:rPr lang="en-US" sz="1200" b="1" i="0" kern="1200" dirty="0">
                <a:solidFill>
                  <a:schemeClr val="tx1"/>
                </a:solidFill>
                <a:effectLst/>
                <a:latin typeface="+mn-lt"/>
                <a:ea typeface="+mn-ea"/>
                <a:cs typeface="+mn-cs"/>
              </a:rPr>
              <a:t>Pros</a:t>
            </a:r>
            <a:r>
              <a:rPr lang="en-US" sz="1200" b="0" i="0" kern="1200" dirty="0">
                <a:solidFill>
                  <a:schemeClr val="tx1"/>
                </a:solidFill>
                <a:effectLst/>
                <a:latin typeface="+mn-lt"/>
                <a:ea typeface="+mn-ea"/>
                <a:cs typeface="+mn-cs"/>
              </a:rPr>
              <a:t>: Faster computation, easier visualization, less overfitting, noise reduction, multicollinearity mitigation.</a:t>
            </a:r>
          </a:p>
          <a:p>
            <a:r>
              <a:rPr lang="en-US" sz="1200" b="1" i="0" kern="1200" dirty="0">
                <a:solidFill>
                  <a:schemeClr val="tx1"/>
                </a:solidFill>
                <a:effectLst/>
                <a:latin typeface="+mn-lt"/>
                <a:ea typeface="+mn-ea"/>
                <a:cs typeface="+mn-cs"/>
              </a:rPr>
              <a:t>Cons</a:t>
            </a:r>
            <a:r>
              <a:rPr lang="en-US" sz="1200" b="0" i="0" kern="1200" dirty="0">
                <a:solidFill>
                  <a:schemeClr val="tx1"/>
                </a:solidFill>
                <a:effectLst/>
                <a:latin typeface="+mn-lt"/>
                <a:ea typeface="+mn-ea"/>
                <a:cs typeface="+mn-cs"/>
              </a:rPr>
              <a:t>: Information loss, sensitivity to outliers, reduced interpretability (components are abstract combinations), assumes linearity, requires data scaling</a:t>
            </a:r>
          </a:p>
          <a:p>
            <a:endParaRPr lang="en-US" b="0" dirty="0"/>
          </a:p>
          <a:p>
            <a:endParaRPr lang="en-US" b="0" dirty="0"/>
          </a:p>
          <a:p>
            <a:r>
              <a:rPr lang="en-US" sz="1200" b="1" kern="1200" dirty="0">
                <a:solidFill>
                  <a:schemeClr val="tx1"/>
                </a:solidFill>
                <a:effectLst/>
                <a:latin typeface="+mn-lt"/>
                <a:ea typeface="+mn-ea"/>
                <a:cs typeface="+mn-cs"/>
              </a:rPr>
              <a:t>Common Applications</a:t>
            </a:r>
          </a:p>
          <a:p>
            <a:r>
              <a:rPr lang="en-US" sz="1200" b="0" i="0" kern="1200" dirty="0">
                <a:solidFill>
                  <a:schemeClr val="tx1"/>
                </a:solidFill>
                <a:effectLst/>
                <a:latin typeface="+mn-lt"/>
                <a:ea typeface="+mn-ea"/>
                <a:cs typeface="+mn-cs"/>
              </a:rPr>
              <a:t>Image Processing (compression, face recognition)</a:t>
            </a:r>
          </a:p>
          <a:p>
            <a:r>
              <a:rPr lang="en-US" sz="1200" b="0" i="0" kern="1200" dirty="0">
                <a:solidFill>
                  <a:schemeClr val="tx1"/>
                </a:solidFill>
                <a:effectLst/>
                <a:latin typeface="+mn-lt"/>
                <a:ea typeface="+mn-ea"/>
                <a:cs typeface="+mn-cs"/>
              </a:rPr>
              <a:t>Finance &amp; Economics</a:t>
            </a:r>
          </a:p>
          <a:p>
            <a:r>
              <a:rPr lang="en-US" sz="1200" b="0" i="0" kern="1200" dirty="0">
                <a:solidFill>
                  <a:schemeClr val="tx1"/>
                </a:solidFill>
                <a:effectLst/>
                <a:latin typeface="+mn-lt"/>
                <a:ea typeface="+mn-ea"/>
                <a:cs typeface="+mn-cs"/>
              </a:rPr>
              <a:t>Text Mining &amp; NLP</a:t>
            </a:r>
          </a:p>
          <a:p>
            <a:r>
              <a:rPr lang="en-US" sz="1200" b="0" i="0" kern="1200" dirty="0">
                <a:solidFill>
                  <a:schemeClr val="tx1"/>
                </a:solidFill>
                <a:effectLst/>
                <a:latin typeface="+mn-lt"/>
                <a:ea typeface="+mn-ea"/>
                <a:cs typeface="+mn-cs"/>
              </a:rPr>
              <a:t>Genetics &amp; Biology </a:t>
            </a:r>
          </a:p>
          <a:p>
            <a:endParaRPr lang="en-US" b="0" dirty="0"/>
          </a:p>
        </p:txBody>
      </p:sp>
      <p:sp>
        <p:nvSpPr>
          <p:cNvPr id="4" name="Slide Number Placeholder 3"/>
          <p:cNvSpPr>
            <a:spLocks noGrp="1"/>
          </p:cNvSpPr>
          <p:nvPr>
            <p:ph type="sldNum" sz="quarter" idx="5"/>
          </p:nvPr>
        </p:nvSpPr>
        <p:spPr/>
        <p:txBody>
          <a:bodyPr/>
          <a:lstStyle/>
          <a:p>
            <a:fld id="{65163C0F-E2D8-497F-879E-155DA398F7D4}" type="slidenum">
              <a:rPr lang="en-US" smtClean="0"/>
              <a:t>30</a:t>
            </a:fld>
            <a:endParaRPr lang="en-US"/>
          </a:p>
        </p:txBody>
      </p:sp>
    </p:spTree>
    <p:extLst>
      <p:ext uri="{BB962C8B-B14F-4D97-AF65-F5344CB8AC3E}">
        <p14:creationId xmlns:p14="http://schemas.microsoft.com/office/powerpoint/2010/main" val="234817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Types of neural networks</a:t>
            </a:r>
          </a:p>
          <a:p>
            <a:pPr fontAlgn="base"/>
            <a:r>
              <a:rPr lang="en-US" sz="1200" b="1" i="0" u="sng" kern="1200" dirty="0">
                <a:solidFill>
                  <a:schemeClr val="tx1"/>
                </a:solidFill>
                <a:effectLst/>
                <a:latin typeface="+mn-lt"/>
                <a:ea typeface="+mn-ea"/>
                <a:cs typeface="+mn-cs"/>
                <a:hlinkClick r:id="rId3"/>
              </a:rPr>
              <a:t>Feedforward neural networks (FNNs)</a:t>
            </a:r>
            <a:r>
              <a:rPr lang="en-US" sz="1200" b="0" i="0" kern="1200" dirty="0">
                <a:solidFill>
                  <a:schemeClr val="tx1"/>
                </a:solidFill>
                <a:effectLst/>
                <a:latin typeface="+mn-lt"/>
                <a:ea typeface="+mn-ea"/>
                <a:cs typeface="+mn-cs"/>
              </a:rPr>
              <a:t> are the simplest type of ANN, where data flows in one direction from input to output. It is used for basic tasks like classification.</a:t>
            </a:r>
          </a:p>
          <a:p>
            <a:pPr fontAlgn="base"/>
            <a:r>
              <a:rPr lang="en-US" sz="1200" b="1" i="0" u="sng" kern="1200" dirty="0">
                <a:solidFill>
                  <a:schemeClr val="tx1"/>
                </a:solidFill>
                <a:effectLst/>
                <a:latin typeface="+mn-lt"/>
                <a:ea typeface="+mn-ea"/>
                <a:cs typeface="+mn-cs"/>
                <a:hlinkClick r:id="rId4"/>
              </a:rPr>
              <a:t>Convolutional Neural Networks (CNNs)</a:t>
            </a:r>
            <a:r>
              <a:rPr lang="en-US" sz="1200" b="0" i="0" kern="1200" dirty="0">
                <a:solidFill>
                  <a:schemeClr val="tx1"/>
                </a:solidFill>
                <a:effectLst/>
                <a:latin typeface="+mn-lt"/>
                <a:ea typeface="+mn-ea"/>
                <a:cs typeface="+mn-cs"/>
              </a:rPr>
              <a:t> are specialized for processing grid-like data, such as images. CNNs use convolutional layers to detect spatial hierarchies, making them ideal for computer vision tasks.</a:t>
            </a:r>
          </a:p>
          <a:p>
            <a:pPr fontAlgn="base"/>
            <a:r>
              <a:rPr lang="en-US" sz="1200" b="1" i="0" u="sng" kern="1200" dirty="0">
                <a:solidFill>
                  <a:schemeClr val="tx1"/>
                </a:solidFill>
                <a:effectLst/>
                <a:latin typeface="+mn-lt"/>
                <a:ea typeface="+mn-ea"/>
                <a:cs typeface="+mn-cs"/>
                <a:hlinkClick r:id="rId5"/>
              </a:rPr>
              <a:t>Recurrent Neural Networks (RNNs)</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are able to process sequential data, such as time series and natural language. RNNs have loops to retain information over time, enabling applications like language modeling and speech recognition. Variants like LSTMs and GRUs address vanishing gradient issues.</a:t>
            </a:r>
          </a:p>
          <a:p>
            <a:pPr fontAlgn="base"/>
            <a:r>
              <a:rPr lang="en-US" sz="1200" b="1" i="0" u="sng" kern="1200" dirty="0">
                <a:solidFill>
                  <a:schemeClr val="tx1"/>
                </a:solidFill>
                <a:effectLst/>
                <a:latin typeface="+mn-lt"/>
                <a:ea typeface="+mn-ea"/>
                <a:cs typeface="+mn-cs"/>
                <a:hlinkClick r:id="rId6"/>
              </a:rPr>
              <a:t>Generative Adversarial Networks (GANs)</a:t>
            </a:r>
            <a:r>
              <a:rPr lang="en-US" sz="1200" b="0" i="0" kern="1200" dirty="0">
                <a:solidFill>
                  <a:schemeClr val="tx1"/>
                </a:solidFill>
                <a:effectLst/>
                <a:latin typeface="+mn-lt"/>
                <a:ea typeface="+mn-ea"/>
                <a:cs typeface="+mn-cs"/>
              </a:rPr>
              <a:t> consist of two networks—a generator and a discriminator—that compete to create realistic data. GANs are widely used for image generation, style transfer and data augmentation.</a:t>
            </a:r>
          </a:p>
          <a:p>
            <a:pPr fontAlgn="base"/>
            <a:r>
              <a:rPr lang="en-US" sz="1200" b="1" i="0" u="sng" kern="1200" dirty="0">
                <a:solidFill>
                  <a:schemeClr val="tx1"/>
                </a:solidFill>
                <a:effectLst/>
                <a:latin typeface="+mn-lt"/>
                <a:ea typeface="+mn-ea"/>
                <a:cs typeface="+mn-cs"/>
                <a:hlinkClick r:id="rId7"/>
              </a:rPr>
              <a:t>Autoencoders</a:t>
            </a:r>
            <a:r>
              <a:rPr lang="en-US" sz="1200" b="0" i="0" kern="1200" dirty="0">
                <a:solidFill>
                  <a:schemeClr val="tx1"/>
                </a:solidFill>
                <a:effectLst/>
                <a:latin typeface="+mn-lt"/>
                <a:ea typeface="+mn-ea"/>
                <a:cs typeface="+mn-cs"/>
              </a:rPr>
              <a:t> are unsupervised networks that learn efficient data encodings. They compress input data into a latent representation and reconstruct it, useful for dimensionality reduction and anomaly detection.</a:t>
            </a:r>
          </a:p>
          <a:p>
            <a:pPr fontAlgn="base"/>
            <a:r>
              <a:rPr lang="en-US" sz="1200" b="1" i="0" u="sng" kern="1200" dirty="0">
                <a:solidFill>
                  <a:schemeClr val="tx1"/>
                </a:solidFill>
                <a:effectLst/>
                <a:latin typeface="+mn-lt"/>
                <a:ea typeface="+mn-ea"/>
                <a:cs typeface="+mn-cs"/>
                <a:hlinkClick r:id="rId8"/>
              </a:rPr>
              <a:t>Transformer Networks</a:t>
            </a:r>
            <a:r>
              <a:rPr lang="en-US" sz="1200" b="0" i="0" kern="1200" dirty="0">
                <a:solidFill>
                  <a:schemeClr val="tx1"/>
                </a:solidFill>
                <a:effectLst/>
                <a:latin typeface="+mn-lt"/>
                <a:ea typeface="+mn-ea"/>
                <a:cs typeface="+mn-cs"/>
              </a:rPr>
              <a:t> has revolutionized NLP with self-attention mechanisms. Transformers excel at tasks like translation, text generation and sentiment analysis, powering models like GPT and BERT.</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37</a:t>
            </a:fld>
            <a:endParaRPr lang="en-US"/>
          </a:p>
        </p:txBody>
      </p:sp>
    </p:spTree>
    <p:extLst>
      <p:ext uri="{BB962C8B-B14F-4D97-AF65-F5344CB8AC3E}">
        <p14:creationId xmlns:p14="http://schemas.microsoft.com/office/powerpoint/2010/main" val="2826497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brain is the core inspiration for artificial neural networks (ANNs).</a:t>
            </a:r>
          </a:p>
          <a:p>
            <a:r>
              <a:rPr lang="en-US" dirty="0"/>
              <a:t>The brain is made up of billions of neurons that communicate through synapses.</a:t>
            </a:r>
          </a:p>
          <a:p>
            <a:r>
              <a:rPr lang="en-US" dirty="0"/>
              <a:t>A neuron receives inputs, processes them, and sends signals to other neurons, allowing complex behaviors and learning.</a:t>
            </a:r>
          </a:p>
          <a:p>
            <a:r>
              <a:rPr lang="en-US" dirty="0"/>
              <a:t>ANNs mimic this biological process by creating interconnected artificial neurons that process information similarly.</a:t>
            </a:r>
          </a:p>
          <a:p>
            <a:r>
              <a:rPr lang="en-US" dirty="0"/>
              <a:t>ANN mimics how the brain learns from experience by strengthening or weakening connections.</a:t>
            </a:r>
          </a:p>
        </p:txBody>
      </p:sp>
      <p:sp>
        <p:nvSpPr>
          <p:cNvPr id="4" name="Slide Number Placeholder 3"/>
          <p:cNvSpPr>
            <a:spLocks noGrp="1"/>
          </p:cNvSpPr>
          <p:nvPr>
            <p:ph type="sldNum" sz="quarter" idx="5"/>
          </p:nvPr>
        </p:nvSpPr>
        <p:spPr/>
        <p:txBody>
          <a:bodyPr/>
          <a:lstStyle/>
          <a:p>
            <a:fld id="{65163C0F-E2D8-497F-879E-155DA398F7D4}" type="slidenum">
              <a:rPr lang="en-US" smtClean="0"/>
              <a:t>41</a:t>
            </a:fld>
            <a:endParaRPr lang="en-US"/>
          </a:p>
        </p:txBody>
      </p:sp>
    </p:spTree>
    <p:extLst>
      <p:ext uri="{BB962C8B-B14F-4D97-AF65-F5344CB8AC3E}">
        <p14:creationId xmlns:p14="http://schemas.microsoft.com/office/powerpoint/2010/main" val="2555997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 neural network involves modifying weights using error feedback to minimize prediction error.</a:t>
            </a:r>
          </a:p>
          <a:p>
            <a:r>
              <a:rPr lang="en-US" dirty="0"/>
              <a:t>Forward propagation makes predictions, and loss is calculated to measure errors.</a:t>
            </a:r>
          </a:p>
          <a:p>
            <a:r>
              <a:rPr lang="en-US" dirty="0"/>
              <a:t>Backward propagation adjusts weights based on errors to improve accuracy.</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46</a:t>
            </a:fld>
            <a:endParaRPr lang="en-US"/>
          </a:p>
        </p:txBody>
      </p:sp>
    </p:spTree>
    <p:extLst>
      <p:ext uri="{BB962C8B-B14F-4D97-AF65-F5344CB8AC3E}">
        <p14:creationId xmlns:p14="http://schemas.microsoft.com/office/powerpoint/2010/main" val="2062041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F42E09-AA2D-4CB1-BBF0-06A4318AD137}"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15869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D8C0F2-9282-4844-BF51-BB57A49E3583}"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924387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D1473B-CB70-4A60-AE9F-FD90C0089AE7}"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5396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92EC06-3D8F-4622-BAA6-76B150F52A11}" type="datetime1">
              <a:rPr lang="en-US" smtClean="0"/>
              <a:t>2/1/2026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897988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43809A-0183-41BD-9787-26D20E9D6263}" type="datetime1">
              <a:rPr lang="en-US" smtClean="0"/>
              <a:t>2/1/2026</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45913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51CEAA-3051-455B-B191-79B50C21DFC1}" type="datetime1">
              <a:rPr lang="en-US" smtClean="0"/>
              <a:t>2/1/2026</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496238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B4572-7CFB-4956-B01B-7E45DE2951E7}" type="datetime1">
              <a:rPr lang="en-US" smtClean="0"/>
              <a:t>2/1/2026</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028420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B5FD61-EBEE-4024-B9AB-11A9B93FDE05}" type="datetime1">
              <a:rPr lang="en-US" smtClean="0"/>
              <a:t>2/1/2026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979311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EDEDB3-F6BD-4134-AC34-04FC7AD5D1E7}" type="datetime1">
              <a:rPr lang="en-US" smtClean="0"/>
              <a:t>2/1/2026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649807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230779-54AA-41D3-A118-165A71C83B0E}"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366512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EB15BC-E92A-44FE-B094-3A979148817E}"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11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540700-6B21-4C91-8EA2-730393C3BAC8}"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596018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F5724D-8168-4591-A833-E0E4F7D9680F}"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10129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4D800B-D1F4-4A9D-9FEB-6C529A89251D}"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769082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211804-6199-4508-9D5F-FAE07A7F2F63}"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979192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41F76-564D-4DC7-8065-0A0293F27A49}" type="datetime1">
              <a:rPr lang="en-US" smtClean="0"/>
              <a:t>2/1/2026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65809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E0B44B-1BCB-46CA-B6D6-F8FE070DF63F}" type="datetime1">
              <a:rPr lang="en-US" smtClean="0"/>
              <a:t>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BEC04E1-864D-4D36-B278-DF808A5E4573}" type="slidenum">
              <a:rPr lang="en-US" smtClean="0"/>
              <a:t>‹#›</a:t>
            </a:fld>
            <a:endParaRPr lang="en-US"/>
          </a:p>
        </p:txBody>
      </p:sp>
    </p:spTree>
    <p:extLst>
      <p:ext uri="{BB962C8B-B14F-4D97-AF65-F5344CB8AC3E}">
        <p14:creationId xmlns:p14="http://schemas.microsoft.com/office/powerpoint/2010/main" val="272286805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C59C-F579-DEB3-FE29-CB154F5710AF}"/>
              </a:ext>
            </a:extLst>
          </p:cNvPr>
          <p:cNvSpPr>
            <a:spLocks noGrp="1"/>
          </p:cNvSpPr>
          <p:nvPr>
            <p:ph type="ctrTitle"/>
          </p:nvPr>
        </p:nvSpPr>
        <p:spPr/>
        <p:txBody>
          <a:bodyPr/>
          <a:lstStyle/>
          <a:p>
            <a:r>
              <a:rPr lang="en-US" dirty="0"/>
              <a:t>Machine Learning</a:t>
            </a:r>
          </a:p>
        </p:txBody>
      </p:sp>
      <p:sp>
        <p:nvSpPr>
          <p:cNvPr id="3" name="Subtitle 2">
            <a:extLst>
              <a:ext uri="{FF2B5EF4-FFF2-40B4-BE49-F238E27FC236}">
                <a16:creationId xmlns:a16="http://schemas.microsoft.com/office/drawing/2014/main" id="{039C84C9-F57A-D0BD-16AE-11506A34115A}"/>
              </a:ext>
            </a:extLst>
          </p:cNvPr>
          <p:cNvSpPr>
            <a:spLocks noGrp="1"/>
          </p:cNvSpPr>
          <p:nvPr>
            <p:ph type="subTitle" idx="1"/>
          </p:nvPr>
        </p:nvSpPr>
        <p:spPr/>
        <p:txBody>
          <a:bodyPr/>
          <a:lstStyle/>
          <a:p>
            <a:r>
              <a:rPr lang="en-US" dirty="0"/>
              <a:t>Kapil Dev Pant (6 </a:t>
            </a:r>
            <a:r>
              <a:rPr lang="en-US" dirty="0" err="1"/>
              <a:t>hrs</a:t>
            </a:r>
            <a:r>
              <a:rPr lang="en-US" dirty="0"/>
              <a:t>)</a:t>
            </a:r>
          </a:p>
        </p:txBody>
      </p:sp>
      <p:sp>
        <p:nvSpPr>
          <p:cNvPr id="4" name="Footer Placeholder 3">
            <a:extLst>
              <a:ext uri="{FF2B5EF4-FFF2-40B4-BE49-F238E27FC236}">
                <a16:creationId xmlns:a16="http://schemas.microsoft.com/office/drawing/2014/main" id="{DA08CB07-3C68-81C9-AA05-AFCEADF3055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033173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C38D-00F9-930E-38E6-282D00E0820A}"/>
              </a:ext>
            </a:extLst>
          </p:cNvPr>
          <p:cNvSpPr>
            <a:spLocks noGrp="1"/>
          </p:cNvSpPr>
          <p:nvPr>
            <p:ph type="title"/>
          </p:nvPr>
        </p:nvSpPr>
        <p:spPr>
          <a:xfrm>
            <a:off x="677334" y="609600"/>
            <a:ext cx="8596668" cy="834189"/>
          </a:xfrm>
        </p:spPr>
        <p:txBody>
          <a:bodyPr/>
          <a:lstStyle/>
          <a:p>
            <a:r>
              <a:rPr lang="en-US" dirty="0"/>
              <a:t>Contents</a:t>
            </a:r>
          </a:p>
        </p:txBody>
      </p:sp>
      <p:sp>
        <p:nvSpPr>
          <p:cNvPr id="4" name="Content Placeholder 3">
            <a:extLst>
              <a:ext uri="{FF2B5EF4-FFF2-40B4-BE49-F238E27FC236}">
                <a16:creationId xmlns:a16="http://schemas.microsoft.com/office/drawing/2014/main" id="{0DE4FF4D-B737-7FE1-BE23-DF0B410678BA}"/>
              </a:ext>
            </a:extLst>
          </p:cNvPr>
          <p:cNvSpPr>
            <a:spLocks noGrp="1"/>
          </p:cNvSpPr>
          <p:nvPr>
            <p:ph sz="half" idx="2"/>
          </p:nvPr>
        </p:nvSpPr>
        <p:spPr>
          <a:xfrm>
            <a:off x="675745" y="1981201"/>
            <a:ext cx="4185623" cy="4060162"/>
          </a:xfrm>
        </p:spPr>
        <p:txBody>
          <a:bodyPr>
            <a:normAutofit lnSpcReduction="10000"/>
          </a:bodyPr>
          <a:lstStyle/>
          <a:p>
            <a:pPr>
              <a:buFont typeface="+mj-lt"/>
              <a:buAutoNum type="arabicPeriod"/>
            </a:pPr>
            <a:r>
              <a:rPr lang="en-US" dirty="0"/>
              <a:t>Definition and Evolution of Machine Learning</a:t>
            </a:r>
          </a:p>
          <a:p>
            <a:pPr>
              <a:buFont typeface="+mj-lt"/>
              <a:buAutoNum type="arabicPeriod"/>
            </a:pPr>
            <a:r>
              <a:rPr lang="en-US" dirty="0"/>
              <a:t>Learning by Analogy</a:t>
            </a:r>
          </a:p>
          <a:p>
            <a:pPr>
              <a:buFont typeface="+mj-lt"/>
              <a:buAutoNum type="arabicPeriod"/>
            </a:pPr>
            <a:r>
              <a:rPr lang="en-US" dirty="0"/>
              <a:t>Explanation-based learning</a:t>
            </a:r>
          </a:p>
          <a:p>
            <a:pPr>
              <a:buFont typeface="+mj-lt"/>
              <a:buAutoNum type="arabicPeriod"/>
            </a:pPr>
            <a:r>
              <a:rPr lang="en-US" dirty="0"/>
              <a:t>Supervised Learning Algorithms</a:t>
            </a:r>
          </a:p>
          <a:p>
            <a:pPr marL="800100" lvl="1" indent="-342900">
              <a:buFont typeface="+mj-lt"/>
              <a:buAutoNum type="arabicPeriod"/>
            </a:pPr>
            <a:r>
              <a:rPr lang="en-US" dirty="0"/>
              <a:t>Classification and Regression</a:t>
            </a:r>
          </a:p>
          <a:p>
            <a:pPr marL="800100" lvl="1" indent="-342900">
              <a:buFont typeface="+mj-lt"/>
              <a:buAutoNum type="arabicPeriod"/>
            </a:pPr>
            <a:r>
              <a:rPr lang="en-US" dirty="0"/>
              <a:t>Linear regression</a:t>
            </a:r>
          </a:p>
          <a:p>
            <a:pPr marL="800100" lvl="1" indent="-342900">
              <a:buFont typeface="+mj-lt"/>
              <a:buAutoNum type="arabicPeriod"/>
            </a:pPr>
            <a:r>
              <a:rPr lang="en-US" dirty="0"/>
              <a:t>K-Nearest Neighbor </a:t>
            </a:r>
          </a:p>
          <a:p>
            <a:pPr>
              <a:buFont typeface="+mj-lt"/>
              <a:buAutoNum type="arabicPeriod"/>
            </a:pPr>
            <a:r>
              <a:rPr lang="en-US" dirty="0"/>
              <a:t>Unsupervised Learning Algorithms</a:t>
            </a:r>
          </a:p>
          <a:p>
            <a:pPr marL="800100" lvl="1" indent="-342900">
              <a:buFont typeface="+mj-lt"/>
              <a:buAutoNum type="arabicPeriod"/>
            </a:pPr>
            <a:r>
              <a:rPr lang="en-US" dirty="0"/>
              <a:t>Clustering</a:t>
            </a:r>
          </a:p>
          <a:p>
            <a:pPr marL="800100" lvl="1" indent="-342900">
              <a:buFont typeface="+mj-lt"/>
              <a:buAutoNum type="arabicPeriod"/>
            </a:pPr>
            <a:r>
              <a:rPr lang="en-US" dirty="0"/>
              <a:t>K-means Clustering </a:t>
            </a:r>
          </a:p>
          <a:p>
            <a:pPr>
              <a:buFont typeface="+mj-lt"/>
              <a:buAutoNum type="arabicPeriod"/>
            </a:pPr>
            <a:endParaRPr lang="en-US" dirty="0"/>
          </a:p>
        </p:txBody>
      </p:sp>
      <p:sp>
        <p:nvSpPr>
          <p:cNvPr id="6" name="Content Placeholder 5">
            <a:extLst>
              <a:ext uri="{FF2B5EF4-FFF2-40B4-BE49-F238E27FC236}">
                <a16:creationId xmlns:a16="http://schemas.microsoft.com/office/drawing/2014/main" id="{FE72CF0C-01A8-0544-AF54-4BF570559093}"/>
              </a:ext>
            </a:extLst>
          </p:cNvPr>
          <p:cNvSpPr>
            <a:spLocks noGrp="1"/>
          </p:cNvSpPr>
          <p:nvPr>
            <p:ph sz="quarter" idx="4"/>
          </p:nvPr>
        </p:nvSpPr>
        <p:spPr>
          <a:xfrm>
            <a:off x="5088384" y="1981201"/>
            <a:ext cx="4185617" cy="4060162"/>
          </a:xfrm>
        </p:spPr>
        <p:txBody>
          <a:bodyPr>
            <a:normAutofit lnSpcReduction="10000"/>
          </a:bodyPr>
          <a:lstStyle/>
          <a:p>
            <a:pPr>
              <a:buFont typeface="+mj-lt"/>
              <a:buAutoNum type="arabicPeriod" startAt="6"/>
            </a:pPr>
            <a:r>
              <a:rPr lang="en-US" dirty="0"/>
              <a:t>Artificial Neural Network</a:t>
            </a:r>
          </a:p>
          <a:p>
            <a:pPr marL="800100" lvl="1" indent="-342900">
              <a:buFont typeface="+mj-lt"/>
              <a:buAutoNum type="arabicPeriod"/>
            </a:pPr>
            <a:r>
              <a:rPr lang="en-US" dirty="0"/>
              <a:t>Biological Inspiration </a:t>
            </a:r>
          </a:p>
          <a:p>
            <a:pPr marL="800100" lvl="1" indent="-342900">
              <a:buFont typeface="+mj-lt"/>
              <a:buAutoNum type="arabicPeriod"/>
            </a:pPr>
            <a:r>
              <a:rPr lang="en-US" dirty="0"/>
              <a:t>Basic Components of ANN</a:t>
            </a:r>
          </a:p>
          <a:p>
            <a:pPr marL="800100" lvl="1" indent="-342900">
              <a:buFont typeface="+mj-lt"/>
              <a:buAutoNum type="arabicPeriod"/>
            </a:pPr>
            <a:r>
              <a:rPr lang="en-US" dirty="0"/>
              <a:t>Training Neural Networks</a:t>
            </a:r>
          </a:p>
          <a:p>
            <a:pPr marL="1257300" lvl="2" indent="-342900">
              <a:buFont typeface="+mj-lt"/>
              <a:buAutoNum type="arabicPeriod"/>
            </a:pPr>
            <a:r>
              <a:rPr lang="en-US" dirty="0"/>
              <a:t>Forward Propagation</a:t>
            </a:r>
          </a:p>
          <a:p>
            <a:pPr marL="1257300" lvl="2" indent="-342900">
              <a:buFont typeface="+mj-lt"/>
              <a:buAutoNum type="arabicPeriod"/>
            </a:pPr>
            <a:r>
              <a:rPr lang="en-US" dirty="0"/>
              <a:t>Loss Function</a:t>
            </a:r>
          </a:p>
          <a:p>
            <a:pPr marL="1257300" lvl="2" indent="-342900">
              <a:buFont typeface="+mj-lt"/>
              <a:buAutoNum type="arabicPeriod"/>
            </a:pPr>
            <a:r>
              <a:rPr lang="en-US" dirty="0"/>
              <a:t>Backward Propagation</a:t>
            </a:r>
          </a:p>
          <a:p>
            <a:pPr marL="1257300" lvl="2" indent="-342900">
              <a:buFont typeface="+mj-lt"/>
              <a:buAutoNum type="arabicPeriod"/>
            </a:pPr>
            <a:r>
              <a:rPr lang="en-US" dirty="0"/>
              <a:t>Learning Rate</a:t>
            </a:r>
          </a:p>
          <a:p>
            <a:pPr marL="800100" lvl="1" indent="-342900">
              <a:buFont typeface="+mj-lt"/>
              <a:buAutoNum type="arabicPeriod"/>
            </a:pPr>
            <a:r>
              <a:rPr lang="en-US" dirty="0"/>
              <a:t>Single-Layer Perceptron</a:t>
            </a:r>
          </a:p>
          <a:p>
            <a:pPr marL="800100" lvl="1" indent="-342900">
              <a:buFont typeface="+mj-lt"/>
              <a:buAutoNum type="arabicPeriod"/>
            </a:pPr>
            <a:r>
              <a:rPr lang="en-US" dirty="0"/>
              <a:t>Multi-Layer Perceptron</a:t>
            </a:r>
          </a:p>
          <a:p>
            <a:pPr>
              <a:buFont typeface="+mj-lt"/>
              <a:buAutoNum type="arabicPeriod" startAt="6"/>
            </a:pPr>
            <a:endParaRPr lang="en-US" dirty="0"/>
          </a:p>
        </p:txBody>
      </p:sp>
      <p:sp>
        <p:nvSpPr>
          <p:cNvPr id="7" name="Footer Placeholder 6">
            <a:extLst>
              <a:ext uri="{FF2B5EF4-FFF2-40B4-BE49-F238E27FC236}">
                <a16:creationId xmlns:a16="http://schemas.microsoft.com/office/drawing/2014/main" id="{A5E976B7-59F6-3C68-46D6-4A7C8DC608E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971229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FBFB8-5F17-6413-08FB-ECC8A659362B}"/>
              </a:ext>
            </a:extLst>
          </p:cNvPr>
          <p:cNvSpPr>
            <a:spLocks noGrp="1"/>
          </p:cNvSpPr>
          <p:nvPr>
            <p:ph type="title"/>
          </p:nvPr>
        </p:nvSpPr>
        <p:spPr/>
        <p:txBody>
          <a:bodyPr/>
          <a:lstStyle/>
          <a:p>
            <a:r>
              <a:rPr lang="en-US" dirty="0"/>
              <a:t>Machine Learning </a:t>
            </a:r>
          </a:p>
        </p:txBody>
      </p:sp>
      <p:pic>
        <p:nvPicPr>
          <p:cNvPr id="5" name="Content Placeholder 4">
            <a:extLst>
              <a:ext uri="{FF2B5EF4-FFF2-40B4-BE49-F238E27FC236}">
                <a16:creationId xmlns:a16="http://schemas.microsoft.com/office/drawing/2014/main" id="{47E0366B-679B-BB60-B710-8818CAC48D74}"/>
              </a:ext>
            </a:extLst>
          </p:cNvPr>
          <p:cNvPicPr>
            <a:picLocks noGrp="1" noChangeAspect="1"/>
          </p:cNvPicPr>
          <p:nvPr>
            <p:ph idx="1"/>
          </p:nvPr>
        </p:nvPicPr>
        <p:blipFill>
          <a:blip r:embed="rId3"/>
          <a:stretch>
            <a:fillRect/>
          </a:stretch>
        </p:blipFill>
        <p:spPr>
          <a:xfrm>
            <a:off x="6096000" y="629434"/>
            <a:ext cx="5867400" cy="5412592"/>
          </a:xfrm>
        </p:spPr>
      </p:pic>
      <p:sp>
        <p:nvSpPr>
          <p:cNvPr id="6" name="TextBox 5">
            <a:extLst>
              <a:ext uri="{FF2B5EF4-FFF2-40B4-BE49-F238E27FC236}">
                <a16:creationId xmlns:a16="http://schemas.microsoft.com/office/drawing/2014/main" id="{7D7A3623-D459-9550-6A57-25771509DACE}"/>
              </a:ext>
            </a:extLst>
          </p:cNvPr>
          <p:cNvSpPr txBox="1"/>
          <p:nvPr/>
        </p:nvSpPr>
        <p:spPr>
          <a:xfrm>
            <a:off x="533401" y="2044700"/>
            <a:ext cx="542290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Field of Artificial Intelligence (AI) that enables systems to learn and improve from experience without being explicitly programmed.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Focus on developing algorithms that can process data, identify patterns, and make decisions.</a:t>
            </a:r>
          </a:p>
          <a:p>
            <a:endParaRPr lang="en-US" dirty="0"/>
          </a:p>
          <a:p>
            <a:pPr marL="285750" indent="-285750">
              <a:buFont typeface="Arial" panose="020B0604020202020204" pitchFamily="34" charset="0"/>
              <a:buChar char="•"/>
            </a:pPr>
            <a:r>
              <a:rPr lang="en-US" dirty="0"/>
              <a:t>Key characteristics</a:t>
            </a:r>
          </a:p>
          <a:p>
            <a:pPr marL="742950" lvl="1" indent="-285750">
              <a:buFont typeface="Arial" panose="020B0604020202020204" pitchFamily="34" charset="0"/>
              <a:buChar char="•"/>
            </a:pPr>
            <a:r>
              <a:rPr lang="en-US" dirty="0"/>
              <a:t>Data Driven Approach</a:t>
            </a:r>
          </a:p>
          <a:p>
            <a:pPr marL="742950" lvl="1" indent="-285750">
              <a:buFont typeface="Arial" panose="020B0604020202020204" pitchFamily="34" charset="0"/>
              <a:buChar char="•"/>
            </a:pPr>
            <a:r>
              <a:rPr lang="en-US" dirty="0"/>
              <a:t>Adaptive and Scalable</a:t>
            </a:r>
          </a:p>
          <a:p>
            <a:pPr marL="742950" lvl="1" indent="-285750">
              <a:buFont typeface="Arial" panose="020B0604020202020204" pitchFamily="34" charset="0"/>
              <a:buChar char="•"/>
            </a:pPr>
            <a:r>
              <a:rPr lang="en-US" dirty="0"/>
              <a:t>Predictive Modeling</a:t>
            </a:r>
          </a:p>
          <a:p>
            <a:endParaRPr lang="en-US" dirty="0"/>
          </a:p>
        </p:txBody>
      </p:sp>
      <p:sp>
        <p:nvSpPr>
          <p:cNvPr id="3" name="Footer Placeholder 2">
            <a:extLst>
              <a:ext uri="{FF2B5EF4-FFF2-40B4-BE49-F238E27FC236}">
                <a16:creationId xmlns:a16="http://schemas.microsoft.com/office/drawing/2014/main" id="{6C54680A-B430-C8D2-DB49-836A4AB66C2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036149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D0B8-D467-04D4-AF42-8F35237A910C}"/>
              </a:ext>
            </a:extLst>
          </p:cNvPr>
          <p:cNvSpPr>
            <a:spLocks noGrp="1"/>
          </p:cNvSpPr>
          <p:nvPr>
            <p:ph type="title"/>
          </p:nvPr>
        </p:nvSpPr>
        <p:spPr/>
        <p:txBody>
          <a:bodyPr/>
          <a:lstStyle/>
          <a:p>
            <a:r>
              <a:rPr lang="en-US" dirty="0"/>
              <a:t>Evolution of Machine Learning</a:t>
            </a:r>
          </a:p>
        </p:txBody>
      </p:sp>
      <p:sp>
        <p:nvSpPr>
          <p:cNvPr id="4" name="Footer Placeholder 3">
            <a:extLst>
              <a:ext uri="{FF2B5EF4-FFF2-40B4-BE49-F238E27FC236}">
                <a16:creationId xmlns:a16="http://schemas.microsoft.com/office/drawing/2014/main" id="{482AF8C3-A2B6-E782-DC65-9017F9DEB748}"/>
              </a:ext>
            </a:extLst>
          </p:cNvPr>
          <p:cNvSpPr>
            <a:spLocks noGrp="1"/>
          </p:cNvSpPr>
          <p:nvPr>
            <p:ph type="ftr" sz="quarter" idx="11"/>
          </p:nvPr>
        </p:nvSpPr>
        <p:spPr/>
        <p:txBody>
          <a:bodyPr/>
          <a:lstStyle/>
          <a:p>
            <a:r>
              <a:rPr lang="nb-NO"/>
              <a:t>kapil@nast.edu.np || kapilpant157</a:t>
            </a:r>
            <a:endParaRPr lang="en-US"/>
          </a:p>
        </p:txBody>
      </p:sp>
      <p:graphicFrame>
        <p:nvGraphicFramePr>
          <p:cNvPr id="8" name="Content Placeholder 7">
            <a:extLst>
              <a:ext uri="{FF2B5EF4-FFF2-40B4-BE49-F238E27FC236}">
                <a16:creationId xmlns:a16="http://schemas.microsoft.com/office/drawing/2014/main" id="{46D70A1C-39A2-AB59-65F4-7A6BD6FE1D8A}"/>
              </a:ext>
            </a:extLst>
          </p:cNvPr>
          <p:cNvGraphicFramePr>
            <a:graphicFrameLocks noGrp="1"/>
          </p:cNvGraphicFramePr>
          <p:nvPr>
            <p:ph idx="1"/>
            <p:extLst>
              <p:ext uri="{D42A27DB-BD31-4B8C-83A1-F6EECF244321}">
                <p14:modId xmlns:p14="http://schemas.microsoft.com/office/powerpoint/2010/main" val="3730227871"/>
              </p:ext>
            </p:extLst>
          </p:nvPr>
        </p:nvGraphicFramePr>
        <p:xfrm>
          <a:off x="677334" y="1930400"/>
          <a:ext cx="9381066" cy="4043680"/>
        </p:xfrm>
        <a:graphic>
          <a:graphicData uri="http://schemas.openxmlformats.org/drawingml/2006/table">
            <a:tbl>
              <a:tblPr firstRow="1" bandRow="1">
                <a:tableStyleId>{5C22544A-7EE6-4342-B048-85BDC9FD1C3A}</a:tableStyleId>
              </a:tblPr>
              <a:tblGrid>
                <a:gridCol w="2000310">
                  <a:extLst>
                    <a:ext uri="{9D8B030D-6E8A-4147-A177-3AD203B41FA5}">
                      <a16:colId xmlns:a16="http://schemas.microsoft.com/office/drawing/2014/main" val="3766318470"/>
                    </a:ext>
                  </a:extLst>
                </a:gridCol>
                <a:gridCol w="3748955">
                  <a:extLst>
                    <a:ext uri="{9D8B030D-6E8A-4147-A177-3AD203B41FA5}">
                      <a16:colId xmlns:a16="http://schemas.microsoft.com/office/drawing/2014/main" val="1860307229"/>
                    </a:ext>
                  </a:extLst>
                </a:gridCol>
                <a:gridCol w="3631801">
                  <a:extLst>
                    <a:ext uri="{9D8B030D-6E8A-4147-A177-3AD203B41FA5}">
                      <a16:colId xmlns:a16="http://schemas.microsoft.com/office/drawing/2014/main" val="4271327210"/>
                    </a:ext>
                  </a:extLst>
                </a:gridCol>
              </a:tblGrid>
              <a:tr h="394001">
                <a:tc>
                  <a:txBody>
                    <a:bodyPr/>
                    <a:lstStyle/>
                    <a:p>
                      <a:pPr>
                        <a:buNone/>
                      </a:pPr>
                      <a:r>
                        <a:rPr lang="en-US" dirty="0"/>
                        <a:t>Era</a:t>
                      </a:r>
                    </a:p>
                  </a:txBody>
                  <a:tcPr anchor="ctr"/>
                </a:tc>
                <a:tc>
                  <a:txBody>
                    <a:bodyPr/>
                    <a:lstStyle/>
                    <a:p>
                      <a:pPr>
                        <a:buNone/>
                      </a:pPr>
                      <a:r>
                        <a:rPr lang="en-US"/>
                        <a:t>Focus</a:t>
                      </a:r>
                    </a:p>
                  </a:txBody>
                  <a:tcPr anchor="ctr"/>
                </a:tc>
                <a:tc>
                  <a:txBody>
                    <a:bodyPr/>
                    <a:lstStyle/>
                    <a:p>
                      <a:pPr>
                        <a:buNone/>
                      </a:pPr>
                      <a:r>
                        <a:rPr lang="en-US"/>
                        <a:t>Impact</a:t>
                      </a:r>
                    </a:p>
                  </a:txBody>
                  <a:tcPr anchor="ctr"/>
                </a:tc>
                <a:extLst>
                  <a:ext uri="{0D108BD9-81ED-4DB2-BD59-A6C34878D82A}">
                    <a16:rowId xmlns:a16="http://schemas.microsoft.com/office/drawing/2014/main" val="1564377762"/>
                  </a:ext>
                </a:extLst>
              </a:tr>
              <a:tr h="515156">
                <a:tc>
                  <a:txBody>
                    <a:bodyPr/>
                    <a:lstStyle/>
                    <a:p>
                      <a:pPr>
                        <a:buNone/>
                      </a:pPr>
                      <a:r>
                        <a:rPr lang="en-US" dirty="0"/>
                        <a:t>1950s–70s</a:t>
                      </a:r>
                    </a:p>
                  </a:txBody>
                  <a:tcPr anchor="ctr"/>
                </a:tc>
                <a:tc>
                  <a:txBody>
                    <a:bodyPr/>
                    <a:lstStyle/>
                    <a:p>
                      <a:pPr>
                        <a:buNone/>
                      </a:pPr>
                      <a:r>
                        <a:rPr lang="en-US"/>
                        <a:t>Early neural &amp; symbolic AI</a:t>
                      </a:r>
                    </a:p>
                  </a:txBody>
                  <a:tcPr anchor="ctr"/>
                </a:tc>
                <a:tc>
                  <a:txBody>
                    <a:bodyPr/>
                    <a:lstStyle/>
                    <a:p>
                      <a:pPr>
                        <a:buNone/>
                      </a:pPr>
                      <a:r>
                        <a:rPr lang="en-US"/>
                        <a:t>Laid foundations</a:t>
                      </a:r>
                    </a:p>
                  </a:txBody>
                  <a:tcPr anchor="ctr"/>
                </a:tc>
                <a:extLst>
                  <a:ext uri="{0D108BD9-81ED-4DB2-BD59-A6C34878D82A}">
                    <a16:rowId xmlns:a16="http://schemas.microsoft.com/office/drawing/2014/main" val="3164650245"/>
                  </a:ext>
                </a:extLst>
              </a:tr>
              <a:tr h="456093">
                <a:tc>
                  <a:txBody>
                    <a:bodyPr/>
                    <a:lstStyle/>
                    <a:p>
                      <a:pPr>
                        <a:buNone/>
                      </a:pPr>
                      <a:r>
                        <a:rPr lang="en-US"/>
                        <a:t>1980s–90s</a:t>
                      </a:r>
                    </a:p>
                  </a:txBody>
                  <a:tcPr anchor="ctr"/>
                </a:tc>
                <a:tc>
                  <a:txBody>
                    <a:bodyPr/>
                    <a:lstStyle/>
                    <a:p>
                      <a:pPr>
                        <a:buNone/>
                      </a:pPr>
                      <a:r>
                        <a:rPr lang="en-US" dirty="0"/>
                        <a:t>Statistical ML &amp; algorithms</a:t>
                      </a:r>
                    </a:p>
                  </a:txBody>
                  <a:tcPr anchor="ctr"/>
                </a:tc>
                <a:tc>
                  <a:txBody>
                    <a:bodyPr/>
                    <a:lstStyle/>
                    <a:p>
                      <a:pPr>
                        <a:buNone/>
                      </a:pPr>
                      <a:r>
                        <a:rPr lang="en-US"/>
                        <a:t>Broader applicability</a:t>
                      </a:r>
                    </a:p>
                  </a:txBody>
                  <a:tcPr anchor="ctr"/>
                </a:tc>
                <a:extLst>
                  <a:ext uri="{0D108BD9-81ED-4DB2-BD59-A6C34878D82A}">
                    <a16:rowId xmlns:a16="http://schemas.microsoft.com/office/drawing/2014/main" val="114906082"/>
                  </a:ext>
                </a:extLst>
              </a:tr>
              <a:tr h="536067">
                <a:tc>
                  <a:txBody>
                    <a:bodyPr/>
                    <a:lstStyle/>
                    <a:p>
                      <a:pPr>
                        <a:buNone/>
                      </a:pPr>
                      <a:r>
                        <a:rPr lang="en-US"/>
                        <a:t>2000s</a:t>
                      </a:r>
                    </a:p>
                  </a:txBody>
                  <a:tcPr anchor="ctr"/>
                </a:tc>
                <a:tc>
                  <a:txBody>
                    <a:bodyPr/>
                    <a:lstStyle/>
                    <a:p>
                      <a:pPr>
                        <a:buNone/>
                      </a:pPr>
                      <a:r>
                        <a:rPr lang="en-US" dirty="0"/>
                        <a:t>Deep learning starts</a:t>
                      </a:r>
                    </a:p>
                  </a:txBody>
                  <a:tcPr anchor="ctr"/>
                </a:tc>
                <a:tc>
                  <a:txBody>
                    <a:bodyPr/>
                    <a:lstStyle/>
                    <a:p>
                      <a:pPr>
                        <a:buNone/>
                      </a:pPr>
                      <a:r>
                        <a:rPr lang="en-US"/>
                        <a:t>Breakthrough performance</a:t>
                      </a:r>
                    </a:p>
                  </a:txBody>
                  <a:tcPr anchor="ctr"/>
                </a:tc>
                <a:extLst>
                  <a:ext uri="{0D108BD9-81ED-4DB2-BD59-A6C34878D82A}">
                    <a16:rowId xmlns:a16="http://schemas.microsoft.com/office/drawing/2014/main" val="2152364519"/>
                  </a:ext>
                </a:extLst>
              </a:tr>
              <a:tr h="473583">
                <a:tc>
                  <a:txBody>
                    <a:bodyPr/>
                    <a:lstStyle/>
                    <a:p>
                      <a:pPr>
                        <a:buNone/>
                      </a:pPr>
                      <a:r>
                        <a:rPr lang="en-US"/>
                        <a:t>2010s</a:t>
                      </a:r>
                    </a:p>
                  </a:txBody>
                  <a:tcPr anchor="ctr"/>
                </a:tc>
                <a:tc>
                  <a:txBody>
                    <a:bodyPr/>
                    <a:lstStyle/>
                    <a:p>
                      <a:pPr>
                        <a:buNone/>
                      </a:pPr>
                      <a:r>
                        <a:rPr lang="en-US"/>
                        <a:t>Scalable architectures</a:t>
                      </a:r>
                    </a:p>
                  </a:txBody>
                  <a:tcPr anchor="ctr"/>
                </a:tc>
                <a:tc>
                  <a:txBody>
                    <a:bodyPr/>
                    <a:lstStyle/>
                    <a:p>
                      <a:pPr>
                        <a:buNone/>
                      </a:pPr>
                      <a:r>
                        <a:rPr lang="en-US"/>
                        <a:t>Image, speech, vision</a:t>
                      </a:r>
                    </a:p>
                  </a:txBody>
                  <a:tcPr anchor="ctr"/>
                </a:tc>
                <a:extLst>
                  <a:ext uri="{0D108BD9-81ED-4DB2-BD59-A6C34878D82A}">
                    <a16:rowId xmlns:a16="http://schemas.microsoft.com/office/drawing/2014/main" val="2782150334"/>
                  </a:ext>
                </a:extLst>
              </a:tr>
              <a:tr h="514350">
                <a:tc>
                  <a:txBody>
                    <a:bodyPr/>
                    <a:lstStyle/>
                    <a:p>
                      <a:pPr>
                        <a:buNone/>
                      </a:pPr>
                      <a:r>
                        <a:rPr lang="en-US"/>
                        <a:t>2017+</a:t>
                      </a:r>
                    </a:p>
                  </a:txBody>
                  <a:tcPr anchor="ctr"/>
                </a:tc>
                <a:tc>
                  <a:txBody>
                    <a:bodyPr/>
                    <a:lstStyle/>
                    <a:p>
                      <a:pPr>
                        <a:buNone/>
                      </a:pPr>
                      <a:r>
                        <a:rPr lang="en-US"/>
                        <a:t>Transformers &amp; NLP</a:t>
                      </a:r>
                    </a:p>
                  </a:txBody>
                  <a:tcPr anchor="ctr"/>
                </a:tc>
                <a:tc>
                  <a:txBody>
                    <a:bodyPr/>
                    <a:lstStyle/>
                    <a:p>
                      <a:pPr>
                        <a:buNone/>
                      </a:pPr>
                      <a:r>
                        <a:rPr lang="en-US"/>
                        <a:t>Language &amp; large models</a:t>
                      </a:r>
                    </a:p>
                  </a:txBody>
                  <a:tcPr anchor="ctr"/>
                </a:tc>
                <a:extLst>
                  <a:ext uri="{0D108BD9-81ED-4DB2-BD59-A6C34878D82A}">
                    <a16:rowId xmlns:a16="http://schemas.microsoft.com/office/drawing/2014/main" val="766989697"/>
                  </a:ext>
                </a:extLst>
              </a:tr>
              <a:tr h="514350">
                <a:tc>
                  <a:txBody>
                    <a:bodyPr/>
                    <a:lstStyle/>
                    <a:p>
                      <a:pPr>
                        <a:buNone/>
                      </a:pPr>
                      <a:r>
                        <a:rPr lang="en-US"/>
                        <a:t>2020s</a:t>
                      </a:r>
                    </a:p>
                  </a:txBody>
                  <a:tcPr anchor="ctr"/>
                </a:tc>
                <a:tc>
                  <a:txBody>
                    <a:bodyPr/>
                    <a:lstStyle/>
                    <a:p>
                      <a:pPr>
                        <a:buNone/>
                      </a:pPr>
                      <a:r>
                        <a:rPr lang="en-US"/>
                        <a:t>Generative/Foundational AI</a:t>
                      </a:r>
                    </a:p>
                  </a:txBody>
                  <a:tcPr anchor="ctr"/>
                </a:tc>
                <a:tc>
                  <a:txBody>
                    <a:bodyPr/>
                    <a:lstStyle/>
                    <a:p>
                      <a:pPr>
                        <a:buNone/>
                      </a:pPr>
                      <a:r>
                        <a:rPr lang="en-US"/>
                        <a:t>Creativity &amp; reasoning</a:t>
                      </a:r>
                    </a:p>
                  </a:txBody>
                  <a:tcPr anchor="ctr"/>
                </a:tc>
                <a:extLst>
                  <a:ext uri="{0D108BD9-81ED-4DB2-BD59-A6C34878D82A}">
                    <a16:rowId xmlns:a16="http://schemas.microsoft.com/office/drawing/2014/main" val="3441142715"/>
                  </a:ext>
                </a:extLst>
              </a:tr>
              <a:tr h="552450">
                <a:tc>
                  <a:txBody>
                    <a:bodyPr/>
                    <a:lstStyle/>
                    <a:p>
                      <a:pPr>
                        <a:buNone/>
                      </a:pPr>
                      <a:r>
                        <a:rPr lang="en-US"/>
                        <a:t>2025–2026</a:t>
                      </a:r>
                    </a:p>
                  </a:txBody>
                  <a:tcPr anchor="ctr"/>
                </a:tc>
                <a:tc>
                  <a:txBody>
                    <a:bodyPr/>
                    <a:lstStyle/>
                    <a:p>
                      <a:pPr>
                        <a:buNone/>
                      </a:pPr>
                      <a:r>
                        <a:rPr lang="en-US" dirty="0"/>
                        <a:t>Integrated agents &amp; physical AI</a:t>
                      </a:r>
                    </a:p>
                  </a:txBody>
                  <a:tcPr anchor="ctr"/>
                </a:tc>
                <a:tc>
                  <a:txBody>
                    <a:bodyPr/>
                    <a:lstStyle/>
                    <a:p>
                      <a:pPr>
                        <a:buNone/>
                      </a:pPr>
                      <a:r>
                        <a:rPr lang="en-US" dirty="0"/>
                        <a:t>Smart systems interacting with world</a:t>
                      </a:r>
                    </a:p>
                  </a:txBody>
                  <a:tcPr anchor="ctr"/>
                </a:tc>
                <a:extLst>
                  <a:ext uri="{0D108BD9-81ED-4DB2-BD59-A6C34878D82A}">
                    <a16:rowId xmlns:a16="http://schemas.microsoft.com/office/drawing/2014/main" val="959075371"/>
                  </a:ext>
                </a:extLst>
              </a:tr>
            </a:tbl>
          </a:graphicData>
        </a:graphic>
      </p:graphicFrame>
    </p:spTree>
    <p:extLst>
      <p:ext uri="{BB962C8B-B14F-4D97-AF65-F5344CB8AC3E}">
        <p14:creationId xmlns:p14="http://schemas.microsoft.com/office/powerpoint/2010/main" val="1217574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2E759-76BF-BD2F-BFC4-6DF116874F58}"/>
              </a:ext>
            </a:extLst>
          </p:cNvPr>
          <p:cNvSpPr>
            <a:spLocks noGrp="1"/>
          </p:cNvSpPr>
          <p:nvPr>
            <p:ph type="title"/>
          </p:nvPr>
        </p:nvSpPr>
        <p:spPr/>
        <p:txBody>
          <a:bodyPr>
            <a:normAutofit/>
          </a:bodyPr>
          <a:lstStyle/>
          <a:p>
            <a:r>
              <a:rPr lang="en-US" sz="4400" u="none" strike="noStrike" dirty="0">
                <a:effectLst/>
                <a:latin typeface="Times New Roman" panose="02020603050405020304" pitchFamily="18" charset="0"/>
                <a:ea typeface="Times New Roman" panose="02020603050405020304" pitchFamily="18" charset="0"/>
              </a:rPr>
              <a:t>Machine Learning</a:t>
            </a:r>
            <a:endParaRPr lang="en-US" dirty="0"/>
          </a:p>
        </p:txBody>
      </p:sp>
      <p:sp>
        <p:nvSpPr>
          <p:cNvPr id="3" name="Content Placeholder 2">
            <a:extLst>
              <a:ext uri="{FF2B5EF4-FFF2-40B4-BE49-F238E27FC236}">
                <a16:creationId xmlns:a16="http://schemas.microsoft.com/office/drawing/2014/main" id="{D4E0CD9E-75FF-CB59-003F-3FFF86B67AF2}"/>
              </a:ext>
            </a:extLst>
          </p:cNvPr>
          <p:cNvSpPr>
            <a:spLocks noGrp="1"/>
          </p:cNvSpPr>
          <p:nvPr>
            <p:ph idx="1"/>
          </p:nvPr>
        </p:nvSpPr>
        <p:spPr/>
        <p:txBody>
          <a:bodyPr/>
          <a:lstStyle/>
          <a:p>
            <a:r>
              <a:rPr lang="en-US" dirty="0"/>
              <a:t>What is learning and why needed?</a:t>
            </a:r>
          </a:p>
          <a:p>
            <a:r>
              <a:rPr lang="en-US" dirty="0"/>
              <a:t>Why we want agent to learn? | we just improve the problem that is there in model?</a:t>
            </a:r>
          </a:p>
          <a:p>
            <a:pPr lvl="1"/>
            <a:r>
              <a:rPr lang="en-US" dirty="0"/>
              <a:t>Designer can't anticipate all possible situation, that agent might come across. e.g.: maze</a:t>
            </a:r>
          </a:p>
          <a:p>
            <a:pPr lvl="1"/>
            <a:r>
              <a:rPr lang="en-US" dirty="0"/>
              <a:t>Designer can't anticipate all changes over time. </a:t>
            </a:r>
            <a:r>
              <a:rPr lang="en-US" dirty="0" err="1"/>
              <a:t>Eg</a:t>
            </a:r>
            <a:r>
              <a:rPr lang="en-US" dirty="0"/>
              <a:t> : stock market</a:t>
            </a:r>
          </a:p>
          <a:p>
            <a:pPr lvl="1"/>
            <a:r>
              <a:rPr lang="en-US" dirty="0"/>
              <a:t>Human programmer don’t have idea to solve problem by themselves. </a:t>
            </a:r>
            <a:r>
              <a:rPr lang="en-US" dirty="0" err="1"/>
              <a:t>Eg</a:t>
            </a:r>
            <a:r>
              <a:rPr lang="en-US" dirty="0"/>
              <a:t>: face detection</a:t>
            </a:r>
          </a:p>
          <a:p>
            <a:pPr lvl="1"/>
            <a:endParaRPr lang="en-US" dirty="0"/>
          </a:p>
        </p:txBody>
      </p:sp>
      <p:sp>
        <p:nvSpPr>
          <p:cNvPr id="4" name="Footer Placeholder 3">
            <a:extLst>
              <a:ext uri="{FF2B5EF4-FFF2-40B4-BE49-F238E27FC236}">
                <a16:creationId xmlns:a16="http://schemas.microsoft.com/office/drawing/2014/main" id="{7F5323C0-A030-14F0-2D14-3029C507046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9227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A6196-9562-DD96-982F-CB25EE6F3BDD}"/>
              </a:ext>
            </a:extLst>
          </p:cNvPr>
          <p:cNvSpPr>
            <a:spLocks noGrp="1"/>
          </p:cNvSpPr>
          <p:nvPr>
            <p:ph type="title"/>
          </p:nvPr>
        </p:nvSpPr>
        <p:spPr/>
        <p:txBody>
          <a:bodyPr/>
          <a:lstStyle/>
          <a:p>
            <a:r>
              <a:rPr lang="en-US" dirty="0"/>
              <a:t>Learning by Analogy</a:t>
            </a:r>
          </a:p>
        </p:txBody>
      </p:sp>
      <p:sp>
        <p:nvSpPr>
          <p:cNvPr id="3" name="Content Placeholder 2">
            <a:extLst>
              <a:ext uri="{FF2B5EF4-FFF2-40B4-BE49-F238E27FC236}">
                <a16:creationId xmlns:a16="http://schemas.microsoft.com/office/drawing/2014/main" id="{2F003EF9-1C4C-645B-6BA5-4675666EFEDF}"/>
              </a:ext>
            </a:extLst>
          </p:cNvPr>
          <p:cNvSpPr>
            <a:spLocks noGrp="1"/>
          </p:cNvSpPr>
          <p:nvPr>
            <p:ph idx="1"/>
          </p:nvPr>
        </p:nvSpPr>
        <p:spPr/>
        <p:txBody>
          <a:bodyPr>
            <a:normAutofit lnSpcReduction="10000"/>
          </a:bodyPr>
          <a:lstStyle/>
          <a:p>
            <a:r>
              <a:rPr lang="en-US" dirty="0"/>
              <a:t>Learning by drawing parallels between a new situation and previously encountered situations.</a:t>
            </a:r>
          </a:p>
          <a:p>
            <a:r>
              <a:rPr lang="en-US" dirty="0"/>
              <a:t>Solving a problem in one domain by applying the solution from a different domain.</a:t>
            </a:r>
          </a:p>
          <a:p>
            <a:r>
              <a:rPr lang="en-US" dirty="0"/>
              <a:t>Involves abstracting details from a particular set of problems and resolving structural similarities between previously distinct problems</a:t>
            </a:r>
          </a:p>
          <a:p>
            <a:pPr marL="0" indent="0">
              <a:buNone/>
            </a:pPr>
            <a:r>
              <a:rPr lang="en-US" dirty="0"/>
              <a:t>Applications:</a:t>
            </a:r>
          </a:p>
          <a:p>
            <a:pPr lvl="1"/>
            <a:r>
              <a:rPr lang="en-US" dirty="0"/>
              <a:t>Case-based reasoning systems</a:t>
            </a:r>
          </a:p>
          <a:p>
            <a:pPr lvl="1"/>
            <a:r>
              <a:rPr lang="en-US" dirty="0"/>
              <a:t>Natural language processing (e.g., metaphor understanding)</a:t>
            </a:r>
          </a:p>
          <a:p>
            <a:pPr marL="0" indent="0">
              <a:buNone/>
            </a:pPr>
            <a:r>
              <a:rPr lang="en-US" dirty="0"/>
              <a:t>Advantages:</a:t>
            </a:r>
          </a:p>
          <a:p>
            <a:pPr lvl="1"/>
            <a:r>
              <a:rPr lang="en-US" dirty="0"/>
              <a:t>Intuitive and efficient for human-like learning.</a:t>
            </a:r>
          </a:p>
          <a:p>
            <a:endParaRPr lang="en-US" dirty="0"/>
          </a:p>
        </p:txBody>
      </p:sp>
      <p:sp>
        <p:nvSpPr>
          <p:cNvPr id="4" name="Footer Placeholder 3">
            <a:extLst>
              <a:ext uri="{FF2B5EF4-FFF2-40B4-BE49-F238E27FC236}">
                <a16:creationId xmlns:a16="http://schemas.microsoft.com/office/drawing/2014/main" id="{1578F06E-858B-091C-A221-934FBEFE28B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58605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EB8C-4273-F3F4-1678-18B9E5FCA30E}"/>
              </a:ext>
            </a:extLst>
          </p:cNvPr>
          <p:cNvSpPr>
            <a:spLocks noGrp="1"/>
          </p:cNvSpPr>
          <p:nvPr>
            <p:ph type="title"/>
          </p:nvPr>
        </p:nvSpPr>
        <p:spPr/>
        <p:txBody>
          <a:bodyPr/>
          <a:lstStyle/>
          <a:p>
            <a:r>
              <a:rPr lang="en-US" dirty="0"/>
              <a:t>Analogical Reasoning Steps</a:t>
            </a:r>
            <a:br>
              <a:rPr lang="en-US" dirty="0"/>
            </a:br>
            <a:endParaRPr lang="en-US" dirty="0"/>
          </a:p>
        </p:txBody>
      </p:sp>
      <p:sp>
        <p:nvSpPr>
          <p:cNvPr id="3" name="Content Placeholder 2">
            <a:extLst>
              <a:ext uri="{FF2B5EF4-FFF2-40B4-BE49-F238E27FC236}">
                <a16:creationId xmlns:a16="http://schemas.microsoft.com/office/drawing/2014/main" id="{10523076-EC88-0367-17E1-C6A57B17878B}"/>
              </a:ext>
            </a:extLst>
          </p:cNvPr>
          <p:cNvSpPr>
            <a:spLocks noGrp="1"/>
          </p:cNvSpPr>
          <p:nvPr>
            <p:ph idx="1"/>
          </p:nvPr>
        </p:nvSpPr>
        <p:spPr/>
        <p:txBody>
          <a:bodyPr/>
          <a:lstStyle/>
          <a:p>
            <a:r>
              <a:rPr lang="en-US" dirty="0"/>
              <a:t>Retrieve:- Retrieve cases from memory that are relevant to solving it.</a:t>
            </a:r>
          </a:p>
          <a:p>
            <a:r>
              <a:rPr lang="en-US" dirty="0"/>
              <a:t>Reuse:- Map the solution from previous case to the target problem. This involves adapting the solution to fit new solution.</a:t>
            </a:r>
          </a:p>
          <a:p>
            <a:r>
              <a:rPr lang="en-US" dirty="0"/>
              <a:t>Revise:- Test the new solution to real world and, if necessary, revise.</a:t>
            </a:r>
          </a:p>
          <a:p>
            <a:r>
              <a:rPr lang="en-US" dirty="0"/>
              <a:t>Retain: After solution is successfully adapted in target problem, store resulting experience as a new case inn memory. </a:t>
            </a:r>
          </a:p>
          <a:p>
            <a:endParaRPr lang="en-US" dirty="0"/>
          </a:p>
          <a:p>
            <a:endParaRPr lang="en-US" dirty="0"/>
          </a:p>
        </p:txBody>
      </p:sp>
      <p:sp>
        <p:nvSpPr>
          <p:cNvPr id="4" name="Footer Placeholder 3">
            <a:extLst>
              <a:ext uri="{FF2B5EF4-FFF2-40B4-BE49-F238E27FC236}">
                <a16:creationId xmlns:a16="http://schemas.microsoft.com/office/drawing/2014/main" id="{FE0A91E0-4E2F-33E3-7B14-EB24928316E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939123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88D0-9A9E-5DA2-0131-1BEEB54C39F3}"/>
              </a:ext>
            </a:extLst>
          </p:cNvPr>
          <p:cNvSpPr>
            <a:spLocks noGrp="1"/>
          </p:cNvSpPr>
          <p:nvPr>
            <p:ph type="title"/>
          </p:nvPr>
        </p:nvSpPr>
        <p:spPr/>
        <p:txBody>
          <a:bodyPr/>
          <a:lstStyle/>
          <a:p>
            <a:r>
              <a:rPr lang="en-US" dirty="0"/>
              <a:t>Explanation-Based Learning (EBL)</a:t>
            </a:r>
          </a:p>
        </p:txBody>
      </p:sp>
      <p:sp>
        <p:nvSpPr>
          <p:cNvPr id="3" name="Content Placeholder 2">
            <a:extLst>
              <a:ext uri="{FF2B5EF4-FFF2-40B4-BE49-F238E27FC236}">
                <a16:creationId xmlns:a16="http://schemas.microsoft.com/office/drawing/2014/main" id="{080621B7-2976-C2C9-707D-5478E1F9CC52}"/>
              </a:ext>
            </a:extLst>
          </p:cNvPr>
          <p:cNvSpPr>
            <a:spLocks noGrp="1"/>
          </p:cNvSpPr>
          <p:nvPr>
            <p:ph idx="1"/>
          </p:nvPr>
        </p:nvSpPr>
        <p:spPr>
          <a:xfrm>
            <a:off x="677334" y="2160590"/>
            <a:ext cx="8596668" cy="3757714"/>
          </a:xfrm>
        </p:spPr>
        <p:txBody>
          <a:bodyPr>
            <a:noAutofit/>
          </a:bodyPr>
          <a:lstStyle/>
          <a:p>
            <a:pPr marL="0" indent="0">
              <a:buNone/>
            </a:pPr>
            <a:r>
              <a:rPr lang="en-US" dirty="0"/>
              <a:t>A learning technique where a system generalizes from a single example by understanding the underlying explanation.</a:t>
            </a:r>
          </a:p>
          <a:p>
            <a:pPr marL="0" indent="0">
              <a:buNone/>
            </a:pPr>
            <a:r>
              <a:rPr lang="en-US" dirty="0"/>
              <a:t>Steps in EBL:</a:t>
            </a:r>
          </a:p>
          <a:p>
            <a:pPr marL="0" indent="0">
              <a:buNone/>
            </a:pPr>
            <a:r>
              <a:rPr lang="en-US" dirty="0"/>
              <a:t>1. Analyze a specific example.</a:t>
            </a:r>
          </a:p>
          <a:p>
            <a:pPr marL="0" indent="0">
              <a:buNone/>
            </a:pPr>
            <a:r>
              <a:rPr lang="en-US" dirty="0"/>
              <a:t>2. Extract the generalized rule or explanation.</a:t>
            </a:r>
          </a:p>
          <a:p>
            <a:pPr marL="0" indent="0">
              <a:buNone/>
            </a:pPr>
            <a:r>
              <a:rPr lang="en-US" dirty="0"/>
              <a:t>3. Apply the rule to similar problems.</a:t>
            </a:r>
          </a:p>
          <a:p>
            <a:pPr marL="0" indent="0">
              <a:buNone/>
            </a:pPr>
            <a:r>
              <a:rPr lang="en-US" dirty="0"/>
              <a:t>Applications:</a:t>
            </a:r>
          </a:p>
          <a:p>
            <a:pPr>
              <a:buFont typeface="Arial" panose="020B0604020202020204" pitchFamily="34" charset="0"/>
              <a:buChar char="•"/>
            </a:pPr>
            <a:r>
              <a:rPr lang="en-US" dirty="0"/>
              <a:t>Knowledge-based systems.</a:t>
            </a:r>
          </a:p>
          <a:p>
            <a:pPr>
              <a:buFont typeface="Arial" panose="020B0604020202020204" pitchFamily="34" charset="0"/>
              <a:buChar char="•"/>
            </a:pPr>
            <a:r>
              <a:rPr lang="en-US" dirty="0"/>
              <a:t>Robotics and automated planning.</a:t>
            </a:r>
          </a:p>
          <a:p>
            <a:endParaRPr lang="en-US" dirty="0"/>
          </a:p>
        </p:txBody>
      </p:sp>
      <p:sp>
        <p:nvSpPr>
          <p:cNvPr id="4" name="Oval 3">
            <a:extLst>
              <a:ext uri="{FF2B5EF4-FFF2-40B4-BE49-F238E27FC236}">
                <a16:creationId xmlns:a16="http://schemas.microsoft.com/office/drawing/2014/main" id="{9C8D3C70-5B1D-664D-06D4-B173CFCD0861}"/>
              </a:ext>
            </a:extLst>
          </p:cNvPr>
          <p:cNvSpPr/>
          <p:nvPr/>
        </p:nvSpPr>
        <p:spPr>
          <a:xfrm>
            <a:off x="7352243" y="2681851"/>
            <a:ext cx="2979174" cy="13273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Observation</a:t>
            </a:r>
          </a:p>
        </p:txBody>
      </p:sp>
      <p:sp>
        <p:nvSpPr>
          <p:cNvPr id="5" name="Oval 4">
            <a:extLst>
              <a:ext uri="{FF2B5EF4-FFF2-40B4-BE49-F238E27FC236}">
                <a16:creationId xmlns:a16="http://schemas.microsoft.com/office/drawing/2014/main" id="{191F968E-DFE8-A3D4-BCFC-F12DF1861DDE}"/>
              </a:ext>
            </a:extLst>
          </p:cNvPr>
          <p:cNvSpPr/>
          <p:nvPr/>
        </p:nvSpPr>
        <p:spPr>
          <a:xfrm>
            <a:off x="7352243" y="3621548"/>
            <a:ext cx="2979174" cy="13273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Explanation</a:t>
            </a:r>
          </a:p>
        </p:txBody>
      </p:sp>
      <p:sp>
        <p:nvSpPr>
          <p:cNvPr id="6" name="Oval 5">
            <a:extLst>
              <a:ext uri="{FF2B5EF4-FFF2-40B4-BE49-F238E27FC236}">
                <a16:creationId xmlns:a16="http://schemas.microsoft.com/office/drawing/2014/main" id="{4949CD49-827B-AA76-1033-DC38BA3CFB10}"/>
              </a:ext>
            </a:extLst>
          </p:cNvPr>
          <p:cNvSpPr/>
          <p:nvPr/>
        </p:nvSpPr>
        <p:spPr>
          <a:xfrm>
            <a:off x="7086771" y="4590948"/>
            <a:ext cx="3567051" cy="13273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Generalization</a:t>
            </a:r>
          </a:p>
        </p:txBody>
      </p:sp>
      <p:sp>
        <p:nvSpPr>
          <p:cNvPr id="7" name="Oval 6">
            <a:extLst>
              <a:ext uri="{FF2B5EF4-FFF2-40B4-BE49-F238E27FC236}">
                <a16:creationId xmlns:a16="http://schemas.microsoft.com/office/drawing/2014/main" id="{854C0CB0-4787-44DE-169B-AD724D2B7AEC}"/>
              </a:ext>
            </a:extLst>
          </p:cNvPr>
          <p:cNvSpPr/>
          <p:nvPr/>
        </p:nvSpPr>
        <p:spPr>
          <a:xfrm>
            <a:off x="7352243" y="5530645"/>
            <a:ext cx="2979174" cy="13273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Learning</a:t>
            </a:r>
          </a:p>
        </p:txBody>
      </p:sp>
      <p:sp>
        <p:nvSpPr>
          <p:cNvPr id="8" name="Footer Placeholder 7">
            <a:extLst>
              <a:ext uri="{FF2B5EF4-FFF2-40B4-BE49-F238E27FC236}">
                <a16:creationId xmlns:a16="http://schemas.microsoft.com/office/drawing/2014/main" id="{FE94FE27-DFD2-34B3-4B1D-B081F703F44C}"/>
              </a:ext>
            </a:extLst>
          </p:cNvPr>
          <p:cNvSpPr>
            <a:spLocks noGrp="1"/>
          </p:cNvSpPr>
          <p:nvPr>
            <p:ph type="ftr" sz="quarter" idx="11"/>
          </p:nvPr>
        </p:nvSpPr>
        <p:spPr/>
        <p:txBody>
          <a:bodyPr/>
          <a:lstStyle/>
          <a:p>
            <a:r>
              <a:rPr lang="nb-NO"/>
              <a:t>kapil@nast.edu.np || kapilpant157</a:t>
            </a:r>
            <a:endParaRPr lang="en-US"/>
          </a:p>
        </p:txBody>
      </p:sp>
      <p:grpSp>
        <p:nvGrpSpPr>
          <p:cNvPr id="16" name="Group 15">
            <a:extLst>
              <a:ext uri="{FF2B5EF4-FFF2-40B4-BE49-F238E27FC236}">
                <a16:creationId xmlns:a16="http://schemas.microsoft.com/office/drawing/2014/main" id="{7274FC6F-D009-5FD0-BA9A-646C953CBACD}"/>
              </a:ext>
            </a:extLst>
          </p:cNvPr>
          <p:cNvGrpSpPr/>
          <p:nvPr/>
        </p:nvGrpSpPr>
        <p:grpSpPr>
          <a:xfrm>
            <a:off x="4057650" y="3181350"/>
            <a:ext cx="3029121" cy="781050"/>
            <a:chOff x="4057650" y="3181350"/>
            <a:chExt cx="3029121" cy="781050"/>
          </a:xfrm>
        </p:grpSpPr>
        <p:cxnSp>
          <p:nvCxnSpPr>
            <p:cNvPr id="10" name="Connector: Elbow 9">
              <a:extLst>
                <a:ext uri="{FF2B5EF4-FFF2-40B4-BE49-F238E27FC236}">
                  <a16:creationId xmlns:a16="http://schemas.microsoft.com/office/drawing/2014/main" id="{7C4B126D-91F8-1CAD-3768-EA221494FC3E}"/>
                </a:ext>
              </a:extLst>
            </p:cNvPr>
            <p:cNvCxnSpPr/>
            <p:nvPr/>
          </p:nvCxnSpPr>
          <p:spPr>
            <a:xfrm flipV="1">
              <a:off x="4057650" y="3181350"/>
              <a:ext cx="3029121" cy="247650"/>
            </a:xfrm>
            <a:prstGeom prst="bentConnector3">
              <a:avLst>
                <a:gd name="adj1" fmla="val 60062"/>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89C82D1A-1B95-C758-99F3-684E2D43EDA2}"/>
                </a:ext>
              </a:extLst>
            </p:cNvPr>
            <p:cNvCxnSpPr>
              <a:cxnSpLocks/>
            </p:cNvCxnSpPr>
            <p:nvPr/>
          </p:nvCxnSpPr>
          <p:spPr>
            <a:xfrm>
              <a:off x="5924550" y="3429000"/>
              <a:ext cx="1162221" cy="533400"/>
            </a:xfrm>
            <a:prstGeom prst="line">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7" name="Group 16">
            <a:extLst>
              <a:ext uri="{FF2B5EF4-FFF2-40B4-BE49-F238E27FC236}">
                <a16:creationId xmlns:a16="http://schemas.microsoft.com/office/drawing/2014/main" id="{7B0FF658-662B-7D7B-9683-89624A2DF63C}"/>
              </a:ext>
            </a:extLst>
          </p:cNvPr>
          <p:cNvGrpSpPr/>
          <p:nvPr/>
        </p:nvGrpSpPr>
        <p:grpSpPr>
          <a:xfrm>
            <a:off x="5622155" y="3858905"/>
            <a:ext cx="1730088" cy="2335418"/>
            <a:chOff x="4057647" y="3428999"/>
            <a:chExt cx="1759094" cy="2335418"/>
          </a:xfrm>
        </p:grpSpPr>
        <p:cxnSp>
          <p:nvCxnSpPr>
            <p:cNvPr id="18" name="Connector: Elbow 17">
              <a:extLst>
                <a:ext uri="{FF2B5EF4-FFF2-40B4-BE49-F238E27FC236}">
                  <a16:creationId xmlns:a16="http://schemas.microsoft.com/office/drawing/2014/main" id="{0AD33B0A-DBBE-20BB-8E32-56AB5BEC771E}"/>
                </a:ext>
              </a:extLst>
            </p:cNvPr>
            <p:cNvCxnSpPr>
              <a:cxnSpLocks/>
              <a:endCxn id="7" idx="2"/>
            </p:cNvCxnSpPr>
            <p:nvPr/>
          </p:nvCxnSpPr>
          <p:spPr>
            <a:xfrm rot="16200000" flipH="1">
              <a:off x="3769485" y="3717161"/>
              <a:ext cx="2335418" cy="1759094"/>
            </a:xfrm>
            <a:prstGeom prst="bentConnector2">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9E172186-52DD-E3AD-9EB4-D0CC97203E35}"/>
                </a:ext>
              </a:extLst>
            </p:cNvPr>
            <p:cNvCxnSpPr>
              <a:cxnSpLocks/>
            </p:cNvCxnSpPr>
            <p:nvPr/>
          </p:nvCxnSpPr>
          <p:spPr>
            <a:xfrm>
              <a:off x="4057647" y="4823135"/>
              <a:ext cx="1431284" cy="0"/>
            </a:xfrm>
            <a:prstGeom prst="line">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372578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8309-77CB-4D7E-ABBC-DD3F7E8BEDBE}"/>
              </a:ext>
            </a:extLst>
          </p:cNvPr>
          <p:cNvSpPr>
            <a:spLocks noGrp="1"/>
          </p:cNvSpPr>
          <p:nvPr>
            <p:ph type="title"/>
          </p:nvPr>
        </p:nvSpPr>
        <p:spPr/>
        <p:txBody>
          <a:bodyPr/>
          <a:lstStyle/>
          <a:p>
            <a:r>
              <a:rPr lang="en-US" dirty="0"/>
              <a:t>Feedback Based Learning</a:t>
            </a:r>
          </a:p>
        </p:txBody>
      </p:sp>
      <p:graphicFrame>
        <p:nvGraphicFramePr>
          <p:cNvPr id="6" name="Content Placeholder 5">
            <a:extLst>
              <a:ext uri="{FF2B5EF4-FFF2-40B4-BE49-F238E27FC236}">
                <a16:creationId xmlns:a16="http://schemas.microsoft.com/office/drawing/2014/main" id="{1A7AAC5B-EB11-4FD9-3405-A3F2B5E8B90B}"/>
              </a:ext>
            </a:extLst>
          </p:cNvPr>
          <p:cNvGraphicFramePr>
            <a:graphicFrameLocks noGrp="1"/>
          </p:cNvGraphicFramePr>
          <p:nvPr>
            <p:ph idx="1"/>
            <p:extLst>
              <p:ext uri="{D42A27DB-BD31-4B8C-83A1-F6EECF244321}">
                <p14:modId xmlns:p14="http://schemas.microsoft.com/office/powerpoint/2010/main" val="1337612107"/>
              </p:ext>
            </p:extLst>
          </p:nvPr>
        </p:nvGraphicFramePr>
        <p:xfrm>
          <a:off x="498914" y="1930401"/>
          <a:ext cx="9026085" cy="4110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05EA8E2D-BC80-DDB5-63F6-F1305BEC913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2421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2C88-859E-43CB-11B9-5243A0C0457A}"/>
              </a:ext>
            </a:extLst>
          </p:cNvPr>
          <p:cNvSpPr>
            <a:spLocks noGrp="1"/>
          </p:cNvSpPr>
          <p:nvPr>
            <p:ph type="title"/>
          </p:nvPr>
        </p:nvSpPr>
        <p:spPr/>
        <p:txBody>
          <a:bodyPr/>
          <a:lstStyle/>
          <a:p>
            <a:r>
              <a:rPr lang="en-US" dirty="0"/>
              <a:t>Supervised Learning</a:t>
            </a:r>
          </a:p>
        </p:txBody>
      </p:sp>
      <p:sp>
        <p:nvSpPr>
          <p:cNvPr id="3" name="Content Placeholder 2">
            <a:extLst>
              <a:ext uri="{FF2B5EF4-FFF2-40B4-BE49-F238E27FC236}">
                <a16:creationId xmlns:a16="http://schemas.microsoft.com/office/drawing/2014/main" id="{8C08451B-2425-305C-C7F3-D6E5508B939F}"/>
              </a:ext>
            </a:extLst>
          </p:cNvPr>
          <p:cNvSpPr>
            <a:spLocks noGrp="1"/>
          </p:cNvSpPr>
          <p:nvPr>
            <p:ph idx="1"/>
          </p:nvPr>
        </p:nvSpPr>
        <p:spPr>
          <a:xfrm>
            <a:off x="677334" y="1696090"/>
            <a:ext cx="8841804" cy="4380888"/>
          </a:xfrm>
        </p:spPr>
        <p:txBody>
          <a:bodyPr>
            <a:normAutofit fontScale="92500" lnSpcReduction="20000"/>
          </a:bodyPr>
          <a:lstStyle/>
          <a:p>
            <a:pPr marL="0" indent="0">
              <a:buNone/>
            </a:pPr>
            <a:r>
              <a:rPr lang="en-US" dirty="0"/>
              <a:t>Learning from labeled data, where the algorithm maps inputs to known outputs.</a:t>
            </a:r>
          </a:p>
          <a:p>
            <a:pPr marL="0" indent="0">
              <a:buNone/>
            </a:pPr>
            <a:r>
              <a:rPr lang="en-US" dirty="0"/>
              <a:t>The goal is to learn the mapping from inputs to outputs such that it </a:t>
            </a:r>
            <a:r>
              <a:rPr lang="en-US" b="1" dirty="0"/>
              <a:t>predict the output for new, unseen inputs</a:t>
            </a:r>
            <a:r>
              <a:rPr lang="en-US" dirty="0"/>
              <a:t>.</a:t>
            </a:r>
          </a:p>
          <a:p>
            <a:pPr marL="0" indent="0">
              <a:buNone/>
            </a:pPr>
            <a:r>
              <a:rPr lang="en-US" b="1" u="sng" dirty="0"/>
              <a:t>Key Characteristics</a:t>
            </a:r>
            <a:r>
              <a:rPr lang="en-US" dirty="0"/>
              <a:t>:</a:t>
            </a:r>
          </a:p>
          <a:p>
            <a:pPr>
              <a:buFont typeface="+mj-lt"/>
              <a:buAutoNum type="arabicPeriod"/>
            </a:pPr>
            <a:r>
              <a:rPr lang="en-US" dirty="0"/>
              <a:t>Requires a labeled dataset.</a:t>
            </a:r>
          </a:p>
          <a:p>
            <a:pPr>
              <a:buFont typeface="+mj-lt"/>
              <a:buAutoNum type="arabicPeriod"/>
            </a:pPr>
            <a:r>
              <a:rPr lang="en-US" dirty="0"/>
              <a:t>Goal: Minimize the error between predictions and actual outputs.</a:t>
            </a:r>
          </a:p>
          <a:p>
            <a:pPr marL="0" indent="0">
              <a:buNone/>
            </a:pPr>
            <a:r>
              <a:rPr lang="en-US" b="1" u="sng" dirty="0"/>
              <a:t>Learning Process:</a:t>
            </a:r>
          </a:p>
          <a:p>
            <a:pPr>
              <a:buFont typeface="+mj-lt"/>
              <a:buAutoNum type="arabicPeriod"/>
            </a:pPr>
            <a:r>
              <a:rPr lang="en-US" dirty="0"/>
              <a:t>Data Collection (input-output pairs)</a:t>
            </a:r>
          </a:p>
          <a:p>
            <a:pPr>
              <a:buFont typeface="+mj-lt"/>
              <a:buAutoNum type="arabicPeriod"/>
            </a:pPr>
            <a:r>
              <a:rPr lang="en-US" dirty="0"/>
              <a:t>Data Preprocessing (cleaning, normalization)</a:t>
            </a:r>
          </a:p>
          <a:p>
            <a:pPr>
              <a:buFont typeface="+mj-lt"/>
              <a:buAutoNum type="arabicPeriod"/>
            </a:pPr>
            <a:r>
              <a:rPr lang="en-US" dirty="0"/>
              <a:t>Model Selection (choose a learning algorithm)</a:t>
            </a:r>
          </a:p>
          <a:p>
            <a:pPr>
              <a:buFont typeface="+mj-lt"/>
              <a:buAutoNum type="arabicPeriod"/>
            </a:pPr>
            <a:r>
              <a:rPr lang="en-US" dirty="0"/>
              <a:t>Training the Model</a:t>
            </a:r>
          </a:p>
          <a:p>
            <a:pPr>
              <a:buFont typeface="+mj-lt"/>
              <a:buAutoNum type="arabicPeriod"/>
            </a:pPr>
            <a:r>
              <a:rPr lang="en-US" dirty="0"/>
              <a:t>Model Evaluation (accuracy, precision, etc.)</a:t>
            </a:r>
          </a:p>
          <a:p>
            <a:pPr>
              <a:buFont typeface="+mj-lt"/>
              <a:buAutoNum type="arabicPeriod"/>
            </a:pPr>
            <a:r>
              <a:rPr lang="en-US" dirty="0"/>
              <a:t>Prediction</a:t>
            </a:r>
          </a:p>
        </p:txBody>
      </p:sp>
      <p:sp>
        <p:nvSpPr>
          <p:cNvPr id="4" name="Footer Placeholder 3">
            <a:extLst>
              <a:ext uri="{FF2B5EF4-FFF2-40B4-BE49-F238E27FC236}">
                <a16:creationId xmlns:a16="http://schemas.microsoft.com/office/drawing/2014/main" id="{2D19ACFF-8FEE-E326-BD3E-64C298F38C4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42782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73DA-2EBF-6F2A-157C-5FF2719B7323}"/>
              </a:ext>
            </a:extLst>
          </p:cNvPr>
          <p:cNvSpPr>
            <a:spLocks noGrp="1"/>
          </p:cNvSpPr>
          <p:nvPr>
            <p:ph type="title"/>
          </p:nvPr>
        </p:nvSpPr>
        <p:spPr/>
        <p:txBody>
          <a:bodyPr/>
          <a:lstStyle/>
          <a:p>
            <a:r>
              <a:rPr lang="en-US" dirty="0"/>
              <a:t>Supervised Learning</a:t>
            </a:r>
          </a:p>
        </p:txBody>
      </p:sp>
      <p:pic>
        <p:nvPicPr>
          <p:cNvPr id="5" name="Content Placeholder 4">
            <a:extLst>
              <a:ext uri="{FF2B5EF4-FFF2-40B4-BE49-F238E27FC236}">
                <a16:creationId xmlns:a16="http://schemas.microsoft.com/office/drawing/2014/main" id="{799864A1-D6A0-FFE4-7CB6-A555B146D397}"/>
              </a:ext>
            </a:extLst>
          </p:cNvPr>
          <p:cNvPicPr>
            <a:picLocks noGrp="1" noChangeAspect="1"/>
          </p:cNvPicPr>
          <p:nvPr>
            <p:ph idx="1"/>
          </p:nvPr>
        </p:nvPicPr>
        <p:blipFill>
          <a:blip r:embed="rId3"/>
          <a:stretch>
            <a:fillRect/>
          </a:stretch>
        </p:blipFill>
        <p:spPr>
          <a:xfrm>
            <a:off x="994912" y="1661431"/>
            <a:ext cx="8957162" cy="4586969"/>
          </a:xfrm>
        </p:spPr>
      </p:pic>
      <p:sp>
        <p:nvSpPr>
          <p:cNvPr id="3" name="Footer Placeholder 2">
            <a:extLst>
              <a:ext uri="{FF2B5EF4-FFF2-40B4-BE49-F238E27FC236}">
                <a16:creationId xmlns:a16="http://schemas.microsoft.com/office/drawing/2014/main" id="{AB4FFC01-66A6-DABB-CF5C-7EBDD53E08D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11506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BE03-61E3-6FB9-B645-15C2F1419EA8}"/>
              </a:ext>
            </a:extLst>
          </p:cNvPr>
          <p:cNvSpPr>
            <a:spLocks noGrp="1"/>
          </p:cNvSpPr>
          <p:nvPr>
            <p:ph type="title"/>
          </p:nvPr>
        </p:nvSpPr>
        <p:spPr>
          <a:xfrm>
            <a:off x="677334" y="419819"/>
            <a:ext cx="8596668" cy="1320800"/>
          </a:xfrm>
        </p:spPr>
        <p:txBody>
          <a:bodyPr/>
          <a:lstStyle/>
          <a:p>
            <a:r>
              <a:rPr lang="en-US" dirty="0"/>
              <a:t>Two approaches of Supervised Learning</a:t>
            </a:r>
          </a:p>
        </p:txBody>
      </p:sp>
      <p:sp>
        <p:nvSpPr>
          <p:cNvPr id="3" name="Content Placeholder 2">
            <a:extLst>
              <a:ext uri="{FF2B5EF4-FFF2-40B4-BE49-F238E27FC236}">
                <a16:creationId xmlns:a16="http://schemas.microsoft.com/office/drawing/2014/main" id="{16DC50DA-D084-B6CF-686C-4A44B5490CA3}"/>
              </a:ext>
            </a:extLst>
          </p:cNvPr>
          <p:cNvSpPr>
            <a:spLocks noGrp="1"/>
          </p:cNvSpPr>
          <p:nvPr>
            <p:ph idx="1"/>
          </p:nvPr>
        </p:nvSpPr>
        <p:spPr>
          <a:xfrm>
            <a:off x="677334" y="1566693"/>
            <a:ext cx="9146604" cy="4474673"/>
          </a:xfrm>
        </p:spPr>
        <p:txBody>
          <a:bodyPr>
            <a:noAutofit/>
          </a:bodyPr>
          <a:lstStyle/>
          <a:p>
            <a:pPr marL="457200" indent="-457200">
              <a:buAutoNum type="arabicPeriod"/>
            </a:pPr>
            <a:r>
              <a:rPr lang="en-US" sz="2400" dirty="0"/>
              <a:t>Classification:  A classification problem is when the output variable is a category, such as “Red” or “blue” , “disease” or “no disease”.</a:t>
            </a:r>
          </a:p>
          <a:p>
            <a:pPr marL="857250" lvl="1" indent="-457200">
              <a:buAutoNum type="arabicPeriod"/>
            </a:pPr>
            <a:r>
              <a:rPr lang="en-US" sz="2200" dirty="0"/>
              <a:t>Example: Classifying emails as spam or not spam.</a:t>
            </a:r>
          </a:p>
          <a:p>
            <a:pPr marL="857250" lvl="1" indent="-457200">
              <a:buAutoNum type="arabicPeriod"/>
            </a:pPr>
            <a:r>
              <a:rPr lang="en-US" sz="2200" dirty="0"/>
              <a:t>Algorithms: Logistic Regression, Decision Trees, SVM, Random Forests, Naive Baye.</a:t>
            </a:r>
          </a:p>
          <a:p>
            <a:pPr marL="457200" indent="-457200">
              <a:buAutoNum type="arabicPeriod"/>
            </a:pPr>
            <a:r>
              <a:rPr lang="en-US" sz="2400" dirty="0"/>
              <a:t>Regression: A regression problem is when the output variable is a real value, such as “dollars” or “weight”.</a:t>
            </a:r>
          </a:p>
          <a:p>
            <a:pPr marL="857250" lvl="1" indent="-457200">
              <a:buAutoNum type="arabicPeriod"/>
            </a:pPr>
            <a:r>
              <a:rPr lang="en-US" sz="2200" dirty="0"/>
              <a:t>Example: Predicting house prices.</a:t>
            </a:r>
          </a:p>
          <a:p>
            <a:pPr marL="857250" lvl="1" indent="-457200">
              <a:buAutoNum type="arabicPeriod"/>
            </a:pPr>
            <a:r>
              <a:rPr lang="en-US" sz="2200" dirty="0"/>
              <a:t>Algorithms: Linear Regression, Ridge Regression, Support Vector Machine Regression, Decision Tree Regression, Random Forest Regression.</a:t>
            </a:r>
          </a:p>
          <a:p>
            <a:endParaRPr lang="en-US" sz="2400" dirty="0"/>
          </a:p>
        </p:txBody>
      </p:sp>
      <p:sp>
        <p:nvSpPr>
          <p:cNvPr id="4" name="Footer Placeholder 3">
            <a:extLst>
              <a:ext uri="{FF2B5EF4-FFF2-40B4-BE49-F238E27FC236}">
                <a16:creationId xmlns:a16="http://schemas.microsoft.com/office/drawing/2014/main" id="{8FEFEB12-57C4-CE65-DF66-AEB746AD841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94911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5EFE-FB24-7D6E-624C-C6886B3D481D}"/>
              </a:ext>
            </a:extLst>
          </p:cNvPr>
          <p:cNvSpPr>
            <a:spLocks noGrp="1"/>
          </p:cNvSpPr>
          <p:nvPr>
            <p:ph type="title"/>
          </p:nvPr>
        </p:nvSpPr>
        <p:spPr/>
        <p:txBody>
          <a:bodyPr/>
          <a:lstStyle/>
          <a:p>
            <a:r>
              <a:rPr lang="en-US" dirty="0"/>
              <a:t>K-nearest Neighbor (KNN)</a:t>
            </a:r>
          </a:p>
        </p:txBody>
      </p:sp>
      <p:sp>
        <p:nvSpPr>
          <p:cNvPr id="3" name="Content Placeholder 2">
            <a:extLst>
              <a:ext uri="{FF2B5EF4-FFF2-40B4-BE49-F238E27FC236}">
                <a16:creationId xmlns:a16="http://schemas.microsoft.com/office/drawing/2014/main" id="{BE66DC20-4820-EDDE-9349-285673B1F8C0}"/>
              </a:ext>
            </a:extLst>
          </p:cNvPr>
          <p:cNvSpPr>
            <a:spLocks noGrp="1"/>
          </p:cNvSpPr>
          <p:nvPr>
            <p:ph idx="1"/>
          </p:nvPr>
        </p:nvSpPr>
        <p:spPr/>
        <p:txBody>
          <a:bodyPr>
            <a:normAutofit lnSpcReduction="10000"/>
          </a:bodyPr>
          <a:lstStyle/>
          <a:p>
            <a:pPr marL="0" indent="0">
              <a:buNone/>
            </a:pPr>
            <a:r>
              <a:rPr lang="en-US" dirty="0"/>
              <a:t>A non-parametric algorithm that classifies or predicts a data point based on the majority class (or average value) of its k-nearest neighbors.</a:t>
            </a:r>
          </a:p>
          <a:p>
            <a:pPr marL="0" indent="0">
              <a:buNone/>
            </a:pPr>
            <a:r>
              <a:rPr lang="en-US" dirty="0"/>
              <a:t>Working:</a:t>
            </a:r>
          </a:p>
          <a:p>
            <a:pPr lvl="1"/>
            <a:r>
              <a:rPr lang="en-US" dirty="0"/>
              <a:t>Choose the number of neighbors (‘k’).</a:t>
            </a:r>
          </a:p>
          <a:p>
            <a:pPr lvl="1"/>
            <a:r>
              <a:rPr lang="en-US" dirty="0"/>
              <a:t>Calculate distances between the data point and all other points.</a:t>
            </a:r>
          </a:p>
          <a:p>
            <a:pPr lvl="1"/>
            <a:r>
              <a:rPr lang="en-US" dirty="0"/>
              <a:t>Identify the k-nearest neighbors. Shortest distance, majority </a:t>
            </a:r>
            <a:r>
              <a:rPr lang="en-US"/>
              <a:t>or rank</a:t>
            </a:r>
            <a:endParaRPr lang="en-US" dirty="0"/>
          </a:p>
          <a:p>
            <a:pPr lvl="1"/>
            <a:r>
              <a:rPr lang="en-US" dirty="0"/>
              <a:t>For classification: Assign the majority class.</a:t>
            </a:r>
          </a:p>
          <a:p>
            <a:pPr lvl="1"/>
            <a:r>
              <a:rPr lang="en-US" dirty="0"/>
              <a:t>For regression: Compute the average of neighbors.</a:t>
            </a:r>
          </a:p>
          <a:p>
            <a:pPr algn="ctr"/>
            <a:r>
              <a:rPr lang="en-US" dirty="0"/>
              <a:t>Distance Matrices</a:t>
            </a:r>
          </a:p>
          <a:p>
            <a:pPr lvl="1" algn="ctr"/>
            <a:r>
              <a:rPr lang="en-US" dirty="0"/>
              <a:t>Euclidean</a:t>
            </a:r>
          </a:p>
          <a:p>
            <a:pPr lvl="1" algn="ctr"/>
            <a:r>
              <a:rPr lang="en-US" dirty="0"/>
              <a:t>Manhattan </a:t>
            </a:r>
          </a:p>
        </p:txBody>
      </p:sp>
      <p:sp>
        <p:nvSpPr>
          <p:cNvPr id="4" name="Footer Placeholder 3">
            <a:extLst>
              <a:ext uri="{FF2B5EF4-FFF2-40B4-BE49-F238E27FC236}">
                <a16:creationId xmlns:a16="http://schemas.microsoft.com/office/drawing/2014/main" id="{07EEAFE4-9188-B7BB-FEC1-14B75DC47514}"/>
              </a:ext>
            </a:extLst>
          </p:cNvPr>
          <p:cNvSpPr>
            <a:spLocks noGrp="1"/>
          </p:cNvSpPr>
          <p:nvPr>
            <p:ph type="ftr" sz="quarter" idx="11"/>
          </p:nvPr>
        </p:nvSpPr>
        <p:spPr/>
        <p:txBody>
          <a:bodyPr/>
          <a:lstStyle/>
          <a:p>
            <a:r>
              <a:rPr lang="nb-NO"/>
              <a:t>kapil@nast.edu.np || kapilpant157</a:t>
            </a:r>
            <a:endParaRPr lang="en-US"/>
          </a:p>
        </p:txBody>
      </p:sp>
      <p:pic>
        <p:nvPicPr>
          <p:cNvPr id="10" name="Picture 9">
            <a:extLst>
              <a:ext uri="{FF2B5EF4-FFF2-40B4-BE49-F238E27FC236}">
                <a16:creationId xmlns:a16="http://schemas.microsoft.com/office/drawing/2014/main" id="{C67193F7-3EEE-618B-6290-6F3E94B42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2898" y="4105454"/>
            <a:ext cx="2163304" cy="822147"/>
          </a:xfrm>
          <a:prstGeom prst="rect">
            <a:avLst/>
          </a:prstGeom>
        </p:spPr>
      </p:pic>
      <p:pic>
        <p:nvPicPr>
          <p:cNvPr id="19" name="Picture 18">
            <a:extLst>
              <a:ext uri="{FF2B5EF4-FFF2-40B4-BE49-F238E27FC236}">
                <a16:creationId xmlns:a16="http://schemas.microsoft.com/office/drawing/2014/main" id="{8227A518-3464-3A85-267C-414FA7942B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1469" y="5326199"/>
            <a:ext cx="2163303" cy="1066753"/>
          </a:xfrm>
          <a:prstGeom prst="rect">
            <a:avLst/>
          </a:prstGeom>
        </p:spPr>
      </p:pic>
      <p:cxnSp>
        <p:nvCxnSpPr>
          <p:cNvPr id="21" name="Connector: Curved 20">
            <a:extLst>
              <a:ext uri="{FF2B5EF4-FFF2-40B4-BE49-F238E27FC236}">
                <a16:creationId xmlns:a16="http://schemas.microsoft.com/office/drawing/2014/main" id="{5C7F5C5F-5B34-3A2A-6238-74B3B21547CC}"/>
              </a:ext>
            </a:extLst>
          </p:cNvPr>
          <p:cNvCxnSpPr>
            <a:cxnSpLocks/>
            <a:endCxn id="10" idx="1"/>
          </p:cNvCxnSpPr>
          <p:nvPr/>
        </p:nvCxnSpPr>
        <p:spPr>
          <a:xfrm flipV="1">
            <a:off x="6096000" y="4516528"/>
            <a:ext cx="1186898" cy="969872"/>
          </a:xfrm>
          <a:prstGeom prst="curvedConnector3">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Connector: Curved 22">
            <a:extLst>
              <a:ext uri="{FF2B5EF4-FFF2-40B4-BE49-F238E27FC236}">
                <a16:creationId xmlns:a16="http://schemas.microsoft.com/office/drawing/2014/main" id="{280EE50E-9364-27C7-66E4-F2F948817938}"/>
              </a:ext>
            </a:extLst>
          </p:cNvPr>
          <p:cNvCxnSpPr>
            <a:cxnSpLocks/>
            <a:endCxn id="19" idx="1"/>
          </p:cNvCxnSpPr>
          <p:nvPr/>
        </p:nvCxnSpPr>
        <p:spPr>
          <a:xfrm>
            <a:off x="5900468" y="5811173"/>
            <a:ext cx="1181001" cy="48403"/>
          </a:xfrm>
          <a:prstGeom prst="curvedConnector3">
            <a:avLst>
              <a:gd name="adj1" fmla="val 50000"/>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607613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0CFE-1091-BB5A-F5E9-2DF2FCAE7356}"/>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4703B87-A4F6-ACD1-62FB-24693C77E8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1319" y="2160588"/>
            <a:ext cx="8089399" cy="3881437"/>
          </a:xfrm>
        </p:spPr>
      </p:pic>
      <p:sp>
        <p:nvSpPr>
          <p:cNvPr id="4" name="Footer Placeholder 3">
            <a:extLst>
              <a:ext uri="{FF2B5EF4-FFF2-40B4-BE49-F238E27FC236}">
                <a16:creationId xmlns:a16="http://schemas.microsoft.com/office/drawing/2014/main" id="{6B0FC68D-B59F-E339-6D1F-4F6DFC6F638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7967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DEC48-6FD5-F8A1-CCDF-355D46AF9216}"/>
              </a:ext>
            </a:extLst>
          </p:cNvPr>
          <p:cNvSpPr>
            <a:spLocks noGrp="1"/>
          </p:cNvSpPr>
          <p:nvPr>
            <p:ph type="title"/>
          </p:nvPr>
        </p:nvSpPr>
        <p:spPr/>
        <p:txBody>
          <a:bodyPr/>
          <a:lstStyle/>
          <a:p>
            <a:r>
              <a:rPr lang="en-US" dirty="0"/>
              <a:t>KNN numerical example</a:t>
            </a:r>
          </a:p>
        </p:txBody>
      </p:sp>
      <p:sp>
        <p:nvSpPr>
          <p:cNvPr id="3" name="Content Placeholder 2">
            <a:extLst>
              <a:ext uri="{FF2B5EF4-FFF2-40B4-BE49-F238E27FC236}">
                <a16:creationId xmlns:a16="http://schemas.microsoft.com/office/drawing/2014/main" id="{C90BB8E4-6A65-D74E-90C5-38540B38F211}"/>
              </a:ext>
            </a:extLst>
          </p:cNvPr>
          <p:cNvSpPr>
            <a:spLocks noGrp="1"/>
          </p:cNvSpPr>
          <p:nvPr>
            <p:ph idx="1"/>
          </p:nvPr>
        </p:nvSpPr>
        <p:spPr/>
        <p:txBody>
          <a:bodyPr/>
          <a:lstStyle/>
          <a:p>
            <a:r>
              <a:rPr lang="en-US" dirty="0"/>
              <a:t>Explain KNN algorithm with an appropriate example.</a:t>
            </a:r>
          </a:p>
        </p:txBody>
      </p:sp>
      <p:sp>
        <p:nvSpPr>
          <p:cNvPr id="4" name="Footer Placeholder 3">
            <a:extLst>
              <a:ext uri="{FF2B5EF4-FFF2-40B4-BE49-F238E27FC236}">
                <a16:creationId xmlns:a16="http://schemas.microsoft.com/office/drawing/2014/main" id="{6EE841D6-8B99-CA86-2E09-830D505516D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516028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8BDA-1CEF-4120-ADCA-249A474E2E53}"/>
              </a:ext>
            </a:extLst>
          </p:cNvPr>
          <p:cNvSpPr>
            <a:spLocks noGrp="1"/>
          </p:cNvSpPr>
          <p:nvPr>
            <p:ph type="title"/>
          </p:nvPr>
        </p:nvSpPr>
        <p:spPr/>
        <p:txBody>
          <a:bodyPr/>
          <a:lstStyle/>
          <a:p>
            <a:r>
              <a:rPr lang="en-US" dirty="0"/>
              <a:t>Naïve bayes</a:t>
            </a:r>
          </a:p>
        </p:txBody>
      </p:sp>
      <p:sp>
        <p:nvSpPr>
          <p:cNvPr id="3" name="Content Placeholder 2">
            <a:extLst>
              <a:ext uri="{FF2B5EF4-FFF2-40B4-BE49-F238E27FC236}">
                <a16:creationId xmlns:a16="http://schemas.microsoft.com/office/drawing/2014/main" id="{F0049E95-0AF5-4184-1435-870FCFCD8264}"/>
              </a:ext>
            </a:extLst>
          </p:cNvPr>
          <p:cNvSpPr>
            <a:spLocks noGrp="1"/>
          </p:cNvSpPr>
          <p:nvPr>
            <p:ph idx="1"/>
          </p:nvPr>
        </p:nvSpPr>
        <p:spPr/>
        <p:txBody>
          <a:bodyPr>
            <a:normAutofit fontScale="92500" lnSpcReduction="10000"/>
          </a:bodyPr>
          <a:lstStyle/>
          <a:p>
            <a:r>
              <a:rPr lang="en-US" dirty="0"/>
              <a:t>Naive Bayes is a simple and effective classification algorithm.</a:t>
            </a:r>
          </a:p>
          <a:p>
            <a:r>
              <a:rPr lang="en-US" dirty="0"/>
              <a:t>Based on Bayes’ Theorem with the assumption of feature independence.</a:t>
            </a:r>
          </a:p>
          <a:p>
            <a:r>
              <a:rPr lang="en-US" dirty="0"/>
              <a:t>Works well with high-dimensional data.</a:t>
            </a:r>
          </a:p>
          <a:p>
            <a:pPr marL="0" indent="0">
              <a:buNone/>
            </a:pPr>
            <a:r>
              <a:rPr lang="en-US" b="1" dirty="0"/>
              <a:t>Bayes’ Theorem Refresher</a:t>
            </a:r>
            <a:endParaRPr lang="en-US" dirty="0"/>
          </a:p>
          <a:p>
            <a:pPr lvl="1"/>
            <a:r>
              <a:rPr lang="en-US" dirty="0"/>
              <a:t>Formula: P(A|B) = [P(B|A) * P(A)] / P(B) </a:t>
            </a:r>
            <a:r>
              <a:rPr lang="en-US" dirty="0">
                <a:sym typeface="Wingdings" panose="05000000000000000000" pitchFamily="2" charset="2"/>
              </a:rPr>
              <a:t> </a:t>
            </a:r>
            <a:r>
              <a:rPr lang="en-US" dirty="0"/>
              <a:t>already studied</a:t>
            </a:r>
          </a:p>
          <a:p>
            <a:pPr lvl="1"/>
            <a:r>
              <a:rPr lang="en-US" dirty="0"/>
              <a:t>A = Class, B = Data/Features</a:t>
            </a:r>
          </a:p>
          <a:p>
            <a:pPr lvl="1"/>
            <a:r>
              <a:rPr lang="en-US" dirty="0"/>
              <a:t>Predicts class probabilities given feature values.</a:t>
            </a:r>
          </a:p>
          <a:p>
            <a:pPr marL="0" indent="0">
              <a:buNone/>
            </a:pPr>
            <a:r>
              <a:rPr lang="en-US" b="1" dirty="0"/>
              <a:t>Types of Naive Bayes Classifiers</a:t>
            </a:r>
            <a:endParaRPr lang="en-US" dirty="0"/>
          </a:p>
          <a:p>
            <a:pPr lvl="1"/>
            <a:r>
              <a:rPr lang="en-US" b="1" dirty="0"/>
              <a:t>Gaussian Naive Bayes</a:t>
            </a:r>
            <a:r>
              <a:rPr lang="en-US" dirty="0"/>
              <a:t>: For continuous data (assumes normal distribution).</a:t>
            </a:r>
          </a:p>
          <a:p>
            <a:pPr lvl="1"/>
            <a:r>
              <a:rPr lang="en-US" b="1" dirty="0"/>
              <a:t>Multinomial Naive Bayes</a:t>
            </a:r>
            <a:r>
              <a:rPr lang="en-US" dirty="0"/>
              <a:t>: For discrete counts (e.g., word counts in text).</a:t>
            </a:r>
          </a:p>
          <a:p>
            <a:pPr lvl="1"/>
            <a:r>
              <a:rPr lang="en-US" b="1" dirty="0"/>
              <a:t>Bernoulli Naive Bayes</a:t>
            </a:r>
            <a:r>
              <a:rPr lang="en-US" dirty="0"/>
              <a:t>: For binary/</a:t>
            </a:r>
            <a:r>
              <a:rPr lang="en-US" dirty="0" err="1"/>
              <a:t>boolean</a:t>
            </a:r>
            <a:r>
              <a:rPr lang="en-US" dirty="0"/>
              <a:t> features.</a:t>
            </a:r>
          </a:p>
          <a:p>
            <a:pPr lvl="1"/>
            <a:endParaRPr lang="en-US" dirty="0"/>
          </a:p>
          <a:p>
            <a:endParaRPr lang="en-US" dirty="0"/>
          </a:p>
        </p:txBody>
      </p:sp>
      <p:sp>
        <p:nvSpPr>
          <p:cNvPr id="4" name="Footer Placeholder 3">
            <a:extLst>
              <a:ext uri="{FF2B5EF4-FFF2-40B4-BE49-F238E27FC236}">
                <a16:creationId xmlns:a16="http://schemas.microsoft.com/office/drawing/2014/main" id="{E495ACE0-AE86-0FAB-628F-9C79EF85D62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299828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28F5-53C3-4286-6362-8976368AFD79}"/>
              </a:ext>
            </a:extLst>
          </p:cNvPr>
          <p:cNvSpPr>
            <a:spLocks noGrp="1"/>
          </p:cNvSpPr>
          <p:nvPr>
            <p:ph type="title"/>
          </p:nvPr>
        </p:nvSpPr>
        <p:spPr/>
        <p:txBody>
          <a:bodyPr/>
          <a:lstStyle/>
          <a:p>
            <a:r>
              <a:rPr lang="en-US" dirty="0"/>
              <a:t>Logistic Regression</a:t>
            </a:r>
          </a:p>
        </p:txBody>
      </p:sp>
      <p:sp>
        <p:nvSpPr>
          <p:cNvPr id="3" name="Content Placeholder 2">
            <a:extLst>
              <a:ext uri="{FF2B5EF4-FFF2-40B4-BE49-F238E27FC236}">
                <a16:creationId xmlns:a16="http://schemas.microsoft.com/office/drawing/2014/main" id="{3829E0BF-87D5-CEAC-166B-1E1528527C5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4ED7ADA-1704-5F15-AA31-3DACFB2C301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8228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41824-FB66-43DC-E8D2-6D6626E06575}"/>
              </a:ext>
            </a:extLst>
          </p:cNvPr>
          <p:cNvSpPr>
            <a:spLocks noGrp="1"/>
          </p:cNvSpPr>
          <p:nvPr>
            <p:ph type="title"/>
          </p:nvPr>
        </p:nvSpPr>
        <p:spPr/>
        <p:txBody>
          <a:bodyPr/>
          <a:lstStyle/>
          <a:p>
            <a:r>
              <a:rPr lang="en-US" dirty="0"/>
              <a:t>Support Vector Machines</a:t>
            </a:r>
          </a:p>
        </p:txBody>
      </p:sp>
      <p:sp>
        <p:nvSpPr>
          <p:cNvPr id="3" name="Content Placeholder 2">
            <a:extLst>
              <a:ext uri="{FF2B5EF4-FFF2-40B4-BE49-F238E27FC236}">
                <a16:creationId xmlns:a16="http://schemas.microsoft.com/office/drawing/2014/main" id="{035F1640-A0F1-49A3-DD59-9CF457F9DA0B}"/>
              </a:ext>
            </a:extLst>
          </p:cNvPr>
          <p:cNvSpPr>
            <a:spLocks noGrp="1"/>
          </p:cNvSpPr>
          <p:nvPr>
            <p:ph idx="1"/>
          </p:nvPr>
        </p:nvSpPr>
        <p:spPr>
          <a:xfrm>
            <a:off x="677334" y="1712016"/>
            <a:ext cx="8596668" cy="3880773"/>
          </a:xfrm>
        </p:spPr>
        <p:txBody>
          <a:bodyPr/>
          <a:lstStyle/>
          <a:p>
            <a:pPr marL="0" indent="0">
              <a:buNone/>
            </a:pPr>
            <a:r>
              <a:rPr lang="en-US" dirty="0"/>
              <a:t>Statistical learning theory, developed in the 1990s- SVM is a supervised learning algorithm used for classification and regression, whose main idea is Find a hyperplane that best separates the data into classes,</a:t>
            </a:r>
          </a:p>
          <a:p>
            <a:pPr marL="0" indent="0">
              <a:buNone/>
            </a:pPr>
            <a:r>
              <a:rPr lang="en-US" b="1" dirty="0"/>
              <a:t>How it works</a:t>
            </a:r>
            <a:r>
              <a:rPr lang="en-US" dirty="0"/>
              <a:t>: </a:t>
            </a:r>
          </a:p>
          <a:p>
            <a:pPr lvl="1"/>
            <a:r>
              <a:rPr lang="en-US" dirty="0"/>
              <a:t>SVM finds the optimal hyperplane with the </a:t>
            </a:r>
            <a:r>
              <a:rPr lang="en-US" b="1" dirty="0"/>
              <a:t>maximum margin</a:t>
            </a:r>
            <a:r>
              <a:rPr lang="en-US" dirty="0"/>
              <a:t> between classes.</a:t>
            </a:r>
          </a:p>
          <a:p>
            <a:pPr lvl="1"/>
            <a:r>
              <a:rPr lang="en-US" b="1" dirty="0"/>
              <a:t>Support vectors</a:t>
            </a:r>
            <a:r>
              <a:rPr lang="en-US" dirty="0"/>
              <a:t> are data points closest to the hyperplane.</a:t>
            </a:r>
          </a:p>
          <a:p>
            <a:pPr lvl="1"/>
            <a:r>
              <a:rPr lang="en-US" dirty="0"/>
              <a:t>A larger margin = better generalization.</a:t>
            </a:r>
          </a:p>
          <a:p>
            <a:pPr marL="0" indent="0">
              <a:buNone/>
            </a:pPr>
            <a:endParaRPr lang="en-US" dirty="0"/>
          </a:p>
        </p:txBody>
      </p:sp>
      <p:graphicFrame>
        <p:nvGraphicFramePr>
          <p:cNvPr id="4" name="Table 3">
            <a:extLst>
              <a:ext uri="{FF2B5EF4-FFF2-40B4-BE49-F238E27FC236}">
                <a16:creationId xmlns:a16="http://schemas.microsoft.com/office/drawing/2014/main" id="{9B64C5F5-7F97-4BE4-6E6F-6DB167886C9E}"/>
              </a:ext>
            </a:extLst>
          </p:cNvPr>
          <p:cNvGraphicFramePr>
            <a:graphicFrameLocks noGrp="1"/>
          </p:cNvGraphicFramePr>
          <p:nvPr>
            <p:extLst>
              <p:ext uri="{D42A27DB-BD31-4B8C-83A1-F6EECF244321}">
                <p14:modId xmlns:p14="http://schemas.microsoft.com/office/powerpoint/2010/main" val="1190042504"/>
              </p:ext>
            </p:extLst>
          </p:nvPr>
        </p:nvGraphicFramePr>
        <p:xfrm>
          <a:off x="1146002" y="4390362"/>
          <a:ext cx="8128000" cy="1651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04276078"/>
                    </a:ext>
                  </a:extLst>
                </a:gridCol>
                <a:gridCol w="4064000">
                  <a:extLst>
                    <a:ext uri="{9D8B030D-6E8A-4147-A177-3AD203B41FA5}">
                      <a16:colId xmlns:a16="http://schemas.microsoft.com/office/drawing/2014/main" val="1653649286"/>
                    </a:ext>
                  </a:extLst>
                </a:gridCol>
              </a:tblGrid>
              <a:tr h="370840">
                <a:tc>
                  <a:txBody>
                    <a:bodyPr/>
                    <a:lstStyle/>
                    <a:p>
                      <a:pPr algn="ctr"/>
                      <a:r>
                        <a:rPr lang="en-US" dirty="0"/>
                        <a:t>FOR CLASSIFICATION</a:t>
                      </a:r>
                    </a:p>
                  </a:txBody>
                  <a:tcPr/>
                </a:tc>
                <a:tc>
                  <a:txBody>
                    <a:bodyPr/>
                    <a:lstStyle/>
                    <a:p>
                      <a:pPr algn="ctr"/>
                      <a:r>
                        <a:rPr lang="en-US" b="1" dirty="0"/>
                        <a:t>FOR REGRESSION</a:t>
                      </a:r>
                    </a:p>
                  </a:txBody>
                  <a:tcPr/>
                </a:tc>
                <a:extLst>
                  <a:ext uri="{0D108BD9-81ED-4DB2-BD59-A6C34878D82A}">
                    <a16:rowId xmlns:a16="http://schemas.microsoft.com/office/drawing/2014/main" val="2068954110"/>
                  </a:ext>
                </a:extLst>
              </a:tr>
              <a:tr h="370840">
                <a:tc>
                  <a:txBody>
                    <a:bodyPr/>
                    <a:lstStyle/>
                    <a:p>
                      <a:r>
                        <a:rPr lang="en-US" dirty="0"/>
                        <a:t>Binary classification: two classes</a:t>
                      </a:r>
                    </a:p>
                  </a:txBody>
                  <a:tcPr/>
                </a:tc>
                <a:tc>
                  <a:txBody>
                    <a:bodyPr/>
                    <a:lstStyle/>
                    <a:p>
                      <a:r>
                        <a:rPr lang="en-US" dirty="0"/>
                        <a:t>Used for continuous output prediction</a:t>
                      </a:r>
                    </a:p>
                  </a:txBody>
                  <a:tcPr/>
                </a:tc>
                <a:extLst>
                  <a:ext uri="{0D108BD9-81ED-4DB2-BD59-A6C34878D82A}">
                    <a16:rowId xmlns:a16="http://schemas.microsoft.com/office/drawing/2014/main" val="2478070156"/>
                  </a:ext>
                </a:extLst>
              </a:tr>
              <a:tr h="370840">
                <a:tc>
                  <a:txBody>
                    <a:bodyPr/>
                    <a:lstStyle/>
                    <a:p>
                      <a:r>
                        <a:rPr lang="en-US" dirty="0"/>
                        <a:t>Multi-class classification: 1 v 1 or 1 v all</a:t>
                      </a:r>
                    </a:p>
                  </a:txBody>
                  <a:tcPr/>
                </a:tc>
                <a:tc>
                  <a:txBody>
                    <a:bodyPr/>
                    <a:lstStyle/>
                    <a:p>
                      <a:r>
                        <a:rPr lang="en-US" dirty="0"/>
                        <a:t>Tries to fit a line within threshold</a:t>
                      </a:r>
                    </a:p>
                  </a:txBody>
                  <a:tcPr/>
                </a:tc>
                <a:extLst>
                  <a:ext uri="{0D108BD9-81ED-4DB2-BD59-A6C34878D82A}">
                    <a16:rowId xmlns:a16="http://schemas.microsoft.com/office/drawing/2014/main" val="3967601596"/>
                  </a:ext>
                </a:extLst>
              </a:tr>
            </a:tbl>
          </a:graphicData>
        </a:graphic>
      </p:graphicFrame>
      <p:sp>
        <p:nvSpPr>
          <p:cNvPr id="5" name="Footer Placeholder 4">
            <a:extLst>
              <a:ext uri="{FF2B5EF4-FFF2-40B4-BE49-F238E27FC236}">
                <a16:creationId xmlns:a16="http://schemas.microsoft.com/office/drawing/2014/main" id="{90245DCF-4215-4A87-48DF-152931BC1CC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06946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E91D2-C588-3828-290E-F5860FE9DA2E}"/>
              </a:ext>
            </a:extLst>
          </p:cNvPr>
          <p:cNvSpPr>
            <a:spLocks noGrp="1"/>
          </p:cNvSpPr>
          <p:nvPr>
            <p:ph type="title"/>
          </p:nvPr>
        </p:nvSpPr>
        <p:spPr/>
        <p:txBody>
          <a:bodyPr/>
          <a:lstStyle/>
          <a:p>
            <a:endParaRPr lang="en-US"/>
          </a:p>
        </p:txBody>
      </p:sp>
      <p:pic>
        <p:nvPicPr>
          <p:cNvPr id="10" name="Content Placeholder 9">
            <a:extLst>
              <a:ext uri="{FF2B5EF4-FFF2-40B4-BE49-F238E27FC236}">
                <a16:creationId xmlns:a16="http://schemas.microsoft.com/office/drawing/2014/main" id="{2B48D320-CBF3-FA85-83F0-4DC6F358E7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1460" y="1982159"/>
            <a:ext cx="4774447" cy="4266241"/>
          </a:xfrm>
        </p:spPr>
      </p:pic>
      <p:sp>
        <p:nvSpPr>
          <p:cNvPr id="4" name="Footer Placeholder 3">
            <a:extLst>
              <a:ext uri="{FF2B5EF4-FFF2-40B4-BE49-F238E27FC236}">
                <a16:creationId xmlns:a16="http://schemas.microsoft.com/office/drawing/2014/main" id="{FD956A89-833B-5723-5783-F002D8FEB87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65398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8FAFD-F419-3B01-154E-C4E581EB855D}"/>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C1CA4589-4F67-186B-FC57-B1051F6D37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8049" y="2087789"/>
            <a:ext cx="6095238" cy="3371429"/>
          </a:xfrm>
        </p:spPr>
      </p:pic>
      <p:sp>
        <p:nvSpPr>
          <p:cNvPr id="4" name="Footer Placeholder 3">
            <a:extLst>
              <a:ext uri="{FF2B5EF4-FFF2-40B4-BE49-F238E27FC236}">
                <a16:creationId xmlns:a16="http://schemas.microsoft.com/office/drawing/2014/main" id="{BFFFFF8C-A4E2-F3D8-FEDF-3FB6D7AD2B1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04981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0BBE0BB-B29A-04C5-B323-C7C6278503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7029" y="741295"/>
            <a:ext cx="6478835" cy="5375409"/>
          </a:xfrm>
        </p:spPr>
      </p:pic>
      <p:sp>
        <p:nvSpPr>
          <p:cNvPr id="4" name="Footer Placeholder 3">
            <a:extLst>
              <a:ext uri="{FF2B5EF4-FFF2-40B4-BE49-F238E27FC236}">
                <a16:creationId xmlns:a16="http://schemas.microsoft.com/office/drawing/2014/main" id="{C1FCC462-7843-156C-6777-5BA0523FEF3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51249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82EAB-7950-A1A8-FA45-49BC5603FE07}"/>
              </a:ext>
            </a:extLst>
          </p:cNvPr>
          <p:cNvSpPr>
            <a:spLocks noGrp="1"/>
          </p:cNvSpPr>
          <p:nvPr>
            <p:ph type="title"/>
          </p:nvPr>
        </p:nvSpPr>
        <p:spPr>
          <a:xfrm>
            <a:off x="677334" y="609600"/>
            <a:ext cx="10024024" cy="1320800"/>
          </a:xfrm>
        </p:spPr>
        <p:txBody>
          <a:bodyPr/>
          <a:lstStyle/>
          <a:p>
            <a:r>
              <a:rPr lang="en-US" dirty="0"/>
              <a:t>Pros, Cons and Applications of SVM</a:t>
            </a:r>
          </a:p>
        </p:txBody>
      </p:sp>
      <p:sp>
        <p:nvSpPr>
          <p:cNvPr id="3" name="Content Placeholder 2">
            <a:extLst>
              <a:ext uri="{FF2B5EF4-FFF2-40B4-BE49-F238E27FC236}">
                <a16:creationId xmlns:a16="http://schemas.microsoft.com/office/drawing/2014/main" id="{995617CA-3D0F-50FA-BA84-E381D3487772}"/>
              </a:ext>
            </a:extLst>
          </p:cNvPr>
          <p:cNvSpPr>
            <a:spLocks noGrp="1"/>
          </p:cNvSpPr>
          <p:nvPr>
            <p:ph idx="1"/>
          </p:nvPr>
        </p:nvSpPr>
        <p:spPr>
          <a:xfrm>
            <a:off x="6868340" y="1870387"/>
            <a:ext cx="3833018" cy="2371987"/>
          </a:xfrm>
        </p:spPr>
        <p:txBody>
          <a:bodyPr/>
          <a:lstStyle/>
          <a:p>
            <a:pPr marL="0" indent="0">
              <a:buNone/>
            </a:pPr>
            <a:r>
              <a:rPr lang="en-US" b="1" dirty="0"/>
              <a:t>Applications</a:t>
            </a:r>
          </a:p>
          <a:p>
            <a:r>
              <a:rPr lang="en-US" dirty="0"/>
              <a:t>Text categorization</a:t>
            </a:r>
          </a:p>
          <a:p>
            <a:r>
              <a:rPr lang="en-US" dirty="0"/>
              <a:t>Handwriting recognition</a:t>
            </a:r>
          </a:p>
          <a:p>
            <a:r>
              <a:rPr lang="en-US" dirty="0"/>
              <a:t>Bioinformatics (e.g., cancer classification)</a:t>
            </a:r>
          </a:p>
          <a:p>
            <a:r>
              <a:rPr lang="en-US" dirty="0"/>
              <a:t>Stock market prediction</a:t>
            </a:r>
          </a:p>
          <a:p>
            <a:endParaRPr lang="en-US" dirty="0"/>
          </a:p>
        </p:txBody>
      </p:sp>
      <p:sp>
        <p:nvSpPr>
          <p:cNvPr id="4" name="Content Placeholder 2">
            <a:extLst>
              <a:ext uri="{FF2B5EF4-FFF2-40B4-BE49-F238E27FC236}">
                <a16:creationId xmlns:a16="http://schemas.microsoft.com/office/drawing/2014/main" id="{71318096-14B7-D6AA-63B9-13E27BCE83D5}"/>
              </a:ext>
            </a:extLst>
          </p:cNvPr>
          <p:cNvSpPr txBox="1">
            <a:spLocks/>
          </p:cNvSpPr>
          <p:nvPr/>
        </p:nvSpPr>
        <p:spPr>
          <a:xfrm>
            <a:off x="5332507" y="1870387"/>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sp>
        <p:nvSpPr>
          <p:cNvPr id="5" name="Content Placeholder 2">
            <a:extLst>
              <a:ext uri="{FF2B5EF4-FFF2-40B4-BE49-F238E27FC236}">
                <a16:creationId xmlns:a16="http://schemas.microsoft.com/office/drawing/2014/main" id="{D6E52AF0-0141-AB4A-9464-6B146AE55FA4}"/>
              </a:ext>
            </a:extLst>
          </p:cNvPr>
          <p:cNvSpPr txBox="1">
            <a:spLocks/>
          </p:cNvSpPr>
          <p:nvPr/>
        </p:nvSpPr>
        <p:spPr>
          <a:xfrm>
            <a:off x="3826140" y="4100975"/>
            <a:ext cx="3898383"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t>Limitations</a:t>
            </a:r>
          </a:p>
          <a:p>
            <a:r>
              <a:rPr lang="en-US" dirty="0"/>
              <a:t>Not suitable for large datasets (slow training time).</a:t>
            </a:r>
          </a:p>
          <a:p>
            <a:r>
              <a:rPr lang="en-US" dirty="0"/>
              <a:t>Choosing the right kernel and parameters is tricky.</a:t>
            </a:r>
          </a:p>
          <a:p>
            <a:r>
              <a:rPr lang="en-US" dirty="0"/>
              <a:t>Poor performance with noisy and overlapping classes.</a:t>
            </a:r>
          </a:p>
          <a:p>
            <a:endParaRPr lang="en-US" dirty="0"/>
          </a:p>
        </p:txBody>
      </p:sp>
      <p:sp>
        <p:nvSpPr>
          <p:cNvPr id="6" name="Content Placeholder 2">
            <a:extLst>
              <a:ext uri="{FF2B5EF4-FFF2-40B4-BE49-F238E27FC236}">
                <a16:creationId xmlns:a16="http://schemas.microsoft.com/office/drawing/2014/main" id="{1249F992-9546-99D7-2FD8-53434CFACD70}"/>
              </a:ext>
            </a:extLst>
          </p:cNvPr>
          <p:cNvSpPr txBox="1">
            <a:spLocks/>
          </p:cNvSpPr>
          <p:nvPr/>
        </p:nvSpPr>
        <p:spPr>
          <a:xfrm>
            <a:off x="746306" y="1870387"/>
            <a:ext cx="383301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t>Advantages</a:t>
            </a:r>
          </a:p>
          <a:p>
            <a:r>
              <a:rPr lang="en-US" dirty="0"/>
              <a:t>Effective in high-dimensional spaces.</a:t>
            </a:r>
          </a:p>
          <a:p>
            <a:r>
              <a:rPr lang="en-US" dirty="0"/>
              <a:t>Works well for both linear and non-linear data.</a:t>
            </a:r>
          </a:p>
          <a:p>
            <a:r>
              <a:rPr lang="en-US" dirty="0"/>
              <a:t>Memory efficient.</a:t>
            </a:r>
          </a:p>
        </p:txBody>
      </p:sp>
      <p:sp>
        <p:nvSpPr>
          <p:cNvPr id="7" name="Footer Placeholder 6">
            <a:extLst>
              <a:ext uri="{FF2B5EF4-FFF2-40B4-BE49-F238E27FC236}">
                <a16:creationId xmlns:a16="http://schemas.microsoft.com/office/drawing/2014/main" id="{45A75348-F1FA-EDDE-CAF7-03776BFAED6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203537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CFE8E-E9C8-317B-DC06-153C09464992}"/>
              </a:ext>
            </a:extLst>
          </p:cNvPr>
          <p:cNvSpPr>
            <a:spLocks noGrp="1"/>
          </p:cNvSpPr>
          <p:nvPr>
            <p:ph type="title"/>
          </p:nvPr>
        </p:nvSpPr>
        <p:spPr/>
        <p:txBody>
          <a:bodyPr/>
          <a:lstStyle/>
          <a:p>
            <a:r>
              <a:rPr lang="en-US" dirty="0"/>
              <a:t>Applications of Supervised Learning </a:t>
            </a:r>
          </a:p>
        </p:txBody>
      </p:sp>
      <p:sp>
        <p:nvSpPr>
          <p:cNvPr id="3" name="Content Placeholder 2">
            <a:extLst>
              <a:ext uri="{FF2B5EF4-FFF2-40B4-BE49-F238E27FC236}">
                <a16:creationId xmlns:a16="http://schemas.microsoft.com/office/drawing/2014/main" id="{56FD905F-BE0A-7799-ED9E-1DCDC924F720}"/>
              </a:ext>
            </a:extLst>
          </p:cNvPr>
          <p:cNvSpPr>
            <a:spLocks noGrp="1"/>
          </p:cNvSpPr>
          <p:nvPr>
            <p:ph idx="1"/>
          </p:nvPr>
        </p:nvSpPr>
        <p:spPr/>
        <p:txBody>
          <a:bodyPr/>
          <a:lstStyle/>
          <a:p>
            <a:r>
              <a:rPr lang="en-US" dirty="0">
                <a:solidFill>
                  <a:srgbClr val="444444"/>
                </a:solidFill>
                <a:latin typeface="Titillium"/>
              </a:rPr>
              <a:t>P</a:t>
            </a:r>
            <a:r>
              <a:rPr lang="en-US" i="0" dirty="0">
                <a:solidFill>
                  <a:srgbClr val="444444"/>
                </a:solidFill>
                <a:effectLst/>
                <a:latin typeface="Titillium"/>
              </a:rPr>
              <a:t>rediction of stock markets</a:t>
            </a:r>
            <a:r>
              <a:rPr lang="en-US" dirty="0"/>
              <a:t> (Price → trend)</a:t>
            </a:r>
            <a:endParaRPr lang="en-US" i="0" dirty="0">
              <a:solidFill>
                <a:srgbClr val="444444"/>
              </a:solidFill>
              <a:effectLst/>
              <a:latin typeface="Titillium"/>
            </a:endParaRPr>
          </a:p>
          <a:p>
            <a:r>
              <a:rPr lang="en-US" i="0" dirty="0">
                <a:solidFill>
                  <a:srgbClr val="444444"/>
                </a:solidFill>
                <a:effectLst/>
                <a:latin typeface="Titillium"/>
              </a:rPr>
              <a:t>Speech and Image Recognition </a:t>
            </a:r>
            <a:endParaRPr lang="en-US" dirty="0">
              <a:solidFill>
                <a:srgbClr val="444444"/>
              </a:solidFill>
              <a:latin typeface="Titillium"/>
            </a:endParaRPr>
          </a:p>
          <a:p>
            <a:r>
              <a:rPr lang="en-US" i="0" dirty="0">
                <a:solidFill>
                  <a:srgbClr val="444444"/>
                </a:solidFill>
                <a:effectLst/>
                <a:latin typeface="Titillium"/>
              </a:rPr>
              <a:t>Object detection </a:t>
            </a:r>
            <a:r>
              <a:rPr lang="en-US" dirty="0"/>
              <a:t>(Image/Object → Label)</a:t>
            </a:r>
            <a:endParaRPr lang="en-US" i="0" dirty="0">
              <a:solidFill>
                <a:srgbClr val="444444"/>
              </a:solidFill>
              <a:effectLst/>
              <a:latin typeface="Titillium"/>
            </a:endParaRPr>
          </a:p>
          <a:p>
            <a:r>
              <a:rPr lang="en-US" dirty="0"/>
              <a:t>Email spam detection (Spam / Not Spam</a:t>
            </a:r>
          </a:p>
          <a:p>
            <a:r>
              <a:rPr lang="en-US" dirty="0"/>
              <a:t>Handwriting recognition (Image → Letter)</a:t>
            </a:r>
          </a:p>
          <a:p>
            <a:r>
              <a:rPr lang="en-US" dirty="0"/>
              <a:t>Weather prediction (Temperature, Humidity → Rain/No Rain)</a:t>
            </a:r>
          </a:p>
          <a:p>
            <a:r>
              <a:rPr lang="en-US" dirty="0"/>
              <a:t>House price prediction (Features → Price)</a:t>
            </a:r>
          </a:p>
          <a:p>
            <a:r>
              <a:rPr lang="en-US" dirty="0"/>
              <a:t>Customer Sentiment Analysis</a:t>
            </a:r>
          </a:p>
          <a:p>
            <a:r>
              <a:rPr lang="en-US" dirty="0"/>
              <a:t>Medical Diagnosis</a:t>
            </a:r>
          </a:p>
        </p:txBody>
      </p:sp>
      <p:sp>
        <p:nvSpPr>
          <p:cNvPr id="4" name="Footer Placeholder 3">
            <a:extLst>
              <a:ext uri="{FF2B5EF4-FFF2-40B4-BE49-F238E27FC236}">
                <a16:creationId xmlns:a16="http://schemas.microsoft.com/office/drawing/2014/main" id="{27DB6A02-BCDC-11B9-17AC-EB4D772D371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76704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8856AC-01CA-D512-258D-3370A6E273F1}"/>
              </a:ext>
            </a:extLst>
          </p:cNvPr>
          <p:cNvPicPr>
            <a:picLocks noChangeAspect="1"/>
          </p:cNvPicPr>
          <p:nvPr/>
        </p:nvPicPr>
        <p:blipFill>
          <a:blip r:embed="rId2"/>
          <a:stretch>
            <a:fillRect/>
          </a:stretch>
        </p:blipFill>
        <p:spPr>
          <a:xfrm>
            <a:off x="4024215" y="2626639"/>
            <a:ext cx="7620660" cy="3779848"/>
          </a:xfrm>
          <a:prstGeom prst="rect">
            <a:avLst/>
          </a:prstGeom>
        </p:spPr>
      </p:pic>
      <p:sp>
        <p:nvSpPr>
          <p:cNvPr id="2" name="Title 1">
            <a:extLst>
              <a:ext uri="{FF2B5EF4-FFF2-40B4-BE49-F238E27FC236}">
                <a16:creationId xmlns:a16="http://schemas.microsoft.com/office/drawing/2014/main" id="{9AD469DB-584C-30EA-123F-02350DFF0EF0}"/>
              </a:ext>
            </a:extLst>
          </p:cNvPr>
          <p:cNvSpPr>
            <a:spLocks noGrp="1"/>
          </p:cNvSpPr>
          <p:nvPr>
            <p:ph type="title"/>
          </p:nvPr>
        </p:nvSpPr>
        <p:spPr/>
        <p:txBody>
          <a:bodyPr/>
          <a:lstStyle/>
          <a:p>
            <a:r>
              <a:rPr lang="en-US" dirty="0"/>
              <a:t>Unsupervised Learning</a:t>
            </a:r>
          </a:p>
        </p:txBody>
      </p:sp>
      <p:sp>
        <p:nvSpPr>
          <p:cNvPr id="3" name="Content Placeholder 2">
            <a:extLst>
              <a:ext uri="{FF2B5EF4-FFF2-40B4-BE49-F238E27FC236}">
                <a16:creationId xmlns:a16="http://schemas.microsoft.com/office/drawing/2014/main" id="{A79BFADD-C712-B079-58B4-6B390264FE93}"/>
              </a:ext>
            </a:extLst>
          </p:cNvPr>
          <p:cNvSpPr>
            <a:spLocks noGrp="1"/>
          </p:cNvSpPr>
          <p:nvPr>
            <p:ph idx="1"/>
          </p:nvPr>
        </p:nvSpPr>
        <p:spPr/>
        <p:txBody>
          <a:bodyPr>
            <a:normAutofit/>
          </a:bodyPr>
          <a:lstStyle/>
          <a:p>
            <a:pPr marL="0" indent="0">
              <a:buNone/>
            </a:pPr>
            <a:r>
              <a:rPr lang="en-US" dirty="0"/>
              <a:t>Learning from unlabeled data, identifying patterns and structures.</a:t>
            </a:r>
          </a:p>
          <a:p>
            <a:r>
              <a:rPr lang="en-US" dirty="0"/>
              <a:t>Applications:</a:t>
            </a:r>
          </a:p>
          <a:p>
            <a:pPr lvl="1"/>
            <a:r>
              <a:rPr lang="en-US" dirty="0"/>
              <a:t>Customer Segmentation</a:t>
            </a:r>
          </a:p>
          <a:p>
            <a:pPr lvl="1"/>
            <a:r>
              <a:rPr lang="en-US" dirty="0"/>
              <a:t>Fraud Detection</a:t>
            </a:r>
          </a:p>
          <a:p>
            <a:pPr lvl="1"/>
            <a:r>
              <a:rPr lang="en-US" dirty="0"/>
              <a:t>Dimensionality Reduction</a:t>
            </a:r>
          </a:p>
          <a:p>
            <a:endParaRPr lang="en-US" dirty="0"/>
          </a:p>
        </p:txBody>
      </p:sp>
      <p:sp>
        <p:nvSpPr>
          <p:cNvPr id="4" name="Footer Placeholder 3">
            <a:extLst>
              <a:ext uri="{FF2B5EF4-FFF2-40B4-BE49-F238E27FC236}">
                <a16:creationId xmlns:a16="http://schemas.microsoft.com/office/drawing/2014/main" id="{5BA9C55A-244A-1AAD-8D45-049B8A00303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179939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CF9A-4BFE-B065-EC54-8E85DF2157A1}"/>
              </a:ext>
            </a:extLst>
          </p:cNvPr>
          <p:cNvSpPr>
            <a:spLocks noGrp="1"/>
          </p:cNvSpPr>
          <p:nvPr>
            <p:ph type="title"/>
          </p:nvPr>
        </p:nvSpPr>
        <p:spPr/>
        <p:txBody>
          <a:bodyPr/>
          <a:lstStyle/>
          <a:p>
            <a:r>
              <a:rPr lang="en-US" dirty="0"/>
              <a:t>Types of Unsupervised learning</a:t>
            </a:r>
          </a:p>
        </p:txBody>
      </p:sp>
      <p:sp>
        <p:nvSpPr>
          <p:cNvPr id="3" name="Content Placeholder 2">
            <a:extLst>
              <a:ext uri="{FF2B5EF4-FFF2-40B4-BE49-F238E27FC236}">
                <a16:creationId xmlns:a16="http://schemas.microsoft.com/office/drawing/2014/main" id="{A3CF2EE5-B616-AAA7-D7BF-47D82438188A}"/>
              </a:ext>
            </a:extLst>
          </p:cNvPr>
          <p:cNvSpPr>
            <a:spLocks noGrp="1"/>
          </p:cNvSpPr>
          <p:nvPr>
            <p:ph idx="1"/>
          </p:nvPr>
        </p:nvSpPr>
        <p:spPr/>
        <p:txBody>
          <a:bodyPr/>
          <a:lstStyle/>
          <a:p>
            <a:pPr>
              <a:buFont typeface="+mj-lt"/>
              <a:buAutoNum type="arabicPeriod"/>
            </a:pPr>
            <a:r>
              <a:rPr lang="en-US" dirty="0"/>
              <a:t>Clustering:</a:t>
            </a:r>
          </a:p>
          <a:p>
            <a:pPr marL="800100" lvl="1" indent="-342900">
              <a:buFont typeface="+mj-lt"/>
              <a:buAutoNum type="arabicPeriod"/>
            </a:pPr>
            <a:r>
              <a:rPr lang="en-US" dirty="0"/>
              <a:t>Grouping customers by purchasing behavior.</a:t>
            </a:r>
          </a:p>
          <a:p>
            <a:pPr marL="800100" lvl="1" indent="-342900">
              <a:buFont typeface="+mj-lt"/>
              <a:buAutoNum type="arabicPeriod"/>
            </a:pPr>
            <a:r>
              <a:rPr lang="en-US" dirty="0"/>
              <a:t>K-Means, Hierarchical Clustering.</a:t>
            </a:r>
          </a:p>
          <a:p>
            <a:pPr>
              <a:buFont typeface="+mj-lt"/>
              <a:buAutoNum type="arabicPeriod"/>
            </a:pPr>
            <a:r>
              <a:rPr lang="en-US" dirty="0"/>
              <a:t>Dimensionality Reduction:</a:t>
            </a:r>
          </a:p>
          <a:p>
            <a:pPr marL="800100" lvl="1" indent="-342900">
              <a:buFont typeface="+mj-lt"/>
              <a:buAutoNum type="arabicPeriod"/>
            </a:pPr>
            <a:r>
              <a:rPr lang="en-US" dirty="0"/>
              <a:t>Reducing the number of features in a dataset.</a:t>
            </a:r>
          </a:p>
          <a:p>
            <a:pPr marL="800100" lvl="1" indent="-342900">
              <a:buFont typeface="+mj-lt"/>
              <a:buAutoNum type="arabicPeriod"/>
            </a:pPr>
            <a:r>
              <a:rPr lang="en-US" dirty="0"/>
              <a:t>PCA, .</a:t>
            </a:r>
          </a:p>
          <a:p>
            <a:pPr>
              <a:buFont typeface="+mj-lt"/>
              <a:buAutoNum type="arabicPeriod"/>
            </a:pPr>
            <a:r>
              <a:rPr lang="en-US" dirty="0"/>
              <a:t>Association:</a:t>
            </a:r>
          </a:p>
          <a:p>
            <a:pPr marL="800100" lvl="1" indent="-342900">
              <a:buFont typeface="+mj-lt"/>
              <a:buAutoNum type="arabicPeriod"/>
            </a:pPr>
            <a:r>
              <a:rPr lang="en-US" dirty="0"/>
              <a:t>Reducing the number of features in a dataset.</a:t>
            </a:r>
          </a:p>
          <a:p>
            <a:pPr marL="800100" lvl="1" indent="-342900">
              <a:buFont typeface="+mj-lt"/>
              <a:buAutoNum type="arabicPeriod"/>
            </a:pPr>
            <a:r>
              <a:rPr lang="en-US" dirty="0"/>
              <a:t>PCA, .</a:t>
            </a:r>
          </a:p>
          <a:p>
            <a:pPr>
              <a:buFont typeface="+mj-lt"/>
              <a:buAutoNum type="arabicPeriod"/>
            </a:pPr>
            <a:endParaRPr lang="en-US" dirty="0"/>
          </a:p>
        </p:txBody>
      </p:sp>
      <p:sp>
        <p:nvSpPr>
          <p:cNvPr id="4" name="Footer Placeholder 3">
            <a:extLst>
              <a:ext uri="{FF2B5EF4-FFF2-40B4-BE49-F238E27FC236}">
                <a16:creationId xmlns:a16="http://schemas.microsoft.com/office/drawing/2014/main" id="{810C36C6-4D11-F59C-8D7D-B7F4365EC4F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09819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62F5-F8BF-755B-F094-9FBF8E9FBC2C}"/>
              </a:ext>
            </a:extLst>
          </p:cNvPr>
          <p:cNvSpPr>
            <a:spLocks noGrp="1"/>
          </p:cNvSpPr>
          <p:nvPr>
            <p:ph type="title"/>
          </p:nvPr>
        </p:nvSpPr>
        <p:spPr/>
        <p:txBody>
          <a:bodyPr/>
          <a:lstStyle/>
          <a:p>
            <a:r>
              <a:rPr lang="en-US" dirty="0"/>
              <a:t>Clustering</a:t>
            </a:r>
          </a:p>
        </p:txBody>
      </p:sp>
      <p:sp>
        <p:nvSpPr>
          <p:cNvPr id="3" name="Content Placeholder 2">
            <a:extLst>
              <a:ext uri="{FF2B5EF4-FFF2-40B4-BE49-F238E27FC236}">
                <a16:creationId xmlns:a16="http://schemas.microsoft.com/office/drawing/2014/main" id="{839A8525-8D9D-F875-1483-EA895ED56D0B}"/>
              </a:ext>
            </a:extLst>
          </p:cNvPr>
          <p:cNvSpPr>
            <a:spLocks noGrp="1"/>
          </p:cNvSpPr>
          <p:nvPr>
            <p:ph idx="1"/>
          </p:nvPr>
        </p:nvSpPr>
        <p:spPr>
          <a:xfrm>
            <a:off x="838200" y="1825625"/>
            <a:ext cx="10515600" cy="4667250"/>
          </a:xfrm>
        </p:spPr>
        <p:txBody>
          <a:bodyPr>
            <a:normAutofit/>
          </a:bodyPr>
          <a:lstStyle/>
          <a:p>
            <a:r>
              <a:rPr lang="en-US" dirty="0"/>
              <a:t>An unsupervised learning task that groups data points into clusters based on similarity.</a:t>
            </a:r>
          </a:p>
          <a:p>
            <a:r>
              <a:rPr lang="en-US" dirty="0"/>
              <a:t>Types of Clustering:</a:t>
            </a:r>
          </a:p>
          <a:p>
            <a:pPr lvl="1"/>
            <a:r>
              <a:rPr lang="en-US" dirty="0"/>
              <a:t>Centroid-based: K-means</a:t>
            </a:r>
          </a:p>
          <a:p>
            <a:pPr lvl="1"/>
            <a:r>
              <a:rPr lang="en-US" dirty="0"/>
              <a:t>Density-based: DBSCAN</a:t>
            </a:r>
          </a:p>
          <a:p>
            <a:pPr lvl="1"/>
            <a:r>
              <a:rPr lang="en-US" dirty="0"/>
              <a:t>Hierarchical: Agglomerative Clustering</a:t>
            </a:r>
          </a:p>
          <a:p>
            <a:r>
              <a:rPr lang="en-US" dirty="0"/>
              <a:t>Applications:</a:t>
            </a:r>
          </a:p>
          <a:p>
            <a:pPr lvl="1"/>
            <a:r>
              <a:rPr lang="en-US" dirty="0"/>
              <a:t>Customer segmentation</a:t>
            </a:r>
          </a:p>
          <a:p>
            <a:pPr lvl="1"/>
            <a:r>
              <a:rPr lang="en-US" dirty="0"/>
              <a:t>Document categorization</a:t>
            </a:r>
          </a:p>
          <a:p>
            <a:endParaRPr lang="en-US" dirty="0"/>
          </a:p>
          <a:p>
            <a:endParaRPr lang="en-US" dirty="0"/>
          </a:p>
        </p:txBody>
      </p:sp>
      <p:sp>
        <p:nvSpPr>
          <p:cNvPr id="4" name="Footer Placeholder 3">
            <a:extLst>
              <a:ext uri="{FF2B5EF4-FFF2-40B4-BE49-F238E27FC236}">
                <a16:creationId xmlns:a16="http://schemas.microsoft.com/office/drawing/2014/main" id="{942F0DBD-87F9-06BB-82A5-F7C72E5178A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152389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B020-FD10-1A21-FA7E-30733C12D0C0}"/>
              </a:ext>
            </a:extLst>
          </p:cNvPr>
          <p:cNvSpPr>
            <a:spLocks noGrp="1"/>
          </p:cNvSpPr>
          <p:nvPr>
            <p:ph type="title"/>
          </p:nvPr>
        </p:nvSpPr>
        <p:spPr/>
        <p:txBody>
          <a:bodyPr/>
          <a:lstStyle/>
          <a:p>
            <a:r>
              <a:rPr lang="en-US" dirty="0"/>
              <a:t>K Means Clustering</a:t>
            </a:r>
          </a:p>
        </p:txBody>
      </p:sp>
      <p:sp>
        <p:nvSpPr>
          <p:cNvPr id="3" name="Content Placeholder 2">
            <a:extLst>
              <a:ext uri="{FF2B5EF4-FFF2-40B4-BE49-F238E27FC236}">
                <a16:creationId xmlns:a16="http://schemas.microsoft.com/office/drawing/2014/main" id="{F6D624C2-8515-BF24-AB61-55303633DED8}"/>
              </a:ext>
            </a:extLst>
          </p:cNvPr>
          <p:cNvSpPr>
            <a:spLocks noGrp="1"/>
          </p:cNvSpPr>
          <p:nvPr>
            <p:ph idx="1"/>
          </p:nvPr>
        </p:nvSpPr>
        <p:spPr/>
        <p:txBody>
          <a:bodyPr>
            <a:normAutofit lnSpcReduction="10000"/>
          </a:bodyPr>
          <a:lstStyle/>
          <a:p>
            <a:r>
              <a:rPr lang="en-US" dirty="0"/>
              <a:t>A centroid-based clustering algorithm that divides data into k clusters by minimizing within-cluster variance.</a:t>
            </a:r>
          </a:p>
          <a:p>
            <a:r>
              <a:rPr lang="en-US" dirty="0"/>
              <a:t>Algorithm Steps:</a:t>
            </a:r>
          </a:p>
          <a:p>
            <a:pPr lvl="1"/>
            <a:r>
              <a:rPr lang="en-US" dirty="0"/>
              <a:t>Choose the number of clusters (‘k’).</a:t>
            </a:r>
          </a:p>
          <a:p>
            <a:pPr lvl="1"/>
            <a:r>
              <a:rPr lang="en-US" dirty="0"/>
              <a:t>Initialize ‘k’ centroids randomly.</a:t>
            </a:r>
          </a:p>
          <a:p>
            <a:pPr lvl="1"/>
            <a:r>
              <a:rPr lang="en-US" dirty="0"/>
              <a:t>Assign each data point to the nearest centroid.</a:t>
            </a:r>
          </a:p>
          <a:p>
            <a:pPr lvl="1"/>
            <a:r>
              <a:rPr lang="en-US" dirty="0"/>
              <a:t>Update centroids by computing the mean of assigned points.</a:t>
            </a:r>
          </a:p>
          <a:p>
            <a:pPr lvl="1"/>
            <a:r>
              <a:rPr lang="en-US" dirty="0"/>
              <a:t>Repeat steps 3 and 4 until convergence.</a:t>
            </a:r>
          </a:p>
          <a:p>
            <a:r>
              <a:rPr lang="en-US" dirty="0"/>
              <a:t>Use Cases:</a:t>
            </a:r>
          </a:p>
          <a:p>
            <a:pPr lvl="1"/>
            <a:r>
              <a:rPr lang="en-US" dirty="0"/>
              <a:t>Market segmentation</a:t>
            </a:r>
          </a:p>
          <a:p>
            <a:pPr lvl="1"/>
            <a:r>
              <a:rPr lang="en-US" dirty="0"/>
              <a:t>Image compression</a:t>
            </a:r>
          </a:p>
          <a:p>
            <a:endParaRPr lang="en-US" dirty="0"/>
          </a:p>
          <a:p>
            <a:endParaRPr lang="en-US" dirty="0"/>
          </a:p>
        </p:txBody>
      </p:sp>
      <p:sp>
        <p:nvSpPr>
          <p:cNvPr id="4" name="Rectangle 1">
            <a:extLst>
              <a:ext uri="{FF2B5EF4-FFF2-40B4-BE49-F238E27FC236}">
                <a16:creationId xmlns:a16="http://schemas.microsoft.com/office/drawing/2014/main" id="{F3B14E3A-6743-D8D6-81E4-E5396C16970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50A59531-8050-61E6-2ABF-FCD7CB63A36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Footer Placeholder 5">
            <a:extLst>
              <a:ext uri="{FF2B5EF4-FFF2-40B4-BE49-F238E27FC236}">
                <a16:creationId xmlns:a16="http://schemas.microsoft.com/office/drawing/2014/main" id="{A4B2E652-E2ED-2A04-BDA6-6E8E30214EC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21186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8E6C-BDE8-E75F-B0E7-A828B7F90BF4}"/>
              </a:ext>
            </a:extLst>
          </p:cNvPr>
          <p:cNvSpPr>
            <a:spLocks noGrp="1"/>
          </p:cNvSpPr>
          <p:nvPr>
            <p:ph type="title"/>
          </p:nvPr>
        </p:nvSpPr>
        <p:spPr/>
        <p:txBody>
          <a:bodyPr/>
          <a:lstStyle/>
          <a:p>
            <a:r>
              <a:rPr lang="en-US" dirty="0"/>
              <a:t>Numerical on k-means clustering</a:t>
            </a:r>
          </a:p>
        </p:txBody>
      </p:sp>
      <p:sp>
        <p:nvSpPr>
          <p:cNvPr id="3" name="Content Placeholder 2">
            <a:extLst>
              <a:ext uri="{FF2B5EF4-FFF2-40B4-BE49-F238E27FC236}">
                <a16:creationId xmlns:a16="http://schemas.microsoft.com/office/drawing/2014/main" id="{D09D4FCC-492E-EC0B-8BF8-9FDE0E3F788D}"/>
              </a:ext>
            </a:extLst>
          </p:cNvPr>
          <p:cNvSpPr>
            <a:spLocks noGrp="1"/>
          </p:cNvSpPr>
          <p:nvPr>
            <p:ph idx="1"/>
          </p:nvPr>
        </p:nvSpPr>
        <p:spPr/>
        <p:txBody>
          <a:bodyPr/>
          <a:lstStyle/>
          <a:p>
            <a:r>
              <a:rPr lang="en-US" dirty="0"/>
              <a:t>Write down algorithm for K means clustering. Explain with suitable example.</a:t>
            </a:r>
          </a:p>
          <a:p>
            <a:r>
              <a:rPr lang="en-US" dirty="0"/>
              <a:t>Using k means clustering, cluster the following data into two clusters and show each step: {2,4,10,12,3, 20, 30, 11, 25}.</a:t>
            </a:r>
          </a:p>
          <a:p>
            <a:endParaRPr lang="en-US" dirty="0"/>
          </a:p>
        </p:txBody>
      </p:sp>
      <p:sp>
        <p:nvSpPr>
          <p:cNvPr id="4" name="Footer Placeholder 3">
            <a:extLst>
              <a:ext uri="{FF2B5EF4-FFF2-40B4-BE49-F238E27FC236}">
                <a16:creationId xmlns:a16="http://schemas.microsoft.com/office/drawing/2014/main" id="{7BD4F1C7-26C0-A668-C4F5-6950A89EFF2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025869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7FDE2-FF96-3D4E-07FD-AE593DC66C95}"/>
              </a:ext>
            </a:extLst>
          </p:cNvPr>
          <p:cNvSpPr>
            <a:spLocks noGrp="1"/>
          </p:cNvSpPr>
          <p:nvPr>
            <p:ph type="title"/>
          </p:nvPr>
        </p:nvSpPr>
        <p:spPr/>
        <p:txBody>
          <a:bodyPr/>
          <a:lstStyle/>
          <a:p>
            <a:r>
              <a:rPr lang="en-US" dirty="0"/>
              <a:t>Dimensionality Reduction</a:t>
            </a:r>
          </a:p>
        </p:txBody>
      </p:sp>
      <p:sp>
        <p:nvSpPr>
          <p:cNvPr id="3" name="Content Placeholder 2">
            <a:extLst>
              <a:ext uri="{FF2B5EF4-FFF2-40B4-BE49-F238E27FC236}">
                <a16:creationId xmlns:a16="http://schemas.microsoft.com/office/drawing/2014/main" id="{DB94F046-F883-5057-0CCF-A5FFFD92088A}"/>
              </a:ext>
            </a:extLst>
          </p:cNvPr>
          <p:cNvSpPr>
            <a:spLocks noGrp="1"/>
          </p:cNvSpPr>
          <p:nvPr>
            <p:ph idx="1"/>
          </p:nvPr>
        </p:nvSpPr>
        <p:spPr>
          <a:xfrm>
            <a:off x="677334" y="1805385"/>
            <a:ext cx="8811723" cy="4360993"/>
          </a:xfrm>
        </p:spPr>
        <p:txBody>
          <a:bodyPr>
            <a:normAutofit fontScale="92500" lnSpcReduction="10000"/>
          </a:bodyPr>
          <a:lstStyle/>
          <a:p>
            <a:pPr marL="0" indent="0">
              <a:buNone/>
            </a:pPr>
            <a:r>
              <a:rPr lang="en-US" dirty="0"/>
              <a:t>Process of reducing the number of input variables in a dataset. Used in handling high-dimensional data (curse of dimensionality). Enhances model performance and visualization.</a:t>
            </a:r>
          </a:p>
          <a:p>
            <a:pPr marL="0" indent="0">
              <a:buNone/>
            </a:pPr>
            <a:r>
              <a:rPr lang="en-US" b="1" dirty="0"/>
              <a:t>Why Dimensionality Reduction?</a:t>
            </a:r>
            <a:endParaRPr lang="en-US" dirty="0"/>
          </a:p>
          <a:p>
            <a:pPr lvl="1"/>
            <a:r>
              <a:rPr lang="en-US" dirty="0"/>
              <a:t>Reduces computation time.</a:t>
            </a:r>
          </a:p>
          <a:p>
            <a:pPr lvl="1"/>
            <a:r>
              <a:rPr lang="en-US" dirty="0"/>
              <a:t>Helps avoid overfitting.</a:t>
            </a:r>
          </a:p>
          <a:p>
            <a:pPr lvl="1"/>
            <a:r>
              <a:rPr lang="en-US" dirty="0"/>
              <a:t>Removes noise and redundancy.</a:t>
            </a:r>
          </a:p>
          <a:p>
            <a:pPr lvl="1"/>
            <a:r>
              <a:rPr lang="en-US" dirty="0"/>
              <a:t>Enables data visualization in 2D/3D.</a:t>
            </a:r>
          </a:p>
          <a:p>
            <a:pPr marL="0" indent="0">
              <a:buNone/>
            </a:pPr>
            <a:r>
              <a:rPr lang="en-US" b="1" dirty="0"/>
              <a:t>Applications of Dimensionality Reduction</a:t>
            </a:r>
            <a:endParaRPr lang="en-US" dirty="0"/>
          </a:p>
          <a:p>
            <a:pPr lvl="1"/>
            <a:r>
              <a:rPr lang="en-US" dirty="0"/>
              <a:t>Image and speech recognition.</a:t>
            </a:r>
          </a:p>
          <a:p>
            <a:pPr lvl="1"/>
            <a:r>
              <a:rPr lang="en-US" dirty="0"/>
              <a:t>Bioinformatics (e.g., gene expression data).</a:t>
            </a:r>
          </a:p>
          <a:p>
            <a:pPr lvl="1"/>
            <a:r>
              <a:rPr lang="en-US" dirty="0"/>
              <a:t>Text data analysis (e.g., topic modeling).</a:t>
            </a:r>
          </a:p>
          <a:p>
            <a:pPr lvl="1"/>
            <a:r>
              <a:rPr lang="en-US" dirty="0"/>
              <a:t>Preprocessing step in machine learning pipelines</a:t>
            </a:r>
          </a:p>
        </p:txBody>
      </p:sp>
      <p:sp>
        <p:nvSpPr>
          <p:cNvPr id="4" name="Footer Placeholder 3">
            <a:extLst>
              <a:ext uri="{FF2B5EF4-FFF2-40B4-BE49-F238E27FC236}">
                <a16:creationId xmlns:a16="http://schemas.microsoft.com/office/drawing/2014/main" id="{98DCF647-1681-4C11-2CF4-7F1CC396B06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806661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20DD8-6B88-B4CB-60DB-0D1DE7A456FA}"/>
              </a:ext>
            </a:extLst>
          </p:cNvPr>
          <p:cNvSpPr>
            <a:spLocks noGrp="1"/>
          </p:cNvSpPr>
          <p:nvPr>
            <p:ph type="title"/>
          </p:nvPr>
        </p:nvSpPr>
        <p:spPr/>
        <p:txBody>
          <a:bodyPr/>
          <a:lstStyle/>
          <a:p>
            <a:r>
              <a:rPr lang="en-US" dirty="0"/>
              <a:t>PCA</a:t>
            </a:r>
          </a:p>
        </p:txBody>
      </p:sp>
      <p:sp>
        <p:nvSpPr>
          <p:cNvPr id="3" name="Content Placeholder 2">
            <a:extLst>
              <a:ext uri="{FF2B5EF4-FFF2-40B4-BE49-F238E27FC236}">
                <a16:creationId xmlns:a16="http://schemas.microsoft.com/office/drawing/2014/main" id="{BAAC0C6E-37D2-63E4-88AF-857615A4A986}"/>
              </a:ext>
            </a:extLst>
          </p:cNvPr>
          <p:cNvSpPr>
            <a:spLocks noGrp="1"/>
          </p:cNvSpPr>
          <p:nvPr>
            <p:ph idx="1"/>
          </p:nvPr>
        </p:nvSpPr>
        <p:spPr/>
        <p:txBody>
          <a:bodyPr/>
          <a:lstStyle/>
          <a:p>
            <a:r>
              <a:rPr lang="en-US" dirty="0"/>
              <a:t>Unsupervised linear technique.</a:t>
            </a:r>
          </a:p>
          <a:p>
            <a:r>
              <a:rPr lang="en-US" dirty="0"/>
              <a:t>Projects data onto directions of maximum variance.</a:t>
            </a:r>
          </a:p>
          <a:p>
            <a:r>
              <a:rPr lang="en-US" dirty="0"/>
              <a:t>New axes are called principal components.</a:t>
            </a:r>
          </a:p>
          <a:p>
            <a:r>
              <a:rPr lang="en-US" dirty="0"/>
              <a:t>Used for compression and visualization.</a:t>
            </a:r>
          </a:p>
          <a:p>
            <a:endParaRPr lang="en-US" dirty="0"/>
          </a:p>
        </p:txBody>
      </p:sp>
      <p:sp>
        <p:nvSpPr>
          <p:cNvPr id="4" name="Footer Placeholder 3">
            <a:extLst>
              <a:ext uri="{FF2B5EF4-FFF2-40B4-BE49-F238E27FC236}">
                <a16:creationId xmlns:a16="http://schemas.microsoft.com/office/drawing/2014/main" id="{C08A4D72-96B2-DD3B-77AA-8A9F1E6FF91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16743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8D5E8-9E47-5BA3-48B8-904DC13AB5F2}"/>
              </a:ext>
            </a:extLst>
          </p:cNvPr>
          <p:cNvSpPr>
            <a:spLocks noGrp="1"/>
          </p:cNvSpPr>
          <p:nvPr>
            <p:ph type="title"/>
          </p:nvPr>
        </p:nvSpPr>
        <p:spPr/>
        <p:txBody>
          <a:bodyPr/>
          <a:lstStyle/>
          <a:p>
            <a:r>
              <a:rPr lang="en-US" dirty="0"/>
              <a:t>Linear Discriminant Analysis</a:t>
            </a:r>
          </a:p>
        </p:txBody>
      </p:sp>
      <p:sp>
        <p:nvSpPr>
          <p:cNvPr id="3" name="Content Placeholder 2">
            <a:extLst>
              <a:ext uri="{FF2B5EF4-FFF2-40B4-BE49-F238E27FC236}">
                <a16:creationId xmlns:a16="http://schemas.microsoft.com/office/drawing/2014/main" id="{EA37A92F-5F8D-606D-C3DB-7C09A87D38C4}"/>
              </a:ext>
            </a:extLst>
          </p:cNvPr>
          <p:cNvSpPr>
            <a:spLocks noGrp="1"/>
          </p:cNvSpPr>
          <p:nvPr>
            <p:ph idx="1"/>
          </p:nvPr>
        </p:nvSpPr>
        <p:spPr/>
        <p:txBody>
          <a:bodyPr/>
          <a:lstStyle/>
          <a:p>
            <a:r>
              <a:rPr lang="en-US" dirty="0"/>
              <a:t>Supervised method.</a:t>
            </a:r>
          </a:p>
          <a:p>
            <a:r>
              <a:rPr lang="en-US" dirty="0"/>
              <a:t>Maximizes class separability.</a:t>
            </a:r>
          </a:p>
          <a:p>
            <a:r>
              <a:rPr lang="en-US" dirty="0"/>
              <a:t>Finds linear combinations of features that best separate classes.</a:t>
            </a:r>
          </a:p>
          <a:p>
            <a:endParaRPr lang="en-US" dirty="0"/>
          </a:p>
        </p:txBody>
      </p:sp>
      <p:sp>
        <p:nvSpPr>
          <p:cNvPr id="4" name="Footer Placeholder 3">
            <a:extLst>
              <a:ext uri="{FF2B5EF4-FFF2-40B4-BE49-F238E27FC236}">
                <a16:creationId xmlns:a16="http://schemas.microsoft.com/office/drawing/2014/main" id="{7FE1D5C4-6828-D27C-C7CE-77DBBCD3CFD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802263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97B1B2-442D-D039-613B-272D1031B742}"/>
              </a:ext>
            </a:extLst>
          </p:cNvPr>
          <p:cNvPicPr>
            <a:picLocks noChangeAspect="1"/>
          </p:cNvPicPr>
          <p:nvPr/>
        </p:nvPicPr>
        <p:blipFill>
          <a:blip r:embed="rId2"/>
          <a:stretch>
            <a:fillRect/>
          </a:stretch>
        </p:blipFill>
        <p:spPr>
          <a:xfrm>
            <a:off x="4485369" y="3065959"/>
            <a:ext cx="7029297" cy="3792041"/>
          </a:xfrm>
          <a:prstGeom prst="rect">
            <a:avLst/>
          </a:prstGeom>
        </p:spPr>
      </p:pic>
      <p:sp>
        <p:nvSpPr>
          <p:cNvPr id="2" name="Title 1">
            <a:extLst>
              <a:ext uri="{FF2B5EF4-FFF2-40B4-BE49-F238E27FC236}">
                <a16:creationId xmlns:a16="http://schemas.microsoft.com/office/drawing/2014/main" id="{2D9432B3-CB84-7880-CC20-23FA92A18B36}"/>
              </a:ext>
            </a:extLst>
          </p:cNvPr>
          <p:cNvSpPr>
            <a:spLocks noGrp="1"/>
          </p:cNvSpPr>
          <p:nvPr>
            <p:ph type="title"/>
          </p:nvPr>
        </p:nvSpPr>
        <p:spPr/>
        <p:txBody>
          <a:bodyPr/>
          <a:lstStyle/>
          <a:p>
            <a:r>
              <a:rPr lang="en-US" dirty="0"/>
              <a:t>Reinforcement Learning</a:t>
            </a:r>
          </a:p>
        </p:txBody>
      </p:sp>
      <p:sp>
        <p:nvSpPr>
          <p:cNvPr id="3" name="Content Placeholder 2">
            <a:extLst>
              <a:ext uri="{FF2B5EF4-FFF2-40B4-BE49-F238E27FC236}">
                <a16:creationId xmlns:a16="http://schemas.microsoft.com/office/drawing/2014/main" id="{69266C11-5228-ED26-B9E3-A2A5CAE13343}"/>
              </a:ext>
            </a:extLst>
          </p:cNvPr>
          <p:cNvSpPr>
            <a:spLocks noGrp="1"/>
          </p:cNvSpPr>
          <p:nvPr>
            <p:ph idx="1"/>
          </p:nvPr>
        </p:nvSpPr>
        <p:spPr>
          <a:xfrm>
            <a:off x="677334" y="1611479"/>
            <a:ext cx="8596668" cy="3880773"/>
          </a:xfrm>
        </p:spPr>
        <p:txBody>
          <a:bodyPr>
            <a:normAutofit/>
          </a:bodyPr>
          <a:lstStyle/>
          <a:p>
            <a:pPr marL="0" indent="0">
              <a:buNone/>
            </a:pPr>
            <a:r>
              <a:rPr lang="en-US" dirty="0"/>
              <a:t>Learning by interacting with an environment to maximize cumulative rewards.</a:t>
            </a:r>
          </a:p>
          <a:p>
            <a:r>
              <a:rPr lang="en-US" dirty="0"/>
              <a:t>Key Characteristics:</a:t>
            </a:r>
          </a:p>
          <a:p>
            <a:pPr lvl="1"/>
            <a:r>
              <a:rPr lang="en-US" dirty="0"/>
              <a:t>Involves agents, actions, states, and rewards.</a:t>
            </a:r>
          </a:p>
          <a:p>
            <a:pPr lvl="1"/>
            <a:r>
              <a:rPr lang="en-US" dirty="0"/>
              <a:t>Goal: Learn a policy for optimal decision-making.</a:t>
            </a:r>
          </a:p>
          <a:p>
            <a:r>
              <a:rPr lang="en-US" dirty="0"/>
              <a:t>Applications:</a:t>
            </a:r>
          </a:p>
          <a:p>
            <a:pPr lvl="1"/>
            <a:r>
              <a:rPr lang="en-US" dirty="0"/>
              <a:t>Game Playing (e.g., Chess, Go)</a:t>
            </a:r>
          </a:p>
          <a:p>
            <a:pPr lvl="1"/>
            <a:r>
              <a:rPr lang="en-US" dirty="0"/>
              <a:t>Autonomous Vehicles</a:t>
            </a:r>
          </a:p>
          <a:p>
            <a:pPr lvl="1"/>
            <a:r>
              <a:rPr lang="en-US" dirty="0"/>
              <a:t>Robotics</a:t>
            </a:r>
          </a:p>
          <a:p>
            <a:endParaRPr lang="en-US" dirty="0"/>
          </a:p>
        </p:txBody>
      </p:sp>
      <p:sp>
        <p:nvSpPr>
          <p:cNvPr id="4" name="Footer Placeholder 3">
            <a:extLst>
              <a:ext uri="{FF2B5EF4-FFF2-40B4-BE49-F238E27FC236}">
                <a16:creationId xmlns:a16="http://schemas.microsoft.com/office/drawing/2014/main" id="{8ADB14ED-D005-A587-50C8-9DADCF3BB84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73867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E50D-C9A7-B132-9449-30B95E9EE7AD}"/>
              </a:ext>
            </a:extLst>
          </p:cNvPr>
          <p:cNvSpPr>
            <a:spLocks noGrp="1"/>
          </p:cNvSpPr>
          <p:nvPr>
            <p:ph type="title"/>
          </p:nvPr>
        </p:nvSpPr>
        <p:spPr/>
        <p:txBody>
          <a:bodyPr/>
          <a:lstStyle/>
          <a:p>
            <a:r>
              <a:rPr lang="en-US" dirty="0"/>
              <a:t>Types of Reinforcement Learning</a:t>
            </a:r>
          </a:p>
        </p:txBody>
      </p:sp>
      <p:sp>
        <p:nvSpPr>
          <p:cNvPr id="3" name="Content Placeholder 2">
            <a:extLst>
              <a:ext uri="{FF2B5EF4-FFF2-40B4-BE49-F238E27FC236}">
                <a16:creationId xmlns:a16="http://schemas.microsoft.com/office/drawing/2014/main" id="{7071B150-0379-5530-387B-68EC79F6D14C}"/>
              </a:ext>
            </a:extLst>
          </p:cNvPr>
          <p:cNvSpPr>
            <a:spLocks noGrp="1"/>
          </p:cNvSpPr>
          <p:nvPr>
            <p:ph idx="1"/>
          </p:nvPr>
        </p:nvSpPr>
        <p:spPr/>
        <p:txBody>
          <a:bodyPr/>
          <a:lstStyle/>
          <a:p>
            <a:pPr marL="0" indent="0">
              <a:buNone/>
            </a:pPr>
            <a:r>
              <a:rPr lang="en-US" dirty="0"/>
              <a:t>1. Positive Reinforcement:</a:t>
            </a:r>
          </a:p>
          <a:p>
            <a:pPr lvl="1"/>
            <a:r>
              <a:rPr lang="en-US" dirty="0"/>
              <a:t>Reward for correct actions.</a:t>
            </a:r>
          </a:p>
          <a:p>
            <a:pPr lvl="1"/>
            <a:r>
              <a:rPr lang="en-US" dirty="0"/>
              <a:t>Example: Training a robot to walk.</a:t>
            </a:r>
          </a:p>
          <a:p>
            <a:pPr marL="0" indent="0">
              <a:buNone/>
            </a:pPr>
            <a:r>
              <a:rPr lang="en-US" dirty="0"/>
              <a:t>2. Negative Reinforcement:</a:t>
            </a:r>
          </a:p>
          <a:p>
            <a:pPr lvl="1"/>
            <a:r>
              <a:rPr lang="en-US" dirty="0"/>
              <a:t>Penalty for incorrect actions.</a:t>
            </a:r>
          </a:p>
          <a:p>
            <a:pPr lvl="1"/>
            <a:r>
              <a:rPr lang="en-US" dirty="0"/>
              <a:t>Example: Learning to avoid obstacles in a maze.</a:t>
            </a:r>
          </a:p>
          <a:p>
            <a:endParaRPr lang="en-US" dirty="0"/>
          </a:p>
        </p:txBody>
      </p:sp>
      <p:sp>
        <p:nvSpPr>
          <p:cNvPr id="4" name="Footer Placeholder 3">
            <a:extLst>
              <a:ext uri="{FF2B5EF4-FFF2-40B4-BE49-F238E27FC236}">
                <a16:creationId xmlns:a16="http://schemas.microsoft.com/office/drawing/2014/main" id="{B41EC99B-CE97-EB88-C8B6-731512A9236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655507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8863F-96C5-EA73-2B56-59C82BE94259}"/>
              </a:ext>
            </a:extLst>
          </p:cNvPr>
          <p:cNvSpPr>
            <a:spLocks noGrp="1"/>
          </p:cNvSpPr>
          <p:nvPr>
            <p:ph type="title"/>
          </p:nvPr>
        </p:nvSpPr>
        <p:spPr/>
        <p:txBody>
          <a:bodyPr/>
          <a:lstStyle/>
          <a:p>
            <a:r>
              <a:rPr lang="en-US" dirty="0"/>
              <a:t>Comparison</a:t>
            </a:r>
          </a:p>
        </p:txBody>
      </p:sp>
      <p:graphicFrame>
        <p:nvGraphicFramePr>
          <p:cNvPr id="4" name="Table 3">
            <a:extLst>
              <a:ext uri="{FF2B5EF4-FFF2-40B4-BE49-F238E27FC236}">
                <a16:creationId xmlns:a16="http://schemas.microsoft.com/office/drawing/2014/main" id="{9840FCA0-83C9-A741-6A71-A6748D33B18B}"/>
              </a:ext>
            </a:extLst>
          </p:cNvPr>
          <p:cNvGraphicFramePr>
            <a:graphicFrameLocks noGrp="1"/>
          </p:cNvGraphicFramePr>
          <p:nvPr>
            <p:extLst>
              <p:ext uri="{D42A27DB-BD31-4B8C-83A1-F6EECF244321}">
                <p14:modId xmlns:p14="http://schemas.microsoft.com/office/powerpoint/2010/main" val="3505176516"/>
              </p:ext>
            </p:extLst>
          </p:nvPr>
        </p:nvGraphicFramePr>
        <p:xfrm>
          <a:off x="677334" y="1930400"/>
          <a:ext cx="8596668" cy="4087813"/>
        </p:xfrm>
        <a:graphic>
          <a:graphicData uri="http://schemas.openxmlformats.org/drawingml/2006/table">
            <a:tbl>
              <a:tblPr firstRow="1" bandRow="1">
                <a:tableStyleId>{5C22544A-7EE6-4342-B048-85BDC9FD1C3A}</a:tableStyleId>
              </a:tblPr>
              <a:tblGrid>
                <a:gridCol w="2149167">
                  <a:extLst>
                    <a:ext uri="{9D8B030D-6E8A-4147-A177-3AD203B41FA5}">
                      <a16:colId xmlns:a16="http://schemas.microsoft.com/office/drawing/2014/main" val="1646477994"/>
                    </a:ext>
                  </a:extLst>
                </a:gridCol>
                <a:gridCol w="2149167">
                  <a:extLst>
                    <a:ext uri="{9D8B030D-6E8A-4147-A177-3AD203B41FA5}">
                      <a16:colId xmlns:a16="http://schemas.microsoft.com/office/drawing/2014/main" val="2715062857"/>
                    </a:ext>
                  </a:extLst>
                </a:gridCol>
                <a:gridCol w="2149167">
                  <a:extLst>
                    <a:ext uri="{9D8B030D-6E8A-4147-A177-3AD203B41FA5}">
                      <a16:colId xmlns:a16="http://schemas.microsoft.com/office/drawing/2014/main" val="1393945501"/>
                    </a:ext>
                  </a:extLst>
                </a:gridCol>
                <a:gridCol w="2149167">
                  <a:extLst>
                    <a:ext uri="{9D8B030D-6E8A-4147-A177-3AD203B41FA5}">
                      <a16:colId xmlns:a16="http://schemas.microsoft.com/office/drawing/2014/main" val="2476983544"/>
                    </a:ext>
                  </a:extLst>
                </a:gridCol>
              </a:tblGrid>
              <a:tr h="891115">
                <a:tc>
                  <a:txBody>
                    <a:bodyPr/>
                    <a:lstStyle/>
                    <a:p>
                      <a:r>
                        <a:rPr lang="en-US" dirty="0"/>
                        <a:t>Feature </a:t>
                      </a:r>
                    </a:p>
                  </a:txBody>
                  <a:tcPr/>
                </a:tc>
                <a:tc>
                  <a:txBody>
                    <a:bodyPr/>
                    <a:lstStyle/>
                    <a:p>
                      <a:r>
                        <a:rPr lang="en-US" dirty="0"/>
                        <a:t>Supervised Learning</a:t>
                      </a:r>
                    </a:p>
                  </a:txBody>
                  <a:tcPr/>
                </a:tc>
                <a:tc>
                  <a:txBody>
                    <a:bodyPr/>
                    <a:lstStyle/>
                    <a:p>
                      <a:r>
                        <a:rPr lang="en-US" dirty="0"/>
                        <a:t>Unsupervised Learning </a:t>
                      </a:r>
                    </a:p>
                  </a:txBody>
                  <a:tcPr/>
                </a:tc>
                <a:tc>
                  <a:txBody>
                    <a:bodyPr/>
                    <a:lstStyle/>
                    <a:p>
                      <a:r>
                        <a:rPr lang="en-US" dirty="0"/>
                        <a:t>Reinforcement Learning</a:t>
                      </a:r>
                    </a:p>
                  </a:txBody>
                  <a:tcPr/>
                </a:tc>
                <a:extLst>
                  <a:ext uri="{0D108BD9-81ED-4DB2-BD59-A6C34878D82A}">
                    <a16:rowId xmlns:a16="http://schemas.microsoft.com/office/drawing/2014/main" val="4201503465"/>
                  </a:ext>
                </a:extLst>
              </a:tr>
              <a:tr h="516281">
                <a:tc>
                  <a:txBody>
                    <a:bodyPr/>
                    <a:lstStyle/>
                    <a:p>
                      <a:r>
                        <a:rPr lang="en-US" dirty="0"/>
                        <a:t>Data Type </a:t>
                      </a:r>
                    </a:p>
                  </a:txBody>
                  <a:tcPr/>
                </a:tc>
                <a:tc>
                  <a:txBody>
                    <a:bodyPr/>
                    <a:lstStyle/>
                    <a:p>
                      <a:r>
                        <a:rPr lang="en-US" dirty="0"/>
                        <a:t> Labeled </a:t>
                      </a:r>
                    </a:p>
                  </a:txBody>
                  <a:tcPr/>
                </a:tc>
                <a:tc>
                  <a:txBody>
                    <a:bodyPr/>
                    <a:lstStyle/>
                    <a:p>
                      <a:r>
                        <a:rPr lang="en-US" dirty="0"/>
                        <a:t> Unlabeled </a:t>
                      </a:r>
                    </a:p>
                  </a:txBody>
                  <a:tcPr/>
                </a:tc>
                <a:tc>
                  <a:txBody>
                    <a:bodyPr/>
                    <a:lstStyle/>
                    <a:p>
                      <a:r>
                        <a:rPr lang="en-US" dirty="0"/>
                        <a:t> Interactive </a:t>
                      </a:r>
                    </a:p>
                  </a:txBody>
                  <a:tcPr/>
                </a:tc>
                <a:extLst>
                  <a:ext uri="{0D108BD9-81ED-4DB2-BD59-A6C34878D82A}">
                    <a16:rowId xmlns:a16="http://schemas.microsoft.com/office/drawing/2014/main" val="4279692190"/>
                  </a:ext>
                </a:extLst>
              </a:tr>
              <a:tr h="516281">
                <a:tc>
                  <a:txBody>
                    <a:bodyPr/>
                    <a:lstStyle/>
                    <a:p>
                      <a:r>
                        <a:rPr lang="en-US" dirty="0"/>
                        <a:t>Goal</a:t>
                      </a:r>
                    </a:p>
                  </a:txBody>
                  <a:tcPr/>
                </a:tc>
                <a:tc>
                  <a:txBody>
                    <a:bodyPr/>
                    <a:lstStyle/>
                    <a:p>
                      <a:r>
                        <a:rPr lang="en-US" dirty="0"/>
                        <a:t>Predict output </a:t>
                      </a:r>
                    </a:p>
                  </a:txBody>
                  <a:tcPr/>
                </a:tc>
                <a:tc>
                  <a:txBody>
                    <a:bodyPr/>
                    <a:lstStyle/>
                    <a:p>
                      <a:r>
                        <a:rPr lang="en-US" dirty="0"/>
                        <a:t>Find patterns </a:t>
                      </a:r>
                    </a:p>
                  </a:txBody>
                  <a:tcPr/>
                </a:tc>
                <a:tc>
                  <a:txBody>
                    <a:bodyPr/>
                    <a:lstStyle/>
                    <a:p>
                      <a:r>
                        <a:rPr lang="en-US" dirty="0"/>
                        <a:t>Maximize rewards </a:t>
                      </a:r>
                    </a:p>
                  </a:txBody>
                  <a:tcPr/>
                </a:tc>
                <a:extLst>
                  <a:ext uri="{0D108BD9-81ED-4DB2-BD59-A6C34878D82A}">
                    <a16:rowId xmlns:a16="http://schemas.microsoft.com/office/drawing/2014/main" val="3501605791"/>
                  </a:ext>
                </a:extLst>
              </a:tr>
              <a:tr h="1273021">
                <a:tc>
                  <a:txBody>
                    <a:bodyPr/>
                    <a:lstStyle/>
                    <a:p>
                      <a:r>
                        <a:rPr lang="en-US" dirty="0"/>
                        <a:t>Applications </a:t>
                      </a:r>
                    </a:p>
                  </a:txBody>
                  <a:tcPr/>
                </a:tc>
                <a:tc>
                  <a:txBody>
                    <a:bodyPr/>
                    <a:lstStyle/>
                    <a:p>
                      <a:r>
                        <a:rPr lang="en-US" dirty="0"/>
                        <a:t>Image recognition, Spam </a:t>
                      </a:r>
                    </a:p>
                  </a:txBody>
                  <a:tcPr/>
                </a:tc>
                <a:tc>
                  <a:txBody>
                    <a:bodyPr/>
                    <a:lstStyle/>
                    <a:p>
                      <a:r>
                        <a:rPr lang="en-US" dirty="0"/>
                        <a:t>Customer segmentation</a:t>
                      </a:r>
                    </a:p>
                  </a:txBody>
                  <a:tcPr/>
                </a:tc>
                <a:tc>
                  <a:txBody>
                    <a:bodyPr/>
                    <a:lstStyle/>
                    <a:p>
                      <a:r>
                        <a:rPr lang="en-US" dirty="0"/>
                        <a:t>Game playing, Robotics</a:t>
                      </a:r>
                    </a:p>
                  </a:txBody>
                  <a:tcPr/>
                </a:tc>
                <a:extLst>
                  <a:ext uri="{0D108BD9-81ED-4DB2-BD59-A6C34878D82A}">
                    <a16:rowId xmlns:a16="http://schemas.microsoft.com/office/drawing/2014/main" val="3921116383"/>
                  </a:ext>
                </a:extLst>
              </a:tr>
              <a:tr h="891115">
                <a:tc>
                  <a:txBody>
                    <a:bodyPr/>
                    <a:lstStyle/>
                    <a:p>
                      <a:r>
                        <a:rPr lang="en-US" dirty="0"/>
                        <a:t>Algorithms Examples </a:t>
                      </a:r>
                    </a:p>
                  </a:txBody>
                  <a:tcPr/>
                </a:tc>
                <a:tc>
                  <a:txBody>
                    <a:bodyPr/>
                    <a:lstStyle/>
                    <a:p>
                      <a:r>
                        <a:rPr lang="en-US" dirty="0"/>
                        <a:t>SVM, Decision Trees </a:t>
                      </a:r>
                    </a:p>
                  </a:txBody>
                  <a:tcPr/>
                </a:tc>
                <a:tc>
                  <a:txBody>
                    <a:bodyPr/>
                    <a:lstStyle/>
                    <a:p>
                      <a:r>
                        <a:rPr lang="en-US" dirty="0"/>
                        <a:t>K-Means, PCA </a:t>
                      </a:r>
                    </a:p>
                  </a:txBody>
                  <a:tcPr/>
                </a:tc>
                <a:tc>
                  <a:txBody>
                    <a:bodyPr/>
                    <a:lstStyle/>
                    <a:p>
                      <a:r>
                        <a:rPr lang="en-US" dirty="0"/>
                        <a:t>Q-Learning, Deep Q-Networks</a:t>
                      </a:r>
                    </a:p>
                  </a:txBody>
                  <a:tcPr/>
                </a:tc>
                <a:extLst>
                  <a:ext uri="{0D108BD9-81ED-4DB2-BD59-A6C34878D82A}">
                    <a16:rowId xmlns:a16="http://schemas.microsoft.com/office/drawing/2014/main" val="542539543"/>
                  </a:ext>
                </a:extLst>
              </a:tr>
            </a:tbl>
          </a:graphicData>
        </a:graphic>
      </p:graphicFrame>
      <p:sp>
        <p:nvSpPr>
          <p:cNvPr id="3" name="Footer Placeholder 2">
            <a:extLst>
              <a:ext uri="{FF2B5EF4-FFF2-40B4-BE49-F238E27FC236}">
                <a16:creationId xmlns:a16="http://schemas.microsoft.com/office/drawing/2014/main" id="{E7D97FD3-07D9-57A4-E9AD-0124BC24B6C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31972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04C51-7B6B-4049-717C-5FFAABA1D268}"/>
              </a:ext>
            </a:extLst>
          </p:cNvPr>
          <p:cNvSpPr>
            <a:spLocks noGrp="1"/>
          </p:cNvSpPr>
          <p:nvPr>
            <p:ph type="title"/>
          </p:nvPr>
        </p:nvSpPr>
        <p:spPr/>
        <p:txBody>
          <a:bodyPr/>
          <a:lstStyle/>
          <a:p>
            <a:r>
              <a:rPr lang="en-US" dirty="0"/>
              <a:t>Boltzmann Machines</a:t>
            </a:r>
          </a:p>
        </p:txBody>
      </p:sp>
      <p:sp>
        <p:nvSpPr>
          <p:cNvPr id="3" name="Content Placeholder 2">
            <a:extLst>
              <a:ext uri="{FF2B5EF4-FFF2-40B4-BE49-F238E27FC236}">
                <a16:creationId xmlns:a16="http://schemas.microsoft.com/office/drawing/2014/main" id="{D99C18FC-53FB-8009-AA54-915C755F4B72}"/>
              </a:ext>
            </a:extLst>
          </p:cNvPr>
          <p:cNvSpPr>
            <a:spLocks noGrp="1"/>
          </p:cNvSpPr>
          <p:nvPr>
            <p:ph idx="1"/>
          </p:nvPr>
        </p:nvSpPr>
        <p:spPr/>
        <p:txBody>
          <a:bodyPr>
            <a:normAutofit fontScale="92500" lnSpcReduction="20000"/>
          </a:bodyPr>
          <a:lstStyle/>
          <a:p>
            <a:pPr marL="0" indent="0">
              <a:buNone/>
            </a:pPr>
            <a:r>
              <a:rPr lang="en-US" dirty="0"/>
              <a:t>It is unsupervised Deep Learning model, Invented by Geoffrey Hinton and Terry Sejnowski (1985). A type of stochastic recurrent neural network. Inspired by statistical mechanics.</a:t>
            </a:r>
          </a:p>
          <a:p>
            <a:pPr marL="0" indent="0">
              <a:buNone/>
            </a:pPr>
            <a:r>
              <a:rPr lang="en-US" b="1" dirty="0"/>
              <a:t>Key Concepts</a:t>
            </a:r>
            <a:endParaRPr lang="en-US" dirty="0"/>
          </a:p>
          <a:p>
            <a:pPr lvl="1"/>
            <a:r>
              <a:rPr lang="en-US" dirty="0"/>
              <a:t>Composed of visible and hidden units.</a:t>
            </a:r>
          </a:p>
          <a:p>
            <a:pPr lvl="1"/>
            <a:r>
              <a:rPr lang="en-US" dirty="0"/>
              <a:t>Units are binary-valued and symmetrically connected.</a:t>
            </a:r>
          </a:p>
          <a:p>
            <a:pPr lvl="1"/>
            <a:r>
              <a:rPr lang="en-US" dirty="0"/>
              <a:t>Learning involves adjusting weights to minimize energy.</a:t>
            </a:r>
          </a:p>
          <a:p>
            <a:pPr marL="0" indent="0">
              <a:buNone/>
            </a:pPr>
            <a:r>
              <a:rPr lang="en-US" b="1" dirty="0"/>
              <a:t>Two types of nodes:</a:t>
            </a:r>
          </a:p>
          <a:p>
            <a:pPr lvl="1"/>
            <a:r>
              <a:rPr lang="en-US" b="1" dirty="0"/>
              <a:t>Visible nodes</a:t>
            </a:r>
            <a:r>
              <a:rPr lang="en-US" dirty="0"/>
              <a:t> — those nodes which we can and do measure</a:t>
            </a:r>
          </a:p>
          <a:p>
            <a:pPr lvl="1"/>
            <a:r>
              <a:rPr lang="en-US" b="1" dirty="0"/>
              <a:t>Hidden nodes</a:t>
            </a:r>
            <a:r>
              <a:rPr lang="en-US" dirty="0"/>
              <a:t> - those nodes which we cannot or do not measure.</a:t>
            </a:r>
          </a:p>
          <a:p>
            <a:pPr marL="457200" lvl="1" indent="0">
              <a:buNone/>
            </a:pPr>
            <a:r>
              <a:rPr lang="en-US" sz="1800" dirty="0"/>
              <a:t>The training data is fed into the Boltzmann Machine and the weights of the system are adjusted accordingly. Boltzmann machines help us understand abnormalities by learning about the working of the system in normal conditions.</a:t>
            </a:r>
          </a:p>
        </p:txBody>
      </p:sp>
      <p:sp>
        <p:nvSpPr>
          <p:cNvPr id="4" name="Footer Placeholder 3">
            <a:extLst>
              <a:ext uri="{FF2B5EF4-FFF2-40B4-BE49-F238E27FC236}">
                <a16:creationId xmlns:a16="http://schemas.microsoft.com/office/drawing/2014/main" id="{B0E5E84C-5D2D-3CEA-291A-DDE6D0E9EF9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72931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66804B7-B82D-B5CA-152B-DEC17C9751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0988" y="2160588"/>
            <a:ext cx="3890062" cy="3881437"/>
          </a:xfrm>
        </p:spPr>
      </p:pic>
      <p:sp>
        <p:nvSpPr>
          <p:cNvPr id="4" name="Footer Placeholder 3">
            <a:extLst>
              <a:ext uri="{FF2B5EF4-FFF2-40B4-BE49-F238E27FC236}">
                <a16:creationId xmlns:a16="http://schemas.microsoft.com/office/drawing/2014/main" id="{2EA00586-E312-A3B9-67F0-2F292AABDEFA}"/>
              </a:ext>
            </a:extLst>
          </p:cNvPr>
          <p:cNvSpPr>
            <a:spLocks noGrp="1"/>
          </p:cNvSpPr>
          <p:nvPr>
            <p:ph type="ftr" sz="quarter" idx="11"/>
          </p:nvPr>
        </p:nvSpPr>
        <p:spPr/>
        <p:txBody>
          <a:bodyPr/>
          <a:lstStyle/>
          <a:p>
            <a:r>
              <a:rPr lang="nb-NO"/>
              <a:t>kapil@nast.edu.np || kapilpant157</a:t>
            </a:r>
            <a:endParaRPr lang="en-US"/>
          </a:p>
        </p:txBody>
      </p:sp>
      <p:sp>
        <p:nvSpPr>
          <p:cNvPr id="7" name="TextBox 6">
            <a:extLst>
              <a:ext uri="{FF2B5EF4-FFF2-40B4-BE49-F238E27FC236}">
                <a16:creationId xmlns:a16="http://schemas.microsoft.com/office/drawing/2014/main" id="{269E1241-18F7-D30E-5E8E-22A882A057BA}"/>
              </a:ext>
            </a:extLst>
          </p:cNvPr>
          <p:cNvSpPr txBox="1"/>
          <p:nvPr/>
        </p:nvSpPr>
        <p:spPr>
          <a:xfrm>
            <a:off x="1628078" y="1137424"/>
            <a:ext cx="10238765" cy="646331"/>
          </a:xfrm>
          <a:prstGeom prst="rect">
            <a:avLst/>
          </a:prstGeom>
          <a:noFill/>
        </p:spPr>
        <p:txBody>
          <a:bodyPr wrap="none" rtlCol="0">
            <a:spAutoFit/>
          </a:bodyPr>
          <a:lstStyle/>
          <a:p>
            <a:r>
              <a:rPr lang="en-US" dirty="0"/>
              <a:t>A Hopfield net that consists of Binary Stochastic Neuron with hidden units is Boltzmann machine.</a:t>
            </a:r>
          </a:p>
          <a:p>
            <a:r>
              <a:rPr lang="en-US" dirty="0"/>
              <a:t>These connected neurons make stochastic decisions about whether being on </a:t>
            </a:r>
            <a:r>
              <a:rPr lang="en-US"/>
              <a:t>or off.</a:t>
            </a:r>
            <a:endParaRPr lang="en-US" dirty="0"/>
          </a:p>
        </p:txBody>
      </p:sp>
    </p:spTree>
    <p:extLst>
      <p:ext uri="{BB962C8B-B14F-4D97-AF65-F5344CB8AC3E}">
        <p14:creationId xmlns:p14="http://schemas.microsoft.com/office/powerpoint/2010/main" val="1160767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68810-53A8-0E42-085C-27711D0CC4D1}"/>
              </a:ext>
            </a:extLst>
          </p:cNvPr>
          <p:cNvSpPr>
            <a:spLocks noGrp="1"/>
          </p:cNvSpPr>
          <p:nvPr>
            <p:ph type="title"/>
          </p:nvPr>
        </p:nvSpPr>
        <p:spPr/>
        <p:txBody>
          <a:bodyPr/>
          <a:lstStyle/>
          <a:p>
            <a:r>
              <a:rPr lang="en-US" dirty="0"/>
              <a:t>Deep Learning</a:t>
            </a:r>
          </a:p>
        </p:txBody>
      </p:sp>
      <p:sp>
        <p:nvSpPr>
          <p:cNvPr id="3" name="Content Placeholder 2">
            <a:extLst>
              <a:ext uri="{FF2B5EF4-FFF2-40B4-BE49-F238E27FC236}">
                <a16:creationId xmlns:a16="http://schemas.microsoft.com/office/drawing/2014/main" id="{BA65160B-4DEE-8F4A-212B-296582F1F3C7}"/>
              </a:ext>
            </a:extLst>
          </p:cNvPr>
          <p:cNvSpPr>
            <a:spLocks noGrp="1"/>
          </p:cNvSpPr>
          <p:nvPr>
            <p:ph idx="1"/>
          </p:nvPr>
        </p:nvSpPr>
        <p:spPr/>
        <p:txBody>
          <a:bodyPr>
            <a:normAutofit fontScale="92500" lnSpcReduction="20000"/>
          </a:bodyPr>
          <a:lstStyle/>
          <a:p>
            <a:pPr marL="0" indent="0">
              <a:buNone/>
            </a:pPr>
            <a:r>
              <a:rPr lang="en-US" dirty="0"/>
              <a:t>A subset of machine learning using neural networks with many layers. Learns hierarchical representations from data. Enables breakthroughs in image, speech, and language processing.</a:t>
            </a:r>
          </a:p>
          <a:p>
            <a:pPr marL="0" indent="0">
              <a:buNone/>
            </a:pPr>
            <a:r>
              <a:rPr lang="en-US" b="1" dirty="0"/>
              <a:t>Deep Neural Networks (DNNs)</a:t>
            </a:r>
            <a:endParaRPr lang="en-US" dirty="0"/>
          </a:p>
          <a:p>
            <a:pPr lvl="1"/>
            <a:r>
              <a:rPr lang="en-US" dirty="0"/>
              <a:t>Neural networks with multiple hidden layers.</a:t>
            </a:r>
          </a:p>
          <a:p>
            <a:pPr lvl="1"/>
            <a:r>
              <a:rPr lang="en-US" dirty="0"/>
              <a:t>Greater depth = more abstract features.</a:t>
            </a:r>
          </a:p>
          <a:p>
            <a:pPr lvl="1"/>
            <a:r>
              <a:rPr lang="en-US" dirty="0"/>
              <a:t>Require large datasets and computational power.</a:t>
            </a:r>
          </a:p>
          <a:p>
            <a:pPr marL="0" indent="0">
              <a:buNone/>
            </a:pPr>
            <a:r>
              <a:rPr lang="en-US" b="1" dirty="0"/>
              <a:t>Key Architectures</a:t>
            </a:r>
            <a:endParaRPr lang="en-US" dirty="0"/>
          </a:p>
          <a:p>
            <a:pPr lvl="1"/>
            <a:r>
              <a:rPr lang="en-US" b="1" dirty="0"/>
              <a:t>Convolutional Neural Networks (CNNs)</a:t>
            </a:r>
            <a:r>
              <a:rPr lang="en-US" dirty="0"/>
              <a:t>: Used for image data.</a:t>
            </a:r>
          </a:p>
          <a:p>
            <a:pPr lvl="1"/>
            <a:r>
              <a:rPr lang="en-US" b="1" dirty="0"/>
              <a:t>Recurrent Neural Networks (RNNs)</a:t>
            </a:r>
            <a:r>
              <a:rPr lang="en-US" dirty="0"/>
              <a:t>: Used for sequential data.</a:t>
            </a:r>
          </a:p>
          <a:p>
            <a:pPr lvl="1"/>
            <a:r>
              <a:rPr lang="en-US" b="1" dirty="0"/>
              <a:t>Generative Adversarial Networks (GANs): </a:t>
            </a:r>
            <a:r>
              <a:rPr lang="en-US" dirty="0"/>
              <a:t>two networks—a generator and a discriminator—that compete to create realistic data ( image generation)</a:t>
            </a:r>
          </a:p>
          <a:p>
            <a:pPr lvl="1"/>
            <a:r>
              <a:rPr lang="en-US" b="1" dirty="0"/>
              <a:t>Transformers</a:t>
            </a:r>
            <a:r>
              <a:rPr lang="en-US" dirty="0"/>
              <a:t>: Modern architecture for NLP and more. Used in chat </a:t>
            </a:r>
            <a:r>
              <a:rPr lang="en-US" dirty="0" err="1"/>
              <a:t>gpt</a:t>
            </a:r>
            <a:r>
              <a:rPr lang="en-US" dirty="0"/>
              <a:t> and others</a:t>
            </a:r>
          </a:p>
          <a:p>
            <a:pPr marL="0" indent="0">
              <a:buNone/>
            </a:pPr>
            <a:endParaRPr lang="en-US" dirty="0"/>
          </a:p>
        </p:txBody>
      </p:sp>
      <p:sp>
        <p:nvSpPr>
          <p:cNvPr id="4" name="Footer Placeholder 3">
            <a:extLst>
              <a:ext uri="{FF2B5EF4-FFF2-40B4-BE49-F238E27FC236}">
                <a16:creationId xmlns:a16="http://schemas.microsoft.com/office/drawing/2014/main" id="{4971DAAF-EA76-77B6-C3FB-645E1E63844A}"/>
              </a:ext>
            </a:extLst>
          </p:cNvPr>
          <p:cNvSpPr>
            <a:spLocks noGrp="1"/>
          </p:cNvSpPr>
          <p:nvPr>
            <p:ph type="ftr" sz="quarter" idx="11"/>
          </p:nvPr>
        </p:nvSpPr>
        <p:spPr/>
        <p:txBody>
          <a:bodyPr/>
          <a:lstStyle/>
          <a:p>
            <a:r>
              <a:rPr lang="nb-NO"/>
              <a:t>kapil@nast.edu.np || kapilpant157</a:t>
            </a:r>
            <a:endParaRPr lang="en-US"/>
          </a:p>
        </p:txBody>
      </p:sp>
      <p:sp>
        <p:nvSpPr>
          <p:cNvPr id="5" name="AutoShape 2">
            <a:extLst>
              <a:ext uri="{FF2B5EF4-FFF2-40B4-BE49-F238E27FC236}">
                <a16:creationId xmlns:a16="http://schemas.microsoft.com/office/drawing/2014/main" id="{4B58D311-9172-D8D4-2D28-8182EA03025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12202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9C287-02FA-8EC7-93D3-623096A622D3}"/>
              </a:ext>
            </a:extLst>
          </p:cNvPr>
          <p:cNvSpPr>
            <a:spLocks noGrp="1"/>
          </p:cNvSpPr>
          <p:nvPr>
            <p:ph type="title"/>
          </p:nvPr>
        </p:nvSpPr>
        <p:spPr/>
        <p:txBody>
          <a:bodyPr/>
          <a:lstStyle/>
          <a:p>
            <a:r>
              <a:rPr lang="en-US" dirty="0"/>
              <a:t>ML vs DL</a:t>
            </a:r>
          </a:p>
        </p:txBody>
      </p:sp>
      <p:sp>
        <p:nvSpPr>
          <p:cNvPr id="4" name="Footer Placeholder 3">
            <a:extLst>
              <a:ext uri="{FF2B5EF4-FFF2-40B4-BE49-F238E27FC236}">
                <a16:creationId xmlns:a16="http://schemas.microsoft.com/office/drawing/2014/main" id="{644B9207-909B-413A-FE6F-A96A356591ED}"/>
              </a:ext>
            </a:extLst>
          </p:cNvPr>
          <p:cNvSpPr>
            <a:spLocks noGrp="1"/>
          </p:cNvSpPr>
          <p:nvPr>
            <p:ph type="ftr" sz="quarter" idx="11"/>
          </p:nvPr>
        </p:nvSpPr>
        <p:spPr/>
        <p:txBody>
          <a:bodyPr/>
          <a:lstStyle/>
          <a:p>
            <a:r>
              <a:rPr lang="nb-NO"/>
              <a:t>kapil@nast.edu.np || kapilpant157</a:t>
            </a:r>
            <a:endParaRPr lang="en-US"/>
          </a:p>
        </p:txBody>
      </p:sp>
      <p:pic>
        <p:nvPicPr>
          <p:cNvPr id="5" name="Content Placeholder 4">
            <a:extLst>
              <a:ext uri="{FF2B5EF4-FFF2-40B4-BE49-F238E27FC236}">
                <a16:creationId xmlns:a16="http://schemas.microsoft.com/office/drawing/2014/main" id="{958D11EF-42EF-6FFF-04F1-4270CE920F3B}"/>
              </a:ext>
            </a:extLst>
          </p:cNvPr>
          <p:cNvPicPr>
            <a:picLocks noGrp="1" noChangeAspect="1"/>
          </p:cNvPicPr>
          <p:nvPr>
            <p:ph idx="1"/>
          </p:nvPr>
        </p:nvPicPr>
        <p:blipFill>
          <a:blip r:embed="rId2"/>
          <a:stretch>
            <a:fillRect/>
          </a:stretch>
        </p:blipFill>
        <p:spPr>
          <a:xfrm>
            <a:off x="1031058" y="1930400"/>
            <a:ext cx="8359338" cy="4110962"/>
          </a:xfrm>
          <a:prstGeom prst="rect">
            <a:avLst/>
          </a:prstGeom>
        </p:spPr>
      </p:pic>
    </p:spTree>
    <p:extLst>
      <p:ext uri="{BB962C8B-B14F-4D97-AF65-F5344CB8AC3E}">
        <p14:creationId xmlns:p14="http://schemas.microsoft.com/office/powerpoint/2010/main" val="2150321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ECF8-B968-09D0-8DE0-DE338035CEA5}"/>
              </a:ext>
            </a:extLst>
          </p:cNvPr>
          <p:cNvSpPr>
            <a:spLocks noGrp="1"/>
          </p:cNvSpPr>
          <p:nvPr>
            <p:ph type="title"/>
          </p:nvPr>
        </p:nvSpPr>
        <p:spPr/>
        <p:txBody>
          <a:bodyPr/>
          <a:lstStyle/>
          <a:p>
            <a:r>
              <a:rPr lang="en-US" dirty="0"/>
              <a:t>Application, Challenges and Recent Advancements</a:t>
            </a:r>
          </a:p>
        </p:txBody>
      </p:sp>
      <p:sp>
        <p:nvSpPr>
          <p:cNvPr id="3" name="Content Placeholder 2">
            <a:extLst>
              <a:ext uri="{FF2B5EF4-FFF2-40B4-BE49-F238E27FC236}">
                <a16:creationId xmlns:a16="http://schemas.microsoft.com/office/drawing/2014/main" id="{916494D2-553D-3E2C-42A7-55C5629B8590}"/>
              </a:ext>
            </a:extLst>
          </p:cNvPr>
          <p:cNvSpPr>
            <a:spLocks noGrp="1"/>
          </p:cNvSpPr>
          <p:nvPr>
            <p:ph idx="1"/>
          </p:nvPr>
        </p:nvSpPr>
        <p:spPr>
          <a:xfrm>
            <a:off x="677334" y="2160589"/>
            <a:ext cx="5418666" cy="4087811"/>
          </a:xfrm>
        </p:spPr>
        <p:txBody>
          <a:bodyPr>
            <a:normAutofit lnSpcReduction="10000"/>
          </a:bodyPr>
          <a:lstStyle/>
          <a:p>
            <a:pPr marL="0" indent="0">
              <a:buNone/>
            </a:pPr>
            <a:r>
              <a:rPr lang="en-US" b="1" dirty="0"/>
              <a:t>Applications of Deep Learning</a:t>
            </a:r>
            <a:endParaRPr lang="en-US" dirty="0"/>
          </a:p>
          <a:p>
            <a:pPr lvl="1"/>
            <a:r>
              <a:rPr lang="en-US" dirty="0"/>
              <a:t>Computer vision (object detection, facial recognition)</a:t>
            </a:r>
          </a:p>
          <a:p>
            <a:pPr lvl="1"/>
            <a:r>
              <a:rPr lang="en-US" dirty="0"/>
              <a:t>Natural language processing (translation, summarization)</a:t>
            </a:r>
          </a:p>
          <a:p>
            <a:pPr lvl="1"/>
            <a:r>
              <a:rPr lang="en-US" dirty="0"/>
              <a:t>Speech recognition</a:t>
            </a:r>
          </a:p>
          <a:p>
            <a:pPr lvl="1"/>
            <a:r>
              <a:rPr lang="en-US" dirty="0"/>
              <a:t>Medical diagnosis</a:t>
            </a:r>
          </a:p>
          <a:p>
            <a:pPr marL="0" indent="0">
              <a:buNone/>
            </a:pPr>
            <a:r>
              <a:rPr lang="en-US" b="1" dirty="0"/>
              <a:t>Recent Advancements</a:t>
            </a:r>
            <a:endParaRPr lang="en-US" dirty="0"/>
          </a:p>
          <a:p>
            <a:pPr lvl="1"/>
            <a:r>
              <a:rPr lang="en-US" dirty="0"/>
              <a:t>GPT models for language generation.</a:t>
            </a:r>
          </a:p>
          <a:p>
            <a:pPr lvl="1"/>
            <a:r>
              <a:rPr lang="en-US" dirty="0"/>
              <a:t>AlphaFold for protein folding.</a:t>
            </a:r>
          </a:p>
          <a:p>
            <a:pPr lvl="1"/>
            <a:r>
              <a:rPr lang="en-US" dirty="0"/>
              <a:t>Generative Adversarial Networks (GANs).</a:t>
            </a:r>
          </a:p>
          <a:p>
            <a:pPr lvl="1"/>
            <a:r>
              <a:rPr lang="en-US" dirty="0"/>
              <a:t>Self-supervised and foundation models.</a:t>
            </a:r>
          </a:p>
          <a:p>
            <a:endParaRPr lang="en-US" dirty="0"/>
          </a:p>
        </p:txBody>
      </p:sp>
      <p:sp>
        <p:nvSpPr>
          <p:cNvPr id="4" name="Footer Placeholder 3">
            <a:extLst>
              <a:ext uri="{FF2B5EF4-FFF2-40B4-BE49-F238E27FC236}">
                <a16:creationId xmlns:a16="http://schemas.microsoft.com/office/drawing/2014/main" id="{92439508-002F-0477-9D87-86807AE78EDD}"/>
              </a:ext>
            </a:extLst>
          </p:cNvPr>
          <p:cNvSpPr>
            <a:spLocks noGrp="1"/>
          </p:cNvSpPr>
          <p:nvPr>
            <p:ph type="ftr" sz="quarter" idx="11"/>
          </p:nvPr>
        </p:nvSpPr>
        <p:spPr/>
        <p:txBody>
          <a:bodyPr/>
          <a:lstStyle/>
          <a:p>
            <a:r>
              <a:rPr lang="nb-NO"/>
              <a:t>kapil@nast.edu.np || kapilpant157</a:t>
            </a:r>
            <a:endParaRPr lang="en-US"/>
          </a:p>
        </p:txBody>
      </p:sp>
      <p:sp>
        <p:nvSpPr>
          <p:cNvPr id="5" name="Content Placeholder 2">
            <a:extLst>
              <a:ext uri="{FF2B5EF4-FFF2-40B4-BE49-F238E27FC236}">
                <a16:creationId xmlns:a16="http://schemas.microsoft.com/office/drawing/2014/main" id="{0DE81B8A-8D3D-7335-C2BF-E75F4E04F198}"/>
              </a:ext>
            </a:extLst>
          </p:cNvPr>
          <p:cNvSpPr txBox="1">
            <a:spLocks/>
          </p:cNvSpPr>
          <p:nvPr/>
        </p:nvSpPr>
        <p:spPr>
          <a:xfrm>
            <a:off x="6096000" y="2160588"/>
            <a:ext cx="4727423"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b="1" dirty="0"/>
              <a:t>Challenges in Deep Learning</a:t>
            </a:r>
            <a:endParaRPr lang="en-US" dirty="0"/>
          </a:p>
          <a:p>
            <a:pPr lvl="1"/>
            <a:r>
              <a:rPr lang="en-US" dirty="0"/>
              <a:t>Requires large labeled datasets.</a:t>
            </a:r>
          </a:p>
          <a:p>
            <a:pPr lvl="1"/>
            <a:r>
              <a:rPr lang="en-US" dirty="0"/>
              <a:t>Prone to overfitting.</a:t>
            </a:r>
          </a:p>
          <a:p>
            <a:pPr lvl="1"/>
            <a:r>
              <a:rPr lang="en-US" dirty="0"/>
              <a:t>High computational cost.</a:t>
            </a:r>
          </a:p>
          <a:p>
            <a:pPr lvl="1"/>
            <a:r>
              <a:rPr lang="en-US" dirty="0"/>
              <a:t>Interpretability of models.</a:t>
            </a:r>
          </a:p>
          <a:p>
            <a:endParaRPr lang="en-US" dirty="0"/>
          </a:p>
        </p:txBody>
      </p:sp>
    </p:spTree>
    <p:extLst>
      <p:ext uri="{BB962C8B-B14F-4D97-AF65-F5344CB8AC3E}">
        <p14:creationId xmlns:p14="http://schemas.microsoft.com/office/powerpoint/2010/main" val="1133412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Artificial Neural Network (ANN)</a:t>
            </a:r>
          </a:p>
        </p:txBody>
      </p:sp>
      <p:sp>
        <p:nvSpPr>
          <p:cNvPr id="3" name="Content Placeholder 2"/>
          <p:cNvSpPr>
            <a:spLocks noGrp="1"/>
          </p:cNvSpPr>
          <p:nvPr>
            <p:ph idx="1"/>
          </p:nvPr>
        </p:nvSpPr>
        <p:spPr/>
        <p:txBody>
          <a:bodyPr/>
          <a:lstStyle/>
          <a:p>
            <a:r>
              <a:rPr lang="en-US" dirty="0"/>
              <a:t>ANN is a computational model inspired by the human brain, consisting of interconnected processing units called neurons.</a:t>
            </a:r>
          </a:p>
          <a:p>
            <a:r>
              <a:rPr lang="en-US" dirty="0"/>
              <a:t>ANNs are used to </a:t>
            </a:r>
            <a:r>
              <a:rPr lang="en-US" b="1" dirty="0"/>
              <a:t>learn patterns</a:t>
            </a:r>
            <a:r>
              <a:rPr lang="en-US" dirty="0"/>
              <a:t>, </a:t>
            </a:r>
            <a:r>
              <a:rPr lang="en-US" b="1" dirty="0"/>
              <a:t>recognize data</a:t>
            </a:r>
            <a:r>
              <a:rPr lang="en-US" dirty="0"/>
              <a:t>, and </a:t>
            </a:r>
            <a:r>
              <a:rPr lang="en-US" b="1" dirty="0"/>
              <a:t>make decisions</a:t>
            </a:r>
            <a:r>
              <a:rPr lang="en-US" dirty="0"/>
              <a:t> from examples rather than explicit programming.</a:t>
            </a:r>
          </a:p>
          <a:p>
            <a:r>
              <a:rPr lang="en-US" b="1" dirty="0"/>
              <a:t>Applications:</a:t>
            </a:r>
          </a:p>
          <a:p>
            <a:pPr lvl="1"/>
            <a:r>
              <a:rPr lang="en-US" dirty="0"/>
              <a:t>Image recognition</a:t>
            </a:r>
          </a:p>
          <a:p>
            <a:pPr lvl="1"/>
            <a:r>
              <a:rPr lang="en-US" dirty="0"/>
              <a:t>speech recognition</a:t>
            </a:r>
          </a:p>
          <a:p>
            <a:pPr lvl="1"/>
            <a:r>
              <a:rPr lang="en-US" dirty="0"/>
              <a:t>medical diagnosis</a:t>
            </a:r>
          </a:p>
          <a:p>
            <a:pPr lvl="1"/>
            <a:r>
              <a:rPr lang="en-US" dirty="0"/>
              <a:t>recommendation systems</a:t>
            </a:r>
          </a:p>
          <a:p>
            <a:pPr lvl="1"/>
            <a:r>
              <a:rPr lang="en-US" dirty="0"/>
              <a:t>fraud detection </a:t>
            </a:r>
            <a:r>
              <a:rPr lang="en-US" dirty="0" err="1"/>
              <a:t>etc</a:t>
            </a:r>
            <a:endParaRPr dirty="0"/>
          </a:p>
        </p:txBody>
      </p:sp>
      <p:sp>
        <p:nvSpPr>
          <p:cNvPr id="4" name="Footer Placeholder 3">
            <a:extLst>
              <a:ext uri="{FF2B5EF4-FFF2-40B4-BE49-F238E27FC236}">
                <a16:creationId xmlns:a16="http://schemas.microsoft.com/office/drawing/2014/main" id="{327012B2-ABBA-D5FF-DCDC-8E06EB18ED0F}"/>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C7E3AF-8622-A4C6-A957-E29BF6D7C3DB}"/>
              </a:ext>
            </a:extLst>
          </p:cNvPr>
          <p:cNvPicPr>
            <a:picLocks noChangeAspect="1"/>
          </p:cNvPicPr>
          <p:nvPr/>
        </p:nvPicPr>
        <p:blipFill>
          <a:blip r:embed="rId3"/>
          <a:stretch>
            <a:fillRect/>
          </a:stretch>
        </p:blipFill>
        <p:spPr>
          <a:xfrm>
            <a:off x="677334" y="4336958"/>
            <a:ext cx="4161750" cy="2229903"/>
          </a:xfrm>
          <a:prstGeom prst="rect">
            <a:avLst/>
          </a:prstGeom>
        </p:spPr>
      </p:pic>
      <p:grpSp>
        <p:nvGrpSpPr>
          <p:cNvPr id="16" name="Group 15">
            <a:extLst>
              <a:ext uri="{FF2B5EF4-FFF2-40B4-BE49-F238E27FC236}">
                <a16:creationId xmlns:a16="http://schemas.microsoft.com/office/drawing/2014/main" id="{71904231-3213-BE69-46ED-0DCE43A16824}"/>
              </a:ext>
            </a:extLst>
          </p:cNvPr>
          <p:cNvGrpSpPr/>
          <p:nvPr/>
        </p:nvGrpSpPr>
        <p:grpSpPr>
          <a:xfrm>
            <a:off x="5484941" y="3864205"/>
            <a:ext cx="5670500" cy="3025971"/>
            <a:chOff x="4331814" y="2877480"/>
            <a:chExt cx="7212128" cy="3848637"/>
          </a:xfrm>
        </p:grpSpPr>
        <p:pic>
          <p:nvPicPr>
            <p:cNvPr id="8" name="Picture 7">
              <a:extLst>
                <a:ext uri="{FF2B5EF4-FFF2-40B4-BE49-F238E27FC236}">
                  <a16:creationId xmlns:a16="http://schemas.microsoft.com/office/drawing/2014/main" id="{2034049F-D321-6DD6-3918-07667BAF77A6}"/>
                </a:ext>
              </a:extLst>
            </p:cNvPr>
            <p:cNvPicPr>
              <a:picLocks noChangeAspect="1"/>
            </p:cNvPicPr>
            <p:nvPr/>
          </p:nvPicPr>
          <p:blipFill>
            <a:blip r:embed="rId3"/>
            <a:stretch>
              <a:fillRect/>
            </a:stretch>
          </p:blipFill>
          <p:spPr>
            <a:xfrm>
              <a:off x="4331814" y="2877480"/>
              <a:ext cx="7182852" cy="3848637"/>
            </a:xfrm>
            <a:prstGeom prst="rect">
              <a:avLst/>
            </a:prstGeom>
          </p:spPr>
        </p:pic>
        <p:sp>
          <p:nvSpPr>
            <p:cNvPr id="15" name="Rectangle 14">
              <a:extLst>
                <a:ext uri="{FF2B5EF4-FFF2-40B4-BE49-F238E27FC236}">
                  <a16:creationId xmlns:a16="http://schemas.microsoft.com/office/drawing/2014/main" id="{B3FA802B-A027-DAF4-BDA4-4647D806A8E7}"/>
                </a:ext>
              </a:extLst>
            </p:cNvPr>
            <p:cNvSpPr/>
            <p:nvPr/>
          </p:nvSpPr>
          <p:spPr>
            <a:xfrm>
              <a:off x="4361090" y="2877480"/>
              <a:ext cx="7182852" cy="377781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9" name="Content Placeholder 9">
              <a:extLst>
                <a:ext uri="{FF2B5EF4-FFF2-40B4-BE49-F238E27FC236}">
                  <a16:creationId xmlns:a16="http://schemas.microsoft.com/office/drawing/2014/main" id="{2C2D3060-C2CD-492A-58AC-4B8BE8E60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0565" y="3291039"/>
              <a:ext cx="5924861" cy="2906885"/>
            </a:xfrm>
            <a:prstGeom prst="rect">
              <a:avLst/>
            </a:prstGeom>
          </p:spPr>
        </p:pic>
      </p:grpSp>
      <p:sp>
        <p:nvSpPr>
          <p:cNvPr id="2" name="Title 1"/>
          <p:cNvSpPr>
            <a:spLocks noGrp="1"/>
          </p:cNvSpPr>
          <p:nvPr>
            <p:ph type="title"/>
          </p:nvPr>
        </p:nvSpPr>
        <p:spPr/>
        <p:txBody>
          <a:bodyPr/>
          <a:lstStyle/>
          <a:p>
            <a:r>
              <a:rPr dirty="0"/>
              <a:t>Biological Inspiration</a:t>
            </a:r>
          </a:p>
        </p:txBody>
      </p:sp>
      <p:sp>
        <p:nvSpPr>
          <p:cNvPr id="3" name="Content Placeholder 2"/>
          <p:cNvSpPr>
            <a:spLocks noGrp="1"/>
          </p:cNvSpPr>
          <p:nvPr>
            <p:ph idx="1"/>
          </p:nvPr>
        </p:nvSpPr>
        <p:spPr/>
        <p:txBody>
          <a:bodyPr/>
          <a:lstStyle/>
          <a:p>
            <a:r>
              <a:rPr lang="en-US" dirty="0"/>
              <a:t>Biological neuron receives signals through dendrites</a:t>
            </a:r>
          </a:p>
          <a:p>
            <a:r>
              <a:rPr lang="en-US" dirty="0"/>
              <a:t>Processes signals in the cell body</a:t>
            </a:r>
          </a:p>
          <a:p>
            <a:r>
              <a:rPr lang="en-US" dirty="0"/>
              <a:t>Sends output through the axon</a:t>
            </a:r>
            <a:endParaRPr dirty="0"/>
          </a:p>
        </p:txBody>
      </p:sp>
      <p:sp>
        <p:nvSpPr>
          <p:cNvPr id="4" name="Footer Placeholder 3">
            <a:extLst>
              <a:ext uri="{FF2B5EF4-FFF2-40B4-BE49-F238E27FC236}">
                <a16:creationId xmlns:a16="http://schemas.microsoft.com/office/drawing/2014/main" id="{BCE55EE4-3388-BAC3-D8F3-CC8956E736FE}"/>
              </a:ext>
            </a:extLst>
          </p:cNvPr>
          <p:cNvSpPr>
            <a:spLocks noGrp="1"/>
          </p:cNvSpPr>
          <p:nvPr>
            <p:ph type="ftr" sz="quarter" idx="11"/>
          </p:nvPr>
        </p:nvSpPr>
        <p:spPr/>
        <p:txBody>
          <a:bodyPr/>
          <a:lstStyle/>
          <a:p>
            <a:r>
              <a:rPr lang="nb-NO"/>
              <a:t>kapil@nast.edu.np || kapilpant157</a:t>
            </a:r>
            <a:endParaRPr lang="en-US"/>
          </a:p>
        </p:txBody>
      </p:sp>
      <p:sp>
        <p:nvSpPr>
          <p:cNvPr id="11" name="TextBox 10">
            <a:extLst>
              <a:ext uri="{FF2B5EF4-FFF2-40B4-BE49-F238E27FC236}">
                <a16:creationId xmlns:a16="http://schemas.microsoft.com/office/drawing/2014/main" id="{E4245E8E-2200-9A4D-B70F-53680A083DD7}"/>
              </a:ext>
            </a:extLst>
          </p:cNvPr>
          <p:cNvSpPr txBox="1"/>
          <p:nvPr/>
        </p:nvSpPr>
        <p:spPr>
          <a:xfrm>
            <a:off x="7233528" y="1228110"/>
            <a:ext cx="814647" cy="369332"/>
          </a:xfrm>
          <a:prstGeom prst="rect">
            <a:avLst/>
          </a:prstGeom>
          <a:noFill/>
        </p:spPr>
        <p:txBody>
          <a:bodyPr wrap="none" rtlCol="0">
            <a:spAutoFit/>
          </a:bodyPr>
          <a:lstStyle/>
          <a:p>
            <a:r>
              <a:rPr lang="en-US" dirty="0"/>
              <a:t>Inputs</a:t>
            </a:r>
          </a:p>
        </p:txBody>
      </p:sp>
      <p:sp>
        <p:nvSpPr>
          <p:cNvPr id="12" name="TextBox 11">
            <a:extLst>
              <a:ext uri="{FF2B5EF4-FFF2-40B4-BE49-F238E27FC236}">
                <a16:creationId xmlns:a16="http://schemas.microsoft.com/office/drawing/2014/main" id="{96696B21-2A3A-DCBC-BDD4-5B7A368A7206}"/>
              </a:ext>
            </a:extLst>
          </p:cNvPr>
          <p:cNvSpPr txBox="1"/>
          <p:nvPr/>
        </p:nvSpPr>
        <p:spPr>
          <a:xfrm>
            <a:off x="8184567" y="1735571"/>
            <a:ext cx="2655535" cy="369332"/>
          </a:xfrm>
          <a:prstGeom prst="rect">
            <a:avLst/>
          </a:prstGeom>
          <a:noFill/>
        </p:spPr>
        <p:txBody>
          <a:bodyPr wrap="none" rtlCol="0">
            <a:spAutoFit/>
          </a:bodyPr>
          <a:lstStyle/>
          <a:p>
            <a:r>
              <a:rPr lang="en-US" dirty="0"/>
              <a:t>Weights and Summation</a:t>
            </a:r>
          </a:p>
        </p:txBody>
      </p:sp>
      <p:sp>
        <p:nvSpPr>
          <p:cNvPr id="13" name="TextBox 12">
            <a:extLst>
              <a:ext uri="{FF2B5EF4-FFF2-40B4-BE49-F238E27FC236}">
                <a16:creationId xmlns:a16="http://schemas.microsoft.com/office/drawing/2014/main" id="{AEFE4411-CCD7-64CF-5369-EAEC618A783A}"/>
              </a:ext>
            </a:extLst>
          </p:cNvPr>
          <p:cNvSpPr txBox="1"/>
          <p:nvPr/>
        </p:nvSpPr>
        <p:spPr>
          <a:xfrm>
            <a:off x="8059684" y="2447248"/>
            <a:ext cx="2199641" cy="369332"/>
          </a:xfrm>
          <a:prstGeom prst="rect">
            <a:avLst/>
          </a:prstGeom>
          <a:noFill/>
        </p:spPr>
        <p:txBody>
          <a:bodyPr wrap="none" rtlCol="0">
            <a:spAutoFit/>
          </a:bodyPr>
          <a:lstStyle/>
          <a:p>
            <a:r>
              <a:rPr lang="en-US" dirty="0"/>
              <a:t>Activation Function</a:t>
            </a:r>
          </a:p>
        </p:txBody>
      </p:sp>
      <p:sp>
        <p:nvSpPr>
          <p:cNvPr id="14" name="TextBox 13">
            <a:extLst>
              <a:ext uri="{FF2B5EF4-FFF2-40B4-BE49-F238E27FC236}">
                <a16:creationId xmlns:a16="http://schemas.microsoft.com/office/drawing/2014/main" id="{2E9877C5-0F0B-B0B3-854E-6A07C4B76AC7}"/>
              </a:ext>
            </a:extLst>
          </p:cNvPr>
          <p:cNvSpPr txBox="1"/>
          <p:nvPr/>
        </p:nvSpPr>
        <p:spPr>
          <a:xfrm>
            <a:off x="7400088" y="3059894"/>
            <a:ext cx="904415" cy="369332"/>
          </a:xfrm>
          <a:prstGeom prst="rect">
            <a:avLst/>
          </a:prstGeom>
          <a:noFill/>
        </p:spPr>
        <p:txBody>
          <a:bodyPr wrap="none" rtlCol="0">
            <a:spAutoFit/>
          </a:bodyPr>
          <a:lstStyle/>
          <a:p>
            <a:r>
              <a:rPr lang="en-US" dirty="0"/>
              <a:t>Output</a:t>
            </a:r>
          </a:p>
        </p:txBody>
      </p:sp>
      <p:cxnSp>
        <p:nvCxnSpPr>
          <p:cNvPr id="19" name="Connector: Elbow 18">
            <a:extLst>
              <a:ext uri="{FF2B5EF4-FFF2-40B4-BE49-F238E27FC236}">
                <a16:creationId xmlns:a16="http://schemas.microsoft.com/office/drawing/2014/main" id="{E59DAC3F-B6A7-E4EB-7DB9-6BCB3A866427}"/>
              </a:ext>
            </a:extLst>
          </p:cNvPr>
          <p:cNvCxnSpPr>
            <a:cxnSpLocks/>
            <a:endCxn id="11" idx="1"/>
          </p:cNvCxnSpPr>
          <p:nvPr/>
        </p:nvCxnSpPr>
        <p:spPr>
          <a:xfrm flipV="1">
            <a:off x="5887844" y="1412776"/>
            <a:ext cx="1345684" cy="74781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A2781071-638A-7DDD-5D7E-53DAB7D96A53}"/>
              </a:ext>
            </a:extLst>
          </p:cNvPr>
          <p:cNvCxnSpPr>
            <a:endCxn id="12" idx="1"/>
          </p:cNvCxnSpPr>
          <p:nvPr/>
        </p:nvCxnSpPr>
        <p:spPr>
          <a:xfrm flipV="1">
            <a:off x="4572000" y="1920237"/>
            <a:ext cx="3612567" cy="896343"/>
          </a:xfrm>
          <a:prstGeom prst="bentConnector3">
            <a:avLst>
              <a:gd name="adj1" fmla="val 6728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38BB4F64-ABAD-09F8-F6FD-D15EB7922261}"/>
              </a:ext>
            </a:extLst>
          </p:cNvPr>
          <p:cNvCxnSpPr>
            <a:endCxn id="14" idx="1"/>
          </p:cNvCxnSpPr>
          <p:nvPr/>
        </p:nvCxnSpPr>
        <p:spPr>
          <a:xfrm>
            <a:off x="4014439" y="3244560"/>
            <a:ext cx="3385649"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Components of ANN</a:t>
            </a:r>
          </a:p>
        </p:txBody>
      </p:sp>
      <p:sp>
        <p:nvSpPr>
          <p:cNvPr id="3" name="Content Placeholder 2"/>
          <p:cNvSpPr>
            <a:spLocks noGrp="1"/>
          </p:cNvSpPr>
          <p:nvPr>
            <p:ph idx="1"/>
          </p:nvPr>
        </p:nvSpPr>
        <p:spPr/>
        <p:txBody>
          <a:bodyPr>
            <a:normAutofit/>
          </a:bodyPr>
          <a:lstStyle/>
          <a:p>
            <a:pPr>
              <a:buFont typeface="+mj-lt"/>
              <a:buAutoNum type="arabicPeriod"/>
            </a:pPr>
            <a:r>
              <a:rPr lang="en-US" dirty="0"/>
              <a:t>Neurons: Basic Processing Units, Performs weighted sum of inputs</a:t>
            </a:r>
          </a:p>
          <a:p>
            <a:pPr>
              <a:buFont typeface="+mj-lt"/>
              <a:buAutoNum type="arabicPeriod"/>
            </a:pPr>
            <a:r>
              <a:rPr lang="en-US" dirty="0"/>
              <a:t>Weights: Represents strength of connections, Adjusted later during training</a:t>
            </a:r>
          </a:p>
          <a:p>
            <a:pPr>
              <a:buFont typeface="+mj-lt"/>
              <a:buAutoNum type="arabicPeriod"/>
            </a:pPr>
            <a:r>
              <a:rPr lang="en-US" dirty="0"/>
              <a:t>Biases: Helps shift activation Functions,, Improves learning flexibility</a:t>
            </a:r>
          </a:p>
          <a:p>
            <a:pPr>
              <a:buFont typeface="+mj-lt"/>
              <a:buAutoNum type="arabicPeriod"/>
            </a:pPr>
            <a:r>
              <a:rPr lang="en-US" dirty="0"/>
              <a:t>Activation Function: Determines neurons output,  Introduces non-linearity </a:t>
            </a:r>
          </a:p>
          <a:p>
            <a:pPr marL="457200" lvl="1" indent="0">
              <a:buNone/>
            </a:pPr>
            <a:r>
              <a:rPr lang="en-US" dirty="0" err="1"/>
              <a:t>eg</a:t>
            </a:r>
            <a:r>
              <a:rPr lang="en-US" dirty="0"/>
              <a:t>: Sigmoid, </a:t>
            </a:r>
            <a:r>
              <a:rPr lang="en-US" dirty="0" err="1"/>
              <a:t>Tenh</a:t>
            </a:r>
            <a:r>
              <a:rPr lang="en-US" dirty="0"/>
              <a:t>, </a:t>
            </a:r>
            <a:r>
              <a:rPr lang="en-US" dirty="0" err="1"/>
              <a:t>ReLU</a:t>
            </a:r>
            <a:r>
              <a:rPr lang="en-US" dirty="0"/>
              <a:t>, SoftMax </a:t>
            </a:r>
          </a:p>
          <a:p>
            <a:pPr>
              <a:buFont typeface="+mj-lt"/>
              <a:buAutoNum type="arabicPeriod"/>
            </a:pPr>
            <a:r>
              <a:rPr lang="en-US" dirty="0"/>
              <a:t>Various Layers:</a:t>
            </a:r>
          </a:p>
          <a:p>
            <a:pPr marL="800100" lvl="1" indent="-342900">
              <a:buFont typeface="+mj-lt"/>
              <a:buAutoNum type="arabicPeriod"/>
            </a:pPr>
            <a:r>
              <a:rPr dirty="0"/>
              <a:t>Input Layer: Receives the input data.</a:t>
            </a:r>
          </a:p>
          <a:p>
            <a:pPr marL="800100" lvl="1" indent="-342900">
              <a:buFont typeface="+mj-lt"/>
              <a:buAutoNum type="arabicPeriod"/>
            </a:pPr>
            <a:r>
              <a:rPr dirty="0"/>
              <a:t>Hidden Layers: Process inputs by applying mathematical operations to learn complex patterns.</a:t>
            </a:r>
          </a:p>
          <a:p>
            <a:pPr marL="800100" lvl="1" indent="-342900">
              <a:buFont typeface="+mj-lt"/>
              <a:buAutoNum type="arabicPeriod"/>
            </a:pPr>
            <a:r>
              <a:rPr dirty="0"/>
              <a:t>Output Layer: Provides the final result, such as classification or prediction.</a:t>
            </a:r>
          </a:p>
        </p:txBody>
      </p:sp>
      <p:sp>
        <p:nvSpPr>
          <p:cNvPr id="4" name="Footer Placeholder 3">
            <a:extLst>
              <a:ext uri="{FF2B5EF4-FFF2-40B4-BE49-F238E27FC236}">
                <a16:creationId xmlns:a16="http://schemas.microsoft.com/office/drawing/2014/main" id="{1A1432A0-54E3-AC0C-8F68-BC835FBED5CD}"/>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1B50397-01A1-14F4-75D3-D0D83C4E9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200" y="2827460"/>
            <a:ext cx="6297612" cy="378666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t>Single-Layer Perceptron</a:t>
            </a:r>
          </a:p>
        </p:txBody>
      </p:sp>
      <p:sp>
        <p:nvSpPr>
          <p:cNvPr id="3" name="Content Placeholder 2"/>
          <p:cNvSpPr>
            <a:spLocks noGrp="1"/>
          </p:cNvSpPr>
          <p:nvPr>
            <p:ph idx="1"/>
          </p:nvPr>
        </p:nvSpPr>
        <p:spPr>
          <a:xfrm>
            <a:off x="677334" y="1746142"/>
            <a:ext cx="8596668" cy="3880773"/>
          </a:xfrm>
        </p:spPr>
        <p:txBody>
          <a:bodyPr/>
          <a:lstStyle/>
          <a:p>
            <a:r>
              <a:rPr dirty="0"/>
              <a:t>The simplest type of neural network with one input and one output layer.</a:t>
            </a:r>
          </a:p>
          <a:p>
            <a:r>
              <a:rPr dirty="0"/>
              <a:t>Applies a linear activation function to input data.</a:t>
            </a:r>
          </a:p>
          <a:p>
            <a:r>
              <a:rPr dirty="0"/>
              <a:t>Solves only linearly separable problems.</a:t>
            </a:r>
          </a:p>
        </p:txBody>
      </p:sp>
      <p:sp>
        <p:nvSpPr>
          <p:cNvPr id="4" name="Footer Placeholder 3">
            <a:extLst>
              <a:ext uri="{FF2B5EF4-FFF2-40B4-BE49-F238E27FC236}">
                <a16:creationId xmlns:a16="http://schemas.microsoft.com/office/drawing/2014/main" id="{33F18B6A-D3DE-F0EC-E529-56077810B0BA}"/>
              </a:ext>
            </a:extLst>
          </p:cNvPr>
          <p:cNvSpPr>
            <a:spLocks noGrp="1"/>
          </p:cNvSpPr>
          <p:nvPr>
            <p:ph type="ftr" sz="quarter" idx="11"/>
          </p:nvPr>
        </p:nvSpPr>
        <p:spPr/>
        <p:txBody>
          <a:bodyPr/>
          <a:lstStyle/>
          <a:p>
            <a:r>
              <a:rPr lang="nb-NO"/>
              <a:t>kapil@nast.edu.np || kapilpant157</a:t>
            </a: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83A2CC6-E7D5-369B-8C32-F104DB83A659}"/>
                  </a:ext>
                </a:extLst>
              </p:cNvPr>
              <p:cNvSpPr txBox="1"/>
              <p:nvPr/>
            </p:nvSpPr>
            <p:spPr>
              <a:xfrm>
                <a:off x="7472098" y="2723674"/>
                <a:ext cx="3659784" cy="994311"/>
              </a:xfrm>
              <a:prstGeom prst="rect">
                <a:avLst/>
              </a:prstGeom>
              <a:noFill/>
            </p:spPr>
            <p:txBody>
              <a:bodyPr wrap="none" lIns="0" tIns="0" rIns="0" bIns="0" rtlCol="0">
                <a:spAutoFit/>
              </a:bodyPr>
              <a:lstStyle/>
              <a:p>
                <a:r>
                  <a:rPr lang="en-US" sz="2000" i="1" dirty="0">
                    <a:latin typeface="Cambria Math" panose="02040503050406030204" pitchFamily="18" charset="0"/>
                  </a:rPr>
                  <a:t>Output Value:</a:t>
                </a:r>
              </a:p>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𝑓</m:t>
                      </m:r>
                      <m:d>
                        <m:dPr>
                          <m:ctrlPr>
                            <a:rPr lang="en-US" sz="2000" i="1" smtClean="0">
                              <a:latin typeface="Cambria Math" panose="02040503050406030204" pitchFamily="18" charset="0"/>
                            </a:rPr>
                          </m:ctrlPr>
                        </m:dPr>
                        <m:e>
                          <m:r>
                            <a:rPr lang="en-US" sz="2000" i="1" smtClean="0">
                              <a:latin typeface="Cambria Math" panose="02040503050406030204" pitchFamily="18" charset="0"/>
                            </a:rPr>
                            <m:t>𝑥</m:t>
                          </m:r>
                        </m:e>
                      </m:d>
                      <m:r>
                        <a:rPr lang="en-US" sz="200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r>
                                <a:rPr lang="en-US" sz="2000" b="0" i="1" smtClean="0">
                                  <a:latin typeface="Cambria Math" panose="02040503050406030204" pitchFamily="18" charset="0"/>
                                </a:rPr>
                                <m:t>0</m:t>
                              </m:r>
                              <m:r>
                                <a:rPr lang="en-US" sz="200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𝑊𝑖𝑋𝑖</m:t>
                              </m:r>
                              <m:r>
                                <a:rPr lang="en-US" sz="2000" b="0" i="1" smtClean="0">
                                  <a:latin typeface="Cambria Math" panose="02040503050406030204" pitchFamily="18" charset="0"/>
                                </a:rPr>
                                <m:t>+</m:t>
                              </m:r>
                              <m:r>
                                <a:rPr lang="en-US" sz="2000" b="0" i="1" smtClean="0">
                                  <a:latin typeface="Cambria Math" panose="02040503050406030204" pitchFamily="18" charset="0"/>
                                </a:rPr>
                                <m:t>𝑏</m:t>
                              </m:r>
                              <m:r>
                                <a:rPr lang="en-US" sz="2000" i="1" smtClean="0">
                                  <a:latin typeface="Cambria Math" panose="02040503050406030204" pitchFamily="18" charset="0"/>
                                </a:rPr>
                                <m:t>&lt;</m:t>
                              </m:r>
                              <m:r>
                                <a:rPr lang="en-US" sz="2000" i="1" smtClean="0">
                                  <a:latin typeface="Cambria Math" panose="02040503050406030204" pitchFamily="18" charset="0"/>
                                </a:rPr>
                                <m:t>0</m:t>
                              </m:r>
                            </m:e>
                            <m:e>
                              <m:r>
                                <a:rPr lang="en-US" sz="2000" i="1" smtClean="0">
                                  <a:latin typeface="Cambria Math" panose="02040503050406030204" pitchFamily="18" charset="0"/>
                                </a:rPr>
                                <m:t>&amp;</m:t>
                              </m:r>
                              <m:r>
                                <a:rPr lang="en-US" sz="2000" b="0" i="1" smtClean="0">
                                  <a:latin typeface="Cambria Math" panose="02040503050406030204" pitchFamily="18" charset="0"/>
                                </a:rPr>
                                <m:t>1</m:t>
                              </m:r>
                              <m:r>
                                <a:rPr lang="en-US" sz="200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𝑊𝑖𝑋𝑖</m:t>
                              </m:r>
                              <m:r>
                                <a:rPr lang="en-US" sz="2000" b="0" i="1" smtClean="0">
                                  <a:latin typeface="Cambria Math" panose="02040503050406030204" pitchFamily="18" charset="0"/>
                                </a:rPr>
                                <m:t>+ </m:t>
                              </m:r>
                              <m:r>
                                <a:rPr lang="en-US" sz="2000" b="0" i="1" smtClean="0">
                                  <a:latin typeface="Cambria Math" panose="02040503050406030204" pitchFamily="18" charset="0"/>
                                </a:rPr>
                                <m:t>𝑏</m:t>
                              </m:r>
                              <m:r>
                                <a:rPr lang="en-US" sz="2000" i="1" smtClean="0">
                                  <a:latin typeface="Cambria Math" panose="02040503050406030204" pitchFamily="18" charset="0"/>
                                </a:rPr>
                                <m:t>≥</m:t>
                              </m:r>
                              <m:r>
                                <a:rPr lang="en-US" sz="2000" i="1" smtClean="0">
                                  <a:latin typeface="Cambria Math" panose="02040503050406030204" pitchFamily="18" charset="0"/>
                                </a:rPr>
                                <m:t>0</m:t>
                              </m:r>
                            </m:e>
                          </m:eqArr>
                        </m:e>
                      </m:d>
                    </m:oMath>
                  </m:oMathPara>
                </a14:m>
                <a:endParaRPr lang="en-US" sz="2000" dirty="0"/>
              </a:p>
            </p:txBody>
          </p:sp>
        </mc:Choice>
        <mc:Fallback xmlns="">
          <p:sp>
            <p:nvSpPr>
              <p:cNvPr id="7" name="TextBox 6">
                <a:extLst>
                  <a:ext uri="{FF2B5EF4-FFF2-40B4-BE49-F238E27FC236}">
                    <a16:creationId xmlns:a16="http://schemas.microsoft.com/office/drawing/2014/main" id="{883A2CC6-E7D5-369B-8C32-F104DB83A659}"/>
                  </a:ext>
                </a:extLst>
              </p:cNvPr>
              <p:cNvSpPr txBox="1">
                <a:spLocks noRot="1" noChangeAspect="1" noMove="1" noResize="1" noEditPoints="1" noAdjustHandles="1" noChangeArrowheads="1" noChangeShapeType="1" noTextEdit="1"/>
              </p:cNvSpPr>
              <p:nvPr/>
            </p:nvSpPr>
            <p:spPr>
              <a:xfrm>
                <a:off x="7472098" y="2723674"/>
                <a:ext cx="3659784" cy="994311"/>
              </a:xfrm>
              <a:prstGeom prst="rect">
                <a:avLst/>
              </a:prstGeom>
              <a:blipFill>
                <a:blip r:embed="rId3"/>
                <a:stretch>
                  <a:fillRect l="-4333" t="-7975"/>
                </a:stretch>
              </a:blipFill>
            </p:spPr>
            <p:txBody>
              <a:bodyPr/>
              <a:lstStyle/>
              <a:p>
                <a:r>
                  <a:rPr 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E9FB8-05F8-83CF-D110-DDFC81125E89}"/>
              </a:ext>
            </a:extLst>
          </p:cNvPr>
          <p:cNvSpPr>
            <a:spLocks noGrp="1"/>
          </p:cNvSpPr>
          <p:nvPr>
            <p:ph type="title"/>
          </p:nvPr>
        </p:nvSpPr>
        <p:spPr/>
        <p:txBody>
          <a:bodyPr/>
          <a:lstStyle/>
          <a:p>
            <a:r>
              <a:rPr lang="en-US" dirty="0"/>
              <a:t>Logic Gate Concept</a:t>
            </a:r>
          </a:p>
        </p:txBody>
      </p:sp>
      <p:sp>
        <p:nvSpPr>
          <p:cNvPr id="3" name="Content Placeholder 2">
            <a:extLst>
              <a:ext uri="{FF2B5EF4-FFF2-40B4-BE49-F238E27FC236}">
                <a16:creationId xmlns:a16="http://schemas.microsoft.com/office/drawing/2014/main" id="{720FE0FE-E012-ECE2-15D9-FCB23F44F0EE}"/>
              </a:ext>
            </a:extLst>
          </p:cNvPr>
          <p:cNvSpPr>
            <a:spLocks noGrp="1"/>
          </p:cNvSpPr>
          <p:nvPr>
            <p:ph idx="1"/>
          </p:nvPr>
        </p:nvSpPr>
        <p:spPr/>
        <p:txBody>
          <a:bodyPr/>
          <a:lstStyle/>
          <a:p>
            <a:r>
              <a:rPr lang="en-US" dirty="0"/>
              <a:t>Predication (Y) ≤</a:t>
            </a:r>
          </a:p>
        </p:txBody>
      </p:sp>
      <p:sp>
        <p:nvSpPr>
          <p:cNvPr id="4" name="Footer Placeholder 3">
            <a:extLst>
              <a:ext uri="{FF2B5EF4-FFF2-40B4-BE49-F238E27FC236}">
                <a16:creationId xmlns:a16="http://schemas.microsoft.com/office/drawing/2014/main" id="{82309FD5-4A60-9F16-6BB0-2DED4251ADE2}"/>
              </a:ext>
            </a:extLst>
          </p:cNvPr>
          <p:cNvSpPr>
            <a:spLocks noGrp="1"/>
          </p:cNvSpPr>
          <p:nvPr>
            <p:ph type="ftr" sz="quarter" idx="11"/>
          </p:nvPr>
        </p:nvSpPr>
        <p:spPr/>
        <p:txBody>
          <a:bodyPr/>
          <a:lstStyle/>
          <a:p>
            <a:r>
              <a:rPr lang="nb-NO"/>
              <a:t>kapil@nast.edu.np || kapilpant157</a:t>
            </a: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08CD93-54A1-5116-52EC-BE7C45BCAFE8}"/>
                  </a:ext>
                </a:extLst>
              </p:cNvPr>
              <p:cNvSpPr txBox="1"/>
              <p:nvPr/>
            </p:nvSpPr>
            <p:spPr>
              <a:xfrm>
                <a:off x="4975668" y="2434689"/>
                <a:ext cx="3659784" cy="994311"/>
              </a:xfrm>
              <a:prstGeom prst="rect">
                <a:avLst/>
              </a:prstGeom>
              <a:noFill/>
            </p:spPr>
            <p:txBody>
              <a:bodyPr wrap="none" lIns="0" tIns="0" rIns="0" bIns="0" rtlCol="0">
                <a:spAutoFit/>
              </a:bodyPr>
              <a:lstStyle/>
              <a:p>
                <a:r>
                  <a:rPr lang="en-US" sz="2000" i="1" dirty="0">
                    <a:latin typeface="Cambria Math" panose="02040503050406030204" pitchFamily="18" charset="0"/>
                  </a:rPr>
                  <a:t>Output Value:</a:t>
                </a:r>
              </a:p>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𝑓</m:t>
                      </m:r>
                      <m:d>
                        <m:dPr>
                          <m:ctrlPr>
                            <a:rPr lang="en-US" sz="2000" i="1" smtClean="0">
                              <a:latin typeface="Cambria Math" panose="02040503050406030204" pitchFamily="18" charset="0"/>
                            </a:rPr>
                          </m:ctrlPr>
                        </m:dPr>
                        <m:e>
                          <m:r>
                            <a:rPr lang="en-US" sz="2000" i="1" smtClean="0">
                              <a:latin typeface="Cambria Math" panose="02040503050406030204" pitchFamily="18" charset="0"/>
                            </a:rPr>
                            <m:t>𝑥</m:t>
                          </m:r>
                        </m:e>
                      </m:d>
                      <m:r>
                        <a:rPr lang="en-US" sz="200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r>
                                <a:rPr lang="en-US" sz="2000" b="0" i="1" smtClean="0">
                                  <a:latin typeface="Cambria Math" panose="02040503050406030204" pitchFamily="18" charset="0"/>
                                </a:rPr>
                                <m:t>0</m:t>
                              </m:r>
                              <m:r>
                                <a:rPr lang="en-US" sz="200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𝑊𝑖𝑋𝑖</m:t>
                              </m:r>
                              <m:r>
                                <a:rPr lang="en-US" sz="2000" b="0" i="1" smtClean="0">
                                  <a:latin typeface="Cambria Math" panose="02040503050406030204" pitchFamily="18" charset="0"/>
                                </a:rPr>
                                <m:t>+</m:t>
                              </m:r>
                              <m:r>
                                <a:rPr lang="en-US" sz="2000" b="0" i="1" smtClean="0">
                                  <a:latin typeface="Cambria Math" panose="02040503050406030204" pitchFamily="18" charset="0"/>
                                </a:rPr>
                                <m:t>𝑏</m:t>
                              </m:r>
                              <m:r>
                                <m:rPr>
                                  <m:nor/>
                                </m:rPr>
                                <a:rPr lang="en-US" sz="2000" b="0" i="0" smtClean="0">
                                  <a:latin typeface="Cambria Math" panose="02040503050406030204" pitchFamily="18" charset="0"/>
                                </a:rPr>
                                <m:t> &lt; </m:t>
                              </m:r>
                              <m:r>
                                <a:rPr lang="en-US" sz="2000" i="1" smtClean="0">
                                  <a:latin typeface="Cambria Math" panose="02040503050406030204" pitchFamily="18" charset="0"/>
                                </a:rPr>
                                <m:t>0</m:t>
                              </m:r>
                            </m:e>
                            <m:e>
                              <m:r>
                                <a:rPr lang="en-US" sz="2000" i="1" smtClean="0">
                                  <a:latin typeface="Cambria Math" panose="02040503050406030204" pitchFamily="18" charset="0"/>
                                </a:rPr>
                                <m:t>&amp;</m:t>
                              </m:r>
                              <m:r>
                                <a:rPr lang="en-US" sz="2000" b="0" i="1" smtClean="0">
                                  <a:latin typeface="Cambria Math" panose="02040503050406030204" pitchFamily="18" charset="0"/>
                                </a:rPr>
                                <m:t>1</m:t>
                              </m:r>
                              <m:r>
                                <a:rPr lang="en-US" sz="200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𝑊𝑖𝑋𝑖</m:t>
                              </m:r>
                              <m:r>
                                <a:rPr lang="en-US" sz="2000" b="0" i="1" smtClean="0">
                                  <a:latin typeface="Cambria Math" panose="02040503050406030204" pitchFamily="18" charset="0"/>
                                </a:rPr>
                                <m:t>+ </m:t>
                              </m:r>
                              <m:r>
                                <a:rPr lang="en-US" sz="2000" b="0" i="1" smtClean="0">
                                  <a:latin typeface="Cambria Math" panose="02040503050406030204" pitchFamily="18" charset="0"/>
                                </a:rPr>
                                <m:t>𝑏</m:t>
                              </m:r>
                              <m:r>
                                <a:rPr lang="en-US" sz="2000" b="0" i="1" smtClean="0">
                                  <a:latin typeface="Cambria Math" panose="02040503050406030204" pitchFamily="18" charset="0"/>
                                </a:rPr>
                                <m:t>&gt;</m:t>
                              </m:r>
                              <m:r>
                                <a:rPr lang="en-US" sz="2000" i="1" smtClean="0">
                                  <a:latin typeface="Cambria Math" panose="02040503050406030204" pitchFamily="18" charset="0"/>
                                </a:rPr>
                                <m:t>0</m:t>
                              </m:r>
                            </m:e>
                          </m:eqArr>
                        </m:e>
                      </m:d>
                    </m:oMath>
                  </m:oMathPara>
                </a14:m>
                <a:endParaRPr lang="en-US" sz="2000" dirty="0"/>
              </a:p>
            </p:txBody>
          </p:sp>
        </mc:Choice>
        <mc:Fallback xmlns="">
          <p:sp>
            <p:nvSpPr>
              <p:cNvPr id="5" name="TextBox 4">
                <a:extLst>
                  <a:ext uri="{FF2B5EF4-FFF2-40B4-BE49-F238E27FC236}">
                    <a16:creationId xmlns:a16="http://schemas.microsoft.com/office/drawing/2014/main" id="{8F08CD93-54A1-5116-52EC-BE7C45BCAFE8}"/>
                  </a:ext>
                </a:extLst>
              </p:cNvPr>
              <p:cNvSpPr txBox="1">
                <a:spLocks noRot="1" noChangeAspect="1" noMove="1" noResize="1" noEditPoints="1" noAdjustHandles="1" noChangeArrowheads="1" noChangeShapeType="1" noTextEdit="1"/>
              </p:cNvSpPr>
              <p:nvPr/>
            </p:nvSpPr>
            <p:spPr>
              <a:xfrm>
                <a:off x="4975668" y="2434689"/>
                <a:ext cx="3659784" cy="994311"/>
              </a:xfrm>
              <a:prstGeom prst="rect">
                <a:avLst/>
              </a:prstGeom>
              <a:blipFill>
                <a:blip r:embed="rId2"/>
                <a:stretch>
                  <a:fillRect l="-4160" t="-7927"/>
                </a:stretch>
              </a:blipFill>
            </p:spPr>
            <p:txBody>
              <a:bodyPr/>
              <a:lstStyle/>
              <a:p>
                <a:r>
                  <a:rPr lang="en-US">
                    <a:noFill/>
                  </a:rPr>
                  <a:t> </a:t>
                </a:r>
              </a:p>
            </p:txBody>
          </p:sp>
        </mc:Fallback>
      </mc:AlternateContent>
    </p:spTree>
    <p:extLst>
      <p:ext uri="{BB962C8B-B14F-4D97-AF65-F5344CB8AC3E}">
        <p14:creationId xmlns:p14="http://schemas.microsoft.com/office/powerpoint/2010/main" val="3031457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030BD4F-ACC0-8512-987C-EA93ED6C24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363" y="3524579"/>
            <a:ext cx="4927723" cy="3263891"/>
          </a:xfrm>
          <a:prstGeom prst="rect">
            <a:avLst/>
          </a:prstGeom>
        </p:spPr>
      </p:pic>
      <p:sp>
        <p:nvSpPr>
          <p:cNvPr id="2" name="Title 1"/>
          <p:cNvSpPr>
            <a:spLocks noGrp="1"/>
          </p:cNvSpPr>
          <p:nvPr>
            <p:ph type="title"/>
          </p:nvPr>
        </p:nvSpPr>
        <p:spPr/>
        <p:txBody>
          <a:bodyPr/>
          <a:lstStyle/>
          <a:p>
            <a:r>
              <a:t>Multi-Layer Perceptron (MLP)</a:t>
            </a:r>
          </a:p>
        </p:txBody>
      </p:sp>
      <p:sp>
        <p:nvSpPr>
          <p:cNvPr id="3" name="Content Placeholder 2"/>
          <p:cNvSpPr>
            <a:spLocks noGrp="1"/>
          </p:cNvSpPr>
          <p:nvPr>
            <p:ph idx="1"/>
          </p:nvPr>
        </p:nvSpPr>
        <p:spPr>
          <a:xfrm>
            <a:off x="677335" y="1930400"/>
            <a:ext cx="10012436" cy="3984311"/>
          </a:xfrm>
        </p:spPr>
        <p:txBody>
          <a:bodyPr/>
          <a:lstStyle/>
          <a:p>
            <a:r>
              <a:rPr dirty="0"/>
              <a:t>An advanced network with multiple layers: input, hidden, and output.</a:t>
            </a:r>
          </a:p>
          <a:p>
            <a:r>
              <a:rPr dirty="0"/>
              <a:t>Uses activation functions like </a:t>
            </a:r>
            <a:r>
              <a:rPr dirty="0" err="1"/>
              <a:t>ReLU</a:t>
            </a:r>
            <a:r>
              <a:rPr dirty="0"/>
              <a:t> or Sigmoid to introduce non-linearity.</a:t>
            </a:r>
          </a:p>
          <a:p>
            <a:r>
              <a:rPr dirty="0"/>
              <a:t>Can solve complex, non-linearly separable problems.</a:t>
            </a:r>
          </a:p>
          <a:p>
            <a:r>
              <a:rPr dirty="0"/>
              <a:t>Widely used in applications like image recognition and natural language processing.</a:t>
            </a:r>
          </a:p>
        </p:txBody>
      </p:sp>
      <p:sp>
        <p:nvSpPr>
          <p:cNvPr id="4" name="Footer Placeholder 3">
            <a:extLst>
              <a:ext uri="{FF2B5EF4-FFF2-40B4-BE49-F238E27FC236}">
                <a16:creationId xmlns:a16="http://schemas.microsoft.com/office/drawing/2014/main" id="{D9B76537-625E-1F71-E0BA-78FDB8E23936}"/>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Neural Networks</a:t>
            </a:r>
          </a:p>
        </p:txBody>
      </p:sp>
      <p:sp>
        <p:nvSpPr>
          <p:cNvPr id="3" name="Content Placeholder 2"/>
          <p:cNvSpPr>
            <a:spLocks noGrp="1"/>
          </p:cNvSpPr>
          <p:nvPr>
            <p:ph idx="1"/>
          </p:nvPr>
        </p:nvSpPr>
        <p:spPr>
          <a:xfrm>
            <a:off x="677333" y="1937566"/>
            <a:ext cx="10622037" cy="4485538"/>
          </a:xfrm>
        </p:spPr>
        <p:txBody>
          <a:bodyPr>
            <a:normAutofit/>
          </a:bodyPr>
          <a:lstStyle/>
          <a:p>
            <a:pPr marL="0" indent="0">
              <a:buNone/>
            </a:pPr>
            <a:r>
              <a:rPr lang="en-US" dirty="0"/>
              <a:t>Training is the process of adjusting weights and bias so the network produces correct output.</a:t>
            </a:r>
          </a:p>
          <a:p>
            <a:pPr marL="0" indent="0">
              <a:buNone/>
            </a:pPr>
            <a:r>
              <a:rPr lang="en-US" b="1" dirty="0"/>
              <a:t>Steps in Training:</a:t>
            </a:r>
          </a:p>
          <a:p>
            <a:pPr>
              <a:buFont typeface="+mj-lt"/>
              <a:buAutoNum type="arabicPeriod"/>
            </a:pPr>
            <a:r>
              <a:rPr lang="en-US" dirty="0"/>
              <a:t>Initialize weights randomly</a:t>
            </a:r>
          </a:p>
          <a:p>
            <a:pPr>
              <a:buFont typeface="+mj-lt"/>
              <a:buAutoNum type="arabicPeriod"/>
            </a:pPr>
            <a:r>
              <a:rPr lang="en-US" dirty="0"/>
              <a:t>Forward propagation : Input is passed through the network</a:t>
            </a:r>
          </a:p>
          <a:p>
            <a:pPr>
              <a:buFont typeface="+mj-lt"/>
              <a:buAutoNum type="arabicPeriod"/>
            </a:pPr>
            <a:r>
              <a:rPr lang="en-US" dirty="0"/>
              <a:t>Calculate error (loss)</a:t>
            </a:r>
          </a:p>
          <a:p>
            <a:pPr marL="457200" lvl="1" indent="0">
              <a:buNone/>
            </a:pPr>
            <a:r>
              <a:rPr lang="en-US" dirty="0"/>
              <a:t>Difference between actual and predicted output</a:t>
            </a:r>
          </a:p>
          <a:p>
            <a:pPr>
              <a:buFont typeface="+mj-lt"/>
              <a:buAutoNum type="arabicPeriod"/>
            </a:pPr>
            <a:r>
              <a:rPr lang="en-US" dirty="0"/>
              <a:t>Backpropagation: 	Error is propagated backward</a:t>
            </a:r>
          </a:p>
          <a:p>
            <a:pPr>
              <a:buFont typeface="+mj-lt"/>
              <a:buAutoNum type="arabicPeriod"/>
            </a:pPr>
            <a:r>
              <a:rPr lang="en-US" dirty="0"/>
              <a:t>Weight update</a:t>
            </a:r>
          </a:p>
          <a:p>
            <a:pPr marL="457200" lvl="1" indent="0">
              <a:buNone/>
            </a:pPr>
            <a:r>
              <a:rPr lang="en-US" dirty="0"/>
              <a:t>Weights updated using optimization methods (e.g., Gradient Descent)</a:t>
            </a:r>
          </a:p>
          <a:p>
            <a:pPr>
              <a:buFont typeface="+mj-lt"/>
              <a:buAutoNum type="arabicPeriod"/>
            </a:pPr>
            <a:r>
              <a:rPr lang="en-US" dirty="0"/>
              <a:t>Repeat until error is minimized</a:t>
            </a:r>
            <a:endParaRPr dirty="0"/>
          </a:p>
        </p:txBody>
      </p:sp>
      <p:sp>
        <p:nvSpPr>
          <p:cNvPr id="4" name="Footer Placeholder 3">
            <a:extLst>
              <a:ext uri="{FF2B5EF4-FFF2-40B4-BE49-F238E27FC236}">
                <a16:creationId xmlns:a16="http://schemas.microsoft.com/office/drawing/2014/main" id="{3F57DD11-FCC9-C621-254C-017106AE0173}"/>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573565"/>
                <a:ext cx="9794724" cy="5259036"/>
              </a:xfrm>
            </p:spPr>
            <p:txBody>
              <a:bodyPr>
                <a:normAutofit/>
              </a:bodyPr>
              <a:lstStyle/>
              <a:p>
                <a:r>
                  <a:rPr lang="en-US" dirty="0"/>
                  <a:t>Input data passes through the network to get an output.</a:t>
                </a:r>
              </a:p>
              <a:p>
                <a:r>
                  <a:rPr lang="en-US" dirty="0"/>
                  <a:t>Each neuron applies a mathematical function to the inputs, multiplies by weights, and adds a bias.</a:t>
                </a:r>
              </a:p>
              <a:p>
                <a:r>
                  <a:rPr lang="en-US" dirty="0"/>
                  <a:t>The result is passed through an activation function to introduce non-linearity.</a:t>
                </a:r>
              </a:p>
              <a:p>
                <a:r>
                  <a:rPr lang="en-US" dirty="0"/>
                  <a:t>The final output is used for prediction.</a:t>
                </a:r>
              </a:p>
              <a:p>
                <a:r>
                  <a:rPr lang="en-US" dirty="0"/>
                  <a:t>Steps: </a:t>
                </a:r>
              </a:p>
              <a:p>
                <a:r>
                  <a:rPr lang="en-US" dirty="0"/>
                  <a:t>Calculate the sum of Products:</a:t>
                </a:r>
              </a:p>
              <a:p>
                <a:pPr marL="0" indent="0">
                  <a:buNone/>
                </a:pPr>
                <a:r>
                  <a:rPr lang="en-US" dirty="0"/>
                  <a:t>		S = b + </a:t>
                </a:r>
                <a14:m>
                  <m:oMath xmlns:m="http://schemas.openxmlformats.org/officeDocument/2006/math">
                    <m:nary>
                      <m:naryPr>
                        <m:chr m:val="∑"/>
                        <m:ctrlPr>
                          <a:rPr lang="ar-AE" sz="240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m:t>
                        </m:r>
                        <m:r>
                          <m:rPr>
                            <m:brk m:alnAt="23"/>
                          </m:rPr>
                          <a:rPr lang="en-US" sz="2400" b="0" i="1" smtClean="0">
                            <a:latin typeface="Cambria Math" panose="02040503050406030204" pitchFamily="18" charset="0"/>
                          </a:rPr>
                          <m:t>1</m:t>
                        </m:r>
                      </m:sub>
                      <m:sup>
                        <m:r>
                          <a:rPr lang="ar-AE" sz="2400" b="0" i="1" smtClean="0">
                            <a:latin typeface="Cambria Math" panose="02040503050406030204" pitchFamily="18" charset="0"/>
                          </a:rPr>
                          <m:t>𝑛</m:t>
                        </m:r>
                      </m:sup>
                      <m:e>
                        <m:r>
                          <a:rPr lang="en-US" sz="2400" b="0" i="1" smtClean="0">
                            <a:latin typeface="Cambria Math" panose="02040503050406030204" pitchFamily="18" charset="0"/>
                          </a:rPr>
                          <m:t>𝑋𝑖</m:t>
                        </m:r>
                        <m:r>
                          <a:rPr lang="en-US" sz="2400" b="0" i="1" smtClean="0">
                            <a:latin typeface="Cambria Math" panose="02040503050406030204" pitchFamily="18" charset="0"/>
                          </a:rPr>
                          <m:t> ∗</m:t>
                        </m:r>
                        <m:r>
                          <a:rPr lang="en-US" sz="2400" b="0" i="1" smtClean="0">
                            <a:latin typeface="Cambria Math" panose="02040503050406030204" pitchFamily="18" charset="0"/>
                          </a:rPr>
                          <m:t>𝑊𝑖</m:t>
                        </m:r>
                      </m:e>
                    </m:nary>
                  </m:oMath>
                </a14:m>
                <a:endParaRPr lang="en-US" sz="2400" dirty="0"/>
              </a:p>
              <a:p>
                <a:r>
                  <a:rPr lang="en-US" dirty="0"/>
                  <a:t>Activation Function:</a:t>
                </a:r>
              </a:p>
              <a:p>
                <a:pPr marL="0" indent="0">
                  <a:buNone/>
                </a:pPr>
                <a:r>
                  <a:rPr lang="en-US" dirty="0"/>
                  <a:t>		F(s) = </a:t>
                </a:r>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1</m:t>
                        </m:r>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m:t>
                            </m:r>
                            <m:r>
                              <a:rPr lang="en-US" sz="2800" i="1">
                                <a:latin typeface="Cambria Math" panose="02040503050406030204" pitchFamily="18" charset="0"/>
                              </a:rPr>
                              <m:t>𝑠</m:t>
                            </m:r>
                          </m:sup>
                        </m:sSup>
                      </m:den>
                    </m:f>
                  </m:oMath>
                </a14:m>
                <a:r>
                  <a:rPr lang="en-US" sz="2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7334" y="1573565"/>
                <a:ext cx="9794724" cy="5259036"/>
              </a:xfrm>
              <a:blipFill>
                <a:blip r:embed="rId2"/>
                <a:stretch>
                  <a:fillRect l="-124" t="-695"/>
                </a:stretch>
              </a:blipFill>
            </p:spPr>
            <p:txBody>
              <a:bodyPr/>
              <a:lstStyle/>
              <a:p>
                <a:r>
                  <a:rPr lang="en-US">
                    <a:noFill/>
                  </a:rPr>
                  <a:t> </a:t>
                </a:r>
              </a:p>
            </p:txBody>
          </p:sp>
        </mc:Fallback>
      </mc:AlternateContent>
      <p:pic>
        <p:nvPicPr>
          <p:cNvPr id="6" name="Content Placeholder 5">
            <a:extLst>
              <a:ext uri="{FF2B5EF4-FFF2-40B4-BE49-F238E27FC236}">
                <a16:creationId xmlns:a16="http://schemas.microsoft.com/office/drawing/2014/main" id="{BAD51BC8-4DFF-70B7-147B-6A7FF50FB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7105" y="2982687"/>
            <a:ext cx="5238750" cy="3810000"/>
          </a:xfrm>
          <a:prstGeom prst="rect">
            <a:avLst/>
          </a:prstGeom>
        </p:spPr>
      </p:pic>
      <p:sp>
        <p:nvSpPr>
          <p:cNvPr id="2" name="Title 1"/>
          <p:cNvSpPr>
            <a:spLocks noGrp="1"/>
          </p:cNvSpPr>
          <p:nvPr>
            <p:ph type="title"/>
          </p:nvPr>
        </p:nvSpPr>
        <p:spPr/>
        <p:txBody>
          <a:bodyPr/>
          <a:lstStyle/>
          <a:p>
            <a:r>
              <a:rPr dirty="0"/>
              <a:t>Forward Propagation</a:t>
            </a:r>
          </a:p>
        </p:txBody>
      </p:sp>
      <p:sp>
        <p:nvSpPr>
          <p:cNvPr id="4" name="Footer Placeholder 3">
            <a:extLst>
              <a:ext uri="{FF2B5EF4-FFF2-40B4-BE49-F238E27FC236}">
                <a16:creationId xmlns:a16="http://schemas.microsoft.com/office/drawing/2014/main" id="{D97D89F1-DF48-B7E0-8793-8C786643747D}"/>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Backward Propagation</a:t>
            </a:r>
          </a:p>
        </p:txBody>
      </p:sp>
      <p:sp>
        <p:nvSpPr>
          <p:cNvPr id="3" name="Content Placeholder 2"/>
          <p:cNvSpPr>
            <a:spLocks noGrp="1"/>
          </p:cNvSpPr>
          <p:nvPr>
            <p:ph idx="1"/>
          </p:nvPr>
        </p:nvSpPr>
        <p:spPr/>
        <p:txBody>
          <a:bodyPr/>
          <a:lstStyle/>
          <a:p>
            <a:r>
              <a:t>Error is propagated backward through the network.</a:t>
            </a:r>
          </a:p>
          <a:p>
            <a:r>
              <a:t>The gradient of the loss function with respect to each weight is calculated.</a:t>
            </a:r>
          </a:p>
          <a:p>
            <a:r>
              <a:t>Weights are updated in the opposite direction to reduce the loss.</a:t>
            </a:r>
          </a:p>
          <a:p>
            <a:r>
              <a:t>This process is repeated to improve accuracy.</a:t>
            </a:r>
          </a:p>
        </p:txBody>
      </p:sp>
      <p:sp>
        <p:nvSpPr>
          <p:cNvPr id="4" name="Footer Placeholder 3">
            <a:extLst>
              <a:ext uri="{FF2B5EF4-FFF2-40B4-BE49-F238E27FC236}">
                <a16:creationId xmlns:a16="http://schemas.microsoft.com/office/drawing/2014/main" id="{78B9D572-30F1-B3D0-6E65-D3631DB62059}"/>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Loss Function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77334" y="1930401"/>
                <a:ext cx="8868110" cy="4318000"/>
              </a:xfrm>
            </p:spPr>
            <p:txBody>
              <a:bodyPr>
                <a:normAutofit lnSpcReduction="10000"/>
              </a:bodyPr>
              <a:lstStyle/>
              <a:p>
                <a:r>
                  <a:rPr lang="en-US" dirty="0"/>
                  <a:t>Measures the error between predicted and actual outputs.</a:t>
                </a:r>
              </a:p>
              <a:p>
                <a:r>
                  <a:rPr lang="en-US" dirty="0"/>
                  <a:t>Common loss functions include Mean Squared Error (MSE) and Cross-Entropy Loss.</a:t>
                </a:r>
              </a:p>
              <a:p>
                <a:r>
                  <a:rPr lang="en-US" dirty="0"/>
                  <a:t>The goal is to minimize the loss function during training.</a:t>
                </a:r>
              </a:p>
              <a:p>
                <a:r>
                  <a:rPr lang="en-US" dirty="0"/>
                  <a:t>Example: Square Error Function:</a:t>
                </a:r>
              </a:p>
              <a:p>
                <a:pPr marL="0" indent="0">
                  <a:buNone/>
                </a:pPr>
                <a:r>
                  <a:rPr lang="en-US" dirty="0"/>
                  <a:t>		E= </a:t>
                </a:r>
                <a14:m>
                  <m:oMath xmlns:m="http://schemas.openxmlformats.org/officeDocument/2006/math">
                    <m:f>
                      <m:fPr>
                        <m:ctrlPr>
                          <a:rPr lang="ar-AE" i="1" smtClean="0">
                            <a:latin typeface="Cambria Math" panose="02040503050406030204" pitchFamily="18" charset="0"/>
                          </a:rPr>
                        </m:ctrlPr>
                      </m:fPr>
                      <m:num>
                        <m:r>
                          <a:rPr lang="en-US" b="0" i="1" smtClean="0">
                            <a:latin typeface="Cambria Math" panose="02040503050406030204" pitchFamily="18" charset="0"/>
                          </a:rPr>
                          <m:t>1</m:t>
                        </m:r>
                      </m:num>
                      <m:den>
                        <m:r>
                          <a:rPr lang="ar-AE" b="0" i="1" smtClean="0">
                            <a:latin typeface="Cambria Math" panose="02040503050406030204" pitchFamily="18" charset="0"/>
                          </a:rPr>
                          <m:t>2</m:t>
                        </m:r>
                      </m:den>
                    </m:f>
                    <m:sSup>
                      <m:sSupPr>
                        <m:ctrlPr>
                          <a:rPr lang="ar-AE"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𝐷𝑒𝑠𝑖𝑟𝑒𝑑</m:t>
                            </m:r>
                            <m:r>
                              <a:rPr lang="en-US" i="1">
                                <a:latin typeface="Cambria Math" panose="02040503050406030204" pitchFamily="18" charset="0"/>
                              </a:rPr>
                              <m:t> </m:t>
                            </m:r>
                            <m:r>
                              <a:rPr lang="en-US" i="1">
                                <a:latin typeface="Cambria Math" panose="02040503050406030204" pitchFamily="18" charset="0"/>
                              </a:rPr>
                              <m:t>𝑂𝑢𝑡𝑝𝑢𝑡</m:t>
                            </m:r>
                            <m:r>
                              <a:rPr lang="en-US" i="1">
                                <a:latin typeface="Cambria Math" panose="02040503050406030204" pitchFamily="18" charset="0"/>
                              </a:rPr>
                              <m:t> −</m:t>
                            </m:r>
                            <m:r>
                              <a:rPr lang="en-US" i="1">
                                <a:latin typeface="Cambria Math" panose="02040503050406030204" pitchFamily="18" charset="0"/>
                              </a:rPr>
                              <m:t>𝑃𝑟𝑒𝑑𝑖𝑐𝑡𝑒𝑑</m:t>
                            </m:r>
                            <m:r>
                              <a:rPr lang="en-US" i="1">
                                <a:latin typeface="Cambria Math" panose="02040503050406030204" pitchFamily="18" charset="0"/>
                              </a:rPr>
                              <m:t> </m:t>
                            </m:r>
                            <m:r>
                              <a:rPr lang="en-US" i="1">
                                <a:latin typeface="Cambria Math" panose="02040503050406030204" pitchFamily="18" charset="0"/>
                              </a:rPr>
                              <m:t>𝑂𝑢𝑡𝑝𝑢𝑡</m:t>
                            </m:r>
                          </m:e>
                        </m:d>
                      </m:e>
                      <m:sup>
                        <m:r>
                          <a:rPr lang="en-US" b="0" i="1" smtClean="0">
                            <a:latin typeface="Cambria Math" panose="02040503050406030204" pitchFamily="18" charset="0"/>
                          </a:rPr>
                          <m:t>2</m:t>
                        </m:r>
                      </m:sup>
                    </m:sSup>
                  </m:oMath>
                </a14:m>
                <a:endParaRPr lang="en-US" dirty="0"/>
              </a:p>
              <a:p>
                <a:pPr marL="0" indent="0">
                  <a:buNone/>
                </a:pPr>
                <a:r>
                  <a:rPr lang="en-US" dirty="0"/>
                  <a:t>Training process Is updated till SSE is less than 0.001, but why ?</a:t>
                </a:r>
              </a:p>
              <a:p>
                <a:r>
                  <a:rPr lang="en-US" dirty="0"/>
                  <a:t>During training: Initially, error is large</a:t>
                </a:r>
              </a:p>
              <a:p>
                <a:r>
                  <a:rPr lang="en-US" dirty="0"/>
                  <a:t>As backpropagation updates weights , error reduces</a:t>
                </a:r>
              </a:p>
              <a:p>
                <a:r>
                  <a:rPr lang="en-US" dirty="0"/>
                  <a:t>When the network has learned well, error becomes very small</a:t>
                </a:r>
              </a:p>
              <a:p>
                <a:r>
                  <a:rPr lang="en-US" dirty="0"/>
                  <a:t>So, we define a threshold (like 0.001) such that: If SSE ≤ 0.001, training is considered sufficient and stops.</a:t>
                </a:r>
                <a:endParaRP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77334" y="1930401"/>
                <a:ext cx="8868110" cy="4318000"/>
              </a:xfrm>
              <a:blipFill>
                <a:blip r:embed="rId2"/>
                <a:stretch>
                  <a:fillRect l="-550" t="-1554" b="-183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58CDFC2-3994-BB7F-3D56-6BAB82C1D80D}"/>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Learning Rate</a:t>
            </a:r>
            <a:r>
              <a:rPr lang="en-US" dirty="0"/>
              <a:t> (</a:t>
            </a:r>
            <a:r>
              <a:rPr lang="el-GR" dirty="0"/>
              <a:t>α</a:t>
            </a:r>
            <a:r>
              <a:rPr lang="en-US" dirty="0"/>
              <a:t>) or Eta (</a:t>
            </a:r>
            <a:r>
              <a:rPr lang="el-GR" dirty="0"/>
              <a:t>η</a:t>
            </a:r>
            <a:r>
              <a:rPr lang="en-US" dirty="0"/>
              <a:t>)</a:t>
            </a:r>
            <a:endParaRPr dirty="0"/>
          </a:p>
        </p:txBody>
      </p:sp>
      <p:sp>
        <p:nvSpPr>
          <p:cNvPr id="3" name="Content Placeholder 2"/>
          <p:cNvSpPr>
            <a:spLocks noGrp="1"/>
          </p:cNvSpPr>
          <p:nvPr>
            <p:ph idx="1"/>
          </p:nvPr>
        </p:nvSpPr>
        <p:spPr/>
        <p:txBody>
          <a:bodyPr/>
          <a:lstStyle/>
          <a:p>
            <a:r>
              <a:rPr dirty="0"/>
              <a:t>Controls how much the network's weights are updated during training.</a:t>
            </a:r>
          </a:p>
          <a:p>
            <a:r>
              <a:rPr dirty="0"/>
              <a:t>Too high:</a:t>
            </a:r>
            <a:endParaRPr lang="en-US" dirty="0"/>
          </a:p>
          <a:p>
            <a:pPr marL="457200" lvl="1" indent="0">
              <a:buNone/>
            </a:pPr>
            <a:r>
              <a:rPr dirty="0"/>
              <a:t>Can cause instability by overshooting optimal weights</a:t>
            </a:r>
            <a:r>
              <a:rPr lang="en-US" dirty="0"/>
              <a:t> i.e. system will not converge</a:t>
            </a:r>
            <a:endParaRPr dirty="0"/>
          </a:p>
          <a:p>
            <a:r>
              <a:rPr dirty="0"/>
              <a:t>Too low:</a:t>
            </a:r>
            <a:endParaRPr lang="en-US" dirty="0"/>
          </a:p>
          <a:p>
            <a:pPr marL="457200" lvl="1" indent="0">
              <a:buNone/>
            </a:pPr>
            <a:r>
              <a:rPr dirty="0"/>
              <a:t>Can slow down convergence or get stuck in a local minimum.</a:t>
            </a:r>
          </a:p>
          <a:p>
            <a:r>
              <a:rPr dirty="0"/>
              <a:t>Choosing the right learning rate is crucial for effective training.</a:t>
            </a:r>
            <a:endParaRPr lang="en-US" dirty="0"/>
          </a:p>
          <a:p>
            <a:r>
              <a:rPr lang="en-US" dirty="0"/>
              <a:t>Typically, it is selected by trial and error</a:t>
            </a:r>
          </a:p>
          <a:p>
            <a:pPr marL="0" indent="0">
              <a:buNone/>
            </a:pPr>
            <a:r>
              <a:rPr lang="en-US" dirty="0"/>
              <a:t>	Range: 0.01 &lt; </a:t>
            </a:r>
            <a:r>
              <a:rPr lang="el-GR" dirty="0"/>
              <a:t>α</a:t>
            </a:r>
            <a:r>
              <a:rPr lang="en-US" dirty="0"/>
              <a:t> &lt; 1.0</a:t>
            </a:r>
          </a:p>
        </p:txBody>
      </p:sp>
      <p:sp>
        <p:nvSpPr>
          <p:cNvPr id="4" name="Footer Placeholder 3">
            <a:extLst>
              <a:ext uri="{FF2B5EF4-FFF2-40B4-BE49-F238E27FC236}">
                <a16:creationId xmlns:a16="http://schemas.microsoft.com/office/drawing/2014/main" id="{34D0D0B2-949F-BAEA-C12C-674DD0727579}"/>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6615-D5BC-4C59-9ACF-8B6361B14EBD}"/>
              </a:ext>
            </a:extLst>
          </p:cNvPr>
          <p:cNvSpPr>
            <a:spLocks noGrp="1"/>
          </p:cNvSpPr>
          <p:nvPr>
            <p:ph type="title"/>
          </p:nvPr>
        </p:nvSpPr>
        <p:spPr/>
        <p:txBody>
          <a:bodyPr/>
          <a:lstStyle/>
          <a:p>
            <a:r>
              <a:rPr lang="en-US" dirty="0"/>
              <a:t>Numerical Example:</a:t>
            </a:r>
          </a:p>
        </p:txBody>
      </p:sp>
      <p:sp>
        <p:nvSpPr>
          <p:cNvPr id="3" name="Content Placeholder 2">
            <a:extLst>
              <a:ext uri="{FF2B5EF4-FFF2-40B4-BE49-F238E27FC236}">
                <a16:creationId xmlns:a16="http://schemas.microsoft.com/office/drawing/2014/main" id="{31F27F4E-761B-FC03-4768-0E364B267DB8}"/>
              </a:ext>
            </a:extLst>
          </p:cNvPr>
          <p:cNvSpPr>
            <a:spLocks noGrp="1"/>
          </p:cNvSpPr>
          <p:nvPr>
            <p:ph idx="1"/>
          </p:nvPr>
        </p:nvSpPr>
        <p:spPr/>
        <p:txBody>
          <a:bodyPr/>
          <a:lstStyle/>
          <a:p>
            <a:r>
              <a:rPr lang="en-US" dirty="0"/>
              <a:t>For single perceptron</a:t>
            </a:r>
          </a:p>
          <a:p>
            <a:r>
              <a:rPr lang="en-US" dirty="0"/>
              <a:t>For multilayer perceptron</a:t>
            </a:r>
          </a:p>
          <a:p>
            <a:r>
              <a:rPr lang="en-US"/>
              <a:t>Logic gate</a:t>
            </a:r>
          </a:p>
        </p:txBody>
      </p:sp>
      <p:sp>
        <p:nvSpPr>
          <p:cNvPr id="4" name="Footer Placeholder 3">
            <a:extLst>
              <a:ext uri="{FF2B5EF4-FFF2-40B4-BE49-F238E27FC236}">
                <a16:creationId xmlns:a16="http://schemas.microsoft.com/office/drawing/2014/main" id="{87938B4B-CB82-1377-8AE1-62434565857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05012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CE25-8BD4-1119-1F8F-EA617B40E0F8}"/>
              </a:ext>
            </a:extLst>
          </p:cNvPr>
          <p:cNvSpPr>
            <a:spLocks noGrp="1"/>
          </p:cNvSpPr>
          <p:nvPr>
            <p:ph type="title"/>
          </p:nvPr>
        </p:nvSpPr>
        <p:spPr/>
        <p:txBody>
          <a:bodyPr/>
          <a:lstStyle/>
          <a:p>
            <a:r>
              <a:rPr lang="en-US" dirty="0"/>
              <a:t>3blue1brown for more visual </a:t>
            </a:r>
          </a:p>
        </p:txBody>
      </p:sp>
      <p:pic>
        <p:nvPicPr>
          <p:cNvPr id="6" name="Content Placeholder 5">
            <a:extLst>
              <a:ext uri="{FF2B5EF4-FFF2-40B4-BE49-F238E27FC236}">
                <a16:creationId xmlns:a16="http://schemas.microsoft.com/office/drawing/2014/main" id="{5409EB3A-665C-9BED-1365-A284BFAB6E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3595" y="1289294"/>
            <a:ext cx="5347337" cy="4752068"/>
          </a:xfrm>
        </p:spPr>
      </p:pic>
      <p:sp>
        <p:nvSpPr>
          <p:cNvPr id="4" name="Footer Placeholder 3">
            <a:extLst>
              <a:ext uri="{FF2B5EF4-FFF2-40B4-BE49-F238E27FC236}">
                <a16:creationId xmlns:a16="http://schemas.microsoft.com/office/drawing/2014/main" id="{8361E4F6-2484-8F14-AF40-9DF61E40597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18795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rPr dirty="0"/>
              <a:t>ANNs are inspired by the human brain.</a:t>
            </a:r>
          </a:p>
          <a:p>
            <a:r>
              <a:rPr dirty="0"/>
              <a:t>Components include input, hidden, and output layers, weights, and biases.</a:t>
            </a:r>
          </a:p>
          <a:p>
            <a:r>
              <a:rPr dirty="0"/>
              <a:t>Training involves forward propagation, loss calculation, and backward propagation.</a:t>
            </a:r>
          </a:p>
          <a:p>
            <a:r>
              <a:rPr dirty="0"/>
              <a:t>Learning rate affects the speed and accuracy of training.</a:t>
            </a:r>
          </a:p>
          <a:p>
            <a:r>
              <a:rPr dirty="0"/>
              <a:t>Single-layer </a:t>
            </a:r>
            <a:r>
              <a:rPr dirty="0" err="1"/>
              <a:t>perceptrons</a:t>
            </a:r>
            <a:r>
              <a:rPr dirty="0"/>
              <a:t> solve simple problems, while multi-layer </a:t>
            </a:r>
            <a:r>
              <a:rPr dirty="0" err="1"/>
              <a:t>perceptrons</a:t>
            </a:r>
            <a:r>
              <a:rPr dirty="0"/>
              <a:t> handle complex tasks.</a:t>
            </a:r>
          </a:p>
        </p:txBody>
      </p:sp>
      <p:sp>
        <p:nvSpPr>
          <p:cNvPr id="4" name="Footer Placeholder 3">
            <a:extLst>
              <a:ext uri="{FF2B5EF4-FFF2-40B4-BE49-F238E27FC236}">
                <a16:creationId xmlns:a16="http://schemas.microsoft.com/office/drawing/2014/main" id="{CB2F47B7-E7DF-4C55-B305-D6969CF41E97}"/>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 &amp; Discussion</a:t>
            </a:r>
          </a:p>
        </p:txBody>
      </p:sp>
      <p:sp>
        <p:nvSpPr>
          <p:cNvPr id="3" name="Content Placeholder 2"/>
          <p:cNvSpPr>
            <a:spLocks noGrp="1"/>
          </p:cNvSpPr>
          <p:nvPr>
            <p:ph idx="1"/>
          </p:nvPr>
        </p:nvSpPr>
        <p:spPr/>
        <p:txBody>
          <a:bodyPr/>
          <a:lstStyle/>
          <a:p>
            <a:r>
              <a:t>Let's discuss ANN concepts further!</a:t>
            </a:r>
          </a:p>
        </p:txBody>
      </p:sp>
      <p:sp>
        <p:nvSpPr>
          <p:cNvPr id="4" name="Footer Placeholder 3">
            <a:extLst>
              <a:ext uri="{FF2B5EF4-FFF2-40B4-BE49-F238E27FC236}">
                <a16:creationId xmlns:a16="http://schemas.microsoft.com/office/drawing/2014/main" id="{40F36C3D-65E5-F126-EDAA-923A1D1CBDCE}"/>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1682</TotalTime>
  <Words>7308</Words>
  <Application>Microsoft Office PowerPoint</Application>
  <PresentationFormat>Widescreen</PresentationFormat>
  <Paragraphs>816</Paragraphs>
  <Slides>54</Slides>
  <Notes>12</Notes>
  <HiddenSlides>15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Aptos</vt:lpstr>
      <vt:lpstr>Arial</vt:lpstr>
      <vt:lpstr>Cambria Math</vt:lpstr>
      <vt:lpstr>inherit</vt:lpstr>
      <vt:lpstr>Times New Roman</vt:lpstr>
      <vt:lpstr>Titillium</vt:lpstr>
      <vt:lpstr>Trebuchet MS</vt:lpstr>
      <vt:lpstr>Wingdings</vt:lpstr>
      <vt:lpstr>Wingdings 3</vt:lpstr>
      <vt:lpstr>Facet</vt:lpstr>
      <vt:lpstr>Machine Learning</vt:lpstr>
      <vt:lpstr>Contents</vt:lpstr>
      <vt:lpstr>Machine Learning </vt:lpstr>
      <vt:lpstr>Evolution of Machine Learning</vt:lpstr>
      <vt:lpstr>Machine Learning</vt:lpstr>
      <vt:lpstr>Learning by Analogy</vt:lpstr>
      <vt:lpstr>Analogical Reasoning Steps </vt:lpstr>
      <vt:lpstr>Explanation-Based Learning (EBL)</vt:lpstr>
      <vt:lpstr>Feedback Based Learning</vt:lpstr>
      <vt:lpstr>Supervised Learning</vt:lpstr>
      <vt:lpstr>Supervised Learning</vt:lpstr>
      <vt:lpstr>Two approaches of Supervised Learning</vt:lpstr>
      <vt:lpstr>K-nearest Neighbor (KNN)</vt:lpstr>
      <vt:lpstr>PowerPoint Presentation</vt:lpstr>
      <vt:lpstr>KNN numerical example</vt:lpstr>
      <vt:lpstr>Naïve bayes</vt:lpstr>
      <vt:lpstr>Logistic Regression</vt:lpstr>
      <vt:lpstr>Support Vector Machines</vt:lpstr>
      <vt:lpstr>PowerPoint Presentation</vt:lpstr>
      <vt:lpstr>PowerPoint Presentation</vt:lpstr>
      <vt:lpstr>PowerPoint Presentation</vt:lpstr>
      <vt:lpstr>Pros, Cons and Applications of SVM</vt:lpstr>
      <vt:lpstr>Applications of Supervised Learning </vt:lpstr>
      <vt:lpstr>Unsupervised Learning</vt:lpstr>
      <vt:lpstr>Types of Unsupervised learning</vt:lpstr>
      <vt:lpstr>Clustering</vt:lpstr>
      <vt:lpstr>K Means Clustering</vt:lpstr>
      <vt:lpstr>Numerical on k-means clustering</vt:lpstr>
      <vt:lpstr>Dimensionality Reduction</vt:lpstr>
      <vt:lpstr>PCA</vt:lpstr>
      <vt:lpstr>Linear Discriminant Analysis</vt:lpstr>
      <vt:lpstr>Reinforcement Learning</vt:lpstr>
      <vt:lpstr>Types of Reinforcement Learning</vt:lpstr>
      <vt:lpstr>Comparison</vt:lpstr>
      <vt:lpstr>Boltzmann Machines</vt:lpstr>
      <vt:lpstr>PowerPoint Presentation</vt:lpstr>
      <vt:lpstr>Deep Learning</vt:lpstr>
      <vt:lpstr>ML vs DL</vt:lpstr>
      <vt:lpstr>Application, Challenges and Recent Advancements</vt:lpstr>
      <vt:lpstr>Artificial Neural Network (ANN)</vt:lpstr>
      <vt:lpstr>Biological Inspiration</vt:lpstr>
      <vt:lpstr>Basic Components of ANN</vt:lpstr>
      <vt:lpstr>Single-Layer Perceptron</vt:lpstr>
      <vt:lpstr>Logic Gate Concept</vt:lpstr>
      <vt:lpstr>Multi-Layer Perceptron (MLP)</vt:lpstr>
      <vt:lpstr>Training Neural Networks</vt:lpstr>
      <vt:lpstr>Forward Propagation</vt:lpstr>
      <vt:lpstr>Backward Propagation</vt:lpstr>
      <vt:lpstr>Loss Function</vt:lpstr>
      <vt:lpstr>Learning Rate (α) or Eta (η)</vt:lpstr>
      <vt:lpstr>Numerical Example:</vt:lpstr>
      <vt:lpstr>3blue1brown for more visual </vt:lpstr>
      <vt:lpstr>Summary</vt:lpstr>
      <vt:lpstr>Questions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350</cp:revision>
  <dcterms:created xsi:type="dcterms:W3CDTF">2025-01-04T18:18:42Z</dcterms:created>
  <dcterms:modified xsi:type="dcterms:W3CDTF">2026-02-01T16:51:41Z</dcterms:modified>
</cp:coreProperties>
</file>