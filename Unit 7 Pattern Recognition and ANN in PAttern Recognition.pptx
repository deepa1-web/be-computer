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16" r:id="rId3"/>
    <p:sldId id="318" r:id="rId4"/>
    <p:sldId id="260" r:id="rId5"/>
    <p:sldId id="259" r:id="rId6"/>
    <p:sldId id="263" r:id="rId7"/>
    <p:sldId id="319" r:id="rId8"/>
    <p:sldId id="338" r:id="rId9"/>
    <p:sldId id="339" r:id="rId10"/>
    <p:sldId id="336" r:id="rId11"/>
    <p:sldId id="337" r:id="rId12"/>
    <p:sldId id="330" r:id="rId13"/>
    <p:sldId id="332" r:id="rId14"/>
    <p:sldId id="333" r:id="rId15"/>
    <p:sldId id="334" r:id="rId16"/>
    <p:sldId id="335" r:id="rId17"/>
    <p:sldId id="321" r:id="rId18"/>
    <p:sldId id="322" r:id="rId19"/>
    <p:sldId id="324" r:id="rId20"/>
    <p:sldId id="325" r:id="rId21"/>
    <p:sldId id="326" r:id="rId22"/>
    <p:sldId id="327" r:id="rId23"/>
    <p:sldId id="328" r:id="rId24"/>
    <p:sldId id="329" r:id="rId25"/>
    <p:sldId id="331" r:id="rId26"/>
    <p:sldId id="323" r:id="rId27"/>
    <p:sldId id="340" r:id="rId28"/>
    <p:sldId id="341" r:id="rId29"/>
    <p:sldId id="346" r:id="rId30"/>
    <p:sldId id="347" r:id="rId31"/>
    <p:sldId id="342" r:id="rId32"/>
    <p:sldId id="343" r:id="rId33"/>
    <p:sldId id="344" r:id="rId34"/>
    <p:sldId id="345" r:id="rId35"/>
    <p:sldId id="348" r:id="rId36"/>
    <p:sldId id="353" r:id="rId37"/>
    <p:sldId id="352" r:id="rId38"/>
    <p:sldId id="314" r:id="rId39"/>
    <p:sldId id="350" r:id="rId40"/>
    <p:sldId id="351" r:id="rId41"/>
    <p:sldId id="354" r:id="rId42"/>
    <p:sldId id="349" r:id="rId43"/>
    <p:sldId id="356" r:id="rId44"/>
    <p:sldId id="357" r:id="rId45"/>
    <p:sldId id="358" r:id="rId46"/>
    <p:sldId id="359" r:id="rId47"/>
    <p:sldId id="360" r:id="rId48"/>
    <p:sldId id="361" r:id="rId49"/>
    <p:sldId id="362" r:id="rId50"/>
    <p:sldId id="363" r:id="rId51"/>
    <p:sldId id="364" r:id="rId52"/>
    <p:sldId id="365" r:id="rId53"/>
    <p:sldId id="366" r:id="rId54"/>
    <p:sldId id="371" r:id="rId55"/>
    <p:sldId id="367" r:id="rId56"/>
    <p:sldId id="368" r:id="rId57"/>
    <p:sldId id="369" r:id="rId58"/>
    <p:sldId id="370" r:id="rId59"/>
    <p:sldId id="372" r:id="rId60"/>
    <p:sldId id="373" r:id="rId61"/>
    <p:sldId id="374" r:id="rId62"/>
    <p:sldId id="355" r:id="rId63"/>
    <p:sldId id="317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21" autoAdjust="0"/>
    <p:restoredTop sz="93969" autoAdjust="0"/>
  </p:normalViewPr>
  <p:slideViewPr>
    <p:cSldViewPr snapToGrid="0">
      <p:cViewPr varScale="1">
        <p:scale>
          <a:sx n="99" d="100"/>
          <a:sy n="99" d="100"/>
        </p:scale>
        <p:origin x="176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DFAFD-11C0-45D7-9479-D1E78EB3123D}" type="datetimeFigureOut">
              <a:rPr lang="en-IN" smtClean="0"/>
              <a:t>13/07/25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6A7C5-F47D-4864-9A31-2BEA2C5980E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95" y="313928"/>
            <a:ext cx="12066905" cy="1369399"/>
          </a:xfrm>
        </p:spPr>
        <p:txBody>
          <a:bodyPr>
            <a:noAutofit/>
          </a:bodyPr>
          <a:lstStyle/>
          <a:p>
            <a:r>
              <a:rPr lang="en-GB" sz="3200" b="1" dirty="0">
                <a:solidFill>
                  <a:srgbClr val="000000"/>
                </a:solidFill>
                <a:latin typeface="TimesNewRomanPS-BoldMT"/>
              </a:rPr>
              <a:t>Unit 7 </a:t>
            </a:r>
            <a:br>
              <a:rPr lang="en-GB" sz="3200" b="1" dirty="0">
                <a:solidFill>
                  <a:srgbClr val="000000"/>
                </a:solidFill>
                <a:latin typeface="TimesNewRomanPS-BoldMT"/>
              </a:rPr>
            </a:br>
            <a:r>
              <a:rPr lang="en-GB" sz="3200" b="1" dirty="0">
                <a:solidFill>
                  <a:srgbClr val="00B0F0"/>
                </a:solidFill>
                <a:latin typeface="TimesNewRomanPS-BoldMT"/>
              </a:rPr>
              <a:t>Pattern Recognition &amp; Artificial Neural Network in Pattern Recognition</a:t>
            </a:r>
            <a:endParaRPr lang="en-GB" sz="3200" dirty="0">
              <a:solidFill>
                <a:srgbClr val="00B0F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6019" y="2974607"/>
            <a:ext cx="7855181" cy="2606675"/>
          </a:xfrm>
        </p:spPr>
        <p:txBody>
          <a:bodyPr>
            <a:noAutofit/>
          </a:bodyPr>
          <a:lstStyle/>
          <a:p>
            <a:pPr algn="l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sented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Er.Harendra Bikram Shah </a:t>
            </a:r>
            <a:b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(Lecturer)</a:t>
            </a:r>
          </a:p>
          <a:p>
            <a:pPr algn="l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b="1" dirty="0">
                <a:ln/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</a:t>
            </a:r>
          </a:p>
          <a:p>
            <a:pPr algn="l"/>
            <a:r>
              <a:rPr lang="en-GB" b="1" dirty="0">
                <a:ln/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b="1" dirty="0">
                <a:ln/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		          </a:t>
            </a:r>
            <a:r>
              <a:rPr lang="en-US" altLang="en-GB" b="1" dirty="0">
                <a:ln/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NAST</a:t>
            </a:r>
            <a:r>
              <a:rPr lang="en-GB" b="1" dirty="0">
                <a:ln/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GB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976254" y="2451387"/>
            <a:ext cx="18902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Hour: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8hrs.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1918-9DB5-9DA7-564A-3B5B68269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C93E34-C923-66D6-A412-75BA120D19AE}"/>
              </a:ext>
            </a:extLst>
          </p:cNvPr>
          <p:cNvSpPr txBox="1"/>
          <p:nvPr/>
        </p:nvSpPr>
        <p:spPr>
          <a:xfrm>
            <a:off x="-3462" y="696191"/>
            <a:ext cx="112568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7.1 Image pattern and its recognition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7.2 General steps of Pattern recognition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7.3 Boundary Preprocessing, Boundary Feature Descriptors, Region Feature Descriptors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7.4 Feature extraction: PCA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7.5 Scale-Invariant Feature Transform (SIFT)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7.6 Patterns and Pattern Classes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7.7 Pattern Classification by Prototype Matching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7.8 Optimum (Bayes) Statistical Classifiers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7.9 Artificial Neural Network </a:t>
            </a:r>
            <a:endParaRPr lang="en-GB" dirty="0"/>
          </a:p>
          <a:p>
            <a:pPr>
              <a:buNone/>
            </a:pPr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7.9.1 Perceptron </a:t>
            </a:r>
            <a:endParaRPr lang="en-GB" dirty="0"/>
          </a:p>
          <a:p>
            <a:r>
              <a:rPr lang="en-GB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7.9.2 Hopfield Network 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6F00C-8EDC-F974-0448-3FC67A0A2FBD}"/>
              </a:ext>
            </a:extLst>
          </p:cNvPr>
          <p:cNvSpPr txBox="1"/>
          <p:nvPr/>
        </p:nvSpPr>
        <p:spPr>
          <a:xfrm>
            <a:off x="5527964" y="0"/>
            <a:ext cx="23070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OUTLINES</a:t>
            </a:r>
          </a:p>
        </p:txBody>
      </p:sp>
    </p:spTree>
    <p:extLst>
      <p:ext uri="{BB962C8B-B14F-4D97-AF65-F5344CB8AC3E}">
        <p14:creationId xmlns:p14="http://schemas.microsoft.com/office/powerpoint/2010/main" val="1394497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025D-EA33-1B9D-9F54-32CB4C67A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C6F6FC-40BD-1223-1BB3-1D1ADD989E6B}"/>
              </a:ext>
            </a:extLst>
          </p:cNvPr>
          <p:cNvSpPr txBox="1"/>
          <p:nvPr/>
        </p:nvSpPr>
        <p:spPr>
          <a:xfrm>
            <a:off x="3341806" y="0"/>
            <a:ext cx="60346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Image pattern and its recognition</a:t>
            </a:r>
            <a:endParaRPr lang="en-US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9D951A-464B-F706-6833-D2519A9CD9D7}"/>
              </a:ext>
            </a:extLst>
          </p:cNvPr>
          <p:cNvSpPr txBox="1"/>
          <p:nvPr/>
        </p:nvSpPr>
        <p:spPr>
          <a:xfrm>
            <a:off x="-3462" y="487740"/>
            <a:ext cx="121954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Pattern: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visual features or structures within an image (e.g., shapes, textures, edges) that help in identifying or categorizing the image.</a:t>
            </a:r>
          </a:p>
          <a:p>
            <a:pPr algn="just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Recognition: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classifying input data (patterns) into predefined categories based on either statistical or structural features.</a:t>
            </a:r>
          </a:p>
          <a:p>
            <a:pPr algn="just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from noisy/incomplete data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data using prior knowledge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decision-making (e.g., face detection, medical imaging, OCR)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00A02-3283-2D72-6CD0-B2E83B308866}"/>
              </a:ext>
            </a:extLst>
          </p:cNvPr>
          <p:cNvSpPr txBox="1"/>
          <p:nvPr/>
        </p:nvSpPr>
        <p:spPr>
          <a:xfrm>
            <a:off x="0" y="3930801"/>
            <a:ext cx="1071137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Pattern Recognition: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familiar patterns quickly and accurate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and classify unfamiliar objects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Accurately recognize shapes and objects from different angles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 and objects even when partly hidden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patterns quickly with ease, and with automaticity.</a:t>
            </a:r>
          </a:p>
        </p:txBody>
      </p:sp>
    </p:spTree>
    <p:extLst>
      <p:ext uri="{BB962C8B-B14F-4D97-AF65-F5344CB8AC3E}">
        <p14:creationId xmlns:p14="http://schemas.microsoft.com/office/powerpoint/2010/main" val="165610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817"/>
            <a:ext cx="10515600" cy="744147"/>
          </a:xfrm>
        </p:spPr>
        <p:txBody>
          <a:bodyPr/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Pattern Recognition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242A5C-085B-4527-8DCF-3AFEB51F4F58}"/>
              </a:ext>
            </a:extLst>
          </p:cNvPr>
          <p:cNvSpPr txBox="1"/>
          <p:nvPr/>
        </p:nvSpPr>
        <p:spPr>
          <a:xfrm>
            <a:off x="0" y="1203019"/>
            <a:ext cx="729770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processing, segmentation, and analysis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Seismic analysis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 signal classification/analysis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Fingerprint identification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Geography</a:t>
            </a:r>
          </a:p>
        </p:txBody>
      </p:sp>
    </p:spTree>
    <p:extLst>
      <p:ext uri="{BB962C8B-B14F-4D97-AF65-F5344CB8AC3E}">
        <p14:creationId xmlns:p14="http://schemas.microsoft.com/office/powerpoint/2010/main" val="374808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22011"/>
          </a:xfrm>
        </p:spPr>
        <p:txBody>
          <a:bodyPr>
            <a:normAutofit/>
          </a:bodyPr>
          <a:lstStyle/>
          <a:p>
            <a:pPr algn="ctr"/>
            <a:r>
              <a:rPr lang="en-GB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Pattern Recognition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06FFD7-E4DB-0E72-D49B-CC16909A7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009" y="1816100"/>
            <a:ext cx="11633982" cy="322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90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04DBF-C6E7-4A5D-A63C-F0788FB8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345"/>
            <a:ext cx="10515600" cy="746702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Phases/Steps in Pattern Recognition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51B2584-1775-478B-97E0-958467DB7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27"/>
          <a:stretch>
            <a:fillRect/>
          </a:stretch>
        </p:blipFill>
        <p:spPr bwMode="auto">
          <a:xfrm>
            <a:off x="2964517" y="731850"/>
            <a:ext cx="6283392" cy="5616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777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74F7E-3DAC-C1CC-352F-D60C10F7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6554-F54D-0512-1E00-C578D4667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Boundary Preprocessing</a:t>
            </a:r>
            <a:endParaRPr lang="en-GB" sz="2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022F2-B457-1D75-6C9E-3632FFA589FA}"/>
              </a:ext>
            </a:extLst>
          </p:cNvPr>
          <p:cNvSpPr txBox="1"/>
          <p:nvPr/>
        </p:nvSpPr>
        <p:spPr>
          <a:xfrm>
            <a:off x="-1" y="462456"/>
            <a:ext cx="121919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Boundary preprocessing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involves cleaning and preparing the boundary (edge) data of objects in an image to make them suitable for further analysis, such as feature extraction or classification.</a:t>
            </a:r>
          </a:p>
          <a:p>
            <a:pPr algn="just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Techniques:</a:t>
            </a:r>
          </a:p>
          <a:p>
            <a:pPr algn="just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a) Smoothing:</a:t>
            </a:r>
          </a:p>
          <a:p>
            <a:pPr algn="just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b) Thinning :</a:t>
            </a:r>
          </a:p>
          <a:p>
            <a:pPr algn="just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c) Edge Linking:</a:t>
            </a:r>
          </a:p>
          <a:p>
            <a:pPr algn="just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d) Noise Removal:</a:t>
            </a:r>
          </a:p>
          <a:p>
            <a:pPr algn="just">
              <a:buNone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e) Continuous  Extraction:</a:t>
            </a:r>
          </a:p>
        </p:txBody>
      </p:sp>
    </p:spTree>
    <p:extLst>
      <p:ext uri="{BB962C8B-B14F-4D97-AF65-F5344CB8AC3E}">
        <p14:creationId xmlns:p14="http://schemas.microsoft.com/office/powerpoint/2010/main" val="3255725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A29D-F8CF-9A82-A4B3-D3A8DAEA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52EB9-BBB3-1B89-148A-98835833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Boundary Feature Descriptors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F9BE44-34CB-4528-4A6D-DDB27AB7E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288396"/>
              </p:ext>
            </p:extLst>
          </p:nvPr>
        </p:nvGraphicFramePr>
        <p:xfrm>
          <a:off x="-23133" y="1229861"/>
          <a:ext cx="11887200" cy="38486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4132788922"/>
                    </a:ext>
                  </a:extLst>
                </a:gridCol>
                <a:gridCol w="5580058">
                  <a:extLst>
                    <a:ext uri="{9D8B030D-6E8A-4147-A177-3AD203B41FA5}">
                      <a16:colId xmlns:a16="http://schemas.microsoft.com/office/drawing/2014/main" val="3727605996"/>
                    </a:ext>
                  </a:extLst>
                </a:gridCol>
                <a:gridCol w="2954343">
                  <a:extLst>
                    <a:ext uri="{9D8B030D-6E8A-4147-A177-3AD203B41FA5}">
                      <a16:colId xmlns:a16="http://schemas.microsoft.com/office/drawing/2014/main" val="1179631078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Descriptor Type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Features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350952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GB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Chain Code</a:t>
                      </a:r>
                      <a:endParaRPr 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a boundary as a sequence of direction codes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Compact, easy to implement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436432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GB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Fourier Descriptors</a:t>
                      </a:r>
                      <a:endParaRPr 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Fourier transform to represent the boundary in frequency domain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Robust to noise, good for closed contours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8228264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r>
                        <a:rPr lang="en-GB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Curvature Scale Space (CSS)</a:t>
                      </a:r>
                      <a:endParaRPr 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Describes shape based on curvature changes at multiple scales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Captures fine and coarse details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2565580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GB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Polygonal Approximation</a:t>
                      </a:r>
                      <a:endParaRPr lang="en-GB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Approximates the boundary using straight-line segments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complexity, useful for vector representations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33388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GB" sz="1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Shape Signatures (e.g., Centroid Distance Function)</a:t>
                      </a:r>
                      <a:endParaRPr lang="en-GB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One-dimensional representation of shape derived from boundary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Useful for comparison and matching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3558064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r>
                        <a:rPr lang="en-GB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Invariant Moments</a:t>
                      </a:r>
                      <a:endParaRPr lang="en-GB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measures of boundary shape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Invariant to scale, rotation, translation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6982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59E576A-24D7-4C3C-689F-A0C950BBF0EE}"/>
              </a:ext>
            </a:extLst>
          </p:cNvPr>
          <p:cNvSpPr txBox="1"/>
          <p:nvPr/>
        </p:nvSpPr>
        <p:spPr>
          <a:xfrm>
            <a:off x="-43542" y="306531"/>
            <a:ext cx="119280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feature descriptors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quantitative information from the boundary points.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features are often translation, rotation, and scale invariant, which makes them useful for shape recognition.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B413A4-D3B4-577D-DD54-09705D4EFA32}"/>
              </a:ext>
            </a:extLst>
          </p:cNvPr>
          <p:cNvSpPr txBox="1"/>
          <p:nvPr/>
        </p:nvSpPr>
        <p:spPr>
          <a:xfrm>
            <a:off x="-43542" y="5124660"/>
            <a:ext cx="61395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 recognition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Shape classification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Character recognition (OCR)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retrieval</a:t>
            </a:r>
          </a:p>
        </p:txBody>
      </p:sp>
    </p:spTree>
    <p:extLst>
      <p:ext uri="{BB962C8B-B14F-4D97-AF65-F5344CB8AC3E}">
        <p14:creationId xmlns:p14="http://schemas.microsoft.com/office/powerpoint/2010/main" val="350605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28AD-EAD8-B967-A3C0-A8C1F0EA9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39C4-1433-C771-42F9-F017818ED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DESCRIPTORS</a:t>
            </a:r>
            <a:endParaRPr lang="en-GB" sz="2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089C5E-8627-C72A-D999-AE15456931F8}"/>
              </a:ext>
            </a:extLst>
          </p:cNvPr>
          <p:cNvSpPr txBox="1"/>
          <p:nvPr/>
        </p:nvSpPr>
        <p:spPr>
          <a:xfrm>
            <a:off x="0" y="524493"/>
            <a:ext cx="12191999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Descriptor in Image Processing </a:t>
            </a:r>
          </a:p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Descriptor is basically a way of representing a part of an image that has some distinctive or interesting characteristics.</a:t>
            </a:r>
          </a:p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usually a set of numbers that describe the appearance, shape, or texture of the region around a key point.</a:t>
            </a:r>
          </a:p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applications for this would be in identifying and comparing image regions.</a:t>
            </a:r>
          </a:p>
        </p:txBody>
      </p:sp>
      <p:pic>
        <p:nvPicPr>
          <p:cNvPr id="4" name="Picture 6" descr="How Principal Component Analysis, PCA Works">
            <a:extLst>
              <a:ext uri="{FF2B5EF4-FFF2-40B4-BE49-F238E27FC236}">
                <a16:creationId xmlns:a16="http://schemas.microsoft.com/office/drawing/2014/main" id="{DA18D78D-CCFD-BA0C-A0F5-4AF3E3B11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14" b="11656"/>
          <a:stretch>
            <a:fillRect/>
          </a:stretch>
        </p:blipFill>
        <p:spPr bwMode="auto">
          <a:xfrm>
            <a:off x="2120337" y="2071246"/>
            <a:ext cx="8351720" cy="472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211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7FAE7-5F23-4EF5-A262-B535E03B9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D12A-ECDB-0CFF-0A7E-452CEAC0E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1545"/>
          </a:xfrm>
        </p:spPr>
        <p:txBody>
          <a:bodyPr>
            <a:no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SIFT(Scale-Invariant Feature Transform)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FB9BB-498B-C2D7-240E-BF0BE044AE7A}"/>
              </a:ext>
            </a:extLst>
          </p:cNvPr>
          <p:cNvSpPr txBox="1"/>
          <p:nvPr/>
        </p:nvSpPr>
        <p:spPr>
          <a:xfrm>
            <a:off x="0" y="8415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SIFT is a robust algorithm designed to identify and describe local features in images that are invariant to scale, rotation, and partially invariant to affine transformations and illumination changes.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vision algorithm to detect, describe, and match local features in images, invented by David Lowe in 1999.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EE9D02-4C0C-F447-FC6C-A47EB7485E75}"/>
              </a:ext>
            </a:extLst>
          </p:cNvPr>
          <p:cNvSpPr txBox="1"/>
          <p:nvPr/>
        </p:nvSpPr>
        <p:spPr>
          <a:xfrm>
            <a:off x="1" y="2071177"/>
            <a:ext cx="12191999" cy="4534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Steps in the SIFT Algorithm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SIFT algorithm comprises several steps, each crucial for accurately detecting and describing features. These steps are:</a:t>
            </a:r>
          </a:p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1.Scale-Space Extrema Detection: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step involves identifying key points that are invariant to scale. This is achieved by constructing a scale-space representation of the image using a Gaussian function.</a:t>
            </a:r>
          </a:p>
          <a:p>
            <a:pPr algn="just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Key point Localization</a:t>
            </a:r>
          </a:p>
          <a:p>
            <a:pPr algn="just"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potential key points are identified, the algorithm refines their positions to improve accuracy.  </a:t>
            </a:r>
          </a:p>
          <a:p>
            <a:pPr algn="just"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Orientation Assignment</a:t>
            </a: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key point is assigned one or more orientations based on the local image gradient directions. This step ensures that the key point descriptors are invariant to image rotation. </a:t>
            </a:r>
          </a:p>
          <a:p>
            <a:pPr fontAlgn="base"/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Key point Descriptor</a:t>
            </a: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step is to create a descriptor for each key point. This descriptor is a vector that describes the local image region around the key point</a:t>
            </a:r>
          </a:p>
        </p:txBody>
      </p:sp>
    </p:spTree>
    <p:extLst>
      <p:ext uri="{BB962C8B-B14F-4D97-AF65-F5344CB8AC3E}">
        <p14:creationId xmlns:p14="http://schemas.microsoft.com/office/powerpoint/2010/main" val="3282622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7B90-4387-50A3-636E-7E075ECF2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E360-8906-26F7-1BF5-726B4CCEE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1545"/>
          </a:xfrm>
        </p:spPr>
        <p:txBody>
          <a:bodyPr>
            <a:noAutofit/>
          </a:bodyPr>
          <a:lstStyle/>
          <a:p>
            <a:pPr algn="ctr"/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SIFT(Scale-Invariant Feature Transform)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39936C-685E-E3B6-DA90-91570A0D661F}"/>
              </a:ext>
            </a:extLst>
          </p:cNvPr>
          <p:cNvSpPr txBox="1"/>
          <p:nvPr/>
        </p:nvSpPr>
        <p:spPr>
          <a:xfrm>
            <a:off x="0" y="693684"/>
            <a:ext cx="503445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SIFT</a:t>
            </a:r>
          </a:p>
          <a:p>
            <a:pPr marL="342900" indent="-342900" algn="l" fontAlgn="base">
              <a:spcBef>
                <a:spcPts val="1800"/>
              </a:spcBef>
              <a:spcAft>
                <a:spcPts val="1800"/>
              </a:spcAft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Recognition</a:t>
            </a:r>
          </a:p>
          <a:p>
            <a:pPr marL="342900" indent="-342900" algn="l" fontAlgn="base">
              <a:spcBef>
                <a:spcPts val="1800"/>
              </a:spcBef>
              <a:spcAft>
                <a:spcPts val="1800"/>
              </a:spcAft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Stitching</a:t>
            </a:r>
          </a:p>
          <a:p>
            <a:pPr marL="342900" indent="-342900" algn="l" fontAlgn="base">
              <a:spcBef>
                <a:spcPts val="1800"/>
              </a:spcBef>
              <a:spcAft>
                <a:spcPts val="1800"/>
              </a:spcAft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 Reconstruction</a:t>
            </a:r>
          </a:p>
          <a:p>
            <a:pPr marL="342900" indent="-342900" algn="l" fontAlgn="base">
              <a:spcBef>
                <a:spcPts val="1800"/>
              </a:spcBef>
              <a:spcAft>
                <a:spcPts val="1800"/>
              </a:spcAft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 Navigation</a:t>
            </a:r>
          </a:p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SIFT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and Rotation Invariance: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Distinctive Descriptors: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to Noise and Illumination Changes: </a:t>
            </a:r>
          </a:p>
          <a:p>
            <a:pPr algn="l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SIFT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Complexity: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Patent Issues: </a:t>
            </a:r>
          </a:p>
        </p:txBody>
      </p:sp>
      <p:pic>
        <p:nvPicPr>
          <p:cNvPr id="18434" name="Picture 2" descr="SIFT(Scale-invariant feature transform) | by Minghao Ning | TDS Archive |  Medium">
            <a:extLst>
              <a:ext uri="{FF2B5EF4-FFF2-40B4-BE49-F238E27FC236}">
                <a16:creationId xmlns:a16="http://schemas.microsoft.com/office/drawing/2014/main" id="{87F15E14-AE4C-F5AA-7AF3-15BDA4BE88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76"/>
          <a:stretch>
            <a:fillRect/>
          </a:stretch>
        </p:blipFill>
        <p:spPr bwMode="auto">
          <a:xfrm>
            <a:off x="4378873" y="1282261"/>
            <a:ext cx="7581900" cy="307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4425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36186-39D5-07EB-5971-CE3590B70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5D35D-2EFE-017F-C40E-D35E4E42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3D6012-6138-3195-B382-605B61D025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57"/>
          <a:stretch>
            <a:fillRect/>
          </a:stretch>
        </p:blipFill>
        <p:spPr bwMode="auto">
          <a:xfrm>
            <a:off x="0" y="1980126"/>
            <a:ext cx="12192000" cy="3718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2D9713-7AF8-0F0E-C8A7-950178CECADA}"/>
              </a:ext>
            </a:extLst>
          </p:cNvPr>
          <p:cNvSpPr txBox="1"/>
          <p:nvPr/>
        </p:nvSpPr>
        <p:spPr>
          <a:xfrm>
            <a:off x="73572" y="804832"/>
            <a:ext cx="121184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 in data analysis and machine learning. 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number of features in a dataset while keeping the most important information.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finds these by calculating eigenvectors (directions) and eigenvalues (importance) from the covariance matrix. 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723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BAF83-5614-B2B1-86E1-D7B10412E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406A-D37E-8F53-62AA-25D4270B5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3E4339-6E1A-38F2-F58C-8A09BAC96441}"/>
              </a:ext>
            </a:extLst>
          </p:cNvPr>
          <p:cNvSpPr txBox="1"/>
          <p:nvPr/>
        </p:nvSpPr>
        <p:spPr>
          <a:xfrm>
            <a:off x="-1" y="777766"/>
            <a:ext cx="12191999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Standardize the Data</a:t>
            </a:r>
          </a:p>
          <a:p>
            <a:pPr marL="285750" indent="-285750" algn="l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features may have different units and scales like salary vs. age. </a:t>
            </a:r>
          </a:p>
          <a:p>
            <a:pPr marL="285750" indent="-285750" algn="l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them fairly PCA first standardizes the data by making each feature have: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mean of 0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standard deviation of 1</a:t>
            </a:r>
          </a:p>
          <a:p>
            <a:pPr algn="ctr" fontAlgn="base">
              <a:spcAft>
                <a:spcPts val="750"/>
              </a:spcAft>
              <a:buNone/>
            </a:pP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spcAft>
                <a:spcPts val="750"/>
              </a:spcAft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mean of independent features  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μ={μ1,μ2,⋯,μ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m}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standard deviation of independent features  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σ={σ1,σ2,⋯,σ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37BDE7-85E5-3D5D-5CA0-015EE85C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550" y="3067050"/>
            <a:ext cx="16129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DB825-C04F-67CF-9643-F3FE45CF1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50D1F-10A3-0DA9-8D9E-FFFA02860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3C3CEF-C2C7-B822-9444-65083CB166AE}"/>
              </a:ext>
            </a:extLst>
          </p:cNvPr>
          <p:cNvSpPr txBox="1"/>
          <p:nvPr/>
        </p:nvSpPr>
        <p:spPr>
          <a:xfrm>
            <a:off x="-1" y="664664"/>
            <a:ext cx="12191999" cy="1256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Calculate Covariance Matrix</a:t>
            </a:r>
          </a:p>
          <a:p>
            <a:pPr marL="285750" indent="-285750" algn="l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PCA calculates the covariance matrix to see how features relate to each other whether they increase or decrease together.</a:t>
            </a:r>
          </a:p>
          <a:p>
            <a:pPr marL="285750" indent="-285750" algn="l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covariance between two features x1x1​ and x2x2​ is: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44B06-0B12-2E77-618C-27794123B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286" y="2035364"/>
            <a:ext cx="4241800" cy="685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056919-AA3E-7945-11D6-7A11ADF689EF}"/>
              </a:ext>
            </a:extLst>
          </p:cNvPr>
          <p:cNvSpPr txBox="1"/>
          <p:nvPr/>
        </p:nvSpPr>
        <p:spPr>
          <a:xfrm>
            <a:off x="0" y="3090042"/>
            <a:ext cx="12191998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xˉ1andx ˉ2xˉ1​andxˉ2​​ are the mean values of features x1andx2x1​andx2​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 is the number of data points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covariance can be positive, negative or zeros.</a:t>
            </a:r>
          </a:p>
        </p:txBody>
      </p:sp>
    </p:spTree>
    <p:extLst>
      <p:ext uri="{BB962C8B-B14F-4D97-AF65-F5344CB8AC3E}">
        <p14:creationId xmlns:p14="http://schemas.microsoft.com/office/powerpoint/2010/main" val="205755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8CDF-8652-054F-4B09-01C51A31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732E-CA1B-4A2F-564C-F34B7023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551F0-2B2D-ADBC-3464-DF0522033393}"/>
              </a:ext>
            </a:extLst>
          </p:cNvPr>
          <p:cNvSpPr txBox="1"/>
          <p:nvPr/>
        </p:nvSpPr>
        <p:spPr>
          <a:xfrm>
            <a:off x="-1" y="788276"/>
            <a:ext cx="12191999" cy="2549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Find the Principal Components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identifies new axes where the data spreads out the most: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Principal Component (PC1): The direction of maximum variance (most spread).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2nd Principal Component (PC2): The next best direction, perpendicular to PC1 and so on.</a:t>
            </a:r>
          </a:p>
          <a:p>
            <a:pPr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411A13-A5DD-ABD1-083D-29A95A6FC551}"/>
              </a:ext>
            </a:extLst>
          </p:cNvPr>
          <p:cNvSpPr txBox="1"/>
          <p:nvPr/>
        </p:nvSpPr>
        <p:spPr>
          <a:xfrm>
            <a:off x="0" y="3197143"/>
            <a:ext cx="11992304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Pick the Top Directions &amp; Transform Data</a:t>
            </a:r>
          </a:p>
          <a:p>
            <a:pPr marL="285750" indent="-285750" algn="l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calculating the eigenvalues and eigenvectors PCA ranks them by the amount of information they capture. 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then: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top k components hat capture most of the variance like 95%.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the original dataset by projecting it onto these top components.</a:t>
            </a:r>
          </a:p>
        </p:txBody>
      </p:sp>
    </p:spTree>
    <p:extLst>
      <p:ext uri="{BB962C8B-B14F-4D97-AF65-F5344CB8AC3E}">
        <p14:creationId xmlns:p14="http://schemas.microsoft.com/office/powerpoint/2010/main" val="1976988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9FBF-570A-9147-AC61-9E4A19B0D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1E82-D0E3-68B1-22D1-3E5EEAF2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410" name="Picture 2" descr="Lightbox">
            <a:extLst>
              <a:ext uri="{FF2B5EF4-FFF2-40B4-BE49-F238E27FC236}">
                <a16:creationId xmlns:a16="http://schemas.microsoft.com/office/drawing/2014/main" id="{B6A8B0C0-BA47-627D-4FFF-5607F2548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690" y="550718"/>
            <a:ext cx="10121462" cy="506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069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E555-4AEA-A20E-7C2E-1F01A565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157B-BF18-738B-339D-CE4A3B07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07C2A82-0602-5599-A2B9-AB208A7A9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186" y="2088152"/>
            <a:ext cx="8076760" cy="4568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97F9E5-99E3-501F-E28D-03CDE032C063}"/>
              </a:ext>
            </a:extLst>
          </p:cNvPr>
          <p:cNvSpPr txBox="1"/>
          <p:nvPr/>
        </p:nvSpPr>
        <p:spPr>
          <a:xfrm>
            <a:off x="-1" y="472966"/>
            <a:ext cx="12191999" cy="161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400"/>
              </a:lnSpc>
              <a:buNone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remember this definition, we can break it down into four steps:</a:t>
            </a:r>
          </a:p>
          <a:p>
            <a:pPr algn="just">
              <a:lnSpc>
                <a:spcPts val="2400"/>
              </a:lnSpc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identify the relationship among features through a </a:t>
            </a:r>
            <a:r>
              <a:rPr lang="en-GB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covariance matrix.</a:t>
            </a:r>
            <a:endParaRPr lang="en-GB" i="0" strike="noStrike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2400"/>
              </a:lnSpc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 the linear transformation or </a:t>
            </a:r>
            <a:r>
              <a:rPr lang="en-GB" i="0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eigen-decomposition </a:t>
            </a: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the Covariance Matrix, we get </a:t>
            </a:r>
            <a:r>
              <a:rPr lang="en-GB" i="0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eigenvectors and eigenvalues.</a:t>
            </a:r>
          </a:p>
          <a:p>
            <a:pPr algn="just">
              <a:lnSpc>
                <a:spcPts val="2400"/>
              </a:lnSpc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 we transform our data using Eigenvectors into principal components.</a:t>
            </a:r>
          </a:p>
          <a:p>
            <a:pPr algn="just">
              <a:lnSpc>
                <a:spcPts val="2400"/>
              </a:lnSpc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Lastly, we quantify the importance of these relationships using Eigenvalues and keep the important principal components</a:t>
            </a: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b="0" i="0" u="none" strike="noStrike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664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96D75-E2B0-30F3-D1FB-3B51493F5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06C7-9F60-5824-C6D9-C278B2341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B9148CCC-6745-0E48-3AA8-E811C867D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4534" y="1822470"/>
            <a:ext cx="4711700" cy="292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031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4807-47A1-A51F-3C00-83D2E93F9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9D9AF-CBC5-C44A-59D4-5503A89A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10A3E-A775-ECC6-3165-F13478C69000}"/>
              </a:ext>
            </a:extLst>
          </p:cNvPr>
          <p:cNvSpPr txBox="1"/>
          <p:nvPr/>
        </p:nvSpPr>
        <p:spPr>
          <a:xfrm>
            <a:off x="0" y="658852"/>
            <a:ext cx="6096000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ts val="2250"/>
              </a:lnSpc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Simplified Visual Demo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EBFBCCC-ACF3-DDE5-7944-D180AF16D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317" y="1207291"/>
            <a:ext cx="7524531" cy="4235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388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0D51-5BFA-A5C8-F693-D31001A34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2BB4-03F2-0224-3290-A7307AD25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D8BD4-E09C-5178-6CE3-F89AE5802C09}"/>
              </a:ext>
            </a:extLst>
          </p:cNvPr>
          <p:cNvSpPr txBox="1"/>
          <p:nvPr/>
        </p:nvSpPr>
        <p:spPr>
          <a:xfrm>
            <a:off x="0" y="658852"/>
            <a:ext cx="6096000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lnSpc>
                <a:spcPts val="2250"/>
              </a:lnSpc>
            </a:pPr>
            <a:r>
              <a:rPr lang="en-GB" b="1" i="0" u="none" strike="noStrike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Simplified Visual Demo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95121E0-38CC-4414-5819-F102094ED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1347514"/>
            <a:ext cx="8890000" cy="500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575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0625-EA5B-23E4-F76B-A0202113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3749-8908-D7D6-7BB6-E228D968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66B2F-CB9C-B053-2000-9D8551416104}"/>
              </a:ext>
            </a:extLst>
          </p:cNvPr>
          <p:cNvSpPr txBox="1"/>
          <p:nvPr/>
        </p:nvSpPr>
        <p:spPr>
          <a:xfrm>
            <a:off x="0" y="550718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Demo for Step 3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394AA92-A33F-C363-B3D6-7BDA541F6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814" y="950948"/>
            <a:ext cx="9522372" cy="5356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757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7F48F-6375-C0E3-3449-74AAA7EDD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A656-A215-1253-6108-ECE52C510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974BE-BFA2-54E1-A15E-6DED3A97CC24}"/>
              </a:ext>
            </a:extLst>
          </p:cNvPr>
          <p:cNvSpPr txBox="1"/>
          <p:nvPr/>
        </p:nvSpPr>
        <p:spPr>
          <a:xfrm>
            <a:off x="0" y="550718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Demo for Step 3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CE3F45F-854B-D29F-E2FF-6A3C6307B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304" y="1039091"/>
            <a:ext cx="9827172" cy="552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117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26AB0-CE06-8DC8-A3BB-7C3E2E9E0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74E7-B491-448C-B27F-2F814A18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693243-6790-22CF-CF30-5E11E1D0F7D4}"/>
              </a:ext>
            </a:extLst>
          </p:cNvPr>
          <p:cNvSpPr txBox="1"/>
          <p:nvPr/>
        </p:nvSpPr>
        <p:spPr>
          <a:xfrm>
            <a:off x="0" y="550718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Demo for Step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GB" b="1" i="0" u="none" strike="noStrike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31C73DE0-ED14-C511-8DFA-18D4934B2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855" y="1039091"/>
            <a:ext cx="8890000" cy="500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2529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FD1AE-3F43-BF20-517A-9223AA005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8E35D-7A74-5140-F7EE-7294C0AF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985B2-89DF-0A6A-8F55-C1286E274834}"/>
              </a:ext>
            </a:extLst>
          </p:cNvPr>
          <p:cNvSpPr txBox="1"/>
          <p:nvPr/>
        </p:nvSpPr>
        <p:spPr>
          <a:xfrm>
            <a:off x="0" y="550718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GB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Demo for Step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GB" b="1" i="0" u="none" strike="noStrike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AA0DE72D-84A8-22EC-D146-1E1E0DFF3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0" y="927100"/>
            <a:ext cx="8890000" cy="500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8873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0D32-1A2A-9A61-A83A-A520A034F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C65A-32E1-3862-10D7-20A17073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503" y="-128751"/>
            <a:ext cx="6737131" cy="714702"/>
          </a:xfrm>
        </p:spPr>
        <p:txBody>
          <a:bodyPr>
            <a:noAutofit/>
          </a:bodyPr>
          <a:lstStyle/>
          <a:p>
            <a:pPr algn="ctr"/>
            <a:r>
              <a:rPr lang="en-GB" sz="18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18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386" name="Picture 2" descr="Flowchart of Feature Extraction Process (a) PCA method, (b) 2DPCA... |  Download Scientific Diagram">
            <a:extLst>
              <a:ext uri="{FF2B5EF4-FFF2-40B4-BE49-F238E27FC236}">
                <a16:creationId xmlns:a16="http://schemas.microsoft.com/office/drawing/2014/main" id="{344F3D54-E100-29BD-4821-C3250330BE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0" y="228600"/>
            <a:ext cx="271145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Feature Extraction using PCA The Principal Component Analysis feature... |  Download Scientific Diagram">
            <a:extLst>
              <a:ext uri="{FF2B5EF4-FFF2-40B4-BE49-F238E27FC236}">
                <a16:creationId xmlns:a16="http://schemas.microsoft.com/office/drawing/2014/main" id="{8E6127FD-95A4-3648-D125-B71D39008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735" y="400261"/>
            <a:ext cx="6614072" cy="6457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885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AA349-FEA9-E087-E5C3-F3B73968D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3F87-A0DC-0E96-3F0F-4850966F9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FEATURE EXTRACTION: PCA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A7F51-52F1-ECE0-2346-3A781286E84E}"/>
              </a:ext>
            </a:extLst>
          </p:cNvPr>
          <p:cNvSpPr txBox="1"/>
          <p:nvPr/>
        </p:nvSpPr>
        <p:spPr>
          <a:xfrm>
            <a:off x="-1" y="550719"/>
            <a:ext cx="121919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Pros of PCA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Dimensionality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Model Performance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Removes Multicollinearity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Reduction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Cons of PCA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 of Interpretability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Variance-Based Only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Assumes Linearity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Scaling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Ideal for Categorical Data</a:t>
            </a:r>
          </a:p>
          <a:p>
            <a:pPr algn="l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Usage of PCA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in Machine Learning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Compression &amp; Recognition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Noise Filtering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Genomics and Bioinformatics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</a:p>
        </p:txBody>
      </p:sp>
    </p:spTree>
    <p:extLst>
      <p:ext uri="{BB962C8B-B14F-4D97-AF65-F5344CB8AC3E}">
        <p14:creationId xmlns:p14="http://schemas.microsoft.com/office/powerpoint/2010/main" val="896852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8861B-3E7A-F03C-3ED5-6AD5AAF3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86A53-F747-4A0F-6F32-5039CE423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PATTERNS AND PATTERN CLASSES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DC8CC-7608-F5B4-1556-44413DB280BC}"/>
              </a:ext>
            </a:extLst>
          </p:cNvPr>
          <p:cNvSpPr txBox="1"/>
          <p:nvPr/>
        </p:nvSpPr>
        <p:spPr>
          <a:xfrm>
            <a:off x="1" y="446314"/>
            <a:ext cx="121919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set of measurable or observable properties or features used to describe an object or event.</a:t>
            </a:r>
          </a:p>
          <a:p>
            <a:pPr algn="just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of Patterns: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handwritten digit: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described by stroke shape, size, orientation.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fruit image: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described by Color, texture, shape.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sample: 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described by pitch, frequency, amplitude.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540BB-BCC4-D8F9-2D06-58DC203D5042}"/>
              </a:ext>
            </a:extLst>
          </p:cNvPr>
          <p:cNvSpPr txBox="1"/>
          <p:nvPr/>
        </p:nvSpPr>
        <p:spPr>
          <a:xfrm>
            <a:off x="0" y="2200640"/>
            <a:ext cx="121919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 class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a collection of patterns that belong to the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same category or label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Examples of Pattern Classes: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instances of the digit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"5"</a:t>
            </a: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red apples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spam emails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E348D3-1DEF-601A-4AA4-256CDB3E6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352519"/>
              </p:ext>
            </p:extLst>
          </p:nvPr>
        </p:nvGraphicFramePr>
        <p:xfrm>
          <a:off x="685798" y="4690488"/>
          <a:ext cx="10972801" cy="1828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51112">
                  <a:extLst>
                    <a:ext uri="{9D8B030D-6E8A-4147-A177-3AD203B41FA5}">
                      <a16:colId xmlns:a16="http://schemas.microsoft.com/office/drawing/2014/main" val="2712467412"/>
                    </a:ext>
                  </a:extLst>
                </a:gridCol>
                <a:gridCol w="4464089">
                  <a:extLst>
                    <a:ext uri="{9D8B030D-6E8A-4147-A177-3AD203B41FA5}">
                      <a16:colId xmlns:a16="http://schemas.microsoft.com/office/drawing/2014/main" val="93546552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190577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8657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Statistical Patterns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Described by numerical features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Height, weight of a person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046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Structural Patterns</a:t>
                      </a:r>
                      <a:endParaRPr lang="en-GB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Composed of sub-patterns and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Chemical molecules, language 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71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Template-based Patterns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against stored templates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OCR, fingerprint matching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730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Patterns</a:t>
                      </a:r>
                      <a:endParaRPr lang="en-GB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Patterns learned via neural networks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Images, audio, sensor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137510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6268972-501A-3718-C86C-EEF68C1007EE}"/>
              </a:ext>
            </a:extLst>
          </p:cNvPr>
          <p:cNvSpPr txBox="1"/>
          <p:nvPr/>
        </p:nvSpPr>
        <p:spPr>
          <a:xfrm>
            <a:off x="4577442" y="4138061"/>
            <a:ext cx="20955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Patterns</a:t>
            </a:r>
            <a:endParaRPr lang="en-US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521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DE0DC-8C67-7437-8C76-896291786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75FC8-9FF1-C095-D9BF-E53906CD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PATTERN CLASSIFICATION BY PROTOTYPE MATCHING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C176C-B67C-C7A0-5466-0BDF64B4C955}"/>
              </a:ext>
            </a:extLst>
          </p:cNvPr>
          <p:cNvSpPr txBox="1"/>
          <p:nvPr/>
        </p:nvSpPr>
        <p:spPr>
          <a:xfrm>
            <a:off x="-1837" y="550718"/>
            <a:ext cx="12191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Prototype matching is a fundamental technique in </a:t>
            </a:r>
            <a:r>
              <a:rPr lang="en-GB" b="1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 classification</a:t>
            </a: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where an </a:t>
            </a:r>
            <a:r>
              <a:rPr lang="en-GB" b="1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unknown pattern </a:t>
            </a: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compared against a set of </a:t>
            </a:r>
            <a:r>
              <a:rPr lang="en-GB" b="1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prototype patterns</a:t>
            </a: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is assigned to the </a:t>
            </a:r>
            <a:r>
              <a:rPr lang="en-GB" b="1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of the most similar prototype</a:t>
            </a: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GB" b="0" i="0" u="none" strike="noStrike" dirty="0">
              <a:solidFill>
                <a:srgbClr val="192A3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 </a:t>
            </a:r>
            <a:r>
              <a:rPr lang="en-GB" b="1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represents a </a:t>
            </a:r>
            <a:r>
              <a:rPr lang="en-GB" b="1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 class</a:t>
            </a: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Similarity is measured using various </a:t>
            </a:r>
            <a:r>
              <a:rPr lang="en-GB" b="1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distance metrics</a:t>
            </a:r>
            <a:r>
              <a:rPr lang="en-GB" b="0" i="0" u="none" strike="noStrike" dirty="0">
                <a:solidFill>
                  <a:srgbClr val="192A3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B8275-43C0-7EEC-2A98-2B84731B2ED6}"/>
              </a:ext>
            </a:extLst>
          </p:cNvPr>
          <p:cNvSpPr txBox="1"/>
          <p:nvPr/>
        </p:nvSpPr>
        <p:spPr>
          <a:xfrm>
            <a:off x="0" y="2244632"/>
            <a:ext cx="121901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Steps in Prototype Matching Classification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Convert raw data into feature vectors.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Prototype Selection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mean vector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 each class.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medoid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manually selected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patterns.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Distance Calculation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87968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A25C0-E6E7-9B59-6DAE-89107A54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2B46-ADEB-CBAF-3026-03144E018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PATTERN CLASSIFICATION BY PROTOTYPE MATCHING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D3DDE3-B6CA-4A67-723F-1823B872F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1" y="2634862"/>
            <a:ext cx="3263900" cy="82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C7F8F-B192-358C-EB4E-359EA1CDC821}"/>
              </a:ext>
            </a:extLst>
          </p:cNvPr>
          <p:cNvSpPr txBox="1"/>
          <p:nvPr/>
        </p:nvSpPr>
        <p:spPr>
          <a:xfrm>
            <a:off x="1" y="821743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Euclidean Distance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43D1B5-ADE1-FCB2-2B53-D002394CF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701" y="1282661"/>
            <a:ext cx="4648200" cy="723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63BA79-B5CC-19B5-A022-6B4AE9067FBA}"/>
              </a:ext>
            </a:extLst>
          </p:cNvPr>
          <p:cNvSpPr txBox="1"/>
          <p:nvPr/>
        </p:nvSpPr>
        <p:spPr>
          <a:xfrm>
            <a:off x="0" y="2232126"/>
            <a:ext cx="6118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Manhattan Distance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1874C-3957-B981-4FB6-41D78973DC34}"/>
              </a:ext>
            </a:extLst>
          </p:cNvPr>
          <p:cNvSpPr txBox="1"/>
          <p:nvPr/>
        </p:nvSpPr>
        <p:spPr>
          <a:xfrm>
            <a:off x="0" y="3687969"/>
            <a:ext cx="6118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Mahalanobis Distance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4F27A1-6235-B897-53A4-E4D3D65F1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451" y="4282866"/>
            <a:ext cx="4495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14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95C5-2A08-D063-37CD-99D11EF2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0566-3F33-4781-73BE-456F6FD48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PATTERN CLASSIFICATION BY PROTOTYPE MATCHING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857EBD-50DC-1872-EDD4-0962327A044C}"/>
              </a:ext>
            </a:extLst>
          </p:cNvPr>
          <p:cNvSpPr txBox="1"/>
          <p:nvPr/>
        </p:nvSpPr>
        <p:spPr>
          <a:xfrm>
            <a:off x="0" y="782643"/>
            <a:ext cx="1219199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i="0" u="none" strike="noStrike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Prototype Matching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Nearest Prototype Classifier: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Neighbour Classifier:</a:t>
            </a:r>
          </a:p>
          <a:p>
            <a:pPr algn="l">
              <a:buFont typeface="+mj-lt"/>
              <a:buAutoNum type="arabicPeriod"/>
            </a:pPr>
            <a:r>
              <a:rPr lang="en-GB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 Vector Quantization (LVQ):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5F406-37BE-F715-199A-71C9F011F682}"/>
              </a:ext>
            </a:extLst>
          </p:cNvPr>
          <p:cNvSpPr txBox="1"/>
          <p:nvPr/>
        </p:nvSpPr>
        <p:spPr>
          <a:xfrm>
            <a:off x="0" y="2307230"/>
            <a:ext cx="120678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Prototype Matching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clearly separated classes.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efficient if number of prototypes is small.</a:t>
            </a:r>
          </a:p>
          <a:p>
            <a:pPr algn="just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effective with overlapping or non-linearly separable classes.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Sensitive to noise and outliers.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good prototype selection for accurate results.</a:t>
            </a:r>
          </a:p>
          <a:p>
            <a:pPr algn="just">
              <a:buNone/>
            </a:pPr>
            <a:endParaRPr lang="en-GB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Handwriting and character recognition.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Biometric verification (face/fingerprint recognition).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 </a:t>
            </a:r>
            <a:endParaRPr lang="en-GB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 </a:t>
            </a:r>
          </a:p>
        </p:txBody>
      </p:sp>
    </p:spTree>
    <p:extLst>
      <p:ext uri="{BB962C8B-B14F-4D97-AF65-F5344CB8AC3E}">
        <p14:creationId xmlns:p14="http://schemas.microsoft.com/office/powerpoint/2010/main" val="3050957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A87C6-E667-1881-DD81-2969F95A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95DF-56FB-F920-D5D1-912B9F1FF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K-Nearest Neighbour Algorithm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26042-96C5-ACD2-9790-00391A50E293}"/>
              </a:ext>
            </a:extLst>
          </p:cNvPr>
          <p:cNvSpPr txBox="1"/>
          <p:nvPr/>
        </p:nvSpPr>
        <p:spPr>
          <a:xfrm>
            <a:off x="0" y="641193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supervised machine learning algorithm generally used for classification but can also be used for regression tasks.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by finding the "k" closest data points (neighbors) to a given input and makes a predictions based on the majority class (for classification) or the average value (for regression).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A9C48A-CDAE-A3A4-D1C5-CDD080C882ED}"/>
              </a:ext>
            </a:extLst>
          </p:cNvPr>
          <p:cNvSpPr txBox="1"/>
          <p:nvPr/>
        </p:nvSpPr>
        <p:spPr>
          <a:xfrm>
            <a:off x="-1" y="1654999"/>
            <a:ext cx="12191999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choose the value of k for KNN Algorithm?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 of k in KNN decides how many neighbors the algorithm looks at when making a prediction.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k is important for good results.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has lots of noise or outliers, using a larger k can make the predictions more stable.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if k is too large the model may become too simple and miss important patterns and this is called underfitting.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k should be picked carefully based on the data.</a:t>
            </a:r>
          </a:p>
        </p:txBody>
      </p:sp>
    </p:spTree>
    <p:extLst>
      <p:ext uri="{BB962C8B-B14F-4D97-AF65-F5344CB8AC3E}">
        <p14:creationId xmlns:p14="http://schemas.microsoft.com/office/powerpoint/2010/main" val="89217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E569-193C-C9A8-145B-97E626F2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1C1D-3CD4-B779-26D9-A5B58A972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K-Nearest Neighbour Algorithm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984FB4-9E97-76BE-FA62-C55D64A387FD}"/>
              </a:ext>
            </a:extLst>
          </p:cNvPr>
          <p:cNvSpPr txBox="1"/>
          <p:nvPr/>
        </p:nvSpPr>
        <p:spPr>
          <a:xfrm>
            <a:off x="0" y="870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Metrics Used in KNN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BA3C5F-2D32-7280-3B10-926267E9F8A1}"/>
              </a:ext>
            </a:extLst>
          </p:cNvPr>
          <p:cNvSpPr txBox="1"/>
          <p:nvPr/>
        </p:nvSpPr>
        <p:spPr>
          <a:xfrm>
            <a:off x="0" y="1240177"/>
            <a:ext cx="12191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Euclidean Distance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69335A-2E67-9730-47C1-05407FB4C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1701095"/>
            <a:ext cx="4648200" cy="723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6B855D-6EC8-80F3-C0DB-5F2DFD07D2B4}"/>
              </a:ext>
            </a:extLst>
          </p:cNvPr>
          <p:cNvSpPr txBox="1"/>
          <p:nvPr/>
        </p:nvSpPr>
        <p:spPr>
          <a:xfrm>
            <a:off x="0" y="2789957"/>
            <a:ext cx="6118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800"/>
              </a:spcBef>
              <a:spcAft>
                <a:spcPts val="18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Manhattan Distance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612F30-E8E1-86C8-E612-BBDC8A20E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4700" y="3276601"/>
            <a:ext cx="4648200" cy="8777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0952852-EF6E-68C9-0658-DC43AD0ED793}"/>
              </a:ext>
            </a:extLst>
          </p:cNvPr>
          <p:cNvSpPr txBox="1"/>
          <p:nvPr/>
        </p:nvSpPr>
        <p:spPr>
          <a:xfrm>
            <a:off x="0" y="4740818"/>
            <a:ext cx="61185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Bef>
                <a:spcPts val="1800"/>
              </a:spcBef>
              <a:spcAft>
                <a:spcPts val="180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Minkowski Distance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219270-1399-C05B-B02A-A968C01110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4700" y="5182306"/>
            <a:ext cx="4648200" cy="107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587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F1431-DC15-BFDD-5AF9-3C30A45D0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D4D5A-8FEC-905E-985B-BB110843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Working of K-Nearest Neighbour Algorithm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5403D3-45F6-60A7-4202-3D95F494531A}"/>
              </a:ext>
            </a:extLst>
          </p:cNvPr>
          <p:cNvSpPr txBox="1"/>
          <p:nvPr/>
        </p:nvSpPr>
        <p:spPr>
          <a:xfrm>
            <a:off x="-1" y="550718"/>
            <a:ext cx="1219199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Selecting the optimal value of K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represents the number of nearest neighbors that needs to be considered while making prediction. </a:t>
            </a:r>
          </a:p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Calculating distance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the similarity between target and training data points Euclidean distance is used. Distance is calculated between data points in the dataset and target point. </a:t>
            </a:r>
          </a:p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Finding Nearest Neighbors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 data points with the smallest distances to the target point are nearest neighbors. </a:t>
            </a:r>
          </a:p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Voting for Classification or Taking Average for Regression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want to classify a data point into a category like spam or not spam, the KNN algorithm looks at the K closest points in the dataset. These closest points are called neighbors.</a:t>
            </a:r>
          </a:p>
        </p:txBody>
      </p:sp>
    </p:spTree>
    <p:extLst>
      <p:ext uri="{BB962C8B-B14F-4D97-AF65-F5344CB8AC3E}">
        <p14:creationId xmlns:p14="http://schemas.microsoft.com/office/powerpoint/2010/main" val="2289385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6AF54-7FEE-6B1E-4EB9-147B27D57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7D16D-77FE-FA1D-E545-A1F64731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Working of K-Nearest Neighbour Algorithm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05886324-9322-4ECE-8258-9B96E3A1D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3463"/>
            <a:ext cx="12192000" cy="479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794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BC05A-4A01-AC6F-04C1-C5F466226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B1FA-85BC-19D1-2DF6-4CAB4FBA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OPTIMUM (BAYES) STATISTICAL CLASSIFIERS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A85682-5FEE-74BD-BF0B-0C30603E9A6A}"/>
              </a:ext>
            </a:extLst>
          </p:cNvPr>
          <p:cNvSpPr txBox="1"/>
          <p:nvPr/>
        </p:nvSpPr>
        <p:spPr>
          <a:xfrm>
            <a:off x="0" y="550718"/>
            <a:ext cx="12191999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Bayes' Theorem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mathematical formula used to determine the conditional probability of an event based on prior knowledge and new evidence. </a:t>
            </a:r>
          </a:p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adjusts probabilities when new information comes in and helps make better decisions in uncertain situations.</a:t>
            </a:r>
          </a:p>
        </p:txBody>
      </p:sp>
      <p:pic>
        <p:nvPicPr>
          <p:cNvPr id="1028" name="Picture 4" descr="bayes-theorem-2">
            <a:extLst>
              <a:ext uri="{FF2B5EF4-FFF2-40B4-BE49-F238E27FC236}">
                <a16:creationId xmlns:a16="http://schemas.microsoft.com/office/drawing/2014/main" id="{7CC305EC-EF7F-35BD-6D3C-C9A80EE6E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38" y="1576640"/>
            <a:ext cx="10220446" cy="254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3EE7800-8B66-CAE4-DBCA-E0AA19D6B02F}"/>
              </a:ext>
            </a:extLst>
          </p:cNvPr>
          <p:cNvSpPr txBox="1"/>
          <p:nvPr/>
        </p:nvSpPr>
        <p:spPr>
          <a:xfrm>
            <a:off x="1" y="4308584"/>
            <a:ext cx="12191999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Where,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P(A) and P(B) are the probabilities of events A and B; also, P(B) is never equal to zero.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P(A|B) is the probability of event A when event B happens,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P(B|A) is the probability of event B when A happens.</a:t>
            </a:r>
          </a:p>
        </p:txBody>
      </p:sp>
    </p:spTree>
    <p:extLst>
      <p:ext uri="{BB962C8B-B14F-4D97-AF65-F5344CB8AC3E}">
        <p14:creationId xmlns:p14="http://schemas.microsoft.com/office/powerpoint/2010/main" val="29820042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ABB41-5A70-C3C7-93B9-26DFE7269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7FA63-9E9E-E04D-462F-FE4BE3DA6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OPTIMUM (BAYES) STATISTICAL CLASSIFIERS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ACC04E-5AC5-042E-7279-EF47DC64C2AB}"/>
              </a:ext>
            </a:extLst>
          </p:cNvPr>
          <p:cNvSpPr txBox="1"/>
          <p:nvPr/>
        </p:nvSpPr>
        <p:spPr>
          <a:xfrm>
            <a:off x="0" y="683435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 Theorem Applications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A29EB-0F5C-64F0-748B-18DB70D507F9}"/>
              </a:ext>
            </a:extLst>
          </p:cNvPr>
          <p:cNvSpPr txBox="1"/>
          <p:nvPr/>
        </p:nvSpPr>
        <p:spPr>
          <a:xfrm>
            <a:off x="0" y="1185484"/>
            <a:ext cx="12192000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Testing → Finding the real probability of having a disease after a positive test.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Filters → Checking if an email is spam based on keywords.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 → Updating the chance of rain based on new data.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Machine Learning </a:t>
            </a:r>
          </a:p>
        </p:txBody>
      </p:sp>
    </p:spTree>
    <p:extLst>
      <p:ext uri="{BB962C8B-B14F-4D97-AF65-F5344CB8AC3E}">
        <p14:creationId xmlns:p14="http://schemas.microsoft.com/office/powerpoint/2010/main" val="6398946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1E08-4A77-CBC3-418D-3A16F7F7E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C4AC-DB81-CF06-599B-A813E3F6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2345"/>
            <a:ext cx="12192000" cy="488373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latin typeface="Times New Roman" panose="02020603050405020304" pitchFamily="18" charset="0"/>
              </a:rPr>
              <a:t>OPTIMUM (BAYES) STATISTICAL CLASSIFIERS</a:t>
            </a:r>
            <a:endParaRPr lang="en-GB" sz="32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6BC06-0339-F99E-129A-3E3B15CDDC45}"/>
              </a:ext>
            </a:extLst>
          </p:cNvPr>
          <p:cNvSpPr txBox="1"/>
          <p:nvPr/>
        </p:nvSpPr>
        <p:spPr>
          <a:xfrm>
            <a:off x="43405" y="550718"/>
            <a:ext cx="1210519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 Classification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Supervised machine learning approach for classification.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on a probabilistic method which uses Bayes Theorem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It's based on Bayes’ Theorem, named after Thomas Bayes, an 18th-century statistician.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theorem helps update beliefs based on evidence, which is the core idea of classification here: updating class probability based on observed data.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08C76D-3F3F-030A-03A6-4261938215FB}"/>
              </a:ext>
            </a:extLst>
          </p:cNvPr>
          <p:cNvSpPr txBox="1"/>
          <p:nvPr/>
        </p:nvSpPr>
        <p:spPr>
          <a:xfrm>
            <a:off x="43405" y="2516419"/>
            <a:ext cx="6099858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of Bayes Classifier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 Model: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Learning Approach: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Classifies Using Prior and Likelihood: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Interpretability: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Continuous/Discrete Features: </a:t>
            </a:r>
          </a:p>
        </p:txBody>
      </p:sp>
    </p:spTree>
    <p:extLst>
      <p:ext uri="{BB962C8B-B14F-4D97-AF65-F5344CB8AC3E}">
        <p14:creationId xmlns:p14="http://schemas.microsoft.com/office/powerpoint/2010/main" val="312786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C5C875-A12A-004D-F459-A7B4137860DA}"/>
              </a:ext>
            </a:extLst>
          </p:cNvPr>
          <p:cNvSpPr txBox="1"/>
          <p:nvPr/>
        </p:nvSpPr>
        <p:spPr>
          <a:xfrm>
            <a:off x="115747" y="266218"/>
            <a:ext cx="68203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in Bayes Classification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Well-defined prior probabilities.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conditional probability distributions.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 of training and test samples.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Stationarity of features over time.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are mutually exclusive and exhaustive.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355BC-67F3-B401-27C5-39765BFAE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34E540EB-867E-FD81-55C4-E04BD3A72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889000"/>
            <a:ext cx="10160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232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EE75C-1B67-B52D-67D5-D9E9E55C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795D78-497A-5CC2-0DC2-1EBDA07B5820}"/>
              </a:ext>
            </a:extLst>
          </p:cNvPr>
          <p:cNvSpPr txBox="1"/>
          <p:nvPr/>
        </p:nvSpPr>
        <p:spPr>
          <a:xfrm>
            <a:off x="-1" y="346412"/>
            <a:ext cx="10718157" cy="2908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 in Classification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Data: From training set, extract features X and target C.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Priors: Calculate P(C) for each class.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Likelihoods: For every feature X, compute P(X∣C).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Posterior: Use Bayes’ Theorem to get P(C∣X).</a:t>
            </a:r>
          </a:p>
          <a:p>
            <a:pPr algn="just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Class:</a:t>
            </a:r>
          </a:p>
        </p:txBody>
      </p:sp>
    </p:spTree>
    <p:extLst>
      <p:ext uri="{BB962C8B-B14F-4D97-AF65-F5344CB8AC3E}">
        <p14:creationId xmlns:p14="http://schemas.microsoft.com/office/powerpoint/2010/main" val="19298692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DDAF-B35D-324A-FDF0-D1FAEFE8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4998CB-FC7C-B06B-6FD3-E02BCC3DD161}"/>
              </a:ext>
            </a:extLst>
          </p:cNvPr>
          <p:cNvSpPr txBox="1"/>
          <p:nvPr/>
        </p:nvSpPr>
        <p:spPr>
          <a:xfrm>
            <a:off x="0" y="613458"/>
            <a:ext cx="1219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classification algorithm that uses probability to predict which category a data point belongs to, assuming that all features are unrelated.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idea behind the Naive Bayes classifier is to use Bayes Theorem to classify data based on the probabilities of different classes given the features of the data.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named as "Naive" because it assumes the presence of one feature does not affect other features. </a:t>
            </a:r>
          </a:p>
          <a:p>
            <a:pPr marL="285750" indent="-285750" algn="just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"Bayes" part of the name refers to its basis in Bayes’ Theorem.</a:t>
            </a:r>
          </a:p>
          <a:p>
            <a:pPr algn="just"/>
            <a:endParaRPr lang="en-GB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 a fictional dataset that describes the weather conditions for playing a game of golf. Given the weather conditions, each tuple classifies the conditions as fit(“Yes”) or unfit(“No”) for playing golf. Here is a tabular representation of our dataset.</a:t>
            </a:r>
            <a:br>
              <a:rPr lang="en-GB"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A35271-BC31-4DB0-C336-DDA25CC3B35F}"/>
              </a:ext>
            </a:extLst>
          </p:cNvPr>
          <p:cNvSpPr txBox="1"/>
          <p:nvPr/>
        </p:nvSpPr>
        <p:spPr>
          <a:xfrm>
            <a:off x="2543536" y="0"/>
            <a:ext cx="6128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Classifier </a:t>
            </a:r>
            <a:endParaRPr lang="en-US" sz="2400" b="1" dirty="0">
              <a:solidFill>
                <a:srgbClr val="00B0F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DACFCD-B1E8-28DB-7839-492C8BBE6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1" y="3252892"/>
            <a:ext cx="6795304" cy="36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0722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2893A-72F1-4531-4B96-CAA9ACB8D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9E05B-48B6-D321-1DD4-92F8F0DE6FD5}"/>
              </a:ext>
            </a:extLst>
          </p:cNvPr>
          <p:cNvSpPr txBox="1"/>
          <p:nvPr/>
        </p:nvSpPr>
        <p:spPr>
          <a:xfrm>
            <a:off x="0" y="0"/>
            <a:ext cx="1219200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 of Naive Bayes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independence: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features are normally distributed: 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features have multinomial distributions: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are equally important: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missing data: </a:t>
            </a:r>
          </a:p>
        </p:txBody>
      </p:sp>
    </p:spTree>
    <p:extLst>
      <p:ext uri="{BB962C8B-B14F-4D97-AF65-F5344CB8AC3E}">
        <p14:creationId xmlns:p14="http://schemas.microsoft.com/office/powerpoint/2010/main" val="10766828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531A-6378-E855-92E4-33903AFF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0E3F04-D696-7C63-0CE1-911364ED98FD}"/>
              </a:ext>
            </a:extLst>
          </p:cNvPr>
          <p:cNvSpPr txBox="1"/>
          <p:nvPr/>
        </p:nvSpPr>
        <p:spPr>
          <a:xfrm>
            <a:off x="0" y="0"/>
            <a:ext cx="12192000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Working</a:t>
            </a:r>
          </a:p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classification problem (like predicting if someone plays golf based on weather). Then: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y is the class label (e.g. "Yes" or "No" for playing golf)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X=(x1,x2,...,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the feature vector (e.g. Outlook, Temperature, Humidity, Wind)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sample row from the dataset:</a:t>
            </a:r>
          </a:p>
          <a:p>
            <a:pPr rtl="0" fontAlgn="base">
              <a:spcAft>
                <a:spcPts val="750"/>
              </a:spcAf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X=(Rainy, Hot, High, False),    y=No</a:t>
            </a:r>
          </a:p>
          <a:p>
            <a:pPr fontAlgn="base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Naive Assumption</a:t>
            </a: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"naive" in Naive Bayes comes from the assumption that all features are independent given the class. That is:</a:t>
            </a: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P(x1,x2,...,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xn∣y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P(x1∣y)⋅P(x2∣y)⋯P(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xn∣y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fontAlgn="base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Bayes' theorem becomes:</a:t>
            </a:r>
          </a:p>
          <a:p>
            <a:pPr rtl="0" fontAlgn="base">
              <a:spcAft>
                <a:spcPts val="750"/>
              </a:spcAft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2F6CA-64AD-D104-6649-A9CB6EDBB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231" y="4447659"/>
            <a:ext cx="41529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5567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9BB13-1A31-22EC-875E-8BCE00BE9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9FCF44-9FCA-1E55-7498-01BDF8679F95}"/>
              </a:ext>
            </a:extLst>
          </p:cNvPr>
          <p:cNvSpPr txBox="1"/>
          <p:nvPr/>
        </p:nvSpPr>
        <p:spPr>
          <a:xfrm>
            <a:off x="0" y="0"/>
            <a:ext cx="12348259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Constructing the Naive Bayes Classifier</a:t>
            </a:r>
          </a:p>
          <a:p>
            <a:pPr marL="285750" indent="-285750" algn="just" rtl="0" fontAlgn="base">
              <a:spcAft>
                <a:spcPts val="750"/>
              </a:spcAft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compute the posterior for each class y and choose the class with the highest probability: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19A040-C0A0-1CD6-06C2-C9E297270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137" y="1112857"/>
            <a:ext cx="4731313" cy="7390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28617D-C91C-78FC-32B1-DB0F76CC7763}"/>
              </a:ext>
            </a:extLst>
          </p:cNvPr>
          <p:cNvSpPr txBox="1"/>
          <p:nvPr/>
        </p:nvSpPr>
        <p:spPr>
          <a:xfrm>
            <a:off x="0" y="1770923"/>
            <a:ext cx="11768559" cy="2780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Example: Weather Dataset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take a dataset used for predicting if golf is played based on: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Outlook: Sunny, Rainy, Overcast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Temperature: Hot, Mild, Cool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Humidity: High, Normal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Wind: True, False</a:t>
            </a:r>
          </a:p>
        </p:txBody>
      </p:sp>
    </p:spTree>
    <p:extLst>
      <p:ext uri="{BB962C8B-B14F-4D97-AF65-F5344CB8AC3E}">
        <p14:creationId xmlns:p14="http://schemas.microsoft.com/office/powerpoint/2010/main" val="22115666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DE31-1ACA-35AA-3613-4C5ADC61C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ightbox">
            <a:extLst>
              <a:ext uri="{FF2B5EF4-FFF2-40B4-BE49-F238E27FC236}">
                <a16:creationId xmlns:a16="http://schemas.microsoft.com/office/drawing/2014/main" id="{F3F8EAA5-27F3-9282-4D9A-442A5A8E9B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1513" y="0"/>
            <a:ext cx="65227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1875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1FD70-469D-8E2A-B413-8F6B8147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EDE570-5A0E-CBFC-3580-DB8E14DDC788}"/>
              </a:ext>
            </a:extLst>
          </p:cNvPr>
          <p:cNvSpPr txBox="1"/>
          <p:nvPr/>
        </p:nvSpPr>
        <p:spPr>
          <a:xfrm>
            <a:off x="-3858" y="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Pre-computation from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D5AB7-2FA0-AD9D-4374-E0323BC43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50" y="746165"/>
            <a:ext cx="64389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1734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F4E32-D726-FEA2-0E62-058FDCAB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A99C0-20F0-3BD4-E61B-3EE84C663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67818"/>
            <a:ext cx="7772400" cy="401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349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C1B92-CE7A-F43F-1281-11EA121EE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11D4A-2F11-3676-7BC9-A048718E0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64" y="635807"/>
            <a:ext cx="7772400" cy="484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233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F72FA-2414-9A97-1E9E-BF4B8C93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01F83F-2807-F2AD-D3BD-E1DFE2BA47E7}"/>
              </a:ext>
            </a:extLst>
          </p:cNvPr>
          <p:cNvSpPr txBox="1"/>
          <p:nvPr/>
        </p:nvSpPr>
        <p:spPr>
          <a:xfrm>
            <a:off x="0" y="590309"/>
            <a:ext cx="10232020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Naive Bayes Classifier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 and computationally efficient.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in cases with a large number of features.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well even with limited training data.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well in the presence of categorical features.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numerical features data is assumed to come from normal distributions</a:t>
            </a:r>
          </a:p>
          <a:p>
            <a:pPr algn="ctr" fontAlgn="base">
              <a:buNone/>
            </a:pPr>
            <a:r>
              <a:rPr lang="en-GB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Naive Bayes Classifier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Assumes that features are independent, which may not always hold in real-world data.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influenced by irrelevant attributes.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assign zero probability to unseen events, leading to poor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35443477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BEC7-6A5C-7605-F8C4-0B5202800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81F68A-92B3-2A37-9404-AA46823DC4AA}"/>
              </a:ext>
            </a:extLst>
          </p:cNvPr>
          <p:cNvSpPr txBox="1"/>
          <p:nvPr/>
        </p:nvSpPr>
        <p:spPr>
          <a:xfrm>
            <a:off x="-1" y="0"/>
            <a:ext cx="11123271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Naive Bayes Classifier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 Email Filtering: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Classification: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Scoring: 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33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A77D2-39FC-5071-F4C6-FBB9E0D8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AB8A6-A03A-254B-0059-3ECC4AF14B3A}"/>
              </a:ext>
            </a:extLst>
          </p:cNvPr>
          <p:cNvSpPr txBox="1"/>
          <p:nvPr/>
        </p:nvSpPr>
        <p:spPr>
          <a:xfrm>
            <a:off x="3292997" y="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Artificial Neural Network </a:t>
            </a:r>
            <a:endParaRPr lang="en-US" sz="3200" b="1" dirty="0">
              <a:solidFill>
                <a:srgbClr val="00B0F0"/>
              </a:solidFill>
            </a:endParaRPr>
          </a:p>
        </p:txBody>
      </p:sp>
      <p:pic>
        <p:nvPicPr>
          <p:cNvPr id="1026" name="Picture 2" descr="1-.webp">
            <a:extLst>
              <a:ext uri="{FF2B5EF4-FFF2-40B4-BE49-F238E27FC236}">
                <a16:creationId xmlns:a16="http://schemas.microsoft.com/office/drawing/2014/main" id="{0DE533F9-63F9-60AA-D720-F2F2CFB23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052" y="1079593"/>
            <a:ext cx="8970211" cy="448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2736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24956-511A-6EB2-B607-207634755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7C81BC-584D-8D13-7CDC-C53FA8922B03}"/>
              </a:ext>
            </a:extLst>
          </p:cNvPr>
          <p:cNvSpPr txBox="1"/>
          <p:nvPr/>
        </p:nvSpPr>
        <p:spPr>
          <a:xfrm>
            <a:off x="3292997" y="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Artificial Neural Network </a:t>
            </a:r>
            <a:endParaRPr lang="en-US" sz="3200" b="1" dirty="0">
              <a:solidFill>
                <a:srgbClr val="00B0F0"/>
              </a:solidFill>
            </a:endParaRPr>
          </a:p>
        </p:txBody>
      </p:sp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F58864E0-19E8-4DB8-1BAD-00E81E93A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2586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43373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BF0A7-DAF3-677E-0538-7BB49533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C6F231-8D25-BF61-3B88-AA31FB04CC26}"/>
              </a:ext>
            </a:extLst>
          </p:cNvPr>
          <p:cNvSpPr txBox="1"/>
          <p:nvPr/>
        </p:nvSpPr>
        <p:spPr>
          <a:xfrm>
            <a:off x="3172681" y="-6493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Artificial Neural Network 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DC851-3DF1-D91C-86FC-EF7E1AE01D53}"/>
              </a:ext>
            </a:extLst>
          </p:cNvPr>
          <p:cNvSpPr txBox="1"/>
          <p:nvPr/>
        </p:nvSpPr>
        <p:spPr>
          <a:xfrm>
            <a:off x="3801979" y="4491496"/>
            <a:ext cx="578718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ANN in Image Processing</a:t>
            </a:r>
          </a:p>
          <a:p>
            <a:pPr algn="l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 Image Classification</a:t>
            </a:r>
          </a:p>
          <a:p>
            <a:pPr algn="l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 Image Segmentation</a:t>
            </a:r>
          </a:p>
          <a:p>
            <a:pPr algn="l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 Image Enhancement</a:t>
            </a:r>
          </a:p>
          <a:p>
            <a:pPr algn="l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 Object Detection</a:t>
            </a:r>
          </a:p>
          <a:p>
            <a:pPr algn="l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 Pattern Recognition</a:t>
            </a:r>
          </a:p>
        </p:txBody>
      </p:sp>
      <p:pic>
        <p:nvPicPr>
          <p:cNvPr id="4098" name="Picture 2" descr="Applications of Neural Network - Python Geeks">
            <a:extLst>
              <a:ext uri="{FF2B5EF4-FFF2-40B4-BE49-F238E27FC236}">
                <a16:creationId xmlns:a16="http://schemas.microsoft.com/office/drawing/2014/main" id="{9F3EC904-6B91-9E8E-D075-9E142114B7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458" y="519845"/>
            <a:ext cx="7078301" cy="3704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79606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D35C1-EFEF-5499-0364-E83739B9F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FF9F6A-2880-B494-1F3D-440C0EB54EBF}"/>
              </a:ext>
            </a:extLst>
          </p:cNvPr>
          <p:cNvSpPr txBox="1"/>
          <p:nvPr/>
        </p:nvSpPr>
        <p:spPr>
          <a:xfrm>
            <a:off x="3172681" y="-6493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Artificial Neural Network 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0C5AC-BE1A-A31F-F5A3-64E0362FCF2B}"/>
              </a:ext>
            </a:extLst>
          </p:cNvPr>
          <p:cNvSpPr txBox="1"/>
          <p:nvPr/>
        </p:nvSpPr>
        <p:spPr>
          <a:xfrm>
            <a:off x="0" y="519845"/>
            <a:ext cx="102268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ANN in Image Processing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Learns features automatically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Capable of handling large image datasets.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Tolerant to distortions and partial occlusions.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Generalizes well for similar image types.</a:t>
            </a:r>
          </a:p>
          <a:p>
            <a:pPr algn="l">
              <a:buNone/>
            </a:pPr>
            <a:endParaRPr lang="en-GB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ANN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training.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power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and memory.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May suffer from 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without regularization.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Less effective for spatial pattern recognition.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19427A-2D5A-D02F-17AA-66AC84FFD878}"/>
              </a:ext>
            </a:extLst>
          </p:cNvPr>
          <p:cNvSpPr txBox="1"/>
          <p:nvPr/>
        </p:nvSpPr>
        <p:spPr>
          <a:xfrm>
            <a:off x="3033964" y="4537183"/>
            <a:ext cx="61240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Libraries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MATLAB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(with ML integration)</a:t>
            </a:r>
          </a:p>
        </p:txBody>
      </p:sp>
    </p:spTree>
    <p:extLst>
      <p:ext uri="{BB962C8B-B14F-4D97-AF65-F5344CB8AC3E}">
        <p14:creationId xmlns:p14="http://schemas.microsoft.com/office/powerpoint/2010/main" val="20271435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E761-5CEE-7CD7-6C12-B0D8495A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A87C47-D469-1084-D1D8-77C00BD0707D}"/>
              </a:ext>
            </a:extLst>
          </p:cNvPr>
          <p:cNvSpPr txBox="1"/>
          <p:nvPr/>
        </p:nvSpPr>
        <p:spPr>
          <a:xfrm>
            <a:off x="3172681" y="-6493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Perceptron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2E20C8-1CA9-B635-18FE-358AFE6BBF63}"/>
              </a:ext>
            </a:extLst>
          </p:cNvPr>
          <p:cNvSpPr txBox="1"/>
          <p:nvPr/>
        </p:nvSpPr>
        <p:spPr>
          <a:xfrm>
            <a:off x="0" y="519845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Perceptron is one of the simplest artificial neural network architectures, introduced by Frank Rosenblatt in 1957. It is primarily used for binary </a:t>
            </a:r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F801C-89BA-2555-EC3E-70E2E0156FBD}"/>
              </a:ext>
            </a:extLst>
          </p:cNvPr>
          <p:cNvSpPr txBox="1"/>
          <p:nvPr/>
        </p:nvSpPr>
        <p:spPr>
          <a:xfrm>
            <a:off x="98612" y="1308145"/>
            <a:ext cx="12093387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800"/>
              </a:spcBef>
              <a:spcAft>
                <a:spcPts val="1800"/>
              </a:spcAft>
              <a:buNone/>
            </a:pPr>
            <a:r>
              <a:rPr lang="en-GB" sz="2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Perceptron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Layer Perceptron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is a type of perceptron is limited to learning linearly separable patterns. </a:t>
            </a:r>
          </a:p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Perceptron 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possess enhanced processing capabilities as they consist of two or more layers, adept at handling more complex patterns and relationships within the data. </a:t>
            </a:r>
          </a:p>
          <a:p>
            <a:pPr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8B65E8-364D-AD4A-5635-B77A8D3146BA}"/>
              </a:ext>
            </a:extLst>
          </p:cNvPr>
          <p:cNvSpPr txBox="1"/>
          <p:nvPr/>
        </p:nvSpPr>
        <p:spPr>
          <a:xfrm>
            <a:off x="98612" y="3072348"/>
            <a:ext cx="1209338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buNone/>
            </a:pPr>
            <a:r>
              <a:rPr lang="en-GB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Components of Perceptron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perceptron takes multiple input features, each representing a characteristic of the input data.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input feature is assigned a weight that determines its influence on the output. 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Summation Function: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perceptron calculates the weighted sum of its inputs, combining them with their respective weights.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 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Heaviside step function, comparing it to a threshold to produce a binary output (0 or 1).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output is determined by the activation function, often used for binary classification tasks.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Bias: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bias term helps the perceptron make adjustments independent of the input, improving its flexibility in learning.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Algorithm:</a:t>
            </a:r>
          </a:p>
        </p:txBody>
      </p:sp>
    </p:spTree>
    <p:extLst>
      <p:ext uri="{BB962C8B-B14F-4D97-AF65-F5344CB8AC3E}">
        <p14:creationId xmlns:p14="http://schemas.microsoft.com/office/powerpoint/2010/main" val="19831974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65F7-4F2D-1227-1F99-08F942FE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6D936C-591E-BD18-9600-72C4611581EF}"/>
              </a:ext>
            </a:extLst>
          </p:cNvPr>
          <p:cNvSpPr txBox="1"/>
          <p:nvPr/>
        </p:nvSpPr>
        <p:spPr>
          <a:xfrm>
            <a:off x="3172681" y="-6493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Perceptron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080DF-996B-C9FF-BF52-A463B4DB1523}"/>
              </a:ext>
            </a:extLst>
          </p:cNvPr>
          <p:cNvSpPr txBox="1"/>
          <p:nvPr/>
        </p:nvSpPr>
        <p:spPr>
          <a:xfrm>
            <a:off x="-1" y="519845"/>
            <a:ext cx="8205537" cy="213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Perceptron Algorithm</a:t>
            </a:r>
          </a:p>
          <a:p>
            <a:pPr algn="l"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Frank Rosenblatt suggested this algorithm:</a:t>
            </a:r>
          </a:p>
          <a:p>
            <a:pPr algn="l">
              <a:buNone/>
            </a:pPr>
            <a:endParaRPr lang="en-GB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a threshold value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Multiply all inputs with its weights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Sum all the results</a:t>
            </a:r>
          </a:p>
          <a:p>
            <a:pPr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Activate the output</a:t>
            </a:r>
          </a:p>
        </p:txBody>
      </p:sp>
      <p:pic>
        <p:nvPicPr>
          <p:cNvPr id="6146" name="Picture 2" descr="Perceptron">
            <a:extLst>
              <a:ext uri="{FF2B5EF4-FFF2-40B4-BE49-F238E27FC236}">
                <a16:creationId xmlns:a16="http://schemas.microsoft.com/office/drawing/2014/main" id="{313D0061-0680-2EE3-98FB-7ADD32B5C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45" y="3009582"/>
            <a:ext cx="546967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he 5 Variants of Multi-Layer Perceptron for Collaborative Filtering —  James Le">
            <a:extLst>
              <a:ext uri="{FF2B5EF4-FFF2-40B4-BE49-F238E27FC236}">
                <a16:creationId xmlns:a16="http://schemas.microsoft.com/office/drawing/2014/main" id="{9B81DEBC-A838-0D93-5A06-F45281CA3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742" y="3009582"/>
            <a:ext cx="520541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9914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F6E4F-A4D4-8D1C-D261-F4C18775D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9D0F6C-DF61-9FFF-6486-985895C16FCF}"/>
              </a:ext>
            </a:extLst>
          </p:cNvPr>
          <p:cNvSpPr txBox="1"/>
          <p:nvPr/>
        </p:nvSpPr>
        <p:spPr>
          <a:xfrm>
            <a:off x="3172681" y="-6493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Perceptron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AA415B-77E9-5527-12E9-DB9FCC28DEBC}"/>
              </a:ext>
            </a:extLst>
          </p:cNvPr>
          <p:cNvSpPr txBox="1"/>
          <p:nvPr/>
        </p:nvSpPr>
        <p:spPr>
          <a:xfrm>
            <a:off x="-4010" y="227457"/>
            <a:ext cx="7102642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Perceptron Example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Imagine a perceptron (in your brain).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perceptron tries to decide if you should go to a concert.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artist good? Is the weather good?</a:t>
            </a:r>
          </a:p>
          <a:p>
            <a:pPr marL="285750" indent="-285750" algn="l">
              <a:buFont typeface="Wingdings" pitchFamily="2" charset="2"/>
              <a:buChar char="ü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weights should these facts have?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75F50C-F498-3DE4-3C84-CDED0B377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470059"/>
              </p:ext>
            </p:extLst>
          </p:nvPr>
        </p:nvGraphicFramePr>
        <p:xfrm>
          <a:off x="1563738" y="2148840"/>
          <a:ext cx="9064524" cy="2560320"/>
        </p:xfrm>
        <a:graphic>
          <a:graphicData uri="http://schemas.openxmlformats.org/drawingml/2006/table">
            <a:tbl>
              <a:tblPr/>
              <a:tblGrid>
                <a:gridCol w="3021508">
                  <a:extLst>
                    <a:ext uri="{9D8B030D-6E8A-4147-A177-3AD203B41FA5}">
                      <a16:colId xmlns:a16="http://schemas.microsoft.com/office/drawing/2014/main" val="2418160336"/>
                    </a:ext>
                  </a:extLst>
                </a:gridCol>
                <a:gridCol w="3021508">
                  <a:extLst>
                    <a:ext uri="{9D8B030D-6E8A-4147-A177-3AD203B41FA5}">
                      <a16:colId xmlns:a16="http://schemas.microsoft.com/office/drawing/2014/main" val="2696790910"/>
                    </a:ext>
                  </a:extLst>
                </a:gridCol>
                <a:gridCol w="3021508">
                  <a:extLst>
                    <a:ext uri="{9D8B030D-6E8A-4147-A177-3AD203B41FA5}">
                      <a16:colId xmlns:a16="http://schemas.microsoft.com/office/drawing/2014/main" val="2973032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Criteria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Input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Weight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51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Artists is Good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x1</a:t>
                      </a:r>
                      <a:r>
                        <a:rPr lang="en-GB">
                          <a:effectLst/>
                        </a:rPr>
                        <a:t> = 0 or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w1</a:t>
                      </a:r>
                      <a:r>
                        <a:rPr lang="en-GB">
                          <a:effectLst/>
                        </a:rPr>
                        <a:t> = 0.7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15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Weather is Good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x2</a:t>
                      </a:r>
                      <a:r>
                        <a:rPr lang="en-GB">
                          <a:effectLst/>
                        </a:rPr>
                        <a:t> = 0 or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w2</a:t>
                      </a:r>
                      <a:r>
                        <a:rPr lang="en-GB">
                          <a:effectLst/>
                        </a:rPr>
                        <a:t> = 0.6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8226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Friend will Come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x3</a:t>
                      </a:r>
                      <a:r>
                        <a:rPr lang="en-GB">
                          <a:effectLst/>
                        </a:rPr>
                        <a:t> = 0 or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w3</a:t>
                      </a:r>
                      <a:r>
                        <a:rPr lang="en-GB">
                          <a:effectLst/>
                        </a:rPr>
                        <a:t> = 0.5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935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Food is Served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x4</a:t>
                      </a:r>
                      <a:r>
                        <a:rPr lang="en-GB">
                          <a:effectLst/>
                        </a:rPr>
                        <a:t> = 0 or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w4</a:t>
                      </a:r>
                      <a:r>
                        <a:rPr lang="en-GB">
                          <a:effectLst/>
                        </a:rPr>
                        <a:t> = 0.3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4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>
                          <a:effectLst/>
                        </a:rPr>
                        <a:t>Alcohol is Served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>
                          <a:effectLst/>
                        </a:rPr>
                        <a:t>x5</a:t>
                      </a:r>
                      <a:r>
                        <a:rPr lang="en-GB">
                          <a:effectLst/>
                        </a:rPr>
                        <a:t> = 0 or 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b="1" dirty="0">
                          <a:effectLst/>
                        </a:rPr>
                        <a:t>w5</a:t>
                      </a:r>
                      <a:r>
                        <a:rPr lang="en-GB" dirty="0">
                          <a:effectLst/>
                        </a:rPr>
                        <a:t> = 0.4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99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0642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E1C4B-217D-795A-B4B0-E519E468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5E7430-21D4-B9B1-6E06-8F23D1F5C050}"/>
              </a:ext>
            </a:extLst>
          </p:cNvPr>
          <p:cNvSpPr txBox="1"/>
          <p:nvPr/>
        </p:nvSpPr>
        <p:spPr>
          <a:xfrm>
            <a:off x="3172681" y="-64930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  <a:effectLst/>
                <a:latin typeface="Times New Roman" panose="02020603050405020304" pitchFamily="18" charset="0"/>
              </a:rPr>
              <a:t>Perceptron</a:t>
            </a:r>
            <a:endParaRPr lang="en-US" sz="3200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2A086-2CF2-7374-3DEB-BC5A203CF720}"/>
              </a:ext>
            </a:extLst>
          </p:cNvPr>
          <p:cNvSpPr txBox="1"/>
          <p:nvPr/>
        </p:nvSpPr>
        <p:spPr>
          <a:xfrm>
            <a:off x="0" y="1209224"/>
            <a:ext cx="102268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Set a threshold value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Threshold = 1.5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Multiply all inputs with its weights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x1 * w1 = 1 * 0.7 = 0.7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x2 * w2 = 0 * 0.6 = 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x3 * w3 = 1 * 0.5 = 0.5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x4 * w4 = 0 * 0.3 = 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x5 * w5 = 1 * 0.4 = 0.4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Sum all the results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0.7 + 0 + 0.5 + 0 + 0.4 = 1.6 (The Weighted Sum)</a:t>
            </a:r>
          </a:p>
          <a:p>
            <a:pPr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Activate the Output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true if the sum &gt; 1.5 ("Yes I will go to the Concert")</a:t>
            </a:r>
          </a:p>
        </p:txBody>
      </p:sp>
    </p:spTree>
    <p:extLst>
      <p:ext uri="{BB962C8B-B14F-4D97-AF65-F5344CB8AC3E}">
        <p14:creationId xmlns:p14="http://schemas.microsoft.com/office/powerpoint/2010/main" val="11421293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D680-A642-E48F-05DF-E8D9A41C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7C551-BDD2-A2E6-99EF-B167EB1D9B09}"/>
              </a:ext>
            </a:extLst>
          </p:cNvPr>
          <p:cNvSpPr txBox="1"/>
          <p:nvPr/>
        </p:nvSpPr>
        <p:spPr>
          <a:xfrm>
            <a:off x="3172681" y="36095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HOPFIELD NETWORK</a:t>
            </a:r>
          </a:p>
        </p:txBody>
      </p:sp>
      <p:pic>
        <p:nvPicPr>
          <p:cNvPr id="1026" name="Picture 2" descr="Network structure">
            <a:extLst>
              <a:ext uri="{FF2B5EF4-FFF2-40B4-BE49-F238E27FC236}">
                <a16:creationId xmlns:a16="http://schemas.microsoft.com/office/drawing/2014/main" id="{AED79EC0-F22F-2E13-7AB1-C85D97554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89" y="1561309"/>
            <a:ext cx="7927031" cy="471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4B04D8-7B36-B13B-1EA8-13F0E8AF0AE0}"/>
              </a:ext>
            </a:extLst>
          </p:cNvPr>
          <p:cNvSpPr txBox="1"/>
          <p:nvPr/>
        </p:nvSpPr>
        <p:spPr>
          <a:xfrm>
            <a:off x="0" y="767924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fully connected neural network where each neuron is connected to every other neuron (excluding self-connections).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By John Hopfield in 1982.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31862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90A83-C9B9-5DB1-1DCF-CB4E1393B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DE1945-36AB-56F8-276F-4441D921CC8A}"/>
              </a:ext>
            </a:extLst>
          </p:cNvPr>
          <p:cNvSpPr txBox="1"/>
          <p:nvPr/>
        </p:nvSpPr>
        <p:spPr>
          <a:xfrm>
            <a:off x="2471351" y="0"/>
            <a:ext cx="6900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 HOPFIELD NETWORK</a:t>
            </a:r>
          </a:p>
        </p:txBody>
      </p:sp>
      <p:sp>
        <p:nvSpPr>
          <p:cNvPr id="6" name="AutoShape 4" descr="Wij">
            <a:extLst>
              <a:ext uri="{FF2B5EF4-FFF2-40B4-BE49-F238E27FC236}">
                <a16:creationId xmlns:a16="http://schemas.microsoft.com/office/drawing/2014/main" id="{1256C6D5-67AF-8F5C-A677-2116989F96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955" y="3087816"/>
            <a:ext cx="4191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5" descr="i">
            <a:extLst>
              <a:ext uri="{FF2B5EF4-FFF2-40B4-BE49-F238E27FC236}">
                <a16:creationId xmlns:a16="http://schemas.microsoft.com/office/drawing/2014/main" id="{DF380A25-CCE0-887A-B3AF-093CD60DA25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3767" y="3087816"/>
            <a:ext cx="762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j">
            <a:extLst>
              <a:ext uri="{FF2B5EF4-FFF2-40B4-BE49-F238E27FC236}">
                <a16:creationId xmlns:a16="http://schemas.microsoft.com/office/drawing/2014/main" id="{EB3E9CDA-A100-B496-25BB-4AFFFC7965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20417" y="3087816"/>
            <a:ext cx="1143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7" descr="N">
            <a:extLst>
              <a:ext uri="{FF2B5EF4-FFF2-40B4-BE49-F238E27FC236}">
                <a16:creationId xmlns:a16="http://schemas.microsoft.com/office/drawing/2014/main" id="{34C57B46-75DC-97DA-C749-76467A08C4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955" y="3286253"/>
            <a:ext cx="2032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8" descr="P">
            <a:extLst>
              <a:ext uri="{FF2B5EF4-FFF2-40B4-BE49-F238E27FC236}">
                <a16:creationId xmlns:a16="http://schemas.microsoft.com/office/drawing/2014/main" id="{352ED269-F6F4-1F61-655A-89DCCE80EA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955" y="3484691"/>
            <a:ext cx="1778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9" descr="x_i^\mu">
            <a:extLst>
              <a:ext uri="{FF2B5EF4-FFF2-40B4-BE49-F238E27FC236}">
                <a16:creationId xmlns:a16="http://schemas.microsoft.com/office/drawing/2014/main" id="{7D2AD253-FC8B-CA91-1ECB-050CA2C35F2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955" y="3681541"/>
            <a:ext cx="2286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0" descr="x_j^\mu">
            <a:extLst>
              <a:ext uri="{FF2B5EF4-FFF2-40B4-BE49-F238E27FC236}">
                <a16:creationId xmlns:a16="http://schemas.microsoft.com/office/drawing/2014/main" id="{633C7135-57CF-209B-6ED4-6C5463589F5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27855" y="3681541"/>
            <a:ext cx="228600" cy="29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1" descr="i">
            <a:extLst>
              <a:ext uri="{FF2B5EF4-FFF2-40B4-BE49-F238E27FC236}">
                <a16:creationId xmlns:a16="http://schemas.microsoft.com/office/drawing/2014/main" id="{C3779A43-ACBB-E404-584A-0011B2B51E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6080" y="3681541"/>
            <a:ext cx="762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2" descr="j">
            <a:extLst>
              <a:ext uri="{FF2B5EF4-FFF2-40B4-BE49-F238E27FC236}">
                <a16:creationId xmlns:a16="http://schemas.microsoft.com/office/drawing/2014/main" id="{99485204-4E01-19EE-D5AB-37DFF5E5B1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3767" y="3681541"/>
            <a:ext cx="1143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13" descr="P">
            <a:extLst>
              <a:ext uri="{FF2B5EF4-FFF2-40B4-BE49-F238E27FC236}">
                <a16:creationId xmlns:a16="http://schemas.microsoft.com/office/drawing/2014/main" id="{53E3EDD2-D38D-94A2-4302-68DB2A334A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46130" y="3681541"/>
            <a:ext cx="1778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23548-EC86-A353-72A8-D1BE330F1934}"/>
              </a:ext>
            </a:extLst>
          </p:cNvPr>
          <p:cNvSpPr txBox="1"/>
          <p:nvPr/>
        </p:nvSpPr>
        <p:spPr>
          <a:xfrm>
            <a:off x="112690" y="766108"/>
            <a:ext cx="11929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neuron is connected to every other neuron (except itself).</a:t>
            </a:r>
          </a:p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weights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wij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wji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or bipolar states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Neurons typically take values of 0/1 (binary) or −1/+1 (bipolar).</a:t>
            </a: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Energy-based model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network updates to reduce its energy and eventually converges to a stable state (local minimum).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B730A-5F10-D0D7-B372-BF6A60423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0" y="2209325"/>
            <a:ext cx="11675355" cy="331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006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AF6FF-57C1-FE3E-F57D-9F4F35697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F7737-3C36-C1A3-0FC5-C8096EC66517}"/>
              </a:ext>
            </a:extLst>
          </p:cNvPr>
          <p:cNvSpPr txBox="1"/>
          <p:nvPr/>
        </p:nvSpPr>
        <p:spPr>
          <a:xfrm>
            <a:off x="2471351" y="0"/>
            <a:ext cx="69000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 HOPFIELD NETWORK</a:t>
            </a:r>
          </a:p>
        </p:txBody>
      </p:sp>
      <p:sp>
        <p:nvSpPr>
          <p:cNvPr id="6" name="AutoShape 4" descr="Wij">
            <a:extLst>
              <a:ext uri="{FF2B5EF4-FFF2-40B4-BE49-F238E27FC236}">
                <a16:creationId xmlns:a16="http://schemas.microsoft.com/office/drawing/2014/main" id="{1B18F247-B93D-DADD-C65F-1398255260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955" y="3087816"/>
            <a:ext cx="4191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5" descr="i">
            <a:extLst>
              <a:ext uri="{FF2B5EF4-FFF2-40B4-BE49-F238E27FC236}">
                <a16:creationId xmlns:a16="http://schemas.microsoft.com/office/drawing/2014/main" id="{BC647159-510C-DD2D-B6CD-6AB01E6B60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3767" y="3087816"/>
            <a:ext cx="762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6" descr="j">
            <a:extLst>
              <a:ext uri="{FF2B5EF4-FFF2-40B4-BE49-F238E27FC236}">
                <a16:creationId xmlns:a16="http://schemas.microsoft.com/office/drawing/2014/main" id="{6891682A-884C-091A-DCFB-F0BC122B40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20417" y="3087816"/>
            <a:ext cx="1143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7" descr="N">
            <a:extLst>
              <a:ext uri="{FF2B5EF4-FFF2-40B4-BE49-F238E27FC236}">
                <a16:creationId xmlns:a16="http://schemas.microsoft.com/office/drawing/2014/main" id="{6A241EEE-E302-C5D8-E003-ABB15E8896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955" y="3286253"/>
            <a:ext cx="2032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8" descr="P">
            <a:extLst>
              <a:ext uri="{FF2B5EF4-FFF2-40B4-BE49-F238E27FC236}">
                <a16:creationId xmlns:a16="http://schemas.microsoft.com/office/drawing/2014/main" id="{ED465A5C-A78B-F343-71B0-E7ECBE1BA9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955" y="3484691"/>
            <a:ext cx="1778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9" descr="x_i^\mu">
            <a:extLst>
              <a:ext uri="{FF2B5EF4-FFF2-40B4-BE49-F238E27FC236}">
                <a16:creationId xmlns:a16="http://schemas.microsoft.com/office/drawing/2014/main" id="{634C97D7-39EA-78EA-0972-8C08764448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03955" y="3681541"/>
            <a:ext cx="228600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AutoShape 10" descr="x_j^\mu">
            <a:extLst>
              <a:ext uri="{FF2B5EF4-FFF2-40B4-BE49-F238E27FC236}">
                <a16:creationId xmlns:a16="http://schemas.microsoft.com/office/drawing/2014/main" id="{488690D0-5C81-B3D0-6CFA-EF11B9F051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27855" y="3681541"/>
            <a:ext cx="228600" cy="29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AutoShape 11" descr="i">
            <a:extLst>
              <a:ext uri="{FF2B5EF4-FFF2-40B4-BE49-F238E27FC236}">
                <a16:creationId xmlns:a16="http://schemas.microsoft.com/office/drawing/2014/main" id="{D05E6590-AF59-06F5-3FA2-CDC42F8022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6080" y="3681541"/>
            <a:ext cx="762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utoShape 12" descr="j">
            <a:extLst>
              <a:ext uri="{FF2B5EF4-FFF2-40B4-BE49-F238E27FC236}">
                <a16:creationId xmlns:a16="http://schemas.microsoft.com/office/drawing/2014/main" id="{42C5DC88-DC9F-E9AD-432E-DFC10A662E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83767" y="3681541"/>
            <a:ext cx="1143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AutoShape 13" descr="P">
            <a:extLst>
              <a:ext uri="{FF2B5EF4-FFF2-40B4-BE49-F238E27FC236}">
                <a16:creationId xmlns:a16="http://schemas.microsoft.com/office/drawing/2014/main" id="{96A2F6B2-0900-95C0-8B80-F82C3CE687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46130" y="3681541"/>
            <a:ext cx="1778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1FF3E-C0BC-B3B8-7A29-F61EDD8174CF}"/>
              </a:ext>
            </a:extLst>
          </p:cNvPr>
          <p:cNvSpPr txBox="1"/>
          <p:nvPr/>
        </p:nvSpPr>
        <p:spPr>
          <a:xfrm>
            <a:off x="0" y="850005"/>
            <a:ext cx="914721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i="0" u="none" strike="noStrike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in Image Processing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Restoration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Edge Detection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for Image Compression</a:t>
            </a:r>
            <a:r>
              <a:rPr lang="en-GB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513911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164C3-A821-B596-17CB-54C6CF302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A4D574-EA71-AE59-398F-22E91D1A0076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of Unit</a:t>
            </a:r>
          </a:p>
        </p:txBody>
      </p:sp>
    </p:spTree>
    <p:extLst>
      <p:ext uri="{BB962C8B-B14F-4D97-AF65-F5344CB8AC3E}">
        <p14:creationId xmlns:p14="http://schemas.microsoft.com/office/powerpoint/2010/main" val="25436786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17806-750E-D381-2E6B-D621C4E2C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D2E7AE-9F08-F123-C40F-FDC179ECAFE7}"/>
              </a:ext>
            </a:extLst>
          </p:cNvPr>
          <p:cNvSpPr txBox="1"/>
          <p:nvPr/>
        </p:nvSpPr>
        <p:spPr>
          <a:xfrm>
            <a:off x="2563090" y="2694892"/>
            <a:ext cx="730134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05803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3570</Words>
  <Application>Microsoft Macintosh PowerPoint</Application>
  <PresentationFormat>Widescreen</PresentationFormat>
  <Paragraphs>473</Paragraphs>
  <Slides>63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0" baseType="lpstr">
      <vt:lpstr>Arial</vt:lpstr>
      <vt:lpstr>Calibri</vt:lpstr>
      <vt:lpstr>Calibri Light</vt:lpstr>
      <vt:lpstr>Times New Roman</vt:lpstr>
      <vt:lpstr>TimesNewRomanPS-BoldMT</vt:lpstr>
      <vt:lpstr>Wingdings</vt:lpstr>
      <vt:lpstr>Office Theme</vt:lpstr>
      <vt:lpstr>Unit 7  Pattern Recognition &amp; Artificial Neural Network in Pattern Recognition</vt:lpstr>
      <vt:lpstr>PowerPoint Presentation</vt:lpstr>
      <vt:lpstr>PowerPoint Presentation</vt:lpstr>
      <vt:lpstr>Applications of Pattern Recognition</vt:lpstr>
      <vt:lpstr>Working of Pattern Recognition</vt:lpstr>
      <vt:lpstr>Phases/Steps in Pattern Recognition</vt:lpstr>
      <vt:lpstr>Boundary Preprocessing</vt:lpstr>
      <vt:lpstr>Boundary Feature Descriptors</vt:lpstr>
      <vt:lpstr>FEATURE DESCRIPTORS</vt:lpstr>
      <vt:lpstr>SIFT(Scale-Invariant Feature Transform)</vt:lpstr>
      <vt:lpstr>SIFT(Scale-Invariant Feature Transform)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FEATURE EXTRACTION: PCA</vt:lpstr>
      <vt:lpstr>PATTERNS AND PATTERN CLASSES</vt:lpstr>
      <vt:lpstr>PATTERN CLASSIFICATION BY PROTOTYPE MATCHING</vt:lpstr>
      <vt:lpstr>PATTERN CLASSIFICATION BY PROTOTYPE MATCHING</vt:lpstr>
      <vt:lpstr>PATTERN CLASSIFICATION BY PROTOTYPE MATCHING</vt:lpstr>
      <vt:lpstr>K-Nearest Neighbour Algorithm</vt:lpstr>
      <vt:lpstr>K-Nearest Neighbour Algorithm</vt:lpstr>
      <vt:lpstr>Working of K-Nearest Neighbour Algorithm</vt:lpstr>
      <vt:lpstr>Working of K-Nearest Neighbour Algorithm</vt:lpstr>
      <vt:lpstr>OPTIMUM (BAYES) STATISTICAL CLASSIFIERS</vt:lpstr>
      <vt:lpstr>OPTIMUM (BAYES) STATISTICAL CLASSIFIERS</vt:lpstr>
      <vt:lpstr>OPTIMUM (BAYES) STATISTICAL CLASSIFIERS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8 Representation and Descriptors</dc:title>
  <dc:creator>Harendra Bikram Shah</dc:creator>
  <cp:lastModifiedBy>Harendra Bikram Shah</cp:lastModifiedBy>
  <cp:revision>262</cp:revision>
  <dcterms:created xsi:type="dcterms:W3CDTF">2024-09-07T15:35:53Z</dcterms:created>
  <dcterms:modified xsi:type="dcterms:W3CDTF">2025-07-13T05:39:04Z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1033-5.7.1.8093</vt:lpwstr>
  </property>
</Properties>
</file>