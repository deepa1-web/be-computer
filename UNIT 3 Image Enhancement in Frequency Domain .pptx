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80" r:id="rId12"/>
    <p:sldId id="278" r:id="rId13"/>
    <p:sldId id="279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90" r:id="rId23"/>
    <p:sldId id="292" r:id="rId24"/>
    <p:sldId id="293" r:id="rId25"/>
    <p:sldId id="295" r:id="rId26"/>
    <p:sldId id="296" r:id="rId27"/>
    <p:sldId id="310" r:id="rId28"/>
    <p:sldId id="301" r:id="rId29"/>
    <p:sldId id="311" r:id="rId30"/>
    <p:sldId id="312" r:id="rId31"/>
    <p:sldId id="313" r:id="rId32"/>
    <p:sldId id="291" r:id="rId33"/>
    <p:sldId id="304" r:id="rId34"/>
    <p:sldId id="305" r:id="rId35"/>
    <p:sldId id="306" r:id="rId36"/>
    <p:sldId id="307" r:id="rId37"/>
    <p:sldId id="308" r:id="rId38"/>
    <p:sldId id="309" r:id="rId39"/>
    <p:sldId id="289" r:id="rId40"/>
    <p:sldId id="314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288" autoAdjust="0"/>
    <p:restoredTop sz="93969" autoAdjust="0"/>
  </p:normalViewPr>
  <p:slideViewPr>
    <p:cSldViewPr snapToGrid="0">
      <p:cViewPr>
        <p:scale>
          <a:sx n="102" d="100"/>
          <a:sy n="102" d="100"/>
        </p:scale>
        <p:origin x="544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14/06/26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14/06/26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14/06/26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14/06/26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14/06/26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14/06/26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14/06/26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14/06/26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14/06/26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14/06/26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14/06/26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DFAFD-11C0-45D7-9479-D1E78EB3123D}" type="datetimeFigureOut">
              <a:rPr lang="en-IN" smtClean="0"/>
              <a:t>14/06/26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095" y="203201"/>
            <a:ext cx="12066905" cy="1209040"/>
          </a:xfrm>
        </p:spPr>
        <p:txBody>
          <a:bodyPr>
            <a:normAutofit fontScale="90000"/>
          </a:bodyPr>
          <a:lstStyle/>
          <a:p>
            <a:r>
              <a:rPr lang="en-GB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3 </a:t>
            </a:r>
            <a:br>
              <a:rPr lang="en-GB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ENHANCEMENT IN FREQUENCY DOMAIN</a:t>
            </a:r>
            <a:endParaRPr lang="en-IN" sz="4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91662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en-GB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 </a:t>
            </a:r>
          </a:p>
          <a:p>
            <a:pPr algn="l"/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Er.Harendra Bikram Shah </a:t>
            </a:r>
            <a:b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(Lecturer)</a:t>
            </a:r>
          </a:p>
          <a:p>
            <a:pPr algn="l"/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Department of Computer Engineering </a:t>
            </a:r>
          </a:p>
          <a:p>
            <a:pPr algn="l"/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49E55B-2E60-C376-909F-FE84B6354C5D}"/>
              </a:ext>
            </a:extLst>
          </p:cNvPr>
          <p:cNvSpPr txBox="1"/>
          <p:nvPr/>
        </p:nvSpPr>
        <p:spPr>
          <a:xfrm>
            <a:off x="10162572" y="1736203"/>
            <a:ext cx="910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Hrs</a:t>
            </a:r>
            <a:endParaRPr lang="en-US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246"/>
            <a:ext cx="10515600" cy="867327"/>
          </a:xfrm>
        </p:spPr>
        <p:txBody>
          <a:bodyPr/>
          <a:lstStyle/>
          <a:p>
            <a:pPr algn="ctr"/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362" y="1101725"/>
            <a:ext cx="11217275" cy="43516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3.1. Introduction to Fourier Transform and the frequency Domain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3.2. Computing and Visualizing the 2D DFT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3.3. Smoothening Frequency Domain Filters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3.4. Sharpening Frequency Domain Filters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3.5. Other Image Transforms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3.5.1. Hadamard Transform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3.5.2. Haar Transform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3.5.3. Discrete Cosine Transform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3.6. Fast Fourier Transform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680" y="10850"/>
            <a:ext cx="11353800" cy="59875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Fourier Transform and the frequency 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07165"/>
            <a:ext cx="121919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digital image is converted from spatial domain to frequency domain and image filtering is used for image enhancement for a specific application.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types of filters: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pass filters and low pass filters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1920" y="2007014"/>
            <a:ext cx="11968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smoothing an image: low filter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Sharpening an image: High Filter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2784570"/>
            <a:ext cx="119684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pass filters and high pass filters have sub categorized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e. 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filter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Butterworth filter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filter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3090"/>
            <a:ext cx="10515600" cy="999849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IMAGE ENHANCEMENT IN </a:t>
            </a:r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 DOMAIN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739" y="1351722"/>
            <a:ext cx="9448800" cy="4412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3091"/>
            <a:ext cx="10515600" cy="537790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FOURIER TRANSFORMATION</a:t>
            </a:r>
            <a:endParaRPr lang="en-IN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829773"/>
            <a:ext cx="107044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model which helps to transform the signals between two different domains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tool for image processing. it is used for decomposing an image into sine and cosine components. 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inverse Fourier transform brings back the image in spatial domain from frequency domain. 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used in image filtering, image compression. Image analysis and image reconstruction etc.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Frequency domai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852" y="3839816"/>
            <a:ext cx="7898296" cy="259922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1086678" y="3180330"/>
            <a:ext cx="10704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US" sz="18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formula for 1-D Fourier transformation and 1-D Inverse Fourier Transformation is given below: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99849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FOURIER TRANSFORMATION</a:t>
            </a:r>
            <a:endParaRPr lang="en-IN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9837" y="1576318"/>
            <a:ext cx="10094843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ctr">
              <a:lnSpc>
                <a:spcPct val="107000"/>
              </a:lnSpc>
              <a:spcAft>
                <a:spcPts val="800"/>
              </a:spcAft>
            </a:pPr>
            <a:r>
              <a:rPr lang="en-GB" sz="1800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2D Fourier transform and 2D Inverse Fourier Transform:</a:t>
            </a:r>
            <a:endParaRPr lang="en-IN" sz="1600" dirty="0"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365" y="2526865"/>
            <a:ext cx="8388625" cy="2999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3091"/>
            <a:ext cx="10515600" cy="642040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Properties Fourier Transformation</a:t>
            </a:r>
            <a:endParaRPr lang="en-IN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2680" y="2010614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Duality</a:t>
            </a:r>
          </a:p>
          <a:p>
            <a:r>
              <a:rPr lang="en-US" b="1" dirty="0">
                <a:solidFill>
                  <a:srgbClr val="33333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Linear transform</a:t>
            </a:r>
          </a:p>
          <a:p>
            <a:r>
              <a:rPr lang="en-US" b="1" dirty="0">
                <a:solidFill>
                  <a:srgbClr val="33333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Modulation property</a:t>
            </a:r>
          </a:p>
          <a:p>
            <a:r>
              <a:rPr lang="en-US" b="1" dirty="0">
                <a:solidFill>
                  <a:srgbClr val="33333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Parseval’s theorem</a:t>
            </a:r>
          </a:p>
          <a:p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Linearity:</a:t>
            </a:r>
          </a:p>
          <a:p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Scaling: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Differentiation: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Convolution: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1811"/>
            <a:ext cx="10515600" cy="642040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Discrete Fourier Transform</a:t>
            </a:r>
            <a:endParaRPr lang="en-IN" sz="4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795131"/>
            <a:ext cx="10744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Discrete Fourier Transform (DFT) is a specific kind of discrete transform, used in Fourier analysis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843" y="1806503"/>
            <a:ext cx="8428383" cy="354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9883"/>
            <a:ext cx="10515600" cy="642040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Discrete Fourier Transform</a:t>
            </a:r>
            <a:endParaRPr lang="en-IN" sz="4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795131"/>
            <a:ext cx="10744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Discrete Fourier Transform (DFT) is a specific kind of discrete transform, used in Fourier analysis</a:t>
            </a:r>
            <a:endParaRPr lang="en-IN" dirty="0"/>
          </a:p>
        </p:txBody>
      </p:sp>
      <p:pic>
        <p:nvPicPr>
          <p:cNvPr id="1026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3322" y="2128040"/>
            <a:ext cx="6745355" cy="1427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4991" y="3981530"/>
            <a:ext cx="6473686" cy="144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838200" y="1531006"/>
            <a:ext cx="563372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It is defined as: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The 1D Discrete Fourier Transform of an image is given by: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838200" y="2999253"/>
            <a:ext cx="636103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Where k is 0.1.2…. N-1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Here u is 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The 1D Inverse Discrete Fourier Transform of an image is given by: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798768" y="5529746"/>
            <a:ext cx="787531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Where n is 0,2., 3…N-1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Here x is n according to our class lecturers.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3091"/>
            <a:ext cx="10515600" cy="642040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Discrete Fourier Transform</a:t>
            </a:r>
            <a:endParaRPr lang="en-IN" sz="4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436" y="1530016"/>
            <a:ext cx="8393068" cy="1336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974" y="3513320"/>
            <a:ext cx="7513983" cy="133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838200" y="1071627"/>
            <a:ext cx="1146339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/>
              <a:t>The 2D discrete Fourier transform (DFT) of an image f of size M×N is an image F of same size defined as:</a:t>
            </a: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023731" y="2866990"/>
            <a:ext cx="387471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for u = 0, 1, 2…M-1 and v = 0, 1, 2…N-1.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• The inverse 2D-DFT is given by:  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2301435" y="5009716"/>
            <a:ext cx="379456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for x = 0, 1, 2…M-1 and y = 0, 1, 2…N-1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3091"/>
            <a:ext cx="10515600" cy="642040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Discrete Fourier Transform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695" y="1076021"/>
            <a:ext cx="8282609" cy="527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3974" y="0"/>
            <a:ext cx="10515600" cy="642040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Discrete Fourier Transform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Left Bracket 2"/>
          <p:cNvSpPr/>
          <p:nvPr/>
        </p:nvSpPr>
        <p:spPr>
          <a:xfrm>
            <a:off x="1186483" y="1083780"/>
            <a:ext cx="190500" cy="1152525"/>
          </a:xfrm>
          <a:prstGeom prst="lef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en-IN"/>
          </a:p>
        </p:txBody>
      </p:sp>
      <p:sp>
        <p:nvSpPr>
          <p:cNvPr id="4" name="Right Bracket 3"/>
          <p:cNvSpPr/>
          <p:nvPr/>
        </p:nvSpPr>
        <p:spPr>
          <a:xfrm>
            <a:off x="2765562" y="1083780"/>
            <a:ext cx="133350" cy="1143000"/>
          </a:xfrm>
          <a:prstGeom prst="righ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en-IN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51791" y="201850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51791" y="521142"/>
            <a:ext cx="730194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r>
              <a:rPr lang="en-US" altLang="en-US" dirty="0"/>
              <a:t>The Transform matrix of DFT is given by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r>
              <a:rPr lang="en-US" altLang="en-US" dirty="0"/>
              <a:t>		1	 1	 1	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r>
              <a:rPr lang="en-US" altLang="en-US" dirty="0"/>
              <a:t>		1	-j	-1	  j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r>
              <a:rPr lang="en-US" altLang="en-US" dirty="0"/>
              <a:t>		1	-1	 1	-1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r>
              <a:rPr lang="en-US" altLang="en-US" dirty="0"/>
              <a:t>		1	 j	-1	 -j	4x4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r>
              <a:rPr lang="en-US" altLang="en-US" dirty="0"/>
              <a:t>To calculate the DFT using matrix method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r>
              <a:rPr lang="en-US" altLang="en-US" b="1" dirty="0"/>
              <a:t>For 1D image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r>
              <a:rPr lang="en-US" altLang="en-US" b="1" dirty="0"/>
              <a:t>F=</a:t>
            </a:r>
            <a:r>
              <a:rPr lang="en-US" altLang="en-US" b="1" dirty="0" err="1"/>
              <a:t>M.f</a:t>
            </a:r>
            <a:endParaRPr lang="en-US" alt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r>
              <a:rPr lang="en-US" altLang="en-US" b="1" dirty="0"/>
              <a:t>For 2D Image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r>
              <a:rPr lang="en-US" altLang="en-US" dirty="0"/>
              <a:t>F=M.f.MT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r>
              <a:rPr lang="en-US" altLang="en-US" dirty="0"/>
              <a:t>Since the </a:t>
            </a:r>
            <a:r>
              <a:rPr lang="en-US" altLang="en-US" dirty="0" err="1"/>
              <a:t>dft</a:t>
            </a:r>
            <a:r>
              <a:rPr lang="en-US" altLang="en-US" dirty="0"/>
              <a:t> is symmetric the M and MT are same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r>
              <a:rPr lang="en-US" altLang="en-US" dirty="0"/>
              <a:t>Here M is the DFT transform matrix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8488431" y="1872314"/>
            <a:ext cx="2859985" cy="661720"/>
            <a:chOff x="8150086" y="1672342"/>
            <a:chExt cx="2859985" cy="661720"/>
          </a:xfrm>
        </p:grpSpPr>
        <p:sp>
          <p:nvSpPr>
            <p:cNvPr id="10" name="TextBox 9"/>
            <p:cNvSpPr txBox="1"/>
            <p:nvPr/>
          </p:nvSpPr>
          <p:spPr>
            <a:xfrm>
              <a:off x="8150086" y="1749287"/>
              <a:ext cx="127635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200" dirty="0"/>
                <a:t>W</a:t>
              </a:r>
              <a:r>
                <a:rPr lang="en-GB" dirty="0"/>
                <a:t>N</a:t>
              </a:r>
              <a:r>
                <a:rPr lang="en-GB" sz="3200" dirty="0"/>
                <a:t>=e</a:t>
              </a:r>
              <a:endParaRPr lang="en-IN" sz="32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035497" y="1749287"/>
              <a:ext cx="19745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(-j2</a:t>
              </a:r>
              <a:r>
                <a:rPr lang="el-GR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π</a:t>
              </a:r>
              <a:r>
                <a:rPr lang="en-GB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/N)*n</a:t>
              </a:r>
              <a:endParaRPr lang="en-IN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88431" y="1672342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n</a:t>
              </a:r>
              <a:endParaRPr lang="en-IN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3974" y="0"/>
            <a:ext cx="10515600" cy="642040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Properties of Discrete Fourier Transform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51791" y="201850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027" y="1352550"/>
            <a:ext cx="4254747" cy="3643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3974" y="0"/>
            <a:ext cx="10515600" cy="642040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Application of Discrete Fourier Transform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51791" y="201850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1524000" y="794198"/>
            <a:ext cx="5210503" cy="2448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Signal analysis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Sound filtering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Data compression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Cross correlation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Matched filtering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System identification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Power spectrum estimation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Display signal and spectrum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63090" y="2694892"/>
            <a:ext cx="7301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/>
              <a:t>Questions on DFT</a:t>
            </a:r>
            <a:endParaRPr lang="en-IN" sz="40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45385" y="0"/>
            <a:ext cx="856996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/>
              <a:t>Discrete Cosine Transformation</a:t>
            </a:r>
            <a:endParaRPr lang="en-IN" sz="40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073426" y="835190"/>
            <a:ext cx="10800522" cy="1069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The DCT is similar to the discrete Fourier transform: it transforms a signal or image from the spatial domain to the frequency domain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DCT only deals with Real values.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096" y="2486025"/>
            <a:ext cx="8733182" cy="2682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45385" y="0"/>
            <a:ext cx="888809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/>
              <a:t>Discrete Cosine Transformation</a:t>
            </a:r>
            <a:endParaRPr lang="en-IN" sz="4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285459" y="642934"/>
            <a:ext cx="10641497" cy="67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One-Dimensional DCT If we have one-D sequence of signal value of length N then its equivalent 1D-DCT can be expressed as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0278" y="1081963"/>
            <a:ext cx="7169424" cy="254150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1173024" y="3623464"/>
            <a:ext cx="6096000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1D-IDCT can be expressed as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6870" y="3974006"/>
            <a:ext cx="6838121" cy="254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45385" y="0"/>
            <a:ext cx="902335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/>
              <a:t>Discrete Cosine Transformation</a:t>
            </a:r>
            <a:endParaRPr lang="en-IN" sz="4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30902" y="3517446"/>
            <a:ext cx="6096000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2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D-IDCT can be expressed as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87493" y="601868"/>
            <a:ext cx="10343116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The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two-dimensional DCT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of an M-by-N matrix A is defined as follows: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983" y="975945"/>
            <a:ext cx="9501807" cy="2647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3380" y="3833899"/>
            <a:ext cx="7811856" cy="302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45385" y="0"/>
            <a:ext cx="88646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/>
              <a:t>Discrete Cosine Transformation</a:t>
            </a:r>
            <a:endParaRPr lang="en-IN" sz="4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707886"/>
            <a:ext cx="6096000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The DCT Transform Matrix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852" y="992153"/>
            <a:ext cx="8017565" cy="32129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roup 13"/>
          <p:cNvGrpSpPr/>
          <p:nvPr/>
        </p:nvGrpSpPr>
        <p:grpSpPr>
          <a:xfrm>
            <a:off x="4535867" y="4579170"/>
            <a:ext cx="4949066" cy="1570944"/>
            <a:chOff x="1457739" y="3918452"/>
            <a:chExt cx="4949066" cy="1570944"/>
          </a:xfrm>
        </p:grpSpPr>
        <p:sp>
          <p:nvSpPr>
            <p:cNvPr id="11" name="TextBox 10"/>
            <p:cNvSpPr txBox="1"/>
            <p:nvPr/>
          </p:nvSpPr>
          <p:spPr>
            <a:xfrm>
              <a:off x="1596266" y="3918452"/>
              <a:ext cx="4810539" cy="1570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0.5	0.5	   0.5	   0.5		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0.653	0.2705	-0.2705  -0.653</a:t>
              </a:r>
              <a:endPara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0.5	-0.5	-0.5	   0.5</a:t>
              </a:r>
              <a:endPara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0.2705	-0.653	0.653	 -0.2705    4x4</a:t>
              </a:r>
              <a:endPara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</p:txBody>
        </p:sp>
        <p:sp>
          <p:nvSpPr>
            <p:cNvPr id="12" name="Left Bracket 11"/>
            <p:cNvSpPr/>
            <p:nvPr/>
          </p:nvSpPr>
          <p:spPr>
            <a:xfrm>
              <a:off x="1457739" y="3918453"/>
              <a:ext cx="277054" cy="1570943"/>
            </a:xfrm>
            <a:prstGeom prst="leftBracket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en-IN"/>
            </a:p>
          </p:txBody>
        </p:sp>
        <p:sp>
          <p:nvSpPr>
            <p:cNvPr id="13" name="Right Bracket 12"/>
            <p:cNvSpPr/>
            <p:nvPr/>
          </p:nvSpPr>
          <p:spPr>
            <a:xfrm>
              <a:off x="5062538" y="3918452"/>
              <a:ext cx="172071" cy="1570943"/>
            </a:xfrm>
            <a:prstGeom prst="rightBracket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45385" y="0"/>
            <a:ext cx="935164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/>
              <a:t>Discrete Cosine Transformation</a:t>
            </a:r>
            <a:endParaRPr lang="en-IN" sz="4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707886"/>
            <a:ext cx="6096000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The DCT Transform Matrix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852" y="992153"/>
            <a:ext cx="8017565" cy="32129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roup 13"/>
          <p:cNvGrpSpPr/>
          <p:nvPr/>
        </p:nvGrpSpPr>
        <p:grpSpPr>
          <a:xfrm>
            <a:off x="914400" y="4205093"/>
            <a:ext cx="4949066" cy="1570944"/>
            <a:chOff x="1457739" y="3918452"/>
            <a:chExt cx="4949066" cy="1570944"/>
          </a:xfrm>
        </p:grpSpPr>
        <p:sp>
          <p:nvSpPr>
            <p:cNvPr id="11" name="TextBox 10"/>
            <p:cNvSpPr txBox="1"/>
            <p:nvPr/>
          </p:nvSpPr>
          <p:spPr>
            <a:xfrm>
              <a:off x="1596266" y="3918452"/>
              <a:ext cx="4810539" cy="1570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0.5	0.5	   0.5	   0.5		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0.653	0.2705	-0.2705  -0.653</a:t>
              </a:r>
              <a:endPara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0.5	-0.5	-0.5	   0.5</a:t>
              </a:r>
              <a:endPara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0.2705	-0.653	0.653	 -0.2705    4x4</a:t>
              </a:r>
              <a:endPara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</p:txBody>
        </p:sp>
        <p:sp>
          <p:nvSpPr>
            <p:cNvPr id="12" name="Left Bracket 11"/>
            <p:cNvSpPr/>
            <p:nvPr/>
          </p:nvSpPr>
          <p:spPr>
            <a:xfrm>
              <a:off x="1457739" y="3918453"/>
              <a:ext cx="277054" cy="1570943"/>
            </a:xfrm>
            <a:prstGeom prst="leftBracket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en-IN"/>
            </a:p>
          </p:txBody>
        </p:sp>
        <p:sp>
          <p:nvSpPr>
            <p:cNvPr id="13" name="Right Bracket 12"/>
            <p:cNvSpPr/>
            <p:nvPr/>
          </p:nvSpPr>
          <p:spPr>
            <a:xfrm>
              <a:off x="5062538" y="3918452"/>
              <a:ext cx="172071" cy="1570943"/>
            </a:xfrm>
            <a:prstGeom prst="rightBracket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en-IN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6155634" y="4205093"/>
            <a:ext cx="2409722" cy="1566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For 1D image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F=C.f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6289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For 2D Image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F=C.f. C</a:t>
            </a:r>
            <a:r>
              <a:rPr lang="en-US" sz="1800" b="1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6076121" y="568118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Since the DCT is not symmetric the C and C</a:t>
            </a:r>
            <a:r>
              <a:rPr lang="en-US" sz="18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are not same</a:t>
            </a:r>
            <a:endParaRPr lang="en-I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45385" y="0"/>
            <a:ext cx="917067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/>
              <a:t>Discrete Cosine Transformation</a:t>
            </a:r>
            <a:endParaRPr lang="en-IN" sz="40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232452" y="822440"/>
            <a:ext cx="10469218" cy="1365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Applications of DCT: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DCTs are widely used in encoding, decoding, video, audio, multiplexing and analog to digital conversion.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DCTs are also commonly used for High-definition Television (HDTV) encoder/decoder chips.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DCT is widely used in JPEG compression as well.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2452" y="2302752"/>
            <a:ext cx="6096000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 sz="1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Properties of DCT: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3287" y="2841079"/>
            <a:ext cx="3816626" cy="3453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63090" y="2694892"/>
            <a:ext cx="7301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/>
              <a:t>Questions on DCT</a:t>
            </a:r>
            <a:endParaRPr lang="en-IN" sz="4000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51055" y="0"/>
            <a:ext cx="7301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Hadamard Transform</a:t>
            </a:r>
            <a:endParaRPr lang="en-IN" sz="4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2110" y="637302"/>
            <a:ext cx="1117158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Hadamard transform, named after the French mathematician Jacques Hadamard, is a mathematical operation that transforms a set of data into a different representation.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1D non sinusoidal signal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transformed for the complete set of orthogonal square functions.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coefficient are real and lies between -1 to +1.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288421"/>
            <a:ext cx="909099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Hadamard in Image processing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Compression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Denoising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Recognition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Encryption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Equalization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216538"/>
            <a:ext cx="434798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 of Hadamard Transform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Orthogonality: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Symmetry: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Self-Invertibility: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Nature: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in Matrix Multiplication: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Spread of Values: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5704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B0F0"/>
                </a:solidFill>
              </a:rPr>
              <a:t>The 1D Hadamard transform is given by: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A7E4FE-2484-2F26-3234-82416A04D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507" y="369332"/>
            <a:ext cx="10484986" cy="52363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2D5DB98-728B-3A2E-C1DD-86A0171B0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507" y="5471419"/>
            <a:ext cx="7445541" cy="138658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4961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2D Hadamard transform kernel is given by: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CC5686-E623-3750-EA16-E0FCEA38D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756" y="369332"/>
            <a:ext cx="9839446" cy="633676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71630" y="26504"/>
            <a:ext cx="2890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HADAMARD KERNEL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152A0F-C820-8B65-CD6E-E96DBA6C6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11" y="525866"/>
            <a:ext cx="11250592" cy="423133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1BCB2-2A56-B570-9B24-D81ECDF5F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755F02-286D-12CB-8785-959B3FBA78BD}"/>
              </a:ext>
            </a:extLst>
          </p:cNvPr>
          <p:cNvSpPr txBox="1"/>
          <p:nvPr/>
        </p:nvSpPr>
        <p:spPr>
          <a:xfrm>
            <a:off x="3471089" y="26504"/>
            <a:ext cx="5691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Deriving the Hadamard transform kernel of order N=2:</a:t>
            </a:r>
          </a:p>
          <a:p>
            <a:pPr algn="ctr"/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30E9E9-2B33-5C98-2A69-EC233C2F0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18" y="514291"/>
            <a:ext cx="11250592" cy="423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3454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71089" y="26504"/>
            <a:ext cx="5691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Deriving the Hadamard transform kernel of order N=2: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D305C7-F992-7AEE-C073-C7054AFC6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468178"/>
            <a:ext cx="9982200" cy="621696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F215F-D144-2124-6D5C-E6C63732B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EB59240-98DD-1A47-D6DE-516FD9CAE708}"/>
              </a:ext>
            </a:extLst>
          </p:cNvPr>
          <p:cNvSpPr txBox="1"/>
          <p:nvPr/>
        </p:nvSpPr>
        <p:spPr>
          <a:xfrm>
            <a:off x="3471089" y="26504"/>
            <a:ext cx="5691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Deriving the Hadamard transform kernel of order N=2: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B6D526-A3BF-565A-4E84-8C14CB62B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838" y="545186"/>
            <a:ext cx="9642676" cy="216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3030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9860-FE50-8A8C-EC05-CB0970EF2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77E7D5-0BB6-9B9E-6CD2-313CF942840F}"/>
              </a:ext>
            </a:extLst>
          </p:cNvPr>
          <p:cNvSpPr txBox="1"/>
          <p:nvPr/>
        </p:nvSpPr>
        <p:spPr>
          <a:xfrm>
            <a:off x="3471089" y="26504"/>
            <a:ext cx="5691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Deriving the Hadamard transform kernel of order N=4: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418C5B0-A9EC-7308-0AE9-6B88C2463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07" y="395836"/>
            <a:ext cx="11528385" cy="628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922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5F2D2-58CF-9983-D17B-B5910AB26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53634A-470A-E402-3AC4-F750D37FDB5A}"/>
              </a:ext>
            </a:extLst>
          </p:cNvPr>
          <p:cNvSpPr txBox="1"/>
          <p:nvPr/>
        </p:nvSpPr>
        <p:spPr>
          <a:xfrm>
            <a:off x="3471089" y="26504"/>
            <a:ext cx="5691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Deriving the Hadamard transform kernel of order N=4: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EE2D5F-1211-6151-DE54-5BDB65C05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13" y="532435"/>
            <a:ext cx="10984374" cy="522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1225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45327" y="176980"/>
            <a:ext cx="7301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Hadamard Transform</a:t>
            </a:r>
            <a:endParaRPr lang="en-IN" sz="4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054129" y="1325338"/>
            <a:ext cx="2611714" cy="1185341"/>
            <a:chOff x="1562721" y="3887915"/>
            <a:chExt cx="2611714" cy="1185341"/>
          </a:xfrm>
        </p:grpSpPr>
        <p:sp>
          <p:nvSpPr>
            <p:cNvPr id="3" name="TextBox 2"/>
            <p:cNvSpPr txBox="1"/>
            <p:nvPr/>
          </p:nvSpPr>
          <p:spPr>
            <a:xfrm>
              <a:off x="1596266" y="3918452"/>
              <a:ext cx="2578169" cy="10693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1</a:t>
              </a: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	</a:t>
              </a: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1</a:t>
              </a: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		</a:t>
              </a:r>
            </a:p>
            <a:p>
              <a:pPr marL="342900" indent="-342900">
                <a:lnSpc>
                  <a:spcPct val="107000"/>
                </a:lnSpc>
                <a:spcAft>
                  <a:spcPts val="800"/>
                </a:spcAft>
                <a:buAutoNum type="arabicPlain"/>
              </a:pP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         -1       2</a:t>
              </a:r>
              <a:r>
                <a:rPr lang="en-GB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x2</a:t>
              </a:r>
              <a:endPara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</p:txBody>
        </p:sp>
        <p:sp>
          <p:nvSpPr>
            <p:cNvPr id="5" name="Left Bracket 4"/>
            <p:cNvSpPr/>
            <p:nvPr/>
          </p:nvSpPr>
          <p:spPr>
            <a:xfrm>
              <a:off x="1562721" y="3918454"/>
              <a:ext cx="172072" cy="1154802"/>
            </a:xfrm>
            <a:prstGeom prst="leftBracket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en-IN"/>
            </a:p>
          </p:txBody>
        </p:sp>
        <p:sp>
          <p:nvSpPr>
            <p:cNvPr id="6" name="Right Bracket 5"/>
            <p:cNvSpPr/>
            <p:nvPr/>
          </p:nvSpPr>
          <p:spPr>
            <a:xfrm>
              <a:off x="2885350" y="3887915"/>
              <a:ext cx="172072" cy="1185341"/>
            </a:xfrm>
            <a:prstGeom prst="rightBracket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en-IN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375272" y="1789372"/>
            <a:ext cx="2137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of N=2 i.e. H=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4087674" y="2985841"/>
            <a:ext cx="2611714" cy="1185341"/>
            <a:chOff x="1562721" y="3887915"/>
            <a:chExt cx="2611714" cy="1185341"/>
          </a:xfrm>
        </p:grpSpPr>
        <p:sp>
          <p:nvSpPr>
            <p:cNvPr id="9" name="TextBox 8"/>
            <p:cNvSpPr txBox="1"/>
            <p:nvPr/>
          </p:nvSpPr>
          <p:spPr>
            <a:xfrm>
              <a:off x="1596266" y="3918452"/>
              <a:ext cx="2578169" cy="10693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H2	H2		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H2          -H2    2</a:t>
              </a:r>
              <a:r>
                <a:rPr lang="en-GB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x2</a:t>
              </a:r>
              <a:endPara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</p:txBody>
        </p:sp>
        <p:sp>
          <p:nvSpPr>
            <p:cNvPr id="10" name="Left Bracket 9"/>
            <p:cNvSpPr/>
            <p:nvPr/>
          </p:nvSpPr>
          <p:spPr>
            <a:xfrm>
              <a:off x="1562721" y="3918454"/>
              <a:ext cx="172072" cy="1154802"/>
            </a:xfrm>
            <a:prstGeom prst="leftBracket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en-IN"/>
            </a:p>
          </p:txBody>
        </p:sp>
        <p:sp>
          <p:nvSpPr>
            <p:cNvPr id="11" name="Right Bracket 10"/>
            <p:cNvSpPr/>
            <p:nvPr/>
          </p:nvSpPr>
          <p:spPr>
            <a:xfrm>
              <a:off x="2885350" y="3887915"/>
              <a:ext cx="172072" cy="1185341"/>
            </a:xfrm>
            <a:prstGeom prst="rightBracket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en-IN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452152" y="3429000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of N=4 i.e. H=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7209722" y="2828194"/>
            <a:ext cx="4949066" cy="1570944"/>
            <a:chOff x="1457739" y="3918452"/>
            <a:chExt cx="4949066" cy="1570944"/>
          </a:xfrm>
        </p:grpSpPr>
        <p:sp>
          <p:nvSpPr>
            <p:cNvPr id="14" name="TextBox 13"/>
            <p:cNvSpPr txBox="1"/>
            <p:nvPr/>
          </p:nvSpPr>
          <p:spPr>
            <a:xfrm>
              <a:off x="1596266" y="3918452"/>
              <a:ext cx="4810539" cy="1570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1</a:t>
              </a: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	 </a:t>
              </a: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1</a:t>
              </a: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	   </a:t>
              </a: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1</a:t>
              </a: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	   </a:t>
              </a: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1</a:t>
              </a: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		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1</a:t>
              </a: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	</a:t>
              </a: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-1</a:t>
              </a: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	   </a:t>
              </a: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1</a:t>
              </a: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  </a:t>
              </a: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           -1</a:t>
              </a:r>
              <a:endPara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1</a:t>
              </a: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	 </a:t>
              </a: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1</a:t>
              </a: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	  -1	  -1</a:t>
              </a:r>
              <a:endPara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1</a:t>
              </a: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	-</a:t>
              </a: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1</a:t>
              </a: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	</a:t>
              </a: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   -1</a:t>
              </a: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	 </a:t>
              </a:r>
              <a:r>
                <a:rPr lang="en-GB" dirty="0"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   1</a:t>
              </a:r>
              <a:r>
                <a: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Mangal" panose="02040503050203030202" pitchFamily="18" charset="0"/>
                </a:rPr>
                <a:t>         4x4</a:t>
              </a:r>
              <a:endPara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</p:txBody>
        </p:sp>
        <p:sp>
          <p:nvSpPr>
            <p:cNvPr id="15" name="Left Bracket 14"/>
            <p:cNvSpPr/>
            <p:nvPr/>
          </p:nvSpPr>
          <p:spPr>
            <a:xfrm>
              <a:off x="1457739" y="3918453"/>
              <a:ext cx="277054" cy="1570943"/>
            </a:xfrm>
            <a:prstGeom prst="leftBracket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en-IN"/>
            </a:p>
          </p:txBody>
        </p:sp>
        <p:sp>
          <p:nvSpPr>
            <p:cNvPr id="16" name="Right Bracket 15"/>
            <p:cNvSpPr/>
            <p:nvPr/>
          </p:nvSpPr>
          <p:spPr>
            <a:xfrm>
              <a:off x="5062538" y="3918452"/>
              <a:ext cx="172071" cy="1570943"/>
            </a:xfrm>
            <a:prstGeom prst="rightBracket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en-IN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6188765" y="359378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3360438" y="1789360"/>
            <a:ext cx="988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1/</a:t>
            </a:r>
            <a:r>
              <a:rPr lang="en-IN" dirty="0"/>
              <a:t>√2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9603" y="3429000"/>
            <a:ext cx="6238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1/</a:t>
            </a:r>
            <a:r>
              <a:rPr lang="en-IN" dirty="0"/>
              <a:t>√4</a:t>
            </a:r>
          </a:p>
          <a:p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6462372" y="3578935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57D7F9-8CCF-9B3C-BDC1-06574DD5B8DE}"/>
              </a:ext>
            </a:extLst>
          </p:cNvPr>
          <p:cNvSpPr txBox="1"/>
          <p:nvPr/>
        </p:nvSpPr>
        <p:spPr>
          <a:xfrm>
            <a:off x="3043705" y="4577624"/>
            <a:ext cx="5720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 Matrix and Transpose of Kernel Matrix are same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68319B-7670-8B3E-0254-2225F891D7E8}"/>
              </a:ext>
            </a:extLst>
          </p:cNvPr>
          <p:cNvSpPr txBox="1"/>
          <p:nvPr/>
        </p:nvSpPr>
        <p:spPr>
          <a:xfrm>
            <a:off x="716427" y="5588278"/>
            <a:ext cx="1471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T=K.F.K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0DE22F-ACA4-08B4-E5B7-23C7EFC46B25}"/>
              </a:ext>
            </a:extLst>
          </p:cNvPr>
          <p:cNvSpPr txBox="1"/>
          <p:nvPr/>
        </p:nvSpPr>
        <p:spPr>
          <a:xfrm>
            <a:off x="1814089" y="5541582"/>
            <a:ext cx="296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E6E0DE2-0A60-1A30-B1F2-5B5897333C4E}"/>
              </a:ext>
            </a:extLst>
          </p:cNvPr>
          <p:cNvGrpSpPr/>
          <p:nvPr/>
        </p:nvGrpSpPr>
        <p:grpSpPr>
          <a:xfrm>
            <a:off x="6059653" y="5541582"/>
            <a:ext cx="1471449" cy="524086"/>
            <a:chOff x="6145679" y="5690333"/>
            <a:chExt cx="1471449" cy="52408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8464043-8847-9EE1-A9A6-2E5CA97CA92C}"/>
                </a:ext>
              </a:extLst>
            </p:cNvPr>
            <p:cNvSpPr txBox="1"/>
            <p:nvPr/>
          </p:nvSpPr>
          <p:spPr>
            <a:xfrm>
              <a:off x="6145679" y="5752754"/>
              <a:ext cx="14714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F=K.T.K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F4B8110-1D3B-EC84-7E01-1BC02EAF33B0}"/>
                </a:ext>
              </a:extLst>
            </p:cNvPr>
            <p:cNvSpPr txBox="1"/>
            <p:nvPr/>
          </p:nvSpPr>
          <p:spPr>
            <a:xfrm>
              <a:off x="6636976" y="5690333"/>
              <a:ext cx="2968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811972B4-C23D-2E43-C199-B1FCCE5C17B5}"/>
              </a:ext>
            </a:extLst>
          </p:cNvPr>
          <p:cNvSpPr txBox="1"/>
          <p:nvPr/>
        </p:nvSpPr>
        <p:spPr>
          <a:xfrm>
            <a:off x="6059653" y="6043040"/>
            <a:ext cx="33470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Inverse Transform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1C612CD-E17F-40F8-D97A-61FB365C6657}"/>
              </a:ext>
            </a:extLst>
          </p:cNvPr>
          <p:cNvSpPr txBox="1"/>
          <p:nvPr/>
        </p:nvSpPr>
        <p:spPr>
          <a:xfrm>
            <a:off x="6058745" y="1664158"/>
            <a:ext cx="3268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Normalized Hadamard Kernel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8468D0-37E5-C351-F1E2-3EBA4CABEBC6}"/>
              </a:ext>
            </a:extLst>
          </p:cNvPr>
          <p:cNvSpPr txBox="1"/>
          <p:nvPr/>
        </p:nvSpPr>
        <p:spPr>
          <a:xfrm>
            <a:off x="288992" y="6065668"/>
            <a:ext cx="3534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Forward Transform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45327" y="38481"/>
            <a:ext cx="730134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Haar Transform</a:t>
            </a:r>
            <a:endParaRPr lang="en-IN" sz="4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0" y="884866"/>
            <a:ext cx="1219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Haar transform is a mathematical transformation technique used in signal processing and image analysis.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type of wavelet transform that represents a signal or an image in terms of its local variations, allowing for a multi-resolution analysis.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proposed by Haar in 1910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Haar matrix or kernel is consist of +1,-1,0 and multiplied by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√2 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765" y="3512922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 of Haar transform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Orthogonality: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Basis Functions: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Localization in Time and Frequency: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Compaction: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Implementation: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Non-Sinusoidal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150" y="3247662"/>
            <a:ext cx="425394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Compression: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Compression: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Detection: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Biometric Authentication: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Denoising: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Imaging: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Compression: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6188765" y="359378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9" t="1957" r="3212" b="6956"/>
          <a:stretch>
            <a:fillRect/>
          </a:stretch>
        </p:blipFill>
        <p:spPr>
          <a:xfrm>
            <a:off x="945170" y="556592"/>
            <a:ext cx="10787271" cy="555266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6188765" y="359378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9" t="6548" r="4456" b="9739"/>
          <a:stretch>
            <a:fillRect/>
          </a:stretch>
        </p:blipFill>
        <p:spPr>
          <a:xfrm>
            <a:off x="424070" y="450574"/>
            <a:ext cx="11224591" cy="573819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6188765" y="359378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7" t="10995" r="4782" b="16312"/>
          <a:stretch>
            <a:fillRect/>
          </a:stretch>
        </p:blipFill>
        <p:spPr>
          <a:xfrm>
            <a:off x="497711" y="361834"/>
            <a:ext cx="10972800" cy="498281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6188765" y="359378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2" t="6742" r="3261" b="8773"/>
          <a:stretch>
            <a:fillRect/>
          </a:stretch>
        </p:blipFill>
        <p:spPr>
          <a:xfrm>
            <a:off x="390939" y="0"/>
            <a:ext cx="11410122" cy="5791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71DAB04-EFCB-71F6-3C49-EF089F25991A}"/>
              </a:ext>
            </a:extLst>
          </p:cNvPr>
          <p:cNvSpPr txBox="1"/>
          <p:nvPr/>
        </p:nvSpPr>
        <p:spPr>
          <a:xfrm>
            <a:off x="3494662" y="4984066"/>
            <a:ext cx="5688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 Matrix and transpose of Kernel Matrix are not same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8357BA-8437-8F88-1152-30CBA9DC65D0}"/>
              </a:ext>
            </a:extLst>
          </p:cNvPr>
          <p:cNvSpPr txBox="1"/>
          <p:nvPr/>
        </p:nvSpPr>
        <p:spPr>
          <a:xfrm>
            <a:off x="1167839" y="6042366"/>
            <a:ext cx="1471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T=H.F.H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28F4C3D-8F8F-D2F0-D358-EBAD8053F9D7}"/>
              </a:ext>
            </a:extLst>
          </p:cNvPr>
          <p:cNvGrpSpPr/>
          <p:nvPr/>
        </p:nvGrpSpPr>
        <p:grpSpPr>
          <a:xfrm>
            <a:off x="6765708" y="6020637"/>
            <a:ext cx="1471449" cy="545815"/>
            <a:chOff x="6145679" y="5668604"/>
            <a:chExt cx="1471449" cy="54581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BD4B8CF-0B8C-3CC4-7B23-8CCA1221F0ED}"/>
                </a:ext>
              </a:extLst>
            </p:cNvPr>
            <p:cNvSpPr txBox="1"/>
            <p:nvPr/>
          </p:nvSpPr>
          <p:spPr>
            <a:xfrm>
              <a:off x="6145679" y="5752754"/>
              <a:ext cx="14714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F=H.T.H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EC2FB7A-1D06-FF6C-BCB0-D43BA691E701}"/>
                </a:ext>
              </a:extLst>
            </p:cNvPr>
            <p:cNvSpPr txBox="1"/>
            <p:nvPr/>
          </p:nvSpPr>
          <p:spPr>
            <a:xfrm>
              <a:off x="6651646" y="5668604"/>
              <a:ext cx="2968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6B7D271-4570-B198-CEAB-AE732D06C43E}"/>
              </a:ext>
            </a:extLst>
          </p:cNvPr>
          <p:cNvSpPr txBox="1"/>
          <p:nvPr/>
        </p:nvSpPr>
        <p:spPr>
          <a:xfrm>
            <a:off x="6161600" y="6373707"/>
            <a:ext cx="33470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Inverse Transform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1D53-3C7F-549A-0DC7-FC6DA165B7ED}"/>
              </a:ext>
            </a:extLst>
          </p:cNvPr>
          <p:cNvSpPr txBox="1"/>
          <p:nvPr/>
        </p:nvSpPr>
        <p:spPr>
          <a:xfrm>
            <a:off x="390939" y="6396335"/>
            <a:ext cx="3534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Forward Transform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1CF4B21-B25D-ADCD-1E46-C7BFD8BCAA6F}"/>
              </a:ext>
            </a:extLst>
          </p:cNvPr>
          <p:cNvGrpSpPr/>
          <p:nvPr/>
        </p:nvGrpSpPr>
        <p:grpSpPr>
          <a:xfrm>
            <a:off x="4717316" y="5337700"/>
            <a:ext cx="1471449" cy="579083"/>
            <a:chOff x="6145679" y="5635336"/>
            <a:chExt cx="1471449" cy="57908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E062B73-32EC-CB14-E17D-5713367EE56D}"/>
                </a:ext>
              </a:extLst>
            </p:cNvPr>
            <p:cNvSpPr txBox="1"/>
            <p:nvPr/>
          </p:nvSpPr>
          <p:spPr>
            <a:xfrm>
              <a:off x="6145679" y="5752754"/>
              <a:ext cx="14714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H=H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D4CB729-13BB-15AE-177C-3957A0D87188}"/>
                </a:ext>
              </a:extLst>
            </p:cNvPr>
            <p:cNvSpPr txBox="1"/>
            <p:nvPr/>
          </p:nvSpPr>
          <p:spPr>
            <a:xfrm>
              <a:off x="6732965" y="5635336"/>
              <a:ext cx="2968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F59F9FA-4788-EDCA-1198-A4FF30B8BC60}"/>
              </a:ext>
            </a:extLst>
          </p:cNvPr>
          <p:cNvCxnSpPr>
            <a:cxnSpLocks/>
          </p:cNvCxnSpPr>
          <p:nvPr/>
        </p:nvCxnSpPr>
        <p:spPr>
          <a:xfrm flipH="1">
            <a:off x="5081798" y="5612524"/>
            <a:ext cx="64067" cy="1786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661169"/>
            <a:ext cx="1188068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Fast Fourier Transform (FFT) is an algorithm for efficiently computing the discrete Fourier transform (DFT) and its inverse.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FFT algorithm was developed to significantly reduce the computation time required for the DFT, especially for large input sizes.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FFT is a DFT which reduces the number of computations needed for points from         2N      to    2NlogN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68662" y="92765"/>
            <a:ext cx="41742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 Fourier Transform (FFT)</a:t>
            </a:r>
            <a:endParaRPr lang="en-IN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2686627"/>
            <a:ext cx="5330266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 of FFT</a:t>
            </a:r>
          </a:p>
          <a:p>
            <a:pPr algn="just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Efficiency:</a:t>
            </a:r>
          </a:p>
          <a:p>
            <a:pPr algn="just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Divide-and-Conquer Strategy:</a:t>
            </a:r>
          </a:p>
          <a:p>
            <a:pPr algn="just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Orthogonality:</a:t>
            </a:r>
          </a:p>
          <a:p>
            <a:pPr algn="just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Linearity:</a:t>
            </a:r>
          </a:p>
          <a:p>
            <a:pPr algn="just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Across Multiple Platforms:</a:t>
            </a:r>
          </a:p>
          <a:p>
            <a:pPr algn="just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in Real and Complex Domains:</a:t>
            </a:r>
          </a:p>
          <a:p>
            <a:pPr algn="just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in Signal and Image Processing: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41453" y="2686627"/>
            <a:ext cx="37238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FFT</a:t>
            </a:r>
          </a:p>
          <a:p>
            <a:pPr algn="l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Processing:</a:t>
            </a:r>
          </a:p>
          <a:p>
            <a:pPr algn="l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Processing:</a:t>
            </a:r>
          </a:p>
          <a:p>
            <a:pPr algn="l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Processing:</a:t>
            </a:r>
          </a:p>
          <a:p>
            <a:pPr algn="l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Systems:</a:t>
            </a:r>
          </a:p>
          <a:p>
            <a:pPr algn="l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Systems:</a:t>
            </a:r>
          </a:p>
          <a:p>
            <a:pPr algn="l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Vibration Analysis:</a:t>
            </a:r>
          </a:p>
          <a:p>
            <a:pPr algn="l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Processing:</a:t>
            </a:r>
          </a:p>
          <a:p>
            <a:pPr algn="l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Research:</a:t>
            </a:r>
          </a:p>
        </p:txBody>
      </p:sp>
      <p:sp>
        <p:nvSpPr>
          <p:cNvPr id="11" name="AutoShape 2" descr="N"/>
          <p:cNvSpPr>
            <a:spLocks noChangeAspect="1" noChangeArrowheads="1"/>
          </p:cNvSpPr>
          <p:nvPr/>
        </p:nvSpPr>
        <p:spPr bwMode="auto">
          <a:xfrm>
            <a:off x="8226425" y="132522"/>
            <a:ext cx="133350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12" name="AutoShape 3" descr="2N^2"/>
          <p:cNvSpPr>
            <a:spLocks noChangeAspect="1" noChangeArrowheads="1"/>
          </p:cNvSpPr>
          <p:nvPr/>
        </p:nvSpPr>
        <p:spPr bwMode="auto">
          <a:xfrm>
            <a:off x="9274175" y="132522"/>
            <a:ext cx="323850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13" name="AutoShape 4" descr="2NlgN"/>
          <p:cNvSpPr>
            <a:spLocks noChangeAspect="1" noChangeArrowheads="1"/>
          </p:cNvSpPr>
          <p:nvPr/>
        </p:nvSpPr>
        <p:spPr bwMode="auto">
          <a:xfrm>
            <a:off x="9886950" y="132522"/>
            <a:ext cx="600075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16" name="AutoShape 7" descr="2NlgN"/>
          <p:cNvSpPr>
            <a:spLocks noChangeAspect="1" noChangeArrowheads="1"/>
          </p:cNvSpPr>
          <p:nvPr/>
        </p:nvSpPr>
        <p:spPr bwMode="auto">
          <a:xfrm>
            <a:off x="1296366" y="594954"/>
            <a:ext cx="600075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18" name="TextBox 17"/>
          <p:cNvSpPr txBox="1"/>
          <p:nvPr/>
        </p:nvSpPr>
        <p:spPr>
          <a:xfrm>
            <a:off x="8452540" y="16584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  <a:endParaRPr lang="en-IN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63090" y="2694892"/>
            <a:ext cx="7301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6410-E16A-5721-1BA0-F4E792E53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2B5D72-75BC-C3AC-DDD5-381802AD4402}"/>
              </a:ext>
            </a:extLst>
          </p:cNvPr>
          <p:cNvSpPr txBox="1"/>
          <p:nvPr/>
        </p:nvSpPr>
        <p:spPr>
          <a:xfrm>
            <a:off x="2563090" y="2694892"/>
            <a:ext cx="7301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of UNIT 3</a:t>
            </a:r>
            <a:endParaRPr lang="en-IN" sz="4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316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1481</Words>
  <Application>Microsoft Macintosh PowerPoint</Application>
  <PresentationFormat>Widescreen</PresentationFormat>
  <Paragraphs>226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Arial</vt:lpstr>
      <vt:lpstr>Calibri</vt:lpstr>
      <vt:lpstr>Calibri Light</vt:lpstr>
      <vt:lpstr>Cambria Math</vt:lpstr>
      <vt:lpstr>Symbol</vt:lpstr>
      <vt:lpstr>Times New Roman</vt:lpstr>
      <vt:lpstr>Wingdings</vt:lpstr>
      <vt:lpstr>Office Theme</vt:lpstr>
      <vt:lpstr>UNIT 3  IMAGE ENHANCEMENT IN FREQUENCY DOMAIN</vt:lpstr>
      <vt:lpstr>OUTLINES</vt:lpstr>
      <vt:lpstr>Introduction to Fourier Transform and the frequency Domain</vt:lpstr>
      <vt:lpstr>IMAGE ENHANCEMENT IN FREQUENCY DOMAIN</vt:lpstr>
      <vt:lpstr>FOURIER TRANSFORMATION</vt:lpstr>
      <vt:lpstr>FOURIER TRANSFORMATION</vt:lpstr>
      <vt:lpstr>Properties Fourier Transformation</vt:lpstr>
      <vt:lpstr>Discrete Fourier Transform</vt:lpstr>
      <vt:lpstr>Discrete Fourier Transform</vt:lpstr>
      <vt:lpstr>Discrete Fourier Transform</vt:lpstr>
      <vt:lpstr>Discrete Fourier Transform</vt:lpstr>
      <vt:lpstr>Discrete Fourier Transform</vt:lpstr>
      <vt:lpstr>Properties of Discrete Fourier Transform</vt:lpstr>
      <vt:lpstr>Application of Discrete Fourier Transform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8 Representation and Descriptors</dc:title>
  <dc:creator>Harendra Bikram Shah</dc:creator>
  <cp:lastModifiedBy>Harendra Bikram Shah</cp:lastModifiedBy>
  <cp:revision>168</cp:revision>
  <dcterms:created xsi:type="dcterms:W3CDTF">2024-08-28T04:04:00Z</dcterms:created>
  <dcterms:modified xsi:type="dcterms:W3CDTF">2026-06-14T05:12:04Z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