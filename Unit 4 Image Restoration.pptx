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8" r:id="rId7"/>
    <p:sldId id="266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67" r:id="rId18"/>
    <p:sldId id="279" r:id="rId19"/>
    <p:sldId id="276" r:id="rId20"/>
    <p:sldId id="280" r:id="rId21"/>
    <p:sldId id="262" r:id="rId22"/>
    <p:sldId id="26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7"/>
    <p:restoredTop sz="94658"/>
  </p:normalViewPr>
  <p:slideViewPr>
    <p:cSldViewPr snapToGrid="0">
      <p:cViewPr varScale="1">
        <p:scale>
          <a:sx n="117" d="100"/>
          <a:sy n="117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0407-A62C-4F9F-81B0-AD88C14A10BA}" type="datetimeFigureOut">
              <a:rPr lang="en-IN" smtClean="0"/>
              <a:t>14/06/26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EFEAC-E1F7-40A1-9B2A-BEEB0E79DBA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4275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4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RESTORATION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38804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r>
              <a:rPr lang="en-GB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EF10D-2FE9-3352-F6C0-A0891A8B4AC9}"/>
              </a:ext>
            </a:extLst>
          </p:cNvPr>
          <p:cNvSpPr txBox="1"/>
          <p:nvPr/>
        </p:nvSpPr>
        <p:spPr>
          <a:xfrm>
            <a:off x="10205545" y="2238703"/>
            <a:ext cx="1506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Hours:</a:t>
            </a:r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 hrs]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sz="6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3D035-E7FB-27AC-EDFF-3DEE4E3EBD6F}"/>
              </a:ext>
            </a:extLst>
          </p:cNvPr>
          <p:cNvSpPr txBox="1"/>
          <p:nvPr/>
        </p:nvSpPr>
        <p:spPr>
          <a:xfrm>
            <a:off x="388882" y="1882592"/>
            <a:ext cx="109649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4.1. A model of The Image Degradation / Restoration Process,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4.2. Noise Models Restoration in the Presence of Noise-Only Spatial Filtering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4.3 Types of noise (White noise, salt &amp; pepper noise, Impulse noise, Gaussian noise, Rayleigh noise) 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4.4. Periodic Noise Reduction by Frequency Domain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Restoration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690" y="928468"/>
            <a:ext cx="11454619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enhancing or recovering the quality of a digital image that has been degraded or damaged.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factors such as noise, blurring, compression artifacts, or other distortions during acquisition, transmission, or storage.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image restoration is to improve the visual appearance of the image, making it closer to its original or desired state.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Old Photo restoration columbia south caroli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742" y="2682794"/>
            <a:ext cx="6428935" cy="392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Image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321" y="1044082"/>
            <a:ext cx="110630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methods include: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Reduction: 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Deblurring: 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Removal: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Enhancement: </a:t>
            </a:r>
          </a:p>
          <a:p>
            <a:pPr algn="just"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 Correction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466" y="3148037"/>
            <a:ext cx="110630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restoration is widely used in various fields,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Degradation /Restoration Process</a:t>
            </a:r>
          </a:p>
        </p:txBody>
      </p:sp>
      <p:pic>
        <p:nvPicPr>
          <p:cNvPr id="1026" name="Picture 2" descr="A model of the image degradation/restoration process. | Download Scientific 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02" y="1322363"/>
            <a:ext cx="9748910" cy="429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TORATION Outline A model of the image degradation / restoration  process Noise models Restoration in the presence of noise only – spatial  filtering. -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38" y="365760"/>
            <a:ext cx="11746523" cy="64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802492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Models Restoration in the Presence of Noise-Only Spatial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80717"/>
            <a:ext cx="12070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image processing, noise refers to unwanted random variations in pixel intensities that degrade image quality.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can arise from various sources, such as sensor imperfections, transmission errors, or environmental factors.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restore noisy images,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filtering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techniques are commonly used, where pixel values are modified based on their local neighbourhoods.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59323A-4A17-1390-E4DE-CAB7F1246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57" t="30563" r="14527" b="30860"/>
          <a:stretch>
            <a:fillRect/>
          </a:stretch>
        </p:blipFill>
        <p:spPr>
          <a:xfrm>
            <a:off x="5623034" y="4727505"/>
            <a:ext cx="5972503" cy="12003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06E8AD-709E-89F1-05C3-DC1E05455D30}"/>
              </a:ext>
            </a:extLst>
          </p:cNvPr>
          <p:cNvSpPr txBox="1"/>
          <p:nvPr/>
        </p:nvSpPr>
        <p:spPr>
          <a:xfrm>
            <a:off x="94593" y="2633295"/>
            <a:ext cx="2013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Models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6EADB-1B16-E2DF-E2D6-6649F5F18EBF}"/>
              </a:ext>
            </a:extLst>
          </p:cNvPr>
          <p:cNvSpPr txBox="1"/>
          <p:nvPr/>
        </p:nvSpPr>
        <p:spPr>
          <a:xfrm>
            <a:off x="94593" y="3199610"/>
            <a:ext cx="119754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Gaussian Noise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Additive noise where pixel intensities are perturbed by values from a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(Gaussian) distribution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Additive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Inoisy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Ioriginal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GB" b="0" i="1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Inoisy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​=</a:t>
            </a:r>
            <a:r>
              <a:rPr lang="en-GB" b="0" i="1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Ioriginal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el-GR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 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η∼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N(0,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σ2)</a:t>
            </a:r>
            <a:r>
              <a:rPr lang="el-GR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∼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N(0,</a:t>
            </a:r>
            <a:r>
              <a:rPr lang="el-GR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Symmetric around the mean.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725803-7C5D-5FE5-9275-A300874AFFF1}"/>
              </a:ext>
            </a:extLst>
          </p:cNvPr>
          <p:cNvSpPr txBox="1"/>
          <p:nvPr/>
        </p:nvSpPr>
        <p:spPr>
          <a:xfrm>
            <a:off x="0" y="4830826"/>
            <a:ext cx="8124497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Occurrence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 in electronic circuits.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Low-light conditions in cameras.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 on Images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Smooth, grainy distortions (similar to film grain).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CC36A-0128-0915-0C29-4B785E31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DDB8-D32E-F4A9-34C2-4155480D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5A335-B61A-1254-BD7B-5627078E6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3" y="4485904"/>
            <a:ext cx="7772400" cy="237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5EDBDB-8B17-B58D-DE86-136F76A4AFBA}"/>
              </a:ext>
            </a:extLst>
          </p:cNvPr>
          <p:cNvSpPr txBox="1"/>
          <p:nvPr/>
        </p:nvSpPr>
        <p:spPr>
          <a:xfrm>
            <a:off x="156123" y="672662"/>
            <a:ext cx="981819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(b)Salt &amp; Pepper Noise (Impulse Noise)</a:t>
            </a:r>
            <a:endParaRPr lang="en-GB" b="1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Random occurrences of extreme bright (salt) and dark (pepper) pixels.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White pixels (255 in 8-bit images).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Pepper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Black pixels (0 in 8-bit images).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Sparse but highly disruptive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Occurrence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Faulty camera sensors.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errors (e.g., bit errors in JPEG).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on Images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and white speckles scattered across the image.</a:t>
            </a:r>
          </a:p>
          <a:p>
            <a:pPr lvl="1" algn="l">
              <a:spcBef>
                <a:spcPts val="300"/>
              </a:spcBef>
            </a:pP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61D1B-C1EB-E39F-84BB-AB2600FAC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78"/>
          <a:stretch>
            <a:fillRect/>
          </a:stretch>
        </p:blipFill>
        <p:spPr>
          <a:xfrm>
            <a:off x="4805855" y="1441600"/>
            <a:ext cx="7230022" cy="17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3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57D1-E89D-4E5E-DB87-647A1AFD2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FBCA-54E5-81ED-D750-755A19FC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Noise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58D9A-A431-E6D4-4530-67713D482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662"/>
            <a:ext cx="7772400" cy="58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3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06E-A852-DC81-5D14-9BCDC853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3229-B339-DE44-8FAC-633A284D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Noise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E9BCD-493C-323B-5831-95F23BA165B7}"/>
              </a:ext>
            </a:extLst>
          </p:cNvPr>
          <p:cNvSpPr txBox="1"/>
          <p:nvPr/>
        </p:nvSpPr>
        <p:spPr>
          <a:xfrm>
            <a:off x="0" y="823480"/>
            <a:ext cx="12192000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Impulse Noise (Generalized Salt &amp; Pepper)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broader form of salt &amp; pepper noise where corrupted pixels can take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arbitrary value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(not just 0 or 255).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high-intensity spikes.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impulse (bright)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 impulse (dark)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i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300"/>
              </a:spcBef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for 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</a:p>
          <a:p>
            <a:pPr lvl="1" algn="just">
              <a:spcBef>
                <a:spcPts val="300"/>
              </a:spcBef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 for 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 algn="just">
              <a:spcBef>
                <a:spcPts val="300"/>
              </a:spcBef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)=0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marL="742950" lvl="1" indent="-285750" algn="just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 &gt; a, intensity b will appear as a light dot in the image. </a:t>
            </a:r>
          </a:p>
          <a:p>
            <a:pPr marL="742950" lvl="1" indent="-285750" algn="just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level a will appear like a black dot in the image. </a:t>
            </a:r>
          </a:p>
          <a:p>
            <a:pPr marL="742950" lvl="1" indent="-285750" algn="just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this presence of white and black dots in the image resembles to salt-and-pepper granules, hence also called salt-and-pepper noise. </a:t>
            </a:r>
          </a:p>
          <a:p>
            <a:pPr marL="742950" lvl="1" indent="-285750" algn="just">
              <a:spcBef>
                <a:spcPts val="300"/>
              </a:spcBef>
              <a:buFont typeface="Wingdings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either P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P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zero, it is called unipolar noise. 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Occurrence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interference.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Faulty memory in imaging hardware.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 on Images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bright/dot artifacts.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468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41C9-0147-18E8-F525-35DCBC80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88E9-A733-F39F-5AF5-3AAD9ACF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Noise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6AE92-7701-3CA1-3501-D2887B59C98A}"/>
              </a:ext>
            </a:extLst>
          </p:cNvPr>
          <p:cNvSpPr txBox="1"/>
          <p:nvPr/>
        </p:nvSpPr>
        <p:spPr>
          <a:xfrm>
            <a:off x="0" y="689789"/>
            <a:ext cx="12192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Rayleigh Noise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Noise following a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Rayleigh distribution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often seen in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MRI and radar imaging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Asymmetric distribution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(only positive values).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Arises from magnitude-based imaging (e.g., velocity in Doppler radar).</a:t>
            </a:r>
          </a:p>
          <a:p>
            <a:pPr algn="just"/>
            <a:b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3AD34-B743-102F-682F-683E19C0CD30}"/>
              </a:ext>
            </a:extLst>
          </p:cNvPr>
          <p:cNvSpPr txBox="1"/>
          <p:nvPr/>
        </p:nvSpPr>
        <p:spPr>
          <a:xfrm>
            <a:off x="0" y="3938328"/>
            <a:ext cx="984293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Occurrence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(ultrasound, MRI).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signals.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 on Images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Blurred edges with a "hazy" appearance.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7C275-58A5-9482-9E65-F2A6A5349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4328"/>
            <a:ext cx="72517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56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5844-00A1-AA1C-7DCA-1CF17A46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9CF2-25B7-A0E1-0FD2-CF1D5167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Noise-Only Spatial 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547FB-C188-17AC-9731-A35049E1BF42}"/>
              </a:ext>
            </a:extLst>
          </p:cNvPr>
          <p:cNvSpPr txBox="1"/>
          <p:nvPr/>
        </p:nvSpPr>
        <p:spPr>
          <a:xfrm>
            <a:off x="0" y="882869"/>
            <a:ext cx="12192000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an image is corrupted by </a:t>
            </a: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noise-only degradation</a:t>
            </a: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(no blurring), spatial filtering techniques are applied directly to suppress noise.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filters operate on a pixel's neighborhood to estimate its true value.</a:t>
            </a:r>
          </a:p>
          <a:p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Mean Filter (Arithmetic Mean Filter)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Replaces a pixel with the average of its neighbors.</a:t>
            </a:r>
          </a:p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Reduces Gaussian noise but blurs edges.</a:t>
            </a:r>
          </a:p>
          <a:p>
            <a:b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3D4AA-01B4-8DEE-0510-875D79FB0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1074"/>
            <a:ext cx="7175500" cy="19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5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F154-C2EE-12F6-A1B0-343EFD0D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EC8F-AEBD-FCCF-6902-BD0BA81D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Noise-Only Spatial Filtering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11A19-C350-91C3-C6F8-BB1A7E2EECFF}"/>
              </a:ext>
            </a:extLst>
          </p:cNvPr>
          <p:cNvSpPr txBox="1"/>
          <p:nvPr/>
        </p:nvSpPr>
        <p:spPr>
          <a:xfrm>
            <a:off x="-1" y="757115"/>
            <a:ext cx="11676993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(b) Median Filter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Replaces a pixel with the median of its neighborhood.</a:t>
            </a:r>
          </a:p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Effective for salt-and-pepper noise while preserving edges.</a:t>
            </a:r>
          </a:p>
          <a:p>
            <a:b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B3E39-D7F1-8639-D87A-1B1A4CD4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9515"/>
            <a:ext cx="7518400" cy="106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CD7D2B-7E27-B769-BE49-32B85DCC69EE}"/>
              </a:ext>
            </a:extLst>
          </p:cNvPr>
          <p:cNvSpPr txBox="1"/>
          <p:nvPr/>
        </p:nvSpPr>
        <p:spPr>
          <a:xfrm>
            <a:off x="-2" y="2806315"/>
            <a:ext cx="11353801" cy="961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(c) Gaussian Smoothing Filter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Applies weighted averaging using a Gaussian kernel.</a:t>
            </a:r>
          </a:p>
          <a:p>
            <a:pPr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Smoothed Gaussian noise while retaining some edge information.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FBBD7-CE61-B846-A28B-69789E411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8715"/>
            <a:ext cx="74168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19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145AA-A8B3-8FF2-552B-C454AC17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4C7D-EBA8-EAFA-9E3F-1B2187EC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Noise-Only Spatial 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DDFEE-9C28-2FB5-3F6B-2C8BD1132D7F}"/>
              </a:ext>
            </a:extLst>
          </p:cNvPr>
          <p:cNvSpPr txBox="1"/>
          <p:nvPr/>
        </p:nvSpPr>
        <p:spPr>
          <a:xfrm>
            <a:off x="0" y="672662"/>
            <a:ext cx="11088414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(d) Adaptive Filters (e.g., Wiener Filter)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Adjusts filtering based on local noise variance.</a:t>
            </a:r>
          </a:p>
          <a:p>
            <a:pPr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Better preservation of edges compared to linear filters.</a:t>
            </a:r>
          </a:p>
          <a:p>
            <a:pPr algn="just"/>
            <a:br>
              <a:rPr lang="en-GB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44F319-F9A9-2621-4810-95D74109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240"/>
            <a:ext cx="7772400" cy="17216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36309E-C344-49E9-926F-B4279A9D369D}"/>
              </a:ext>
            </a:extLst>
          </p:cNvPr>
          <p:cNvSpPr txBox="1"/>
          <p:nvPr/>
        </p:nvSpPr>
        <p:spPr>
          <a:xfrm>
            <a:off x="0" y="4379893"/>
            <a:ext cx="12026463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Filter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Gaussian Noise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Mean or Gaussian filter.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Salt-and-Pepper Noise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Median filter.</a:t>
            </a:r>
          </a:p>
        </p:txBody>
      </p:sp>
    </p:spTree>
    <p:extLst>
      <p:ext uri="{BB962C8B-B14F-4D97-AF65-F5344CB8AC3E}">
        <p14:creationId xmlns:p14="http://schemas.microsoft.com/office/powerpoint/2010/main" val="71524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8B87-4AC9-E233-5E77-839C29E4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E328-7A99-10C6-67D3-F77B231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8A37D-E8AB-AA4E-BFF9-15A1B518A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2662"/>
            <a:ext cx="5145681" cy="42118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E22034-E803-2D29-706A-8CA74B72F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85429"/>
            <a:ext cx="5395765" cy="421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32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A58F-295A-AF72-A476-16A2FD17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1A3C-143A-2877-5489-CFCAA0A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976"/>
            <a:ext cx="10515600" cy="546686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9F500-FA2B-5723-336B-642086246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319"/>
            <a:ext cx="4120429" cy="3372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C77D8A-2A97-DC55-3381-DE8AEB33F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68" y="355258"/>
            <a:ext cx="4497332" cy="3460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DAE10-B0A0-45D6-D082-080A84758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620" y="3771938"/>
            <a:ext cx="4044056" cy="308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5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Reduction by Frequency Domain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928468"/>
            <a:ext cx="119575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ü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in images appears as repeating patterns (e.g., stripes, waves, or grid-like artifacts) and is often caused by: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interference (e.g., from power lines).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vibrations in imaging systems (e.g., scanners).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periodic noise has a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frequency signature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more effectively removed in the 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domain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rather than the spatial domain.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8E80-2F3B-CA25-D749-4CF56454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880B4C-35CF-06C5-F43E-E0012945C29B}"/>
              </a:ext>
            </a:extLst>
          </p:cNvPr>
          <p:cNvSpPr txBox="1"/>
          <p:nvPr/>
        </p:nvSpPr>
        <p:spPr>
          <a:xfrm>
            <a:off x="0" y="0"/>
            <a:ext cx="12191999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for Periodic Noise Reduction</a:t>
            </a:r>
          </a:p>
          <a:p>
            <a:pPr algn="just">
              <a:spcAft>
                <a:spcPts val="300"/>
              </a:spcAft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Fourier Transform (FT)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the noisy image g(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)to the frequency domain using the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Discrete Fourier Transform (DFT)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)=F{g(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lvl="1" algn="just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magnitude spectrum ∣G(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)∣reveals bright spots (noise peaks).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Noise Peaks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appears as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bright symmetric dots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(impulses) away from the DC component 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43000" lvl="2" indent="-228600" algn="just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Vertical stripes → Horizontal impulses in the spectrum.</a:t>
            </a:r>
          </a:p>
          <a:p>
            <a:pPr marL="1143000" lvl="2" indent="-228600" algn="just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Horizontal stripes → Vertical impulses in the spectrum.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74D4D-6820-1D73-800A-B1376A5CC62E}"/>
              </a:ext>
            </a:extLst>
          </p:cNvPr>
          <p:cNvSpPr txBox="1"/>
          <p:nvPr/>
        </p:nvSpPr>
        <p:spPr>
          <a:xfrm>
            <a:off x="1" y="3496102"/>
            <a:ext cx="121919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Apply a Frequency Domain Filter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Band-reject filters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remove specific frequencies while preserving others.</a:t>
            </a:r>
          </a:p>
          <a:p>
            <a:pPr marL="7429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filters:</a:t>
            </a:r>
          </a:p>
          <a:p>
            <a:pPr marL="1143000" lvl="2" indent="-228600" algn="just">
              <a:spcBef>
                <a:spcPts val="300"/>
              </a:spcBef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Notch Filter </a:t>
            </a:r>
            <a:endParaRPr lang="en-GB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2" indent="-228600" algn="just">
              <a:spcBef>
                <a:spcPts val="300"/>
              </a:spcBef>
              <a:buFont typeface="+mj-lt"/>
              <a:buAutoNum type="arabicPeriod"/>
            </a:pPr>
            <a:r>
              <a:rPr lang="en-GB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Band-Reject Filter</a:t>
            </a:r>
          </a:p>
          <a:p>
            <a:pPr lvl="2" algn="just">
              <a:spcBef>
                <a:spcPts val="300"/>
              </a:spcBef>
            </a:pP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Inverse Fourier Transform (IFT)</a:t>
            </a:r>
            <a:endParaRPr lang="en-GB" b="0" i="0" u="none" strike="noStrike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back to the spatial domain:</a:t>
            </a:r>
          </a:p>
          <a:p>
            <a:pPr lvl="1" algn="just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f^(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)=F−1{H(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)⋅G(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lvl="1" algn="just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 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filter transfer function.</a:t>
            </a:r>
          </a:p>
        </p:txBody>
      </p:sp>
    </p:spTree>
    <p:extLst>
      <p:ext uri="{BB962C8B-B14F-4D97-AF65-F5344CB8AC3E}">
        <p14:creationId xmlns:p14="http://schemas.microsoft.com/office/powerpoint/2010/main" val="1402340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F3CBC-CD5A-A3C3-8B36-82471F36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9CBC-425C-C953-DC50-6CB1847B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Reduction by Frequency Domain Filtering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8DA9F-6296-E23E-ACC2-6BEFDC15E4DE}"/>
              </a:ext>
            </a:extLst>
          </p:cNvPr>
          <p:cNvSpPr txBox="1"/>
          <p:nvPr/>
        </p:nvSpPr>
        <p:spPr>
          <a:xfrm>
            <a:off x="-1" y="928468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 Types for Periodic Noise Reduction in Frequency Domain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appears as distinct spikes (impulses) in the frequency domain, making frequency-selective filters highly effective.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5370E-4A41-B4B5-DD5D-E056734BEE5F}"/>
              </a:ext>
            </a:extLst>
          </p:cNvPr>
          <p:cNvSpPr txBox="1"/>
          <p:nvPr/>
        </p:nvSpPr>
        <p:spPr>
          <a:xfrm>
            <a:off x="-4" y="1851798"/>
            <a:ext cx="79850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Notch Filters (Most Common for Periodic Noise)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Remove specific frequency components while preserving others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Notch Reject Filter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Completely blocks frequencies in small regions around noise spikes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sharp transitions (may cause ringing artifacts)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en-GB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 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GB" b="0" i="1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b="0" i="1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near noise frequencies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en-GB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Butterworth Notch Reject Filter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transition between rejected/passed frequencies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ringing artifacts compared to ideal filters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controls steepness of transition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6CD10-D66E-E320-B1F7-DC50CA00FD0A}"/>
              </a:ext>
            </a:extLst>
          </p:cNvPr>
          <p:cNvSpPr txBox="1"/>
          <p:nvPr/>
        </p:nvSpPr>
        <p:spPr>
          <a:xfrm>
            <a:off x="5890437" y="4949785"/>
            <a:ext cx="612435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Gaussian Notch Reject Filter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Smoothest transition characteristics</a:t>
            </a:r>
          </a:p>
          <a:p>
            <a:pPr marL="1143000" lvl="2" indent="-2286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Minimizes artifacts but has gradual frequency cutoff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Typically implemented as pairs (for symmetry) to handle real-valued image transforms</a:t>
            </a:r>
          </a:p>
        </p:txBody>
      </p:sp>
    </p:spTree>
    <p:extLst>
      <p:ext uri="{BB962C8B-B14F-4D97-AF65-F5344CB8AC3E}">
        <p14:creationId xmlns:p14="http://schemas.microsoft.com/office/powerpoint/2010/main" val="789951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2EA4-8062-C988-28E9-C1955AFA5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553D-278A-12EC-9E89-0F0D2BEF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5976"/>
            <a:ext cx="12192000" cy="802492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Periodic Noise Reduction by Frequency Domain 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13022-9A6D-8476-5C66-44FFF8DBE10C}"/>
              </a:ext>
            </a:extLst>
          </p:cNvPr>
          <p:cNvSpPr txBox="1"/>
          <p:nvPr/>
        </p:nvSpPr>
        <p:spPr>
          <a:xfrm>
            <a:off x="-1" y="928468"/>
            <a:ext cx="9356651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Band Reject Filters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Noise concentrated in annular/ring-shaped frequency bands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Band Reject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)=0</a:t>
            </a:r>
            <a:r>
              <a:rPr lang="en-GB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 D0−W/2≤D(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)≤D0+W/2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  <a:r>
              <a:rPr lang="en-GB" i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(where D0 = 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radius, W = bandwidth)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8E465-BE2B-9DEC-2147-AD26684FB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75" y="3075210"/>
            <a:ext cx="6692900" cy="195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092E9-26F3-FB35-DA6A-306DCE8B94D1}"/>
              </a:ext>
            </a:extLst>
          </p:cNvPr>
          <p:cNvSpPr txBox="1"/>
          <p:nvPr/>
        </p:nvSpPr>
        <p:spPr>
          <a:xfrm>
            <a:off x="-2" y="5013896"/>
            <a:ext cx="1219200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Optimal Notch Filtering (Advanced Technique)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GB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notch pass filtering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isolate noise components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 noise pattern via inverse DFT</a:t>
            </a:r>
          </a:p>
          <a:p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Subtract noise pattern from original image</a:t>
            </a:r>
            <a:b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f^(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)=f(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)−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η(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(where </a:t>
            </a:r>
            <a:r>
              <a:rPr lang="el-GR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η 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estimated noise)</a:t>
            </a:r>
          </a:p>
        </p:txBody>
      </p:sp>
    </p:spTree>
    <p:extLst>
      <p:ext uri="{BB962C8B-B14F-4D97-AF65-F5344CB8AC3E}">
        <p14:creationId xmlns:p14="http://schemas.microsoft.com/office/powerpoint/2010/main" val="1688025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UNIT 4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1448</Words>
  <Application>Microsoft Macintosh PowerPoint</Application>
  <PresentationFormat>Widescreen</PresentationFormat>
  <Paragraphs>169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Unit 4 IMAGE RESTORATION</vt:lpstr>
      <vt:lpstr>OUTLINES</vt:lpstr>
      <vt:lpstr>Introduction to Image Restoration</vt:lpstr>
      <vt:lpstr>Introduction to Image Restoration</vt:lpstr>
      <vt:lpstr>Image Degradation /Restoration Process</vt:lpstr>
      <vt:lpstr>PowerPoint Presentation</vt:lpstr>
      <vt:lpstr>Noise Models Restoration in the Presence of Noise-Only Spatial Filtering</vt:lpstr>
      <vt:lpstr>Noise Models</vt:lpstr>
      <vt:lpstr>Additional Noise Models</vt:lpstr>
      <vt:lpstr>Additional Noise Models</vt:lpstr>
      <vt:lpstr>Additional Noise Models</vt:lpstr>
      <vt:lpstr>Noise-Only Spatial Filtering</vt:lpstr>
      <vt:lpstr>Noise-Only Spatial Filtering</vt:lpstr>
      <vt:lpstr>Noise-Only Spatial Filtering</vt:lpstr>
      <vt:lpstr>Noise Models</vt:lpstr>
      <vt:lpstr>Noise Models</vt:lpstr>
      <vt:lpstr>Periodic Noise Reduction by Frequency Domain Filtering</vt:lpstr>
      <vt:lpstr>PowerPoint Presentation</vt:lpstr>
      <vt:lpstr>Periodic Noise Reduction by Frequency Domain Filtering</vt:lpstr>
      <vt:lpstr>Periodic Noise Reduction by Frequency Domain Filtering</vt:lpstr>
      <vt:lpstr>THANK YOU</vt:lpstr>
      <vt:lpstr>End of UNIT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Pattern Recognition</dc:title>
  <dc:creator>Harendra Bikram Shah</dc:creator>
  <cp:lastModifiedBy>Harendra Bikram Shah</cp:lastModifiedBy>
  <cp:revision>86</cp:revision>
  <dcterms:created xsi:type="dcterms:W3CDTF">2024-09-08T08:46:44Z</dcterms:created>
  <dcterms:modified xsi:type="dcterms:W3CDTF">2026-06-14T05:05:08Z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