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317" r:id="rId4"/>
    <p:sldId id="318" r:id="rId5"/>
    <p:sldId id="319" r:id="rId6"/>
    <p:sldId id="320" r:id="rId7"/>
    <p:sldId id="321" r:id="rId8"/>
    <p:sldId id="322" r:id="rId9"/>
    <p:sldId id="323" r:id="rId10"/>
    <p:sldId id="324" r:id="rId11"/>
    <p:sldId id="341" r:id="rId12"/>
    <p:sldId id="342" r:id="rId13"/>
    <p:sldId id="343" r:id="rId14"/>
    <p:sldId id="344" r:id="rId15"/>
    <p:sldId id="346" r:id="rId16"/>
    <p:sldId id="345" r:id="rId17"/>
    <p:sldId id="328" r:id="rId18"/>
    <p:sldId id="329" r:id="rId19"/>
    <p:sldId id="330" r:id="rId20"/>
    <p:sldId id="327" r:id="rId21"/>
    <p:sldId id="326" r:id="rId22"/>
    <p:sldId id="331" r:id="rId23"/>
    <p:sldId id="336" r:id="rId24"/>
    <p:sldId id="337" r:id="rId25"/>
    <p:sldId id="338" r:id="rId26"/>
    <p:sldId id="340" r:id="rId27"/>
    <p:sldId id="339" r:id="rId28"/>
    <p:sldId id="314" r:id="rId29"/>
    <p:sldId id="31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64" autoAdjust="0"/>
    <p:restoredTop sz="93969" autoAdjust="0"/>
  </p:normalViewPr>
  <p:slideViewPr>
    <p:cSldViewPr snapToGrid="0">
      <p:cViewPr varScale="1">
        <p:scale>
          <a:sx n="121" d="100"/>
          <a:sy n="121" d="100"/>
        </p:scale>
        <p:origin x="17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26/04/25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26/04/25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26/04/25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26/04/25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26/04/25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26/04/25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DFAFD-11C0-45D7-9479-D1E78EB3123D}" type="datetimeFigureOut">
              <a:rPr lang="en-IN" smtClean="0"/>
              <a:t>26/04/25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" y="464820"/>
            <a:ext cx="12066905" cy="1355090"/>
          </a:xfrm>
        </p:spPr>
        <p:txBody>
          <a:bodyPr>
            <a:noAutofit/>
          </a:bodyPr>
          <a:lstStyle/>
          <a:p>
            <a:pPr algn="ctr"/>
            <a:br>
              <a:rPr lang="en-US" sz="4800" b="1" dirty="0">
                <a:latin typeface="Times New Roman" panose="02020603050405020304" pitchFamily="18" charset="0"/>
                <a:cs typeface="Calibri" panose="020F0502020204030204" pitchFamily="34" charset="0"/>
                <a:sym typeface="+mn-ea"/>
              </a:rPr>
            </a:br>
            <a:r>
              <a:rPr lang="en-US" sz="4800" b="1" dirty="0">
                <a:solidFill>
                  <a:srgbClr val="7030A0"/>
                </a:solidFill>
                <a:latin typeface="Times New Roman" panose="02020603050405020304" pitchFamily="18" charset="0"/>
                <a:cs typeface="Calibri" panose="020F0502020204030204" pitchFamily="34" charset="0"/>
                <a:sym typeface="+mn-ea"/>
              </a:rPr>
              <a:t>Unit 1</a:t>
            </a:r>
            <a:br>
              <a:rPr lang="en-US" sz="4800" b="1" dirty="0">
                <a:latin typeface="Times New Roman" panose="02020603050405020304" pitchFamily="18" charset="0"/>
                <a:cs typeface="Calibri" panose="020F0502020204030204" pitchFamily="34" charset="0"/>
                <a:sym typeface="+mn-ea"/>
              </a:rPr>
            </a:br>
            <a:r>
              <a:rPr lang="en-US" sz="4800" b="1" dirty="0">
                <a:latin typeface="Times New Roman" panose="02020603050405020304" pitchFamily="18" charset="0"/>
                <a:cs typeface="Calibri" panose="020F0502020204030204" pitchFamily="34" charset="0"/>
                <a:sym typeface="+mn-ea"/>
              </a:rPr>
              <a:t>Introduction to Digital Image Processing</a:t>
            </a:r>
            <a:endParaRPr lang="en-US" altLang="en-GB" sz="4800" b="1" dirty="0">
              <a:latin typeface="Times New Roman" panose="02020603050405020304" pitchFamily="18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6410" y="3712210"/>
            <a:ext cx="9224010" cy="2606675"/>
          </a:xfrm>
        </p:spPr>
        <p:txBody>
          <a:bodyPr>
            <a:noAutofit/>
          </a:bodyPr>
          <a:lstStyle/>
          <a:p>
            <a:pPr algn="l"/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lang="en-US" alt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sented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GB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Er.Harendra Bikram Shah </a:t>
            </a:r>
            <a:b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(Lecturer)</a:t>
            </a:r>
          </a:p>
          <a:p>
            <a:pPr algn="l"/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</a:p>
          <a:p>
            <a:pPr algn="l"/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</a:t>
            </a:r>
            <a:r>
              <a:rPr lang="en-US" altLang="en-GB" b="1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NAST</a:t>
            </a:r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273540" y="2238375"/>
            <a:ext cx="28562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Hour: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4Hrs</a:t>
            </a:r>
            <a:endParaRPr lang="en-US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3785" y="6985"/>
            <a:ext cx="5836285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OUTLINES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8F51BC-EC62-F3E3-B659-FDB5A8F8B684}"/>
              </a:ext>
            </a:extLst>
          </p:cNvPr>
          <p:cNvSpPr txBox="1"/>
          <p:nvPr/>
        </p:nvSpPr>
        <p:spPr>
          <a:xfrm>
            <a:off x="0" y="977652"/>
            <a:ext cx="121920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 1: Introduction to Digital Image Processing 							[4 hrs]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1.1 Fundamental Steps and Elements of DIP 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1.2 Applications Areas of DIP 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1.3 Elements of Visual Perception, Sampling and Quantization 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1.4 Image and its types (Color Image, grayscale Image) 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1.5 Relationship between Pixels (Neighbours, Path, Connectivity, Adjacency, Distances). 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8635" y="0"/>
            <a:ext cx="950658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Introduction to Image and Its Processing</a:t>
            </a:r>
            <a:endParaRPr lang="en-US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100" name="Text Box 99"/>
          <p:cNvSpPr txBox="1"/>
          <p:nvPr/>
        </p:nvSpPr>
        <p:spPr>
          <a:xfrm>
            <a:off x="0" y="634365"/>
            <a:ext cx="11707495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charset="0"/>
              <a:buChar char=""/>
            </a:pP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The Pictorial representation of an object  is image.</a:t>
            </a:r>
          </a:p>
          <a:p>
            <a:pPr marL="285750" indent="-285750" algn="l">
              <a:buFont typeface="Wingdings" panose="05000000000000000000" charset="0"/>
              <a:buChar char=""/>
            </a:pP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An image is nothing more than a two-dimensional signal.</a:t>
            </a:r>
          </a:p>
          <a:p>
            <a:pPr marL="285750" indent="-285750" algn="l">
              <a:buFont typeface="Wingdings" panose="05000000000000000000" charset="0"/>
              <a:buChar char=""/>
            </a:pP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Pixel is the smallest element of an image.</a:t>
            </a:r>
          </a:p>
          <a:p>
            <a:pPr marL="285750" indent="-285750" algn="l">
              <a:buFont typeface="Wingdings" panose="05000000000000000000" charset="0"/>
              <a:buChar char=""/>
            </a:pP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In an 8-bit gray scale image, the value of the pixel between 0 and 255. </a:t>
            </a:r>
            <a:endParaRPr lang="en-US" sz="2400" dirty="0">
              <a:solidFill>
                <a:srgbClr val="222222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1765" y="2280920"/>
            <a:ext cx="3784600" cy="302069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553720" y="5564505"/>
            <a:ext cx="116382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b="1"/>
              <a:t>The value of f(x,y) at any point gives the pixel value at that point of an image.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8635" y="0"/>
            <a:ext cx="950658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Introduction to Image and Its Processing</a:t>
            </a:r>
            <a:endParaRPr lang="en-US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-635" y="875665"/>
            <a:ext cx="12068810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A digital image is a representation of a real image as a set of numbers that can be  stored and handled by a digital computer.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DIP refers processing the digital image by the use of digital computer on the basis of digitization (Sampling and quantization)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"/>
            </a:pPr>
            <a:r>
              <a:rPr lang="en-US" dirty="0">
                <a:solidFill>
                  <a:srgbClr val="222222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Digital image processing is the use of computer algorithms to perform image processing on digital images.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t="6105" b="24464"/>
          <a:stretch>
            <a:fillRect/>
          </a:stretch>
        </p:blipFill>
        <p:spPr>
          <a:xfrm>
            <a:off x="285115" y="2520315"/>
            <a:ext cx="11249660" cy="28841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8635" y="0"/>
            <a:ext cx="950658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Introduction to Image and Its Processing</a:t>
            </a:r>
            <a:endParaRPr lang="en-US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100" name="Text Box 99"/>
          <p:cNvSpPr txBox="1"/>
          <p:nvPr/>
        </p:nvSpPr>
        <p:spPr>
          <a:xfrm>
            <a:off x="635" y="831215"/>
            <a:ext cx="12191365" cy="147732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charset="0"/>
              <a:buChar char=""/>
            </a:pPr>
            <a:r>
              <a:rPr lang="en-US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digital image is an image f(x, y) that has been discretized both in spatial co-ordinates and in brightness.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represented by 2D integer array.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digitized brightness values is called gray level values.</a:t>
            </a:r>
          </a:p>
          <a:p>
            <a:pPr indent="0">
              <a:buFont typeface="Wingdings" panose="05000000000000000000" charset="0"/>
              <a:buNone/>
            </a:pPr>
            <a:endParaRPr lang="en-US" b="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image can be represented as a matrix as shown below: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2776220"/>
            <a:ext cx="9715500" cy="2076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8635" y="0"/>
            <a:ext cx="950658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Origin of Digital Image</a:t>
            </a:r>
            <a:endParaRPr lang="en-US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635" y="993775"/>
          <a:ext cx="12105005" cy="5055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5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5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Calibri" charset="-122"/>
                        </a:rPr>
                        <a:t>Decade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Calibri" charset="-122"/>
                        </a:rPr>
                        <a:t>Key Event</a:t>
                      </a:r>
                    </a:p>
                  </a:txBody>
                  <a:tcPr marL="12700" marR="12700" marT="12700" anchor="b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Calibri" charset="-122"/>
                        </a:rPr>
                        <a:t>Significance</a:t>
                      </a:r>
                    </a:p>
                  </a:txBody>
                  <a:tcPr marL="12700" marR="12700" marT="12700" anchor="b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8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charset="-122"/>
                        </a:rPr>
                        <a:t>1920s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charset="-122"/>
                        </a:rPr>
                        <a:t>Bartlane cable picture transmission system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charset="-122"/>
                        </a:rPr>
                        <a:t>First commercial application of digital image processing.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charset="-122"/>
                        </a:rPr>
                        <a:t>1960s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charset="-122"/>
                        </a:rPr>
                        <a:t>Development of digital image processing techniques at research institutions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charset="-122"/>
                        </a:rPr>
                        <a:t>Foundation of the field, with applications in satellite imagery, medical imaging, and character recognition.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charset="-122"/>
                        </a:rPr>
                        <a:t>1970s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charset="-122"/>
                        </a:rPr>
                        <a:t>Invention of CT scans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charset="-122"/>
                        </a:rPr>
                        <a:t>Revolutionized medical imaging.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charset="-122"/>
                        </a:rPr>
                        <a:t>1970s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charset="-122"/>
                        </a:rPr>
                        <a:t>Emergence of digital photography(</a:t>
                      </a: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charset="-122"/>
                        </a:rPr>
                        <a:t>Invention of Digital Camera)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charset="-122"/>
                        </a:rPr>
                        <a:t>Laid the groundwork for the widespread use of digital images.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charset="-122"/>
                        </a:rPr>
                        <a:t>1980s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charset="-122"/>
                        </a:rPr>
                        <a:t>Advancements in computer hardware and software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charset="-122"/>
                        </a:rPr>
                        <a:t>Increased processing power and storage capacity, making digital image processing more accessible.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53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charset="-122"/>
                        </a:rPr>
                        <a:t>1990s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charset="-122"/>
                        </a:rPr>
                        <a:t>Introduction of the JPEG image format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charset="-122"/>
                        </a:rPr>
                        <a:t>Enabled efficient compression and transmission of digital images.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charset="-122"/>
                        </a:rPr>
                        <a:t>2000s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charset="-122"/>
                        </a:rPr>
                        <a:t>Explosion of digital photography and video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charset="-122"/>
                        </a:rPr>
                        <a:t>Maximum use of digital cameras and smartphones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charset="-122"/>
                        </a:rPr>
                        <a:t>2010s and beyond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charset="-122"/>
                        </a:rPr>
                        <a:t>Advances in artificial intelligence and machine learning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charset="-122"/>
                        </a:rPr>
                        <a:t>Enabled powerful image processing algorithms for tasks like image recognition and object detection.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5" y="180975"/>
            <a:ext cx="12193270" cy="634365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Application Areas/Examples of Fields that Use Digital Image Processing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815465" y="1460500"/>
            <a:ext cx="9060180" cy="344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Field	                        Applications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		X-rays, CT scans, MRI, ultrasound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		Facial recognition, object detection, autonomous vehicles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Sensing		Satellite imagery, aerial photography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Entertainment		Digital photography, video editing, special effects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 Enforcement		Forensic analysis, surveillance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		                 Computer vision for navigation and interaction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Astronomy		Image processing of celestial objects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		Crop health monitoring, yield estimation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		Quality control, inspection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			Digital art, animations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		Teaching and learning about visual information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" y="66675"/>
            <a:ext cx="1219327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Fundamental Steps in Image Processing Systems</a:t>
            </a:r>
            <a:endParaRPr lang="en-US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1040"/>
            <a:ext cx="12192000" cy="58635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" y="66675"/>
            <a:ext cx="1219327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Elements of Digital Image Processing Systems</a:t>
            </a:r>
            <a:endParaRPr lang="en-US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410" y="882650"/>
            <a:ext cx="9440545" cy="57257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" y="66675"/>
            <a:ext cx="1219327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A typical Image Processing Sequence: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15" y="878840"/>
            <a:ext cx="11525250" cy="52819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8A560-CCD1-C772-18D8-EBF4C9BF2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01E44-2538-5788-1192-ED127528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" y="66675"/>
            <a:ext cx="1219327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Types of Images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0B56551F-0289-3D8E-CE07-2B64A0F32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694"/>
            <a:ext cx="121920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Images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simplest type of image.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takes only two values i.e., Black and White or 0 and 1.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binary image consists of a 1-bit image and it takes only 1 binary digit to represent a pixel.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images are mostly used for general shape or outline.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7" name="Picture 13" descr="Types of Images">
            <a:extLst>
              <a:ext uri="{FF2B5EF4-FFF2-40B4-BE49-F238E27FC236}">
                <a16:creationId xmlns:a16="http://schemas.microsoft.com/office/drawing/2014/main" id="{81875D51-DD4B-2BB4-7FD4-B3D983BD5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4927" y="2276521"/>
            <a:ext cx="33909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2830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3B0E8-2E1B-4F6F-EE1D-8FE6E8941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C5861-05DC-363C-9BDF-09A3AD8B0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" y="66675"/>
            <a:ext cx="1219327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Types of Images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13D324F-3F95-0CFA-C7CD-FBAE37D13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01040"/>
            <a:ext cx="1093123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Gray-scale images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Grayscale images are monochrome images, Means they have only one color.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Grayscale images do not contain any information about color.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pixel determines available different grey levels.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normal grayscale image contains 8 bits/pixel data, which has 256 different grey levels.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medical images and astronomy, 12 or 16 bits/pixel images are used.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      </a:t>
            </a:r>
          </a:p>
        </p:txBody>
      </p:sp>
      <p:pic>
        <p:nvPicPr>
          <p:cNvPr id="2050" name="Picture 2" descr="Types of Images">
            <a:extLst>
              <a:ext uri="{FF2B5EF4-FFF2-40B4-BE49-F238E27FC236}">
                <a16:creationId xmlns:a16="http://schemas.microsoft.com/office/drawing/2014/main" id="{3CB58A9D-D4EF-4C12-0E71-B0915D0E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0691" y="2918460"/>
            <a:ext cx="42164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5404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FC77D-27DE-94EF-BF24-E7CDFB363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25A80-084B-D201-00CD-B303E3DE0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" y="66675"/>
            <a:ext cx="1219327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Types of Images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598CE5-8F85-D8B4-8744-0FDF6CC6A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6603"/>
            <a:ext cx="1121557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Colour images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band monochrome images in which, each band contains a different color and the actual information is stored.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color images contain gray level information in each spectral band.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images are represented as red, green and blue (RGB images).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each color image has 24 bits/pixel means 8 bits for each of the three color band(RGB).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    </a:t>
            </a:r>
          </a:p>
        </p:txBody>
      </p:sp>
      <p:pic>
        <p:nvPicPr>
          <p:cNvPr id="3074" name="Picture 2" descr="Types of Images">
            <a:extLst>
              <a:ext uri="{FF2B5EF4-FFF2-40B4-BE49-F238E27FC236}">
                <a16:creationId xmlns:a16="http://schemas.microsoft.com/office/drawing/2014/main" id="{285A351F-BCBE-380B-541F-EB47E20AF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0" y="2135560"/>
            <a:ext cx="3111500" cy="35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8859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DF5D9-A07F-C927-0E23-3EFBB76C5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3B04B-8807-19C9-1300-A9282EA21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70" y="0"/>
            <a:ext cx="1219327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Types of Images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EF45383-0B4E-66C9-B0F6-7D99918D7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4365"/>
            <a:ext cx="1074306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8-bit color format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8-bit color is used for storing image information in a computer's memory or in a file of an image.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format, each pixel represents one 8 bit byte.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0-255 range of colors, in which 0 is used for black, 255 for white and 127 for gray color.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8-bit color format is also known as a grayscale image. Initially, it was used by the UNIX operating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                        </a:t>
            </a:r>
          </a:p>
        </p:txBody>
      </p:sp>
      <p:pic>
        <p:nvPicPr>
          <p:cNvPr id="3077" name="Picture 5" descr="Types of Images">
            <a:extLst>
              <a:ext uri="{FF2B5EF4-FFF2-40B4-BE49-F238E27FC236}">
                <a16:creationId xmlns:a16="http://schemas.microsoft.com/office/drawing/2014/main" id="{2F71439E-6436-3F63-010F-A8CA27DB2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3894138"/>
            <a:ext cx="8356600" cy="161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Types of Images">
            <a:extLst>
              <a:ext uri="{FF2B5EF4-FFF2-40B4-BE49-F238E27FC236}">
                <a16:creationId xmlns:a16="http://schemas.microsoft.com/office/drawing/2014/main" id="{DBF747D2-467C-CD55-2AA9-7400ABA4C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9195" y="2715369"/>
            <a:ext cx="7684678" cy="161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8551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579C2-8BF5-5CEC-46E5-BB444D4E2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0D898-33DE-4A38-2106-878418F4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70" y="0"/>
            <a:ext cx="1219327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Types of Images</a:t>
            </a:r>
          </a:p>
        </p:txBody>
      </p:sp>
      <p:pic>
        <p:nvPicPr>
          <p:cNvPr id="3077" name="Picture 5" descr="Types of Images">
            <a:extLst>
              <a:ext uri="{FF2B5EF4-FFF2-40B4-BE49-F238E27FC236}">
                <a16:creationId xmlns:a16="http://schemas.microsoft.com/office/drawing/2014/main" id="{CFB0846F-C2CD-B2EC-6BCF-3D7E0C73C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3894138"/>
            <a:ext cx="8356600" cy="161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Types of Images">
            <a:extLst>
              <a:ext uri="{FF2B5EF4-FFF2-40B4-BE49-F238E27FC236}">
                <a16:creationId xmlns:a16="http://schemas.microsoft.com/office/drawing/2014/main" id="{84DFF270-FED0-A5E9-0E8C-BED9D3C1A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543" y="2616659"/>
            <a:ext cx="7928865" cy="2786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F4EDFC-9428-36C1-BA50-52462A3E9881}"/>
              </a:ext>
            </a:extLst>
          </p:cNvPr>
          <p:cNvSpPr txBox="1"/>
          <p:nvPr/>
        </p:nvSpPr>
        <p:spPr>
          <a:xfrm>
            <a:off x="0" y="634365"/>
            <a:ext cx="117936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16-bit color format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16-bit color format is also known as high color format. It has 65,536 different color shades.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in the system developed by Microsoft.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16-bit color format is further divided into three formats which are Red, Green, and Blue also known as RGB format.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RGB format, there are 5 bits for R, 6 bits for G, and 5 bits for B.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additional bit is added in green because in all the 3 colors green color is soothing to eyes.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369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DB211-4EEC-4C7B-2C55-E6DF76705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B36A0-2F54-2524-D06A-BAFEDDC86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70" y="0"/>
            <a:ext cx="1219327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Types of Images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C320D4E-1089-0CDF-74AF-108E895E4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90865"/>
            <a:ext cx="121920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24-bit color format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24-bit color format is also known as the true color format.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24-bit color format is also distributed in Red, Green, and Blue.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24 can be equally divided on 8, so it is distributed equally between 3 different colors like 8 bits for R, 8 bits for G and 8 bits for B.    </a:t>
            </a:r>
          </a:p>
        </p:txBody>
      </p:sp>
      <p:pic>
        <p:nvPicPr>
          <p:cNvPr id="3077" name="Picture 5" descr="Types of Images">
            <a:extLst>
              <a:ext uri="{FF2B5EF4-FFF2-40B4-BE49-F238E27FC236}">
                <a16:creationId xmlns:a16="http://schemas.microsoft.com/office/drawing/2014/main" id="{6EAB1BE8-1F13-7559-13BC-0CDB3F36B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3894138"/>
            <a:ext cx="8356600" cy="161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 descr="Types of Images">
            <a:extLst>
              <a:ext uri="{FF2B5EF4-FFF2-40B4-BE49-F238E27FC236}">
                <a16:creationId xmlns:a16="http://schemas.microsoft.com/office/drawing/2014/main" id="{46C1B351-7365-B634-86DF-92CE55440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728" y="2306782"/>
            <a:ext cx="8064500" cy="294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324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" y="66675"/>
            <a:ext cx="1219327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Image Sampling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" y="1767840"/>
            <a:ext cx="11239500" cy="422910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76250" y="836295"/>
            <a:ext cx="1048512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28600" indent="-228600">
              <a:buFont typeface="Wingdings" panose="05000000000000000000" charset="0"/>
              <a:buChar char=""/>
            </a:pPr>
            <a:r>
              <a:rPr lang="en-US" sz="1600">
                <a:latin typeface="Verdana" panose="020B0604030504040204" charset="0"/>
                <a:cs typeface="Verdana" panose="020B0604030504040204" charset="0"/>
              </a:rPr>
              <a:t>It is the process where measurements are taken at regular space intervals. </a:t>
            </a:r>
          </a:p>
          <a:p>
            <a:pPr marL="228600" indent="-228600">
              <a:buFont typeface="Wingdings" panose="05000000000000000000" charset="0"/>
              <a:buChar char=""/>
            </a:pPr>
            <a:r>
              <a:rPr lang="en-US" sz="1600">
                <a:latin typeface="Verdana" panose="020B0604030504040204" charset="0"/>
                <a:cs typeface="Verdana" panose="020B0604030504040204" charset="0"/>
              </a:rPr>
              <a:t>Digitizing the spatial co-ordinates values (x, y) is called sampling.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" y="66675"/>
            <a:ext cx="1219327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Image Sampling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l="1736" t="27917" r="2229" b="7935"/>
          <a:stretch>
            <a:fillRect/>
          </a:stretch>
        </p:blipFill>
        <p:spPr>
          <a:xfrm>
            <a:off x="572135" y="906145"/>
            <a:ext cx="10854690" cy="54635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" y="66675"/>
            <a:ext cx="1219327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Image Quantization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530" y="1518285"/>
            <a:ext cx="9994900" cy="504507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36220" y="781685"/>
            <a:ext cx="1066546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28600" indent="-228600">
              <a:buFont typeface="Wingdings" panose="05000000000000000000" charset="0"/>
              <a:buChar char=""/>
            </a:pPr>
            <a:r>
              <a:rPr lang="en-US" b="1">
                <a:latin typeface="Verdana Bold" panose="020B0604030504040204" charset="0"/>
                <a:cs typeface="Verdana Bold" panose="020B0604030504040204" charset="0"/>
              </a:rPr>
              <a:t>Digitizing the amplitude values is called quantization.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" y="66675"/>
            <a:ext cx="1219327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Image Sampling and Quantization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l="8674" t="12722" r="7931" b="9917"/>
          <a:stretch>
            <a:fillRect/>
          </a:stretch>
        </p:blipFill>
        <p:spPr>
          <a:xfrm>
            <a:off x="2192655" y="962660"/>
            <a:ext cx="7625715" cy="53054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" y="66675"/>
            <a:ext cx="1219327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Image Sampling and Quantization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20" y="964565"/>
            <a:ext cx="10255250" cy="574484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9535"/>
            <a:ext cx="12193270" cy="985520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Some Basic relationship like Neighbor’s, Connectivity, Distance Measures between Pixels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r="57505"/>
          <a:stretch>
            <a:fillRect/>
          </a:stretch>
        </p:blipFill>
        <p:spPr>
          <a:xfrm>
            <a:off x="1145540" y="1965325"/>
            <a:ext cx="3123565" cy="24682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5475" y="1880870"/>
            <a:ext cx="3123565" cy="246824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390650" y="4349115"/>
            <a:ext cx="26333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 Neighbourhood Pixels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8490585" y="4438650"/>
            <a:ext cx="26333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8 Neighbourhood Pixels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0" y="958850"/>
            <a:ext cx="1024445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/>
              <a:t>Neighboring Relationships</a:t>
            </a:r>
            <a:endParaRPr lang="en-US"/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b="1"/>
              <a:t>4-connectivity: </a:t>
            </a:r>
            <a:r>
              <a:rPr lang="en-US"/>
              <a:t>A pixel is connected to its four immediate neighbors: up, down, left, and right.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b="1"/>
              <a:t>8-connectivity:</a:t>
            </a:r>
            <a:r>
              <a:rPr lang="en-US"/>
              <a:t> A pixel is connected to its eight neighbors, including the diagonal ones.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169545" y="448945"/>
            <a:ext cx="115811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/>
              <a:t>Connectivity</a:t>
            </a:r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169545" y="946785"/>
            <a:ext cx="1147000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l"/>
            <a:r>
              <a:rPr lang="en-US" b="0">
                <a:latin typeface="Times New Roman" panose="02020603050405020304" pitchFamily="18" charset="0"/>
                <a:cs typeface="Calibri" panose="020F0502020204030204" pitchFamily="34" charset="0"/>
              </a:rPr>
              <a:t> They are:</a:t>
            </a:r>
          </a:p>
          <a:p>
            <a:pPr marL="0" indent="0" algn="l"/>
            <a:r>
              <a:rPr lang="en-US" b="0">
                <a:latin typeface="Times New Roman" panose="02020603050405020304" pitchFamily="18" charset="0"/>
                <a:cs typeface="Calibri" panose="020F0502020204030204" pitchFamily="34" charset="0"/>
              </a:rPr>
              <a:t>a) </a:t>
            </a:r>
            <a:r>
              <a:rPr lang="en-US" b="1">
                <a:latin typeface="Times New Roman" panose="02020603050405020304" pitchFamily="18" charset="0"/>
                <a:cs typeface="Calibri" panose="020F0502020204030204" pitchFamily="34" charset="0"/>
              </a:rPr>
              <a:t>4-connectivity:</a:t>
            </a:r>
            <a:r>
              <a:rPr lang="en-US" b="0">
                <a:latin typeface="Times New Roman" panose="02020603050405020304" pitchFamily="18" charset="0"/>
                <a:cs typeface="Calibri" panose="020F0502020204030204" pitchFamily="34" charset="0"/>
              </a:rPr>
              <a:t> Two or more pixels are said to be 4-connected if they are 4-adjacent with each other’s.</a:t>
            </a:r>
          </a:p>
          <a:p>
            <a:pPr marL="0" indent="0" algn="l"/>
            <a:r>
              <a:rPr lang="en-US" b="0">
                <a:latin typeface="Times New Roman" panose="02020603050405020304" pitchFamily="18" charset="0"/>
                <a:cs typeface="Calibri" panose="020F0502020204030204" pitchFamily="34" charset="0"/>
              </a:rPr>
              <a:t>b) </a:t>
            </a:r>
            <a:r>
              <a:rPr lang="en-US" b="1">
                <a:latin typeface="Times New Roman" panose="02020603050405020304" pitchFamily="18" charset="0"/>
                <a:cs typeface="Calibri" panose="020F0502020204030204" pitchFamily="34" charset="0"/>
              </a:rPr>
              <a:t>8-connectivity:</a:t>
            </a:r>
            <a:r>
              <a:rPr lang="en-US" b="0">
                <a:latin typeface="Times New Roman" panose="02020603050405020304" pitchFamily="18" charset="0"/>
                <a:cs typeface="Calibri" panose="020F0502020204030204" pitchFamily="34" charset="0"/>
              </a:rPr>
              <a:t> Two or more pixels are said to be 8-connected if they are 8-adjacent with each other’s.</a:t>
            </a:r>
          </a:p>
          <a:p>
            <a:pPr marL="0" indent="0" algn="l"/>
            <a:r>
              <a:rPr lang="en-US" b="0">
                <a:latin typeface="Times New Roman" panose="02020603050405020304" pitchFamily="18" charset="0"/>
                <a:cs typeface="Calibri" panose="020F0502020204030204" pitchFamily="34" charset="0"/>
              </a:rPr>
              <a:t>c) </a:t>
            </a:r>
            <a:r>
              <a:rPr lang="en-US" b="1">
                <a:latin typeface="Times New Roman" panose="02020603050405020304" pitchFamily="18" charset="0"/>
                <a:cs typeface="Calibri" panose="020F0502020204030204" pitchFamily="34" charset="0"/>
              </a:rPr>
              <a:t>m-connectivity:</a:t>
            </a:r>
            <a:r>
              <a:rPr lang="en-US" b="0">
                <a:latin typeface="Times New Roman" panose="02020603050405020304" pitchFamily="18" charset="0"/>
                <a:cs typeface="Calibri" panose="020F0502020204030204" pitchFamily="34" charset="0"/>
              </a:rPr>
              <a:t> Two or more pixels are said to be m-connected if they are m-adjacent with each other’s.</a:t>
            </a:r>
          </a:p>
        </p:txBody>
      </p:sp>
      <p:pic>
        <p:nvPicPr>
          <p:cNvPr id="60" name="Picture 6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3420" y="2705100"/>
            <a:ext cx="10125075" cy="2704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344035" y="0"/>
            <a:ext cx="461010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2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Distance Measures between Pixels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l="5333" t="15507" r="2667" b="14203"/>
          <a:stretch>
            <a:fillRect/>
          </a:stretch>
        </p:blipFill>
        <p:spPr>
          <a:xfrm>
            <a:off x="2982595" y="1383030"/>
            <a:ext cx="5082540" cy="61595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55880" y="658495"/>
            <a:ext cx="11695430" cy="675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b="1"/>
              <a:t>Euclidean Distance: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/>
              <a:t> For two pixels at coordinates (x1, y1) and (x2, y2), the Euclidean distance d is given by: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0" y="1917065"/>
            <a:ext cx="118071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/>
              <a:t>Manhattan Distance (or City Block Distance):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/>
              <a:t>For two pixels at (x1, y1) and (x2, y2), the Manhattan distance d is: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260" y="2656840"/>
            <a:ext cx="4191000" cy="45720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55880" y="3114040"/>
            <a:ext cx="12067540" cy="675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b="1"/>
              <a:t>Chebyshev Distance: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/>
              <a:t>For two pixels at (x1, y1) and (x2, y2), the Chebyshev distance d is: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5225" y="3862705"/>
            <a:ext cx="4781550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049395" y="0"/>
            <a:ext cx="5510530" cy="58356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Elements of Visual Perception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650" y="918210"/>
            <a:ext cx="5600700" cy="465772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AA98B-3F2E-EC5B-AAD2-775011489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498E572D-6E60-1789-F76E-0F012A6A057A}"/>
              </a:ext>
            </a:extLst>
          </p:cNvPr>
          <p:cNvSpPr txBox="1"/>
          <p:nvPr/>
        </p:nvSpPr>
        <p:spPr>
          <a:xfrm>
            <a:off x="4049395" y="0"/>
            <a:ext cx="5510530" cy="58356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Elements of Visual Perception </a:t>
            </a:r>
          </a:p>
        </p:txBody>
      </p:sp>
      <p:pic>
        <p:nvPicPr>
          <p:cNvPr id="1026" name="Picture 2" descr="Eye Lens | Definition &amp; Function - Lesson | Study.com">
            <a:extLst>
              <a:ext uri="{FF2B5EF4-FFF2-40B4-BE49-F238E27FC236}">
                <a16:creationId xmlns:a16="http://schemas.microsoft.com/office/drawing/2014/main" id="{FA50EF60-9649-049A-9606-2F3B89CCD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466850"/>
            <a:ext cx="7620000" cy="392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90025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208145" y="0"/>
            <a:ext cx="3263900" cy="58356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Practice Question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01600" y="1002665"/>
            <a:ext cx="121926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A human eye which has in an average the diameter is from 14mm to 17mm which is nearly spherical in shape.</a:t>
            </a:r>
          </a:p>
          <a:p>
            <a:r>
              <a:rPr lang="en-US" dirty="0">
                <a:solidFill>
                  <a:srgbClr val="FF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The lens of an eye is flexible </a:t>
            </a:r>
            <a:r>
              <a:rPr lang="en-US">
                <a:solidFill>
                  <a:srgbClr val="FF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than other </a:t>
            </a:r>
            <a:r>
              <a:rPr lang="en-US" dirty="0">
                <a:solidFill>
                  <a:srgbClr val="FF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ordinary optical lens.</a:t>
            </a:r>
          </a:p>
          <a:p>
            <a:r>
              <a:rPr lang="en-US" dirty="0">
                <a:solidFill>
                  <a:srgbClr val="FF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Suppose the observer is looking at a tree which has 15m height at distance 100m.</a:t>
            </a:r>
          </a:p>
          <a:p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Find the height of the retrieval image in an eye??</a:t>
            </a: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ACEDF48-A73D-1DD3-1682-1A5117EF93EF}"/>
              </a:ext>
            </a:extLst>
          </p:cNvPr>
          <p:cNvCxnSpPr/>
          <p:nvPr/>
        </p:nvCxnSpPr>
        <p:spPr>
          <a:xfrm>
            <a:off x="4704080" y="3429000"/>
            <a:ext cx="20828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0E300F4-3A20-00E7-4BCE-810212F3D575}"/>
              </a:ext>
            </a:extLst>
          </p:cNvPr>
          <p:cNvCxnSpPr>
            <a:cxnSpLocks/>
          </p:cNvCxnSpPr>
          <p:nvPr/>
        </p:nvCxnSpPr>
        <p:spPr>
          <a:xfrm flipV="1">
            <a:off x="6786880" y="2377440"/>
            <a:ext cx="0" cy="105156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EC89DC9-9393-7736-C77D-F5CFE83391AE}"/>
              </a:ext>
            </a:extLst>
          </p:cNvPr>
          <p:cNvCxnSpPr/>
          <p:nvPr/>
        </p:nvCxnSpPr>
        <p:spPr>
          <a:xfrm>
            <a:off x="5476240" y="3230880"/>
            <a:ext cx="0" cy="396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036010-34D4-8753-C813-BDDF32403001}"/>
              </a:ext>
            </a:extLst>
          </p:cNvPr>
          <p:cNvCxnSpPr>
            <a:cxnSpLocks/>
          </p:cNvCxnSpPr>
          <p:nvPr/>
        </p:nvCxnSpPr>
        <p:spPr>
          <a:xfrm flipV="1">
            <a:off x="4704080" y="3429000"/>
            <a:ext cx="0" cy="61468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A365C96-D06C-8304-56F2-BE028958E9C9}"/>
              </a:ext>
            </a:extLst>
          </p:cNvPr>
          <p:cNvCxnSpPr/>
          <p:nvPr/>
        </p:nvCxnSpPr>
        <p:spPr>
          <a:xfrm flipV="1">
            <a:off x="4704080" y="2377440"/>
            <a:ext cx="2082800" cy="166624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10A8836-7BCC-6AF5-59E2-592F0F065FA8}"/>
              </a:ext>
            </a:extLst>
          </p:cNvPr>
          <p:cNvSpPr txBox="1"/>
          <p:nvPr/>
        </p:nvSpPr>
        <p:spPr>
          <a:xfrm>
            <a:off x="6868160" y="2763520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088626-3F2F-C6C9-9BC1-3EA2A1B5A1DE}"/>
              </a:ext>
            </a:extLst>
          </p:cNvPr>
          <p:cNvSpPr txBox="1"/>
          <p:nvPr/>
        </p:nvSpPr>
        <p:spPr>
          <a:xfrm>
            <a:off x="5718610" y="3379708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A09BA4-D28A-5653-E615-07DC8ED6260B}"/>
              </a:ext>
            </a:extLst>
          </p:cNvPr>
          <p:cNvSpPr txBox="1"/>
          <p:nvPr/>
        </p:nvSpPr>
        <p:spPr>
          <a:xfrm>
            <a:off x="4074159" y="3627120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h=?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23DFA7-D517-0C4B-2D12-58F2FA73875A}"/>
              </a:ext>
            </a:extLst>
          </p:cNvPr>
          <p:cNvSpPr txBox="1"/>
          <p:nvPr/>
        </p:nvSpPr>
        <p:spPr>
          <a:xfrm>
            <a:off x="4703256" y="3102848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17mm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63090" y="2694892"/>
            <a:ext cx="730134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End of The Unit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63090" y="2694892"/>
            <a:ext cx="730134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1418</Words>
  <Application>Microsoft Macintosh PowerPoint</Application>
  <PresentationFormat>Widescreen</PresentationFormat>
  <Paragraphs>153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Arial</vt:lpstr>
      <vt:lpstr>Calibri</vt:lpstr>
      <vt:lpstr>Calibri Light</vt:lpstr>
      <vt:lpstr>Times New Roman</vt:lpstr>
      <vt:lpstr>Times New Roman Bold</vt:lpstr>
      <vt:lpstr>Times New Roman Regular</vt:lpstr>
      <vt:lpstr>Verdana</vt:lpstr>
      <vt:lpstr>Verdana Bold</vt:lpstr>
      <vt:lpstr>Wingdings</vt:lpstr>
      <vt:lpstr>Office Theme</vt:lpstr>
      <vt:lpstr> Unit 1 Introduction to Digital Image Processing</vt:lpstr>
      <vt:lpstr>OUTLINES</vt:lpstr>
      <vt:lpstr>Introduction to Image and Its Processing</vt:lpstr>
      <vt:lpstr>Introduction to Image and Its Processing</vt:lpstr>
      <vt:lpstr>Introduction to Image and Its Processing</vt:lpstr>
      <vt:lpstr>Origin of Digital Image</vt:lpstr>
      <vt:lpstr>Application Areas/Examples of Fields that Use Digital Image Processing</vt:lpstr>
      <vt:lpstr>Fundamental Steps in Image Processing Systems</vt:lpstr>
      <vt:lpstr>Elements of Digital Image Processing Systems</vt:lpstr>
      <vt:lpstr>A typical Image Processing Sequence:</vt:lpstr>
      <vt:lpstr>Types of Images</vt:lpstr>
      <vt:lpstr>Types of Images</vt:lpstr>
      <vt:lpstr>Types of Images</vt:lpstr>
      <vt:lpstr>Types of Images</vt:lpstr>
      <vt:lpstr>Types of Images</vt:lpstr>
      <vt:lpstr>Types of Images</vt:lpstr>
      <vt:lpstr>Image Sampling </vt:lpstr>
      <vt:lpstr>Image Sampling </vt:lpstr>
      <vt:lpstr>Image Quantization</vt:lpstr>
      <vt:lpstr>Image Sampling and Quantization</vt:lpstr>
      <vt:lpstr>Image Sampling and Quantization</vt:lpstr>
      <vt:lpstr>Some Basic relationship like Neighbor’s, Connectivity, Distance Measures between Pixels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8 Representation and Descriptors</dc:title>
  <dc:creator>Harendra Bikram Shah</dc:creator>
  <cp:lastModifiedBy>Harendra Bikram Shah</cp:lastModifiedBy>
  <cp:revision>202</cp:revision>
  <dcterms:created xsi:type="dcterms:W3CDTF">2024-09-28T08:47:34Z</dcterms:created>
  <dcterms:modified xsi:type="dcterms:W3CDTF">2025-04-26T09:36:28Z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