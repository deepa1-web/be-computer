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342" r:id="rId4"/>
    <p:sldId id="343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73" r:id="rId19"/>
    <p:sldId id="374" r:id="rId20"/>
    <p:sldId id="375" r:id="rId21"/>
    <p:sldId id="376" r:id="rId22"/>
    <p:sldId id="377" r:id="rId23"/>
    <p:sldId id="378" r:id="rId24"/>
    <p:sldId id="357" r:id="rId25"/>
    <p:sldId id="360" r:id="rId26"/>
    <p:sldId id="358" r:id="rId27"/>
    <p:sldId id="359" r:id="rId28"/>
    <p:sldId id="361" r:id="rId29"/>
    <p:sldId id="362" r:id="rId30"/>
    <p:sldId id="365" r:id="rId31"/>
    <p:sldId id="363" r:id="rId32"/>
    <p:sldId id="370" r:id="rId33"/>
    <p:sldId id="371" r:id="rId34"/>
    <p:sldId id="364" r:id="rId35"/>
    <p:sldId id="366" r:id="rId36"/>
    <p:sldId id="367" r:id="rId37"/>
    <p:sldId id="368" r:id="rId38"/>
    <p:sldId id="369" r:id="rId39"/>
    <p:sldId id="380" r:id="rId40"/>
    <p:sldId id="382" r:id="rId41"/>
    <p:sldId id="381" r:id="rId42"/>
    <p:sldId id="379" r:id="rId43"/>
    <p:sldId id="387" r:id="rId44"/>
    <p:sldId id="389" r:id="rId45"/>
    <p:sldId id="383" r:id="rId46"/>
    <p:sldId id="384" r:id="rId47"/>
    <p:sldId id="385" r:id="rId48"/>
    <p:sldId id="386" r:id="rId49"/>
    <p:sldId id="388" r:id="rId50"/>
    <p:sldId id="390" r:id="rId51"/>
    <p:sldId id="314" r:id="rId52"/>
    <p:sldId id="316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188" autoAdjust="0"/>
    <p:restoredTop sz="93969" autoAdjust="0"/>
  </p:normalViewPr>
  <p:slideViewPr>
    <p:cSldViewPr snapToGrid="0">
      <p:cViewPr varScale="1">
        <p:scale>
          <a:sx n="98" d="100"/>
          <a:sy n="98" d="100"/>
        </p:scale>
        <p:origin x="200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70F50-F30B-214E-9EB6-3F0E8D3F371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8CA10-10E9-4542-B56F-CCD8E09F3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36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	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8CA10-10E9-4542-B56F-CCD8E09F34D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14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26/05/26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" y="464820"/>
            <a:ext cx="12066905" cy="1355090"/>
          </a:xfrm>
        </p:spPr>
        <p:txBody>
          <a:bodyPr>
            <a:noAutofit/>
          </a:bodyPr>
          <a:lstStyle/>
          <a:p>
            <a:pPr algn="ctr"/>
            <a:br>
              <a:rPr lang="en-US" sz="4800" b="1" dirty="0">
                <a:latin typeface="Times New Roman" panose="02020603050405020304" pitchFamily="18" charset="0"/>
                <a:cs typeface="Calibri" panose="020F0502020204030204" pitchFamily="34" charset="0"/>
                <a:sym typeface="+mn-ea"/>
              </a:rPr>
            </a:br>
            <a:r>
              <a:rPr lang="en-US" sz="4800" b="1" dirty="0">
                <a:solidFill>
                  <a:srgbClr val="7030A0"/>
                </a:solidFill>
                <a:latin typeface="Times New Roman" panose="02020603050405020304" pitchFamily="18" charset="0"/>
                <a:cs typeface="Calibri" panose="020F0502020204030204" pitchFamily="34" charset="0"/>
                <a:sym typeface="+mn-ea"/>
              </a:rPr>
              <a:t>Unit 2</a:t>
            </a:r>
            <a:br>
              <a:rPr lang="en-US" sz="4800" b="1" dirty="0">
                <a:latin typeface="Times New Roman" panose="02020603050405020304" pitchFamily="18" charset="0"/>
                <a:cs typeface="Calibri" panose="020F0502020204030204" pitchFamily="34" charset="0"/>
                <a:sym typeface="+mn-ea"/>
              </a:rPr>
            </a:br>
            <a:r>
              <a:rPr lang="en-US" sz="4800" b="1" dirty="0">
                <a:latin typeface="Times New Roman" panose="02020603050405020304" pitchFamily="18" charset="0"/>
                <a:cs typeface="Calibri" panose="020F0502020204030204" pitchFamily="34" charset="0"/>
                <a:sym typeface="+mn-ea"/>
              </a:rPr>
              <a:t>Image Enhancement in Spatial Domain</a:t>
            </a:r>
            <a:endParaRPr lang="en-US" altLang="en-GB" sz="4800" b="1" dirty="0">
              <a:latin typeface="Times New Roman" panose="02020603050405020304" pitchFamily="18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410" y="3712210"/>
            <a:ext cx="9224010" cy="2606675"/>
          </a:xfrm>
        </p:spPr>
        <p:txBody>
          <a:bodyPr>
            <a:noAutofit/>
          </a:bodyPr>
          <a:lstStyle/>
          <a:p>
            <a:pPr algn="l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en-US" alt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sented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GB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 </a:t>
            </a:r>
            <a:b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  <a:p>
            <a:pPr algn="l"/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</a:t>
            </a:r>
            <a:r>
              <a:rPr lang="en-US" altLang="en-GB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NAST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415145" y="2159000"/>
            <a:ext cx="2176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Hour:</a:t>
            </a:r>
            <a:r>
              <a:rPr 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355" y="13271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4FDF7-F067-78E6-E636-16FE501506D8}"/>
              </a:ext>
            </a:extLst>
          </p:cNvPr>
          <p:cNvSpPr txBox="1"/>
          <p:nvPr/>
        </p:nvSpPr>
        <p:spPr>
          <a:xfrm>
            <a:off x="0" y="882562"/>
            <a:ext cx="12192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2: Image Enhancement in Spatial Domain 							[7 hrs]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2.1. 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Gray Level Transformations 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2.1.1. Point operations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2.1.2. Contrast stretching,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2.1.3. Thresholding,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2.1.4. Digital negative,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2.1.5. Intensity level slicing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2.1.6. Bit Plane Slicing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2.2.Histogram Modeling, Histogram equalization, Histogram matching 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2.3. Enhancement Using Arithmetic and Logic Operations 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2.4. Spatial Filters 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2.5. Smoothening and Sharpening Spatial Filters 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2.5.1. Averaging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2.5.2. Median filtering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2.5.3. Spatial Low Pass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2.5.4. High pass filtering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2.5.5. Magnification by replication and interpolation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Image Enhancement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0330" y="902970"/>
            <a:ext cx="1199134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"/>
            </a:pPr>
            <a:r>
              <a:rPr lang="en-US" sz="2000" dirty="0">
                <a:latin typeface="Times New Roman Regular" panose="02020603050405020304" charset="0"/>
                <a:cs typeface="Times New Roman Regular" panose="02020603050405020304" charset="0"/>
              </a:rPr>
              <a:t>process of manipulating digital images to improve their quality, visual appeal, or suitability for specific tasks.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 dirty="0">
                <a:latin typeface="Times New Roman Regular" panose="02020603050405020304" charset="0"/>
                <a:cs typeface="Times New Roman Regular" panose="02020603050405020304" charset="0"/>
              </a:rPr>
              <a:t>Involves adjusting various aspects of the image, such as brightness, contrast, color, sharpness, and noise.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82930" y="3244215"/>
            <a:ext cx="7706995" cy="2953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Application of Image Enhancement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1. Medical Imaging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2. Security and Surveillance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3. Astronomy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4. Photography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5. Industrial Inspection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6. Remote Sensing and Geography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7. Forensic Analysis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8. Education and Research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9. Art and Entertainment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27660" y="1628775"/>
            <a:ext cx="1186434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Image enhancement in the spatial domain is based on the following expression:</a:t>
            </a: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g(x. y) = T[f(x, y)]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where, f (x, y) is the input image, g(x, y) is the output image and T is an operator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Gray level Transformations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15F16-573D-8039-47A0-78A6FDF14429}"/>
              </a:ext>
            </a:extLst>
          </p:cNvPr>
          <p:cNvSpPr txBox="1"/>
          <p:nvPr/>
        </p:nvSpPr>
        <p:spPr>
          <a:xfrm>
            <a:off x="132080" y="767080"/>
            <a:ext cx="111048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echnique used in image processing to modify the intensity values of pixels in a grayscale image.</a:t>
            </a:r>
          </a:p>
          <a:p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for low level or darkest level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black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127 for middle level gray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255 for white 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687C3A-A7AC-7807-9CC2-F071A9753231}"/>
              </a:ext>
            </a:extLst>
          </p:cNvPr>
          <p:cNvSpPr txBox="1"/>
          <p:nvPr/>
        </p:nvSpPr>
        <p:spPr>
          <a:xfrm>
            <a:off x="0" y="2333606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Gray Level Transformation: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restoration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analysis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7FFF-9928-E574-03EA-407E74404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5F92-BB3E-E24A-0D2B-E47A94A4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Some basic Gray level Transformations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08AAC68E-3E2C-C2BD-D28F-C21CDD8CB3C5}"/>
              </a:ext>
            </a:extLst>
          </p:cNvPr>
          <p:cNvSpPr txBox="1"/>
          <p:nvPr/>
        </p:nvSpPr>
        <p:spPr>
          <a:xfrm>
            <a:off x="233680" y="767080"/>
            <a:ext cx="504952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Point operations/Pixel Operation: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5535AA-FD93-1089-A8FD-B8486DD89165}"/>
              </a:ext>
            </a:extLst>
          </p:cNvPr>
          <p:cNvSpPr txBox="1"/>
          <p:nvPr/>
        </p:nvSpPr>
        <p:spPr>
          <a:xfrm>
            <a:off x="233680" y="1155224"/>
            <a:ext cx="11958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echnique that manipulate the intensity values of individual pixels in an image without considering any neighbouring pixels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22283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performed using a </a:t>
            </a:r>
            <a:r>
              <a:rPr lang="en-GB" b="1" i="0" u="none" strike="noStrike" dirty="0">
                <a:solidFill>
                  <a:srgbClr val="22283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image</a:t>
            </a:r>
            <a:r>
              <a:rPr lang="en-GB" b="0" i="0" u="none" strike="noStrike" dirty="0">
                <a:solidFill>
                  <a:srgbClr val="22283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 </a:t>
            </a:r>
            <a:r>
              <a:rPr lang="en-GB" b="1" i="0" u="none" strike="noStrike" dirty="0">
                <a:solidFill>
                  <a:srgbClr val="22283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images of the same size</a:t>
            </a:r>
            <a:endParaRPr lang="en-GB" b="0" i="0" u="none" strike="noStrike" dirty="0">
              <a:solidFill>
                <a:srgbClr val="22283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D9BC65-E92E-D53B-0005-D01ABEE6FDD8}"/>
              </a:ext>
            </a:extLst>
          </p:cNvPr>
          <p:cNvSpPr txBox="1"/>
          <p:nvPr/>
        </p:nvSpPr>
        <p:spPr>
          <a:xfrm>
            <a:off x="233680" y="2647930"/>
            <a:ext cx="1947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= T(r)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75FC51-86CA-4971-CBD8-3BFB0CBFB9C3}"/>
              </a:ext>
            </a:extLst>
          </p:cNvPr>
          <p:cNvSpPr txBox="1"/>
          <p:nvPr/>
        </p:nvSpPr>
        <p:spPr>
          <a:xfrm>
            <a:off x="0" y="3309650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T is the point operator of a certain Gray-level mapping relationship between the original image and the output image.</a:t>
            </a:r>
          </a:p>
          <a:p>
            <a:pPr algn="l"/>
            <a:endParaRPr lang="en-GB" b="0" i="0" u="none" strike="noStrike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s, r: denote the </a:t>
            </a:r>
            <a:r>
              <a:rPr lang="en-GB" b="0" i="0" u="none" strike="noStrike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GB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level of the </a:t>
            </a:r>
            <a:r>
              <a:rPr lang="en-GB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GB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pixel and the </a:t>
            </a:r>
            <a:r>
              <a:rPr lang="en-GB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GB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pixel respectively.	</a:t>
            </a:r>
          </a:p>
        </p:txBody>
      </p:sp>
    </p:spTree>
    <p:extLst>
      <p:ext uri="{BB962C8B-B14F-4D97-AF65-F5344CB8AC3E}">
        <p14:creationId xmlns:p14="http://schemas.microsoft.com/office/powerpoint/2010/main" val="654971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1A429-24E3-3DD4-7F3B-543481EEE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834D6-83F1-40D6-B5FD-11D70171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Some basic Gray level Transformations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49A3772C-65AA-EB83-A49C-FCFAF3257398}"/>
              </a:ext>
            </a:extLst>
          </p:cNvPr>
          <p:cNvSpPr txBox="1"/>
          <p:nvPr/>
        </p:nvSpPr>
        <p:spPr>
          <a:xfrm>
            <a:off x="116840" y="838200"/>
            <a:ext cx="11958320" cy="1508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Contrast Stretching: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to enhance the contrast between different parts of an image, that is, enhances the </a:t>
            </a:r>
            <a:r>
              <a:rPr lang="en-GB" b="0" i="0" u="none" strike="noStrike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GB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contrast for areas of interest, and suppresses the </a:t>
            </a:r>
            <a:r>
              <a:rPr lang="en-GB" b="0" i="0" u="none" strike="noStrike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GB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contrast for areas that are not of interest.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Makes darker part More-darker and Brighter part more-Brighter.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Increase the dynamic range of </a:t>
            </a:r>
            <a:r>
              <a:rPr lang="en-GB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gray</a:t>
            </a:r>
            <a:r>
              <a:rPr lang="en-GB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levels in the image being processed. 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8FFD1-E1C3-C9EF-2FD8-4CF1BE319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86" y="2762250"/>
            <a:ext cx="65024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968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54278-49BF-E9E8-A249-AE32AE369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0954BF-59ED-FF35-B14D-923805713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79" y="1236204"/>
            <a:ext cx="9460865" cy="390475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B15A6A5-CF72-BEC1-0A1F-3F7B38077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2.Contrast Stretching</a:t>
            </a:r>
            <a:endParaRPr lang="en-US" altLang="en-GB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6631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FD27F-A176-8C8F-7C32-7FC1DF09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C130773-B274-4368-3633-B1D97170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Example of Contrast Stretching</a:t>
            </a:r>
            <a:endParaRPr lang="en-US" altLang="en-GB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D726A2-0B1B-C9FD-F3C0-218A0EFAF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1066800"/>
            <a:ext cx="8696960" cy="363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438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B126F-EEF0-C1D2-9C6E-83A882BBD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82C360D-EB87-F249-820A-0A03AE264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3.Thresholding</a:t>
            </a:r>
            <a:endParaRPr lang="en-US" altLang="en-GB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2FCAB-376D-2F4E-032F-3BB1BBC5E882}"/>
              </a:ext>
            </a:extLst>
          </p:cNvPr>
          <p:cNvSpPr txBox="1"/>
          <p:nvPr/>
        </p:nvSpPr>
        <p:spPr>
          <a:xfrm>
            <a:off x="0" y="767080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 dividing an image into two or more regions based on intensity levels, allowing for easy analysis and extraction of desired features.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of selecting a threshold value to separate the pixels of an image into two classes: foreground and background. 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thresholding involves assigning a value of 0 or 1 to each pixel in the image, based on whether its intensity is above or below the selected threshold value.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ixels vs intensity">
            <a:extLst>
              <a:ext uri="{FF2B5EF4-FFF2-40B4-BE49-F238E27FC236}">
                <a16:creationId xmlns:a16="http://schemas.microsoft.com/office/drawing/2014/main" id="{1E7B8069-7559-715D-CB19-8E9AFF54B2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96" t="9800" r="25277" b="27161"/>
          <a:stretch/>
        </p:blipFill>
        <p:spPr bwMode="auto">
          <a:xfrm>
            <a:off x="3439160" y="2661920"/>
            <a:ext cx="56134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822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FD70D-383A-76F4-5A35-1EE82CF1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A2C7841-32B0-0154-F28E-C56061FA7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3.Thresholding</a:t>
            </a:r>
            <a:endParaRPr lang="en-US" altLang="en-GB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752AC-C00E-F02D-8EFF-625A831C6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" y="848360"/>
            <a:ext cx="8677910" cy="233172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2296A931-39C4-35C8-3ACD-9B627FE089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" t="7113"/>
          <a:stretch/>
        </p:blipFill>
        <p:spPr bwMode="auto">
          <a:xfrm>
            <a:off x="2021840" y="3220720"/>
            <a:ext cx="7678420" cy="363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188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E5853-80A1-79B9-9B25-778FA3CCE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F3DB141-694E-567C-B645-C1A2BECD5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3.Thresholding</a:t>
            </a:r>
            <a:endParaRPr lang="en-US" altLang="en-GB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9ACC4-F11A-8773-A68E-AE9FC5C1A96E}"/>
              </a:ext>
            </a:extLst>
          </p:cNvPr>
          <p:cNvSpPr txBox="1"/>
          <p:nvPr/>
        </p:nvSpPr>
        <p:spPr>
          <a:xfrm>
            <a:off x="0" y="957897"/>
            <a:ext cx="12192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Pros 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Simplicity: 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Effectiveness: 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Versatility: 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8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Sensitivity to noise: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choosing the threshold: 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for complex images:</a:t>
            </a:r>
          </a:p>
        </p:txBody>
      </p:sp>
    </p:spTree>
    <p:extLst>
      <p:ext uri="{BB962C8B-B14F-4D97-AF65-F5344CB8AC3E}">
        <p14:creationId xmlns:p14="http://schemas.microsoft.com/office/powerpoint/2010/main" val="2469044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25411-763C-6433-96EF-B38FB246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B9AADC-279B-B015-C138-026093EA2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Digital Negative</a:t>
            </a:r>
            <a:endParaRPr lang="en-US" altLang="en-GB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56C7B-DBE9-BD38-E05D-9B0B1AA292C7}"/>
              </a:ext>
            </a:extLst>
          </p:cNvPr>
          <p:cNvSpPr txBox="1"/>
          <p:nvPr/>
        </p:nvSpPr>
        <p:spPr>
          <a:xfrm>
            <a:off x="0" y="767080"/>
            <a:ext cx="11409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Reversing of Gray Level results into Digital Negative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negative of an image with intensity levels in the range of [0, L-1] is obtained by using the negative transformation given by the formula </a:t>
            </a:r>
            <a:r>
              <a:rPr lang="en-GB" b="1" i="1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S=L-1-R.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1" i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in Medical Images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5AE255F-200D-EAA6-73E9-FBBE5BA45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820" y="2339083"/>
            <a:ext cx="3581400" cy="340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Negative of RGB Image in MATLAB | Negative of Grayscale Image in MATLAB">
            <a:extLst>
              <a:ext uri="{FF2B5EF4-FFF2-40B4-BE49-F238E27FC236}">
                <a16:creationId xmlns:a16="http://schemas.microsoft.com/office/drawing/2014/main" id="{7D520896-5161-84B8-9C5C-7E6966CD14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50" t="25630" r="1583" b="22815"/>
          <a:stretch/>
        </p:blipFill>
        <p:spPr bwMode="auto">
          <a:xfrm>
            <a:off x="5704840" y="1967409"/>
            <a:ext cx="5994400" cy="353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247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1E053-9D74-CBCB-2312-D6A9BB67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1A2E3F2-59A6-8842-6505-EABD104C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Digital Negative</a:t>
            </a:r>
            <a:endParaRPr lang="en-US" altLang="en-GB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9BEA0A9-868D-26C0-E297-1BD69ADA43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8"/>
          <a:stretch/>
        </p:blipFill>
        <p:spPr bwMode="auto">
          <a:xfrm>
            <a:off x="488950" y="852616"/>
            <a:ext cx="2476500" cy="198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FA36B324-CBAB-4786-8D19-A4E0F9F3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738" y="1156176"/>
            <a:ext cx="152477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L= 2^8 = 256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s=L-1-r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s =255-r      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CFDEE1B2-F687-BA1D-BD0D-000F62CCE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412" y="4229089"/>
            <a:ext cx="2476500" cy="195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0D8F8E-D9C3-A8E6-780E-FA528CBA69F8}"/>
              </a:ext>
            </a:extLst>
          </p:cNvPr>
          <p:cNvSpPr txBox="1"/>
          <p:nvPr/>
        </p:nvSpPr>
        <p:spPr>
          <a:xfrm>
            <a:off x="3048000" y="62704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of the original image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9F455-44FC-5EC6-71DC-089D6256617F}"/>
              </a:ext>
            </a:extLst>
          </p:cNvPr>
          <p:cNvSpPr txBox="1"/>
          <p:nvPr/>
        </p:nvSpPr>
        <p:spPr>
          <a:xfrm>
            <a:off x="220558" y="3153418"/>
            <a:ext cx="1016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applying this transform to each pixel so to find the negative the transformed image is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r[0,0] grey level value is= 100 ; L=256 so,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s[0,0]=256–1-r[0,0],s[0,0]=255–100=155 so r[0,0]=155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F589B8-CB8C-6F5C-E8F6-9A8ABE3E067D}"/>
              </a:ext>
            </a:extLst>
          </p:cNvPr>
          <p:cNvSpPr txBox="1"/>
          <p:nvPr/>
        </p:nvSpPr>
        <p:spPr>
          <a:xfrm>
            <a:off x="72008" y="2698550"/>
            <a:ext cx="3153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image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446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4BCFF-2741-6EFC-20E9-66DBFC2BE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669BCD0-9A04-1C63-8B1C-82E4B9D02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Intensity/Gray level slicing</a:t>
            </a:r>
            <a:endParaRPr lang="en-US" altLang="en-GB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9220" name="Picture 4" descr="Image Processing Ch3: Intensity Transformation and spatial filters - ppt  video online download">
            <a:extLst>
              <a:ext uri="{FF2B5EF4-FFF2-40B4-BE49-F238E27FC236}">
                <a16:creationId xmlns:a16="http://schemas.microsoft.com/office/drawing/2014/main" id="{425999BC-FFB7-1C64-1940-382EBC0637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9" t="38371" r="3111" b="25036"/>
          <a:stretch/>
        </p:blipFill>
        <p:spPr bwMode="auto">
          <a:xfrm>
            <a:off x="1818640" y="1229360"/>
            <a:ext cx="8046720" cy="250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3BE9FC-6791-EC3F-3322-3C3190327282}"/>
              </a:ext>
            </a:extLst>
          </p:cNvPr>
          <p:cNvSpPr txBox="1"/>
          <p:nvPr/>
        </p:nvSpPr>
        <p:spPr>
          <a:xfrm>
            <a:off x="2428240" y="3911600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 without Background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F91C6-61DB-368E-2D45-E87A27ED1833}"/>
              </a:ext>
            </a:extLst>
          </p:cNvPr>
          <p:cNvSpPr txBox="1"/>
          <p:nvPr/>
        </p:nvSpPr>
        <p:spPr>
          <a:xfrm>
            <a:off x="6746240" y="383182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 with Background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6CE627-C37A-C0FA-0988-EF282479AA02}"/>
              </a:ext>
            </a:extLst>
          </p:cNvPr>
          <p:cNvSpPr txBox="1"/>
          <p:nvPr/>
        </p:nvSpPr>
        <p:spPr>
          <a:xfrm>
            <a:off x="142240" y="8135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Highlighting a specific range of Gray levels in an image.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EDF8A6-D768-7F35-5B5B-FCC8A41CF826}"/>
              </a:ext>
            </a:extLst>
          </p:cNvPr>
          <p:cNvGrpSpPr/>
          <p:nvPr/>
        </p:nvGrpSpPr>
        <p:grpSpPr>
          <a:xfrm>
            <a:off x="2153920" y="4373880"/>
            <a:ext cx="7711440" cy="1054100"/>
            <a:chOff x="2936240" y="4373880"/>
            <a:chExt cx="6703060" cy="10541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E1E31B0-6FC4-3DB6-8A52-62A1E1249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871"/>
            <a:stretch/>
          </p:blipFill>
          <p:spPr>
            <a:xfrm>
              <a:off x="3535680" y="4373880"/>
              <a:ext cx="6103620" cy="10541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6F87218-7725-BCC0-8EEB-F60A521FD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6399" r="34227"/>
            <a:stretch/>
          </p:blipFill>
          <p:spPr>
            <a:xfrm>
              <a:off x="2936240" y="4373880"/>
              <a:ext cx="670560" cy="1054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1360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EC881-650E-4C29-2419-946EFDCB0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88C5212-C759-2148-4C33-5C5AC7F5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Intensity/Gray level slicing</a:t>
            </a:r>
            <a:endParaRPr lang="en-US" altLang="en-GB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B64F44-6350-9385-28ED-3D8C60234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880" y="1294694"/>
            <a:ext cx="7772400" cy="386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77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CF57-5337-3AAE-FCC5-C2D20983E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7F4B7AC-C113-849D-5613-4D9434C2C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Bit Plane slicing</a:t>
            </a:r>
            <a:endParaRPr lang="en-US" altLang="en-GB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3E5D7F-8113-6A8B-ACD8-56B4C895F446}"/>
              </a:ext>
            </a:extLst>
          </p:cNvPr>
          <p:cNvSpPr txBox="1"/>
          <p:nvPr/>
        </p:nvSpPr>
        <p:spPr>
          <a:xfrm>
            <a:off x="0" y="767080"/>
            <a:ext cx="11612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GB" b="0" i="0" u="none" strike="noStrike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analyse the individual bits in the pixel values, where each pixel is represented by a binary number.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bit-plane slicing involves separating and displaying each bit of the pixel values as a separate image.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6434B4-6DCF-23A1-B32D-4C9AB033F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420" y="1874520"/>
            <a:ext cx="62230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61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62AD6-59C7-B9A2-3435-BEEE378D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036BEF4-ECE5-C058-2232-0232FC5FC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Bit Plane slicing</a:t>
            </a:r>
            <a:endParaRPr lang="en-US" altLang="en-GB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5BB7AB-2ECA-9706-9C73-6A26EC7AE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929640"/>
            <a:ext cx="2197100" cy="2755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A2ACE6-6BD7-1816-7249-3B3769D73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007" y="767080"/>
            <a:ext cx="6933088" cy="593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64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06A01-80B5-5A08-6006-C41D2059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FCC9411-037C-1DF7-6403-97CA3F5FF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Enhancement Using Arithmetic and Logic Operations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D87B6-7187-FE1F-4DC3-9FC565E0181C}"/>
              </a:ext>
            </a:extLst>
          </p:cNvPr>
          <p:cNvSpPr txBox="1"/>
          <p:nvPr/>
        </p:nvSpPr>
        <p:spPr>
          <a:xfrm>
            <a:off x="-3462" y="909935"/>
            <a:ext cx="1219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operations involve manipulating pixel values by performing mathematical operations on corresponding pixels of two images.</a:t>
            </a:r>
          </a:p>
          <a:p>
            <a:r>
              <a:rPr lang="en-GB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 are </a:t>
            </a:r>
          </a:p>
          <a:p>
            <a:r>
              <a:rPr lang="en-GB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</a:t>
            </a:r>
          </a:p>
          <a:p>
            <a:r>
              <a:rPr lang="en-GB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Subtraction</a:t>
            </a:r>
          </a:p>
          <a:p>
            <a:r>
              <a:rPr lang="en-GB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</a:t>
            </a:r>
          </a:p>
          <a:p>
            <a:r>
              <a:rPr lang="en-GB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720999-D4D5-CBBB-F848-427DCDB60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958" y="1900126"/>
            <a:ext cx="6549159" cy="20088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5536FC-95DC-66F7-DDD1-CED893033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487" y="4337452"/>
            <a:ext cx="7150100" cy="1930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D6521A-D3BC-4934-634C-B8C4D33F039D}"/>
              </a:ext>
            </a:extLst>
          </p:cNvPr>
          <p:cNvSpPr txBox="1"/>
          <p:nvPr/>
        </p:nvSpPr>
        <p:spPr>
          <a:xfrm>
            <a:off x="3019426" y="3814232"/>
            <a:ext cx="61462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59D544-9482-B72B-059C-1EC55A27D0F6}"/>
              </a:ext>
            </a:extLst>
          </p:cNvPr>
          <p:cNvSpPr txBox="1"/>
          <p:nvPr/>
        </p:nvSpPr>
        <p:spPr>
          <a:xfrm>
            <a:off x="3019426" y="6102975"/>
            <a:ext cx="61462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Subtraction</a:t>
            </a:r>
            <a:endParaRPr lang="en-US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714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410D-7AA6-4C63-E956-209878908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2425B35-5C39-AA01-866D-1F14E63D5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Enhancement Using Arithmetic and Logic Operations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ADB880-9C8D-74B6-FF00-50E674E6F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487" y="1126661"/>
            <a:ext cx="7150100" cy="1930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657AFE-EFED-1681-50F0-B5EDCEBCEF18}"/>
              </a:ext>
            </a:extLst>
          </p:cNvPr>
          <p:cNvSpPr txBox="1"/>
          <p:nvPr/>
        </p:nvSpPr>
        <p:spPr>
          <a:xfrm>
            <a:off x="1" y="2937719"/>
            <a:ext cx="2057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Subtraction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5E6534-7B32-5E62-06CE-5F73BD301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982" y="3341597"/>
            <a:ext cx="4117110" cy="351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35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BFB42-1773-A3FF-9B43-04A170958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488D94E-4E3D-D89C-542B-B5C3AC18F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Enhancement Using Arithmetic and Logic Operations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A75169-BDB3-FB88-7E47-153F49094B7D}"/>
              </a:ext>
            </a:extLst>
          </p:cNvPr>
          <p:cNvSpPr txBox="1"/>
          <p:nvPr/>
        </p:nvSpPr>
        <p:spPr>
          <a:xfrm>
            <a:off x="0" y="767080"/>
            <a:ext cx="2404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6D3E0A-0720-80EF-E29F-90F4CE881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864" y="767080"/>
            <a:ext cx="6832600" cy="3022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E0ACD0-EB1E-EA9D-C37D-E4EBE7603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914" y="4020185"/>
            <a:ext cx="6032500" cy="2705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0D30AD-48F1-458A-F386-58A4A3E880D5}"/>
              </a:ext>
            </a:extLst>
          </p:cNvPr>
          <p:cNvSpPr txBox="1"/>
          <p:nvPr/>
        </p:nvSpPr>
        <p:spPr>
          <a:xfrm>
            <a:off x="0" y="3665057"/>
            <a:ext cx="1591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488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6B85B-C140-E981-AD4D-5DDE68DF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FFA4CD4-3430-CC1B-7875-26451FF42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Enhancement Using Logic Operations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55BE69-2F78-4E09-DBB6-904A92E8F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917" y="767080"/>
            <a:ext cx="6640945" cy="569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829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FAEDF-FF81-B807-FBDC-6CED9FF38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3ABFD93-490F-B64C-E9A0-EC311E8E4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Basics of Spatial Filters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39778-706B-0F64-29E6-83A7EF350973}"/>
              </a:ext>
            </a:extLst>
          </p:cNvPr>
          <p:cNvSpPr txBox="1"/>
          <p:nvPr/>
        </p:nvSpPr>
        <p:spPr>
          <a:xfrm>
            <a:off x="0" y="767080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Spatial filters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are techniques in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that modify or enhance an image by manipulating the pixel values based on the values of neighboring pixels.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"spatial" part refers to the fact that the filter works over a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neighborhood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each pixel, not just the pixel itself.</a:t>
            </a:r>
          </a:p>
          <a:p>
            <a:pPr marL="285750" indent="-285750" algn="just">
              <a:buFont typeface="Wingdings" pitchFamily="2" charset="2"/>
              <a:buChar char="ü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They operate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directly on the pixels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the image.</a:t>
            </a:r>
          </a:p>
          <a:p>
            <a:pPr marL="285750" indent="-285750" algn="just">
              <a:buFont typeface="Wingdings" pitchFamily="2" charset="2"/>
              <a:buChar char="ü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Often used for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smoothing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sharpening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AE04A-EAAD-E0D5-0536-26B479AF42D1}"/>
              </a:ext>
            </a:extLst>
          </p:cNvPr>
          <p:cNvSpPr txBox="1"/>
          <p:nvPr/>
        </p:nvSpPr>
        <p:spPr>
          <a:xfrm>
            <a:off x="0" y="3002202"/>
            <a:ext cx="12192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pPr algn="just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(also called a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is moved across the image pixel by pixel: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each pixel, the filter computes a new value based on the original pixel and its neighbors.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kernel is typically a small matrix (e.g., 3×3, 5×5).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3C895E-06AE-F4F3-8A26-85B77C3B0C0F}"/>
              </a:ext>
            </a:extLst>
          </p:cNvPr>
          <p:cNvSpPr txBox="1"/>
          <p:nvPr/>
        </p:nvSpPr>
        <p:spPr>
          <a:xfrm>
            <a:off x="4309630" y="4529437"/>
            <a:ext cx="9585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1 1 1 |</a:t>
            </a:r>
          </a:p>
          <a:p>
            <a:r>
              <a:rPr lang="en-US" dirty="0"/>
              <a:t>| 1 0 1 |</a:t>
            </a:r>
          </a:p>
          <a:p>
            <a:r>
              <a:rPr lang="en-US" dirty="0"/>
              <a:t>| 1 5 1 |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5A610-9236-1A73-7C6C-74DD6D1F45D3}"/>
              </a:ext>
            </a:extLst>
          </p:cNvPr>
          <p:cNvSpPr txBox="1"/>
          <p:nvPr/>
        </p:nvSpPr>
        <p:spPr>
          <a:xfrm>
            <a:off x="5579918" y="4862945"/>
            <a:ext cx="1172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3x3 Kernel</a:t>
            </a:r>
          </a:p>
        </p:txBody>
      </p:sp>
    </p:spTree>
    <p:extLst>
      <p:ext uri="{BB962C8B-B14F-4D97-AF65-F5344CB8AC3E}">
        <p14:creationId xmlns:p14="http://schemas.microsoft.com/office/powerpoint/2010/main" val="1575288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52ECC-1DD9-7FAB-114B-0BD407096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D95ED02-DD48-66CD-4F04-8F5FD0B5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Basics of Spatial Filters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99458-CB9A-8F94-FA71-7571C1F119CB}"/>
              </a:ext>
            </a:extLst>
          </p:cNvPr>
          <p:cNvSpPr txBox="1"/>
          <p:nvPr/>
        </p:nvSpPr>
        <p:spPr>
          <a:xfrm>
            <a:off x="0" y="590435"/>
            <a:ext cx="1175731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Spatial Filters</a:t>
            </a:r>
          </a:p>
          <a:p>
            <a:pPr algn="just">
              <a:buNone/>
            </a:pP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main types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Spatial Filters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a linear combination of the input pixel values.</a:t>
            </a:r>
          </a:p>
          <a:p>
            <a:pPr lvl="1" algn="just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Smoothing filters (low-pass filters)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Reduce noise and blur the image.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Sharpening filters (high-pass filters)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Enhance edges.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Typical operations: 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Averaging, Gaussian smoothing, Laplacian 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sharpening.</a:t>
            </a:r>
          </a:p>
          <a:p>
            <a:pPr lvl="2" algn="just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Non-linear Spatial Filters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a non-linear function of the input pixel values.</a:t>
            </a:r>
          </a:p>
          <a:p>
            <a:pPr lvl="1" algn="just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filter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Replaces a pixel with the median of its neighbors.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for removing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salt-and-pepper noise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without blurring edges.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D7C40-7829-9446-72EA-994553F12B70}"/>
              </a:ext>
            </a:extLst>
          </p:cNvPr>
          <p:cNvSpPr txBox="1"/>
          <p:nvPr/>
        </p:nvSpPr>
        <p:spPr>
          <a:xfrm>
            <a:off x="0" y="5637036"/>
            <a:ext cx="109243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help in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images (denoising, blurring)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assist in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detection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critical in fields like computer vision, robotics, medical imaging, etc.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allow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better human interpretation or machine analysis.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2A7E5A5-3CAE-1406-9FC4-9867C98BB9E9}"/>
              </a:ext>
            </a:extLst>
          </p:cNvPr>
          <p:cNvSpPr txBox="1">
            <a:spLocks/>
          </p:cNvSpPr>
          <p:nvPr/>
        </p:nvSpPr>
        <p:spPr>
          <a:xfrm>
            <a:off x="83127" y="5002671"/>
            <a:ext cx="11471564" cy="634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Importances Of Spatial Filters</a:t>
            </a:r>
          </a:p>
        </p:txBody>
      </p:sp>
    </p:spTree>
    <p:extLst>
      <p:ext uri="{BB962C8B-B14F-4D97-AF65-F5344CB8AC3E}">
        <p14:creationId xmlns:p14="http://schemas.microsoft.com/office/powerpoint/2010/main" val="2439665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06A01-80B5-5A08-6006-C41D2059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FCC9411-037C-1DF7-6403-97CA3F5FF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Histogram Processing and Equalization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3BA3E3-50EE-9FFD-DDB3-62D366F288EC}"/>
              </a:ext>
            </a:extLst>
          </p:cNvPr>
          <p:cNvSpPr txBox="1"/>
          <p:nvPr/>
        </p:nvSpPr>
        <p:spPr>
          <a:xfrm>
            <a:off x="220662" y="855561"/>
            <a:ext cx="10599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Graphical Representation of an image 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number of pixel per Gray level.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instein">
            <a:extLst>
              <a:ext uri="{FF2B5EF4-FFF2-40B4-BE49-F238E27FC236}">
                <a16:creationId xmlns:a16="http://schemas.microsoft.com/office/drawing/2014/main" id="{B0BC5F93-D80C-FB76-FCDC-54BD8A847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82" y="1731987"/>
            <a:ext cx="2362200" cy="231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stogram3">
            <a:extLst>
              <a:ext uri="{FF2B5EF4-FFF2-40B4-BE49-F238E27FC236}">
                <a16:creationId xmlns:a16="http://schemas.microsoft.com/office/drawing/2014/main" id="{C89D0FDB-6575-8788-5945-57A621387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1271855"/>
            <a:ext cx="6121400" cy="478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381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92C82-0637-9926-90DC-EBD75CA89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2F3F203-C209-6C49-05CA-F9D817BE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Histogram Processing and Equalization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295064-EC4C-DCEA-E46E-D5E1C4FF6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40" y="2229172"/>
            <a:ext cx="7772400" cy="36534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29AE78-42B1-6038-3021-A8BE2941560A}"/>
              </a:ext>
            </a:extLst>
          </p:cNvPr>
          <p:cNvSpPr txBox="1"/>
          <p:nvPr/>
        </p:nvSpPr>
        <p:spPr>
          <a:xfrm>
            <a:off x="220662" y="855561"/>
            <a:ext cx="10599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Graphical Representation of an image 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number of pixel per Gray level.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443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3515-5CD1-9EC5-9488-896C46E09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41B1AA0-378F-3138-7BB2-BD46BCE97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Histogram Processing and Equalization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CA03BA-E215-325C-769A-27B0A90F6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30" y="1345880"/>
            <a:ext cx="9240520" cy="439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17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28B24-2FC6-7F44-598E-109FA2A80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BF45C35-922E-490E-B5A3-FCCE92F1F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Histogram Processing and Equalization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D34D7-81C4-A1A8-E8D9-CF1374B91236}"/>
              </a:ext>
            </a:extLst>
          </p:cNvPr>
          <p:cNvSpPr txBox="1"/>
          <p:nvPr/>
        </p:nvSpPr>
        <p:spPr>
          <a:xfrm>
            <a:off x="0" y="843677"/>
            <a:ext cx="118262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1D1D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Histograms</a:t>
            </a:r>
          </a:p>
          <a:p>
            <a:pPr algn="just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digital image processing, histograms are used for simple calculations in software.</a:t>
            </a:r>
          </a:p>
          <a:p>
            <a:pPr algn="just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analyse an image</a:t>
            </a:r>
          </a:p>
          <a:p>
            <a:pPr algn="just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brightness of the image can be adjusted by having the details of its histogram.</a:t>
            </a:r>
          </a:p>
          <a:p>
            <a:pPr algn="just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contrast of the image can be adjusted according to the need by having details of the x-axis of a histogram.</a:t>
            </a:r>
          </a:p>
          <a:p>
            <a:pPr algn="just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image equalization.</a:t>
            </a:r>
          </a:p>
          <a:p>
            <a:pPr algn="just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Histograms are used in thresholding as it improves the appearance of the image.</a:t>
            </a:r>
          </a:p>
        </p:txBody>
      </p:sp>
    </p:spTree>
    <p:extLst>
      <p:ext uri="{BB962C8B-B14F-4D97-AF65-F5344CB8AC3E}">
        <p14:creationId xmlns:p14="http://schemas.microsoft.com/office/powerpoint/2010/main" val="1000305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97F19-E8FC-AB2B-D644-A727723F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9D4C3D6-BAB3-5585-86C7-75251B9DD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Techniques in Histogram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2D521-086A-E8F9-2270-9A558BCD3F6F}"/>
              </a:ext>
            </a:extLst>
          </p:cNvPr>
          <p:cNvSpPr txBox="1"/>
          <p:nvPr/>
        </p:nvSpPr>
        <p:spPr>
          <a:xfrm>
            <a:off x="220662" y="968494"/>
            <a:ext cx="4493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Histogram Stretching/Linear Stretching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6CE7FD-ECC4-8564-E7C7-E6C6477B5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462465"/>
            <a:ext cx="7772400" cy="482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3251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65F73-D140-C1F7-6748-5473B02C6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4CC3812-F8C5-214E-2D8F-B804FE511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Techniques in Histogram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062799-0028-6A68-61B1-8A40D6B75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879" y="1833267"/>
            <a:ext cx="7772400" cy="1356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BAE74A-836D-530B-30A0-DAEA52257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415546"/>
            <a:ext cx="1838960" cy="24739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CF8EB3-F5A6-ED5A-20AF-BCC4228C99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4520"/>
          <a:stretch/>
        </p:blipFill>
        <p:spPr>
          <a:xfrm>
            <a:off x="3103880" y="4469825"/>
            <a:ext cx="7772400" cy="12299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B31E6E-6F90-C18E-54E6-865F1E1733FC}"/>
              </a:ext>
            </a:extLst>
          </p:cNvPr>
          <p:cNvSpPr txBox="1"/>
          <p:nvPr/>
        </p:nvSpPr>
        <p:spPr>
          <a:xfrm>
            <a:off x="220662" y="968494"/>
            <a:ext cx="4493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Histogram Stretching/Linear Stretching</a:t>
            </a:r>
          </a:p>
        </p:txBody>
      </p:sp>
    </p:spTree>
    <p:extLst>
      <p:ext uri="{BB962C8B-B14F-4D97-AF65-F5344CB8AC3E}">
        <p14:creationId xmlns:p14="http://schemas.microsoft.com/office/powerpoint/2010/main" val="25294228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DB3F6-D56C-AACF-0CBD-9DC554CFD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761F2DA-992A-B4EE-F518-4D6283C9D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Techniques in Histogram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C28C1-AD46-4C7D-6AA0-8C2C5470B77A}"/>
              </a:ext>
            </a:extLst>
          </p:cNvPr>
          <p:cNvSpPr txBox="1"/>
          <p:nvPr/>
        </p:nvSpPr>
        <p:spPr>
          <a:xfrm>
            <a:off x="220662" y="968494"/>
            <a:ext cx="4493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Histogram Stretching/Linear Stretching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7797DD-A6D0-1FD8-2848-8676B8976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06550"/>
            <a:ext cx="46736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07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F71C1-974D-E722-C65D-5122E97D4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C131837-1198-0A49-5F84-82FE58818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Techniques in Histogram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E8792D-3B3A-298E-7411-DD7BB9C0742B}"/>
              </a:ext>
            </a:extLst>
          </p:cNvPr>
          <p:cNvSpPr txBox="1"/>
          <p:nvPr/>
        </p:nvSpPr>
        <p:spPr>
          <a:xfrm>
            <a:off x="220662" y="968494"/>
            <a:ext cx="4259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Histogram Equalization/Linearization</a:t>
            </a:r>
          </a:p>
        </p:txBody>
      </p:sp>
      <p:pic>
        <p:nvPicPr>
          <p:cNvPr id="1026" name="Picture 2" descr="GitHub - gungorhafize/histogram-equalization: Digital Image Processing  example which is equalizing histogram of the image without using histeq  function in matlab.">
            <a:extLst>
              <a:ext uri="{FF2B5EF4-FFF2-40B4-BE49-F238E27FC236}">
                <a16:creationId xmlns:a16="http://schemas.microsoft.com/office/drawing/2014/main" id="{00A49FA5-3918-92CE-680A-4FCA75DA96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17" b="1936"/>
          <a:stretch/>
        </p:blipFill>
        <p:spPr bwMode="auto">
          <a:xfrm>
            <a:off x="2336800" y="1337826"/>
            <a:ext cx="7551738" cy="5387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758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030FF-9F29-81E8-1ADC-B53AA1681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EB8516-59DC-0D0B-A409-60027401E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Techniques in Histogram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CE9330-8936-241E-8352-1CB06DFAF381}"/>
              </a:ext>
            </a:extLst>
          </p:cNvPr>
          <p:cNvSpPr txBox="1"/>
          <p:nvPr/>
        </p:nvSpPr>
        <p:spPr>
          <a:xfrm>
            <a:off x="220662" y="968494"/>
            <a:ext cx="4259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Histogram Equalization/Linearization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352F8F-736E-FD3B-91EB-8672865DA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37826"/>
            <a:ext cx="7772400" cy="253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4844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4A727-566C-42A8-AE66-5DC0CB8D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FF8CDDA-DE69-AFA9-D25B-1A35F63A3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Techniques in Histogram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7721C2-53B5-3F4C-4042-AA4C439F6CC3}"/>
              </a:ext>
            </a:extLst>
          </p:cNvPr>
          <p:cNvSpPr txBox="1"/>
          <p:nvPr/>
        </p:nvSpPr>
        <p:spPr>
          <a:xfrm>
            <a:off x="220662" y="968494"/>
            <a:ext cx="4259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Histogram Equalization/Linearization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EDAF0-EBA7-56BA-54B5-A04BF1811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760" y="1675026"/>
            <a:ext cx="7772400" cy="479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071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E7D6C-7B7D-DA80-216B-35FDBED94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B9BDEED-A50B-B11A-45D1-6DAA2DAC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Techniques in Histogram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14125-76CA-087C-5C0B-E6AE398F9904}"/>
              </a:ext>
            </a:extLst>
          </p:cNvPr>
          <p:cNvSpPr txBox="1"/>
          <p:nvPr/>
        </p:nvSpPr>
        <p:spPr>
          <a:xfrm>
            <a:off x="220662" y="968494"/>
            <a:ext cx="4259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Histogram Equalization/Linearization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0F82F3-2938-808E-8C88-6AC619E6F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0" y="1380580"/>
            <a:ext cx="4389120" cy="30975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B13411-E258-1624-7235-59E7EDBAF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560" y="4785360"/>
            <a:ext cx="7772400" cy="173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0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54C9-C410-81BC-D2B5-613ABC283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BEDE62-7B54-4445-1759-3100A584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Techniques in Histogram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F5690F-9F24-07F4-1262-F1E232477004}"/>
              </a:ext>
            </a:extLst>
          </p:cNvPr>
          <p:cNvSpPr txBox="1"/>
          <p:nvPr/>
        </p:nvSpPr>
        <p:spPr>
          <a:xfrm>
            <a:off x="220662" y="968494"/>
            <a:ext cx="4259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Histogram Equalization/Linearization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E1904E-B2FF-27B9-1EA3-67530DCDF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1753532"/>
            <a:ext cx="8310880" cy="413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35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A399E-5A73-4C69-3DBA-3F5548B22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9C20DDE-469B-24E4-CF6E-DB4CA23EA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Techniques in Histogram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62620-E497-6CB9-6EFD-8CF1E1C3F8CC}"/>
              </a:ext>
            </a:extLst>
          </p:cNvPr>
          <p:cNvSpPr txBox="1"/>
          <p:nvPr/>
        </p:nvSpPr>
        <p:spPr>
          <a:xfrm>
            <a:off x="220662" y="968494"/>
            <a:ext cx="4259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Histogram Equalization/Linearization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6CF16C-4B18-E2CE-A659-E60A9AA3A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240" y="2416589"/>
            <a:ext cx="8097520" cy="111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770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89FD7-BED5-3201-2804-83A1C5347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3182C0F-162C-9C7F-17B8-6065BEF78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Techniques in Histogram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A927ED-C6DF-198C-EB84-D1AF3ED5F57C}"/>
              </a:ext>
            </a:extLst>
          </p:cNvPr>
          <p:cNvSpPr txBox="1"/>
          <p:nvPr/>
        </p:nvSpPr>
        <p:spPr>
          <a:xfrm>
            <a:off x="220662" y="968494"/>
            <a:ext cx="4259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Histogram Equalization/Linearization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4182EF-F88D-0FFF-82CD-43D3A9DB6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460" y="1949613"/>
            <a:ext cx="9149080" cy="295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7852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29D36-CF91-D20D-6E10-EAF3247EA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B20EC3-60BE-5E57-A0D8-DEC8D1D4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Techniques in Histogram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EB6A3-02A7-60A6-E09F-24D3F42E9991}"/>
              </a:ext>
            </a:extLst>
          </p:cNvPr>
          <p:cNvSpPr txBox="1"/>
          <p:nvPr/>
        </p:nvSpPr>
        <p:spPr>
          <a:xfrm>
            <a:off x="220662" y="968494"/>
            <a:ext cx="4259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Histogram Specification/Matching</a:t>
            </a:r>
          </a:p>
        </p:txBody>
      </p:sp>
      <p:pic>
        <p:nvPicPr>
          <p:cNvPr id="1026" name="Picture 2" descr="Improving Images Using Equalisation and Histogram Matching with Python | by  Edward Roe | Medium">
            <a:extLst>
              <a:ext uri="{FF2B5EF4-FFF2-40B4-BE49-F238E27FC236}">
                <a16:creationId xmlns:a16="http://schemas.microsoft.com/office/drawing/2014/main" id="{6A34BA0B-9374-4107-E316-AF151AF6A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5285"/>
            <a:ext cx="12192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8067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CAAD-3425-3237-5D4E-BA84FEB8A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0037C74-E509-7D4F-1AA1-AFE963FAA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Techniques in Histogram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9929B-01CA-814C-1891-B29948E1410F}"/>
              </a:ext>
            </a:extLst>
          </p:cNvPr>
          <p:cNvSpPr txBox="1"/>
          <p:nvPr/>
        </p:nvSpPr>
        <p:spPr>
          <a:xfrm>
            <a:off x="220662" y="968494"/>
            <a:ext cx="4259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Histogram Specification/Matching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637256-C845-376E-1A25-D5F4502B2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1337826"/>
            <a:ext cx="7772400" cy="504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0876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FDFCC-B11B-606E-5B4D-58893252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2760FFD-F984-C9E1-F309-91F3EC2BC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Techniques in Histogram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5FE04-FD3C-AC09-E32B-97CD3219B6C8}"/>
              </a:ext>
            </a:extLst>
          </p:cNvPr>
          <p:cNvSpPr txBox="1"/>
          <p:nvPr/>
        </p:nvSpPr>
        <p:spPr>
          <a:xfrm>
            <a:off x="220662" y="968494"/>
            <a:ext cx="4259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Histogram Specification/Matching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5CAB75-F6AB-6A91-6C3C-C482526FD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66288"/>
            <a:ext cx="7772400" cy="502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482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AA72F-0FCA-19B3-379D-61024D8C5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2A0C772-0A0B-B584-A303-3B4814696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30" y="132715"/>
            <a:ext cx="94608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Techniques in Histogram</a:t>
            </a:r>
            <a:endParaRPr lang="en-US" altLang="en-GB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3C1CE-A17B-18FE-2B30-E03FF104303A}"/>
              </a:ext>
            </a:extLst>
          </p:cNvPr>
          <p:cNvSpPr txBox="1"/>
          <p:nvPr/>
        </p:nvSpPr>
        <p:spPr>
          <a:xfrm>
            <a:off x="220662" y="968494"/>
            <a:ext cx="4259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Histogram Specification/Matching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919888-BA95-665F-1393-80D4EA40F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39240"/>
            <a:ext cx="7772400" cy="505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698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6004D-C1F9-ADB9-AB18-9E266286D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33C6456-F818-A7E9-5D16-B4B4784A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Smoothening and Sharpening Spatial Filters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6E341-06C0-2ADA-B536-15E4C5D6C528}"/>
              </a:ext>
            </a:extLst>
          </p:cNvPr>
          <p:cNvSpPr txBox="1"/>
          <p:nvPr/>
        </p:nvSpPr>
        <p:spPr>
          <a:xfrm>
            <a:off x="0" y="642389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smoothing filter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(also called a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low-pass filter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used in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noise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blur the image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fine detail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replaces each pixel's value with some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of its neighbors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make transitions between pixel values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7A2CA2-2167-ADCF-A4F2-220FC607EB60}"/>
              </a:ext>
            </a:extLst>
          </p:cNvPr>
          <p:cNvSpPr txBox="1"/>
          <p:nvPr/>
        </p:nvSpPr>
        <p:spPr>
          <a:xfrm>
            <a:off x="0" y="1565719"/>
            <a:ext cx="12192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Average (Mean) Filtering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Replace each pixel value with the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the surrounding pixels (including itself).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 Example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Kernel=19[111111111]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Simple blurring. Reduces random noise, but edges become less sharp.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Weighted Average Filtering (Gaussian Smoothing)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Give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weight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the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pixel and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weight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farther neighbors.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 Example (Gaussian Filter)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Kernel=</a:t>
            </a:r>
            <a:r>
              <a:rPr lang="en-GB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116[121242121]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Smooths while preserving more structure. </a:t>
            </a:r>
          </a:p>
          <a:p>
            <a:pPr algn="l"/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Median Filtering (non-linear smoothing)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Replace each pixel with the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value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its neighbors.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Take the 3×3 neighborhood.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Sort the pixel values.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Pick the median.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Removes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salt-and-pepper noise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(random black and white dots) very effectively</a:t>
            </a:r>
          </a:p>
        </p:txBody>
      </p:sp>
    </p:spTree>
    <p:extLst>
      <p:ext uri="{BB962C8B-B14F-4D97-AF65-F5344CB8AC3E}">
        <p14:creationId xmlns:p14="http://schemas.microsoft.com/office/powerpoint/2010/main" val="14161046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9CDE5-4CD8-F4B5-0853-908F9951B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3D9E4DD-0F93-6601-81FA-E2118A2A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Smoothening and Sharpening Spatial Filters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875866-3BBA-BDEB-9792-53EA551A81F3}"/>
              </a:ext>
            </a:extLst>
          </p:cNvPr>
          <p:cNvSpPr txBox="1"/>
          <p:nvPr/>
        </p:nvSpPr>
        <p:spPr>
          <a:xfrm>
            <a:off x="-1" y="767080"/>
            <a:ext cx="1153390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Low-Pass Filter (LPF)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Purpose: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Blurs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image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Removes high-frequency components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(sharp edges, noise)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Preserves low-frequency components (smooth transitions)</a:t>
            </a:r>
          </a:p>
          <a:p>
            <a:pPr algn="l">
              <a:buNone/>
            </a:pPr>
            <a:endParaRPr lang="en-GB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Smoothing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Background enhancement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065CE-9E2E-7E8E-0A9E-AA980DC61F5B}"/>
              </a:ext>
            </a:extLst>
          </p:cNvPr>
          <p:cNvSpPr txBox="1"/>
          <p:nvPr/>
        </p:nvSpPr>
        <p:spPr>
          <a:xfrm>
            <a:off x="0" y="3862963"/>
            <a:ext cx="1042208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High-Pass Filter (HPF)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edges and fine details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Removes low-frequency components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(background, smooth areas)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Passes high-frequency components (sharp transitions)</a:t>
            </a:r>
          </a:p>
          <a:p>
            <a:pPr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Sharpening</a:t>
            </a:r>
          </a:p>
        </p:txBody>
      </p:sp>
    </p:spTree>
    <p:extLst>
      <p:ext uri="{BB962C8B-B14F-4D97-AF65-F5344CB8AC3E}">
        <p14:creationId xmlns:p14="http://schemas.microsoft.com/office/powerpoint/2010/main" val="31862585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4DA3A-5979-C5FE-8C9E-A9A2A58E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D95BB56-012F-FCA8-BB22-3A287C5FF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Smoothening and Sharpening Spatial Filters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9CAC7-49C3-CE69-783B-8D3FBCD4AAB6}"/>
              </a:ext>
            </a:extLst>
          </p:cNvPr>
          <p:cNvSpPr txBox="1"/>
          <p:nvPr/>
        </p:nvSpPr>
        <p:spPr>
          <a:xfrm>
            <a:off x="0" y="878130"/>
            <a:ext cx="1219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3.Band-Pass Filter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and-pass filter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used to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preserve features (frequencies) within a certain range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while suppressing both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low-frequency (smooth/slow changes)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high-frequency (sharp noise)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components.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Removes low-frequency components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Background, smooth illumination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Removes high-frequency components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Noise, fine texture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Keeps mid-frequency details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Edges, shapes, patterns</a:t>
            </a:r>
          </a:p>
        </p:txBody>
      </p:sp>
    </p:spTree>
    <p:extLst>
      <p:ext uri="{BB962C8B-B14F-4D97-AF65-F5344CB8AC3E}">
        <p14:creationId xmlns:p14="http://schemas.microsoft.com/office/powerpoint/2010/main" val="38775789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54B75-95B5-3AB0-F854-16ACFAE61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E454D3-9305-82A9-38EC-3D79A94B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Smoothening and Sharpening Spatial Filters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FB7CBDAB-081A-21A6-651B-4EF876E58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99" y="1070261"/>
            <a:ext cx="4350591" cy="420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veraging-filter-image-processing">
            <a:extLst>
              <a:ext uri="{FF2B5EF4-FFF2-40B4-BE49-F238E27FC236}">
                <a16:creationId xmlns:a16="http://schemas.microsoft.com/office/drawing/2014/main" id="{601ADA99-37B7-65A0-3C03-D23D4A2D0A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3" t="16667" r="6418" b="9260"/>
          <a:stretch>
            <a:fillRect/>
          </a:stretch>
        </p:blipFill>
        <p:spPr bwMode="auto">
          <a:xfrm>
            <a:off x="6421582" y="1200147"/>
            <a:ext cx="4091829" cy="3947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B8C56F-985D-CC2B-18EE-52EC67924550}"/>
              </a:ext>
            </a:extLst>
          </p:cNvPr>
          <p:cNvSpPr txBox="1"/>
          <p:nvPr/>
        </p:nvSpPr>
        <p:spPr>
          <a:xfrm>
            <a:off x="1797627" y="5704609"/>
            <a:ext cx="154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007996-8038-BA99-9164-D19FB23A4108}"/>
              </a:ext>
            </a:extLst>
          </p:cNvPr>
          <p:cNvSpPr txBox="1"/>
          <p:nvPr/>
        </p:nvSpPr>
        <p:spPr>
          <a:xfrm>
            <a:off x="6955420" y="5473187"/>
            <a:ext cx="3787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After Applying Average Filtering</a:t>
            </a:r>
          </a:p>
        </p:txBody>
      </p:sp>
    </p:spTree>
    <p:extLst>
      <p:ext uri="{BB962C8B-B14F-4D97-AF65-F5344CB8AC3E}">
        <p14:creationId xmlns:p14="http://schemas.microsoft.com/office/powerpoint/2010/main" val="15193829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3DFD-67FB-326B-8EF0-EB821ACBD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423E591-2D8E-E5A2-953F-2E4C2FA47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Smoothening and Sharpening Spatial Filters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C0DABC39-5245-730C-6EBE-E458B53EB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99" y="1070261"/>
            <a:ext cx="4350591" cy="420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median-filter-image-processing">
            <a:extLst>
              <a:ext uri="{FF2B5EF4-FFF2-40B4-BE49-F238E27FC236}">
                <a16:creationId xmlns:a16="http://schemas.microsoft.com/office/drawing/2014/main" id="{DAB59317-9799-A02E-843E-AC4310C519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7" t="15606" r="6786" b="9545"/>
          <a:stretch>
            <a:fillRect/>
          </a:stretch>
        </p:blipFill>
        <p:spPr bwMode="auto">
          <a:xfrm>
            <a:off x="6567056" y="1284209"/>
            <a:ext cx="3886199" cy="3786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D2D866-D811-8108-755A-87A70512C478}"/>
              </a:ext>
            </a:extLst>
          </p:cNvPr>
          <p:cNvSpPr txBox="1"/>
          <p:nvPr/>
        </p:nvSpPr>
        <p:spPr>
          <a:xfrm>
            <a:off x="6955420" y="5473187"/>
            <a:ext cx="3747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After Applying Median Filtering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C20EB-3252-81D4-2B40-B5ABD38D47A2}"/>
              </a:ext>
            </a:extLst>
          </p:cNvPr>
          <p:cNvSpPr txBox="1"/>
          <p:nvPr/>
        </p:nvSpPr>
        <p:spPr>
          <a:xfrm>
            <a:off x="1488951" y="5459974"/>
            <a:ext cx="154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</p:spTree>
    <p:extLst>
      <p:ext uri="{BB962C8B-B14F-4D97-AF65-F5344CB8AC3E}">
        <p14:creationId xmlns:p14="http://schemas.microsoft.com/office/powerpoint/2010/main" val="36047435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414D3-95E7-B5E4-0B6A-F05758F37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91F1886-ECB7-6BC2-A04C-58058350C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Smoothening and Sharpening Spatial Filters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A64BC7-AE5F-F6EF-5A19-4B85CD4CB87F}"/>
              </a:ext>
            </a:extLst>
          </p:cNvPr>
          <p:cNvSpPr txBox="1"/>
          <p:nvPr/>
        </p:nvSpPr>
        <p:spPr>
          <a:xfrm>
            <a:off x="6955420" y="5473187"/>
            <a:ext cx="3868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After Applying Low Pass Filtering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BCD80-0CE8-C90A-2133-E5B2815094A6}"/>
              </a:ext>
            </a:extLst>
          </p:cNvPr>
          <p:cNvSpPr txBox="1"/>
          <p:nvPr/>
        </p:nvSpPr>
        <p:spPr>
          <a:xfrm>
            <a:off x="1488951" y="5459974"/>
            <a:ext cx="154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0C44677-1D38-34D2-DF80-1ECB4800C9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1" t="20890" r="52299" b="10057"/>
          <a:stretch>
            <a:fillRect/>
          </a:stretch>
        </p:blipFill>
        <p:spPr bwMode="auto">
          <a:xfrm>
            <a:off x="737755" y="1028694"/>
            <a:ext cx="3716901" cy="3709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E6653898-7A5C-955D-E926-07C58F3095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65" t="17260" r="4688" b="10100"/>
          <a:stretch>
            <a:fillRect/>
          </a:stretch>
        </p:blipFill>
        <p:spPr bwMode="auto">
          <a:xfrm>
            <a:off x="6560126" y="1028694"/>
            <a:ext cx="3906983" cy="386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975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74BC8-D957-C45A-4948-78C111008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E05372A-B976-F6AD-A3BB-A9440546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Smoothening and Sharpening Spatial Filters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FE9567-A989-491A-9B14-94B625ACA707}"/>
              </a:ext>
            </a:extLst>
          </p:cNvPr>
          <p:cNvSpPr txBox="1"/>
          <p:nvPr/>
        </p:nvSpPr>
        <p:spPr>
          <a:xfrm>
            <a:off x="6955420" y="5473187"/>
            <a:ext cx="3912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After Applying High Pass Filtering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B1AAC-34F0-D059-08E9-BBC0520320AD}"/>
              </a:ext>
            </a:extLst>
          </p:cNvPr>
          <p:cNvSpPr txBox="1"/>
          <p:nvPr/>
        </p:nvSpPr>
        <p:spPr>
          <a:xfrm>
            <a:off x="1488951" y="5459974"/>
            <a:ext cx="154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4227D82B-2009-2219-BAE8-E49B452BAC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65" t="17260" r="4688" b="10100"/>
          <a:stretch>
            <a:fillRect/>
          </a:stretch>
        </p:blipFill>
        <p:spPr bwMode="auto">
          <a:xfrm>
            <a:off x="626917" y="1101431"/>
            <a:ext cx="3906983" cy="386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1ABCF82-C887-4999-5AFB-1AC2B1BBD2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1" t="20890" r="52299" b="10057"/>
          <a:stretch>
            <a:fillRect/>
          </a:stretch>
        </p:blipFill>
        <p:spPr bwMode="auto">
          <a:xfrm>
            <a:off x="6754091" y="1174162"/>
            <a:ext cx="3716901" cy="3709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8608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FADC4-92F9-43EC-39AF-57C77F36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816F8FF-8C79-0CC2-7D51-1D733BC16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Smoothening and Sharpening Spatial Filters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8F9605-27C8-73DE-60B1-6DBCB78BF805}"/>
              </a:ext>
            </a:extLst>
          </p:cNvPr>
          <p:cNvSpPr txBox="1"/>
          <p:nvPr/>
        </p:nvSpPr>
        <p:spPr>
          <a:xfrm>
            <a:off x="3631622" y="1935218"/>
            <a:ext cx="6099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________</a:t>
            </a:r>
          </a:p>
          <a:p>
            <a:r>
              <a:rPr lang="en-US" dirty="0"/>
              <a:t>     /               \</a:t>
            </a:r>
          </a:p>
          <a:p>
            <a:r>
              <a:rPr lang="en-US" dirty="0"/>
              <a:t>    |    ____    |   ← Keeps mid-frequencies</a:t>
            </a:r>
          </a:p>
          <a:p>
            <a:r>
              <a:rPr lang="en-US" dirty="0"/>
              <a:t>     \_/      \_/    ← Removes low &amp; high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7BA707-6341-F1CD-EA5E-7F271F7896AD}"/>
              </a:ext>
            </a:extLst>
          </p:cNvPr>
          <p:cNvSpPr txBox="1"/>
          <p:nvPr/>
        </p:nvSpPr>
        <p:spPr>
          <a:xfrm>
            <a:off x="3298679" y="3722454"/>
            <a:ext cx="3963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After Applying Band Pass Filtering</a:t>
            </a:r>
          </a:p>
        </p:txBody>
      </p:sp>
    </p:spTree>
    <p:extLst>
      <p:ext uri="{BB962C8B-B14F-4D97-AF65-F5344CB8AC3E}">
        <p14:creationId xmlns:p14="http://schemas.microsoft.com/office/powerpoint/2010/main" val="28242894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BB819-4E26-DA46-9808-5646F9A9C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F3CD8C1-CA7C-1D04-72D7-8CF21B9BE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715"/>
            <a:ext cx="1219200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Magnification by replication and interpolation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558A46-A1E3-6E9E-F99B-1F04912BE583}"/>
              </a:ext>
            </a:extLst>
          </p:cNvPr>
          <p:cNvSpPr txBox="1"/>
          <p:nvPr/>
        </p:nvSpPr>
        <p:spPr>
          <a:xfrm>
            <a:off x="0" y="4398910"/>
            <a:ext cx="66034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Zoom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cameras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websites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(MRI, CT magnification)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 enhancement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4DEBA-0EFD-7827-9C4B-CC36C9A9606C}"/>
              </a:ext>
            </a:extLst>
          </p:cNvPr>
          <p:cNvSpPr txBox="1"/>
          <p:nvPr/>
        </p:nvSpPr>
        <p:spPr>
          <a:xfrm>
            <a:off x="0" y="981762"/>
            <a:ext cx="11970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Magnification is all about adding new more pixels 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quality of the magnified image depends on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new pixel values are computed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A9CD2-EC65-D977-71A4-FC201ADB9A8C}"/>
              </a:ext>
            </a:extLst>
          </p:cNvPr>
          <p:cNvSpPr txBox="1"/>
          <p:nvPr/>
        </p:nvSpPr>
        <p:spPr>
          <a:xfrm>
            <a:off x="83127" y="1908923"/>
            <a:ext cx="84711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Original:         Magnified by 2x (Replication):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 2]             [1 1 2 2]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 4]             [1 1 2 2]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[3 3 4 4]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[3 3 4 4]</a:t>
            </a:r>
          </a:p>
        </p:txBody>
      </p:sp>
    </p:spTree>
    <p:extLst>
      <p:ext uri="{BB962C8B-B14F-4D97-AF65-F5344CB8AC3E}">
        <p14:creationId xmlns:p14="http://schemas.microsoft.com/office/powerpoint/2010/main" val="41848787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Unit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1964</Words>
  <Application>Microsoft Macintosh PowerPoint</Application>
  <PresentationFormat>Widescreen</PresentationFormat>
  <Paragraphs>279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Aptos</vt:lpstr>
      <vt:lpstr>Arial</vt:lpstr>
      <vt:lpstr>Calibri</vt:lpstr>
      <vt:lpstr>Calibri Light</vt:lpstr>
      <vt:lpstr>Times New Roman</vt:lpstr>
      <vt:lpstr>Times New Roman Bold</vt:lpstr>
      <vt:lpstr>Times New Roman Regular</vt:lpstr>
      <vt:lpstr>Wingdings</vt:lpstr>
      <vt:lpstr>Office Theme</vt:lpstr>
      <vt:lpstr> Unit 2 Image Enhancement in Spatial Domain</vt:lpstr>
      <vt:lpstr>OUTLINES</vt:lpstr>
      <vt:lpstr>Introduction to Image Enhancement</vt:lpstr>
      <vt:lpstr>Gray level Transformations</vt:lpstr>
      <vt:lpstr>Some basic Gray level Transformations</vt:lpstr>
      <vt:lpstr>Some basic Gray level Transformations</vt:lpstr>
      <vt:lpstr>2.Contrast Stretching</vt:lpstr>
      <vt:lpstr>Example of Contrast Stretching</vt:lpstr>
      <vt:lpstr>3.Thresholding</vt:lpstr>
      <vt:lpstr>3.Thresholding</vt:lpstr>
      <vt:lpstr>3.Thresholding</vt:lpstr>
      <vt:lpstr>4. Digital Negative</vt:lpstr>
      <vt:lpstr>4. Digital Negative</vt:lpstr>
      <vt:lpstr>5. Intensity/Gray level slicing</vt:lpstr>
      <vt:lpstr>5. Intensity/Gray level slicing</vt:lpstr>
      <vt:lpstr>6. Bit Plane slicing</vt:lpstr>
      <vt:lpstr>6. Bit Plane slicing</vt:lpstr>
      <vt:lpstr>Enhancement Using Arithmetic and Logic Operations</vt:lpstr>
      <vt:lpstr>Enhancement Using Arithmetic and Logic Operations</vt:lpstr>
      <vt:lpstr>Enhancement Using Arithmetic and Logic Operations</vt:lpstr>
      <vt:lpstr>Enhancement Using Logic Operations</vt:lpstr>
      <vt:lpstr>Basics of Spatial Filters</vt:lpstr>
      <vt:lpstr>Basics of Spatial Filters</vt:lpstr>
      <vt:lpstr>Histogram Processing and Equalization</vt:lpstr>
      <vt:lpstr>Histogram Processing and Equalization</vt:lpstr>
      <vt:lpstr>Histogram Processing and Equalization</vt:lpstr>
      <vt:lpstr>Histogram Processing and Equalization</vt:lpstr>
      <vt:lpstr>Techniques in Histogram</vt:lpstr>
      <vt:lpstr>Techniques in Histogram</vt:lpstr>
      <vt:lpstr>Techniques in Histogram</vt:lpstr>
      <vt:lpstr>Techniques in Histogram</vt:lpstr>
      <vt:lpstr>Techniques in Histogram</vt:lpstr>
      <vt:lpstr>Techniques in Histogram</vt:lpstr>
      <vt:lpstr>Techniques in Histogram</vt:lpstr>
      <vt:lpstr>Techniques in Histogram</vt:lpstr>
      <vt:lpstr>Techniques in Histogram</vt:lpstr>
      <vt:lpstr>Techniques in Histogram</vt:lpstr>
      <vt:lpstr>Techniques in Histogram</vt:lpstr>
      <vt:lpstr>Techniques in Histogram</vt:lpstr>
      <vt:lpstr>Techniques in Histogram</vt:lpstr>
      <vt:lpstr>Techniques in Histogram</vt:lpstr>
      <vt:lpstr>Smoothening and Sharpening Spatial Filters</vt:lpstr>
      <vt:lpstr>Smoothening and Sharpening Spatial Filters</vt:lpstr>
      <vt:lpstr>Smoothening and Sharpening Spatial Filters</vt:lpstr>
      <vt:lpstr>Smoothening and Sharpening Spatial Filters</vt:lpstr>
      <vt:lpstr>Smoothening and Sharpening Spatial Filters</vt:lpstr>
      <vt:lpstr>Smoothening and Sharpening Spatial Filters</vt:lpstr>
      <vt:lpstr>Smoothening and Sharpening Spatial Filters</vt:lpstr>
      <vt:lpstr>Smoothening and Sharpening Spatial Filters</vt:lpstr>
      <vt:lpstr>Magnification by replication and interpolation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Harendra Bikram Shah</cp:lastModifiedBy>
  <cp:revision>327</cp:revision>
  <dcterms:created xsi:type="dcterms:W3CDTF">2024-09-28T08:36:54Z</dcterms:created>
  <dcterms:modified xsi:type="dcterms:W3CDTF">2026-05-26T06:32:22Z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