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27"/>
  </p:notesMasterIdLst>
  <p:sldIdLst>
    <p:sldId id="256" r:id="rId2"/>
    <p:sldId id="272" r:id="rId3"/>
    <p:sldId id="279" r:id="rId4"/>
    <p:sldId id="266" r:id="rId5"/>
    <p:sldId id="278" r:id="rId6"/>
    <p:sldId id="257" r:id="rId7"/>
    <p:sldId id="258" r:id="rId8"/>
    <p:sldId id="274" r:id="rId9"/>
    <p:sldId id="275" r:id="rId10"/>
    <p:sldId id="268" r:id="rId11"/>
    <p:sldId id="259" r:id="rId12"/>
    <p:sldId id="260" r:id="rId13"/>
    <p:sldId id="261" r:id="rId14"/>
    <p:sldId id="262" r:id="rId15"/>
    <p:sldId id="273" r:id="rId16"/>
    <p:sldId id="263" r:id="rId17"/>
    <p:sldId id="267" r:id="rId18"/>
    <p:sldId id="264" r:id="rId19"/>
    <p:sldId id="265" r:id="rId20"/>
    <p:sldId id="269" r:id="rId21"/>
    <p:sldId id="277" r:id="rId22"/>
    <p:sldId id="270" r:id="rId23"/>
    <p:sldId id="271" r:id="rId24"/>
    <p:sldId id="276"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CF7830B-C050-4C93-9586-0CDDE349431A}">
          <p14:sldIdLst>
            <p14:sldId id="256"/>
            <p14:sldId id="272"/>
            <p14:sldId id="279"/>
            <p14:sldId id="266"/>
            <p14:sldId id="278"/>
            <p14:sldId id="257"/>
            <p14:sldId id="258"/>
            <p14:sldId id="274"/>
            <p14:sldId id="275"/>
            <p14:sldId id="268"/>
            <p14:sldId id="259"/>
            <p14:sldId id="260"/>
            <p14:sldId id="261"/>
            <p14:sldId id="262"/>
            <p14:sldId id="273"/>
            <p14:sldId id="263"/>
            <p14:sldId id="267"/>
            <p14:sldId id="264"/>
            <p14:sldId id="265"/>
            <p14:sldId id="269"/>
            <p14:sldId id="277"/>
            <p14:sldId id="270"/>
            <p14:sldId id="271"/>
            <p14:sldId id="276"/>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325" autoAdjust="0"/>
  </p:normalViewPr>
  <p:slideViewPr>
    <p:cSldViewPr snapToGrid="0">
      <p:cViewPr varScale="1">
        <p:scale>
          <a:sx n="43" d="100"/>
          <a:sy n="43" d="100"/>
        </p:scale>
        <p:origin x="1752" y="54"/>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835F4D-999E-44A5-AB65-7A919E649ED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E2DA1FA-C44F-430D-9FB4-2008AB533576}">
      <dgm:prSet/>
      <dgm:spPr/>
      <dgm:t>
        <a:bodyPr/>
        <a:lstStyle/>
        <a:p>
          <a:r>
            <a:rPr lang="en-US"/>
            <a:t>Relevance: Models should focus on essential system aspects.</a:t>
          </a:r>
        </a:p>
      </dgm:t>
    </dgm:pt>
    <dgm:pt modelId="{452A5A7F-56F4-4F0A-9514-7F2BCF583339}" type="parTrans" cxnId="{48C6737B-A174-4CFB-83D7-ED873EC5D6EC}">
      <dgm:prSet/>
      <dgm:spPr/>
      <dgm:t>
        <a:bodyPr/>
        <a:lstStyle/>
        <a:p>
          <a:endParaRPr lang="en-US"/>
        </a:p>
      </dgm:t>
    </dgm:pt>
    <dgm:pt modelId="{425822C7-D00B-4AC7-8F6C-6834AEBAD97E}" type="sibTrans" cxnId="{48C6737B-A174-4CFB-83D7-ED873EC5D6EC}">
      <dgm:prSet/>
      <dgm:spPr/>
      <dgm:t>
        <a:bodyPr/>
        <a:lstStyle/>
        <a:p>
          <a:endParaRPr lang="en-US"/>
        </a:p>
      </dgm:t>
    </dgm:pt>
    <dgm:pt modelId="{7A2640D3-8FD2-4728-8D9D-813C9EEFCE7E}">
      <dgm:prSet/>
      <dgm:spPr/>
      <dgm:t>
        <a:bodyPr/>
        <a:lstStyle/>
        <a:p>
          <a:r>
            <a:rPr lang="en-US"/>
            <a:t>Block –Building: description organized as a sequence of blocks</a:t>
          </a:r>
        </a:p>
      </dgm:t>
    </dgm:pt>
    <dgm:pt modelId="{FC71055A-CD79-4CEF-8635-0CE8A5D651C0}" type="parTrans" cxnId="{006F8830-4D15-4B0E-BE18-BE9098647BE0}">
      <dgm:prSet/>
      <dgm:spPr/>
      <dgm:t>
        <a:bodyPr/>
        <a:lstStyle/>
        <a:p>
          <a:endParaRPr lang="en-US"/>
        </a:p>
      </dgm:t>
    </dgm:pt>
    <dgm:pt modelId="{199F5FFF-B4A3-4D97-B25A-328F08DA7DE9}" type="sibTrans" cxnId="{006F8830-4D15-4B0E-BE18-BE9098647BE0}">
      <dgm:prSet/>
      <dgm:spPr/>
      <dgm:t>
        <a:bodyPr/>
        <a:lstStyle/>
        <a:p>
          <a:endParaRPr lang="en-US"/>
        </a:p>
      </dgm:t>
    </dgm:pt>
    <dgm:pt modelId="{F93EEA57-6A5B-4069-B8A8-879E1AB60D79}">
      <dgm:prSet/>
      <dgm:spPr/>
      <dgm:t>
        <a:bodyPr/>
        <a:lstStyle/>
        <a:p>
          <a:r>
            <a:rPr lang="en-US"/>
            <a:t>Accuracy: A model must be accurate enough to reflect the system's real-world behavior.</a:t>
          </a:r>
        </a:p>
      </dgm:t>
    </dgm:pt>
    <dgm:pt modelId="{72415AD8-A859-4017-88A6-480AC4DE69D7}" type="parTrans" cxnId="{14D7009A-DB65-4B90-B3CB-69634EEC5DB8}">
      <dgm:prSet/>
      <dgm:spPr/>
      <dgm:t>
        <a:bodyPr/>
        <a:lstStyle/>
        <a:p>
          <a:endParaRPr lang="en-US"/>
        </a:p>
      </dgm:t>
    </dgm:pt>
    <dgm:pt modelId="{144DC9B3-B30C-4B66-B486-D06FB0FF5C7F}" type="sibTrans" cxnId="{14D7009A-DB65-4B90-B3CB-69634EEC5DB8}">
      <dgm:prSet/>
      <dgm:spPr/>
      <dgm:t>
        <a:bodyPr/>
        <a:lstStyle/>
        <a:p>
          <a:endParaRPr lang="en-US"/>
        </a:p>
      </dgm:t>
    </dgm:pt>
    <dgm:pt modelId="{C31B6CB8-67C3-4532-9400-AC8CC1D1B42A}">
      <dgm:prSet/>
      <dgm:spPr/>
      <dgm:t>
        <a:bodyPr/>
        <a:lstStyle/>
        <a:p>
          <a:r>
            <a:rPr lang="en-US"/>
            <a:t>Aggregation: Individual entities can be grouped together.</a:t>
          </a:r>
        </a:p>
      </dgm:t>
    </dgm:pt>
    <dgm:pt modelId="{424D25A0-D60A-4559-9DA5-9BCA0EA4DC9C}" type="parTrans" cxnId="{81B1D2A6-6A68-49BE-84FD-2B159A909E26}">
      <dgm:prSet/>
      <dgm:spPr/>
      <dgm:t>
        <a:bodyPr/>
        <a:lstStyle/>
        <a:p>
          <a:endParaRPr lang="en-US"/>
        </a:p>
      </dgm:t>
    </dgm:pt>
    <dgm:pt modelId="{A912CD8F-8C62-4310-9E56-8E25968E245C}" type="sibTrans" cxnId="{81B1D2A6-6A68-49BE-84FD-2B159A909E26}">
      <dgm:prSet/>
      <dgm:spPr/>
      <dgm:t>
        <a:bodyPr/>
        <a:lstStyle/>
        <a:p>
          <a:endParaRPr lang="en-US"/>
        </a:p>
      </dgm:t>
    </dgm:pt>
    <dgm:pt modelId="{C22F2A00-46F2-4062-B266-2C3723FC4F65}" type="pres">
      <dgm:prSet presAssocID="{96835F4D-999E-44A5-AB65-7A919E649EDE}" presName="root" presStyleCnt="0">
        <dgm:presLayoutVars>
          <dgm:dir/>
          <dgm:resizeHandles val="exact"/>
        </dgm:presLayoutVars>
      </dgm:prSet>
      <dgm:spPr/>
    </dgm:pt>
    <dgm:pt modelId="{01F8BD18-324F-4ADA-900A-8CC996E72647}" type="pres">
      <dgm:prSet presAssocID="{DE2DA1FA-C44F-430D-9FB4-2008AB533576}" presName="compNode" presStyleCnt="0"/>
      <dgm:spPr/>
    </dgm:pt>
    <dgm:pt modelId="{45D01B2D-975F-4DC2-AAD3-E6AA215A5CEA}" type="pres">
      <dgm:prSet presAssocID="{DE2DA1FA-C44F-430D-9FB4-2008AB533576}" presName="bgRect" presStyleLbl="bgShp" presStyleIdx="0" presStyleCnt="4"/>
      <dgm:spPr/>
    </dgm:pt>
    <dgm:pt modelId="{07741BCE-8E4F-415B-97CD-F3F3655EC748}" type="pres">
      <dgm:prSet presAssocID="{DE2DA1FA-C44F-430D-9FB4-2008AB53357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4E1C7D47-6145-431D-9413-CC94E9273C1F}" type="pres">
      <dgm:prSet presAssocID="{DE2DA1FA-C44F-430D-9FB4-2008AB533576}" presName="spaceRect" presStyleCnt="0"/>
      <dgm:spPr/>
    </dgm:pt>
    <dgm:pt modelId="{2AD2C4B5-1C5B-4525-9101-5A1C0C7ED228}" type="pres">
      <dgm:prSet presAssocID="{DE2DA1FA-C44F-430D-9FB4-2008AB533576}" presName="parTx" presStyleLbl="revTx" presStyleIdx="0" presStyleCnt="4">
        <dgm:presLayoutVars>
          <dgm:chMax val="0"/>
          <dgm:chPref val="0"/>
        </dgm:presLayoutVars>
      </dgm:prSet>
      <dgm:spPr/>
    </dgm:pt>
    <dgm:pt modelId="{14531357-2B41-4462-9AB8-7260A0151727}" type="pres">
      <dgm:prSet presAssocID="{425822C7-D00B-4AC7-8F6C-6834AEBAD97E}" presName="sibTrans" presStyleCnt="0"/>
      <dgm:spPr/>
    </dgm:pt>
    <dgm:pt modelId="{EA42967B-5879-4539-B285-1DA2B496E1B8}" type="pres">
      <dgm:prSet presAssocID="{7A2640D3-8FD2-4728-8D9D-813C9EEFCE7E}" presName="compNode" presStyleCnt="0"/>
      <dgm:spPr/>
    </dgm:pt>
    <dgm:pt modelId="{E969C2A9-E911-465C-A409-D1D610FE61E4}" type="pres">
      <dgm:prSet presAssocID="{7A2640D3-8FD2-4728-8D9D-813C9EEFCE7E}" presName="bgRect" presStyleLbl="bgShp" presStyleIdx="1" presStyleCnt="4"/>
      <dgm:spPr/>
    </dgm:pt>
    <dgm:pt modelId="{B8A79D56-74B2-442D-B4A4-528FB24EDAD0}" type="pres">
      <dgm:prSet presAssocID="{7A2640D3-8FD2-4728-8D9D-813C9EEFCE7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ty"/>
        </a:ext>
      </dgm:extLst>
    </dgm:pt>
    <dgm:pt modelId="{6BA06BD4-C315-4721-B22A-1E3700DFA7E5}" type="pres">
      <dgm:prSet presAssocID="{7A2640D3-8FD2-4728-8D9D-813C9EEFCE7E}" presName="spaceRect" presStyleCnt="0"/>
      <dgm:spPr/>
    </dgm:pt>
    <dgm:pt modelId="{1B2A3F40-9DFB-47AB-9988-870AA38AED68}" type="pres">
      <dgm:prSet presAssocID="{7A2640D3-8FD2-4728-8D9D-813C9EEFCE7E}" presName="parTx" presStyleLbl="revTx" presStyleIdx="1" presStyleCnt="4">
        <dgm:presLayoutVars>
          <dgm:chMax val="0"/>
          <dgm:chPref val="0"/>
        </dgm:presLayoutVars>
      </dgm:prSet>
      <dgm:spPr/>
    </dgm:pt>
    <dgm:pt modelId="{43524DD5-9A8B-4C8E-9F60-282411132AFE}" type="pres">
      <dgm:prSet presAssocID="{199F5FFF-B4A3-4D97-B25A-328F08DA7DE9}" presName="sibTrans" presStyleCnt="0"/>
      <dgm:spPr/>
    </dgm:pt>
    <dgm:pt modelId="{6EF67B91-9AD2-4C7C-B833-9B4845D505C9}" type="pres">
      <dgm:prSet presAssocID="{F93EEA57-6A5B-4069-B8A8-879E1AB60D79}" presName="compNode" presStyleCnt="0"/>
      <dgm:spPr/>
    </dgm:pt>
    <dgm:pt modelId="{7B0C45E7-37B4-4E17-9083-CA96CB9C727E}" type="pres">
      <dgm:prSet presAssocID="{F93EEA57-6A5B-4069-B8A8-879E1AB60D79}" presName="bgRect" presStyleLbl="bgShp" presStyleIdx="2" presStyleCnt="4"/>
      <dgm:spPr/>
    </dgm:pt>
    <dgm:pt modelId="{4A0F3A2E-CD5E-4726-84E8-7D63C506E852}" type="pres">
      <dgm:prSet presAssocID="{F93EEA57-6A5B-4069-B8A8-879E1AB60D7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rget"/>
        </a:ext>
      </dgm:extLst>
    </dgm:pt>
    <dgm:pt modelId="{B4D70BA5-5F68-4E56-99EC-3C0450C918BC}" type="pres">
      <dgm:prSet presAssocID="{F93EEA57-6A5B-4069-B8A8-879E1AB60D79}" presName="spaceRect" presStyleCnt="0"/>
      <dgm:spPr/>
    </dgm:pt>
    <dgm:pt modelId="{7BA43F37-4FE8-4E9B-9162-4B626AE244EA}" type="pres">
      <dgm:prSet presAssocID="{F93EEA57-6A5B-4069-B8A8-879E1AB60D79}" presName="parTx" presStyleLbl="revTx" presStyleIdx="2" presStyleCnt="4">
        <dgm:presLayoutVars>
          <dgm:chMax val="0"/>
          <dgm:chPref val="0"/>
        </dgm:presLayoutVars>
      </dgm:prSet>
      <dgm:spPr/>
    </dgm:pt>
    <dgm:pt modelId="{E050EA24-31EA-48A1-BB99-C480D81E9BB4}" type="pres">
      <dgm:prSet presAssocID="{144DC9B3-B30C-4B66-B486-D06FB0FF5C7F}" presName="sibTrans" presStyleCnt="0"/>
      <dgm:spPr/>
    </dgm:pt>
    <dgm:pt modelId="{0EFB294E-29F0-4D85-9D5C-E34AEBBD702E}" type="pres">
      <dgm:prSet presAssocID="{C31B6CB8-67C3-4532-9400-AC8CC1D1B42A}" presName="compNode" presStyleCnt="0"/>
      <dgm:spPr/>
    </dgm:pt>
    <dgm:pt modelId="{7F55B880-88CE-4F7E-882C-A28D0AAE42A3}" type="pres">
      <dgm:prSet presAssocID="{C31B6CB8-67C3-4532-9400-AC8CC1D1B42A}" presName="bgRect" presStyleLbl="bgShp" presStyleIdx="3" presStyleCnt="4"/>
      <dgm:spPr/>
    </dgm:pt>
    <dgm:pt modelId="{6B2518C3-A26A-429B-967D-06F007311EAB}" type="pres">
      <dgm:prSet presAssocID="{C31B6CB8-67C3-4532-9400-AC8CC1D1B42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5E181568-4836-4B80-8AB5-D18AD2EEAD1F}" type="pres">
      <dgm:prSet presAssocID="{C31B6CB8-67C3-4532-9400-AC8CC1D1B42A}" presName="spaceRect" presStyleCnt="0"/>
      <dgm:spPr/>
    </dgm:pt>
    <dgm:pt modelId="{24FAE50E-0638-4FC6-9DBB-86CAE2386C37}" type="pres">
      <dgm:prSet presAssocID="{C31B6CB8-67C3-4532-9400-AC8CC1D1B42A}" presName="parTx" presStyleLbl="revTx" presStyleIdx="3" presStyleCnt="4">
        <dgm:presLayoutVars>
          <dgm:chMax val="0"/>
          <dgm:chPref val="0"/>
        </dgm:presLayoutVars>
      </dgm:prSet>
      <dgm:spPr/>
    </dgm:pt>
  </dgm:ptLst>
  <dgm:cxnLst>
    <dgm:cxn modelId="{CC53C10B-7082-45AE-B217-365C874888EE}" type="presOf" srcId="{7A2640D3-8FD2-4728-8D9D-813C9EEFCE7E}" destId="{1B2A3F40-9DFB-47AB-9988-870AA38AED68}" srcOrd="0" destOrd="0" presId="urn:microsoft.com/office/officeart/2018/2/layout/IconVerticalSolidList"/>
    <dgm:cxn modelId="{737E131A-F322-4399-B3E8-207043AD59BD}" type="presOf" srcId="{F93EEA57-6A5B-4069-B8A8-879E1AB60D79}" destId="{7BA43F37-4FE8-4E9B-9162-4B626AE244EA}" srcOrd="0" destOrd="0" presId="urn:microsoft.com/office/officeart/2018/2/layout/IconVerticalSolidList"/>
    <dgm:cxn modelId="{006F8830-4D15-4B0E-BE18-BE9098647BE0}" srcId="{96835F4D-999E-44A5-AB65-7A919E649EDE}" destId="{7A2640D3-8FD2-4728-8D9D-813C9EEFCE7E}" srcOrd="1" destOrd="0" parTransId="{FC71055A-CD79-4CEF-8635-0CE8A5D651C0}" sibTransId="{199F5FFF-B4A3-4D97-B25A-328F08DA7DE9}"/>
    <dgm:cxn modelId="{48C6737B-A174-4CFB-83D7-ED873EC5D6EC}" srcId="{96835F4D-999E-44A5-AB65-7A919E649EDE}" destId="{DE2DA1FA-C44F-430D-9FB4-2008AB533576}" srcOrd="0" destOrd="0" parTransId="{452A5A7F-56F4-4F0A-9514-7F2BCF583339}" sibTransId="{425822C7-D00B-4AC7-8F6C-6834AEBAD97E}"/>
    <dgm:cxn modelId="{D044177D-EF2C-44F4-B37C-55E8298001A2}" type="presOf" srcId="{96835F4D-999E-44A5-AB65-7A919E649EDE}" destId="{C22F2A00-46F2-4062-B266-2C3723FC4F65}" srcOrd="0" destOrd="0" presId="urn:microsoft.com/office/officeart/2018/2/layout/IconVerticalSolidList"/>
    <dgm:cxn modelId="{14D7009A-DB65-4B90-B3CB-69634EEC5DB8}" srcId="{96835F4D-999E-44A5-AB65-7A919E649EDE}" destId="{F93EEA57-6A5B-4069-B8A8-879E1AB60D79}" srcOrd="2" destOrd="0" parTransId="{72415AD8-A859-4017-88A6-480AC4DE69D7}" sibTransId="{144DC9B3-B30C-4B66-B486-D06FB0FF5C7F}"/>
    <dgm:cxn modelId="{81B1D2A6-6A68-49BE-84FD-2B159A909E26}" srcId="{96835F4D-999E-44A5-AB65-7A919E649EDE}" destId="{C31B6CB8-67C3-4532-9400-AC8CC1D1B42A}" srcOrd="3" destOrd="0" parTransId="{424D25A0-D60A-4559-9DA5-9BCA0EA4DC9C}" sibTransId="{A912CD8F-8C62-4310-9E56-8E25968E245C}"/>
    <dgm:cxn modelId="{D75FDBC9-F7E4-457C-AAD2-71FFE854ED28}" type="presOf" srcId="{DE2DA1FA-C44F-430D-9FB4-2008AB533576}" destId="{2AD2C4B5-1C5B-4525-9101-5A1C0C7ED228}" srcOrd="0" destOrd="0" presId="urn:microsoft.com/office/officeart/2018/2/layout/IconVerticalSolidList"/>
    <dgm:cxn modelId="{B4D71EF8-21A1-4A9F-928A-3883664D1D3E}" type="presOf" srcId="{C31B6CB8-67C3-4532-9400-AC8CC1D1B42A}" destId="{24FAE50E-0638-4FC6-9DBB-86CAE2386C37}" srcOrd="0" destOrd="0" presId="urn:microsoft.com/office/officeart/2018/2/layout/IconVerticalSolidList"/>
    <dgm:cxn modelId="{AEF246C6-B0B1-44CB-9C6F-4376F2DD6874}" type="presParOf" srcId="{C22F2A00-46F2-4062-B266-2C3723FC4F65}" destId="{01F8BD18-324F-4ADA-900A-8CC996E72647}" srcOrd="0" destOrd="0" presId="urn:microsoft.com/office/officeart/2018/2/layout/IconVerticalSolidList"/>
    <dgm:cxn modelId="{B47104F4-A048-4FD6-BFFA-CB68C969D774}" type="presParOf" srcId="{01F8BD18-324F-4ADA-900A-8CC996E72647}" destId="{45D01B2D-975F-4DC2-AAD3-E6AA215A5CEA}" srcOrd="0" destOrd="0" presId="urn:microsoft.com/office/officeart/2018/2/layout/IconVerticalSolidList"/>
    <dgm:cxn modelId="{75CA785E-0AF6-4B3D-9D83-0887DD8E5EEF}" type="presParOf" srcId="{01F8BD18-324F-4ADA-900A-8CC996E72647}" destId="{07741BCE-8E4F-415B-97CD-F3F3655EC748}" srcOrd="1" destOrd="0" presId="urn:microsoft.com/office/officeart/2018/2/layout/IconVerticalSolidList"/>
    <dgm:cxn modelId="{3B569C38-7288-46FD-B81C-B12A50F23E31}" type="presParOf" srcId="{01F8BD18-324F-4ADA-900A-8CC996E72647}" destId="{4E1C7D47-6145-431D-9413-CC94E9273C1F}" srcOrd="2" destOrd="0" presId="urn:microsoft.com/office/officeart/2018/2/layout/IconVerticalSolidList"/>
    <dgm:cxn modelId="{AF0052BF-F901-4C3E-AB3A-E88A2ADBDEEA}" type="presParOf" srcId="{01F8BD18-324F-4ADA-900A-8CC996E72647}" destId="{2AD2C4B5-1C5B-4525-9101-5A1C0C7ED228}" srcOrd="3" destOrd="0" presId="urn:microsoft.com/office/officeart/2018/2/layout/IconVerticalSolidList"/>
    <dgm:cxn modelId="{C9CD268A-287B-4D0D-AA4E-10470C235BD5}" type="presParOf" srcId="{C22F2A00-46F2-4062-B266-2C3723FC4F65}" destId="{14531357-2B41-4462-9AB8-7260A0151727}" srcOrd="1" destOrd="0" presId="urn:microsoft.com/office/officeart/2018/2/layout/IconVerticalSolidList"/>
    <dgm:cxn modelId="{E4AA22FD-46ED-485D-9DC9-6F147C58DC50}" type="presParOf" srcId="{C22F2A00-46F2-4062-B266-2C3723FC4F65}" destId="{EA42967B-5879-4539-B285-1DA2B496E1B8}" srcOrd="2" destOrd="0" presId="urn:microsoft.com/office/officeart/2018/2/layout/IconVerticalSolidList"/>
    <dgm:cxn modelId="{65C24B78-16BB-441F-86AE-B3BF5C673312}" type="presParOf" srcId="{EA42967B-5879-4539-B285-1DA2B496E1B8}" destId="{E969C2A9-E911-465C-A409-D1D610FE61E4}" srcOrd="0" destOrd="0" presId="urn:microsoft.com/office/officeart/2018/2/layout/IconVerticalSolidList"/>
    <dgm:cxn modelId="{70D0878A-76EA-4E52-B14D-ACA3CFC1B176}" type="presParOf" srcId="{EA42967B-5879-4539-B285-1DA2B496E1B8}" destId="{B8A79D56-74B2-442D-B4A4-528FB24EDAD0}" srcOrd="1" destOrd="0" presId="urn:microsoft.com/office/officeart/2018/2/layout/IconVerticalSolidList"/>
    <dgm:cxn modelId="{D218097E-B388-4EA9-B334-C3E643061985}" type="presParOf" srcId="{EA42967B-5879-4539-B285-1DA2B496E1B8}" destId="{6BA06BD4-C315-4721-B22A-1E3700DFA7E5}" srcOrd="2" destOrd="0" presId="urn:microsoft.com/office/officeart/2018/2/layout/IconVerticalSolidList"/>
    <dgm:cxn modelId="{4C1DA1E3-C670-4DA8-A7BF-07113B584384}" type="presParOf" srcId="{EA42967B-5879-4539-B285-1DA2B496E1B8}" destId="{1B2A3F40-9DFB-47AB-9988-870AA38AED68}" srcOrd="3" destOrd="0" presId="urn:microsoft.com/office/officeart/2018/2/layout/IconVerticalSolidList"/>
    <dgm:cxn modelId="{3704BFCB-9DA9-4969-9A4A-2B27FFBF6F69}" type="presParOf" srcId="{C22F2A00-46F2-4062-B266-2C3723FC4F65}" destId="{43524DD5-9A8B-4C8E-9F60-282411132AFE}" srcOrd="3" destOrd="0" presId="urn:microsoft.com/office/officeart/2018/2/layout/IconVerticalSolidList"/>
    <dgm:cxn modelId="{EF0274F3-08E3-432E-BA0C-8D528A36BB40}" type="presParOf" srcId="{C22F2A00-46F2-4062-B266-2C3723FC4F65}" destId="{6EF67B91-9AD2-4C7C-B833-9B4845D505C9}" srcOrd="4" destOrd="0" presId="urn:microsoft.com/office/officeart/2018/2/layout/IconVerticalSolidList"/>
    <dgm:cxn modelId="{6A275235-79C4-441E-9EFE-1701FB658D04}" type="presParOf" srcId="{6EF67B91-9AD2-4C7C-B833-9B4845D505C9}" destId="{7B0C45E7-37B4-4E17-9083-CA96CB9C727E}" srcOrd="0" destOrd="0" presId="urn:microsoft.com/office/officeart/2018/2/layout/IconVerticalSolidList"/>
    <dgm:cxn modelId="{7B61C09E-7ECB-4046-9ED4-6F6016681A78}" type="presParOf" srcId="{6EF67B91-9AD2-4C7C-B833-9B4845D505C9}" destId="{4A0F3A2E-CD5E-4726-84E8-7D63C506E852}" srcOrd="1" destOrd="0" presId="urn:microsoft.com/office/officeart/2018/2/layout/IconVerticalSolidList"/>
    <dgm:cxn modelId="{04881E19-605B-4934-8DC6-9BCB46D04E12}" type="presParOf" srcId="{6EF67B91-9AD2-4C7C-B833-9B4845D505C9}" destId="{B4D70BA5-5F68-4E56-99EC-3C0450C918BC}" srcOrd="2" destOrd="0" presId="urn:microsoft.com/office/officeart/2018/2/layout/IconVerticalSolidList"/>
    <dgm:cxn modelId="{B5AE46DE-9B5C-4870-9513-247D509BE742}" type="presParOf" srcId="{6EF67B91-9AD2-4C7C-B833-9B4845D505C9}" destId="{7BA43F37-4FE8-4E9B-9162-4B626AE244EA}" srcOrd="3" destOrd="0" presId="urn:microsoft.com/office/officeart/2018/2/layout/IconVerticalSolidList"/>
    <dgm:cxn modelId="{8B1E853A-875A-4394-A27C-E018482C1165}" type="presParOf" srcId="{C22F2A00-46F2-4062-B266-2C3723FC4F65}" destId="{E050EA24-31EA-48A1-BB99-C480D81E9BB4}" srcOrd="5" destOrd="0" presId="urn:microsoft.com/office/officeart/2018/2/layout/IconVerticalSolidList"/>
    <dgm:cxn modelId="{A0C79062-2446-4737-A195-3708FD006DBF}" type="presParOf" srcId="{C22F2A00-46F2-4062-B266-2C3723FC4F65}" destId="{0EFB294E-29F0-4D85-9D5C-E34AEBBD702E}" srcOrd="6" destOrd="0" presId="urn:microsoft.com/office/officeart/2018/2/layout/IconVerticalSolidList"/>
    <dgm:cxn modelId="{FBD27748-2583-438E-9415-4ABE739BCB93}" type="presParOf" srcId="{0EFB294E-29F0-4D85-9D5C-E34AEBBD702E}" destId="{7F55B880-88CE-4F7E-882C-A28D0AAE42A3}" srcOrd="0" destOrd="0" presId="urn:microsoft.com/office/officeart/2018/2/layout/IconVerticalSolidList"/>
    <dgm:cxn modelId="{863B778F-C4C7-4C5E-AD97-A8B4F71F5DA7}" type="presParOf" srcId="{0EFB294E-29F0-4D85-9D5C-E34AEBBD702E}" destId="{6B2518C3-A26A-429B-967D-06F007311EAB}" srcOrd="1" destOrd="0" presId="urn:microsoft.com/office/officeart/2018/2/layout/IconVerticalSolidList"/>
    <dgm:cxn modelId="{C4E02FB1-BF18-430E-A50D-D5B55D055DA6}" type="presParOf" srcId="{0EFB294E-29F0-4D85-9D5C-E34AEBBD702E}" destId="{5E181568-4836-4B80-8AB5-D18AD2EEAD1F}" srcOrd="2" destOrd="0" presId="urn:microsoft.com/office/officeart/2018/2/layout/IconVerticalSolidList"/>
    <dgm:cxn modelId="{34C6234F-5736-49AE-9450-960395E44AEE}" type="presParOf" srcId="{0EFB294E-29F0-4D85-9D5C-E34AEBBD702E}" destId="{24FAE50E-0638-4FC6-9DBB-86CAE2386C3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01B2D-975F-4DC2-AAD3-E6AA215A5CEA}">
      <dsp:nvSpPr>
        <dsp:cNvPr id="0" name=""/>
        <dsp:cNvSpPr/>
      </dsp:nvSpPr>
      <dsp:spPr>
        <a:xfrm>
          <a:off x="0" y="2066"/>
          <a:ext cx="6628804"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741BCE-8E4F-415B-97CD-F3F3655EC748}">
      <dsp:nvSpPr>
        <dsp:cNvPr id="0" name=""/>
        <dsp:cNvSpPr/>
      </dsp:nvSpPr>
      <dsp:spPr>
        <a:xfrm>
          <a:off x="316857" y="237745"/>
          <a:ext cx="576104" cy="5761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D2C4B5-1C5B-4525-9101-5A1C0C7ED228}">
      <dsp:nvSpPr>
        <dsp:cNvPr id="0" name=""/>
        <dsp:cNvSpPr/>
      </dsp:nvSpPr>
      <dsp:spPr>
        <a:xfrm>
          <a:off x="1209819" y="2066"/>
          <a:ext cx="5418984"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889000">
            <a:lnSpc>
              <a:spcPct val="90000"/>
            </a:lnSpc>
            <a:spcBef>
              <a:spcPct val="0"/>
            </a:spcBef>
            <a:spcAft>
              <a:spcPct val="35000"/>
            </a:spcAft>
            <a:buNone/>
          </a:pPr>
          <a:r>
            <a:rPr lang="en-US" sz="2000" kern="1200"/>
            <a:t>Relevance: Models should focus on essential system aspects.</a:t>
          </a:r>
        </a:p>
      </dsp:txBody>
      <dsp:txXfrm>
        <a:off x="1209819" y="2066"/>
        <a:ext cx="5418984" cy="1047462"/>
      </dsp:txXfrm>
    </dsp:sp>
    <dsp:sp modelId="{E969C2A9-E911-465C-A409-D1D610FE61E4}">
      <dsp:nvSpPr>
        <dsp:cNvPr id="0" name=""/>
        <dsp:cNvSpPr/>
      </dsp:nvSpPr>
      <dsp:spPr>
        <a:xfrm>
          <a:off x="0" y="1311395"/>
          <a:ext cx="6628804"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A79D56-74B2-442D-B4A4-528FB24EDAD0}">
      <dsp:nvSpPr>
        <dsp:cNvPr id="0" name=""/>
        <dsp:cNvSpPr/>
      </dsp:nvSpPr>
      <dsp:spPr>
        <a:xfrm>
          <a:off x="316857" y="1547074"/>
          <a:ext cx="576104" cy="5761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B2A3F40-9DFB-47AB-9988-870AA38AED68}">
      <dsp:nvSpPr>
        <dsp:cNvPr id="0" name=""/>
        <dsp:cNvSpPr/>
      </dsp:nvSpPr>
      <dsp:spPr>
        <a:xfrm>
          <a:off x="1209819" y="1311395"/>
          <a:ext cx="5418984"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889000">
            <a:lnSpc>
              <a:spcPct val="90000"/>
            </a:lnSpc>
            <a:spcBef>
              <a:spcPct val="0"/>
            </a:spcBef>
            <a:spcAft>
              <a:spcPct val="35000"/>
            </a:spcAft>
            <a:buNone/>
          </a:pPr>
          <a:r>
            <a:rPr lang="en-US" sz="2000" kern="1200"/>
            <a:t>Block –Building: description organized as a sequence of blocks</a:t>
          </a:r>
        </a:p>
      </dsp:txBody>
      <dsp:txXfrm>
        <a:off x="1209819" y="1311395"/>
        <a:ext cx="5418984" cy="1047462"/>
      </dsp:txXfrm>
    </dsp:sp>
    <dsp:sp modelId="{7B0C45E7-37B4-4E17-9083-CA96CB9C727E}">
      <dsp:nvSpPr>
        <dsp:cNvPr id="0" name=""/>
        <dsp:cNvSpPr/>
      </dsp:nvSpPr>
      <dsp:spPr>
        <a:xfrm>
          <a:off x="0" y="2620723"/>
          <a:ext cx="6628804"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0F3A2E-CD5E-4726-84E8-7D63C506E852}">
      <dsp:nvSpPr>
        <dsp:cNvPr id="0" name=""/>
        <dsp:cNvSpPr/>
      </dsp:nvSpPr>
      <dsp:spPr>
        <a:xfrm>
          <a:off x="316857" y="2856402"/>
          <a:ext cx="576104" cy="5761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BA43F37-4FE8-4E9B-9162-4B626AE244EA}">
      <dsp:nvSpPr>
        <dsp:cNvPr id="0" name=""/>
        <dsp:cNvSpPr/>
      </dsp:nvSpPr>
      <dsp:spPr>
        <a:xfrm>
          <a:off x="1209819" y="2620723"/>
          <a:ext cx="5418984"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889000">
            <a:lnSpc>
              <a:spcPct val="90000"/>
            </a:lnSpc>
            <a:spcBef>
              <a:spcPct val="0"/>
            </a:spcBef>
            <a:spcAft>
              <a:spcPct val="35000"/>
            </a:spcAft>
            <a:buNone/>
          </a:pPr>
          <a:r>
            <a:rPr lang="en-US" sz="2000" kern="1200"/>
            <a:t>Accuracy: A model must be accurate enough to reflect the system's real-world behavior.</a:t>
          </a:r>
        </a:p>
      </dsp:txBody>
      <dsp:txXfrm>
        <a:off x="1209819" y="2620723"/>
        <a:ext cx="5418984" cy="1047462"/>
      </dsp:txXfrm>
    </dsp:sp>
    <dsp:sp modelId="{7F55B880-88CE-4F7E-882C-A28D0AAE42A3}">
      <dsp:nvSpPr>
        <dsp:cNvPr id="0" name=""/>
        <dsp:cNvSpPr/>
      </dsp:nvSpPr>
      <dsp:spPr>
        <a:xfrm>
          <a:off x="0" y="3930051"/>
          <a:ext cx="6628804"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2518C3-A26A-429B-967D-06F007311EAB}">
      <dsp:nvSpPr>
        <dsp:cNvPr id="0" name=""/>
        <dsp:cNvSpPr/>
      </dsp:nvSpPr>
      <dsp:spPr>
        <a:xfrm>
          <a:off x="316857" y="4165730"/>
          <a:ext cx="576104" cy="5761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4FAE50E-0638-4FC6-9DBB-86CAE2386C37}">
      <dsp:nvSpPr>
        <dsp:cNvPr id="0" name=""/>
        <dsp:cNvSpPr/>
      </dsp:nvSpPr>
      <dsp:spPr>
        <a:xfrm>
          <a:off x="1209819" y="3930051"/>
          <a:ext cx="5418984"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889000">
            <a:lnSpc>
              <a:spcPct val="90000"/>
            </a:lnSpc>
            <a:spcBef>
              <a:spcPct val="0"/>
            </a:spcBef>
            <a:spcAft>
              <a:spcPct val="35000"/>
            </a:spcAft>
            <a:buNone/>
          </a:pPr>
          <a:r>
            <a:rPr lang="en-US" sz="2000" kern="1200"/>
            <a:t>Aggregation: Individual entities can be grouped together.</a:t>
          </a:r>
        </a:p>
      </dsp:txBody>
      <dsp:txXfrm>
        <a:off x="1209819" y="3930051"/>
        <a:ext cx="5418984" cy="10474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E0FD8E-F1ED-4BCE-9CBA-F0FBA8313C12}"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C90A1E-2D97-4F98-8072-0FEC503F4559}" type="slidenum">
              <a:rPr lang="en-US" smtClean="0"/>
              <a:t>‹#›</a:t>
            </a:fld>
            <a:endParaRPr lang="en-US"/>
          </a:p>
        </p:txBody>
      </p:sp>
    </p:spTree>
    <p:extLst>
      <p:ext uri="{BB962C8B-B14F-4D97-AF65-F5344CB8AC3E}">
        <p14:creationId xmlns:p14="http://schemas.microsoft.com/office/powerpoint/2010/main" val="2606223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repository.lib.ncsu.edu/bitstream/handle/1840.4/4427/1996_0002.pdf"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softwaresim.com/blog/closing-the-loop-simulation-validation-in-software-delivery/"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What is a System?</a:t>
            </a:r>
          </a:p>
          <a:p>
            <a:pPr>
              <a:buNone/>
            </a:pPr>
            <a:r>
              <a:rPr lang="en-US" dirty="0"/>
              <a:t>A </a:t>
            </a:r>
            <a:r>
              <a:rPr lang="en-US" b="1" dirty="0"/>
              <a:t>system</a:t>
            </a:r>
            <a:r>
              <a:rPr lang="en-US" dirty="0"/>
              <a:t> is a structured set of interrelated </a:t>
            </a:r>
            <a:r>
              <a:rPr lang="en-US" b="1" dirty="0"/>
              <a:t>components</a:t>
            </a:r>
            <a:r>
              <a:rPr lang="en-US" dirty="0"/>
              <a:t> or </a:t>
            </a:r>
            <a:r>
              <a:rPr lang="en-US" b="1" dirty="0"/>
              <a:t>elements</a:t>
            </a:r>
            <a:r>
              <a:rPr lang="en-US" dirty="0"/>
              <a:t> that are organized and interact in such a way as to </a:t>
            </a:r>
            <a:r>
              <a:rPr lang="en-US" b="1" dirty="0"/>
              <a:t>achieve a common goal or purpose</a:t>
            </a:r>
            <a:r>
              <a:rPr lang="en-US" dirty="0"/>
              <a:t>. These components work together either physically or logically to form a cohesive unit.</a:t>
            </a:r>
          </a:p>
          <a:p>
            <a:pPr>
              <a:buNone/>
            </a:pPr>
            <a:r>
              <a:rPr lang="en-US" b="1" dirty="0"/>
              <a:t>🌐 Key Characteristics of a System:</a:t>
            </a:r>
          </a:p>
          <a:p>
            <a:pPr>
              <a:buFont typeface="Arial" panose="020B0604020202020204" pitchFamily="34" charset="0"/>
              <a:buChar char="•"/>
            </a:pPr>
            <a:r>
              <a:rPr lang="en-US" b="1" dirty="0"/>
              <a:t>Components</a:t>
            </a:r>
            <a:r>
              <a:rPr lang="en-US" dirty="0"/>
              <a:t>: Individual parts that make up the system (e.g., hardware, software, people).</a:t>
            </a:r>
          </a:p>
          <a:p>
            <a:pPr>
              <a:buFont typeface="Arial" panose="020B0604020202020204" pitchFamily="34" charset="0"/>
              <a:buChar char="•"/>
            </a:pPr>
            <a:r>
              <a:rPr lang="en-US" b="1" dirty="0"/>
              <a:t>Interrelationships</a:t>
            </a:r>
            <a:r>
              <a:rPr lang="en-US" dirty="0"/>
              <a:t>: The way components interact or depend on each other.</a:t>
            </a:r>
          </a:p>
          <a:p>
            <a:pPr>
              <a:buFont typeface="Arial" panose="020B0604020202020204" pitchFamily="34" charset="0"/>
              <a:buChar char="•"/>
            </a:pPr>
            <a:r>
              <a:rPr lang="en-US" b="1" dirty="0"/>
              <a:t>Boundary</a:t>
            </a:r>
            <a:r>
              <a:rPr lang="en-US" dirty="0"/>
              <a:t>: Defines what is inside and outside the system.</a:t>
            </a:r>
          </a:p>
          <a:p>
            <a:pPr>
              <a:buFont typeface="Arial" panose="020B0604020202020204" pitchFamily="34" charset="0"/>
              <a:buChar char="•"/>
            </a:pPr>
            <a:r>
              <a:rPr lang="en-US" b="1" dirty="0"/>
              <a:t>Purpose/Goal</a:t>
            </a:r>
            <a:r>
              <a:rPr lang="en-US" dirty="0"/>
              <a:t>: The reason the system exists or what it is intended to achieve.</a:t>
            </a:r>
          </a:p>
          <a:p>
            <a:pPr>
              <a:buFont typeface="Arial" panose="020B0604020202020204" pitchFamily="34" charset="0"/>
              <a:buChar char="•"/>
            </a:pPr>
            <a:r>
              <a:rPr lang="en-US" b="1" dirty="0"/>
              <a:t>Input &amp; Output</a:t>
            </a:r>
            <a:r>
              <a:rPr lang="en-US" dirty="0"/>
              <a:t>: Systems typically take input, process it, and produce output.</a:t>
            </a:r>
          </a:p>
          <a:p>
            <a:pPr>
              <a:buFont typeface="Arial" panose="020B0604020202020204" pitchFamily="34" charset="0"/>
              <a:buChar char="•"/>
            </a:pPr>
            <a:r>
              <a:rPr lang="en-US" b="1" dirty="0"/>
              <a:t>Feedback Mechanism</a:t>
            </a:r>
            <a:r>
              <a:rPr lang="en-US" dirty="0"/>
              <a:t>: Helps regulate and improve performance.</a:t>
            </a:r>
          </a:p>
          <a:p>
            <a:pPr>
              <a:buNone/>
            </a:pPr>
            <a:r>
              <a:rPr lang="en-US" b="1" dirty="0"/>
              <a:t>🧩 Examples of Systems</a:t>
            </a:r>
          </a:p>
          <a:p>
            <a:pPr>
              <a:buFont typeface="+mj-lt"/>
              <a:buAutoNum type="arabicPeriod"/>
            </a:pPr>
            <a:r>
              <a:rPr lang="en-US" b="1" dirty="0"/>
              <a:t>Computer System</a:t>
            </a:r>
            <a:endParaRPr lang="en-US" dirty="0"/>
          </a:p>
          <a:p>
            <a:pPr marL="742950" lvl="1" indent="-285750">
              <a:buFont typeface="+mj-lt"/>
              <a:buAutoNum type="arabicPeriod"/>
            </a:pPr>
            <a:r>
              <a:rPr lang="en-US" dirty="0"/>
              <a:t>Components: Hardware (CPU, RAM), Software, Input/Output devices</a:t>
            </a:r>
          </a:p>
          <a:p>
            <a:pPr marL="742950" lvl="1" indent="-285750">
              <a:buFont typeface="+mj-lt"/>
              <a:buAutoNum type="arabicPeriod"/>
            </a:pPr>
            <a:r>
              <a:rPr lang="en-US" dirty="0"/>
              <a:t>Purpose: Process data into useful information</a:t>
            </a:r>
          </a:p>
          <a:p>
            <a:pPr>
              <a:buFont typeface="+mj-lt"/>
              <a:buAutoNum type="arabicPeriod"/>
            </a:pPr>
            <a:r>
              <a:rPr lang="en-US" b="1" dirty="0"/>
              <a:t>Ecosystem</a:t>
            </a:r>
            <a:endParaRPr lang="en-US" dirty="0"/>
          </a:p>
          <a:p>
            <a:pPr marL="742950" lvl="1" indent="-285750">
              <a:buFont typeface="+mj-lt"/>
              <a:buAutoNum type="arabicPeriod"/>
            </a:pPr>
            <a:r>
              <a:rPr lang="en-US" dirty="0"/>
              <a:t>Components: Plants, animals, microorganisms, climate, soil</a:t>
            </a:r>
          </a:p>
          <a:p>
            <a:pPr marL="742950" lvl="1" indent="-285750">
              <a:buFont typeface="+mj-lt"/>
              <a:buAutoNum type="arabicPeriod"/>
            </a:pPr>
            <a:r>
              <a:rPr lang="en-US" dirty="0"/>
              <a:t>Purpose: Maintain ecological balance and support life</a:t>
            </a:r>
          </a:p>
          <a:p>
            <a:pPr>
              <a:buFont typeface="+mj-lt"/>
              <a:buAutoNum type="arabicPeriod"/>
            </a:pPr>
            <a:r>
              <a:rPr lang="en-US" b="1" dirty="0"/>
              <a:t>Banking System</a:t>
            </a:r>
            <a:endParaRPr lang="en-US" dirty="0"/>
          </a:p>
          <a:p>
            <a:pPr marL="742950" lvl="1" indent="-285750">
              <a:buFont typeface="+mj-lt"/>
              <a:buAutoNum type="arabicPeriod"/>
            </a:pPr>
            <a:r>
              <a:rPr lang="en-US" dirty="0"/>
              <a:t>Components: Banks, ATMs, online services, regulatory bodies</a:t>
            </a:r>
          </a:p>
          <a:p>
            <a:pPr marL="742950" lvl="1" indent="-285750">
              <a:buFont typeface="+mj-lt"/>
              <a:buAutoNum type="arabicPeriod"/>
            </a:pPr>
            <a:r>
              <a:rPr lang="en-US" dirty="0"/>
              <a:t>Purpose: Manage financial transactions and monetary flow</a:t>
            </a:r>
          </a:p>
          <a:p>
            <a:endParaRPr lang="en-US" dirty="0"/>
          </a:p>
          <a:p>
            <a:endParaRPr lang="en-US" dirty="0"/>
          </a:p>
        </p:txBody>
      </p:sp>
      <p:sp>
        <p:nvSpPr>
          <p:cNvPr id="4" name="Slide Number Placeholder 3"/>
          <p:cNvSpPr>
            <a:spLocks noGrp="1"/>
          </p:cNvSpPr>
          <p:nvPr>
            <p:ph type="sldNum" sz="quarter" idx="5"/>
          </p:nvPr>
        </p:nvSpPr>
        <p:spPr/>
        <p:txBody>
          <a:bodyPr/>
          <a:lstStyle/>
          <a:p>
            <a:fld id="{FEC90A1E-2D97-4F98-8072-0FEC503F4559}" type="slidenum">
              <a:rPr lang="en-US" smtClean="0"/>
              <a:t>6</a:t>
            </a:fld>
            <a:endParaRPr lang="en-US"/>
          </a:p>
        </p:txBody>
      </p:sp>
    </p:spTree>
    <p:extLst>
      <p:ext uri="{BB962C8B-B14F-4D97-AF65-F5344CB8AC3E}">
        <p14:creationId xmlns:p14="http://schemas.microsoft.com/office/powerpoint/2010/main" val="4271452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C90A1E-2D97-4F98-8072-0FEC503F4559}" type="slidenum">
              <a:rPr lang="en-US" smtClean="0"/>
              <a:t>7</a:t>
            </a:fld>
            <a:endParaRPr lang="en-US"/>
          </a:p>
        </p:txBody>
      </p:sp>
    </p:spTree>
    <p:extLst>
      <p:ext uri="{BB962C8B-B14F-4D97-AF65-F5344CB8AC3E}">
        <p14:creationId xmlns:p14="http://schemas.microsoft.com/office/powerpoint/2010/main" val="3404897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a:t>
            </a:r>
          </a:p>
        </p:txBody>
      </p:sp>
      <p:sp>
        <p:nvSpPr>
          <p:cNvPr id="4" name="Slide Number Placeholder 3"/>
          <p:cNvSpPr>
            <a:spLocks noGrp="1"/>
          </p:cNvSpPr>
          <p:nvPr>
            <p:ph type="sldNum" sz="quarter" idx="5"/>
          </p:nvPr>
        </p:nvSpPr>
        <p:spPr/>
        <p:txBody>
          <a:bodyPr/>
          <a:lstStyle/>
          <a:p>
            <a:fld id="{FEC90A1E-2D97-4F98-8072-0FEC503F4559}" type="slidenum">
              <a:rPr lang="en-US" smtClean="0"/>
              <a:t>14</a:t>
            </a:fld>
            <a:endParaRPr lang="en-US"/>
          </a:p>
        </p:txBody>
      </p:sp>
    </p:spTree>
    <p:extLst>
      <p:ext uri="{BB962C8B-B14F-4D97-AF65-F5344CB8AC3E}">
        <p14:creationId xmlns:p14="http://schemas.microsoft.com/office/powerpoint/2010/main" val="1623421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a:t>
            </a:r>
          </a:p>
        </p:txBody>
      </p:sp>
      <p:sp>
        <p:nvSpPr>
          <p:cNvPr id="4" name="Slide Number Placeholder 3"/>
          <p:cNvSpPr>
            <a:spLocks noGrp="1"/>
          </p:cNvSpPr>
          <p:nvPr>
            <p:ph type="sldNum" sz="quarter" idx="5"/>
          </p:nvPr>
        </p:nvSpPr>
        <p:spPr/>
        <p:txBody>
          <a:bodyPr/>
          <a:lstStyle/>
          <a:p>
            <a:fld id="{FEC90A1E-2D97-4F98-8072-0FEC503F4559}" type="slidenum">
              <a:rPr lang="en-US" smtClean="0"/>
              <a:t>15</a:t>
            </a:fld>
            <a:endParaRPr lang="en-US"/>
          </a:p>
        </p:txBody>
      </p:sp>
    </p:spTree>
    <p:extLst>
      <p:ext uri="{BB962C8B-B14F-4D97-AF65-F5344CB8AC3E}">
        <p14:creationId xmlns:p14="http://schemas.microsoft.com/office/powerpoint/2010/main" val="538440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 </a:t>
            </a:r>
            <a:r>
              <a:rPr lang="en-US" b="0" i="0" dirty="0">
                <a:solidFill>
                  <a:srgbClr val="333333"/>
                </a:solidFill>
                <a:effectLst/>
                <a:latin typeface="Helvetica Neue"/>
              </a:rPr>
              <a:t>the gap between the analysis model and the system’s design model must be less. Failing to bridge this gap causes the system to diverge over time.</a:t>
            </a:r>
          </a:p>
          <a:p>
            <a:endParaRPr lang="en-US" b="0" i="0" dirty="0">
              <a:solidFill>
                <a:srgbClr val="333333"/>
              </a:solidFill>
              <a:effectLst/>
              <a:latin typeface="Helvetica Neue"/>
            </a:endParaRPr>
          </a:p>
          <a:p>
            <a:r>
              <a:rPr lang="en-US" sz="1200" dirty="0"/>
              <a:t>Aggregation: Models should be adaptable to different scenarios</a:t>
            </a:r>
          </a:p>
          <a:p>
            <a:endParaRPr lang="en-US" sz="1200" dirty="0"/>
          </a:p>
          <a:p>
            <a:pPr>
              <a:buNone/>
            </a:pPr>
            <a:r>
              <a:rPr lang="en-US" b="1" dirty="0"/>
              <a:t>Characteristics of a Good Model</a:t>
            </a:r>
          </a:p>
          <a:p>
            <a:pPr>
              <a:buFont typeface="+mj-lt"/>
              <a:buAutoNum type="arabicPeriod"/>
            </a:pPr>
            <a:r>
              <a:rPr lang="en-US" b="1" dirty="0"/>
              <a:t>Abstraction</a:t>
            </a:r>
            <a:endParaRPr lang="en-US" dirty="0"/>
          </a:p>
          <a:p>
            <a:pPr marL="742950" lvl="1" indent="-285750">
              <a:buFont typeface="+mj-lt"/>
              <a:buAutoNum type="arabicPeriod"/>
            </a:pPr>
            <a:r>
              <a:rPr lang="en-US" dirty="0"/>
              <a:t>Focuses on the </a:t>
            </a:r>
            <a:r>
              <a:rPr lang="en-US" b="1" dirty="0"/>
              <a:t>key aspects</a:t>
            </a:r>
            <a:r>
              <a:rPr lang="en-US" dirty="0"/>
              <a:t> of the system.</a:t>
            </a:r>
          </a:p>
          <a:p>
            <a:pPr marL="742950" lvl="1" indent="-285750">
              <a:buFont typeface="+mj-lt"/>
              <a:buAutoNum type="arabicPeriod"/>
            </a:pPr>
            <a:r>
              <a:rPr lang="en-US" dirty="0"/>
              <a:t>Ignores unnecessary details that don’t affect outcomes.</a:t>
            </a:r>
          </a:p>
          <a:p>
            <a:pPr>
              <a:buFont typeface="+mj-lt"/>
              <a:buAutoNum type="arabicPeriod"/>
            </a:pPr>
            <a:r>
              <a:rPr lang="en-US" b="1" dirty="0"/>
              <a:t>Accuracy</a:t>
            </a:r>
            <a:endParaRPr lang="en-US" dirty="0"/>
          </a:p>
          <a:p>
            <a:pPr marL="742950" lvl="1" indent="-285750">
              <a:buFont typeface="+mj-lt"/>
              <a:buAutoNum type="arabicPeriod"/>
            </a:pPr>
            <a:r>
              <a:rPr lang="en-US" dirty="0"/>
              <a:t>Ensures the model reflects </a:t>
            </a:r>
            <a:r>
              <a:rPr lang="en-US" b="1" dirty="0"/>
              <a:t>real-world behavior</a:t>
            </a:r>
            <a:r>
              <a:rPr lang="en-US" dirty="0"/>
              <a:t> correctly.</a:t>
            </a:r>
          </a:p>
          <a:p>
            <a:pPr marL="742950" lvl="1" indent="-285750">
              <a:buFont typeface="+mj-lt"/>
              <a:buAutoNum type="arabicPeriod"/>
            </a:pPr>
            <a:r>
              <a:rPr lang="en-US" dirty="0"/>
              <a:t>Results from the model should be </a:t>
            </a:r>
            <a:r>
              <a:rPr lang="en-US" b="1" dirty="0"/>
              <a:t>reliable and valid</a:t>
            </a:r>
            <a:r>
              <a:rPr lang="en-US" dirty="0"/>
              <a:t>.</a:t>
            </a:r>
          </a:p>
          <a:p>
            <a:pPr>
              <a:buFont typeface="+mj-lt"/>
              <a:buAutoNum type="arabicPeriod"/>
            </a:pPr>
            <a:r>
              <a:rPr lang="en-US" b="1" dirty="0"/>
              <a:t>Simplicity</a:t>
            </a:r>
            <a:endParaRPr lang="en-US" dirty="0"/>
          </a:p>
          <a:p>
            <a:pPr marL="742950" lvl="1" indent="-285750">
              <a:buFont typeface="+mj-lt"/>
              <a:buAutoNum type="arabicPeriod"/>
            </a:pPr>
            <a:r>
              <a:rPr lang="en-US" dirty="0"/>
              <a:t>Should be </a:t>
            </a:r>
            <a:r>
              <a:rPr lang="en-US" b="1" dirty="0"/>
              <a:t>easy to understand</a:t>
            </a:r>
            <a:r>
              <a:rPr lang="en-US" dirty="0"/>
              <a:t> and work with.</a:t>
            </a:r>
          </a:p>
          <a:p>
            <a:pPr marL="742950" lvl="1" indent="-285750">
              <a:buFont typeface="+mj-lt"/>
              <a:buAutoNum type="arabicPeriod"/>
            </a:pPr>
            <a:r>
              <a:rPr lang="en-US" dirty="0"/>
              <a:t>Avoids unnecessary complexity while retaining important functions.</a:t>
            </a:r>
          </a:p>
          <a:p>
            <a:pPr>
              <a:buFont typeface="+mj-lt"/>
              <a:buAutoNum type="arabicPeriod"/>
            </a:pPr>
            <a:r>
              <a:rPr lang="en-US" b="1" dirty="0"/>
              <a:t>Relevance</a:t>
            </a:r>
            <a:endParaRPr lang="en-US" dirty="0"/>
          </a:p>
          <a:p>
            <a:pPr marL="742950" lvl="1" indent="-285750">
              <a:buFont typeface="+mj-lt"/>
              <a:buAutoNum type="arabicPeriod"/>
            </a:pPr>
            <a:r>
              <a:rPr lang="en-US" dirty="0"/>
              <a:t>Includes only the elements </a:t>
            </a:r>
            <a:r>
              <a:rPr lang="en-US" b="1" dirty="0"/>
              <a:t>relevant to the objective</a:t>
            </a:r>
            <a:r>
              <a:rPr lang="en-US" dirty="0"/>
              <a:t>.</a:t>
            </a:r>
          </a:p>
          <a:p>
            <a:pPr marL="742950" lvl="1" indent="-285750">
              <a:buFont typeface="+mj-lt"/>
              <a:buAutoNum type="arabicPeriod"/>
            </a:pPr>
            <a:r>
              <a:rPr lang="en-US" dirty="0"/>
              <a:t>Tailored to the purpose for which the model is being used.</a:t>
            </a:r>
          </a:p>
          <a:p>
            <a:pPr>
              <a:buFont typeface="+mj-lt"/>
              <a:buAutoNum type="arabicPeriod"/>
            </a:pPr>
            <a:r>
              <a:rPr lang="en-US" b="1" dirty="0"/>
              <a:t>Essential Representation</a:t>
            </a:r>
            <a:endParaRPr lang="en-US" dirty="0"/>
          </a:p>
          <a:p>
            <a:pPr marL="742950" lvl="1" indent="-285750">
              <a:buFont typeface="+mj-lt"/>
              <a:buAutoNum type="arabicPeriod"/>
            </a:pPr>
            <a:r>
              <a:rPr lang="en-US" dirty="0"/>
              <a:t>A good model should </a:t>
            </a:r>
            <a:r>
              <a:rPr lang="en-US" b="1" dirty="0"/>
              <a:t>represent the essential features</a:t>
            </a:r>
            <a:r>
              <a:rPr lang="en-US" dirty="0"/>
              <a:t> of the system.</a:t>
            </a:r>
          </a:p>
          <a:p>
            <a:pPr marL="742950" lvl="1" indent="-285750">
              <a:buFont typeface="+mj-lt"/>
              <a:buAutoNum type="arabicPeriod"/>
            </a:pPr>
            <a:r>
              <a:rPr lang="en-US" dirty="0"/>
              <a:t>Captures the </a:t>
            </a:r>
            <a:r>
              <a:rPr lang="en-US" b="1" dirty="0"/>
              <a:t>core dynamics</a:t>
            </a:r>
            <a:r>
              <a:rPr lang="en-US" dirty="0"/>
              <a:t> and relationships.</a:t>
            </a:r>
          </a:p>
          <a:p>
            <a:endParaRPr lang="en-US" dirty="0"/>
          </a:p>
          <a:p>
            <a:endParaRPr lang="en-US" dirty="0"/>
          </a:p>
        </p:txBody>
      </p:sp>
      <p:sp>
        <p:nvSpPr>
          <p:cNvPr id="4" name="Slide Number Placeholder 3"/>
          <p:cNvSpPr>
            <a:spLocks noGrp="1"/>
          </p:cNvSpPr>
          <p:nvPr>
            <p:ph type="sldNum" sz="quarter" idx="5"/>
          </p:nvPr>
        </p:nvSpPr>
        <p:spPr/>
        <p:txBody>
          <a:bodyPr/>
          <a:lstStyle/>
          <a:p>
            <a:fld id="{FEC90A1E-2D97-4F98-8072-0FEC503F4559}" type="slidenum">
              <a:rPr lang="en-US" smtClean="0"/>
              <a:t>16</a:t>
            </a:fld>
            <a:endParaRPr lang="en-US"/>
          </a:p>
        </p:txBody>
      </p:sp>
    </p:spTree>
    <p:extLst>
      <p:ext uri="{BB962C8B-B14F-4D97-AF65-F5344CB8AC3E}">
        <p14:creationId xmlns:p14="http://schemas.microsoft.com/office/powerpoint/2010/main" val="1434485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Areas of Application</a:t>
            </a:r>
          </a:p>
          <a:p>
            <a:r>
              <a:rPr lang="en-US" b="1" dirty="0"/>
              <a:t>Military Training:</a:t>
            </a:r>
            <a:r>
              <a:rPr lang="en-US" dirty="0"/>
              <a:t> Mission rehearsals, battlefield training, and virtual combat scenarios.</a:t>
            </a:r>
          </a:p>
          <a:p>
            <a:r>
              <a:rPr lang="en-US" b="1" dirty="0"/>
              <a:t>Engineering:</a:t>
            </a:r>
            <a:r>
              <a:rPr lang="en-US" dirty="0"/>
              <a:t> Stress testing, design validation, and prototyping.</a:t>
            </a:r>
          </a:p>
          <a:p>
            <a:r>
              <a:rPr lang="en-US" b="1" dirty="0"/>
              <a:t>Traffic Systems:</a:t>
            </a:r>
            <a:r>
              <a:rPr lang="en-US" dirty="0"/>
              <a:t> Intersection design, signal timing, highway planning, and congestion analysis.</a:t>
            </a:r>
          </a:p>
          <a:p>
            <a:r>
              <a:rPr lang="en-US" b="1" dirty="0"/>
              <a:t>Healthcare and Pharma:</a:t>
            </a:r>
            <a:r>
              <a:rPr lang="en-US" dirty="0"/>
              <a:t> Hospital workflow planning, patient flow analysis, drug development, and clinical trial design.</a:t>
            </a:r>
          </a:p>
          <a:p>
            <a:r>
              <a:rPr lang="en-US" b="1" dirty="0"/>
              <a:t>Business Process Modeling and Service Systems:</a:t>
            </a:r>
            <a:r>
              <a:rPr lang="en-US" dirty="0"/>
              <a:t> Workflow modeling for customer service, order fulfillment, call centers, and administration.</a:t>
            </a:r>
          </a:p>
          <a:p>
            <a:r>
              <a:rPr lang="en-US" b="1" dirty="0"/>
              <a:t>Manufacturing and Production:</a:t>
            </a:r>
            <a:r>
              <a:rPr lang="en-US" dirty="0"/>
              <a:t> Factory layout design, production line balancing, machine scheduling, and quality control.</a:t>
            </a:r>
          </a:p>
          <a:p>
            <a:r>
              <a:rPr lang="en-US" b="1" dirty="0"/>
              <a:t>Marketing and Competition:</a:t>
            </a:r>
            <a:r>
              <a:rPr lang="en-US" dirty="0"/>
              <a:t> Customer behavior, pricing strategy, campaign performance, and competitive response modeling.</a:t>
            </a:r>
          </a:p>
          <a:p>
            <a:r>
              <a:rPr lang="en-US" b="1" dirty="0"/>
              <a:t>Project and Asset Management:</a:t>
            </a:r>
            <a:r>
              <a:rPr lang="en-US" dirty="0"/>
              <a:t> Timeline planning, risk evaluation, budget allocation, and equipment lifecycle management.</a:t>
            </a:r>
          </a:p>
          <a:p>
            <a:r>
              <a:rPr lang="en-US" b="1" dirty="0"/>
              <a:t>Supply Chains and Logistics:</a:t>
            </a:r>
            <a:r>
              <a:rPr lang="en-US" dirty="0"/>
              <a:t> Inventory policies, warehouse operations, transport routes, and disruption scenarios.</a:t>
            </a:r>
          </a:p>
          <a:p>
            <a:r>
              <a:rPr lang="en-US" b="1" dirty="0"/>
              <a:t>Environmental and Climate Studies:</a:t>
            </a:r>
            <a:r>
              <a:rPr lang="en-US" dirty="0"/>
              <a:t> Weather prediction, flood planning, pollution tracking, and climate impact analysis.</a:t>
            </a:r>
          </a:p>
          <a:p>
            <a:r>
              <a:rPr lang="en-US" b="1" dirty="0"/>
              <a:t>Education and Research:</a:t>
            </a:r>
            <a:r>
              <a:rPr lang="en-US" dirty="0"/>
              <a:t> Interactive learning, lab experiments, scientific experimentation, and hypothesis testing.</a:t>
            </a:r>
          </a:p>
          <a:p>
            <a:r>
              <a:rPr lang="en-US" b="1" dirty="0"/>
              <a:t>Urban Planning and Smart Cities:</a:t>
            </a:r>
            <a:r>
              <a:rPr lang="en-US" dirty="0"/>
              <a:t> Land use, housing growth, energy demand, public transit, and emergency response planning.</a:t>
            </a:r>
          </a:p>
          <a:p>
            <a:endParaRPr lang="en-US" dirty="0"/>
          </a:p>
          <a:p>
            <a:endParaRPr lang="en-US" dirty="0"/>
          </a:p>
          <a:p>
            <a:r>
              <a:rPr lang="en-US" b="1" dirty="0"/>
              <a:t>1. Military Training</a:t>
            </a:r>
          </a:p>
          <a:p>
            <a:r>
              <a:rPr lang="en-US" b="1" dirty="0"/>
              <a:t>Type:</a:t>
            </a:r>
            <a:r>
              <a:rPr lang="en-US" dirty="0"/>
              <a:t> Virtual / Live Simulation</a:t>
            </a:r>
            <a:br>
              <a:rPr lang="en-US" dirty="0"/>
            </a:br>
            <a:r>
              <a:rPr lang="en-US" b="1" dirty="0"/>
              <a:t>Examples:</a:t>
            </a:r>
            <a:endParaRPr lang="en-US" dirty="0"/>
          </a:p>
          <a:p>
            <a:r>
              <a:rPr lang="en-US" b="1" dirty="0"/>
              <a:t>Flight and combat simulators</a:t>
            </a:r>
            <a:r>
              <a:rPr lang="en-US" dirty="0"/>
              <a:t> to train pilots and soldiers in realistic battlefield conditions.</a:t>
            </a:r>
          </a:p>
          <a:p>
            <a:r>
              <a:rPr lang="en-US" b="1" dirty="0"/>
              <a:t>Tank and submarine simulators</a:t>
            </a:r>
            <a:r>
              <a:rPr lang="en-US" dirty="0"/>
              <a:t> replicate control systems and mission scenarios.</a:t>
            </a:r>
          </a:p>
          <a:p>
            <a:r>
              <a:rPr lang="en-US" b="1" dirty="0"/>
              <a:t>Wargaming simulations</a:t>
            </a:r>
            <a:r>
              <a:rPr lang="en-US" dirty="0"/>
              <a:t> model enemy strategies and resource allocation.</a:t>
            </a:r>
          </a:p>
          <a:p>
            <a:r>
              <a:rPr lang="en-US" b="1" dirty="0"/>
              <a:t>Purpose:</a:t>
            </a:r>
            <a:endParaRPr lang="en-US" dirty="0"/>
          </a:p>
          <a:p>
            <a:r>
              <a:rPr lang="en-US" dirty="0"/>
              <a:t>Safe, cost-effective training without real-world risks.</a:t>
            </a:r>
          </a:p>
          <a:p>
            <a:r>
              <a:rPr lang="en-US" dirty="0"/>
              <a:t>Strategic decision-making and mission planning.</a:t>
            </a:r>
          </a:p>
          <a:p>
            <a:br>
              <a:rPr lang="en-US" dirty="0"/>
            </a:br>
            <a:endParaRPr lang="en-US" dirty="0"/>
          </a:p>
          <a:p>
            <a:r>
              <a:rPr lang="en-US" b="1" dirty="0"/>
              <a:t>⚙️ 2. Engineering</a:t>
            </a:r>
          </a:p>
          <a:p>
            <a:r>
              <a:rPr lang="en-US" b="1" dirty="0"/>
              <a:t>Type:</a:t>
            </a:r>
            <a:r>
              <a:rPr lang="en-US" dirty="0"/>
              <a:t> System / Continuous Simulation</a:t>
            </a:r>
            <a:br>
              <a:rPr lang="en-US" dirty="0"/>
            </a:br>
            <a:r>
              <a:rPr lang="en-US" b="1" dirty="0"/>
              <a:t>Examples:</a:t>
            </a:r>
            <a:endParaRPr lang="en-US" dirty="0"/>
          </a:p>
          <a:p>
            <a:r>
              <a:rPr lang="en-US" b="1" dirty="0"/>
              <a:t>Finite Element Analysis (FEA)</a:t>
            </a:r>
            <a:r>
              <a:rPr lang="en-US" dirty="0"/>
              <a:t> to test mechanical structures under stress and heat.</a:t>
            </a:r>
          </a:p>
          <a:p>
            <a:r>
              <a:rPr lang="en-US" b="1" dirty="0"/>
              <a:t>Computational Fluid Dynamics (CFD)</a:t>
            </a:r>
            <a:r>
              <a:rPr lang="en-US" dirty="0"/>
              <a:t> for airflow in vehicles, turbines, or aircraft.</a:t>
            </a:r>
          </a:p>
          <a:p>
            <a:r>
              <a:rPr lang="en-US" b="1" dirty="0"/>
              <a:t>Digital twins</a:t>
            </a:r>
            <a:r>
              <a:rPr lang="en-US" dirty="0"/>
              <a:t> to simulate machinery performance before physical production.</a:t>
            </a:r>
          </a:p>
          <a:p>
            <a:r>
              <a:rPr lang="en-US" b="1" dirty="0"/>
              <a:t>Purpose:</a:t>
            </a:r>
            <a:endParaRPr lang="en-US" dirty="0"/>
          </a:p>
          <a:p>
            <a:r>
              <a:rPr lang="en-US" dirty="0"/>
              <a:t>Optimize designs and reduce prototyping costs.</a:t>
            </a:r>
          </a:p>
          <a:p>
            <a:r>
              <a:rPr lang="en-US" dirty="0"/>
              <a:t>Predict failures or efficiency improvements.</a:t>
            </a:r>
          </a:p>
          <a:p>
            <a:br>
              <a:rPr lang="en-US" dirty="0"/>
            </a:br>
            <a:endParaRPr lang="en-US" dirty="0"/>
          </a:p>
          <a:p>
            <a:r>
              <a:rPr lang="en-US" b="1" dirty="0"/>
              <a:t>🚗 3. Traffic Systems</a:t>
            </a:r>
          </a:p>
          <a:p>
            <a:r>
              <a:rPr lang="en-US" b="1" dirty="0"/>
              <a:t>Type:</a:t>
            </a:r>
            <a:r>
              <a:rPr lang="en-US" dirty="0"/>
              <a:t> Discrete Event / Agent-Based Simulation</a:t>
            </a:r>
            <a:br>
              <a:rPr lang="en-US" dirty="0"/>
            </a:br>
            <a:r>
              <a:rPr lang="en-US" b="1" dirty="0"/>
              <a:t>Examples:</a:t>
            </a:r>
            <a:endParaRPr lang="en-US" dirty="0"/>
          </a:p>
          <a:p>
            <a:r>
              <a:rPr lang="en-US" b="1" dirty="0"/>
              <a:t>SUMO (Simulation of Urban </a:t>
            </a:r>
            <a:r>
              <a:rPr lang="en-US" b="1" dirty="0" err="1"/>
              <a:t>MObility</a:t>
            </a:r>
            <a:r>
              <a:rPr lang="en-US" b="1" dirty="0"/>
              <a:t>)</a:t>
            </a:r>
            <a:r>
              <a:rPr lang="en-US" dirty="0"/>
              <a:t> for modeling vehicle flow and congestion.</a:t>
            </a:r>
          </a:p>
          <a:p>
            <a:r>
              <a:rPr lang="en-US" b="1" dirty="0"/>
              <a:t>Smart traffic signal simulation</a:t>
            </a:r>
            <a:r>
              <a:rPr lang="en-US" dirty="0"/>
              <a:t> to reduce delays and accidents.</a:t>
            </a:r>
          </a:p>
          <a:p>
            <a:r>
              <a:rPr lang="en-US" b="1" dirty="0"/>
              <a:t>Pedestrian movement modeling</a:t>
            </a:r>
            <a:r>
              <a:rPr lang="en-US" dirty="0"/>
              <a:t> for public events or city planning.</a:t>
            </a:r>
          </a:p>
          <a:p>
            <a:r>
              <a:rPr lang="en-US" b="1" dirty="0"/>
              <a:t>Purpose:</a:t>
            </a:r>
            <a:endParaRPr lang="en-US" dirty="0"/>
          </a:p>
          <a:p>
            <a:r>
              <a:rPr lang="en-US" dirty="0"/>
              <a:t>Improve traffic flow and urban infrastructure.</a:t>
            </a:r>
          </a:p>
          <a:p>
            <a:r>
              <a:rPr lang="en-US" dirty="0"/>
              <a:t>Analyze effects of new roads or policies before implementation.</a:t>
            </a:r>
          </a:p>
          <a:p>
            <a:br>
              <a:rPr lang="en-US" dirty="0"/>
            </a:br>
            <a:endParaRPr lang="en-US" dirty="0"/>
          </a:p>
          <a:p>
            <a:r>
              <a:rPr lang="en-US" b="1" dirty="0"/>
              <a:t>🏥 4. Healthcare and Pharma</a:t>
            </a:r>
          </a:p>
          <a:p>
            <a:r>
              <a:rPr lang="en-US" b="1" dirty="0"/>
              <a:t>Type:</a:t>
            </a:r>
            <a:r>
              <a:rPr lang="en-US" dirty="0"/>
              <a:t> System Dynamics / Monte Carlo Simulation</a:t>
            </a:r>
            <a:br>
              <a:rPr lang="en-US" dirty="0"/>
            </a:br>
            <a:r>
              <a:rPr lang="en-US" b="1" dirty="0"/>
              <a:t>Examples:</a:t>
            </a:r>
            <a:endParaRPr lang="en-US" dirty="0"/>
          </a:p>
          <a:p>
            <a:r>
              <a:rPr lang="en-US" b="1" dirty="0"/>
              <a:t>Hospital operation simulation</a:t>
            </a:r>
            <a:r>
              <a:rPr lang="en-US" dirty="0"/>
              <a:t> for patient flow, emergency response, and staffing.</a:t>
            </a:r>
          </a:p>
          <a:p>
            <a:r>
              <a:rPr lang="en-US" b="1" dirty="0"/>
              <a:t>Clinical trial simulation</a:t>
            </a:r>
            <a:r>
              <a:rPr lang="en-US" dirty="0"/>
              <a:t> to test drug efficacy virtually before human trials.</a:t>
            </a:r>
          </a:p>
          <a:p>
            <a:r>
              <a:rPr lang="en-US" b="1" dirty="0"/>
              <a:t>Disease spread modeling (e.g., COVID-19)</a:t>
            </a:r>
            <a:r>
              <a:rPr lang="en-US" dirty="0"/>
              <a:t> using epidemiological simulations (SEIR models).</a:t>
            </a:r>
          </a:p>
          <a:p>
            <a:r>
              <a:rPr lang="en-US" b="1" dirty="0"/>
              <a:t>Purpose:</a:t>
            </a:r>
            <a:endParaRPr lang="en-US" dirty="0"/>
          </a:p>
          <a:p>
            <a:r>
              <a:rPr lang="en-US" dirty="0"/>
              <a:t>Save lives and reduce costs by improving healthcare efficiency.</a:t>
            </a:r>
          </a:p>
          <a:p>
            <a:r>
              <a:rPr lang="en-US" dirty="0"/>
              <a:t>Forecast disease outcomes and optimize medical resource allocation.</a:t>
            </a:r>
          </a:p>
          <a:p>
            <a:br>
              <a:rPr lang="en-US" dirty="0"/>
            </a:br>
            <a:endParaRPr lang="en-US" dirty="0"/>
          </a:p>
          <a:p>
            <a:r>
              <a:rPr lang="en-US" b="1" dirty="0"/>
              <a:t>🏢 5. Business Process Modeling &amp; Service Systems</a:t>
            </a:r>
          </a:p>
          <a:p>
            <a:r>
              <a:rPr lang="en-US" b="1" dirty="0"/>
              <a:t>Type:</a:t>
            </a:r>
            <a:r>
              <a:rPr lang="en-US" dirty="0"/>
              <a:t> Discrete Event / Process Simulation</a:t>
            </a:r>
            <a:br>
              <a:rPr lang="en-US" dirty="0"/>
            </a:br>
            <a:r>
              <a:rPr lang="en-US" b="1" dirty="0"/>
              <a:t>Examples:</a:t>
            </a:r>
            <a:endParaRPr lang="en-US" dirty="0"/>
          </a:p>
          <a:p>
            <a:r>
              <a:rPr lang="en-US" b="1" dirty="0"/>
              <a:t>Customer service center simulation</a:t>
            </a:r>
            <a:r>
              <a:rPr lang="en-US" dirty="0"/>
              <a:t> to test staffing levels and queue times.</a:t>
            </a:r>
          </a:p>
          <a:p>
            <a:r>
              <a:rPr lang="en-US" b="1" dirty="0"/>
              <a:t>Bank or insurance workflow simulation</a:t>
            </a:r>
            <a:r>
              <a:rPr lang="en-US" dirty="0"/>
              <a:t> to optimize transaction speed.</a:t>
            </a:r>
          </a:p>
          <a:p>
            <a:r>
              <a:rPr lang="en-US" b="1" dirty="0"/>
              <a:t>BPMN (Business Process Model and Notation)</a:t>
            </a:r>
            <a:r>
              <a:rPr lang="en-US" dirty="0"/>
              <a:t> simulations for process redesign.</a:t>
            </a:r>
          </a:p>
          <a:p>
            <a:r>
              <a:rPr lang="en-US" b="1" dirty="0"/>
              <a:t>Purpose:</a:t>
            </a:r>
            <a:endParaRPr lang="en-US" dirty="0"/>
          </a:p>
          <a:p>
            <a:r>
              <a:rPr lang="en-US" dirty="0"/>
              <a:t>Identify bottlenecks and improve service efficiency.</a:t>
            </a:r>
          </a:p>
          <a:p>
            <a:r>
              <a:rPr lang="en-US" dirty="0"/>
              <a:t>Support decision-making for resource allocation.</a:t>
            </a:r>
          </a:p>
          <a:p>
            <a:br>
              <a:rPr lang="en-US" dirty="0"/>
            </a:br>
            <a:endParaRPr lang="en-US" dirty="0"/>
          </a:p>
          <a:p>
            <a:r>
              <a:rPr lang="en-US" b="1" dirty="0"/>
              <a:t>🏭 6. Manufacturing and Production</a:t>
            </a:r>
          </a:p>
          <a:p>
            <a:r>
              <a:rPr lang="en-US" b="1" dirty="0"/>
              <a:t>Type:</a:t>
            </a:r>
            <a:r>
              <a:rPr lang="en-US" dirty="0"/>
              <a:t> Discrete Event / System Simulation</a:t>
            </a:r>
            <a:br>
              <a:rPr lang="en-US" dirty="0"/>
            </a:br>
            <a:r>
              <a:rPr lang="en-US" b="1" dirty="0"/>
              <a:t>Examples:</a:t>
            </a:r>
            <a:endParaRPr lang="en-US" dirty="0"/>
          </a:p>
          <a:p>
            <a:r>
              <a:rPr lang="en-US" b="1" dirty="0"/>
              <a:t>Factory floor simulation</a:t>
            </a:r>
            <a:r>
              <a:rPr lang="en-US" dirty="0"/>
              <a:t> (e.g., assembly line optimization).</a:t>
            </a:r>
          </a:p>
          <a:p>
            <a:r>
              <a:rPr lang="en-US" b="1" dirty="0"/>
              <a:t>Material flow and machine utilization modeling.</a:t>
            </a:r>
            <a:endParaRPr lang="en-US" dirty="0"/>
          </a:p>
          <a:p>
            <a:r>
              <a:rPr lang="en-US" b="1" dirty="0"/>
              <a:t>Robotic cell simulation</a:t>
            </a:r>
            <a:r>
              <a:rPr lang="en-US" dirty="0"/>
              <a:t> in automotive production.</a:t>
            </a:r>
          </a:p>
          <a:p>
            <a:r>
              <a:rPr lang="en-US" b="1" dirty="0"/>
              <a:t>Purpose:</a:t>
            </a:r>
            <a:endParaRPr lang="en-US" dirty="0"/>
          </a:p>
          <a:p>
            <a:r>
              <a:rPr lang="en-US" dirty="0"/>
              <a:t>Reduce downtime and waste.</a:t>
            </a:r>
          </a:p>
          <a:p>
            <a:r>
              <a:rPr lang="en-US" dirty="0"/>
              <a:t>Optimize scheduling, maintenance, and layout planning.</a:t>
            </a:r>
          </a:p>
          <a:p>
            <a:br>
              <a:rPr lang="en-US" dirty="0"/>
            </a:br>
            <a:endParaRPr lang="en-US" dirty="0"/>
          </a:p>
          <a:p>
            <a:r>
              <a:rPr lang="en-US" b="1" dirty="0"/>
              <a:t>📈 7. Marketing and Competition</a:t>
            </a:r>
          </a:p>
          <a:p>
            <a:r>
              <a:rPr lang="en-US" b="1" dirty="0"/>
              <a:t>Type:</a:t>
            </a:r>
            <a:r>
              <a:rPr lang="en-US" dirty="0"/>
              <a:t> System Dynamics / Agent-Based Simulation</a:t>
            </a:r>
            <a:br>
              <a:rPr lang="en-US" dirty="0"/>
            </a:br>
            <a:r>
              <a:rPr lang="en-US" b="1" dirty="0"/>
              <a:t>Examples:</a:t>
            </a:r>
            <a:endParaRPr lang="en-US" dirty="0"/>
          </a:p>
          <a:p>
            <a:r>
              <a:rPr lang="en-US" b="1" dirty="0"/>
              <a:t>Market behavior simulation</a:t>
            </a:r>
            <a:r>
              <a:rPr lang="en-US" dirty="0"/>
              <a:t> to test new product launches.</a:t>
            </a:r>
          </a:p>
          <a:p>
            <a:r>
              <a:rPr lang="en-US" b="1" dirty="0"/>
              <a:t>Consumer choice modeling</a:t>
            </a:r>
            <a:r>
              <a:rPr lang="en-US" dirty="0"/>
              <a:t> for pricing strategies.</a:t>
            </a:r>
          </a:p>
          <a:p>
            <a:r>
              <a:rPr lang="en-US" b="1" dirty="0"/>
              <a:t>Competition simulation</a:t>
            </a:r>
            <a:r>
              <a:rPr lang="en-US" dirty="0"/>
              <a:t> to predict rivals’ responses.</a:t>
            </a:r>
          </a:p>
          <a:p>
            <a:r>
              <a:rPr lang="en-US" b="1" dirty="0"/>
              <a:t>Purpose:</a:t>
            </a:r>
            <a:endParaRPr lang="en-US" dirty="0"/>
          </a:p>
          <a:p>
            <a:r>
              <a:rPr lang="en-US" dirty="0"/>
              <a:t>Understand market dynamics before investing.</a:t>
            </a:r>
          </a:p>
          <a:p>
            <a:r>
              <a:rPr lang="en-US" dirty="0"/>
              <a:t>Support marketing strategy and forecasting.</a:t>
            </a:r>
          </a:p>
          <a:p>
            <a:br>
              <a:rPr lang="en-US" dirty="0"/>
            </a:br>
            <a:endParaRPr lang="en-US" dirty="0"/>
          </a:p>
          <a:p>
            <a:r>
              <a:rPr lang="en-US" b="1" dirty="0"/>
              <a:t>🗂️ 8. Project and Asset Management</a:t>
            </a:r>
          </a:p>
          <a:p>
            <a:r>
              <a:rPr lang="en-US" b="1" dirty="0"/>
              <a:t>Type:</a:t>
            </a:r>
            <a:r>
              <a:rPr lang="en-US" dirty="0"/>
              <a:t> Monte Carlo / Risk Simulation</a:t>
            </a:r>
            <a:br>
              <a:rPr lang="en-US" dirty="0"/>
            </a:br>
            <a:r>
              <a:rPr lang="en-US" b="1" dirty="0"/>
              <a:t>Examples:</a:t>
            </a:r>
            <a:endParaRPr lang="en-US" dirty="0"/>
          </a:p>
          <a:p>
            <a:r>
              <a:rPr lang="en-US" b="1" dirty="0"/>
              <a:t>Project schedule simulation (PERT/CPM models)</a:t>
            </a:r>
            <a:r>
              <a:rPr lang="en-US" dirty="0"/>
              <a:t> to assess delays and risks.</a:t>
            </a:r>
          </a:p>
          <a:p>
            <a:r>
              <a:rPr lang="en-US" b="1" dirty="0"/>
              <a:t>Financial modeling</a:t>
            </a:r>
            <a:r>
              <a:rPr lang="en-US" dirty="0"/>
              <a:t> to forecast ROI and asset depreciation.</a:t>
            </a:r>
          </a:p>
          <a:p>
            <a:r>
              <a:rPr lang="en-US" b="1" dirty="0"/>
              <a:t>Maintenance simulations</a:t>
            </a:r>
            <a:r>
              <a:rPr lang="en-US" dirty="0"/>
              <a:t> for infrastructure and equipment.</a:t>
            </a:r>
          </a:p>
          <a:p>
            <a:r>
              <a:rPr lang="en-US" b="1" dirty="0"/>
              <a:t>Purpose:</a:t>
            </a:r>
            <a:endParaRPr lang="en-US" dirty="0"/>
          </a:p>
          <a:p>
            <a:r>
              <a:rPr lang="en-US" dirty="0"/>
              <a:t>Predict project delays and budget overruns.</a:t>
            </a:r>
          </a:p>
          <a:p>
            <a:r>
              <a:rPr lang="en-US" dirty="0"/>
              <a:t>Optimize resource use and asset lifespan.</a:t>
            </a:r>
          </a:p>
          <a:p>
            <a:br>
              <a:rPr lang="en-US" dirty="0"/>
            </a:br>
            <a:endParaRPr lang="en-US" dirty="0"/>
          </a:p>
          <a:p>
            <a:r>
              <a:rPr lang="en-US" b="1" dirty="0"/>
              <a:t>🚚 9. Supply Chains and Logistics</a:t>
            </a:r>
          </a:p>
          <a:p>
            <a:r>
              <a:rPr lang="en-US" b="1" dirty="0"/>
              <a:t>Type:</a:t>
            </a:r>
            <a:r>
              <a:rPr lang="en-US" dirty="0"/>
              <a:t> Discrete Event / System Dynamics</a:t>
            </a:r>
            <a:br>
              <a:rPr lang="en-US" dirty="0"/>
            </a:br>
            <a:r>
              <a:rPr lang="en-US" b="1" dirty="0"/>
              <a:t>Examples:</a:t>
            </a:r>
            <a:endParaRPr lang="en-US" dirty="0"/>
          </a:p>
          <a:p>
            <a:r>
              <a:rPr lang="en-US" b="1" dirty="0"/>
              <a:t>Warehouse operations simulation</a:t>
            </a:r>
            <a:r>
              <a:rPr lang="en-US" dirty="0"/>
              <a:t> to test layouts and inventory flow.</a:t>
            </a:r>
          </a:p>
          <a:p>
            <a:r>
              <a:rPr lang="en-US" b="1" dirty="0"/>
              <a:t>Transportation network modeling</a:t>
            </a:r>
            <a:r>
              <a:rPr lang="en-US" dirty="0"/>
              <a:t> for route optimization.</a:t>
            </a:r>
          </a:p>
          <a:p>
            <a:r>
              <a:rPr lang="en-US" b="1" dirty="0"/>
              <a:t>Demand forecasting simulation</a:t>
            </a:r>
            <a:r>
              <a:rPr lang="en-US" dirty="0"/>
              <a:t> for global supply chains (e.g., Amazon, DHL).</a:t>
            </a:r>
          </a:p>
          <a:p>
            <a:r>
              <a:rPr lang="en-US" b="1" dirty="0"/>
              <a:t>Purpose:</a:t>
            </a:r>
            <a:endParaRPr lang="en-US" dirty="0"/>
          </a:p>
          <a:p>
            <a:r>
              <a:rPr lang="en-US" dirty="0"/>
              <a:t>Improve delivery efficiency and reduce cost.</a:t>
            </a:r>
          </a:p>
          <a:p>
            <a:r>
              <a:rPr lang="en-US" dirty="0"/>
              <a:t>Plan for disruptions or demand spikes.</a:t>
            </a:r>
          </a:p>
          <a:p>
            <a:br>
              <a:rPr lang="en-US" dirty="0"/>
            </a:br>
            <a:endParaRPr lang="en-US" dirty="0"/>
          </a:p>
          <a:p>
            <a:r>
              <a:rPr lang="en-US" b="1" dirty="0"/>
              <a:t>🌍 10. Other Domains</a:t>
            </a:r>
          </a:p>
          <a:p>
            <a:r>
              <a:rPr lang="en-US" dirty="0"/>
              <a:t>Domain		Example				Purpose</a:t>
            </a:r>
          </a:p>
          <a:p>
            <a:r>
              <a:rPr lang="en-US" b="1" dirty="0"/>
              <a:t>Education		</a:t>
            </a:r>
            <a:r>
              <a:rPr lang="en-US" dirty="0"/>
              <a:t>Virtual classrooms and student performance modeling	Personalized learning strategies</a:t>
            </a:r>
          </a:p>
          <a:p>
            <a:r>
              <a:rPr lang="en-US" b="1" dirty="0"/>
              <a:t>Energy Systems	</a:t>
            </a:r>
            <a:r>
              <a:rPr lang="en-US" dirty="0"/>
              <a:t>Power grid simulation, renewable energy forecasting	Stability and sustainability planning</a:t>
            </a:r>
          </a:p>
          <a:p>
            <a:r>
              <a:rPr lang="en-US" b="1" dirty="0"/>
              <a:t>Environmental Studies	</a:t>
            </a:r>
            <a:r>
              <a:rPr lang="en-US" dirty="0"/>
              <a:t>Climate change and pollution spread modeling	Policy evaluation and impact assessment</a:t>
            </a:r>
          </a:p>
          <a:p>
            <a:r>
              <a:rPr lang="en-US" b="1" dirty="0"/>
              <a:t>Sports Analytics	</a:t>
            </a:r>
            <a:r>
              <a:rPr lang="en-US" dirty="0"/>
              <a:t>Game simulation for strategy optimization		Performance improvement</a:t>
            </a:r>
          </a:p>
          <a:p>
            <a:br>
              <a:rPr lang="en-US" dirty="0"/>
            </a:br>
            <a:endParaRPr lang="en-US" dirty="0"/>
          </a:p>
          <a:p>
            <a:r>
              <a:rPr lang="en-US" b="1" dirty="0"/>
              <a:t>🧠 Summary</a:t>
            </a:r>
          </a:p>
          <a:p>
            <a:r>
              <a:rPr lang="en-US" dirty="0"/>
              <a:t>Simulation and modeling are used to:</a:t>
            </a:r>
          </a:p>
          <a:p>
            <a:r>
              <a:rPr lang="en-US" b="1" dirty="0"/>
              <a:t>Test systems safely and cheaply</a:t>
            </a:r>
            <a:r>
              <a:rPr lang="en-US" dirty="0"/>
              <a:t> before real deployment.</a:t>
            </a:r>
          </a:p>
          <a:p>
            <a:r>
              <a:rPr lang="en-US" b="1" dirty="0"/>
              <a:t>Predict outcomes</a:t>
            </a:r>
            <a:r>
              <a:rPr lang="en-US" dirty="0"/>
              <a:t> under different scenarios.</a:t>
            </a:r>
          </a:p>
          <a:p>
            <a:r>
              <a:rPr lang="en-US" b="1" dirty="0"/>
              <a:t>Optimize performance, cost, and safety</a:t>
            </a:r>
            <a:r>
              <a:rPr lang="en-US" dirty="0"/>
              <a:t> across industries.</a:t>
            </a:r>
          </a:p>
        </p:txBody>
      </p:sp>
      <p:sp>
        <p:nvSpPr>
          <p:cNvPr id="4" name="Slide Number Placeholder 3"/>
          <p:cNvSpPr>
            <a:spLocks noGrp="1"/>
          </p:cNvSpPr>
          <p:nvPr>
            <p:ph type="sldNum" sz="quarter" idx="5"/>
          </p:nvPr>
        </p:nvSpPr>
        <p:spPr/>
        <p:txBody>
          <a:bodyPr/>
          <a:lstStyle/>
          <a:p>
            <a:fld id="{FEC90A1E-2D97-4F98-8072-0FEC503F4559}" type="slidenum">
              <a:rPr lang="en-US" smtClean="0"/>
              <a:t>18</a:t>
            </a:fld>
            <a:endParaRPr lang="en-US"/>
          </a:p>
        </p:txBody>
      </p:sp>
    </p:spTree>
    <p:extLst>
      <p:ext uri="{BB962C8B-B14F-4D97-AF65-F5344CB8AC3E}">
        <p14:creationId xmlns:p14="http://schemas.microsoft.com/office/powerpoint/2010/main" val="414719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b="1" dirty="0"/>
          </a:p>
          <a:p>
            <a:r>
              <a:rPr lang="en-US" dirty="0"/>
              <a:t>   Verification  		 	Validation</a:t>
            </a:r>
          </a:p>
          <a:p>
            <a:endParaRPr lang="en-US" dirty="0"/>
          </a:p>
          <a:p>
            <a:r>
              <a:rPr lang="en-US" dirty="0"/>
              <a:t>Correct implementation      		Real-world relevance</a:t>
            </a:r>
          </a:p>
          <a:p>
            <a:r>
              <a:rPr lang="en-US" dirty="0"/>
              <a:t>Question : Are we building it right?	Are we building the right thing?</a:t>
            </a:r>
          </a:p>
          <a:p>
            <a:r>
              <a:rPr lang="en-US" dirty="0"/>
              <a:t>Method:    Testing, debugging, code checks	Real-world comparison, feedback, </a:t>
            </a:r>
          </a:p>
          <a:p>
            <a:r>
              <a:rPr lang="en-US" dirty="0"/>
              <a:t>Analysis     </a:t>
            </a:r>
            <a:r>
              <a:rPr lang="en-US" dirty="0" err="1"/>
              <a:t>StageDuring</a:t>
            </a:r>
            <a:r>
              <a:rPr lang="en-US" dirty="0"/>
              <a:t> development	After/in parallel with development</a:t>
            </a:r>
          </a:p>
          <a:p>
            <a:endParaRPr lang="en-US" dirty="0"/>
          </a:p>
          <a:p>
            <a:pPr algn="l"/>
            <a:endParaRPr lang="en-US" b="0" i="0" dirty="0">
              <a:solidFill>
                <a:srgbClr val="333333"/>
              </a:solidFill>
              <a:effectLst/>
              <a:latin typeface="Montserrat" panose="020F0502020204030204" pitchFamily="2" charset="0"/>
            </a:endParaRPr>
          </a:p>
          <a:p>
            <a:pPr algn="l"/>
            <a:r>
              <a:rPr lang="en-US" b="0" i="0" dirty="0">
                <a:solidFill>
                  <a:srgbClr val="333333"/>
                </a:solidFill>
                <a:effectLst/>
                <a:latin typeface="Montserrat" panose="020F0502020204030204" pitchFamily="2" charset="0"/>
              </a:rPr>
              <a:t>Verification and validation help to ensure that a sound model was created. More specifically:</a:t>
            </a:r>
          </a:p>
          <a:p>
            <a:pPr algn="l">
              <a:buFont typeface="Arial" panose="020B0604020202020204" pitchFamily="34" charset="0"/>
              <a:buChar char="•"/>
            </a:pPr>
            <a:r>
              <a:rPr lang="en-US" b="0" i="0" u="none" strike="noStrike" dirty="0">
                <a:solidFill>
                  <a:srgbClr val="087D85"/>
                </a:solidFill>
                <a:effectLst/>
                <a:latin typeface="Montserrat" panose="020F0502020204030204" pitchFamily="2" charset="0"/>
                <a:hlinkClick r:id="rId3" tooltip="Verification"/>
              </a:rPr>
              <a:t>Verification</a:t>
            </a:r>
            <a:r>
              <a:rPr lang="en-US" b="0" i="0" dirty="0">
                <a:solidFill>
                  <a:srgbClr val="333333"/>
                </a:solidFill>
                <a:effectLst/>
                <a:latin typeface="Montserrat" panose="020F0502020204030204" pitchFamily="2" charset="0"/>
              </a:rPr>
              <a:t> makes sure that the model operates as intended, in accordance with the assumptions and the model’s technical specifications.</a:t>
            </a:r>
          </a:p>
          <a:p>
            <a:pPr algn="l">
              <a:buFont typeface="Arial" panose="020B0604020202020204" pitchFamily="34" charset="0"/>
              <a:buChar char="•"/>
            </a:pPr>
            <a:r>
              <a:rPr lang="en-US" b="0" i="0" u="none" strike="noStrike" dirty="0">
                <a:solidFill>
                  <a:srgbClr val="087D85"/>
                </a:solidFill>
                <a:effectLst/>
                <a:latin typeface="Montserrat" panose="020F0502020204030204" pitchFamily="2" charset="0"/>
                <a:hlinkClick r:id="rId4"/>
              </a:rPr>
              <a:t>Validation</a:t>
            </a:r>
            <a:r>
              <a:rPr lang="en-US" b="0" i="0" dirty="0">
                <a:solidFill>
                  <a:srgbClr val="333333"/>
                </a:solidFill>
                <a:effectLst/>
                <a:latin typeface="Montserrat" panose="020F0502020204030204" pitchFamily="2" charset="0"/>
              </a:rPr>
              <a:t> makes sure that the model can represent its target system with adequate accuracy.</a:t>
            </a:r>
          </a:p>
          <a:p>
            <a:pPr algn="l"/>
            <a:r>
              <a:rPr lang="en-US" b="0" i="0" dirty="0">
                <a:solidFill>
                  <a:srgbClr val="333333"/>
                </a:solidFill>
                <a:effectLst/>
                <a:latin typeface="Montserrat" panose="020F0502020204030204" pitchFamily="2" charset="0"/>
              </a:rPr>
              <a:t>If a model doesn’t pass both verification and validation, it’s not ready for deployment. A model that fails verification shouldn’t even be considered for validation. Even if your model does pass verification, the model shouldn’t be allowed into the subsequent phases of the project until it also passes validation against the real system.</a:t>
            </a:r>
          </a:p>
          <a:p>
            <a:endParaRPr lang="en-US" dirty="0"/>
          </a:p>
        </p:txBody>
      </p:sp>
      <p:sp>
        <p:nvSpPr>
          <p:cNvPr id="4" name="Slide Number Placeholder 3"/>
          <p:cNvSpPr>
            <a:spLocks noGrp="1"/>
          </p:cNvSpPr>
          <p:nvPr>
            <p:ph type="sldNum" sz="quarter" idx="5"/>
          </p:nvPr>
        </p:nvSpPr>
        <p:spPr/>
        <p:txBody>
          <a:bodyPr/>
          <a:lstStyle/>
          <a:p>
            <a:fld id="{FEC90A1E-2D97-4F98-8072-0FEC503F4559}" type="slidenum">
              <a:rPr lang="en-US" smtClean="0"/>
              <a:t>19</a:t>
            </a:fld>
            <a:endParaRPr lang="en-US"/>
          </a:p>
        </p:txBody>
      </p:sp>
    </p:spTree>
    <p:extLst>
      <p:ext uri="{BB962C8B-B14F-4D97-AF65-F5344CB8AC3E}">
        <p14:creationId xmlns:p14="http://schemas.microsoft.com/office/powerpoint/2010/main" val="3675600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1. Problem Formulation</a:t>
            </a:r>
          </a:p>
          <a:p>
            <a:pPr>
              <a:buNone/>
            </a:pPr>
            <a:r>
              <a:rPr lang="en-US" dirty="0"/>
              <a:t>This is the foundational step where the problem is clearly defined. It involves:</a:t>
            </a:r>
          </a:p>
          <a:p>
            <a:pPr>
              <a:buFont typeface="Arial" panose="020B0604020202020204" pitchFamily="34" charset="0"/>
              <a:buChar char="•"/>
            </a:pPr>
            <a:r>
              <a:rPr lang="en-US" dirty="0"/>
              <a:t>Understanding the system to be studied.</a:t>
            </a:r>
          </a:p>
          <a:p>
            <a:pPr>
              <a:buFont typeface="Arial" panose="020B0604020202020204" pitchFamily="34" charset="0"/>
              <a:buChar char="•"/>
            </a:pPr>
            <a:r>
              <a:rPr lang="en-US" dirty="0"/>
              <a:t>Identifying the purpose of the simulation.</a:t>
            </a:r>
          </a:p>
          <a:p>
            <a:pPr>
              <a:buFont typeface="Arial" panose="020B0604020202020204" pitchFamily="34" charset="0"/>
              <a:buChar char="•"/>
            </a:pPr>
            <a:r>
              <a:rPr lang="en-US" dirty="0"/>
              <a:t>Setting boundaries and assumptions to simplify the real-world system.</a:t>
            </a:r>
          </a:p>
          <a:p>
            <a:pPr>
              <a:buNone/>
            </a:pPr>
            <a:r>
              <a:rPr lang="en-US" dirty="0"/>
              <a:t>📌 </a:t>
            </a:r>
            <a:r>
              <a:rPr lang="en-US" i="1" dirty="0"/>
              <a:t>Example: In a hospital, the problem could be long waiting times in the emergency department.</a:t>
            </a:r>
            <a:endParaRPr lang="en-US" dirty="0"/>
          </a:p>
          <a:p>
            <a:pPr>
              <a:buNone/>
            </a:pPr>
            <a:r>
              <a:rPr lang="en-US" b="1" dirty="0"/>
              <a:t>2. Setting Objectives and Planning</a:t>
            </a:r>
          </a:p>
          <a:p>
            <a:pPr>
              <a:buNone/>
            </a:pPr>
            <a:r>
              <a:rPr lang="en-US" dirty="0"/>
              <a:t>Here, you determine:</a:t>
            </a:r>
          </a:p>
          <a:p>
            <a:pPr>
              <a:buFont typeface="Arial" panose="020B0604020202020204" pitchFamily="34" charset="0"/>
              <a:buChar char="•"/>
            </a:pPr>
            <a:r>
              <a:rPr lang="en-US" dirty="0"/>
              <a:t>What you want to achieve with the simulation (e.g., reduce costs, improve efficiency).</a:t>
            </a:r>
          </a:p>
          <a:p>
            <a:pPr>
              <a:buFont typeface="Arial" panose="020B0604020202020204" pitchFamily="34" charset="0"/>
              <a:buChar char="•"/>
            </a:pPr>
            <a:r>
              <a:rPr lang="en-US" dirty="0"/>
              <a:t>The scope and timeline of the project.</a:t>
            </a:r>
          </a:p>
          <a:p>
            <a:pPr>
              <a:buFont typeface="Arial" panose="020B0604020202020204" pitchFamily="34" charset="0"/>
              <a:buChar char="•"/>
            </a:pPr>
            <a:r>
              <a:rPr lang="en-US" dirty="0"/>
              <a:t>Required resources such as personnel, tools, and data.</a:t>
            </a:r>
          </a:p>
          <a:p>
            <a:pPr>
              <a:buNone/>
            </a:pPr>
            <a:r>
              <a:rPr lang="en-US" dirty="0"/>
              <a:t>📌 </a:t>
            </a:r>
            <a:r>
              <a:rPr lang="en-US" i="1" dirty="0"/>
              <a:t>Objective: Analyze patient flow and reduce waiting time by 20%.</a:t>
            </a:r>
            <a:endParaRPr lang="en-US" dirty="0"/>
          </a:p>
          <a:p>
            <a:pPr>
              <a:buNone/>
            </a:pPr>
            <a:r>
              <a:rPr lang="en-US" b="1" dirty="0"/>
              <a:t>3. Model Building</a:t>
            </a:r>
          </a:p>
          <a:p>
            <a:pPr>
              <a:buNone/>
            </a:pPr>
            <a:r>
              <a:rPr lang="en-US" dirty="0"/>
              <a:t>This step involves constructing a conceptual or logical model that represents the system:</a:t>
            </a:r>
          </a:p>
          <a:p>
            <a:pPr>
              <a:buFont typeface="Arial" panose="020B0604020202020204" pitchFamily="34" charset="0"/>
              <a:buChar char="•"/>
            </a:pPr>
            <a:r>
              <a:rPr lang="en-US" dirty="0"/>
              <a:t>Identify key components and their interactions.</a:t>
            </a:r>
          </a:p>
          <a:p>
            <a:pPr>
              <a:buFont typeface="Arial" panose="020B0604020202020204" pitchFamily="34" charset="0"/>
              <a:buChar char="•"/>
            </a:pPr>
            <a:r>
              <a:rPr lang="en-US" dirty="0"/>
              <a:t>Determine variables and parameters.</a:t>
            </a:r>
          </a:p>
          <a:p>
            <a:pPr>
              <a:buFont typeface="Arial" panose="020B0604020202020204" pitchFamily="34" charset="0"/>
              <a:buChar char="•"/>
            </a:pPr>
            <a:r>
              <a:rPr lang="en-US" dirty="0"/>
              <a:t>Develop flowcharts or diagrams to visualize the system.</a:t>
            </a:r>
          </a:p>
          <a:p>
            <a:pPr>
              <a:buNone/>
            </a:pPr>
            <a:r>
              <a:rPr lang="en-US" dirty="0"/>
              <a:t>📌 </a:t>
            </a:r>
            <a:r>
              <a:rPr lang="en-US" i="1" dirty="0"/>
              <a:t>Model: Represent the flow of patients from registration to discharge.</a:t>
            </a:r>
            <a:endParaRPr lang="en-US" dirty="0"/>
          </a:p>
          <a:p>
            <a:pPr>
              <a:buNone/>
            </a:pPr>
            <a:r>
              <a:rPr lang="en-US" b="1" dirty="0"/>
              <a:t>4. Data Collection</a:t>
            </a:r>
          </a:p>
          <a:p>
            <a:pPr>
              <a:buNone/>
            </a:pPr>
            <a:r>
              <a:rPr lang="en-US" dirty="0"/>
              <a:t>Accurate data is crucial for realistic models. This includes:</a:t>
            </a:r>
          </a:p>
          <a:p>
            <a:pPr>
              <a:buFont typeface="Arial" panose="020B0604020202020204" pitchFamily="34" charset="0"/>
              <a:buChar char="•"/>
            </a:pPr>
            <a:r>
              <a:rPr lang="en-US" dirty="0"/>
              <a:t>Historical data (e.g., arrival rates, service times).</a:t>
            </a:r>
          </a:p>
          <a:p>
            <a:pPr>
              <a:buFont typeface="Arial" panose="020B0604020202020204" pitchFamily="34" charset="0"/>
              <a:buChar char="•"/>
            </a:pPr>
            <a:r>
              <a:rPr lang="en-US" dirty="0"/>
              <a:t>Observational or experimental data.</a:t>
            </a:r>
          </a:p>
          <a:p>
            <a:pPr>
              <a:buFont typeface="Arial" panose="020B0604020202020204" pitchFamily="34" charset="0"/>
              <a:buChar char="•"/>
            </a:pPr>
            <a:r>
              <a:rPr lang="en-US" dirty="0"/>
              <a:t>Ensuring data quality and relevance.</a:t>
            </a:r>
          </a:p>
          <a:p>
            <a:pPr>
              <a:buNone/>
            </a:pPr>
            <a:r>
              <a:rPr lang="en-US" dirty="0"/>
              <a:t>📌 </a:t>
            </a:r>
            <a:r>
              <a:rPr lang="en-US" i="1" dirty="0"/>
              <a:t>Collect average patient arrival rates per hour and service durations.</a:t>
            </a:r>
            <a:endParaRPr lang="en-US" dirty="0"/>
          </a:p>
          <a:p>
            <a:pPr>
              <a:buNone/>
            </a:pPr>
            <a:r>
              <a:rPr lang="en-US" b="1" dirty="0"/>
              <a:t>5. Model Translation</a:t>
            </a:r>
          </a:p>
          <a:p>
            <a:pPr>
              <a:buNone/>
            </a:pPr>
            <a:r>
              <a:rPr lang="en-US" dirty="0"/>
              <a:t>Here, the conceptual model is converted into a computer-based simulation:</a:t>
            </a:r>
          </a:p>
          <a:p>
            <a:pPr>
              <a:buFont typeface="Arial" panose="020B0604020202020204" pitchFamily="34" charset="0"/>
              <a:buChar char="•"/>
            </a:pPr>
            <a:r>
              <a:rPr lang="en-US" dirty="0"/>
              <a:t>Use simulation software or programming tools.</a:t>
            </a:r>
          </a:p>
          <a:p>
            <a:pPr>
              <a:buFont typeface="Arial" panose="020B0604020202020204" pitchFamily="34" charset="0"/>
              <a:buChar char="•"/>
            </a:pPr>
            <a:r>
              <a:rPr lang="en-US" dirty="0"/>
              <a:t>Translate components into code or graphical models.</a:t>
            </a:r>
          </a:p>
          <a:p>
            <a:pPr>
              <a:buFont typeface="Arial" panose="020B0604020202020204" pitchFamily="34" charset="0"/>
              <a:buChar char="•"/>
            </a:pPr>
            <a:r>
              <a:rPr lang="en-US" dirty="0"/>
              <a:t>Ensure all processes and logic are correctly represented.</a:t>
            </a:r>
          </a:p>
          <a:p>
            <a:pPr>
              <a:buNone/>
            </a:pPr>
            <a:r>
              <a:rPr lang="en-US" dirty="0"/>
              <a:t>📌 </a:t>
            </a:r>
            <a:r>
              <a:rPr lang="en-US" i="1" dirty="0"/>
              <a:t>Use </a:t>
            </a:r>
            <a:r>
              <a:rPr lang="en-US" i="1" dirty="0" err="1"/>
              <a:t>AnyLogic</a:t>
            </a:r>
            <a:r>
              <a:rPr lang="en-US" i="1" dirty="0"/>
              <a:t> or Simul8 to build a digital simulation of the hospital flow.</a:t>
            </a:r>
            <a:endParaRPr lang="en-US" dirty="0"/>
          </a:p>
          <a:p>
            <a:pPr>
              <a:buNone/>
            </a:pPr>
            <a:r>
              <a:rPr lang="en-US" b="1" dirty="0"/>
              <a:t>6. Verification &amp; Validation</a:t>
            </a:r>
          </a:p>
          <a:p>
            <a:pPr>
              <a:buFont typeface="Arial" panose="020B0604020202020204" pitchFamily="34" charset="0"/>
              <a:buChar char="•"/>
            </a:pPr>
            <a:r>
              <a:rPr lang="en-US" b="1" dirty="0"/>
              <a:t>Verification</a:t>
            </a:r>
            <a:r>
              <a:rPr lang="en-US" dirty="0"/>
              <a:t> checks if the model is implemented correctly (debugging).</a:t>
            </a:r>
          </a:p>
          <a:p>
            <a:pPr>
              <a:buFont typeface="Arial" panose="020B0604020202020204" pitchFamily="34" charset="0"/>
              <a:buChar char="•"/>
            </a:pPr>
            <a:r>
              <a:rPr lang="en-US" b="1" dirty="0"/>
              <a:t>Validation</a:t>
            </a:r>
            <a:r>
              <a:rPr lang="en-US" dirty="0"/>
              <a:t> ensures the model accurately reflects the real system (accuracy).</a:t>
            </a:r>
          </a:p>
          <a:p>
            <a:pPr>
              <a:buNone/>
            </a:pPr>
            <a:r>
              <a:rPr lang="en-US" dirty="0"/>
              <a:t>📌 </a:t>
            </a:r>
            <a:r>
              <a:rPr lang="en-US" i="1" dirty="0"/>
              <a:t>Does the model simulate the system logic correctly? Are the outputs realistic?</a:t>
            </a:r>
            <a:endParaRPr lang="en-US" dirty="0"/>
          </a:p>
          <a:p>
            <a:pPr>
              <a:buNone/>
            </a:pPr>
            <a:r>
              <a:rPr lang="en-US" b="1" dirty="0"/>
              <a:t>7. Experimentation</a:t>
            </a:r>
          </a:p>
          <a:p>
            <a:pPr>
              <a:buNone/>
            </a:pPr>
            <a:r>
              <a:rPr lang="en-US" dirty="0"/>
              <a:t>Run simulations to test different scenarios:</a:t>
            </a:r>
          </a:p>
          <a:p>
            <a:pPr>
              <a:buFont typeface="Arial" panose="020B0604020202020204" pitchFamily="34" charset="0"/>
              <a:buChar char="•"/>
            </a:pPr>
            <a:r>
              <a:rPr lang="en-US" dirty="0"/>
              <a:t>Vary inputs and observe system behavior.</a:t>
            </a:r>
          </a:p>
          <a:p>
            <a:pPr>
              <a:buFont typeface="Arial" panose="020B0604020202020204" pitchFamily="34" charset="0"/>
              <a:buChar char="•"/>
            </a:pPr>
            <a:r>
              <a:rPr lang="en-US" dirty="0"/>
              <a:t>Conduct "what-if" analysis.</a:t>
            </a:r>
          </a:p>
          <a:p>
            <a:pPr>
              <a:buFont typeface="Arial" panose="020B0604020202020204" pitchFamily="34" charset="0"/>
              <a:buChar char="•"/>
            </a:pPr>
            <a:r>
              <a:rPr lang="en-US" dirty="0"/>
              <a:t>Explore alternative strategies and their impacts.</a:t>
            </a:r>
          </a:p>
          <a:p>
            <a:pPr>
              <a:buNone/>
            </a:pPr>
            <a:r>
              <a:rPr lang="en-US" dirty="0"/>
              <a:t>📌 </a:t>
            </a:r>
            <a:r>
              <a:rPr lang="en-US" i="1" dirty="0"/>
              <a:t>Test the effect of adding one more nurse during peak hours.</a:t>
            </a:r>
            <a:endParaRPr lang="en-US" dirty="0"/>
          </a:p>
          <a:p>
            <a:pPr>
              <a:buNone/>
            </a:pPr>
            <a:r>
              <a:rPr lang="en-US" b="1" dirty="0"/>
              <a:t>8. Result Analysis</a:t>
            </a:r>
          </a:p>
          <a:p>
            <a:pPr>
              <a:buNone/>
            </a:pPr>
            <a:r>
              <a:rPr lang="en-US" dirty="0"/>
              <a:t>Finally, analyze the output data:</a:t>
            </a:r>
          </a:p>
          <a:p>
            <a:pPr>
              <a:buFont typeface="Arial" panose="020B0604020202020204" pitchFamily="34" charset="0"/>
              <a:buChar char="•"/>
            </a:pPr>
            <a:r>
              <a:rPr lang="en-US" dirty="0"/>
              <a:t>Interpret the results with statistical tools.</a:t>
            </a:r>
          </a:p>
          <a:p>
            <a:pPr>
              <a:buFont typeface="Arial" panose="020B0604020202020204" pitchFamily="34" charset="0"/>
              <a:buChar char="•"/>
            </a:pPr>
            <a:r>
              <a:rPr lang="en-US" dirty="0"/>
              <a:t>Compare different scenarios.</a:t>
            </a:r>
          </a:p>
          <a:p>
            <a:pPr>
              <a:buFont typeface="Arial" panose="020B0604020202020204" pitchFamily="34" charset="0"/>
              <a:buChar char="•"/>
            </a:pPr>
            <a:r>
              <a:rPr lang="en-US" dirty="0"/>
              <a:t>Draw conclusions and make recommendations for decision-making.</a:t>
            </a:r>
          </a:p>
          <a:p>
            <a:r>
              <a:rPr lang="en-US" dirty="0"/>
              <a:t>📌 </a:t>
            </a:r>
            <a:r>
              <a:rPr lang="en-US" i="1" dirty="0"/>
              <a:t>Determine which scenario gives the best balance of cost and performance.</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EC90A1E-2D97-4F98-8072-0FEC503F4559}" type="slidenum">
              <a:rPr lang="en-US" smtClean="0"/>
              <a:t>22</a:t>
            </a:fld>
            <a:endParaRPr lang="en-US"/>
          </a:p>
        </p:txBody>
      </p:sp>
    </p:spTree>
    <p:extLst>
      <p:ext uri="{BB962C8B-B14F-4D97-AF65-F5344CB8AC3E}">
        <p14:creationId xmlns:p14="http://schemas.microsoft.com/office/powerpoint/2010/main" val="349500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Montserrat" panose="00000500000000000000" pitchFamily="2" charset="0"/>
              </a:rPr>
              <a:t>As a final piece of advice, remember that there is no one-size-fits-all simulation plan for every problem. The team’s situation may seem unique, and thus, an equally unique approach to make may be necessary to achieve success.</a:t>
            </a:r>
          </a:p>
          <a:p>
            <a:pPr algn="l"/>
            <a:r>
              <a:rPr lang="en-US" b="0" i="0" dirty="0">
                <a:solidFill>
                  <a:srgbClr val="333333"/>
                </a:solidFill>
                <a:effectLst/>
                <a:latin typeface="Montserrat" panose="00000500000000000000" pitchFamily="2" charset="0"/>
              </a:rPr>
              <a:t>The steps outlined above aren’t set in stone – they may be reshaped and adjusted in any way to adapt to the project! Slightly different formulations of the simulation process may be discovered online – choose one that appears to be the best match to the problem at hand.</a:t>
            </a:r>
          </a:p>
          <a:p>
            <a:endParaRPr lang="en-US" dirty="0"/>
          </a:p>
        </p:txBody>
      </p:sp>
      <p:sp>
        <p:nvSpPr>
          <p:cNvPr id="4" name="Slide Number Placeholder 3"/>
          <p:cNvSpPr>
            <a:spLocks noGrp="1"/>
          </p:cNvSpPr>
          <p:nvPr>
            <p:ph type="sldNum" sz="quarter" idx="5"/>
          </p:nvPr>
        </p:nvSpPr>
        <p:spPr/>
        <p:txBody>
          <a:bodyPr/>
          <a:lstStyle/>
          <a:p>
            <a:fld id="{FEC90A1E-2D97-4F98-8072-0FEC503F4559}" type="slidenum">
              <a:rPr lang="en-US" smtClean="0"/>
              <a:t>23</a:t>
            </a:fld>
            <a:endParaRPr lang="en-US"/>
          </a:p>
        </p:txBody>
      </p:sp>
    </p:spTree>
    <p:extLst>
      <p:ext uri="{BB962C8B-B14F-4D97-AF65-F5344CB8AC3E}">
        <p14:creationId xmlns:p14="http://schemas.microsoft.com/office/powerpoint/2010/main" val="813032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1F6CB27-E271-420D-8B30-1E3259678603}" type="datetime1">
              <a:rPr lang="en-US" smtClean="0"/>
              <a:t>5/5/2026</a:t>
            </a:fld>
            <a:endParaRPr lang="en-US"/>
          </a:p>
        </p:txBody>
      </p:sp>
      <p:sp>
        <p:nvSpPr>
          <p:cNvPr id="5" name="Footer Placeholder 4"/>
          <p:cNvSpPr>
            <a:spLocks noGrp="1"/>
          </p:cNvSpPr>
          <p:nvPr>
            <p:ph type="ftr" sz="quarter" idx="11"/>
          </p:nvPr>
        </p:nvSpPr>
        <p:spPr/>
        <p:txBody>
          <a:bodyPr/>
          <a:lstStyle>
            <a:lvl1pPr>
              <a:defRPr sz="1000"/>
            </a:lvl1pPr>
          </a:lstStyle>
          <a:p>
            <a:r>
              <a:rPr lang="en-US" dirty="0"/>
              <a:t>Kapil@nast.edu.np || Kapilpant157</a:t>
            </a:r>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677899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25FC0F-A76A-4BD4-B54D-9D25CDA2ABFB}"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2111989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2709C5-0CBC-4B16-9053-A3747478B0EE}"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509011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A6C262-5A7A-429A-B871-AFF00C0282BB}" type="datetime1">
              <a:rPr lang="en-US" smtClean="0"/>
              <a:t>5/5/2026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722678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B025DA-851F-4A71-BC74-C51583CAD68E}" type="datetime1">
              <a:rPr lang="en-US" smtClean="0"/>
              <a:t>5/5/2026</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917914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745725-68BB-451A-AB65-C446E844E7A5}" type="datetime1">
              <a:rPr lang="en-US" smtClean="0"/>
              <a:t>5/5/2026</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1586481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60E72-DFF1-41DB-96ED-F02D1A060E2D}" type="datetime1">
              <a:rPr lang="en-US" smtClean="0"/>
              <a:t>5/5/2026</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724718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D9BE0B-FE2F-42A8-BFE5-E6B5EBF5038E}" type="datetime1">
              <a:rPr lang="en-US" smtClean="0"/>
              <a:t>5/5/2026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761089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36E424-90B0-478A-92DF-FA78A42068E0}" type="datetime1">
              <a:rPr lang="en-US" smtClean="0"/>
              <a:t>5/5/2026</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1877548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F7DCD7-AB85-4EFE-837D-3C63561FBD0E}"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2373628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2FCDF-F643-432F-BC3F-304B2CC00BB6}"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15064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0EE18-B200-4BBA-B4AE-5F85E4155FA7}"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3444001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AE442C-E7E0-4B4A-B77A-1F94D9E25F45}"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9817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46C0FF-EB0E-41CB-BB02-860957D65FBC}"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18061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E1E35F-71AE-4A10-82C1-2ED51D14E59B}"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4174147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28FC1B-DA10-4CBB-84BD-E07D7D41EE89}" type="datetime1">
              <a:rPr lang="en-US" smtClean="0"/>
              <a:t>5/5/2026</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875ECA83-1582-4A63-8FDD-B4D2FEA55893}" type="slidenum">
              <a:rPr lang="en-US" smtClean="0"/>
              <a:t>‹#›</a:t>
            </a:fld>
            <a:endParaRPr lang="en-US"/>
          </a:p>
        </p:txBody>
      </p:sp>
    </p:spTree>
    <p:extLst>
      <p:ext uri="{BB962C8B-B14F-4D97-AF65-F5344CB8AC3E}">
        <p14:creationId xmlns:p14="http://schemas.microsoft.com/office/powerpoint/2010/main" val="1221130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BF80D5A-377F-4E48-8AC4-4D94504060C2}" type="datetime1">
              <a:rPr lang="en-US" smtClean="0"/>
              <a:t>5/5/2026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nb-NO"/>
              <a:t>Kapil@nast.edu.np || Kapilpant157</a:t>
            </a:r>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75ECA83-1582-4A63-8FDD-B4D2FEA55893}" type="slidenum">
              <a:rPr lang="en-US" smtClean="0"/>
              <a:t>‹#›</a:t>
            </a:fld>
            <a:endParaRPr lang="en-US"/>
          </a:p>
        </p:txBody>
      </p:sp>
    </p:spTree>
    <p:extLst>
      <p:ext uri="{BB962C8B-B14F-4D97-AF65-F5344CB8AC3E}">
        <p14:creationId xmlns:p14="http://schemas.microsoft.com/office/powerpoint/2010/main" val="263047094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6" name="Straight Connector 1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ubtitle 2">
            <a:extLst>
              <a:ext uri="{FF2B5EF4-FFF2-40B4-BE49-F238E27FC236}">
                <a16:creationId xmlns:a16="http://schemas.microsoft.com/office/drawing/2014/main" id="{F3AB915E-A9A0-84A7-A54D-584688DDF694}"/>
              </a:ext>
            </a:extLst>
          </p:cNvPr>
          <p:cNvSpPr>
            <a:spLocks noGrp="1"/>
          </p:cNvSpPr>
          <p:nvPr>
            <p:ph type="subTitle" idx="1"/>
          </p:nvPr>
        </p:nvSpPr>
        <p:spPr>
          <a:xfrm>
            <a:off x="1507067" y="4050833"/>
            <a:ext cx="7766936" cy="1096899"/>
          </a:xfrm>
        </p:spPr>
        <p:txBody>
          <a:bodyPr>
            <a:normAutofit/>
          </a:bodyPr>
          <a:lstStyle/>
          <a:p>
            <a:r>
              <a:rPr lang="en-US" dirty="0"/>
              <a:t>An Overview of Concepts and Principles</a:t>
            </a:r>
          </a:p>
        </p:txBody>
      </p:sp>
      <p:sp>
        <p:nvSpPr>
          <p:cNvPr id="2" name="Title 1">
            <a:extLst>
              <a:ext uri="{FF2B5EF4-FFF2-40B4-BE49-F238E27FC236}">
                <a16:creationId xmlns:a16="http://schemas.microsoft.com/office/drawing/2014/main" id="{4B5F7224-EB37-A9AF-C638-966CA5603CCB}"/>
              </a:ext>
            </a:extLst>
          </p:cNvPr>
          <p:cNvSpPr>
            <a:spLocks noGrp="1"/>
          </p:cNvSpPr>
          <p:nvPr>
            <p:ph type="ctrTitle"/>
          </p:nvPr>
        </p:nvSpPr>
        <p:spPr>
          <a:xfrm>
            <a:off x="1507067" y="1397000"/>
            <a:ext cx="7766936" cy="2653836"/>
          </a:xfrm>
        </p:spPr>
        <p:txBody>
          <a:bodyPr>
            <a:normAutofit/>
          </a:bodyPr>
          <a:lstStyle/>
          <a:p>
            <a:r>
              <a:rPr lang="en-US" dirty="0"/>
              <a:t>Simulation and Modeling</a:t>
            </a:r>
          </a:p>
        </p:txBody>
      </p:sp>
      <p:sp>
        <p:nvSpPr>
          <p:cNvPr id="4" name="Footer Placeholder 3">
            <a:extLst>
              <a:ext uri="{FF2B5EF4-FFF2-40B4-BE49-F238E27FC236}">
                <a16:creationId xmlns:a16="http://schemas.microsoft.com/office/drawing/2014/main" id="{82750C13-B646-9018-2346-09DFD9B1FBE4}"/>
              </a:ext>
            </a:extLst>
          </p:cNvPr>
          <p:cNvSpPr>
            <a:spLocks noGrp="1"/>
          </p:cNvSpPr>
          <p:nvPr>
            <p:ph type="ftr" sz="quarter" idx="11"/>
          </p:nvPr>
        </p:nvSpPr>
        <p:spPr/>
        <p:txBody>
          <a:bodyPr/>
          <a:lstStyle/>
          <a:p>
            <a:r>
              <a:rPr lang="en-US"/>
              <a:t>Kapil@nast.edu.np || Kapilpant157</a:t>
            </a:r>
            <a:endParaRPr lang="en-US" dirty="0"/>
          </a:p>
        </p:txBody>
      </p:sp>
    </p:spTree>
    <p:extLst>
      <p:ext uri="{BB962C8B-B14F-4D97-AF65-F5344CB8AC3E}">
        <p14:creationId xmlns:p14="http://schemas.microsoft.com/office/powerpoint/2010/main" val="953202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6" name="Straight Connector 1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ubtitle 2">
            <a:extLst>
              <a:ext uri="{FF2B5EF4-FFF2-40B4-BE49-F238E27FC236}">
                <a16:creationId xmlns:a16="http://schemas.microsoft.com/office/drawing/2014/main" id="{F3AB915E-A9A0-84A7-A54D-584688DDF694}"/>
              </a:ext>
            </a:extLst>
          </p:cNvPr>
          <p:cNvSpPr>
            <a:spLocks noGrp="1"/>
          </p:cNvSpPr>
          <p:nvPr>
            <p:ph type="subTitle" idx="1"/>
          </p:nvPr>
        </p:nvSpPr>
        <p:spPr>
          <a:xfrm>
            <a:off x="1507067" y="1476672"/>
            <a:ext cx="7766936" cy="4496163"/>
          </a:xfrm>
        </p:spPr>
        <p:txBody>
          <a:bodyPr>
            <a:normAutofit fontScale="92500" lnSpcReduction="20000"/>
          </a:bodyPr>
          <a:lstStyle/>
          <a:p>
            <a:pPr marL="285750" indent="-285750" algn="l">
              <a:buFont typeface="Arial" panose="020B0604020202020204" pitchFamily="34" charset="0"/>
              <a:buChar char="•"/>
            </a:pPr>
            <a:r>
              <a:rPr lang="en-US" sz="3200" dirty="0"/>
              <a:t>System Concept</a:t>
            </a:r>
          </a:p>
          <a:p>
            <a:pPr marL="285750" indent="-285750" algn="l">
              <a:buFont typeface="Arial" panose="020B0604020202020204" pitchFamily="34" charset="0"/>
              <a:buChar char="•"/>
            </a:pPr>
            <a:r>
              <a:rPr lang="en-US" sz="3200" dirty="0"/>
              <a:t>System Environments</a:t>
            </a:r>
          </a:p>
          <a:p>
            <a:pPr marL="285750" indent="-285750" algn="l">
              <a:buFont typeface="Arial" panose="020B0604020202020204" pitchFamily="34" charset="0"/>
              <a:buChar char="•"/>
            </a:pPr>
            <a:r>
              <a:rPr lang="en-US" sz="3200" dirty="0"/>
              <a:t>Stochastic Activities</a:t>
            </a:r>
          </a:p>
          <a:p>
            <a:pPr marL="285750" indent="-285750" algn="l">
              <a:buFont typeface="Arial" panose="020B0604020202020204" pitchFamily="34" charset="0"/>
              <a:buChar char="•"/>
            </a:pPr>
            <a:r>
              <a:rPr lang="en-US" sz="3200" dirty="0"/>
              <a:t>Continuous and Discrete Systems</a:t>
            </a:r>
          </a:p>
          <a:p>
            <a:pPr marL="285750" indent="-285750" algn="l">
              <a:buFont typeface="Arial" panose="020B0604020202020204" pitchFamily="34" charset="0"/>
              <a:buChar char="•"/>
            </a:pPr>
            <a:r>
              <a:rPr lang="en-US" sz="3200" dirty="0"/>
              <a:t>System Modeling</a:t>
            </a:r>
          </a:p>
          <a:p>
            <a:pPr marL="285750" indent="-285750" algn="l">
              <a:buFont typeface="Arial" panose="020B0604020202020204" pitchFamily="34" charset="0"/>
              <a:buChar char="•"/>
            </a:pPr>
            <a:r>
              <a:rPr lang="en-US" sz="3200" dirty="0"/>
              <a:t>Types of Models</a:t>
            </a:r>
          </a:p>
          <a:p>
            <a:pPr marL="285750" indent="-285750" algn="l">
              <a:buFont typeface="Arial" panose="020B0604020202020204" pitchFamily="34" charset="0"/>
              <a:buChar char="•"/>
            </a:pPr>
            <a:r>
              <a:rPr lang="en-US" sz="3200" dirty="0"/>
              <a:t>Principles of Modeling</a:t>
            </a:r>
          </a:p>
          <a:p>
            <a:pPr marL="285750" indent="-285750" algn="l">
              <a:buFont typeface="Arial" panose="020B0604020202020204" pitchFamily="34" charset="0"/>
              <a:buChar char="•"/>
            </a:pPr>
            <a:r>
              <a:rPr lang="en-US" sz="3200" dirty="0"/>
              <a:t>Areas of Application</a:t>
            </a:r>
          </a:p>
          <a:p>
            <a:pPr marL="285750" indent="-285750" algn="l">
              <a:buFont typeface="Arial" panose="020B0604020202020204" pitchFamily="34" charset="0"/>
              <a:buChar char="•"/>
            </a:pPr>
            <a:r>
              <a:rPr lang="en-US" sz="3200" dirty="0"/>
              <a:t>Verification and Validation of Models</a:t>
            </a:r>
          </a:p>
        </p:txBody>
      </p:sp>
      <p:sp>
        <p:nvSpPr>
          <p:cNvPr id="2" name="Title 1">
            <a:extLst>
              <a:ext uri="{FF2B5EF4-FFF2-40B4-BE49-F238E27FC236}">
                <a16:creationId xmlns:a16="http://schemas.microsoft.com/office/drawing/2014/main" id="{4B5F7224-EB37-A9AF-C638-966CA5603CCB}"/>
              </a:ext>
            </a:extLst>
          </p:cNvPr>
          <p:cNvSpPr>
            <a:spLocks noGrp="1"/>
          </p:cNvSpPr>
          <p:nvPr>
            <p:ph type="ctrTitle"/>
          </p:nvPr>
        </p:nvSpPr>
        <p:spPr>
          <a:xfrm>
            <a:off x="1507067" y="296557"/>
            <a:ext cx="7766936" cy="943565"/>
          </a:xfrm>
        </p:spPr>
        <p:txBody>
          <a:bodyPr>
            <a:normAutofit/>
          </a:bodyPr>
          <a:lstStyle/>
          <a:p>
            <a:pPr algn="l"/>
            <a:r>
              <a:rPr lang="en-US" dirty="0"/>
              <a:t>Contents</a:t>
            </a:r>
          </a:p>
        </p:txBody>
      </p:sp>
      <p:sp>
        <p:nvSpPr>
          <p:cNvPr id="4" name="Footer Placeholder 3">
            <a:extLst>
              <a:ext uri="{FF2B5EF4-FFF2-40B4-BE49-F238E27FC236}">
                <a16:creationId xmlns:a16="http://schemas.microsoft.com/office/drawing/2014/main" id="{4C35A576-5C47-54BD-8E5B-E28A75CC402D}"/>
              </a:ext>
            </a:extLst>
          </p:cNvPr>
          <p:cNvSpPr>
            <a:spLocks noGrp="1"/>
          </p:cNvSpPr>
          <p:nvPr>
            <p:ph type="ftr" sz="quarter" idx="11"/>
          </p:nvPr>
        </p:nvSpPr>
        <p:spPr/>
        <p:txBody>
          <a:bodyPr/>
          <a:lstStyle/>
          <a:p>
            <a:r>
              <a:rPr lang="en-US"/>
              <a:t>Kapil@nast.edu.np || Kapilpant157</a:t>
            </a:r>
            <a:endParaRPr lang="en-US" dirty="0"/>
          </a:p>
        </p:txBody>
      </p:sp>
    </p:spTree>
    <p:extLst>
      <p:ext uri="{BB962C8B-B14F-4D97-AF65-F5344CB8AC3E}">
        <p14:creationId xmlns:p14="http://schemas.microsoft.com/office/powerpoint/2010/main" val="2186127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3" name="Rectangle 22">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6" name="Straight Connector 2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6" name="Rectangle 3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6F340E89-8F91-7AB2-8606-2EDDBADA35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8479" y="459895"/>
            <a:ext cx="6176812" cy="5929741"/>
          </a:xfrm>
          <a:prstGeom prst="rect">
            <a:avLst/>
          </a:prstGeom>
        </p:spPr>
      </p:pic>
      <p:sp>
        <p:nvSpPr>
          <p:cNvPr id="4" name="Footer Placeholder 3">
            <a:extLst>
              <a:ext uri="{FF2B5EF4-FFF2-40B4-BE49-F238E27FC236}">
                <a16:creationId xmlns:a16="http://schemas.microsoft.com/office/drawing/2014/main" id="{5FB56E0F-5A0B-5813-4B59-5238699823BE}"/>
              </a:ext>
            </a:extLst>
          </p:cNvPr>
          <p:cNvSpPr>
            <a:spLocks noGrp="1"/>
          </p:cNvSpPr>
          <p:nvPr>
            <p:ph type="ftr" sz="quarter" idx="11"/>
          </p:nvPr>
        </p:nvSpPr>
        <p:spPr>
          <a:xfrm>
            <a:off x="653889" y="6411619"/>
            <a:ext cx="6297612" cy="365125"/>
          </a:xfrm>
        </p:spPr>
        <p:txBody>
          <a:bodyPr vert="horz" lIns="91440" tIns="45720" rIns="91440" bIns="45720" rtlCol="0" anchor="ctr">
            <a:normAutofit/>
          </a:bodyPr>
          <a:lstStyle/>
          <a:p>
            <a:pPr>
              <a:spcAft>
                <a:spcPts val="600"/>
              </a:spcAft>
            </a:pPr>
            <a:r>
              <a:rPr lang="en-US" kern="1200">
                <a:solidFill>
                  <a:srgbClr val="FFFFFF"/>
                </a:solidFill>
                <a:latin typeface="+mn-lt"/>
                <a:ea typeface="+mn-ea"/>
                <a:cs typeface="+mn-cs"/>
              </a:rPr>
              <a:t>Kapil@nast.edu.np || Kapilpant157</a:t>
            </a:r>
          </a:p>
        </p:txBody>
      </p:sp>
    </p:spTree>
    <p:extLst>
      <p:ext uri="{BB962C8B-B14F-4D97-AF65-F5344CB8AC3E}">
        <p14:creationId xmlns:p14="http://schemas.microsoft.com/office/powerpoint/2010/main" val="187791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A84C1-7416-6C2E-A581-DE17E8C0D164}"/>
              </a:ext>
            </a:extLst>
          </p:cNvPr>
          <p:cNvSpPr>
            <a:spLocks noGrp="1"/>
          </p:cNvSpPr>
          <p:nvPr>
            <p:ph type="title"/>
          </p:nvPr>
        </p:nvSpPr>
        <p:spPr/>
        <p:txBody>
          <a:bodyPr/>
          <a:lstStyle/>
          <a:p>
            <a:r>
              <a:rPr lang="en-US" dirty="0"/>
              <a:t>Simulation</a:t>
            </a:r>
          </a:p>
        </p:txBody>
      </p:sp>
      <p:sp>
        <p:nvSpPr>
          <p:cNvPr id="3" name="Content Placeholder 2">
            <a:extLst>
              <a:ext uri="{FF2B5EF4-FFF2-40B4-BE49-F238E27FC236}">
                <a16:creationId xmlns:a16="http://schemas.microsoft.com/office/drawing/2014/main" id="{265BC07C-744B-930A-B8E6-8687327287B3}"/>
              </a:ext>
            </a:extLst>
          </p:cNvPr>
          <p:cNvSpPr>
            <a:spLocks noGrp="1"/>
          </p:cNvSpPr>
          <p:nvPr>
            <p:ph idx="1"/>
          </p:nvPr>
        </p:nvSpPr>
        <p:spPr>
          <a:xfrm>
            <a:off x="677334" y="1581665"/>
            <a:ext cx="8596668" cy="4459697"/>
          </a:xfrm>
        </p:spPr>
        <p:txBody>
          <a:bodyPr/>
          <a:lstStyle/>
          <a:p>
            <a:r>
              <a:rPr lang="en-US" sz="3200" dirty="0"/>
              <a:t>Process of creating and analyzing a digital prototype of a physical model to predict its performance in the real world.</a:t>
            </a:r>
          </a:p>
          <a:p>
            <a:r>
              <a:rPr lang="en-US" sz="3200" dirty="0"/>
              <a:t>Used to help designer and engineers understand, under +what conditions and in which way parts could fail and what loads it can withstand.</a:t>
            </a:r>
          </a:p>
        </p:txBody>
      </p:sp>
      <p:sp>
        <p:nvSpPr>
          <p:cNvPr id="4" name="Footer Placeholder 3">
            <a:extLst>
              <a:ext uri="{FF2B5EF4-FFF2-40B4-BE49-F238E27FC236}">
                <a16:creationId xmlns:a16="http://schemas.microsoft.com/office/drawing/2014/main" id="{3B30D94A-072E-E795-B587-19111876F5F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839363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Systems</a:t>
            </a:r>
          </a:p>
        </p:txBody>
      </p:sp>
      <p:sp>
        <p:nvSpPr>
          <p:cNvPr id="3" name="Content Placeholder 2"/>
          <p:cNvSpPr>
            <a:spLocks noGrp="1"/>
          </p:cNvSpPr>
          <p:nvPr>
            <p:ph idx="1"/>
          </p:nvPr>
        </p:nvSpPr>
        <p:spPr/>
        <p:txBody>
          <a:bodyPr/>
          <a:lstStyle/>
          <a:p>
            <a:r>
              <a:rPr dirty="0"/>
              <a:t>Continuous vs Discrete</a:t>
            </a:r>
          </a:p>
          <a:p>
            <a:r>
              <a:rPr dirty="0"/>
              <a:t>Static vs Dynamic</a:t>
            </a:r>
          </a:p>
          <a:p>
            <a:r>
              <a:rPr dirty="0"/>
              <a:t>Stochastic vs Deterministic</a:t>
            </a:r>
          </a:p>
          <a:p>
            <a:r>
              <a:rPr dirty="0"/>
              <a:t>Example: Traffic system (dynamic, stochastic)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8F16-6A10-DA3F-1640-055F77F8A37F}"/>
              </a:ext>
            </a:extLst>
          </p:cNvPr>
          <p:cNvSpPr>
            <a:spLocks noGrp="1"/>
          </p:cNvSpPr>
          <p:nvPr>
            <p:ph type="title"/>
          </p:nvPr>
        </p:nvSpPr>
        <p:spPr/>
        <p:txBody>
          <a:bodyPr/>
          <a:lstStyle/>
          <a:p>
            <a:r>
              <a:rPr lang="en-US" dirty="0"/>
              <a:t>System and its Concept</a:t>
            </a:r>
          </a:p>
        </p:txBody>
      </p:sp>
      <p:sp>
        <p:nvSpPr>
          <p:cNvPr id="3" name="Content Placeholder 2">
            <a:extLst>
              <a:ext uri="{FF2B5EF4-FFF2-40B4-BE49-F238E27FC236}">
                <a16:creationId xmlns:a16="http://schemas.microsoft.com/office/drawing/2014/main" id="{F56371B5-55B3-346F-C4F6-54E754318DFA}"/>
              </a:ext>
            </a:extLst>
          </p:cNvPr>
          <p:cNvSpPr>
            <a:spLocks noGrp="1"/>
          </p:cNvSpPr>
          <p:nvPr>
            <p:ph idx="1"/>
          </p:nvPr>
        </p:nvSpPr>
        <p:spPr>
          <a:xfrm>
            <a:off x="677334" y="1930401"/>
            <a:ext cx="8153845" cy="4110962"/>
          </a:xfrm>
        </p:spPr>
        <p:txBody>
          <a:bodyPr>
            <a:normAutofit fontScale="55000" lnSpcReduction="20000"/>
          </a:bodyPr>
          <a:lstStyle/>
          <a:p>
            <a:pPr marL="0" indent="0">
              <a:buNone/>
            </a:pPr>
            <a:r>
              <a:rPr lang="en-US" sz="3200" dirty="0"/>
              <a:t>A system is a set of interrelated components working together toward some purpose.</a:t>
            </a:r>
          </a:p>
          <a:p>
            <a:pPr>
              <a:buNone/>
            </a:pPr>
            <a:r>
              <a:rPr lang="en-US" sz="3200" b="1" dirty="0"/>
              <a:t>Key Characteristics:</a:t>
            </a:r>
          </a:p>
          <a:p>
            <a:pPr>
              <a:buFont typeface="Arial" panose="020B0604020202020204" pitchFamily="34" charset="0"/>
              <a:buChar char="•"/>
            </a:pPr>
            <a:r>
              <a:rPr lang="en-US" sz="3200" b="1" dirty="0"/>
              <a:t>Components</a:t>
            </a:r>
            <a:r>
              <a:rPr lang="en-US" sz="3200" dirty="0"/>
              <a:t>: Individual parts that make up the system</a:t>
            </a:r>
          </a:p>
          <a:p>
            <a:pPr>
              <a:buFont typeface="Arial" panose="020B0604020202020204" pitchFamily="34" charset="0"/>
              <a:buChar char="•"/>
            </a:pPr>
            <a:r>
              <a:rPr lang="en-US" sz="3200" b="1" dirty="0"/>
              <a:t>Interrelationships</a:t>
            </a:r>
            <a:r>
              <a:rPr lang="en-US" sz="3200" dirty="0"/>
              <a:t>: The way components interact or depend on each other.</a:t>
            </a:r>
          </a:p>
          <a:p>
            <a:pPr>
              <a:buFont typeface="Arial" panose="020B0604020202020204" pitchFamily="34" charset="0"/>
              <a:buChar char="•"/>
            </a:pPr>
            <a:r>
              <a:rPr lang="en-US" sz="3200" b="1" dirty="0"/>
              <a:t>Boundary</a:t>
            </a:r>
            <a:r>
              <a:rPr lang="en-US" sz="3200" dirty="0"/>
              <a:t>: Defines what is inside and outside the system.</a:t>
            </a:r>
          </a:p>
          <a:p>
            <a:pPr>
              <a:buFont typeface="Arial" panose="020B0604020202020204" pitchFamily="34" charset="0"/>
              <a:buChar char="•"/>
            </a:pPr>
            <a:r>
              <a:rPr lang="en-US" sz="3200" b="1" dirty="0"/>
              <a:t>Purpose/Goal</a:t>
            </a:r>
            <a:r>
              <a:rPr lang="en-US" sz="3200" dirty="0"/>
              <a:t>: The reason the system exists or what it is intended to achieve.</a:t>
            </a:r>
          </a:p>
          <a:p>
            <a:pPr>
              <a:buFont typeface="Arial" panose="020B0604020202020204" pitchFamily="34" charset="0"/>
              <a:buChar char="•"/>
            </a:pPr>
            <a:r>
              <a:rPr lang="en-US" sz="3200" b="1" dirty="0"/>
              <a:t>Input &amp; Output</a:t>
            </a:r>
            <a:r>
              <a:rPr lang="en-US" sz="3200" dirty="0"/>
              <a:t>: Systems typically take input, process it, and produce output.</a:t>
            </a:r>
          </a:p>
          <a:p>
            <a:pPr>
              <a:buFont typeface="Arial" panose="020B0604020202020204" pitchFamily="34" charset="0"/>
              <a:buChar char="•"/>
            </a:pPr>
            <a:r>
              <a:rPr lang="en-US" sz="3200" b="1" dirty="0"/>
              <a:t>Feedback Mechanism</a:t>
            </a:r>
            <a:r>
              <a:rPr lang="en-US" sz="3200" dirty="0"/>
              <a:t>: Helps regulate and improve performance.</a:t>
            </a:r>
          </a:p>
          <a:p>
            <a:pPr marL="0" indent="0">
              <a:buNone/>
            </a:pPr>
            <a:r>
              <a:rPr lang="en-US" sz="3200" dirty="0"/>
              <a:t>Examples: Computer system, Ecosystem, Banking system.</a:t>
            </a:r>
          </a:p>
          <a:p>
            <a:pPr marL="0" indent="0">
              <a:buNone/>
            </a:pPr>
            <a:endParaRPr lang="en-US" sz="3200" dirty="0"/>
          </a:p>
        </p:txBody>
      </p:sp>
      <p:sp>
        <p:nvSpPr>
          <p:cNvPr id="4" name="Footer Placeholder 3">
            <a:extLst>
              <a:ext uri="{FF2B5EF4-FFF2-40B4-BE49-F238E27FC236}">
                <a16:creationId xmlns:a16="http://schemas.microsoft.com/office/drawing/2014/main" id="{BA997C05-DE28-9D56-E9EE-A371888819E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118950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5EA62-2934-5D54-50FD-80209793D892}"/>
              </a:ext>
            </a:extLst>
          </p:cNvPr>
          <p:cNvSpPr>
            <a:spLocks noGrp="1"/>
          </p:cNvSpPr>
          <p:nvPr>
            <p:ph type="title"/>
          </p:nvPr>
        </p:nvSpPr>
        <p:spPr/>
        <p:txBody>
          <a:bodyPr/>
          <a:lstStyle/>
          <a:p>
            <a:r>
              <a:rPr lang="en-US" dirty="0"/>
              <a:t>System Environment</a:t>
            </a:r>
          </a:p>
        </p:txBody>
      </p:sp>
      <p:sp>
        <p:nvSpPr>
          <p:cNvPr id="3" name="Content Placeholder 2">
            <a:extLst>
              <a:ext uri="{FF2B5EF4-FFF2-40B4-BE49-F238E27FC236}">
                <a16:creationId xmlns:a16="http://schemas.microsoft.com/office/drawing/2014/main" id="{4E2509C2-225C-EF54-11DF-54963B64A695}"/>
              </a:ext>
            </a:extLst>
          </p:cNvPr>
          <p:cNvSpPr>
            <a:spLocks noGrp="1"/>
          </p:cNvSpPr>
          <p:nvPr>
            <p:ph idx="1"/>
          </p:nvPr>
        </p:nvSpPr>
        <p:spPr>
          <a:xfrm>
            <a:off x="677333" y="1717289"/>
            <a:ext cx="9960929" cy="4324074"/>
          </a:xfrm>
        </p:spPr>
        <p:txBody>
          <a:bodyPr>
            <a:normAutofit lnSpcReduction="10000"/>
          </a:bodyPr>
          <a:lstStyle/>
          <a:p>
            <a:pPr marL="0" indent="0">
              <a:buNone/>
            </a:pPr>
            <a:r>
              <a:rPr lang="en-US" dirty="0"/>
              <a:t>The </a:t>
            </a:r>
            <a:r>
              <a:rPr lang="en-US" i="1" dirty="0"/>
              <a:t>environment</a:t>
            </a:r>
            <a:r>
              <a:rPr lang="en-US" dirty="0"/>
              <a:t> of a system refers to </a:t>
            </a:r>
            <a:r>
              <a:rPr lang="en-US" b="1" dirty="0"/>
              <a:t>everything outside the system</a:t>
            </a:r>
            <a:r>
              <a:rPr lang="en-US" dirty="0"/>
              <a:t> that can affect or be affected by it. It includes any external entity or condition that interacts with the system, either directly or indirectly.</a:t>
            </a:r>
          </a:p>
          <a:p>
            <a:pPr>
              <a:buFont typeface="Arial" panose="020B0604020202020204" pitchFamily="34" charset="0"/>
              <a:buChar char="•"/>
            </a:pPr>
            <a:r>
              <a:rPr lang="en-US" b="1" dirty="0"/>
              <a:t>Role of the Environment</a:t>
            </a:r>
            <a:r>
              <a:rPr lang="en-US" dirty="0"/>
              <a:t>:</a:t>
            </a:r>
          </a:p>
          <a:p>
            <a:pPr lvl="1">
              <a:buFont typeface="Arial" panose="020B0604020202020204" pitchFamily="34" charset="0"/>
              <a:buChar char="•"/>
            </a:pPr>
            <a:r>
              <a:rPr lang="en-US" dirty="0"/>
              <a:t>Provides </a:t>
            </a:r>
            <a:r>
              <a:rPr lang="en-US" b="1" dirty="0"/>
              <a:t>inputs</a:t>
            </a:r>
            <a:r>
              <a:rPr lang="en-US" dirty="0"/>
              <a:t> to the system, such as data, materials, or signals.</a:t>
            </a:r>
          </a:p>
          <a:p>
            <a:pPr lvl="1">
              <a:buFont typeface="Arial" panose="020B0604020202020204" pitchFamily="34" charset="0"/>
              <a:buChar char="•"/>
            </a:pPr>
            <a:r>
              <a:rPr lang="en-US" dirty="0"/>
              <a:t>Receives </a:t>
            </a:r>
            <a:r>
              <a:rPr lang="en-US" b="1" dirty="0"/>
              <a:t>outputs</a:t>
            </a:r>
            <a:r>
              <a:rPr lang="en-US" dirty="0"/>
              <a:t> from the system, which could be products, results, or feedback.</a:t>
            </a:r>
          </a:p>
          <a:p>
            <a:pPr lvl="1">
              <a:buFont typeface="Arial" panose="020B0604020202020204" pitchFamily="34" charset="0"/>
              <a:buChar char="•"/>
            </a:pPr>
            <a:r>
              <a:rPr lang="en-US" dirty="0"/>
              <a:t>May influence the system’s behavior and performance through constraints, feedback, or changes in conditions.</a:t>
            </a:r>
          </a:p>
          <a:p>
            <a:pPr>
              <a:buFont typeface="Arial" panose="020B0604020202020204" pitchFamily="34" charset="0"/>
              <a:buChar char="•"/>
            </a:pPr>
            <a:r>
              <a:rPr lang="en-US" b="1" dirty="0"/>
              <a:t>Example Scenarios</a:t>
            </a:r>
            <a:r>
              <a:rPr lang="en-US" dirty="0"/>
              <a:t>:</a:t>
            </a:r>
          </a:p>
          <a:p>
            <a:pPr lvl="1">
              <a:buFont typeface="Arial" panose="020B0604020202020204" pitchFamily="34" charset="0"/>
              <a:buChar char="•"/>
            </a:pPr>
            <a:r>
              <a:rPr lang="en-US" dirty="0"/>
              <a:t>In a </a:t>
            </a:r>
            <a:r>
              <a:rPr lang="en-US" b="1" dirty="0"/>
              <a:t>banking system</a:t>
            </a:r>
            <a:r>
              <a:rPr lang="en-US" dirty="0"/>
              <a:t>, the customers, regulatory bodies, and economic trends are part of the environment.</a:t>
            </a:r>
          </a:p>
          <a:p>
            <a:pPr lvl="1">
              <a:buFont typeface="Arial" panose="020B0604020202020204" pitchFamily="34" charset="0"/>
              <a:buChar char="•"/>
            </a:pPr>
            <a:r>
              <a:rPr lang="en-US" dirty="0"/>
              <a:t>In an </a:t>
            </a:r>
            <a:r>
              <a:rPr lang="en-US" b="1" dirty="0"/>
              <a:t>ecosystem</a:t>
            </a:r>
            <a:r>
              <a:rPr lang="en-US" dirty="0"/>
              <a:t>, factors like sunlight, weather, and human activity act as the environment.</a:t>
            </a:r>
          </a:p>
          <a:p>
            <a:pPr lvl="1">
              <a:buFont typeface="Arial" panose="020B0604020202020204" pitchFamily="34" charset="0"/>
              <a:buChar char="•"/>
            </a:pPr>
            <a:r>
              <a:rPr lang="en-US" dirty="0"/>
              <a:t>In a </a:t>
            </a:r>
            <a:r>
              <a:rPr lang="en-US" b="1" dirty="0"/>
              <a:t>computer system</a:t>
            </a:r>
            <a:r>
              <a:rPr lang="en-US" dirty="0"/>
              <a:t>, the users and other connected systems or networks represent the environment.</a:t>
            </a:r>
          </a:p>
          <a:p>
            <a:endParaRPr lang="en-US" dirty="0"/>
          </a:p>
          <a:p>
            <a:endParaRPr lang="en-US" dirty="0"/>
          </a:p>
        </p:txBody>
      </p:sp>
      <p:sp>
        <p:nvSpPr>
          <p:cNvPr id="4" name="Footer Placeholder 3">
            <a:extLst>
              <a:ext uri="{FF2B5EF4-FFF2-40B4-BE49-F238E27FC236}">
                <a16:creationId xmlns:a16="http://schemas.microsoft.com/office/drawing/2014/main" id="{AFF11C84-45F4-715B-9DF8-5A9A97123CB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646013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5EA62-2934-5D54-50FD-80209793D892}"/>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4E2509C2-225C-EF54-11DF-54963B64A695}"/>
              </a:ext>
            </a:extLst>
          </p:cNvPr>
          <p:cNvSpPr>
            <a:spLocks noGrp="1"/>
          </p:cNvSpPr>
          <p:nvPr>
            <p:ph idx="1"/>
          </p:nvPr>
        </p:nvSpPr>
        <p:spPr/>
        <p:txBody>
          <a:bodyPr>
            <a:normAutofit fontScale="62500" lnSpcReduction="20000"/>
          </a:bodyPr>
          <a:lstStyle/>
          <a:p>
            <a:r>
              <a:rPr lang="en-US" sz="3200" dirty="0"/>
              <a:t>Risk-free testing</a:t>
            </a:r>
          </a:p>
          <a:p>
            <a:r>
              <a:rPr lang="en-US" sz="3200" dirty="0"/>
              <a:t>Time and cost effective</a:t>
            </a:r>
          </a:p>
          <a:p>
            <a:r>
              <a:rPr lang="en-US" sz="3200" dirty="0"/>
              <a:t>Understanding complex systems.</a:t>
            </a:r>
          </a:p>
          <a:p>
            <a:r>
              <a:rPr lang="en-US" sz="3200" dirty="0"/>
              <a:t>New polices, operating procedures, decision rules, information flows, organizational procedures.</a:t>
            </a:r>
          </a:p>
          <a:p>
            <a:r>
              <a:rPr lang="en-US" sz="3200" dirty="0"/>
              <a:t>New hardware designs, physical layouts, transportation systems.</a:t>
            </a:r>
          </a:p>
          <a:p>
            <a:r>
              <a:rPr lang="en-US" sz="3200" dirty="0"/>
              <a:t>Hypotheses about how or why certain phenomena occur can be tested for feasibility.</a:t>
            </a:r>
          </a:p>
          <a:p>
            <a:r>
              <a:rPr lang="en-US" sz="3200" dirty="0"/>
              <a:t>Insight can be obtained about the interaction of variables.</a:t>
            </a:r>
          </a:p>
          <a:p>
            <a:r>
              <a:rPr lang="en-US" sz="3200" dirty="0"/>
              <a:t>Insight can be obtained about the importance of variables to the performance of the system.</a:t>
            </a:r>
            <a:endParaRPr lang="en-US" dirty="0"/>
          </a:p>
        </p:txBody>
      </p:sp>
      <p:sp>
        <p:nvSpPr>
          <p:cNvPr id="4" name="Footer Placeholder 3">
            <a:extLst>
              <a:ext uri="{FF2B5EF4-FFF2-40B4-BE49-F238E27FC236}">
                <a16:creationId xmlns:a16="http://schemas.microsoft.com/office/drawing/2014/main" id="{D1D788C7-1911-CE1B-306F-EC43BAECC471}"/>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76400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5EA62-2934-5D54-50FD-80209793D892}"/>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4E2509C2-225C-EF54-11DF-54963B64A695}"/>
              </a:ext>
            </a:extLst>
          </p:cNvPr>
          <p:cNvSpPr>
            <a:spLocks noGrp="1"/>
          </p:cNvSpPr>
          <p:nvPr>
            <p:ph idx="1"/>
          </p:nvPr>
        </p:nvSpPr>
        <p:spPr>
          <a:xfrm>
            <a:off x="677334" y="1732253"/>
            <a:ext cx="9243906" cy="4491671"/>
          </a:xfrm>
        </p:spPr>
        <p:txBody>
          <a:bodyPr>
            <a:normAutofit/>
          </a:bodyPr>
          <a:lstStyle/>
          <a:p>
            <a:r>
              <a:rPr lang="en-US" sz="2000" dirty="0"/>
              <a:t>Require expertise</a:t>
            </a:r>
          </a:p>
          <a:p>
            <a:r>
              <a:rPr lang="en-US" sz="2000" dirty="0"/>
              <a:t>We have a poor understanding of how some physical systems work so that we do not have sufficient data to produce a mathematical model. For this reason, it has not been possible to create simulations that can accurately predict the occurrence and effects of earthquakes and tsunami.</a:t>
            </a:r>
          </a:p>
          <a:p>
            <a:r>
              <a:rPr lang="en-US" sz="2000" dirty="0"/>
              <a:t>The formula and functions that are used may not provide an accurate description of the system resulting in inaccurate output from the simulation.</a:t>
            </a:r>
          </a:p>
          <a:p>
            <a:r>
              <a:rPr lang="en-US" sz="2000" dirty="0"/>
              <a:t>Complex simulations can require the use of a computer system with a fast processor and large amounts of memory.</a:t>
            </a:r>
          </a:p>
          <a:p>
            <a:r>
              <a:rPr lang="en-US" sz="2000" dirty="0"/>
              <a:t>Simulation results may be difficult to interpret or build accurate model.</a:t>
            </a:r>
          </a:p>
          <a:p>
            <a:r>
              <a:rPr lang="en-US" sz="2000" dirty="0"/>
              <a:t>Simulation modeling and analysis can be time consuming and expensive.</a:t>
            </a:r>
          </a:p>
        </p:txBody>
      </p:sp>
      <p:sp>
        <p:nvSpPr>
          <p:cNvPr id="4" name="Footer Placeholder 3">
            <a:extLst>
              <a:ext uri="{FF2B5EF4-FFF2-40B4-BE49-F238E27FC236}">
                <a16:creationId xmlns:a16="http://schemas.microsoft.com/office/drawing/2014/main" id="{360354EF-C125-34A9-677E-FE14570BFDF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37884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8982E-26D5-1640-F8C9-C0DBF120A9BB}"/>
              </a:ext>
            </a:extLst>
          </p:cNvPr>
          <p:cNvSpPr>
            <a:spLocks noGrp="1"/>
          </p:cNvSpPr>
          <p:nvPr>
            <p:ph type="title"/>
          </p:nvPr>
        </p:nvSpPr>
        <p:spPr/>
        <p:txBody>
          <a:bodyPr/>
          <a:lstStyle/>
          <a:p>
            <a:r>
              <a:rPr lang="en-US" dirty="0"/>
              <a:t>Deterministic model</a:t>
            </a:r>
          </a:p>
        </p:txBody>
      </p:sp>
      <p:sp>
        <p:nvSpPr>
          <p:cNvPr id="3" name="Content Placeholder 2">
            <a:extLst>
              <a:ext uri="{FF2B5EF4-FFF2-40B4-BE49-F238E27FC236}">
                <a16:creationId xmlns:a16="http://schemas.microsoft.com/office/drawing/2014/main" id="{8B7934FB-8465-D9AE-B033-D62A1AD6BAA9}"/>
              </a:ext>
            </a:extLst>
          </p:cNvPr>
          <p:cNvSpPr>
            <a:spLocks noGrp="1"/>
          </p:cNvSpPr>
          <p:nvPr>
            <p:ph idx="1"/>
          </p:nvPr>
        </p:nvSpPr>
        <p:spPr/>
        <p:txBody>
          <a:bodyPr>
            <a:normAutofit fontScale="55000" lnSpcReduction="20000"/>
          </a:bodyPr>
          <a:lstStyle/>
          <a:p>
            <a:r>
              <a:rPr lang="en-US" sz="3200" dirty="0"/>
              <a:t>A deterministic model always gives the same output for the same input and initial conditions. It uses fixed rules, not randomness.</a:t>
            </a:r>
          </a:p>
          <a:p>
            <a:pPr lvl="1"/>
            <a:r>
              <a:rPr lang="en-US" sz="3000" dirty="0"/>
              <a:t>No randomness or probability</a:t>
            </a:r>
          </a:p>
          <a:p>
            <a:pPr lvl="1"/>
            <a:r>
              <a:rPr lang="en-US" sz="3000" dirty="0"/>
              <a:t>Same inputs, same outcome</a:t>
            </a:r>
          </a:p>
          <a:p>
            <a:pPr lvl="1"/>
            <a:r>
              <a:rPr lang="en-US" sz="3000" dirty="0"/>
              <a:t>Based on fixed rules or equations</a:t>
            </a:r>
          </a:p>
          <a:p>
            <a:pPr lvl="1"/>
            <a:r>
              <a:rPr lang="en-US" sz="3000" dirty="0"/>
              <a:t>Predictable and reproducible</a:t>
            </a:r>
          </a:p>
          <a:p>
            <a:r>
              <a:rPr lang="en-US" sz="3200" dirty="0"/>
              <a:t>Common in engineering, physics, mathematics, and finance.</a:t>
            </a:r>
          </a:p>
          <a:p>
            <a:r>
              <a:rPr lang="en-US" sz="3200" dirty="0"/>
              <a:t>Examples: bridge stress under a known load, projectile motion, and compound interest.</a:t>
            </a:r>
          </a:p>
          <a:p>
            <a:r>
              <a:rPr lang="en-US" sz="3200" dirty="0"/>
              <a:t>Best for well-understood systems.</a:t>
            </a:r>
          </a:p>
          <a:p>
            <a:r>
              <a:rPr lang="en-US" sz="3200" dirty="0"/>
              <a:t>Limits: can oversimplify real-world uncertainty and changing conditions.</a:t>
            </a:r>
          </a:p>
          <a:p>
            <a:r>
              <a:rPr lang="en-US" sz="3200" dirty="0"/>
              <a:t>Unlike stochastic models, it does not include randomness.</a:t>
            </a:r>
          </a:p>
        </p:txBody>
      </p:sp>
      <p:sp>
        <p:nvSpPr>
          <p:cNvPr id="4" name="Footer Placeholder 3">
            <a:extLst>
              <a:ext uri="{FF2B5EF4-FFF2-40B4-BE49-F238E27FC236}">
                <a16:creationId xmlns:a16="http://schemas.microsoft.com/office/drawing/2014/main" id="{E8F01C7B-F8D3-65A5-D27E-58BD9D96F9B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72041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DEF4-16EC-FA40-AD45-B88C1469B2D0}"/>
              </a:ext>
            </a:extLst>
          </p:cNvPr>
          <p:cNvSpPr>
            <a:spLocks noGrp="1"/>
          </p:cNvSpPr>
          <p:nvPr>
            <p:ph type="title"/>
          </p:nvPr>
        </p:nvSpPr>
        <p:spPr/>
        <p:txBody>
          <a:bodyPr/>
          <a:lstStyle/>
          <a:p>
            <a:r>
              <a:rPr lang="en-US" dirty="0"/>
              <a:t>Stochastic model</a:t>
            </a:r>
          </a:p>
        </p:txBody>
      </p:sp>
      <p:sp>
        <p:nvSpPr>
          <p:cNvPr id="3" name="Content Placeholder 2">
            <a:extLst>
              <a:ext uri="{FF2B5EF4-FFF2-40B4-BE49-F238E27FC236}">
                <a16:creationId xmlns:a16="http://schemas.microsoft.com/office/drawing/2014/main" id="{856E811C-B9D0-4AEE-F1E4-ABE2195636FE}"/>
              </a:ext>
            </a:extLst>
          </p:cNvPr>
          <p:cNvSpPr>
            <a:spLocks noGrp="1"/>
          </p:cNvSpPr>
          <p:nvPr>
            <p:ph idx="1"/>
          </p:nvPr>
        </p:nvSpPr>
        <p:spPr/>
        <p:txBody>
          <a:bodyPr>
            <a:normAutofit fontScale="55000" lnSpcReduction="20000"/>
          </a:bodyPr>
          <a:lstStyle/>
          <a:p>
            <a:r>
              <a:rPr lang="en-US" sz="3200" dirty="0"/>
              <a:t>A stochastic model includes randomness and uncertainty, so the same inputs can produce different outcomes. It describes results using probabilities rather than a single fixed answer.</a:t>
            </a:r>
          </a:p>
          <a:p>
            <a:pPr lvl="1"/>
            <a:r>
              <a:rPr lang="en-US" sz="3000" dirty="0"/>
              <a:t>Includes randomness or uncertainty</a:t>
            </a:r>
          </a:p>
          <a:p>
            <a:pPr lvl="1"/>
            <a:r>
              <a:rPr lang="en-US" sz="3000" dirty="0"/>
              <a:t>Uses probability distributions</a:t>
            </a:r>
          </a:p>
          <a:p>
            <a:pPr lvl="1"/>
            <a:r>
              <a:rPr lang="en-US" sz="3000" dirty="0"/>
              <a:t>Same inputs can give different results</a:t>
            </a:r>
          </a:p>
          <a:p>
            <a:pPr lvl="1"/>
            <a:r>
              <a:rPr lang="en-US" sz="3000" dirty="0"/>
              <a:t>Often analyzed statistically</a:t>
            </a:r>
          </a:p>
          <a:p>
            <a:r>
              <a:rPr lang="en-US" sz="3200" dirty="0"/>
              <a:t>Common distributions include normal, binomial, Poisson, and exponential.</a:t>
            </a:r>
          </a:p>
          <a:p>
            <a:r>
              <a:rPr lang="en-US" sz="3200" dirty="0"/>
              <a:t>Used in weather forecasting, finance, biology, and queueing systems.</a:t>
            </a:r>
          </a:p>
          <a:p>
            <a:r>
              <a:rPr lang="en-US" sz="3200" dirty="0"/>
              <a:t>Best when uncertainty matters; deterministic models fit fully predictable systems.</a:t>
            </a:r>
          </a:p>
          <a:p>
            <a:r>
              <a:rPr lang="en-US" sz="3200" dirty="0"/>
              <a:t>They are useful for simulation, forecasting, and risk analysis.</a:t>
            </a:r>
          </a:p>
        </p:txBody>
      </p:sp>
      <p:sp>
        <p:nvSpPr>
          <p:cNvPr id="4" name="Footer Placeholder 3">
            <a:extLst>
              <a:ext uri="{FF2B5EF4-FFF2-40B4-BE49-F238E27FC236}">
                <a16:creationId xmlns:a16="http://schemas.microsoft.com/office/drawing/2014/main" id="{280122D1-3C8C-E347-7537-EA0BF4D8015D}"/>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777981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4F05-8001-17E4-1634-E5A208E64EE6}"/>
              </a:ext>
            </a:extLst>
          </p:cNvPr>
          <p:cNvSpPr>
            <a:spLocks noGrp="1"/>
          </p:cNvSpPr>
          <p:nvPr>
            <p:ph type="title"/>
          </p:nvPr>
        </p:nvSpPr>
        <p:spPr/>
        <p:txBody>
          <a:bodyPr/>
          <a:lstStyle/>
          <a:p>
            <a:r>
              <a:rPr lang="en-US" dirty="0"/>
              <a:t>Continuous and Discrete Systems</a:t>
            </a:r>
          </a:p>
        </p:txBody>
      </p:sp>
      <p:sp>
        <p:nvSpPr>
          <p:cNvPr id="3" name="Content Placeholder 2">
            <a:extLst>
              <a:ext uri="{FF2B5EF4-FFF2-40B4-BE49-F238E27FC236}">
                <a16:creationId xmlns:a16="http://schemas.microsoft.com/office/drawing/2014/main" id="{62E515DD-DF92-897B-E428-105EF9272CD6}"/>
              </a:ext>
            </a:extLst>
          </p:cNvPr>
          <p:cNvSpPr>
            <a:spLocks noGrp="1"/>
          </p:cNvSpPr>
          <p:nvPr>
            <p:ph idx="1"/>
          </p:nvPr>
        </p:nvSpPr>
        <p:spPr/>
        <p:txBody>
          <a:bodyPr>
            <a:normAutofit fontScale="70000" lnSpcReduction="20000"/>
          </a:bodyPr>
          <a:lstStyle/>
          <a:p>
            <a:pPr marL="0" indent="0">
              <a:buNone/>
            </a:pPr>
            <a:r>
              <a:rPr lang="en-US" sz="3200" dirty="0"/>
              <a:t>Continuous systems change smoothly, while discrete systems change in distinct steps.</a:t>
            </a:r>
          </a:p>
          <a:p>
            <a:r>
              <a:rPr lang="en-US" sz="3200" b="1" dirty="0"/>
              <a:t>Continuous systems:</a:t>
            </a:r>
            <a:r>
              <a:rPr lang="en-US" sz="3200" dirty="0"/>
              <a:t> Smooth change over time; values exist at every moment.</a:t>
            </a:r>
          </a:p>
          <a:p>
            <a:pPr marL="457200" lvl="1" indent="0">
              <a:buNone/>
            </a:pPr>
            <a:r>
              <a:rPr lang="en-US" sz="3000" b="1" dirty="0"/>
              <a:t>Examples:</a:t>
            </a:r>
            <a:r>
              <a:rPr lang="en-US" sz="3000" dirty="0"/>
              <a:t> temperature change in a room, water flow in a pipe.</a:t>
            </a:r>
            <a:endParaRPr lang="en-US" sz="3000" b="1" dirty="0"/>
          </a:p>
          <a:p>
            <a:r>
              <a:rPr lang="en-US" sz="3200" b="1" dirty="0"/>
              <a:t>Discrete systems:</a:t>
            </a:r>
            <a:r>
              <a:rPr lang="en-US" sz="3200" dirty="0"/>
              <a:t> Change at specific events or time points; values are counted step by step.</a:t>
            </a:r>
          </a:p>
          <a:p>
            <a:pPr marL="457200" lvl="1" indent="0">
              <a:buNone/>
            </a:pPr>
            <a:r>
              <a:rPr lang="en-US" sz="3000" b="1" dirty="0"/>
              <a:t>Example:</a:t>
            </a:r>
            <a:r>
              <a:rPr lang="en-US" sz="3000" dirty="0"/>
              <a:t> customer arrivals at a store.</a:t>
            </a:r>
          </a:p>
          <a:p>
            <a:r>
              <a:rPr lang="en-US" sz="3200" dirty="0"/>
              <a:t>Choose continuous models for gradual change and discrete models for separate events.</a:t>
            </a:r>
          </a:p>
        </p:txBody>
      </p:sp>
      <p:sp>
        <p:nvSpPr>
          <p:cNvPr id="4" name="Footer Placeholder 3">
            <a:extLst>
              <a:ext uri="{FF2B5EF4-FFF2-40B4-BE49-F238E27FC236}">
                <a16:creationId xmlns:a16="http://schemas.microsoft.com/office/drawing/2014/main" id="{5811AD41-70F6-CB7F-C499-522114E4E32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941474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2219C-BA6B-8326-4C5A-8D30F73C4EB0}"/>
              </a:ext>
            </a:extLst>
          </p:cNvPr>
          <p:cNvSpPr>
            <a:spLocks noGrp="1"/>
          </p:cNvSpPr>
          <p:nvPr>
            <p:ph type="title"/>
          </p:nvPr>
        </p:nvSpPr>
        <p:spPr/>
        <p:txBody>
          <a:bodyPr/>
          <a:lstStyle/>
          <a:p>
            <a:r>
              <a:rPr lang="en-US" dirty="0"/>
              <a:t>System Modeling</a:t>
            </a:r>
          </a:p>
        </p:txBody>
      </p:sp>
      <p:sp>
        <p:nvSpPr>
          <p:cNvPr id="3" name="Content Placeholder 2">
            <a:extLst>
              <a:ext uri="{FF2B5EF4-FFF2-40B4-BE49-F238E27FC236}">
                <a16:creationId xmlns:a16="http://schemas.microsoft.com/office/drawing/2014/main" id="{2B596578-8D80-D206-B5A9-1D00CAB04464}"/>
              </a:ext>
            </a:extLst>
          </p:cNvPr>
          <p:cNvSpPr>
            <a:spLocks noGrp="1"/>
          </p:cNvSpPr>
          <p:nvPr>
            <p:ph idx="1"/>
          </p:nvPr>
        </p:nvSpPr>
        <p:spPr>
          <a:xfrm>
            <a:off x="677334" y="1739591"/>
            <a:ext cx="8596668" cy="4301772"/>
          </a:xfrm>
        </p:spPr>
        <p:txBody>
          <a:bodyPr>
            <a:normAutofit/>
          </a:bodyPr>
          <a:lstStyle/>
          <a:p>
            <a:pPr marL="0" indent="0">
              <a:buNone/>
            </a:pPr>
            <a:r>
              <a:rPr lang="en-US" sz="1600" dirty="0"/>
              <a:t>System modeling creates a simplified representation of a real-world system so it can be understood, analyzed, and tested more easily. It focuses on the most important parts while leaving out unnecessary detail.</a:t>
            </a:r>
          </a:p>
          <a:p>
            <a:pPr marL="0" indent="0">
              <a:buNone/>
            </a:pPr>
            <a:r>
              <a:rPr lang="en-US" sz="1600" b="1" dirty="0"/>
              <a:t>	Purpose:</a:t>
            </a:r>
            <a:r>
              <a:rPr lang="en-US" sz="1600" dirty="0"/>
              <a:t> Understand structure, behavior, and likely responses.</a:t>
            </a:r>
          </a:p>
          <a:p>
            <a:pPr marL="457200" lvl="1" indent="0">
              <a:buNone/>
            </a:pPr>
            <a:r>
              <a:rPr lang="en-US" b="1" dirty="0"/>
              <a:t>Why it matters:</a:t>
            </a:r>
            <a:r>
              <a:rPr lang="en-US" dirty="0"/>
              <a:t> Reduce complexity, improve decisions, and test ideas safely.</a:t>
            </a:r>
          </a:p>
          <a:p>
            <a:pPr marL="0" indent="0">
              <a:buNone/>
            </a:pPr>
            <a:r>
              <a:rPr lang="en-US" sz="1600" b="1" dirty="0"/>
              <a:t>	Modeling process:</a:t>
            </a:r>
            <a:r>
              <a:rPr lang="en-US" sz="1600" dirty="0"/>
              <a:t> Define the problem, choose an approach, build, test, and refine.</a:t>
            </a:r>
          </a:p>
          <a:p>
            <a:pPr marL="0" indent="0">
              <a:buNone/>
            </a:pPr>
            <a:r>
              <a:rPr lang="en-US" sz="1600" b="1" dirty="0"/>
              <a:t>	Common approaches:</a:t>
            </a:r>
            <a:r>
              <a:rPr lang="en-US" sz="1600" dirty="0"/>
              <a:t> Qualitative or quantitative; static or dynamic; deterministic or stochastic.</a:t>
            </a:r>
          </a:p>
          <a:p>
            <a:pPr marL="0" indent="0">
              <a:buNone/>
            </a:pPr>
            <a:r>
              <a:rPr lang="en-US" sz="1600" b="1" dirty="0"/>
              <a:t>	Types of models:</a:t>
            </a:r>
            <a:r>
              <a:rPr lang="en-US" sz="1600" dirty="0"/>
              <a:t> Physical, conceptual, mathematical, simulation, and computational.</a:t>
            </a:r>
          </a:p>
          <a:p>
            <a:pPr marL="0" indent="0">
              <a:buNone/>
            </a:pPr>
            <a:r>
              <a:rPr lang="en-US" sz="1600" b="1" dirty="0"/>
              <a:t>	Real-world connection:</a:t>
            </a:r>
            <a:r>
              <a:rPr lang="en-US" sz="1600" dirty="0"/>
              <a:t> Good models balance simplicity and accuracy.</a:t>
            </a:r>
          </a:p>
          <a:p>
            <a:pPr marL="0" indent="0">
              <a:buNone/>
            </a:pPr>
            <a:r>
              <a:rPr lang="en-US" sz="1600" b="1" dirty="0"/>
              <a:t>What it helps achieve:</a:t>
            </a:r>
            <a:r>
              <a:rPr lang="en-US" sz="1600" dirty="0"/>
              <a:t> Reveal patterns, compare options, forecast outcomes, and improve performance.</a:t>
            </a:r>
          </a:p>
        </p:txBody>
      </p:sp>
      <p:sp>
        <p:nvSpPr>
          <p:cNvPr id="4" name="Footer Placeholder 3">
            <a:extLst>
              <a:ext uri="{FF2B5EF4-FFF2-40B4-BE49-F238E27FC236}">
                <a16:creationId xmlns:a16="http://schemas.microsoft.com/office/drawing/2014/main" id="{39A5FE48-3D8F-20B9-E3C9-EC79A4892E2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257355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2531-A939-886F-D36A-F5B9689F6A6F}"/>
              </a:ext>
            </a:extLst>
          </p:cNvPr>
          <p:cNvSpPr>
            <a:spLocks noGrp="1"/>
          </p:cNvSpPr>
          <p:nvPr>
            <p:ph type="title"/>
          </p:nvPr>
        </p:nvSpPr>
        <p:spPr/>
        <p:txBody>
          <a:bodyPr/>
          <a:lstStyle/>
          <a:p>
            <a:r>
              <a:rPr lang="en-US" dirty="0"/>
              <a:t>Types of Models</a:t>
            </a:r>
          </a:p>
        </p:txBody>
      </p:sp>
      <p:sp>
        <p:nvSpPr>
          <p:cNvPr id="3" name="Content Placeholder 2">
            <a:extLst>
              <a:ext uri="{FF2B5EF4-FFF2-40B4-BE49-F238E27FC236}">
                <a16:creationId xmlns:a16="http://schemas.microsoft.com/office/drawing/2014/main" id="{EE3AC0A1-D696-1E7C-CD20-6D49ECB34994}"/>
              </a:ext>
            </a:extLst>
          </p:cNvPr>
          <p:cNvSpPr>
            <a:spLocks noGrp="1"/>
          </p:cNvSpPr>
          <p:nvPr>
            <p:ph idx="1"/>
          </p:nvPr>
        </p:nvSpPr>
        <p:spPr>
          <a:xfrm>
            <a:off x="677334" y="2141539"/>
            <a:ext cx="8596668" cy="3880773"/>
          </a:xfrm>
        </p:spPr>
        <p:txBody>
          <a:bodyPr>
            <a:normAutofit fontScale="92500" lnSpcReduction="20000"/>
          </a:bodyPr>
          <a:lstStyle/>
          <a:p>
            <a:r>
              <a:rPr lang="en-US" sz="2000" b="1" dirty="0"/>
              <a:t>Visual Models:</a:t>
            </a:r>
            <a:r>
              <a:rPr lang="en-US" sz="2000" dirty="0"/>
              <a:t> Diagrams, sketches, and 3D renderings that show structure or relationships at a glance. Example: flowcharts or architectural drawings.</a:t>
            </a:r>
          </a:p>
          <a:p>
            <a:r>
              <a:rPr lang="en-US" sz="2000" b="1" dirty="0"/>
              <a:t>Physical Models:</a:t>
            </a:r>
            <a:r>
              <a:rPr lang="en-US" sz="2000" dirty="0"/>
              <a:t> Tangible scale versions of real objects or systems. Example: a bridge prototype or a model airplane.</a:t>
            </a:r>
          </a:p>
          <a:p>
            <a:r>
              <a:rPr lang="en-US" sz="2000" b="1" dirty="0"/>
              <a:t>Mathematical Models:</a:t>
            </a:r>
            <a:r>
              <a:rPr lang="en-US" sz="2000" dirty="0"/>
              <a:t> Equations and formulas that describe how a system behaves. Example: population-growth or supply-and-demand equations.</a:t>
            </a:r>
          </a:p>
          <a:p>
            <a:r>
              <a:rPr lang="en-US" sz="2000" b="1" dirty="0"/>
              <a:t>Simulation Models:</a:t>
            </a:r>
            <a:r>
              <a:rPr lang="en-US" sz="2000" dirty="0"/>
              <a:t> Computer-based models that imitate real-world behavior over time. Example: traffic-flow or weather simulations.</a:t>
            </a:r>
          </a:p>
          <a:p>
            <a:pPr marL="0" indent="0">
              <a:buNone/>
            </a:pPr>
            <a:r>
              <a:rPr lang="en-US" sz="2000" dirty="0"/>
              <a:t>These model types are often used together to give a fuller picture.</a:t>
            </a:r>
          </a:p>
          <a:p>
            <a:pPr marL="0" indent="0">
              <a:buNone/>
            </a:pPr>
            <a:r>
              <a:rPr lang="en-US" sz="2000" dirty="0"/>
              <a:t>Choose the model that best fits your goal: explain, test, quantify, or simulate.</a:t>
            </a:r>
          </a:p>
        </p:txBody>
      </p:sp>
      <p:sp>
        <p:nvSpPr>
          <p:cNvPr id="4" name="Footer Placeholder 3">
            <a:extLst>
              <a:ext uri="{FF2B5EF4-FFF2-40B4-BE49-F238E27FC236}">
                <a16:creationId xmlns:a16="http://schemas.microsoft.com/office/drawing/2014/main" id="{A13041EE-6663-4C7B-EB69-FFB45900A42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850187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2531-A939-886F-D36A-F5B9689F6A6F}"/>
              </a:ext>
            </a:extLst>
          </p:cNvPr>
          <p:cNvSpPr>
            <a:spLocks noGrp="1"/>
          </p:cNvSpPr>
          <p:nvPr>
            <p:ph type="title"/>
          </p:nvPr>
        </p:nvSpPr>
        <p:spPr/>
        <p:txBody>
          <a:bodyPr/>
          <a:lstStyle/>
          <a:p>
            <a:r>
              <a:rPr lang="en-US" dirty="0"/>
              <a:t>Types of Models..</a:t>
            </a:r>
          </a:p>
        </p:txBody>
      </p:sp>
      <p:pic>
        <p:nvPicPr>
          <p:cNvPr id="4" name="Content Placeholder 3">
            <a:extLst>
              <a:ext uri="{FF2B5EF4-FFF2-40B4-BE49-F238E27FC236}">
                <a16:creationId xmlns:a16="http://schemas.microsoft.com/office/drawing/2014/main" id="{8F07B3AC-90B8-51DB-FDE8-C7696B4DF85C}"/>
              </a:ext>
            </a:extLst>
          </p:cNvPr>
          <p:cNvPicPr>
            <a:picLocks noGrp="1"/>
          </p:cNvPicPr>
          <p:nvPr>
            <p:ph idx="1"/>
          </p:nvPr>
        </p:nvPicPr>
        <p:blipFill>
          <a:blip r:embed="rId3"/>
          <a:stretch>
            <a:fillRect/>
          </a:stretch>
        </p:blipFill>
        <p:spPr>
          <a:xfrm>
            <a:off x="677863" y="1958975"/>
            <a:ext cx="8596312" cy="4013200"/>
          </a:xfrm>
          <a:prstGeom prst="rect">
            <a:avLst/>
          </a:prstGeom>
        </p:spPr>
      </p:pic>
      <p:sp>
        <p:nvSpPr>
          <p:cNvPr id="3" name="Footer Placeholder 2">
            <a:extLst>
              <a:ext uri="{FF2B5EF4-FFF2-40B4-BE49-F238E27FC236}">
                <a16:creationId xmlns:a16="http://schemas.microsoft.com/office/drawing/2014/main" id="{6ADA8F90-6BBF-BB96-85FD-1E4DEE697F4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455019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75D51F-C06A-DCDC-5C7E-CA76A93FFFF9}"/>
              </a:ext>
            </a:extLst>
          </p:cNvPr>
          <p:cNvSpPr>
            <a:spLocks noGrp="1"/>
          </p:cNvSpPr>
          <p:nvPr>
            <p:ph type="title"/>
          </p:nvPr>
        </p:nvSpPr>
        <p:spPr>
          <a:xfrm>
            <a:off x="652481" y="1382486"/>
            <a:ext cx="3547581" cy="4093028"/>
          </a:xfrm>
        </p:spPr>
        <p:txBody>
          <a:bodyPr anchor="ctr">
            <a:normAutofit/>
          </a:bodyPr>
          <a:lstStyle/>
          <a:p>
            <a:r>
              <a:rPr lang="en-US" sz="4400"/>
              <a:t>Principles of Modeling</a:t>
            </a:r>
          </a:p>
        </p:txBody>
      </p:sp>
      <p:grpSp>
        <p:nvGrpSpPr>
          <p:cNvPr id="11" name="Group 10">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12" name="Straight Connector 11">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1BF142F-517C-8D7E-4B83-B43BCB6C246C}"/>
              </a:ext>
            </a:extLst>
          </p:cNvPr>
          <p:cNvGraphicFramePr>
            <a:graphicFrameLocks noGrp="1"/>
          </p:cNvGraphicFramePr>
          <p:nvPr>
            <p:ph idx="1"/>
            <p:extLst>
              <p:ext uri="{D42A27DB-BD31-4B8C-83A1-F6EECF244321}">
                <p14:modId xmlns:p14="http://schemas.microsoft.com/office/powerpoint/2010/main" val="3434629407"/>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5FD4F089-089B-8221-9586-999A55411C3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801995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CD35B-2D64-DBC5-300B-55CCBFAC5820}"/>
              </a:ext>
            </a:extLst>
          </p:cNvPr>
          <p:cNvSpPr>
            <a:spLocks noGrp="1"/>
          </p:cNvSpPr>
          <p:nvPr>
            <p:ph type="title"/>
          </p:nvPr>
        </p:nvSpPr>
        <p:spPr/>
        <p:txBody>
          <a:bodyPr/>
          <a:lstStyle/>
          <a:p>
            <a:r>
              <a:rPr lang="en-US" dirty="0"/>
              <a:t>Modeling</a:t>
            </a:r>
          </a:p>
        </p:txBody>
      </p:sp>
      <p:sp>
        <p:nvSpPr>
          <p:cNvPr id="3" name="Content Placeholder 2">
            <a:extLst>
              <a:ext uri="{FF2B5EF4-FFF2-40B4-BE49-F238E27FC236}">
                <a16:creationId xmlns:a16="http://schemas.microsoft.com/office/drawing/2014/main" id="{9AA3849B-FCC3-9B06-81D3-B234B955AA71}"/>
              </a:ext>
            </a:extLst>
          </p:cNvPr>
          <p:cNvSpPr>
            <a:spLocks noGrp="1"/>
          </p:cNvSpPr>
          <p:nvPr>
            <p:ph idx="1"/>
          </p:nvPr>
        </p:nvSpPr>
        <p:spPr>
          <a:xfrm>
            <a:off x="677334" y="1549691"/>
            <a:ext cx="8901006" cy="4491671"/>
          </a:xfrm>
        </p:spPr>
        <p:txBody>
          <a:bodyPr>
            <a:normAutofit lnSpcReduction="10000"/>
          </a:bodyPr>
          <a:lstStyle/>
          <a:p>
            <a:r>
              <a:rPr lang="en-US" sz="3200" b="1" dirty="0"/>
              <a:t>Advantages</a:t>
            </a:r>
          </a:p>
          <a:p>
            <a:pPr lvl="1">
              <a:buFont typeface="Arial" panose="020B0604020202020204" pitchFamily="34" charset="0"/>
              <a:buChar char="•"/>
            </a:pPr>
            <a:r>
              <a:rPr lang="en-US" sz="3000" dirty="0"/>
              <a:t>Very readable code</a:t>
            </a:r>
          </a:p>
          <a:p>
            <a:pPr lvl="1">
              <a:buFont typeface="Arial" panose="020B0604020202020204" pitchFamily="34" charset="0"/>
              <a:buChar char="•"/>
            </a:pPr>
            <a:r>
              <a:rPr lang="en-US" sz="3000" dirty="0"/>
              <a:t>Shorter Developmental cycle</a:t>
            </a:r>
          </a:p>
          <a:p>
            <a:pPr lvl="1">
              <a:buFont typeface="Arial" panose="020B0604020202020204" pitchFamily="34" charset="0"/>
              <a:buChar char="•"/>
            </a:pPr>
            <a:r>
              <a:rPr lang="en-US" sz="3000" dirty="0"/>
              <a:t>Standard features often needed</a:t>
            </a:r>
          </a:p>
          <a:p>
            <a:r>
              <a:rPr lang="en-US" sz="3200" b="1" dirty="0"/>
              <a:t>Disadvantages</a:t>
            </a:r>
          </a:p>
          <a:p>
            <a:pPr lvl="1">
              <a:buFont typeface="Arial" panose="020B0604020202020204" pitchFamily="34" charset="0"/>
              <a:buChar char="•"/>
            </a:pPr>
            <a:r>
              <a:rPr lang="en-US" sz="3000" dirty="0"/>
              <a:t>Higher software cost</a:t>
            </a:r>
          </a:p>
          <a:p>
            <a:pPr lvl="1">
              <a:buFont typeface="Arial" panose="020B0604020202020204" pitchFamily="34" charset="0"/>
              <a:buChar char="•"/>
            </a:pPr>
            <a:r>
              <a:rPr lang="en-US" sz="3000" dirty="0"/>
              <a:t>Additional training needed</a:t>
            </a:r>
          </a:p>
          <a:p>
            <a:pPr lvl="1">
              <a:buFont typeface="Arial" panose="020B0604020202020204" pitchFamily="34" charset="0"/>
              <a:buChar char="•"/>
            </a:pPr>
            <a:r>
              <a:rPr lang="en-US" sz="3000" dirty="0"/>
              <a:t>Limited Portability</a:t>
            </a:r>
          </a:p>
        </p:txBody>
      </p:sp>
      <p:sp>
        <p:nvSpPr>
          <p:cNvPr id="4" name="Footer Placeholder 3">
            <a:extLst>
              <a:ext uri="{FF2B5EF4-FFF2-40B4-BE49-F238E27FC236}">
                <a16:creationId xmlns:a16="http://schemas.microsoft.com/office/drawing/2014/main" id="{D45B9827-42FE-3E98-6F9D-546824BD86D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510869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FD6BA7-99CA-FF14-A78F-345098FD5AB0}"/>
              </a:ext>
            </a:extLst>
          </p:cNvPr>
          <p:cNvPicPr>
            <a:picLocks noChangeAspect="1"/>
          </p:cNvPicPr>
          <p:nvPr/>
        </p:nvPicPr>
        <p:blipFill>
          <a:blip r:embed="rId3"/>
          <a:stretch>
            <a:fillRect/>
          </a:stretch>
        </p:blipFill>
        <p:spPr>
          <a:xfrm>
            <a:off x="6735337" y="1046827"/>
            <a:ext cx="4486799" cy="5188890"/>
          </a:xfrm>
          <a:prstGeom prst="rect">
            <a:avLst/>
          </a:prstGeom>
        </p:spPr>
      </p:pic>
      <p:sp>
        <p:nvSpPr>
          <p:cNvPr id="2" name="Title 1">
            <a:extLst>
              <a:ext uri="{FF2B5EF4-FFF2-40B4-BE49-F238E27FC236}">
                <a16:creationId xmlns:a16="http://schemas.microsoft.com/office/drawing/2014/main" id="{052AF7E8-6AA4-F288-A629-36D64418E659}"/>
              </a:ext>
            </a:extLst>
          </p:cNvPr>
          <p:cNvSpPr>
            <a:spLocks noGrp="1"/>
          </p:cNvSpPr>
          <p:nvPr>
            <p:ph type="title"/>
          </p:nvPr>
        </p:nvSpPr>
        <p:spPr/>
        <p:txBody>
          <a:bodyPr/>
          <a:lstStyle/>
          <a:p>
            <a:r>
              <a:rPr lang="en-US" dirty="0"/>
              <a:t>Areas of Application</a:t>
            </a:r>
          </a:p>
        </p:txBody>
      </p:sp>
      <p:sp>
        <p:nvSpPr>
          <p:cNvPr id="3" name="Content Placeholder 2">
            <a:extLst>
              <a:ext uri="{FF2B5EF4-FFF2-40B4-BE49-F238E27FC236}">
                <a16:creationId xmlns:a16="http://schemas.microsoft.com/office/drawing/2014/main" id="{041CA7C3-59E5-F001-8DF8-4517DFF041AE}"/>
              </a:ext>
            </a:extLst>
          </p:cNvPr>
          <p:cNvSpPr>
            <a:spLocks noGrp="1"/>
          </p:cNvSpPr>
          <p:nvPr>
            <p:ph idx="1"/>
          </p:nvPr>
        </p:nvSpPr>
        <p:spPr>
          <a:xfrm>
            <a:off x="677334" y="1930400"/>
            <a:ext cx="8596668" cy="3880773"/>
          </a:xfrm>
        </p:spPr>
        <p:txBody>
          <a:bodyPr>
            <a:normAutofit fontScale="77500" lnSpcReduction="20000"/>
          </a:bodyPr>
          <a:lstStyle/>
          <a:p>
            <a:r>
              <a:rPr lang="en-US" sz="3200" dirty="0"/>
              <a:t>Military Training</a:t>
            </a:r>
          </a:p>
          <a:p>
            <a:r>
              <a:rPr lang="en-US" sz="3200" dirty="0"/>
              <a:t>Engineering</a:t>
            </a:r>
          </a:p>
          <a:p>
            <a:r>
              <a:rPr lang="en-US" sz="3200" dirty="0"/>
              <a:t>Traffic Systems</a:t>
            </a:r>
          </a:p>
          <a:p>
            <a:r>
              <a:rPr lang="en-US" sz="3200" dirty="0"/>
              <a:t>Healthcare and Pharma</a:t>
            </a:r>
          </a:p>
          <a:p>
            <a:r>
              <a:rPr lang="en-US" sz="3200" dirty="0"/>
              <a:t>Business process modeling and service Systems</a:t>
            </a:r>
          </a:p>
          <a:p>
            <a:r>
              <a:rPr lang="en-US" sz="3200" dirty="0"/>
              <a:t>Manufacturing and Production.</a:t>
            </a:r>
          </a:p>
          <a:p>
            <a:r>
              <a:rPr lang="en-US" sz="3200" dirty="0"/>
              <a:t>Marketing and competition</a:t>
            </a:r>
          </a:p>
          <a:p>
            <a:r>
              <a:rPr lang="en-US" sz="3200" dirty="0"/>
              <a:t>Project and asset management</a:t>
            </a:r>
          </a:p>
          <a:p>
            <a:r>
              <a:rPr lang="en-US" sz="3200" dirty="0"/>
              <a:t>Supply chains and logistics and many more</a:t>
            </a:r>
          </a:p>
          <a:p>
            <a:endParaRPr lang="en-US" sz="3200" dirty="0"/>
          </a:p>
        </p:txBody>
      </p:sp>
      <p:sp>
        <p:nvSpPr>
          <p:cNvPr id="4" name="Footer Placeholder 3">
            <a:extLst>
              <a:ext uri="{FF2B5EF4-FFF2-40B4-BE49-F238E27FC236}">
                <a16:creationId xmlns:a16="http://schemas.microsoft.com/office/drawing/2014/main" id="{F712D4DB-2244-39A7-2E69-B61A2922CC26}"/>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807984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EEB81-DE4E-F5F1-7788-16CE32A934E8}"/>
              </a:ext>
            </a:extLst>
          </p:cNvPr>
          <p:cNvSpPr>
            <a:spLocks noGrp="1"/>
          </p:cNvSpPr>
          <p:nvPr>
            <p:ph type="title"/>
          </p:nvPr>
        </p:nvSpPr>
        <p:spPr/>
        <p:txBody>
          <a:bodyPr/>
          <a:lstStyle/>
          <a:p>
            <a:r>
              <a:rPr lang="en-US" dirty="0"/>
              <a:t>Verification and Validation</a:t>
            </a:r>
          </a:p>
        </p:txBody>
      </p:sp>
      <p:sp>
        <p:nvSpPr>
          <p:cNvPr id="3" name="Content Placeholder 2">
            <a:extLst>
              <a:ext uri="{FF2B5EF4-FFF2-40B4-BE49-F238E27FC236}">
                <a16:creationId xmlns:a16="http://schemas.microsoft.com/office/drawing/2014/main" id="{9615A512-E1A8-3925-AB96-BE07FCD8C34C}"/>
              </a:ext>
            </a:extLst>
          </p:cNvPr>
          <p:cNvSpPr>
            <a:spLocks noGrp="1"/>
          </p:cNvSpPr>
          <p:nvPr>
            <p:ph idx="1"/>
          </p:nvPr>
        </p:nvSpPr>
        <p:spPr>
          <a:xfrm>
            <a:off x="677334" y="2045493"/>
            <a:ext cx="6297612" cy="3995869"/>
          </a:xfrm>
        </p:spPr>
        <p:txBody>
          <a:bodyPr>
            <a:normAutofit/>
          </a:bodyPr>
          <a:lstStyle/>
          <a:p>
            <a:r>
              <a:rPr lang="en-US" sz="2000" dirty="0"/>
              <a:t>Verification: Is the model implemented correctly?</a:t>
            </a:r>
          </a:p>
          <a:p>
            <a:r>
              <a:rPr lang="en-US" sz="2000" dirty="0"/>
              <a:t>Validation: Does the model accurately represent the real system?</a:t>
            </a:r>
          </a:p>
          <a:p>
            <a:pPr>
              <a:buNone/>
            </a:pPr>
            <a:r>
              <a:rPr lang="en-US" sz="2000" b="1" dirty="0"/>
              <a:t>Why Both Matter</a:t>
            </a:r>
          </a:p>
          <a:p>
            <a:pPr>
              <a:buFont typeface="Arial" panose="020B0604020202020204" pitchFamily="34" charset="0"/>
              <a:buChar char="•"/>
            </a:pPr>
            <a:r>
              <a:rPr lang="en-US" sz="2000" dirty="0"/>
              <a:t>Produces </a:t>
            </a:r>
            <a:r>
              <a:rPr lang="en-US" sz="2000" b="1" dirty="0"/>
              <a:t>reliable and trustworthy results</a:t>
            </a:r>
            <a:endParaRPr lang="en-US" sz="2000" dirty="0"/>
          </a:p>
          <a:p>
            <a:pPr>
              <a:buFont typeface="Arial" panose="020B0604020202020204" pitchFamily="34" charset="0"/>
              <a:buChar char="•"/>
            </a:pPr>
            <a:r>
              <a:rPr lang="en-US" sz="2000" dirty="0"/>
              <a:t>Is </a:t>
            </a:r>
            <a:r>
              <a:rPr lang="en-US" sz="2000" b="1" dirty="0"/>
              <a:t>fit for decision-making</a:t>
            </a:r>
            <a:endParaRPr lang="en-US" sz="2000" dirty="0"/>
          </a:p>
          <a:p>
            <a:pPr>
              <a:buFont typeface="Arial" panose="020B0604020202020204" pitchFamily="34" charset="0"/>
              <a:buChar char="•"/>
            </a:pPr>
            <a:r>
              <a:rPr lang="en-US" sz="2000" dirty="0"/>
              <a:t>Avoids misleading conclusions due to errors or incorrect assumptions</a:t>
            </a:r>
          </a:p>
          <a:p>
            <a:endParaRPr lang="en-US" sz="2000" dirty="0"/>
          </a:p>
        </p:txBody>
      </p:sp>
      <p:sp>
        <p:nvSpPr>
          <p:cNvPr id="4" name="Footer Placeholder 3">
            <a:extLst>
              <a:ext uri="{FF2B5EF4-FFF2-40B4-BE49-F238E27FC236}">
                <a16:creationId xmlns:a16="http://schemas.microsoft.com/office/drawing/2014/main" id="{1997E776-D6B6-816A-407B-8C5137ACA89C}"/>
              </a:ext>
            </a:extLst>
          </p:cNvPr>
          <p:cNvSpPr>
            <a:spLocks noGrp="1"/>
          </p:cNvSpPr>
          <p:nvPr>
            <p:ph type="ftr" sz="quarter" idx="11"/>
          </p:nvPr>
        </p:nvSpPr>
        <p:spPr/>
        <p:txBody>
          <a:bodyPr/>
          <a:lstStyle/>
          <a:p>
            <a:r>
              <a:rPr lang="nb-NO"/>
              <a:t>Kapil@nast.edu.np || Kapilpant157</a:t>
            </a:r>
            <a:endParaRPr lang="en-US"/>
          </a:p>
        </p:txBody>
      </p:sp>
      <p:pic>
        <p:nvPicPr>
          <p:cNvPr id="6" name="Picture 5">
            <a:extLst>
              <a:ext uri="{FF2B5EF4-FFF2-40B4-BE49-F238E27FC236}">
                <a16:creationId xmlns:a16="http://schemas.microsoft.com/office/drawing/2014/main" id="{1EF46B2E-698D-B86A-B486-6A6F5DE1FE36}"/>
              </a:ext>
            </a:extLst>
          </p:cNvPr>
          <p:cNvPicPr>
            <a:picLocks noChangeAspect="1"/>
          </p:cNvPicPr>
          <p:nvPr/>
        </p:nvPicPr>
        <p:blipFill>
          <a:blip r:embed="rId3"/>
          <a:stretch>
            <a:fillRect/>
          </a:stretch>
        </p:blipFill>
        <p:spPr>
          <a:xfrm>
            <a:off x="7780961" y="494507"/>
            <a:ext cx="2829320" cy="2810267"/>
          </a:xfrm>
          <a:prstGeom prst="rect">
            <a:avLst/>
          </a:prstGeom>
        </p:spPr>
      </p:pic>
      <p:pic>
        <p:nvPicPr>
          <p:cNvPr id="8" name="Picture 7">
            <a:extLst>
              <a:ext uri="{FF2B5EF4-FFF2-40B4-BE49-F238E27FC236}">
                <a16:creationId xmlns:a16="http://schemas.microsoft.com/office/drawing/2014/main" id="{5D2C43F7-8F1F-D46F-337F-41118D6AB95A}"/>
              </a:ext>
            </a:extLst>
          </p:cNvPr>
          <p:cNvPicPr>
            <a:picLocks noChangeAspect="1"/>
          </p:cNvPicPr>
          <p:nvPr/>
        </p:nvPicPr>
        <p:blipFill>
          <a:blip r:embed="rId4"/>
          <a:stretch>
            <a:fillRect/>
          </a:stretch>
        </p:blipFill>
        <p:spPr>
          <a:xfrm>
            <a:off x="7873631" y="3670797"/>
            <a:ext cx="2800741" cy="2800741"/>
          </a:xfrm>
          <a:prstGeom prst="rect">
            <a:avLst/>
          </a:prstGeom>
        </p:spPr>
      </p:pic>
    </p:spTree>
    <p:extLst>
      <p:ext uri="{BB962C8B-B14F-4D97-AF65-F5344CB8AC3E}">
        <p14:creationId xmlns:p14="http://schemas.microsoft.com/office/powerpoint/2010/main" val="985488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1507E-8B2F-B6D9-A87D-09521E2382E2}"/>
              </a:ext>
            </a:extLst>
          </p:cNvPr>
          <p:cNvSpPr>
            <a:spLocks noGrp="1"/>
          </p:cNvSpPr>
          <p:nvPr>
            <p:ph type="title"/>
          </p:nvPr>
        </p:nvSpPr>
        <p:spPr/>
        <p:txBody>
          <a:bodyPr/>
          <a:lstStyle/>
          <a:p>
            <a:r>
              <a:rPr lang="en-US" b="1" dirty="0"/>
              <a:t>Verification</a:t>
            </a:r>
            <a:br>
              <a:rPr lang="en-US" b="1" dirty="0"/>
            </a:br>
            <a:endParaRPr lang="en-US" dirty="0"/>
          </a:p>
        </p:txBody>
      </p:sp>
      <p:sp>
        <p:nvSpPr>
          <p:cNvPr id="3" name="Content Placeholder 2">
            <a:extLst>
              <a:ext uri="{FF2B5EF4-FFF2-40B4-BE49-F238E27FC236}">
                <a16:creationId xmlns:a16="http://schemas.microsoft.com/office/drawing/2014/main" id="{AF52786D-A95C-30E1-5748-8B40183300F8}"/>
              </a:ext>
            </a:extLst>
          </p:cNvPr>
          <p:cNvSpPr>
            <a:spLocks noGrp="1"/>
          </p:cNvSpPr>
          <p:nvPr>
            <p:ph idx="1"/>
          </p:nvPr>
        </p:nvSpPr>
        <p:spPr>
          <a:xfrm>
            <a:off x="866274" y="1930400"/>
            <a:ext cx="7940842" cy="4318000"/>
          </a:xfrm>
        </p:spPr>
        <p:txBody>
          <a:bodyPr>
            <a:normAutofit fontScale="92500" lnSpcReduction="10000"/>
          </a:bodyPr>
          <a:lstStyle/>
          <a:p>
            <a:pPr>
              <a:buNone/>
            </a:pPr>
            <a:r>
              <a:rPr lang="en-US" b="1" dirty="0"/>
              <a:t>"Are we building the system, right?"</a:t>
            </a:r>
            <a:endParaRPr lang="en-US" dirty="0"/>
          </a:p>
          <a:p>
            <a:pPr>
              <a:buFont typeface="Arial" panose="020B0604020202020204" pitchFamily="34" charset="0"/>
              <a:buChar char="•"/>
            </a:pPr>
            <a:r>
              <a:rPr lang="en-US" b="1" dirty="0"/>
              <a:t>Purpose</a:t>
            </a:r>
            <a:r>
              <a:rPr lang="en-US" dirty="0"/>
              <a:t>: Ensures the </a:t>
            </a:r>
            <a:r>
              <a:rPr lang="en-US" b="1" dirty="0"/>
              <a:t>implementation</a:t>
            </a:r>
            <a:r>
              <a:rPr lang="en-US" dirty="0"/>
              <a:t> of the model or system is done correctly.</a:t>
            </a:r>
          </a:p>
          <a:p>
            <a:pPr>
              <a:buFont typeface="Arial" panose="020B0604020202020204" pitchFamily="34" charset="0"/>
              <a:buChar char="•"/>
            </a:pPr>
            <a:r>
              <a:rPr lang="en-US" dirty="0"/>
              <a:t>Focuses on </a:t>
            </a:r>
            <a:r>
              <a:rPr lang="en-US" b="1" dirty="0"/>
              <a:t>internal correctness</a:t>
            </a:r>
            <a:r>
              <a:rPr lang="en-US" dirty="0"/>
              <a:t> — checking the code, logic, and algorithms.</a:t>
            </a:r>
          </a:p>
          <a:p>
            <a:pPr>
              <a:buFont typeface="Arial" panose="020B0604020202020204" pitchFamily="34" charset="0"/>
              <a:buChar char="•"/>
            </a:pPr>
            <a:r>
              <a:rPr lang="en-US" dirty="0"/>
              <a:t>Often involves:</a:t>
            </a:r>
          </a:p>
          <a:p>
            <a:pPr lvl="1">
              <a:buFont typeface="Arial" panose="020B0604020202020204" pitchFamily="34" charset="0"/>
              <a:buChar char="•"/>
            </a:pPr>
            <a:r>
              <a:rPr lang="en-US" dirty="0"/>
              <a:t>Code reviews</a:t>
            </a:r>
          </a:p>
          <a:p>
            <a:pPr lvl="1">
              <a:buFont typeface="Arial" panose="020B0604020202020204" pitchFamily="34" charset="0"/>
              <a:buChar char="•"/>
            </a:pPr>
            <a:r>
              <a:rPr lang="en-US" dirty="0"/>
              <a:t>Debugging</a:t>
            </a:r>
          </a:p>
          <a:p>
            <a:pPr lvl="1">
              <a:buFont typeface="Arial" panose="020B0604020202020204" pitchFamily="34" charset="0"/>
              <a:buChar char="•"/>
            </a:pPr>
            <a:r>
              <a:rPr lang="en-US" dirty="0"/>
              <a:t>Unit testing</a:t>
            </a:r>
          </a:p>
          <a:p>
            <a:pPr lvl="1">
              <a:buFont typeface="Arial" panose="020B0604020202020204" pitchFamily="34" charset="0"/>
              <a:buChar char="•"/>
            </a:pPr>
            <a:r>
              <a:rPr lang="en-US" dirty="0"/>
              <a:t>Comparing outputs with known expected results</a:t>
            </a:r>
          </a:p>
          <a:p>
            <a:pPr>
              <a:buNone/>
            </a:pPr>
            <a:r>
              <a:rPr lang="en-US" b="1" dirty="0"/>
              <a:t>Example</a:t>
            </a:r>
            <a:r>
              <a:rPr lang="en-US" dirty="0"/>
              <a:t>:</a:t>
            </a:r>
            <a:br>
              <a:rPr lang="en-US" dirty="0"/>
            </a:br>
            <a:r>
              <a:rPr lang="en-US" dirty="0"/>
              <a:t>If you’re programming an AI to play chess, verification ensures the rules are correctly coded and the AI moves pieces legally.</a:t>
            </a:r>
          </a:p>
          <a:p>
            <a:endParaRPr lang="en-US" dirty="0"/>
          </a:p>
        </p:txBody>
      </p:sp>
    </p:spTree>
    <p:extLst>
      <p:ext uri="{BB962C8B-B14F-4D97-AF65-F5344CB8AC3E}">
        <p14:creationId xmlns:p14="http://schemas.microsoft.com/office/powerpoint/2010/main" val="2817126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2D1DA-5DBC-4EA9-ECEE-0A584FF5B846}"/>
              </a:ext>
            </a:extLst>
          </p:cNvPr>
          <p:cNvSpPr>
            <a:spLocks noGrp="1"/>
          </p:cNvSpPr>
          <p:nvPr>
            <p:ph type="title"/>
          </p:nvPr>
        </p:nvSpPr>
        <p:spPr/>
        <p:txBody>
          <a:bodyPr/>
          <a:lstStyle/>
          <a:p>
            <a:r>
              <a:rPr lang="en-US" b="1" dirty="0"/>
              <a:t>Validation</a:t>
            </a:r>
            <a:br>
              <a:rPr lang="en-US" b="1" dirty="0"/>
            </a:br>
            <a:endParaRPr lang="en-US" dirty="0"/>
          </a:p>
        </p:txBody>
      </p:sp>
      <p:sp>
        <p:nvSpPr>
          <p:cNvPr id="3" name="Content Placeholder 2">
            <a:extLst>
              <a:ext uri="{FF2B5EF4-FFF2-40B4-BE49-F238E27FC236}">
                <a16:creationId xmlns:a16="http://schemas.microsoft.com/office/drawing/2014/main" id="{8C875587-4A05-2F1D-DC44-3B8A147BED9D}"/>
              </a:ext>
            </a:extLst>
          </p:cNvPr>
          <p:cNvSpPr>
            <a:spLocks noGrp="1"/>
          </p:cNvSpPr>
          <p:nvPr>
            <p:ph idx="1"/>
          </p:nvPr>
        </p:nvSpPr>
        <p:spPr>
          <a:xfrm>
            <a:off x="922018" y="1930400"/>
            <a:ext cx="8039101" cy="4318000"/>
          </a:xfrm>
        </p:spPr>
        <p:txBody>
          <a:bodyPr>
            <a:normAutofit/>
          </a:bodyPr>
          <a:lstStyle/>
          <a:p>
            <a:pPr>
              <a:buNone/>
            </a:pPr>
            <a:r>
              <a:rPr lang="en-US" b="1" dirty="0"/>
              <a:t>"Are we building the right system?"</a:t>
            </a:r>
            <a:endParaRPr lang="en-US" dirty="0"/>
          </a:p>
          <a:p>
            <a:pPr>
              <a:buFont typeface="Arial" panose="020B0604020202020204" pitchFamily="34" charset="0"/>
              <a:buChar char="•"/>
            </a:pPr>
            <a:r>
              <a:rPr lang="en-US" b="1" dirty="0"/>
              <a:t>Purpose</a:t>
            </a:r>
            <a:r>
              <a:rPr lang="en-US" dirty="0"/>
              <a:t>: Ensures the model or system </a:t>
            </a:r>
            <a:r>
              <a:rPr lang="en-US" b="1" dirty="0"/>
              <a:t>represents the real-world</a:t>
            </a:r>
            <a:r>
              <a:rPr lang="en-US" dirty="0"/>
              <a:t> process or scenario it's meant to simulate.</a:t>
            </a:r>
          </a:p>
          <a:p>
            <a:pPr>
              <a:buFont typeface="Arial" panose="020B0604020202020204" pitchFamily="34" charset="0"/>
              <a:buChar char="•"/>
            </a:pPr>
            <a:r>
              <a:rPr lang="en-US" dirty="0"/>
              <a:t>Focuses on </a:t>
            </a:r>
            <a:r>
              <a:rPr lang="en-US" b="1" dirty="0"/>
              <a:t>external correctness</a:t>
            </a:r>
            <a:r>
              <a:rPr lang="en-US" dirty="0"/>
              <a:t> — how accurately it predicts or behaves compared to the real-world behavior.</a:t>
            </a:r>
          </a:p>
          <a:p>
            <a:pPr>
              <a:buFont typeface="Arial" panose="020B0604020202020204" pitchFamily="34" charset="0"/>
              <a:buChar char="•"/>
            </a:pPr>
            <a:r>
              <a:rPr lang="en-US" dirty="0"/>
              <a:t>Often involves:</a:t>
            </a:r>
          </a:p>
          <a:p>
            <a:pPr lvl="1">
              <a:buFont typeface="Arial" panose="020B0604020202020204" pitchFamily="34" charset="0"/>
              <a:buChar char="•"/>
            </a:pPr>
            <a:r>
              <a:rPr lang="en-US" dirty="0"/>
              <a:t>Comparing model results with real-world data</a:t>
            </a:r>
          </a:p>
          <a:p>
            <a:pPr lvl="1">
              <a:buFont typeface="Arial" panose="020B0604020202020204" pitchFamily="34" charset="0"/>
              <a:buChar char="•"/>
            </a:pPr>
            <a:r>
              <a:rPr lang="en-US" dirty="0"/>
              <a:t>Stakeholder feedback</a:t>
            </a:r>
          </a:p>
          <a:p>
            <a:pPr lvl="1">
              <a:buFont typeface="Arial" panose="020B0604020202020204" pitchFamily="34" charset="0"/>
              <a:buChar char="•"/>
            </a:pPr>
            <a:r>
              <a:rPr lang="en-US" dirty="0"/>
              <a:t>Performance analysis</a:t>
            </a:r>
          </a:p>
          <a:p>
            <a:pPr>
              <a:buNone/>
            </a:pPr>
            <a:r>
              <a:rPr lang="en-US" b="1" dirty="0"/>
              <a:t>Example</a:t>
            </a:r>
            <a:r>
              <a:rPr lang="en-US" dirty="0"/>
              <a:t>:</a:t>
            </a:r>
            <a:br>
              <a:rPr lang="en-US" dirty="0"/>
            </a:br>
            <a:r>
              <a:rPr lang="en-US" dirty="0"/>
              <a:t>In the chess AI case, validation checks if the AI plays like a real chess player — applying strategy, learning from mistakes, etc.</a:t>
            </a:r>
          </a:p>
        </p:txBody>
      </p:sp>
    </p:spTree>
    <p:extLst>
      <p:ext uri="{BB962C8B-B14F-4D97-AF65-F5344CB8AC3E}">
        <p14:creationId xmlns:p14="http://schemas.microsoft.com/office/powerpoint/2010/main" val="160714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C7254-C5E3-ECC7-CE8F-CB3B6C4B2105}"/>
              </a:ext>
            </a:extLst>
          </p:cNvPr>
          <p:cNvSpPr>
            <a:spLocks noGrp="1"/>
          </p:cNvSpPr>
          <p:nvPr>
            <p:ph type="title"/>
          </p:nvPr>
        </p:nvSpPr>
        <p:spPr>
          <a:xfrm>
            <a:off x="973895" y="1944130"/>
            <a:ext cx="2313001" cy="4555524"/>
          </a:xfrm>
        </p:spPr>
        <p:txBody>
          <a:bodyPr>
            <a:normAutofit/>
          </a:bodyPr>
          <a:lstStyle/>
          <a:p>
            <a:r>
              <a:rPr lang="en-US" dirty="0"/>
              <a:t>Diagram of simulation and modeling</a:t>
            </a:r>
          </a:p>
        </p:txBody>
      </p:sp>
      <p:pic>
        <p:nvPicPr>
          <p:cNvPr id="4" name="Content Placeholder 4">
            <a:extLst>
              <a:ext uri="{FF2B5EF4-FFF2-40B4-BE49-F238E27FC236}">
                <a16:creationId xmlns:a16="http://schemas.microsoft.com/office/drawing/2014/main" id="{6DFD61EC-1CF5-1FE5-68F9-08CDE827C3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1941" y="43154"/>
            <a:ext cx="3128356" cy="6814846"/>
          </a:xfrm>
          <a:prstGeom prst="rect">
            <a:avLst/>
          </a:prstGeom>
        </p:spPr>
      </p:pic>
      <p:sp>
        <p:nvSpPr>
          <p:cNvPr id="3" name="Footer Placeholder 2">
            <a:extLst>
              <a:ext uri="{FF2B5EF4-FFF2-40B4-BE49-F238E27FC236}">
                <a16:creationId xmlns:a16="http://schemas.microsoft.com/office/drawing/2014/main" id="{F0A7182C-D6EB-E6AF-D12C-0613DABC0ED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551179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F25C2-5424-2314-F391-D3876B69E2F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5B1DDD4-6604-1058-A6CB-50C0E7D58CCF}"/>
              </a:ext>
            </a:extLst>
          </p:cNvPr>
          <p:cNvSpPr>
            <a:spLocks noGrp="1"/>
          </p:cNvSpPr>
          <p:nvPr>
            <p:ph idx="1"/>
          </p:nvPr>
        </p:nvSpPr>
        <p:spPr/>
        <p:txBody>
          <a:bodyPr/>
          <a:lstStyle/>
          <a:p>
            <a:r>
              <a:rPr lang="en-US" sz="3200" dirty="0"/>
              <a:t>Simulation and modeling provide powerful tools for analyzing complex systems.</a:t>
            </a:r>
          </a:p>
          <a:p>
            <a:r>
              <a:rPr lang="en-US" sz="3200" dirty="0"/>
              <a:t>They aid decision-making and improve system design and performance across various domains</a:t>
            </a:r>
          </a:p>
        </p:txBody>
      </p:sp>
      <p:sp>
        <p:nvSpPr>
          <p:cNvPr id="4" name="Footer Placeholder 3">
            <a:extLst>
              <a:ext uri="{FF2B5EF4-FFF2-40B4-BE49-F238E27FC236}">
                <a16:creationId xmlns:a16="http://schemas.microsoft.com/office/drawing/2014/main" id="{6AB5E7FC-7C16-B38C-7101-A65D771FAC1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611463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22542-E066-0705-4CD1-957B5F87CB2A}"/>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53BA8E3-C45B-BA4A-07A5-6D0ED653FACF}"/>
              </a:ext>
            </a:extLst>
          </p:cNvPr>
          <p:cNvSpPr>
            <a:spLocks noGrp="1"/>
          </p:cNvSpPr>
          <p:nvPr>
            <p:ph idx="1"/>
          </p:nvPr>
        </p:nvSpPr>
        <p:spPr>
          <a:xfrm>
            <a:off x="677334" y="1543051"/>
            <a:ext cx="10044006" cy="4863436"/>
          </a:xfrm>
        </p:spPr>
        <p:txBody>
          <a:bodyPr>
            <a:normAutofit/>
          </a:bodyPr>
          <a:lstStyle/>
          <a:p>
            <a:pPr lvl="0"/>
            <a:r>
              <a:rPr lang="en-US" dirty="0"/>
              <a:t>What is simulation and modeling?  Different types of Systems in simulation.</a:t>
            </a:r>
          </a:p>
          <a:p>
            <a:pPr lvl="0"/>
            <a:r>
              <a:rPr lang="en-US" dirty="0"/>
              <a:t>What are different Principles of modeling?</a:t>
            </a:r>
          </a:p>
          <a:p>
            <a:pPr lvl="0"/>
            <a:r>
              <a:rPr lang="en-US" dirty="0"/>
              <a:t>What is an emulator? Why is it used? Mention emulators you have used in your life</a:t>
            </a:r>
          </a:p>
          <a:p>
            <a:pPr lvl="0"/>
            <a:r>
              <a:rPr lang="en-US" dirty="0"/>
              <a:t>Why is simulation important? Mention its advantages, applications and limitations.</a:t>
            </a:r>
          </a:p>
          <a:p>
            <a:pPr lvl="0"/>
            <a:r>
              <a:rPr lang="en-US" dirty="0"/>
              <a:t>Mention advantages, disadvantages and area of applications of modeling.</a:t>
            </a:r>
          </a:p>
          <a:p>
            <a:pPr lvl="0"/>
            <a:r>
              <a:rPr lang="en-US" dirty="0"/>
              <a:t>What are different types of models? Explain them with examples.</a:t>
            </a:r>
          </a:p>
          <a:p>
            <a:pPr lvl="0"/>
            <a:r>
              <a:rPr lang="en-US" dirty="0"/>
              <a:t>What are the different steps of simulation cycle? Draw a flowchart representing simulation cycle.</a:t>
            </a:r>
          </a:p>
          <a:p>
            <a:pPr lvl="0"/>
            <a:r>
              <a:rPr lang="en-US" dirty="0"/>
              <a:t>“Simulation is not always appropriate”, Justify this statement with relevant examples.</a:t>
            </a:r>
          </a:p>
          <a:p>
            <a:r>
              <a:rPr lang="en-US" dirty="0"/>
              <a:t>Difference between verification and validation. Why validation and calibration is necessary in simulation? Explain in detail</a:t>
            </a:r>
          </a:p>
          <a:p>
            <a:pPr lvl="0"/>
            <a:r>
              <a:rPr lang="en-US" dirty="0"/>
              <a:t>Define Stochastic activities. </a:t>
            </a:r>
            <a:r>
              <a:rPr lang="en-GB" dirty="0"/>
              <a:t>Simulation has become necessity now days. Do you agree? If yes justify your answer.</a:t>
            </a:r>
            <a:endParaRPr lang="en-US" dirty="0"/>
          </a:p>
        </p:txBody>
      </p:sp>
      <p:sp>
        <p:nvSpPr>
          <p:cNvPr id="4" name="Footer Placeholder 3">
            <a:extLst>
              <a:ext uri="{FF2B5EF4-FFF2-40B4-BE49-F238E27FC236}">
                <a16:creationId xmlns:a16="http://schemas.microsoft.com/office/drawing/2014/main" id="{645FE7D0-38BD-6605-D944-C416666BEFD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265828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A3B3-8A5A-B477-613F-D40E5094213B}"/>
              </a:ext>
            </a:extLst>
          </p:cNvPr>
          <p:cNvSpPr>
            <a:spLocks noGrp="1"/>
          </p:cNvSpPr>
          <p:nvPr>
            <p:ph type="title"/>
          </p:nvPr>
        </p:nvSpPr>
        <p:spPr/>
        <p:txBody>
          <a:bodyPr/>
          <a:lstStyle/>
          <a:p>
            <a:r>
              <a:rPr lang="en-US" dirty="0"/>
              <a:t>Presentation Topics</a:t>
            </a:r>
          </a:p>
        </p:txBody>
      </p:sp>
      <p:sp>
        <p:nvSpPr>
          <p:cNvPr id="3" name="Content Placeholder 2">
            <a:extLst>
              <a:ext uri="{FF2B5EF4-FFF2-40B4-BE49-F238E27FC236}">
                <a16:creationId xmlns:a16="http://schemas.microsoft.com/office/drawing/2014/main" id="{03A788F6-1F3C-421D-20F7-FE6E5A87163E}"/>
              </a:ext>
            </a:extLst>
          </p:cNvPr>
          <p:cNvSpPr>
            <a:spLocks noGrp="1"/>
          </p:cNvSpPr>
          <p:nvPr>
            <p:ph idx="1"/>
          </p:nvPr>
        </p:nvSpPr>
        <p:spPr/>
        <p:txBody>
          <a:bodyPr/>
          <a:lstStyle/>
          <a:p>
            <a:r>
              <a:rPr lang="en-US" dirty="0"/>
              <a:t>Principles of modeling</a:t>
            </a:r>
          </a:p>
          <a:p>
            <a:r>
              <a:rPr lang="en-US" dirty="0"/>
              <a:t>Types of model</a:t>
            </a:r>
          </a:p>
          <a:p>
            <a:r>
              <a:rPr lang="en-US" dirty="0"/>
              <a:t>Verification </a:t>
            </a:r>
            <a:r>
              <a:rPr lang="en-US"/>
              <a:t>and validation</a:t>
            </a:r>
            <a:endParaRPr lang="en-US" dirty="0"/>
          </a:p>
        </p:txBody>
      </p:sp>
      <p:sp>
        <p:nvSpPr>
          <p:cNvPr id="4" name="Footer Placeholder 3">
            <a:extLst>
              <a:ext uri="{FF2B5EF4-FFF2-40B4-BE49-F238E27FC236}">
                <a16:creationId xmlns:a16="http://schemas.microsoft.com/office/drawing/2014/main" id="{4B5E6B04-AD8D-8227-A044-22F29A98937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93383395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468</TotalTime>
  <Words>3750</Words>
  <Application>Microsoft Office PowerPoint</Application>
  <PresentationFormat>Widescreen</PresentationFormat>
  <Paragraphs>412</Paragraphs>
  <Slides>25</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Arial</vt:lpstr>
      <vt:lpstr>Helvetica Neue</vt:lpstr>
      <vt:lpstr>Montserrat</vt:lpstr>
      <vt:lpstr>Trebuchet MS</vt:lpstr>
      <vt:lpstr>Wingdings 3</vt:lpstr>
      <vt:lpstr>Facet</vt:lpstr>
      <vt:lpstr>Simulation and Modeling</vt:lpstr>
      <vt:lpstr>Contents</vt:lpstr>
      <vt:lpstr>PowerPoint Presentation</vt:lpstr>
      <vt:lpstr>Simulation</vt:lpstr>
      <vt:lpstr>Types of Systems</vt:lpstr>
      <vt:lpstr>System and its Concept</vt:lpstr>
      <vt:lpstr>System Environment</vt:lpstr>
      <vt:lpstr>Advantages</vt:lpstr>
      <vt:lpstr>Disadvantages</vt:lpstr>
      <vt:lpstr>Deterministic model</vt:lpstr>
      <vt:lpstr>Stochastic model</vt:lpstr>
      <vt:lpstr>Continuous and Discrete Systems</vt:lpstr>
      <vt:lpstr>System Modeling</vt:lpstr>
      <vt:lpstr>Types of Models</vt:lpstr>
      <vt:lpstr>Types of Models..</vt:lpstr>
      <vt:lpstr>Principles of Modeling</vt:lpstr>
      <vt:lpstr>Modeling</vt:lpstr>
      <vt:lpstr>Areas of Application</vt:lpstr>
      <vt:lpstr>Verification and Validation</vt:lpstr>
      <vt:lpstr>Verification </vt:lpstr>
      <vt:lpstr>Validation </vt:lpstr>
      <vt:lpstr>Diagram of simulation and modeling</vt:lpstr>
      <vt:lpstr>Conclusion</vt:lpstr>
      <vt:lpstr>Questions</vt:lpstr>
      <vt:lpstr>Presentation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80</cp:revision>
  <dcterms:created xsi:type="dcterms:W3CDTF">2024-09-16T05:30:00Z</dcterms:created>
  <dcterms:modified xsi:type="dcterms:W3CDTF">2026-05-05T02:46:22Z</dcterms:modified>
</cp:coreProperties>
</file>