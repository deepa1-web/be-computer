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84" r:id="rId1"/>
  </p:sldMasterIdLst>
  <p:notesMasterIdLst>
    <p:notesMasterId r:id="rId21"/>
  </p:notesMasterIdLst>
  <p:sldIdLst>
    <p:sldId id="256" r:id="rId2"/>
    <p:sldId id="267" r:id="rId3"/>
    <p:sldId id="266"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5" d="100"/>
          <a:sy n="65" d="100"/>
        </p:scale>
        <p:origin x="-1524"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C1D1E4-F74B-472E-AB17-8F8461CBE4B7}" type="datetimeFigureOut">
              <a:rPr lang="en-US" smtClean="0"/>
              <a:t>5/12/2014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E532DC6-3209-459F-9058-BE3DEE9438D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E532DC6-3209-459F-9058-BE3DEE9438D7}"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D8ACBA8-7519-452F-BCD1-D0CA5AAF2018}" type="datetimeFigureOut">
              <a:rPr lang="en-US" smtClean="0"/>
              <a:pPr/>
              <a:t>5/12/2014</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D7F1687-B9A6-49BD-9B77-67FDAEDF7A0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D8ACBA8-7519-452F-BCD1-D0CA5AAF2018}" type="datetimeFigureOut">
              <a:rPr lang="en-US" smtClean="0"/>
              <a:pPr/>
              <a:t>5/12/2014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D7F1687-B9A6-49BD-9B77-67FDAEDF7A07}"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CD8ACBA8-7519-452F-BCD1-D0CA5AAF2018}" type="datetimeFigureOut">
              <a:rPr lang="en-US" smtClean="0"/>
              <a:pPr/>
              <a:t>5/12/2014</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CD7F1687-B9A6-49BD-9B77-67FDAEDF7A07}"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CD8ACBA8-7519-452F-BCD1-D0CA5AAF2018}" type="datetimeFigureOut">
              <a:rPr lang="en-US" smtClean="0"/>
              <a:pPr/>
              <a:t>5/12/2014</a:t>
            </a:fld>
            <a:endParaRPr lang="en-US"/>
          </a:p>
        </p:txBody>
      </p:sp>
      <p:sp>
        <p:nvSpPr>
          <p:cNvPr id="10" name="Slide Number Placeholder 9"/>
          <p:cNvSpPr>
            <a:spLocks noGrp="1"/>
          </p:cNvSpPr>
          <p:nvPr>
            <p:ph type="sldNum" sz="quarter" idx="16"/>
          </p:nvPr>
        </p:nvSpPr>
        <p:spPr/>
        <p:txBody>
          <a:bodyPr rtlCol="0"/>
          <a:lstStyle/>
          <a:p>
            <a:fld id="{CD7F1687-B9A6-49BD-9B77-67FDAEDF7A07}"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CD8ACBA8-7519-452F-BCD1-D0CA5AAF2018}" type="datetimeFigureOut">
              <a:rPr lang="en-US" smtClean="0"/>
              <a:pPr/>
              <a:t>5/12/2014</a:t>
            </a:fld>
            <a:endParaRPr lang="en-US"/>
          </a:p>
        </p:txBody>
      </p:sp>
      <p:sp>
        <p:nvSpPr>
          <p:cNvPr id="12" name="Slide Number Placeholder 11"/>
          <p:cNvSpPr>
            <a:spLocks noGrp="1"/>
          </p:cNvSpPr>
          <p:nvPr>
            <p:ph type="sldNum" sz="quarter" idx="16"/>
          </p:nvPr>
        </p:nvSpPr>
        <p:spPr/>
        <p:txBody>
          <a:bodyPr rtlCol="0"/>
          <a:lstStyle/>
          <a:p>
            <a:fld id="{CD7F1687-B9A6-49BD-9B77-67FDAEDF7A07}"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D8ACBA8-7519-452F-BCD1-D0CA5AAF2018}" type="datetimeFigureOut">
              <a:rPr lang="en-US" smtClean="0"/>
              <a:pPr/>
              <a:t>5/12/2014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D7F1687-B9A6-49BD-9B77-67FDAEDF7A0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8ACBA8-7519-452F-BCD1-D0CA5AAF2018}" type="datetimeFigureOut">
              <a:rPr lang="en-US" smtClean="0"/>
              <a:pPr/>
              <a:t>5/12/2014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D7F1687-B9A6-49BD-9B77-67FDAEDF7A0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D8ACBA8-7519-452F-BCD1-D0CA5AAF2018}" type="datetimeFigureOut">
              <a:rPr lang="en-US" smtClean="0"/>
              <a:pPr/>
              <a:t>5/12/2014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D7F1687-B9A6-49BD-9B77-67FDAEDF7A07}"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D8ACBA8-7519-452F-BCD1-D0CA5AAF2018}" type="datetimeFigureOut">
              <a:rPr lang="en-US" smtClean="0"/>
              <a:pPr/>
              <a:t>5/12/2014</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CD7F1687-B9A6-49BD-9B77-67FDAEDF7A07}"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D8ACBA8-7519-452F-BCD1-D0CA5AAF2018}" type="datetimeFigureOut">
              <a:rPr lang="en-US" smtClean="0"/>
              <a:pPr/>
              <a:t>5/12/2014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7F1687-B9A6-49BD-9B77-67FDAEDF7A0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CD8ACBA8-7519-452F-BCD1-D0CA5AAF2018}" type="datetimeFigureOut">
              <a:rPr lang="en-US" smtClean="0"/>
              <a:pPr/>
              <a:t>5/12/2014</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CD7F1687-B9A6-49BD-9B77-67FDAEDF7A0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CD8ACBA8-7519-452F-BCD1-D0CA5AAF2018}" type="datetimeFigureOut">
              <a:rPr lang="en-US" smtClean="0"/>
              <a:pPr/>
              <a:t>5/12/2014</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D7F1687-B9A6-49BD-9B77-67FDAEDF7A0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Simulation languages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Some Continuous Simulation</a:t>
            </a:r>
            <a:br>
              <a:rPr lang="en-US" b="1" dirty="0" smtClean="0"/>
            </a:br>
            <a:r>
              <a:rPr lang="en-US" b="1" dirty="0" smtClean="0"/>
              <a:t>Languages</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smtClean="0"/>
              <a:t>CSMP III</a:t>
            </a:r>
          </a:p>
          <a:p>
            <a:r>
              <a:rPr lang="en-US" dirty="0" smtClean="0"/>
              <a:t>Advanced </a:t>
            </a:r>
            <a:r>
              <a:rPr lang="en-US" dirty="0" smtClean="0"/>
              <a:t>Continuous Simulation Language (ACSL):</a:t>
            </a:r>
          </a:p>
          <a:p>
            <a:pPr lvl="1"/>
            <a:r>
              <a:rPr lang="en-US" dirty="0" smtClean="0"/>
              <a:t>Supports textual or graphical model specification.</a:t>
            </a:r>
          </a:p>
          <a:p>
            <a:r>
              <a:rPr lang="en-US" dirty="0" smtClean="0"/>
              <a:t> </a:t>
            </a:r>
            <a:r>
              <a:rPr lang="en-US" dirty="0" err="1" smtClean="0"/>
              <a:t>SimApp</a:t>
            </a:r>
            <a:r>
              <a:rPr lang="en-US" dirty="0" smtClean="0"/>
              <a:t>:</a:t>
            </a:r>
          </a:p>
          <a:p>
            <a:pPr lvl="1"/>
            <a:r>
              <a:rPr lang="en-US" dirty="0" smtClean="0"/>
              <a:t>Simple simulation of dynamic systems and control systems.</a:t>
            </a:r>
          </a:p>
          <a:p>
            <a:r>
              <a:rPr lang="en-US" dirty="0" err="1" smtClean="0"/>
              <a:t>Simgua</a:t>
            </a:r>
            <a:r>
              <a:rPr lang="en-US" dirty="0" smtClean="0"/>
              <a:t>:</a:t>
            </a:r>
          </a:p>
          <a:p>
            <a:pPr lvl="1"/>
            <a:r>
              <a:rPr lang="en-US" dirty="0" smtClean="0"/>
              <a:t>A simulation toolbox and environment that supports Visual Basic.</a:t>
            </a:r>
          </a:p>
          <a:p>
            <a:r>
              <a:rPr lang="en-US" dirty="0" err="1" smtClean="0"/>
              <a:t>VisSim</a:t>
            </a:r>
            <a:r>
              <a:rPr lang="en-US" dirty="0" smtClean="0"/>
              <a:t>:</a:t>
            </a:r>
          </a:p>
          <a:p>
            <a:pPr lvl="1"/>
            <a:r>
              <a:rPr lang="en-US" dirty="0" smtClean="0"/>
              <a:t>A visually programmed block diagram language</a:t>
            </a:r>
            <a:r>
              <a:rPr lang="en-US" dirty="0" smtClean="0"/>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Some Discrete-Event</a:t>
            </a:r>
            <a:br>
              <a:rPr lang="en-US" b="1" dirty="0" smtClean="0"/>
            </a:br>
            <a:r>
              <a:rPr lang="en-US" b="1" dirty="0" smtClean="0"/>
              <a:t>Simulation Languages</a:t>
            </a:r>
            <a:endParaRPr lang="en-US" dirty="0"/>
          </a:p>
        </p:txBody>
      </p:sp>
      <p:sp>
        <p:nvSpPr>
          <p:cNvPr id="3" name="Content Placeholder 2"/>
          <p:cNvSpPr>
            <a:spLocks noGrp="1"/>
          </p:cNvSpPr>
          <p:nvPr>
            <p:ph sz="quarter" idx="1"/>
          </p:nvPr>
        </p:nvSpPr>
        <p:spPr/>
        <p:txBody>
          <a:bodyPr>
            <a:normAutofit lnSpcReduction="10000"/>
          </a:bodyPr>
          <a:lstStyle/>
          <a:p>
            <a:pPr lvl="1">
              <a:buNone/>
            </a:pPr>
            <a:r>
              <a:rPr lang="en-US" dirty="0" smtClean="0"/>
              <a:t>• GPSS</a:t>
            </a:r>
          </a:p>
          <a:p>
            <a:pPr lvl="1">
              <a:buNone/>
            </a:pPr>
            <a:r>
              <a:rPr lang="en-US" dirty="0" smtClean="0"/>
              <a:t>• </a:t>
            </a:r>
            <a:r>
              <a:rPr lang="en-US" dirty="0" err="1" smtClean="0"/>
              <a:t>AutoMod</a:t>
            </a:r>
            <a:endParaRPr lang="en-US" dirty="0" smtClean="0"/>
          </a:p>
          <a:p>
            <a:pPr lvl="1">
              <a:buNone/>
            </a:pPr>
            <a:r>
              <a:rPr lang="en-US" dirty="0" smtClean="0"/>
              <a:t>• </a:t>
            </a:r>
            <a:r>
              <a:rPr lang="en-US" dirty="0" err="1" smtClean="0"/>
              <a:t>eM</a:t>
            </a:r>
            <a:r>
              <a:rPr lang="en-US" dirty="0" smtClean="0"/>
              <a:t>-Plant</a:t>
            </a:r>
          </a:p>
          <a:p>
            <a:pPr lvl="1">
              <a:buNone/>
            </a:pPr>
            <a:r>
              <a:rPr lang="en-US" dirty="0" smtClean="0"/>
              <a:t>• Rockwell Arena</a:t>
            </a:r>
          </a:p>
          <a:p>
            <a:pPr lvl="1">
              <a:buNone/>
            </a:pPr>
            <a:r>
              <a:rPr lang="en-US" dirty="0" smtClean="0"/>
              <a:t>• GASP</a:t>
            </a:r>
          </a:p>
          <a:p>
            <a:pPr lvl="1">
              <a:buNone/>
            </a:pPr>
            <a:r>
              <a:rPr lang="en-US" dirty="0" smtClean="0"/>
              <a:t>• </a:t>
            </a:r>
            <a:r>
              <a:rPr lang="en-US" dirty="0" err="1" smtClean="0"/>
              <a:t>SimPy</a:t>
            </a:r>
            <a:endParaRPr lang="en-US" dirty="0" smtClean="0"/>
          </a:p>
          <a:p>
            <a:pPr lvl="1">
              <a:buNone/>
            </a:pPr>
            <a:r>
              <a:rPr lang="en-US" dirty="0" smtClean="0"/>
              <a:t>• SIMSCRIPT II.5</a:t>
            </a:r>
          </a:p>
          <a:p>
            <a:pPr lvl="1">
              <a:buNone/>
            </a:pPr>
            <a:r>
              <a:rPr lang="en-US" dirty="0" smtClean="0"/>
              <a:t>• </a:t>
            </a:r>
            <a:r>
              <a:rPr lang="en-US" dirty="0" err="1" smtClean="0"/>
              <a:t>Simula</a:t>
            </a:r>
            <a:endParaRPr lang="en-US" dirty="0" smtClean="0"/>
          </a:p>
          <a:p>
            <a:pPr lvl="1">
              <a:buNone/>
            </a:pPr>
            <a:r>
              <a:rPr lang="en-US" dirty="0" smtClean="0"/>
              <a:t>• Poses++</a:t>
            </a:r>
          </a:p>
          <a:p>
            <a:pPr lvl="1">
              <a:buNone/>
            </a:pPr>
            <a:r>
              <a:rPr lang="en-US" dirty="0" smtClean="0"/>
              <a:t>And many more……….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Some Hybrid Simulation</a:t>
            </a:r>
            <a:br>
              <a:rPr lang="en-US" b="1" dirty="0" smtClean="0"/>
            </a:br>
            <a:r>
              <a:rPr lang="en-US" b="1" dirty="0" smtClean="0"/>
              <a:t>Languages</a:t>
            </a:r>
            <a:endParaRPr lang="en-US" dirty="0"/>
          </a:p>
        </p:txBody>
      </p:sp>
      <p:sp>
        <p:nvSpPr>
          <p:cNvPr id="3" name="Content Placeholder 2"/>
          <p:cNvSpPr>
            <a:spLocks noGrp="1"/>
          </p:cNvSpPr>
          <p:nvPr>
            <p:ph sz="quarter" idx="1"/>
          </p:nvPr>
        </p:nvSpPr>
        <p:spPr/>
        <p:txBody>
          <a:bodyPr>
            <a:normAutofit fontScale="92500" lnSpcReduction="20000"/>
          </a:bodyPr>
          <a:lstStyle/>
          <a:p>
            <a:r>
              <a:rPr lang="en-US" dirty="0" err="1" smtClean="0"/>
              <a:t>AnyLogic</a:t>
            </a:r>
            <a:r>
              <a:rPr lang="en-US" dirty="0" smtClean="0"/>
              <a:t>:</a:t>
            </a:r>
          </a:p>
          <a:p>
            <a:pPr lvl="1"/>
            <a:r>
              <a:rPr lang="en-US" dirty="0" smtClean="0"/>
              <a:t>Multi-method simulation tool, which supports System dynamics, Discrete event simulation, Agent-based modeling.</a:t>
            </a:r>
          </a:p>
          <a:p>
            <a:r>
              <a:rPr lang="en-US" dirty="0" err="1" smtClean="0"/>
              <a:t>Simio</a:t>
            </a:r>
            <a:r>
              <a:rPr lang="en-US" dirty="0" smtClean="0"/>
              <a:t>:</a:t>
            </a:r>
          </a:p>
          <a:p>
            <a:pPr lvl="1"/>
            <a:r>
              <a:rPr lang="en-US" dirty="0" smtClean="0"/>
              <a:t>A software for discrete-event, continuous, and agent-based simulation.</a:t>
            </a:r>
          </a:p>
          <a:p>
            <a:r>
              <a:rPr lang="en-US" dirty="0" err="1" smtClean="0"/>
              <a:t>Modelica</a:t>
            </a:r>
            <a:r>
              <a:rPr lang="en-US" dirty="0" smtClean="0"/>
              <a:t>:</a:t>
            </a:r>
          </a:p>
          <a:p>
            <a:pPr lvl="1"/>
            <a:r>
              <a:rPr lang="en-US" dirty="0" smtClean="0"/>
              <a:t>An open-standard object-oriented language for modeling of complex physical systems.</a:t>
            </a:r>
          </a:p>
          <a:p>
            <a:r>
              <a:rPr lang="en-US" dirty="0" smtClean="0"/>
              <a:t>Saber Simulator:</a:t>
            </a:r>
          </a:p>
          <a:p>
            <a:pPr lvl="1"/>
            <a:r>
              <a:rPr lang="en-US" dirty="0" smtClean="0"/>
              <a:t>Simulates physical effects in different engineering domains (hydraulic, electronic, mechanical, thermal, etc.).</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CSMP III</a:t>
            </a:r>
            <a:endParaRPr lang="en-US" dirty="0"/>
          </a:p>
        </p:txBody>
      </p:sp>
      <p:sp>
        <p:nvSpPr>
          <p:cNvPr id="3" name="Content Placeholder 2"/>
          <p:cNvSpPr>
            <a:spLocks noGrp="1"/>
          </p:cNvSpPr>
          <p:nvPr>
            <p:ph sz="quarter" idx="1"/>
          </p:nvPr>
        </p:nvSpPr>
        <p:spPr/>
        <p:txBody>
          <a:bodyPr/>
          <a:lstStyle/>
          <a:p>
            <a:pPr algn="just"/>
            <a:r>
              <a:rPr lang="en-US" b="1" dirty="0" smtClean="0"/>
              <a:t>CSMP III, or Continuous System Modelling Program </a:t>
            </a:r>
            <a:r>
              <a:rPr lang="en-US" b="1" dirty="0" err="1" smtClean="0"/>
              <a:t>IlI</a:t>
            </a:r>
            <a:r>
              <a:rPr lang="en-US" dirty="0" smtClean="0"/>
              <a:t> is an early scientific computer software designed for modelling and solving differential equations numerically. This enables real-world systems to be simulated and tested with a computer</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CSMP III: Types of Statements</a:t>
            </a:r>
            <a:endParaRPr lang="en-US" dirty="0"/>
          </a:p>
        </p:txBody>
      </p:sp>
      <p:sp>
        <p:nvSpPr>
          <p:cNvPr id="3" name="Content Placeholder 2"/>
          <p:cNvSpPr>
            <a:spLocks noGrp="1"/>
          </p:cNvSpPr>
          <p:nvPr>
            <p:ph sz="quarter" idx="1"/>
          </p:nvPr>
        </p:nvSpPr>
        <p:spPr/>
        <p:txBody>
          <a:bodyPr>
            <a:normAutofit/>
          </a:bodyPr>
          <a:lstStyle/>
          <a:p>
            <a:pPr lvl="0" algn="just"/>
            <a:r>
              <a:rPr lang="en-US" b="1" dirty="0" smtClean="0"/>
              <a:t>Structural statements</a:t>
            </a:r>
            <a:r>
              <a:rPr lang="en-US" dirty="0" smtClean="0"/>
              <a:t> which defines the model. They consist of FORTARN like statement and functional block designed for operations that frequently occur in a model definition. </a:t>
            </a:r>
            <a:r>
              <a:rPr lang="en-US" b="1" dirty="0" smtClean="0"/>
              <a:t> </a:t>
            </a:r>
          </a:p>
          <a:p>
            <a:pPr lvl="0" algn="just"/>
            <a:r>
              <a:rPr lang="en-US" b="1" dirty="0" smtClean="0"/>
              <a:t>Data statements</a:t>
            </a:r>
            <a:r>
              <a:rPr lang="en-US" dirty="0" smtClean="0"/>
              <a:t> which assign numerical value to parameters, constant and initial conditions. </a:t>
            </a:r>
          </a:p>
          <a:p>
            <a:pPr lvl="0" algn="just"/>
            <a:r>
              <a:rPr lang="en-US" b="1" dirty="0" smtClean="0"/>
              <a:t>Control statements</a:t>
            </a:r>
            <a:r>
              <a:rPr lang="en-US" dirty="0" smtClean="0"/>
              <a:t> which specify options in the assembly and execution of program and choice of inputs. </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CSMP III: Structural Statements</a:t>
            </a:r>
            <a:endParaRPr lang="en-US" dirty="0"/>
          </a:p>
        </p:txBody>
      </p:sp>
      <p:sp>
        <p:nvSpPr>
          <p:cNvPr id="3" name="Content Placeholder 2"/>
          <p:cNvSpPr>
            <a:spLocks noGrp="1"/>
          </p:cNvSpPr>
          <p:nvPr>
            <p:ph sz="quarter" idx="1"/>
          </p:nvPr>
        </p:nvSpPr>
        <p:spPr/>
        <p:txBody>
          <a:bodyPr>
            <a:normAutofit fontScale="77500" lnSpcReduction="20000"/>
          </a:bodyPr>
          <a:lstStyle/>
          <a:p>
            <a:pPr algn="just">
              <a:buNone/>
            </a:pPr>
            <a:r>
              <a:rPr lang="en-US" dirty="0" smtClean="0"/>
              <a:t>	Structural </a:t>
            </a:r>
            <a:r>
              <a:rPr lang="en-US" dirty="0" smtClean="0"/>
              <a:t>statement can make use of the operation of addition, subtraction, multiplication, division and exponentiation, using the same notation and rule as are used in FORTRAN</a:t>
            </a:r>
            <a:r>
              <a:rPr lang="en-US" dirty="0" smtClean="0"/>
              <a:t>.</a:t>
            </a:r>
            <a:endParaRPr lang="en-US" dirty="0" smtClean="0"/>
          </a:p>
          <a:p>
            <a:pPr algn="just">
              <a:buNone/>
            </a:pPr>
            <a:r>
              <a:rPr lang="en-US" dirty="0" smtClean="0"/>
              <a:t>	If </a:t>
            </a:r>
            <a:r>
              <a:rPr lang="en-US" dirty="0" smtClean="0"/>
              <a:t>the model include the equation</a:t>
            </a:r>
          </a:p>
          <a:p>
            <a:pPr algn="just">
              <a:buNone/>
            </a:pPr>
            <a:r>
              <a:rPr lang="en-US" dirty="0" smtClean="0"/>
              <a:t> </a:t>
            </a:r>
          </a:p>
          <a:p>
            <a:pPr algn="just">
              <a:buNone/>
            </a:pPr>
            <a:r>
              <a:rPr lang="en-US" dirty="0" smtClean="0"/>
              <a:t> </a:t>
            </a:r>
          </a:p>
          <a:p>
            <a:pPr algn="just">
              <a:buNone/>
            </a:pPr>
            <a:r>
              <a:rPr lang="en-US" dirty="0" smtClean="0"/>
              <a:t>	Then </a:t>
            </a:r>
            <a:r>
              <a:rPr lang="en-US" dirty="0" smtClean="0"/>
              <a:t>the following statement would be </a:t>
            </a:r>
            <a:r>
              <a:rPr lang="en-US" dirty="0" smtClean="0"/>
              <a:t>used</a:t>
            </a:r>
            <a:endParaRPr lang="en-US" dirty="0" smtClean="0"/>
          </a:p>
          <a:p>
            <a:pPr algn="just">
              <a:buNone/>
            </a:pPr>
            <a:r>
              <a:rPr lang="en-US" dirty="0" smtClean="0"/>
              <a:t>	X=6.0*Y/W</a:t>
            </a:r>
            <a:r>
              <a:rPr lang="en-US" dirty="0" smtClean="0"/>
              <a:t>+(Z-2)**</a:t>
            </a:r>
            <a:r>
              <a:rPr lang="en-US" dirty="0" smtClean="0"/>
              <a:t>2.0</a:t>
            </a:r>
            <a:endParaRPr lang="en-US" dirty="0" smtClean="0"/>
          </a:p>
          <a:p>
            <a:pPr algn="just">
              <a:buNone/>
            </a:pPr>
            <a:r>
              <a:rPr lang="en-US" dirty="0" smtClean="0"/>
              <a:t>	There </a:t>
            </a:r>
            <a:r>
              <a:rPr lang="en-US" dirty="0" smtClean="0"/>
              <a:t>are many functional block which in addition to provide operation specific to simulation. Some of them are the exponential function, trigonometric function and function for taking maximum values.</a:t>
            </a:r>
          </a:p>
          <a:p>
            <a:pPr algn="just"/>
            <a:endParaRPr lang="en-US" dirty="0"/>
          </a:p>
        </p:txBody>
      </p:sp>
      <p:pic>
        <p:nvPicPr>
          <p:cNvPr id="9" name="Picture 8" descr="Untitled.png"/>
          <p:cNvPicPr>
            <a:picLocks noChangeAspect="1"/>
          </p:cNvPicPr>
          <p:nvPr/>
        </p:nvPicPr>
        <p:blipFill>
          <a:blip r:embed="rId2"/>
          <a:stretch>
            <a:fillRect/>
          </a:stretch>
        </p:blipFill>
        <p:spPr>
          <a:xfrm>
            <a:off x="4724400" y="2819400"/>
            <a:ext cx="2067214" cy="7335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CSMP III: </a:t>
            </a:r>
            <a:r>
              <a:rPr lang="en-US" b="1" dirty="0" smtClean="0"/>
              <a:t>Functional Block</a:t>
            </a:r>
            <a:endParaRPr lang="en-US" dirty="0"/>
          </a:p>
        </p:txBody>
      </p:sp>
      <p:sp>
        <p:nvSpPr>
          <p:cNvPr id="3" name="Content Placeholder 2"/>
          <p:cNvSpPr>
            <a:spLocks noGrp="1"/>
          </p:cNvSpPr>
          <p:nvPr>
            <p:ph sz="quarter" idx="1"/>
          </p:nvPr>
        </p:nvSpPr>
        <p:spPr/>
        <p:txBody>
          <a:bodyPr/>
          <a:lstStyle/>
          <a:p>
            <a:pPr algn="just"/>
            <a:r>
              <a:rPr lang="en-US" dirty="0" smtClean="0"/>
              <a:t>There are many functional block which in addition to provide operation specific to simulation. Some of them are the exponential function, trigonometric function and function for taking maximum values.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CSMP III: Functional Block</a:t>
            </a:r>
            <a:endParaRPr lang="en-US" dirty="0"/>
          </a:p>
        </p:txBody>
      </p:sp>
      <p:pic>
        <p:nvPicPr>
          <p:cNvPr id="3073" name="Picture 1"/>
          <p:cNvPicPr>
            <a:picLocks noGrp="1" noChangeAspect="1" noChangeArrowheads="1"/>
          </p:cNvPicPr>
          <p:nvPr>
            <p:ph sz="quarter" idx="1"/>
          </p:nvPr>
        </p:nvPicPr>
        <p:blipFill>
          <a:blip r:embed="rId2"/>
          <a:srcRect/>
          <a:stretch>
            <a:fillRect/>
          </a:stretch>
        </p:blipFill>
        <p:spPr bwMode="auto">
          <a:xfrm>
            <a:off x="723408" y="1828800"/>
            <a:ext cx="7832378" cy="42672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CSMP III: Functional Block</a:t>
            </a:r>
            <a:endParaRPr lang="en-US" dirty="0"/>
          </a:p>
        </p:txBody>
      </p:sp>
      <p:pic>
        <p:nvPicPr>
          <p:cNvPr id="2049" name="Picture 1"/>
          <p:cNvPicPr>
            <a:picLocks noGrp="1" noChangeAspect="1" noChangeArrowheads="1"/>
          </p:cNvPicPr>
          <p:nvPr>
            <p:ph sz="quarter" idx="1"/>
          </p:nvPr>
        </p:nvPicPr>
        <p:blipFill>
          <a:blip r:embed="rId2"/>
          <a:srcRect/>
          <a:stretch>
            <a:fillRect/>
          </a:stretch>
        </p:blipFill>
        <p:spPr bwMode="auto">
          <a:xfrm>
            <a:off x="685800" y="2133600"/>
            <a:ext cx="7620000" cy="32004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Statement</a:t>
            </a:r>
            <a:endParaRPr lang="en-US" dirty="0"/>
          </a:p>
        </p:txBody>
      </p:sp>
      <p:sp>
        <p:nvSpPr>
          <p:cNvPr id="3" name="Content Placeholder 2"/>
          <p:cNvSpPr>
            <a:spLocks noGrp="1"/>
          </p:cNvSpPr>
          <p:nvPr>
            <p:ph sz="quarter" idx="1"/>
          </p:nvPr>
        </p:nvSpPr>
        <p:spPr/>
        <p:txBody>
          <a:bodyPr/>
          <a:lstStyle/>
          <a:p>
            <a:pPr algn="just"/>
            <a:r>
              <a:rPr lang="en-US" dirty="0" smtClean="0"/>
              <a:t>Data statements are used to set the initial values to the model parameter. For example one data statement called INCON can be used to set the initial value of integration function block.</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 Statements</a:t>
            </a:r>
            <a:endParaRPr lang="en-US" dirty="0"/>
          </a:p>
        </p:txBody>
      </p:sp>
      <p:sp>
        <p:nvSpPr>
          <p:cNvPr id="3" name="Content Placeholder 2"/>
          <p:cNvSpPr>
            <a:spLocks noGrp="1"/>
          </p:cNvSpPr>
          <p:nvPr>
            <p:ph sz="quarter" idx="1"/>
          </p:nvPr>
        </p:nvSpPr>
        <p:spPr/>
        <p:txBody>
          <a:bodyPr/>
          <a:lstStyle/>
          <a:p>
            <a:pPr algn="just"/>
            <a:r>
              <a:rPr lang="en-US" sz="2400" dirty="0" smtClean="0"/>
              <a:t>Among the control statement, TIMER is one of the control statements which specify certain time interval. For adequate accuracy, it should be small in relation to the rate at which variable change values. The following is an </a:t>
            </a:r>
            <a:r>
              <a:rPr lang="en-US" sz="2400" dirty="0" smtClean="0"/>
              <a:t>example</a:t>
            </a:r>
            <a:endParaRPr lang="en-US" sz="2400" dirty="0" smtClean="0"/>
          </a:p>
          <a:p>
            <a:pPr algn="just"/>
            <a:r>
              <a:rPr lang="en-US" sz="2400" dirty="0" smtClean="0"/>
              <a:t>TIMER DELT=0.005, FINTIM=1.5, </a:t>
            </a:r>
            <a:r>
              <a:rPr lang="en-US" sz="2400" dirty="0" smtClean="0"/>
              <a:t>PRDEL=0.1</a:t>
            </a:r>
            <a:endParaRPr lang="en-US" sz="2400" dirty="0" smtClean="0"/>
          </a:p>
          <a:p>
            <a:pPr algn="just"/>
            <a:r>
              <a:rPr lang="en-US" sz="2400" dirty="0" smtClean="0"/>
              <a:t>The item specified are</a:t>
            </a:r>
          </a:p>
          <a:p>
            <a:r>
              <a:rPr lang="en-US" dirty="0" smtClean="0"/>
              <a:t>DELT  = </a:t>
            </a:r>
            <a:r>
              <a:rPr lang="en-US" dirty="0" smtClean="0"/>
              <a:t>integration interval</a:t>
            </a:r>
          </a:p>
          <a:p>
            <a:r>
              <a:rPr lang="en-US" dirty="0" smtClean="0"/>
              <a:t>FINTIM</a:t>
            </a:r>
            <a:r>
              <a:rPr lang="en-US" baseline="30000" dirty="0" smtClean="0"/>
              <a:t> </a:t>
            </a:r>
            <a:r>
              <a:rPr lang="en-US" baseline="30000" dirty="0" smtClean="0"/>
              <a:t>=</a:t>
            </a:r>
            <a:r>
              <a:rPr lang="en-US" dirty="0" smtClean="0"/>
              <a:t> </a:t>
            </a:r>
            <a:r>
              <a:rPr lang="en-US" dirty="0" smtClean="0"/>
              <a:t>Finish time</a:t>
            </a:r>
          </a:p>
          <a:p>
            <a:r>
              <a:rPr lang="en-US" dirty="0" smtClean="0"/>
              <a:t>PRDEL</a:t>
            </a:r>
            <a:r>
              <a:rPr lang="en-US" baseline="30000" dirty="0" smtClean="0"/>
              <a:t> </a:t>
            </a:r>
            <a:r>
              <a:rPr lang="en-US" baseline="30000" dirty="0" smtClean="0"/>
              <a:t>=</a:t>
            </a:r>
            <a:r>
              <a:rPr lang="en-US" dirty="0" smtClean="0"/>
              <a:t> Interval</a:t>
            </a:r>
            <a:r>
              <a:rPr lang="en-US" dirty="0" smtClean="0"/>
              <a:t>, at which to print result.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 Statements</a:t>
            </a:r>
            <a:endParaRPr lang="en-US" dirty="0"/>
          </a:p>
        </p:txBody>
      </p:sp>
      <p:sp>
        <p:nvSpPr>
          <p:cNvPr id="3" name="Content Placeholder 2"/>
          <p:cNvSpPr>
            <a:spLocks noGrp="1"/>
          </p:cNvSpPr>
          <p:nvPr>
            <p:ph sz="quarter" idx="1"/>
          </p:nvPr>
        </p:nvSpPr>
        <p:spPr/>
        <p:txBody>
          <a:bodyPr/>
          <a:lstStyle/>
          <a:p>
            <a:pPr algn="just"/>
            <a:r>
              <a:rPr lang="en-US" dirty="0" smtClean="0"/>
              <a:t>If printed output is required, control statements with PRINT and </a:t>
            </a:r>
            <a:r>
              <a:rPr lang="en-US" dirty="0" smtClean="0"/>
              <a:t>PRDEL </a:t>
            </a:r>
            <a:r>
              <a:rPr lang="en-US" dirty="0" smtClean="0"/>
              <a:t>are used followed by the names of variables to form the outputs</a:t>
            </a:r>
            <a:r>
              <a:rPr lang="en-US" dirty="0" smtClean="0"/>
              <a:t>.</a:t>
            </a:r>
          </a:p>
          <a:p>
            <a:pPr algn="just">
              <a:buNone/>
            </a:pPr>
            <a:r>
              <a:rPr lang="en-US" dirty="0" smtClean="0"/>
              <a:t> </a:t>
            </a:r>
          </a:p>
          <a:p>
            <a:pPr algn="just"/>
            <a:r>
              <a:rPr lang="en-US" dirty="0" smtClean="0"/>
              <a:t>The set of structural, data and control statements for a problem can be assembled in any order but they must be end with control statement END.</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Program 1 in CSMP </a:t>
            </a:r>
            <a:endParaRPr lang="en-US" dirty="0"/>
          </a:p>
        </p:txBody>
      </p:sp>
      <p:sp>
        <p:nvSpPr>
          <p:cNvPr id="3" name="Content Placeholder 2"/>
          <p:cNvSpPr>
            <a:spLocks noGrp="1"/>
          </p:cNvSpPr>
          <p:nvPr>
            <p:ph sz="quarter" idx="1"/>
          </p:nvPr>
        </p:nvSpPr>
        <p:spPr>
          <a:xfrm>
            <a:off x="609600" y="1524000"/>
            <a:ext cx="8153400" cy="5105400"/>
          </a:xfrm>
        </p:spPr>
        <p:txBody>
          <a:bodyPr>
            <a:noAutofit/>
          </a:bodyPr>
          <a:lstStyle/>
          <a:p>
            <a:pPr algn="just">
              <a:buNone/>
            </a:pPr>
            <a:r>
              <a:rPr lang="en-US" sz="1600" dirty="0" smtClean="0"/>
              <a:t>	</a:t>
            </a:r>
            <a:r>
              <a:rPr lang="en-US" sz="2400" dirty="0" smtClean="0"/>
              <a:t>The </a:t>
            </a:r>
            <a:r>
              <a:rPr lang="en-US" sz="2400" dirty="0" smtClean="0"/>
              <a:t>following code shows a CSMP III program for the automobile wheel suspension problem represented </a:t>
            </a:r>
            <a:r>
              <a:rPr lang="en-US" sz="2400" dirty="0" smtClean="0"/>
              <a:t>by</a:t>
            </a:r>
          </a:p>
          <a:p>
            <a:pPr algn="just">
              <a:buNone/>
            </a:pPr>
            <a:endParaRPr lang="en-US" sz="2400" dirty="0" smtClean="0"/>
          </a:p>
          <a:p>
            <a:pPr algn="just">
              <a:buNone/>
            </a:pPr>
            <a:endParaRPr lang="en-US" sz="2400" dirty="0" smtClean="0"/>
          </a:p>
          <a:p>
            <a:pPr algn="just">
              <a:buNone/>
            </a:pPr>
            <a:endParaRPr lang="en-US" sz="2400" dirty="0" smtClean="0"/>
          </a:p>
          <a:p>
            <a:pPr algn="just">
              <a:buNone/>
            </a:pPr>
            <a:endParaRPr lang="en-US" sz="2400" dirty="0" smtClean="0"/>
          </a:p>
          <a:p>
            <a:pPr algn="just">
              <a:buNone/>
            </a:pPr>
            <a:r>
              <a:rPr lang="en-US" sz="2400" dirty="0" smtClean="0"/>
              <a:t>	It </a:t>
            </a:r>
            <a:r>
              <a:rPr lang="en-US" sz="2400" dirty="0" smtClean="0"/>
              <a:t>has been coded for the case where M=2.0, F=1 and K=400. And there will be different runs with different value of D as specified</a:t>
            </a:r>
          </a:p>
          <a:p>
            <a:pPr algn="just">
              <a:buNone/>
            </a:pPr>
            <a:r>
              <a:rPr lang="en-US" sz="2400" dirty="0" smtClean="0"/>
              <a:t> </a:t>
            </a:r>
            <a:endParaRPr lang="en-US" sz="2400" dirty="0"/>
          </a:p>
        </p:txBody>
      </p:sp>
      <p:pic>
        <p:nvPicPr>
          <p:cNvPr id="5" name="Picture 4" descr="dd.png"/>
          <p:cNvPicPr>
            <a:picLocks noChangeAspect="1"/>
          </p:cNvPicPr>
          <p:nvPr/>
        </p:nvPicPr>
        <p:blipFill>
          <a:blip r:embed="rId2"/>
          <a:stretch>
            <a:fillRect/>
          </a:stretch>
        </p:blipFill>
        <p:spPr>
          <a:xfrm>
            <a:off x="3124200" y="3048000"/>
            <a:ext cx="2086266" cy="73352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Program 1 in CSMP </a:t>
            </a:r>
            <a:endParaRPr lang="en-US" dirty="0"/>
          </a:p>
        </p:txBody>
      </p:sp>
      <p:sp>
        <p:nvSpPr>
          <p:cNvPr id="3" name="Content Placeholder 2"/>
          <p:cNvSpPr>
            <a:spLocks noGrp="1"/>
          </p:cNvSpPr>
          <p:nvPr>
            <p:ph sz="quarter" idx="1"/>
          </p:nvPr>
        </p:nvSpPr>
        <p:spPr/>
        <p:txBody>
          <a:bodyPr>
            <a:normAutofit fontScale="55000" lnSpcReduction="20000"/>
          </a:bodyPr>
          <a:lstStyle/>
          <a:p>
            <a:pPr>
              <a:buNone/>
            </a:pPr>
            <a:endParaRPr lang="en-US" sz="3200" dirty="0" smtClean="0"/>
          </a:p>
          <a:p>
            <a:pPr>
              <a:buNone/>
            </a:pPr>
            <a:r>
              <a:rPr lang="en-US" sz="3200" dirty="0" smtClean="0"/>
              <a:t>	</a:t>
            </a:r>
            <a:r>
              <a:rPr lang="en-US" sz="3500" dirty="0" smtClean="0"/>
              <a:t>TITILE AUTOMOBILE SUSPENSION SYSTEM</a:t>
            </a:r>
          </a:p>
          <a:p>
            <a:pPr>
              <a:buNone/>
            </a:pPr>
            <a:r>
              <a:rPr lang="en-US" sz="3500" dirty="0" smtClean="0"/>
              <a:t>	*</a:t>
            </a:r>
          </a:p>
          <a:p>
            <a:pPr>
              <a:buNone/>
            </a:pPr>
            <a:r>
              <a:rPr lang="en-US" sz="3500" dirty="0" smtClean="0"/>
              <a:t>	PARAM D=(5.656,16.968,39.592,56.56</a:t>
            </a:r>
            <a:r>
              <a:rPr lang="en-US" sz="3500" dirty="0" smtClean="0"/>
              <a:t>)     //initial</a:t>
            </a:r>
            <a:endParaRPr lang="en-US" sz="3500" dirty="0" smtClean="0"/>
          </a:p>
          <a:p>
            <a:pPr>
              <a:buNone/>
            </a:pPr>
            <a:r>
              <a:rPr lang="en-US" sz="3500" dirty="0" smtClean="0"/>
              <a:t>	*</a:t>
            </a:r>
          </a:p>
          <a:p>
            <a:pPr>
              <a:buNone/>
            </a:pPr>
            <a:r>
              <a:rPr lang="en-US" sz="3500" dirty="0" smtClean="0"/>
              <a:t>	X2DOT=(1.0/M)*(K*F-K*X-D*XDOT)</a:t>
            </a:r>
          </a:p>
          <a:p>
            <a:pPr>
              <a:buNone/>
            </a:pPr>
            <a:r>
              <a:rPr lang="en-US" sz="3500" dirty="0" smtClean="0"/>
              <a:t>	XDOT=INTGRL(0.0,X2DOT</a:t>
            </a:r>
            <a:r>
              <a:rPr lang="en-US" sz="3500" dirty="0" smtClean="0"/>
              <a:t>)                         //dynamic</a:t>
            </a:r>
            <a:endParaRPr lang="en-US" sz="3500" dirty="0" smtClean="0"/>
          </a:p>
          <a:p>
            <a:pPr>
              <a:buNone/>
            </a:pPr>
            <a:r>
              <a:rPr lang="en-US" sz="3500" dirty="0" smtClean="0"/>
              <a:t>	X=INTGRL(0.0,XDOT)</a:t>
            </a:r>
          </a:p>
          <a:p>
            <a:pPr>
              <a:buNone/>
            </a:pPr>
            <a:r>
              <a:rPr lang="en-US" sz="3500" dirty="0" smtClean="0"/>
              <a:t>	*</a:t>
            </a:r>
          </a:p>
          <a:p>
            <a:pPr>
              <a:buNone/>
            </a:pPr>
            <a:r>
              <a:rPr lang="en-US" sz="3500" dirty="0" smtClean="0"/>
              <a:t>	CONST M=2.0,F=1.0,K=400.0</a:t>
            </a:r>
          </a:p>
          <a:p>
            <a:pPr>
              <a:buNone/>
            </a:pPr>
            <a:r>
              <a:rPr lang="en-US" sz="3500" dirty="0" smtClean="0"/>
              <a:t>	TIMER DELT=0.005,FINTIM=1.5, </a:t>
            </a:r>
            <a:r>
              <a:rPr lang="en-US" sz="3500" dirty="0" smtClean="0"/>
              <a:t>PRDEL=0.05     //terminal</a:t>
            </a:r>
            <a:endParaRPr lang="en-US" sz="3500" dirty="0" smtClean="0"/>
          </a:p>
          <a:p>
            <a:pPr>
              <a:buNone/>
            </a:pPr>
            <a:r>
              <a:rPr lang="en-US" sz="3500" dirty="0" smtClean="0"/>
              <a:t>	PRINT X, XDOT, X2DOT</a:t>
            </a:r>
          </a:p>
          <a:p>
            <a:pPr>
              <a:buNone/>
            </a:pPr>
            <a:r>
              <a:rPr lang="en-US" sz="3500" dirty="0" smtClean="0"/>
              <a:t>	END </a:t>
            </a:r>
          </a:p>
          <a:p>
            <a:pPr>
              <a:buNone/>
            </a:pPr>
            <a:r>
              <a:rPr lang="en-US" sz="3500" dirty="0" smtClean="0"/>
              <a:t>	STOP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r>
              <a:rPr lang="en-US" b="1" dirty="0" smtClean="0"/>
              <a:t>Program 2  </a:t>
            </a:r>
            <a:r>
              <a:rPr lang="en-US" b="1" dirty="0" smtClean="0"/>
              <a:t>in CSMP </a:t>
            </a:r>
            <a:endParaRPr lang="en-US" dirty="0"/>
          </a:p>
        </p:txBody>
      </p:sp>
      <p:sp>
        <p:nvSpPr>
          <p:cNvPr id="8" name="Rectangle 7"/>
          <p:cNvSpPr/>
          <p:nvPr/>
        </p:nvSpPr>
        <p:spPr>
          <a:xfrm>
            <a:off x="914400" y="1600200"/>
            <a:ext cx="5943600" cy="369332"/>
          </a:xfrm>
          <a:prstGeom prst="rect">
            <a:avLst/>
          </a:prstGeom>
        </p:spPr>
        <p:txBody>
          <a:bodyPr wrap="square">
            <a:spAutoFit/>
          </a:bodyPr>
          <a:lstStyle/>
          <a:p>
            <a:r>
              <a:rPr lang="en-US" dirty="0" smtClean="0"/>
              <a:t>Let we have a model represented by differential equation</a:t>
            </a:r>
            <a:endParaRPr lang="en-US" dirty="0"/>
          </a:p>
        </p:txBody>
      </p:sp>
      <p:pic>
        <p:nvPicPr>
          <p:cNvPr id="10" name="Content Placeholder 6" descr="sd.png"/>
          <p:cNvPicPr>
            <a:picLocks noGrp="1" noChangeAspect="1"/>
          </p:cNvPicPr>
          <p:nvPr>
            <p:ph sz="quarter" idx="1"/>
          </p:nvPr>
        </p:nvPicPr>
        <p:blipFill>
          <a:blip r:embed="rId2"/>
          <a:stretch>
            <a:fillRect/>
          </a:stretch>
        </p:blipFill>
        <p:spPr>
          <a:xfrm>
            <a:off x="1600200" y="2514600"/>
            <a:ext cx="2914650" cy="11430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Program 2  in CSMP </a:t>
            </a:r>
            <a:endParaRPr lang="en-US" dirty="0"/>
          </a:p>
        </p:txBody>
      </p:sp>
      <p:sp>
        <p:nvSpPr>
          <p:cNvPr id="3" name="Content Placeholder 2"/>
          <p:cNvSpPr>
            <a:spLocks noGrp="1"/>
          </p:cNvSpPr>
          <p:nvPr>
            <p:ph sz="quarter" idx="1"/>
          </p:nvPr>
        </p:nvSpPr>
        <p:spPr/>
        <p:txBody>
          <a:bodyPr>
            <a:normAutofit fontScale="92500" lnSpcReduction="10000"/>
          </a:bodyPr>
          <a:lstStyle/>
          <a:p>
            <a:pPr lvl="1">
              <a:buNone/>
            </a:pPr>
            <a:r>
              <a:rPr lang="en-US" dirty="0" smtClean="0"/>
              <a:t>TITLE SIMPLE CSTR REACTION SIMLUATION</a:t>
            </a:r>
          </a:p>
          <a:p>
            <a:pPr lvl="1">
              <a:buNone/>
            </a:pPr>
            <a:r>
              <a:rPr lang="en-US" dirty="0" smtClean="0"/>
              <a:t>*</a:t>
            </a:r>
          </a:p>
          <a:p>
            <a:pPr lvl="1">
              <a:buNone/>
            </a:pPr>
            <a:r>
              <a:rPr lang="en-US" dirty="0" smtClean="0"/>
              <a:t>PARAM ICC=0, THETA=2.0, K=1.0, C</a:t>
            </a:r>
            <a:r>
              <a:rPr lang="en-US" baseline="-25000" dirty="0" smtClean="0"/>
              <a:t>0</a:t>
            </a:r>
            <a:r>
              <a:rPr lang="en-US" dirty="0" smtClean="0"/>
              <a:t>=1.0,V=1.0</a:t>
            </a:r>
          </a:p>
          <a:p>
            <a:pPr lvl="1">
              <a:buNone/>
            </a:pPr>
            <a:r>
              <a:rPr lang="en-US" dirty="0" smtClean="0"/>
              <a:t>*</a:t>
            </a:r>
          </a:p>
          <a:p>
            <a:pPr lvl="1">
              <a:buNone/>
            </a:pPr>
            <a:r>
              <a:rPr lang="en-US" dirty="0" smtClean="0"/>
              <a:t>DCDT=(C</a:t>
            </a:r>
            <a:r>
              <a:rPr lang="en-US" baseline="-25000" dirty="0" smtClean="0"/>
              <a:t>0</a:t>
            </a:r>
            <a:r>
              <a:rPr lang="en-US" dirty="0" smtClean="0"/>
              <a:t>-C)/</a:t>
            </a:r>
            <a:r>
              <a:rPr lang="en-US" dirty="0" smtClean="0"/>
              <a:t>THETA-K*C</a:t>
            </a:r>
            <a:endParaRPr lang="en-US" dirty="0" smtClean="0"/>
          </a:p>
          <a:p>
            <a:pPr lvl="1">
              <a:buNone/>
            </a:pPr>
            <a:r>
              <a:rPr lang="en-US" dirty="0" smtClean="0"/>
              <a:t>C=INTGRL(ICC,DCDT)</a:t>
            </a:r>
          </a:p>
          <a:p>
            <a:pPr lvl="1">
              <a:buNone/>
            </a:pPr>
            <a:r>
              <a:rPr lang="en-US" dirty="0" smtClean="0"/>
              <a:t>*</a:t>
            </a:r>
          </a:p>
          <a:p>
            <a:pPr lvl="1">
              <a:buNone/>
            </a:pPr>
            <a:r>
              <a:rPr lang="en-US" dirty="0" smtClean="0"/>
              <a:t>TIMER FINTIM=15.0, DELT=0.05, PRDEL=0.5</a:t>
            </a:r>
          </a:p>
          <a:p>
            <a:pPr lvl="1">
              <a:buNone/>
            </a:pPr>
            <a:r>
              <a:rPr lang="en-US" dirty="0" smtClean="0"/>
              <a:t>PRINT C, DCDT</a:t>
            </a:r>
          </a:p>
          <a:p>
            <a:pPr lvl="1">
              <a:buNone/>
            </a:pPr>
            <a:r>
              <a:rPr lang="en-US" dirty="0" smtClean="0"/>
              <a:t>END</a:t>
            </a:r>
          </a:p>
          <a:p>
            <a:pPr lvl="1">
              <a:buNone/>
            </a:pPr>
            <a:r>
              <a:rPr lang="en-US" dirty="0" smtClean="0"/>
              <a:t>STOP</a:t>
            </a:r>
          </a:p>
          <a:p>
            <a:pPr lvl="1">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Hybrid simulation </a:t>
            </a:r>
            <a:endParaRPr lang="en-US" dirty="0"/>
          </a:p>
        </p:txBody>
      </p:sp>
      <p:sp>
        <p:nvSpPr>
          <p:cNvPr id="3" name="Content Placeholder 2"/>
          <p:cNvSpPr>
            <a:spLocks noGrp="1"/>
          </p:cNvSpPr>
          <p:nvPr>
            <p:ph sz="quarter" idx="1"/>
          </p:nvPr>
        </p:nvSpPr>
        <p:spPr/>
        <p:txBody>
          <a:bodyPr>
            <a:normAutofit fontScale="85000" lnSpcReduction="20000"/>
          </a:bodyPr>
          <a:lstStyle/>
          <a:p>
            <a:pPr algn="just"/>
            <a:r>
              <a:rPr lang="en-US" dirty="0" smtClean="0"/>
              <a:t>For the most studies, the model is clearly either of continuous or discrete nature; an that is determining factor in deciding whether to use an analog or digital computer for system simulation. </a:t>
            </a:r>
          </a:p>
          <a:p>
            <a:pPr algn="just"/>
            <a:r>
              <a:rPr lang="en-US" dirty="0" smtClean="0"/>
              <a:t>However, there are times when an analog and digital computer are combined to provide a hybrid simulation. The form taken by hybrid simulation depends upon the application. One computer may be simulating the system being studied while other is providing a simulation of the environment in to which the system is to operate. It is also possible that the system being simulated is an interconnection of continuous and discrete subsystem, which can best be modeled by an analog and digital computer being linked together..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Hybrid simulation</a:t>
            </a:r>
            <a:endParaRPr lang="en-US" dirty="0"/>
          </a:p>
        </p:txBody>
      </p:sp>
      <p:sp>
        <p:nvSpPr>
          <p:cNvPr id="3" name="Content Placeholder 2"/>
          <p:cNvSpPr>
            <a:spLocks noGrp="1"/>
          </p:cNvSpPr>
          <p:nvPr>
            <p:ph sz="quarter" idx="1"/>
          </p:nvPr>
        </p:nvSpPr>
        <p:spPr/>
        <p:txBody>
          <a:bodyPr>
            <a:normAutofit lnSpcReduction="10000"/>
          </a:bodyPr>
          <a:lstStyle/>
          <a:p>
            <a:pPr algn="just"/>
            <a:r>
              <a:rPr lang="en-US" dirty="0" smtClean="0"/>
              <a:t>High speed converters are needed to transform signal form one form of representation to another. As a practical matter, the availability of minicomputer has made hybrid simulation easier, by lowering cost and allowing computer to be dedicated to an application. </a:t>
            </a:r>
          </a:p>
          <a:p>
            <a:pPr algn="just"/>
            <a:r>
              <a:rPr lang="en-US" dirty="0" smtClean="0"/>
              <a:t>The term hybrid simulation is used generally of the case in which functionally distinct analog and digital computer are linked together for proposes of simulation. </a:t>
            </a:r>
          </a:p>
          <a:p>
            <a:pPr>
              <a:buNone/>
            </a:pPr>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373</TotalTime>
  <Words>644</Words>
  <Application>Microsoft Office PowerPoint</Application>
  <PresentationFormat>On-screen Show (4:3)</PresentationFormat>
  <Paragraphs>106</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Median</vt:lpstr>
      <vt:lpstr>Simulation languages</vt:lpstr>
      <vt:lpstr>Some Continuous Simulation Languages</vt:lpstr>
      <vt:lpstr>Some Discrete-Event Simulation Languages</vt:lpstr>
      <vt:lpstr>Some Hybrid Simulation Languages</vt:lpstr>
      <vt:lpstr>CSMP III</vt:lpstr>
      <vt:lpstr>CSMP III: Types of Statements</vt:lpstr>
      <vt:lpstr>CSMP III: Structural Statements</vt:lpstr>
      <vt:lpstr>CSMP III: Functional Block</vt:lpstr>
      <vt:lpstr>CSMP III: Functional Block</vt:lpstr>
      <vt:lpstr>CSMP III: Functional Block</vt:lpstr>
      <vt:lpstr>Data Statement</vt:lpstr>
      <vt:lpstr>CONTROL Statements</vt:lpstr>
      <vt:lpstr>CONTROL Statements</vt:lpstr>
      <vt:lpstr>Example Program 1 in CSMP </vt:lpstr>
      <vt:lpstr>Example Program 1 in CSMP </vt:lpstr>
      <vt:lpstr>Example Program 2  in CSMP </vt:lpstr>
      <vt:lpstr>Example Program 2  in CSMP </vt:lpstr>
      <vt:lpstr>Hybrid simulation </vt:lpstr>
      <vt:lpstr>Hybrid simulation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GPSS</dc:title>
  <dc:creator>bishal</dc:creator>
  <cp:lastModifiedBy>User</cp:lastModifiedBy>
  <cp:revision>50</cp:revision>
  <dcterms:created xsi:type="dcterms:W3CDTF">2012-09-25T09:22:08Z</dcterms:created>
  <dcterms:modified xsi:type="dcterms:W3CDTF">2014-05-12T03:27:00Z</dcterms:modified>
</cp:coreProperties>
</file>