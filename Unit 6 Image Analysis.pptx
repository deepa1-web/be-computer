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289" r:id="rId10"/>
    <p:sldId id="323" r:id="rId11"/>
    <p:sldId id="258" r:id="rId12"/>
    <p:sldId id="281" r:id="rId13"/>
    <p:sldId id="270" r:id="rId14"/>
    <p:sldId id="282" r:id="rId15"/>
    <p:sldId id="283" r:id="rId16"/>
    <p:sldId id="284" r:id="rId17"/>
    <p:sldId id="271" r:id="rId18"/>
    <p:sldId id="272" r:id="rId19"/>
    <p:sldId id="273" r:id="rId20"/>
    <p:sldId id="275" r:id="rId21"/>
    <p:sldId id="274" r:id="rId22"/>
    <p:sldId id="276" r:id="rId23"/>
    <p:sldId id="277" r:id="rId24"/>
    <p:sldId id="279" r:id="rId25"/>
    <p:sldId id="278" r:id="rId26"/>
    <p:sldId id="322" r:id="rId27"/>
    <p:sldId id="331" r:id="rId28"/>
    <p:sldId id="333" r:id="rId29"/>
    <p:sldId id="259" r:id="rId30"/>
    <p:sldId id="263" r:id="rId31"/>
    <p:sldId id="265" r:id="rId32"/>
    <p:sldId id="260" r:id="rId33"/>
    <p:sldId id="332" r:id="rId34"/>
    <p:sldId id="325" r:id="rId35"/>
    <p:sldId id="326" r:id="rId36"/>
    <p:sldId id="327" r:id="rId37"/>
    <p:sldId id="328" r:id="rId38"/>
    <p:sldId id="329" r:id="rId39"/>
    <p:sldId id="330" r:id="rId40"/>
    <p:sldId id="266" r:id="rId41"/>
    <p:sldId id="269" r:id="rId42"/>
    <p:sldId id="267" r:id="rId43"/>
    <p:sldId id="261" r:id="rId44"/>
    <p:sldId id="268" r:id="rId45"/>
    <p:sldId id="334" r:id="rId46"/>
    <p:sldId id="335" r:id="rId47"/>
    <p:sldId id="324" r:id="rId48"/>
    <p:sldId id="31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48" autoAdjust="0"/>
    <p:restoredTop sz="93969" autoAdjust="0"/>
  </p:normalViewPr>
  <p:slideViewPr>
    <p:cSldViewPr snapToGrid="0">
      <p:cViewPr varScale="1">
        <p:scale>
          <a:sx n="123" d="100"/>
          <a:sy n="123" d="100"/>
        </p:scale>
        <p:origin x="20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05/07/25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09" y="3144651"/>
            <a:ext cx="7855181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b="1" dirty="0">
                <a:ln/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algn="l"/>
            <a:r>
              <a:rPr lang="en-GB" b="1" dirty="0">
                <a:ln/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ln/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ln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NAST</a:t>
            </a:r>
            <a:r>
              <a:rPr lang="en-GB" b="1" dirty="0">
                <a:ln/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3CA46-2F9A-D4BD-59DC-ADA3195E407E}"/>
              </a:ext>
            </a:extLst>
          </p:cNvPr>
          <p:cNvSpPr txBox="1"/>
          <p:nvPr/>
        </p:nvSpPr>
        <p:spPr>
          <a:xfrm>
            <a:off x="3047999" y="342450"/>
            <a:ext cx="65635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800" b="1" dirty="0">
                <a:solidFill>
                  <a:srgbClr val="000000"/>
                </a:solidFill>
                <a:effectLst/>
                <a:latin typeface="TimesNewRomanPS-BoldMT"/>
              </a:rPr>
              <a:t>       Unit 6</a:t>
            </a:r>
          </a:p>
          <a:p>
            <a:pPr algn="ctr">
              <a:buNone/>
            </a:pPr>
            <a:r>
              <a:rPr lang="en-GB" sz="4000" b="1" dirty="0">
                <a:solidFill>
                  <a:srgbClr val="00B0F0"/>
                </a:solidFill>
                <a:effectLst/>
                <a:latin typeface="TimesNewRomanPS-BoldMT"/>
              </a:rPr>
              <a:t>         </a:t>
            </a:r>
            <a:r>
              <a:rPr lang="en-GB" sz="4000" b="1">
                <a:solidFill>
                  <a:srgbClr val="00B0F0"/>
                </a:solidFill>
                <a:effectLst/>
                <a:latin typeface="TimesNewRomanPS-BoldMT"/>
              </a:rPr>
              <a:t>IMAGE ANALYSIS</a:t>
            </a:r>
            <a:r>
              <a:rPr lang="en-GB" sz="2800" b="1" dirty="0">
                <a:solidFill>
                  <a:srgbClr val="000000"/>
                </a:solidFill>
                <a:effectLst/>
                <a:latin typeface="TimesNewRomanPS-BoldMT"/>
              </a:rPr>
              <a:t>	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0C526-97BC-DDE2-8F94-2409D4D1D2D2}"/>
              </a:ext>
            </a:extLst>
          </p:cNvPr>
          <p:cNvSpPr txBox="1"/>
          <p:nvPr/>
        </p:nvSpPr>
        <p:spPr>
          <a:xfrm>
            <a:off x="10268608" y="1786023"/>
            <a:ext cx="168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TimesNewRomanPS-BoldMT"/>
              </a:rPr>
              <a:t>Hour:</a:t>
            </a:r>
            <a:r>
              <a:rPr lang="en-GB" sz="1800" b="1" dirty="0">
                <a:solidFill>
                  <a:srgbClr val="00B050"/>
                </a:solidFill>
                <a:effectLst/>
                <a:latin typeface="TimesNewRomanPS-BoldMT"/>
              </a:rPr>
              <a:t>[9 hrs] 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C3D3-4A13-BF4D-B487-9511595B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366B3-0401-0E1F-A080-73715C129CF6}"/>
              </a:ext>
            </a:extLst>
          </p:cNvPr>
          <p:cNvSpPr txBox="1"/>
          <p:nvPr/>
        </p:nvSpPr>
        <p:spPr>
          <a:xfrm>
            <a:off x="-3462" y="856357"/>
            <a:ext cx="121954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6.1 Introduction to Image Analysis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6.2 Feature Extraction &amp; Types of Features, Detection of Discontinuities</a:t>
            </a:r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6.3 Segmentation: Discontinuities-based segmentation ( Point detection, line detection, Edge detection)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 Similarities-based segmentation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 .1 Feature Thresholding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6.4.1.1 Amplitude Thresholding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6.4.1.2.Thresholding based upon histogram statistics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6.4.1.3. Multi-level Thresholding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6.4.1.4. Local &amp; Global Thresholding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6.4.1.5. Optimum Thresholding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6.4.2 Region growing based segmentation: seeded and unseeded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6.4.3 Region splitting&amp; Merging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6.5 Region Description &amp; representation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6.5.1Crack code &amp; chain code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6.5.2 Polygon Approximation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6.5.3 Signatures </a:t>
            </a:r>
            <a:endParaRPr lang="en-GB" sz="2000" dirty="0"/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6.5.4 Shape Numbers </a:t>
            </a:r>
            <a:endParaRPr lang="en-GB" sz="2000" dirty="0"/>
          </a:p>
          <a:p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6.5.5 Fourier Descriptors </a:t>
            </a: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9188B-5BBF-47C6-2DBA-B05387E2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</p:spTree>
    <p:extLst>
      <p:ext uri="{BB962C8B-B14F-4D97-AF65-F5344CB8AC3E}">
        <p14:creationId xmlns:p14="http://schemas.microsoft.com/office/powerpoint/2010/main" val="393912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49CB-FD41-7079-AB46-521F8518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4576-789A-DE0C-385D-78C9CEF05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85"/>
            <a:ext cx="12191999" cy="634365"/>
          </a:xfrm>
        </p:spPr>
        <p:txBody>
          <a:bodyPr>
            <a:no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</a:rPr>
              <a:t>INTRODUCTION TO IMAGE ANALYSIS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B3F70695-B91C-5E6B-D222-F6B796C1C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49" y="1275715"/>
            <a:ext cx="5858741" cy="511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5EF301-3D7B-5BB1-A199-E02209682463}"/>
              </a:ext>
            </a:extLst>
          </p:cNvPr>
          <p:cNvSpPr txBox="1"/>
          <p:nvPr/>
        </p:nvSpPr>
        <p:spPr>
          <a:xfrm>
            <a:off x="-3463" y="641350"/>
            <a:ext cx="12191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involves the extraction of meaningful information from images, enabling understanding, interpretation, and manipulation.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83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E525-9DE6-2AAF-B348-1EB5FC9A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AF17E-4E6C-4F81-2087-416CC69C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85"/>
            <a:ext cx="12191999" cy="634365"/>
          </a:xfrm>
        </p:spPr>
        <p:txBody>
          <a:bodyPr>
            <a:no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</a:rPr>
              <a:t>INTRODUCTION TO IMAGE ANALYSIS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C07810-2238-8485-AA0F-052287EDB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10621"/>
              </p:ext>
            </p:extLst>
          </p:nvPr>
        </p:nvGraphicFramePr>
        <p:xfrm>
          <a:off x="838200" y="1465117"/>
          <a:ext cx="10515600" cy="410440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665693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85709729"/>
                    </a:ext>
                  </a:extLst>
                </a:gridCol>
              </a:tblGrid>
              <a:tr h="586344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Analysis 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354122"/>
                  </a:ext>
                </a:extLst>
              </a:tr>
              <a:tr h="586344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Imaging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diagnosis, organ measurement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89718"/>
                  </a:ext>
                </a:extLst>
              </a:tr>
              <a:tr h="586344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&amp; Surveillance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Face/motion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371806"/>
                  </a:ext>
                </a:extLst>
              </a:tr>
              <a:tr h="586344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monitoring, disease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266621"/>
                  </a:ext>
                </a:extLst>
              </a:tr>
              <a:tr h="586344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inspection, robot guidance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792538"/>
                  </a:ext>
                </a:extLst>
              </a:tr>
              <a:tr h="586344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Sensing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 use, disaster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62069"/>
                  </a:ext>
                </a:extLst>
              </a:tr>
              <a:tr h="586344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&amp;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extraction, model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855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49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95A5-3BE1-0FF7-4D69-EBBD1FCD6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6690-554E-3A6D-B014-6AA771EFD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85"/>
            <a:ext cx="12191999" cy="634365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 &amp; Types of Features, Detection of Discontinuities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83623-D2A3-B6CE-8EA1-79605222F424}"/>
              </a:ext>
            </a:extLst>
          </p:cNvPr>
          <p:cNvSpPr txBox="1"/>
          <p:nvPr/>
        </p:nvSpPr>
        <p:spPr>
          <a:xfrm>
            <a:off x="0" y="64135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 extraction involves identifying and representing distinctive structures within an image.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characteristics of an image that help distinguish one image from another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DC39C-2C79-D742-0E07-5FF39B7A9F9B}"/>
              </a:ext>
            </a:extLst>
          </p:cNvPr>
          <p:cNvSpPr txBox="1"/>
          <p:nvPr/>
        </p:nvSpPr>
        <p:spPr>
          <a:xfrm>
            <a:off x="-2" y="1275715"/>
            <a:ext cx="12191998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Aft>
                <a:spcPts val="750"/>
              </a:spcAft>
            </a:pPr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Feature Extraction in Image Processing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Performance: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Reduction: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B1296-5ADA-7249-FF2B-D1FB7B236718}"/>
              </a:ext>
            </a:extLst>
          </p:cNvPr>
          <p:cNvSpPr txBox="1"/>
          <p:nvPr/>
        </p:nvSpPr>
        <p:spPr>
          <a:xfrm>
            <a:off x="-2" y="3531071"/>
            <a:ext cx="1219199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8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Features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Low-Level Features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(directly extracted from the image):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Rapid changes in intensity.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Corners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Intersection of two edges.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Blobs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Regions of similar intensity.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Texture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Patterns of variation in pixel intensity.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Based on RGB, HSV, etc.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High-Level Features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(semantic features):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Shapes (e.g., circles, rectangles)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Objects (cars, humans)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Faces, expressions</a:t>
            </a:r>
          </a:p>
        </p:txBody>
      </p:sp>
    </p:spTree>
    <p:extLst>
      <p:ext uri="{BB962C8B-B14F-4D97-AF65-F5344CB8AC3E}">
        <p14:creationId xmlns:p14="http://schemas.microsoft.com/office/powerpoint/2010/main" val="210973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1682-5998-BB09-0252-F5B96115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B0CB-179F-8DCD-8D4D-43671DD1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85"/>
            <a:ext cx="12191999" cy="634365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Techniques of Feature Extraction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Lightbox">
            <a:extLst>
              <a:ext uri="{FF2B5EF4-FFF2-40B4-BE49-F238E27FC236}">
                <a16:creationId xmlns:a16="http://schemas.microsoft.com/office/drawing/2014/main" id="{1A99B7E2-CCE6-BC20-C5A3-1EE2BEBD3A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6" t="5534" r="11253" b="7075"/>
          <a:stretch>
            <a:fillRect/>
          </a:stretch>
        </p:blipFill>
        <p:spPr bwMode="auto">
          <a:xfrm>
            <a:off x="2421080" y="862445"/>
            <a:ext cx="7159337" cy="513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14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D622-1C3E-DF95-6C35-D99645DFC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94BD-30D9-4D62-0C28-A66A3C59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85"/>
            <a:ext cx="12191999" cy="634365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Techniques of Feature Extraction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AD983-701E-1F68-1DD6-19462F32D072}"/>
              </a:ext>
            </a:extLst>
          </p:cNvPr>
          <p:cNvSpPr txBox="1"/>
          <p:nvPr/>
        </p:nvSpPr>
        <p:spPr>
          <a:xfrm>
            <a:off x="0" y="451616"/>
            <a:ext cx="8988136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methods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Sobel, Prewitt and Robert Operator</a:t>
            </a:r>
          </a:p>
          <a:p>
            <a:pPr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 Edge Detector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40B1A-D516-5813-2303-3BD26A0EB1EF}"/>
              </a:ext>
            </a:extLst>
          </p:cNvPr>
          <p:cNvSpPr txBox="1"/>
          <p:nvPr/>
        </p:nvSpPr>
        <p:spPr>
          <a:xfrm>
            <a:off x="0" y="2153001"/>
            <a:ext cx="6125440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 detection methods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Harris Corner Detector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Shi-Tomasi Corner Detector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57C42-82EA-E838-C50A-9F176B9F7EA5}"/>
              </a:ext>
            </a:extLst>
          </p:cNvPr>
          <p:cNvSpPr txBox="1"/>
          <p:nvPr/>
        </p:nvSpPr>
        <p:spPr>
          <a:xfrm>
            <a:off x="0" y="3854386"/>
            <a:ext cx="6125440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detection methods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Laplacian of Gaussian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of Gaussian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Determinant of Hessian</a:t>
            </a:r>
          </a:p>
        </p:txBody>
      </p:sp>
    </p:spTree>
    <p:extLst>
      <p:ext uri="{BB962C8B-B14F-4D97-AF65-F5344CB8AC3E}">
        <p14:creationId xmlns:p14="http://schemas.microsoft.com/office/powerpoint/2010/main" val="375924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DA02-BABB-0E10-CD8F-E75C83660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7A3B7-098C-36F0-5751-A161FB8AF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85"/>
            <a:ext cx="12191999" cy="634365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Techniques of Feature Extraction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9E9FA-A329-20A1-13AE-17A02739FACF}"/>
              </a:ext>
            </a:extLst>
          </p:cNvPr>
          <p:cNvSpPr txBox="1"/>
          <p:nvPr/>
        </p:nvSpPr>
        <p:spPr>
          <a:xfrm>
            <a:off x="-3463" y="324167"/>
            <a:ext cx="6099462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 analysis methods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Gray-level Co-occurance Matrix: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Binary Patterns: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Gabor Filters: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37E5EC-6331-FE79-9C95-F4DD2EFD80A5}"/>
              </a:ext>
            </a:extLst>
          </p:cNvPr>
          <p:cNvSpPr txBox="1"/>
          <p:nvPr/>
        </p:nvSpPr>
        <p:spPr>
          <a:xfrm>
            <a:off x="-3464" y="2396934"/>
            <a:ext cx="6539345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and Intensity Features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Include: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Histograms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Moments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Coherence Vector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039D7-85C4-3B83-F25C-5DE108E38E06}"/>
              </a:ext>
            </a:extLst>
          </p:cNvPr>
          <p:cNvSpPr txBox="1"/>
          <p:nvPr/>
        </p:nvSpPr>
        <p:spPr>
          <a:xfrm>
            <a:off x="0" y="4415645"/>
            <a:ext cx="6198176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common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transform-based methods: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Transform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Cosine Transform</a:t>
            </a:r>
          </a:p>
        </p:txBody>
      </p:sp>
    </p:spTree>
    <p:extLst>
      <p:ext uri="{BB962C8B-B14F-4D97-AF65-F5344CB8AC3E}">
        <p14:creationId xmlns:p14="http://schemas.microsoft.com/office/powerpoint/2010/main" val="371233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236F72-8590-A7C4-C5BF-F25AE9788080}"/>
              </a:ext>
            </a:extLst>
          </p:cNvPr>
          <p:cNvSpPr txBox="1"/>
          <p:nvPr/>
        </p:nvSpPr>
        <p:spPr>
          <a:xfrm>
            <a:off x="-3462" y="519157"/>
            <a:ext cx="6099462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feature descriptors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are: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invariant Feature Transform (SIFT)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Speeded Up Robust Feature (SURF)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Oriented Fast  and Rotated Brief(ORB)</a:t>
            </a:r>
          </a:p>
        </p:txBody>
      </p:sp>
      <p:pic>
        <p:nvPicPr>
          <p:cNvPr id="5" name="Picture 2" descr="Shape-Based-Feature-Extraction">
            <a:extLst>
              <a:ext uri="{FF2B5EF4-FFF2-40B4-BE49-F238E27FC236}">
                <a16:creationId xmlns:a16="http://schemas.microsoft.com/office/drawing/2014/main" id="{6AA183A3-D495-B0E3-C49B-62F2F2225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1" t="8030" r="9325" b="26363"/>
          <a:stretch>
            <a:fillRect/>
          </a:stretch>
        </p:blipFill>
        <p:spPr bwMode="auto">
          <a:xfrm>
            <a:off x="0" y="2459708"/>
            <a:ext cx="7304811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F6D7-8E55-55A3-986C-3C450381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697B7-B312-22B0-4952-C32EDA46787E}"/>
              </a:ext>
            </a:extLst>
          </p:cNvPr>
          <p:cNvSpPr txBox="1"/>
          <p:nvPr/>
        </p:nvSpPr>
        <p:spPr>
          <a:xfrm>
            <a:off x="0" y="322118"/>
            <a:ext cx="12195462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Feature Extraction for Image Processing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Recognition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Image Retrieval (CBIR</a:t>
            </a:r>
          </a:p>
        </p:txBody>
      </p:sp>
    </p:spTree>
    <p:extLst>
      <p:ext uri="{BB962C8B-B14F-4D97-AF65-F5344CB8AC3E}">
        <p14:creationId xmlns:p14="http://schemas.microsoft.com/office/powerpoint/2010/main" val="427547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976"/>
            <a:ext cx="12192000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IMAGE 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D391A-F1CB-3275-6513-0DF3C9C20267}"/>
              </a:ext>
            </a:extLst>
          </p:cNvPr>
          <p:cNvSpPr txBox="1"/>
          <p:nvPr/>
        </p:nvSpPr>
        <p:spPr>
          <a:xfrm>
            <a:off x="0" y="851219"/>
            <a:ext cx="118590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that involves dividing an image into meaningful and distinct regions or segments.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simplify or change the representation of an image into something that is more meaningful and easier to analyze.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on the basis of two properties: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discontinuity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similarity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841EB-915B-13C2-D7ED-375AD49D8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61" y="2998278"/>
            <a:ext cx="10736766" cy="211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129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B9E3-029F-79B5-9F9F-5EC413627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EB6A-E4AE-4BCE-B6F0-7BAF975D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Image Segmentation</a:t>
            </a:r>
          </a:p>
        </p:txBody>
      </p:sp>
      <p:pic>
        <p:nvPicPr>
          <p:cNvPr id="1026" name="Picture 2" descr="Segmentation (Image Processing)">
            <a:extLst>
              <a:ext uri="{FF2B5EF4-FFF2-40B4-BE49-F238E27FC236}">
                <a16:creationId xmlns:a16="http://schemas.microsoft.com/office/drawing/2014/main" id="{F8FF2A05-69CA-ED5A-50AD-36D136AF8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40" y="3361958"/>
            <a:ext cx="6165898" cy="336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6E52CF-3DF1-C4CC-7E35-EBAEACAA041A}"/>
              </a:ext>
            </a:extLst>
          </p:cNvPr>
          <p:cNvSpPr txBox="1"/>
          <p:nvPr/>
        </p:nvSpPr>
        <p:spPr>
          <a:xfrm>
            <a:off x="372482" y="1168521"/>
            <a:ext cx="327423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 Analysis: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Surveillance: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Sensing:</a:t>
            </a:r>
          </a:p>
        </p:txBody>
      </p:sp>
    </p:spTree>
    <p:extLst>
      <p:ext uri="{BB962C8B-B14F-4D97-AF65-F5344CB8AC3E}">
        <p14:creationId xmlns:p14="http://schemas.microsoft.com/office/powerpoint/2010/main" val="81374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" y="125976"/>
            <a:ext cx="12027876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Based on Similarity Properties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C69C0C-77A3-60B6-6690-8858CC02B6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971"/>
          <a:stretch/>
        </p:blipFill>
        <p:spPr>
          <a:xfrm>
            <a:off x="1479122" y="1456006"/>
            <a:ext cx="9233756" cy="2553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38DBAD-BA16-4255-9E27-6B82F7F955A6}"/>
              </a:ext>
            </a:extLst>
          </p:cNvPr>
          <p:cNvSpPr txBox="1"/>
          <p:nvPr/>
        </p:nvSpPr>
        <p:spPr>
          <a:xfrm>
            <a:off x="32495" y="4536831"/>
            <a:ext cx="120278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separate objects or regions.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Region-Based Segmentation: Groups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pixels based on their similar properties, like intensity, Color, or texture.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Segmentation: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boundaries (edges) between different regions in an image.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Clustering-Based Segmentation: Groups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pixels into clusters based on their similarity in feature space.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Watershed Segmentation: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topographic information to divide an image into multiple segments or regions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835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305F-B2CF-6FA2-1DD4-566EAF51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6CCE-8AAD-494B-3CA1-4D615B54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" y="125976"/>
            <a:ext cx="12027876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Based on Region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7D3DC0-9388-CF04-9E8D-A8D8E04BD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983" y="1185635"/>
            <a:ext cx="5930900" cy="25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46023B-692F-DCCF-451D-9F47BFBE23BA}"/>
              </a:ext>
            </a:extLst>
          </p:cNvPr>
          <p:cNvSpPr txBox="1"/>
          <p:nvPr/>
        </p:nvSpPr>
        <p:spPr>
          <a:xfrm>
            <a:off x="32494" y="3970102"/>
            <a:ext cx="121595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two types</a:t>
            </a:r>
          </a:p>
          <a:p>
            <a:pPr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growing </a:t>
            </a:r>
          </a:p>
          <a:p>
            <a:pPr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grows segments by including neighbouring pixels with similar characteristics. </a:t>
            </a:r>
          </a:p>
          <a:p>
            <a:pPr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the difference 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 for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regions and the difference in textures for textured images.</a:t>
            </a:r>
          </a:p>
        </p:txBody>
      </p:sp>
    </p:spTree>
    <p:extLst>
      <p:ext uri="{BB962C8B-B14F-4D97-AF65-F5344CB8AC3E}">
        <p14:creationId xmlns:p14="http://schemas.microsoft.com/office/powerpoint/2010/main" val="1821702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48DA-A5DE-DD8B-77C5-FC043678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AD9C-98EA-129E-B916-00B45B76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5" y="125976"/>
            <a:ext cx="12027876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Based on Region</a:t>
            </a:r>
          </a:p>
        </p:txBody>
      </p:sp>
      <p:pic>
        <p:nvPicPr>
          <p:cNvPr id="3074" name="Picture 2" descr="Region Growing">
            <a:extLst>
              <a:ext uri="{FF2B5EF4-FFF2-40B4-BE49-F238E27FC236}">
                <a16:creationId xmlns:a16="http://schemas.microsoft.com/office/drawing/2014/main" id="{51E93C00-01CC-23C1-0F73-F0BD6E324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123950"/>
            <a:ext cx="45720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612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73D27-F1CE-0D05-5F4E-38D863C8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C588-C3A1-80D3-56E2-F8D07B53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976"/>
            <a:ext cx="12060371" cy="802492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Based on Region Splitting and Merging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F6219-9F3F-EAD3-F838-FF9150E07540}"/>
              </a:ext>
            </a:extLst>
          </p:cNvPr>
          <p:cNvSpPr txBox="1"/>
          <p:nvPr/>
        </p:nvSpPr>
        <p:spPr>
          <a:xfrm>
            <a:off x="111355" y="1461459"/>
            <a:ext cx="1202787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 splitting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</a:p>
          <a:p>
            <a:pPr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method, the whole image is considered a single region. </a:t>
            </a:r>
          </a:p>
          <a:p>
            <a:pPr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 to divide the region into segments it checks for pixels included in the initial region if they follow the predefined set of criteria. </a:t>
            </a:r>
          </a:p>
          <a:p>
            <a:pPr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they follow similar rules they are taken into one segment.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8F921B4-ECF0-A931-6506-A671C7787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079" y="2697067"/>
            <a:ext cx="3809092" cy="3736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130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976"/>
            <a:ext cx="12192000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Based on Dissimilar Properties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3D03DD-0F3B-A48D-58D0-A6EA4E149CFA}"/>
              </a:ext>
            </a:extLst>
          </p:cNvPr>
          <p:cNvGrpSpPr/>
          <p:nvPr/>
        </p:nvGrpSpPr>
        <p:grpSpPr>
          <a:xfrm>
            <a:off x="2679977" y="1613269"/>
            <a:ext cx="7326922" cy="3405015"/>
            <a:chOff x="1697501" y="1997612"/>
            <a:chExt cx="5938910" cy="2457084"/>
          </a:xfrm>
        </p:grpSpPr>
        <p:pic>
          <p:nvPicPr>
            <p:cNvPr id="5" name="Picture 2" descr="007 OpenCV projects - Image segmentation with Watershed algorithm">
              <a:extLst>
                <a:ext uri="{FF2B5EF4-FFF2-40B4-BE49-F238E27FC236}">
                  <a16:creationId xmlns:a16="http://schemas.microsoft.com/office/drawing/2014/main" id="{0B9E1EC4-5BE8-7217-4A84-5BFC6D06BC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40149" r="57693" b="-1"/>
            <a:stretch/>
          </p:blipFill>
          <p:spPr bwMode="auto">
            <a:xfrm>
              <a:off x="1697501" y="1997612"/>
              <a:ext cx="4126524" cy="24570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007 OpenCV projects - Image segmentation with Watershed algorithm">
              <a:extLst>
                <a:ext uri="{FF2B5EF4-FFF2-40B4-BE49-F238E27FC236}">
                  <a16:creationId xmlns:a16="http://schemas.microsoft.com/office/drawing/2014/main" id="{E5112F8A-96B6-D7DB-D046-2E7E5CBDE2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889" t="62536" r="40529" b="-1"/>
            <a:stretch/>
          </p:blipFill>
          <p:spPr bwMode="auto">
            <a:xfrm>
              <a:off x="5824025" y="2921000"/>
              <a:ext cx="1812386" cy="1533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50248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976"/>
            <a:ext cx="12192000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Based on Dissimilar Properties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918DC-E1BA-EA3D-6182-3941A731F848}"/>
              </a:ext>
            </a:extLst>
          </p:cNvPr>
          <p:cNvSpPr txBox="1"/>
          <p:nvPr/>
        </p:nvSpPr>
        <p:spPr>
          <a:xfrm>
            <a:off x="953085" y="928468"/>
            <a:ext cx="1108885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information about edges in an image to sketch boundaries between different regions or objects.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are areas where there are significant changes in intensity or Color, and identifying them is crucial for image segmentation.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algorithms to highlight areas of rapid intensity changes.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edge detection methods include: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Mask(Operator):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Sobel Operator: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Prewitt Operator: 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Operator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Matching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Compass Operator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Linking: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detected edge points to form continuous curves or contours.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edge linking include Hough Transform, region-growing, and chain codes.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Hough Transform, for example, can be used to link edge points into lines or curves by identifying common parameters.</a:t>
            </a:r>
          </a:p>
        </p:txBody>
      </p:sp>
    </p:spTree>
    <p:extLst>
      <p:ext uri="{BB962C8B-B14F-4D97-AF65-F5344CB8AC3E}">
        <p14:creationId xmlns:p14="http://schemas.microsoft.com/office/powerpoint/2010/main" val="2507318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Prewitt operator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BC5ED-7FF6-87E5-0FD6-9D28D30E301F}"/>
              </a:ext>
            </a:extLst>
          </p:cNvPr>
          <p:cNvSpPr txBox="1"/>
          <p:nvPr/>
        </p:nvSpPr>
        <p:spPr>
          <a:xfrm>
            <a:off x="572672" y="849452"/>
            <a:ext cx="11046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Prewitt operator is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edge detection in an image. 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two types of edges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edges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Edges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are calculated by using difference between corresponding pixel intensities of an image.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6E55A9-019E-0403-4FFF-4BEF9019ACDF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3057436"/>
          <a:ext cx="2931942" cy="1280160"/>
        </p:xfrm>
        <a:graphic>
          <a:graphicData uri="http://schemas.openxmlformats.org/drawingml/2006/table">
            <a:tbl>
              <a:tblPr/>
              <a:tblGrid>
                <a:gridCol w="977314">
                  <a:extLst>
                    <a:ext uri="{9D8B030D-6E8A-4147-A177-3AD203B41FA5}">
                      <a16:colId xmlns:a16="http://schemas.microsoft.com/office/drawing/2014/main" val="863393190"/>
                    </a:ext>
                  </a:extLst>
                </a:gridCol>
                <a:gridCol w="977314">
                  <a:extLst>
                    <a:ext uri="{9D8B030D-6E8A-4147-A177-3AD203B41FA5}">
                      <a16:colId xmlns:a16="http://schemas.microsoft.com/office/drawing/2014/main" val="1162512426"/>
                    </a:ext>
                  </a:extLst>
                </a:gridCol>
                <a:gridCol w="977314">
                  <a:extLst>
                    <a:ext uri="{9D8B030D-6E8A-4147-A177-3AD203B41FA5}">
                      <a16:colId xmlns:a16="http://schemas.microsoft.com/office/drawing/2014/main" val="235758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950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756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691536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2DC949A-D93B-3E33-8EB6-BDEE1465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12" y="2635014"/>
            <a:ext cx="20442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Vertical direction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7DC5C3-7950-20F7-4ACD-69081B4256BF}"/>
              </a:ext>
            </a:extLst>
          </p:cNvPr>
          <p:cNvGraphicFramePr>
            <a:graphicFrameLocks noGrp="1"/>
          </p:cNvGraphicFramePr>
          <p:nvPr/>
        </p:nvGraphicFramePr>
        <p:xfrm>
          <a:off x="8193322" y="2962143"/>
          <a:ext cx="2991666" cy="1280160"/>
        </p:xfrm>
        <a:graphic>
          <a:graphicData uri="http://schemas.openxmlformats.org/drawingml/2006/table">
            <a:tbl>
              <a:tblPr/>
              <a:tblGrid>
                <a:gridCol w="997222">
                  <a:extLst>
                    <a:ext uri="{9D8B030D-6E8A-4147-A177-3AD203B41FA5}">
                      <a16:colId xmlns:a16="http://schemas.microsoft.com/office/drawing/2014/main" val="4120820035"/>
                    </a:ext>
                  </a:extLst>
                </a:gridCol>
                <a:gridCol w="997222">
                  <a:extLst>
                    <a:ext uri="{9D8B030D-6E8A-4147-A177-3AD203B41FA5}">
                      <a16:colId xmlns:a16="http://schemas.microsoft.com/office/drawing/2014/main" val="1979152742"/>
                    </a:ext>
                  </a:extLst>
                </a:gridCol>
                <a:gridCol w="997222">
                  <a:extLst>
                    <a:ext uri="{9D8B030D-6E8A-4147-A177-3AD203B41FA5}">
                      <a16:colId xmlns:a16="http://schemas.microsoft.com/office/drawing/2014/main" val="592556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918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 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 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945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 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52347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1026779D-AEE3-7937-1BE1-F3CD87DFA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557" y="2524761"/>
            <a:ext cx="23775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Horizontal Direction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pic>
        <p:nvPicPr>
          <p:cNvPr id="10" name="Picture 2" descr="Prewitt Operator">
            <a:extLst>
              <a:ext uri="{FF2B5EF4-FFF2-40B4-BE49-F238E27FC236}">
                <a16:creationId xmlns:a16="http://schemas.microsoft.com/office/drawing/2014/main" id="{39B62022-51C8-FE8A-CC2A-AA86061D9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44" y="4337596"/>
            <a:ext cx="23526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witt Operator">
            <a:extLst>
              <a:ext uri="{FF2B5EF4-FFF2-40B4-BE49-F238E27FC236}">
                <a16:creationId xmlns:a16="http://schemas.microsoft.com/office/drawing/2014/main" id="{0203F936-A955-3F1D-D29B-A371309F6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882" y="4337596"/>
            <a:ext cx="23526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ewitt Operator">
            <a:extLst>
              <a:ext uri="{FF2B5EF4-FFF2-40B4-BE49-F238E27FC236}">
                <a16:creationId xmlns:a16="http://schemas.microsoft.com/office/drawing/2014/main" id="{6B7E25E6-B59B-0CDC-FA46-620E4B063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22" y="4242303"/>
            <a:ext cx="2603401" cy="230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478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Sobel operator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BC5ED-7FF6-87E5-0FD6-9D28D30E301F}"/>
              </a:ext>
            </a:extLst>
          </p:cNvPr>
          <p:cNvSpPr txBox="1"/>
          <p:nvPr/>
        </p:nvSpPr>
        <p:spPr>
          <a:xfrm>
            <a:off x="1" y="970734"/>
            <a:ext cx="120419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Sobel operator the coefficients of masks are not fixed and they can be adjusted according to our requirement unless they do not violate any property of derivative masks.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two types of edges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edges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Edges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are calculated by using difference between corresponding pixel intensities of an image.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30441D-FA3D-9215-0C8C-C22237C0E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394" y="2767326"/>
            <a:ext cx="666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AB9E271-726B-04D9-13C5-E423DBA94E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28"/>
          <a:stretch/>
        </p:blipFill>
        <p:spPr bwMode="auto">
          <a:xfrm>
            <a:off x="6513342" y="4825219"/>
            <a:ext cx="5387926" cy="190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6125A-F422-25E4-3EE2-6372FCE24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24"/>
          <a:stretch/>
        </p:blipFill>
        <p:spPr bwMode="auto">
          <a:xfrm>
            <a:off x="1025683" y="4826384"/>
            <a:ext cx="5220372" cy="181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09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Operator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03923-C20F-D35B-076B-054B05F0E234}"/>
              </a:ext>
            </a:extLst>
          </p:cNvPr>
          <p:cNvSpPr txBox="1"/>
          <p:nvPr/>
        </p:nvSpPr>
        <p:spPr>
          <a:xfrm>
            <a:off x="0" y="928468"/>
            <a:ext cx="11859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Robert Operator is a simple edge detection operator used in image processing and computer vision.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named after Lawrence Roberts, who introduced it in the 1960s.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Robert Operator is designed to detect edges by approximating the gradient of the image intensity.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918384-6034-C78C-A23C-6618CF8A638B}"/>
              </a:ext>
            </a:extLst>
          </p:cNvPr>
          <p:cNvSpPr txBox="1"/>
          <p:nvPr/>
        </p:nvSpPr>
        <p:spPr>
          <a:xfrm>
            <a:off x="1301262" y="2331124"/>
            <a:ext cx="752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+1  0</a:t>
            </a:r>
          </a:p>
          <a:p>
            <a:r>
              <a:rPr lang="en-IN" dirty="0"/>
              <a:t> 0  -1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740752-C968-3B9F-9828-3565FEA5FC45}"/>
              </a:ext>
            </a:extLst>
          </p:cNvPr>
          <p:cNvSpPr txBox="1"/>
          <p:nvPr/>
        </p:nvSpPr>
        <p:spPr>
          <a:xfrm>
            <a:off x="5712655" y="2331124"/>
            <a:ext cx="766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0 +1</a:t>
            </a:r>
          </a:p>
          <a:p>
            <a:r>
              <a:rPr lang="en-IN" dirty="0"/>
              <a:t>-1   0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5842B05-A203-F743-752F-5A80CFA8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89" y="2007958"/>
            <a:ext cx="38524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Vertical Mask of Robert Operator: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294AA3F8-4CB4-C81D-4885-E8EA184C4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743" y="2007958"/>
            <a:ext cx="40831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Horizontal Mask of Robert Operator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D2987E-EBFB-BD9F-629E-9B6EA94F2A6D}"/>
              </a:ext>
            </a:extLst>
          </p:cNvPr>
          <p:cNvSpPr txBox="1"/>
          <p:nvPr/>
        </p:nvSpPr>
        <p:spPr>
          <a:xfrm>
            <a:off x="112569" y="3429000"/>
            <a:ext cx="114311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efficient.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edges with a clear diagonal orientation.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sensitive to noise due to the small size of the convolution kernels.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perform well in the presence of diagonal edges in multiple directions.</a:t>
            </a:r>
          </a:p>
        </p:txBody>
      </p:sp>
    </p:spTree>
    <p:extLst>
      <p:ext uri="{BB962C8B-B14F-4D97-AF65-F5344CB8AC3E}">
        <p14:creationId xmlns:p14="http://schemas.microsoft.com/office/powerpoint/2010/main" val="2953497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Template Matching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43DBA-54BB-9ECB-E10E-A6AAC9D81681}"/>
              </a:ext>
            </a:extLst>
          </p:cNvPr>
          <p:cNvSpPr txBox="1"/>
          <p:nvPr/>
        </p:nvSpPr>
        <p:spPr>
          <a:xfrm>
            <a:off x="221566" y="928468"/>
            <a:ext cx="11496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matching is used for detecting patterns or objects within an image.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matching can be used to identify specific patterns or structures that represent edges.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D4302BA-3889-CBB4-EA4A-A7F29D364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451" y="2026596"/>
            <a:ext cx="7282083" cy="426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249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III.COMPASS OPERATOR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36B5B-0F67-2268-7581-B4944FF71355}"/>
              </a:ext>
            </a:extLst>
          </p:cNvPr>
          <p:cNvSpPr txBox="1"/>
          <p:nvPr/>
        </p:nvSpPr>
        <p:spPr>
          <a:xfrm>
            <a:off x="0" y="928468"/>
            <a:ext cx="122655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edge detection technique that employs a set of masks or filters based on different compass directions.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filter is designed to capture information about intensity changes in a specific direction.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Compass Operator is especially useful for detecting edges that have different orientations.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A35CCC5-4D8A-D0A7-E700-D8FAFA26082F}"/>
              </a:ext>
            </a:extLst>
          </p:cNvPr>
          <p:cNvGraphicFramePr>
            <a:graphicFrameLocks noGrp="1"/>
          </p:cNvGraphicFramePr>
          <p:nvPr/>
        </p:nvGraphicFramePr>
        <p:xfrm>
          <a:off x="456006" y="3265147"/>
          <a:ext cx="3018714" cy="1280160"/>
        </p:xfrm>
        <a:graphic>
          <a:graphicData uri="http://schemas.openxmlformats.org/drawingml/2006/table">
            <a:tbl>
              <a:tblPr/>
              <a:tblGrid>
                <a:gridCol w="1006238">
                  <a:extLst>
                    <a:ext uri="{9D8B030D-6E8A-4147-A177-3AD203B41FA5}">
                      <a16:colId xmlns:a16="http://schemas.microsoft.com/office/drawing/2014/main" val="2031559675"/>
                    </a:ext>
                  </a:extLst>
                </a:gridCol>
                <a:gridCol w="1006238">
                  <a:extLst>
                    <a:ext uri="{9D8B030D-6E8A-4147-A177-3AD203B41FA5}">
                      <a16:colId xmlns:a16="http://schemas.microsoft.com/office/drawing/2014/main" val="820868769"/>
                    </a:ext>
                  </a:extLst>
                </a:gridCol>
                <a:gridCol w="1006238">
                  <a:extLst>
                    <a:ext uri="{9D8B030D-6E8A-4147-A177-3AD203B41FA5}">
                      <a16:colId xmlns:a16="http://schemas.microsoft.com/office/drawing/2014/main" val="3180665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44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460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308721"/>
                  </a:ext>
                </a:extLst>
              </a:tr>
            </a:tbl>
          </a:graphicData>
        </a:graphic>
      </p:graphicFrame>
      <p:sp>
        <p:nvSpPr>
          <p:cNvPr id="18" name="Rectangle 4">
            <a:extLst>
              <a:ext uri="{FF2B5EF4-FFF2-40B4-BE49-F238E27FC236}">
                <a16:creationId xmlns:a16="http://schemas.microsoft.com/office/drawing/2014/main" id="{13069AC1-0CDB-EFB3-14DB-F6CC39D83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04" y="2786199"/>
            <a:ext cx="25058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North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DA2C9AA-C1DC-951B-C74A-60A037B86D70}"/>
              </a:ext>
            </a:extLst>
          </p:cNvPr>
          <p:cNvGraphicFramePr>
            <a:graphicFrameLocks noGrp="1"/>
          </p:cNvGraphicFramePr>
          <p:nvPr/>
        </p:nvGraphicFramePr>
        <p:xfrm>
          <a:off x="5646983" y="3188997"/>
          <a:ext cx="3229731" cy="1280160"/>
        </p:xfrm>
        <a:graphic>
          <a:graphicData uri="http://schemas.openxmlformats.org/drawingml/2006/table">
            <a:tbl>
              <a:tblPr/>
              <a:tblGrid>
                <a:gridCol w="1076577">
                  <a:extLst>
                    <a:ext uri="{9D8B030D-6E8A-4147-A177-3AD203B41FA5}">
                      <a16:colId xmlns:a16="http://schemas.microsoft.com/office/drawing/2014/main" val="1470030138"/>
                    </a:ext>
                  </a:extLst>
                </a:gridCol>
                <a:gridCol w="1076577">
                  <a:extLst>
                    <a:ext uri="{9D8B030D-6E8A-4147-A177-3AD203B41FA5}">
                      <a16:colId xmlns:a16="http://schemas.microsoft.com/office/drawing/2014/main" val="2844297040"/>
                    </a:ext>
                  </a:extLst>
                </a:gridCol>
                <a:gridCol w="1076577">
                  <a:extLst>
                    <a:ext uri="{9D8B030D-6E8A-4147-A177-3AD203B41FA5}">
                      <a16:colId xmlns:a16="http://schemas.microsoft.com/office/drawing/2014/main" val="2439573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92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69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219433"/>
                  </a:ext>
                </a:extLst>
              </a:tr>
            </a:tbl>
          </a:graphicData>
        </a:graphic>
      </p:graphicFrame>
      <p:sp>
        <p:nvSpPr>
          <p:cNvPr id="20" name="Rectangle 5">
            <a:extLst>
              <a:ext uri="{FF2B5EF4-FFF2-40B4-BE49-F238E27FC236}">
                <a16:creationId xmlns:a16="http://schemas.microsoft.com/office/drawing/2014/main" id="{D9935966-6F0C-D6E5-3964-7BEC33B2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103" y="2786199"/>
            <a:ext cx="3117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North West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279183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III.COMPASS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523C6A-7106-5C23-3C21-C5ADA7C9383E}"/>
              </a:ext>
            </a:extLst>
          </p:cNvPr>
          <p:cNvGraphicFramePr>
            <a:graphicFrameLocks noGrp="1"/>
          </p:cNvGraphicFramePr>
          <p:nvPr/>
        </p:nvGraphicFramePr>
        <p:xfrm>
          <a:off x="385665" y="1252025"/>
          <a:ext cx="2624547" cy="1280160"/>
        </p:xfrm>
        <a:graphic>
          <a:graphicData uri="http://schemas.openxmlformats.org/drawingml/2006/table">
            <a:tbl>
              <a:tblPr/>
              <a:tblGrid>
                <a:gridCol w="874849">
                  <a:extLst>
                    <a:ext uri="{9D8B030D-6E8A-4147-A177-3AD203B41FA5}">
                      <a16:colId xmlns:a16="http://schemas.microsoft.com/office/drawing/2014/main" val="3244958738"/>
                    </a:ext>
                  </a:extLst>
                </a:gridCol>
                <a:gridCol w="874849">
                  <a:extLst>
                    <a:ext uri="{9D8B030D-6E8A-4147-A177-3AD203B41FA5}">
                      <a16:colId xmlns:a16="http://schemas.microsoft.com/office/drawing/2014/main" val="2000160634"/>
                    </a:ext>
                  </a:extLst>
                </a:gridCol>
                <a:gridCol w="874849">
                  <a:extLst>
                    <a:ext uri="{9D8B030D-6E8A-4147-A177-3AD203B41FA5}">
                      <a16:colId xmlns:a16="http://schemas.microsoft.com/office/drawing/2014/main" val="583444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96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56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80801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BF300D1-5794-7606-7D70-6DB5FFBF4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65" y="928860"/>
            <a:ext cx="2437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West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51865B-F3FF-1523-DE5B-49AC66842F40}"/>
              </a:ext>
            </a:extLst>
          </p:cNvPr>
          <p:cNvGraphicFramePr>
            <a:graphicFrameLocks noGrp="1"/>
          </p:cNvGraphicFramePr>
          <p:nvPr/>
        </p:nvGraphicFramePr>
        <p:xfrm>
          <a:off x="3760136" y="1266093"/>
          <a:ext cx="2544831" cy="1280160"/>
        </p:xfrm>
        <a:graphic>
          <a:graphicData uri="http://schemas.openxmlformats.org/drawingml/2006/table">
            <a:tbl>
              <a:tblPr/>
              <a:tblGrid>
                <a:gridCol w="848277">
                  <a:extLst>
                    <a:ext uri="{9D8B030D-6E8A-4147-A177-3AD203B41FA5}">
                      <a16:colId xmlns:a16="http://schemas.microsoft.com/office/drawing/2014/main" val="3132170686"/>
                    </a:ext>
                  </a:extLst>
                </a:gridCol>
                <a:gridCol w="848277">
                  <a:extLst>
                    <a:ext uri="{9D8B030D-6E8A-4147-A177-3AD203B41FA5}">
                      <a16:colId xmlns:a16="http://schemas.microsoft.com/office/drawing/2014/main" val="1440673974"/>
                    </a:ext>
                  </a:extLst>
                </a:gridCol>
                <a:gridCol w="848277">
                  <a:extLst>
                    <a:ext uri="{9D8B030D-6E8A-4147-A177-3AD203B41FA5}">
                      <a16:colId xmlns:a16="http://schemas.microsoft.com/office/drawing/2014/main" val="3403099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119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867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608266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78249389-13A2-E64B-7BAB-CE57E9AE9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895" y="942927"/>
            <a:ext cx="31556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South West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6B31BB-67C4-45E2-8C62-9A509BDFD4CA}"/>
              </a:ext>
            </a:extLst>
          </p:cNvPr>
          <p:cNvGraphicFramePr>
            <a:graphicFrameLocks noGrp="1"/>
          </p:cNvGraphicFramePr>
          <p:nvPr/>
        </p:nvGraphicFramePr>
        <p:xfrm>
          <a:off x="7271780" y="1252025"/>
          <a:ext cx="2712402" cy="1280160"/>
        </p:xfrm>
        <a:graphic>
          <a:graphicData uri="http://schemas.openxmlformats.org/drawingml/2006/table">
            <a:tbl>
              <a:tblPr/>
              <a:tblGrid>
                <a:gridCol w="904134">
                  <a:extLst>
                    <a:ext uri="{9D8B030D-6E8A-4147-A177-3AD203B41FA5}">
                      <a16:colId xmlns:a16="http://schemas.microsoft.com/office/drawing/2014/main" val="2172450717"/>
                    </a:ext>
                  </a:extLst>
                </a:gridCol>
                <a:gridCol w="904134">
                  <a:extLst>
                    <a:ext uri="{9D8B030D-6E8A-4147-A177-3AD203B41FA5}">
                      <a16:colId xmlns:a16="http://schemas.microsoft.com/office/drawing/2014/main" val="2320854996"/>
                    </a:ext>
                  </a:extLst>
                </a:gridCol>
                <a:gridCol w="904134">
                  <a:extLst>
                    <a:ext uri="{9D8B030D-6E8A-4147-A177-3AD203B41FA5}">
                      <a16:colId xmlns:a16="http://schemas.microsoft.com/office/drawing/2014/main" val="2437861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04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74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18317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556C5450-552E-2567-9323-DDCFD495E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102" y="928468"/>
            <a:ext cx="29377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South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6105C60-1075-EC18-1DF5-5C6C3F068EA3}"/>
              </a:ext>
            </a:extLst>
          </p:cNvPr>
          <p:cNvGraphicFramePr>
            <a:graphicFrameLocks noGrp="1"/>
          </p:cNvGraphicFramePr>
          <p:nvPr/>
        </p:nvGraphicFramePr>
        <p:xfrm>
          <a:off x="328535" y="3488005"/>
          <a:ext cx="2352297" cy="1280160"/>
        </p:xfrm>
        <a:graphic>
          <a:graphicData uri="http://schemas.openxmlformats.org/drawingml/2006/table">
            <a:tbl>
              <a:tblPr/>
              <a:tblGrid>
                <a:gridCol w="784099">
                  <a:extLst>
                    <a:ext uri="{9D8B030D-6E8A-4147-A177-3AD203B41FA5}">
                      <a16:colId xmlns:a16="http://schemas.microsoft.com/office/drawing/2014/main" val="1220258769"/>
                    </a:ext>
                  </a:extLst>
                </a:gridCol>
                <a:gridCol w="784099">
                  <a:extLst>
                    <a:ext uri="{9D8B030D-6E8A-4147-A177-3AD203B41FA5}">
                      <a16:colId xmlns:a16="http://schemas.microsoft.com/office/drawing/2014/main" val="3898512588"/>
                    </a:ext>
                  </a:extLst>
                </a:gridCol>
                <a:gridCol w="784099">
                  <a:extLst>
                    <a:ext uri="{9D8B030D-6E8A-4147-A177-3AD203B41FA5}">
                      <a16:colId xmlns:a16="http://schemas.microsoft.com/office/drawing/2014/main" val="642362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71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401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930121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0A40C846-DF07-6E68-A980-438A88964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48" y="3046829"/>
            <a:ext cx="30957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South East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2DC9409-9054-6103-A22E-2F893A3FA1FD}"/>
              </a:ext>
            </a:extLst>
          </p:cNvPr>
          <p:cNvGraphicFramePr>
            <a:graphicFrameLocks noGrp="1"/>
          </p:cNvGraphicFramePr>
          <p:nvPr/>
        </p:nvGraphicFramePr>
        <p:xfrm>
          <a:off x="3891681" y="3429000"/>
          <a:ext cx="2031063" cy="1280160"/>
        </p:xfrm>
        <a:graphic>
          <a:graphicData uri="http://schemas.openxmlformats.org/drawingml/2006/table">
            <a:tbl>
              <a:tblPr/>
              <a:tblGrid>
                <a:gridCol w="677021">
                  <a:extLst>
                    <a:ext uri="{9D8B030D-6E8A-4147-A177-3AD203B41FA5}">
                      <a16:colId xmlns:a16="http://schemas.microsoft.com/office/drawing/2014/main" val="2576817422"/>
                    </a:ext>
                  </a:extLst>
                </a:gridCol>
                <a:gridCol w="677021">
                  <a:extLst>
                    <a:ext uri="{9D8B030D-6E8A-4147-A177-3AD203B41FA5}">
                      <a16:colId xmlns:a16="http://schemas.microsoft.com/office/drawing/2014/main" val="1950829942"/>
                    </a:ext>
                  </a:extLst>
                </a:gridCol>
                <a:gridCol w="677021">
                  <a:extLst>
                    <a:ext uri="{9D8B030D-6E8A-4147-A177-3AD203B41FA5}">
                      <a16:colId xmlns:a16="http://schemas.microsoft.com/office/drawing/2014/main" val="3264282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18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73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687213"/>
                  </a:ext>
                </a:extLst>
              </a:tr>
            </a:tbl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4E9DAD62-6920-3983-F4C2-638AC25F4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426" y="3046828"/>
            <a:ext cx="23775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East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FD70BDD-376B-C043-7D95-62B4420450A8}"/>
              </a:ext>
            </a:extLst>
          </p:cNvPr>
          <p:cNvGraphicFramePr>
            <a:graphicFrameLocks noGrp="1"/>
          </p:cNvGraphicFramePr>
          <p:nvPr/>
        </p:nvGraphicFramePr>
        <p:xfrm>
          <a:off x="7583819" y="3297447"/>
          <a:ext cx="2203857" cy="1280160"/>
        </p:xfrm>
        <a:graphic>
          <a:graphicData uri="http://schemas.openxmlformats.org/drawingml/2006/table">
            <a:tbl>
              <a:tblPr/>
              <a:tblGrid>
                <a:gridCol w="734619">
                  <a:extLst>
                    <a:ext uri="{9D8B030D-6E8A-4147-A177-3AD203B41FA5}">
                      <a16:colId xmlns:a16="http://schemas.microsoft.com/office/drawing/2014/main" val="1078396838"/>
                    </a:ext>
                  </a:extLst>
                </a:gridCol>
                <a:gridCol w="734619">
                  <a:extLst>
                    <a:ext uri="{9D8B030D-6E8A-4147-A177-3AD203B41FA5}">
                      <a16:colId xmlns:a16="http://schemas.microsoft.com/office/drawing/2014/main" val="2625247535"/>
                    </a:ext>
                  </a:extLst>
                </a:gridCol>
                <a:gridCol w="734619">
                  <a:extLst>
                    <a:ext uri="{9D8B030D-6E8A-4147-A177-3AD203B41FA5}">
                      <a16:colId xmlns:a16="http://schemas.microsoft.com/office/drawing/2014/main" val="1837814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6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67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242751"/>
                  </a:ext>
                </a:extLst>
              </a:tr>
            </a:tbl>
          </a:graphicData>
        </a:graphic>
      </p:graphicFrame>
      <p:sp>
        <p:nvSpPr>
          <p:cNvPr id="15" name="Rectangle 6">
            <a:extLst>
              <a:ext uri="{FF2B5EF4-FFF2-40B4-BE49-F238E27FC236}">
                <a16:creationId xmlns:a16="http://schemas.microsoft.com/office/drawing/2014/main" id="{81D46646-3CD6-90B9-37DA-290F6C57B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143" y="2936448"/>
            <a:ext cx="3057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North East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739171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Line/Curve and Spot/Point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69885-DD6B-E8C4-B7E9-42E2C094F64B}"/>
              </a:ext>
            </a:extLst>
          </p:cNvPr>
          <p:cNvSpPr txBox="1"/>
          <p:nvPr/>
        </p:nvSpPr>
        <p:spPr>
          <a:xfrm>
            <a:off x="621909" y="928468"/>
            <a:ext cx="10948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Line detection in image processing involves identifying and extracting straight lines from an image.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It is Detected by Using Second Order Derivative Filter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B3675-FE13-575B-2285-810940B11EB8}"/>
              </a:ext>
            </a:extLst>
          </p:cNvPr>
          <p:cNvSpPr txBox="1"/>
          <p:nvPr/>
        </p:nvSpPr>
        <p:spPr>
          <a:xfrm>
            <a:off x="5170176" y="4913869"/>
            <a:ext cx="14097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-1  -1  -1</a:t>
            </a:r>
          </a:p>
          <a:p>
            <a:r>
              <a:rPr lang="en-IN" sz="2000" dirty="0"/>
              <a:t>-1   8  -1</a:t>
            </a:r>
          </a:p>
          <a:p>
            <a:r>
              <a:rPr lang="en-IN" sz="2000" dirty="0"/>
              <a:t>-1  -1  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525B5-581F-E333-A49C-9113A4D21BD3}"/>
              </a:ext>
            </a:extLst>
          </p:cNvPr>
          <p:cNvSpPr txBox="1"/>
          <p:nvPr/>
        </p:nvSpPr>
        <p:spPr>
          <a:xfrm>
            <a:off x="950742" y="3936018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Spot/Point Detection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DF1850-59A2-A2FE-1776-76D9F548957C}"/>
              </a:ext>
            </a:extLst>
          </p:cNvPr>
          <p:cNvSpPr txBox="1"/>
          <p:nvPr/>
        </p:nvSpPr>
        <p:spPr>
          <a:xfrm>
            <a:off x="621909" y="4352579"/>
            <a:ext cx="1129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Spot detection in image processing refers to identifying small, well-defined regions or points within an image.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B9606A-1DCA-A847-C399-A41A30A39E28}"/>
              </a:ext>
            </a:extLst>
          </p:cNvPr>
          <p:cNvGraphicFramePr>
            <a:graphicFrameLocks noGrp="1"/>
          </p:cNvGraphicFramePr>
          <p:nvPr/>
        </p:nvGraphicFramePr>
        <p:xfrm>
          <a:off x="1517715" y="2011388"/>
          <a:ext cx="2338503" cy="1280160"/>
        </p:xfrm>
        <a:graphic>
          <a:graphicData uri="http://schemas.openxmlformats.org/drawingml/2006/table">
            <a:tbl>
              <a:tblPr/>
              <a:tblGrid>
                <a:gridCol w="779501">
                  <a:extLst>
                    <a:ext uri="{9D8B030D-6E8A-4147-A177-3AD203B41FA5}">
                      <a16:colId xmlns:a16="http://schemas.microsoft.com/office/drawing/2014/main" val="3244958738"/>
                    </a:ext>
                  </a:extLst>
                </a:gridCol>
                <a:gridCol w="779501">
                  <a:extLst>
                    <a:ext uri="{9D8B030D-6E8A-4147-A177-3AD203B41FA5}">
                      <a16:colId xmlns:a16="http://schemas.microsoft.com/office/drawing/2014/main" val="2000160634"/>
                    </a:ext>
                  </a:extLst>
                </a:gridCol>
                <a:gridCol w="779501">
                  <a:extLst>
                    <a:ext uri="{9D8B030D-6E8A-4147-A177-3AD203B41FA5}">
                      <a16:colId xmlns:a16="http://schemas.microsoft.com/office/drawing/2014/main" val="583444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96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56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808011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C9EC5F68-B1BB-B01F-8B7A-7E8D37BCA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715" y="1704425"/>
            <a:ext cx="19415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Horizontal Filter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7DBB4B-4EA4-BFD1-6100-1C910C04D00F}"/>
              </a:ext>
            </a:extLst>
          </p:cNvPr>
          <p:cNvGraphicFramePr>
            <a:graphicFrameLocks noGrp="1"/>
          </p:cNvGraphicFramePr>
          <p:nvPr/>
        </p:nvGraphicFramePr>
        <p:xfrm>
          <a:off x="3918334" y="1922958"/>
          <a:ext cx="2204538" cy="1280160"/>
        </p:xfrm>
        <a:graphic>
          <a:graphicData uri="http://schemas.openxmlformats.org/drawingml/2006/table">
            <a:tbl>
              <a:tblPr/>
              <a:tblGrid>
                <a:gridCol w="734846">
                  <a:extLst>
                    <a:ext uri="{9D8B030D-6E8A-4147-A177-3AD203B41FA5}">
                      <a16:colId xmlns:a16="http://schemas.microsoft.com/office/drawing/2014/main" val="1470030138"/>
                    </a:ext>
                  </a:extLst>
                </a:gridCol>
                <a:gridCol w="734846">
                  <a:extLst>
                    <a:ext uri="{9D8B030D-6E8A-4147-A177-3AD203B41FA5}">
                      <a16:colId xmlns:a16="http://schemas.microsoft.com/office/drawing/2014/main" val="2844297040"/>
                    </a:ext>
                  </a:extLst>
                </a:gridCol>
                <a:gridCol w="734846">
                  <a:extLst>
                    <a:ext uri="{9D8B030D-6E8A-4147-A177-3AD203B41FA5}">
                      <a16:colId xmlns:a16="http://schemas.microsoft.com/office/drawing/2014/main" val="2439573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-1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92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 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69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 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219433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E1CFF763-4180-D151-337A-7FB57958C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3030" y="1624032"/>
            <a:ext cx="807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+45</a:t>
            </a:r>
            <a:r>
              <a:rPr lang="en-US" altLang="en-US" b="1" baseline="30000" dirty="0"/>
              <a:t>0</a:t>
            </a:r>
            <a:endParaRPr lang="en-US" altLang="en-US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E4F96ED-076E-71DF-839B-AF1D8F4DD362}"/>
              </a:ext>
            </a:extLst>
          </p:cNvPr>
          <p:cNvGraphicFramePr>
            <a:graphicFrameLocks noGrp="1"/>
          </p:cNvGraphicFramePr>
          <p:nvPr/>
        </p:nvGraphicFramePr>
        <p:xfrm>
          <a:off x="6581934" y="1922958"/>
          <a:ext cx="2027493" cy="1280160"/>
        </p:xfrm>
        <a:graphic>
          <a:graphicData uri="http://schemas.openxmlformats.org/drawingml/2006/table">
            <a:tbl>
              <a:tblPr/>
              <a:tblGrid>
                <a:gridCol w="675831">
                  <a:extLst>
                    <a:ext uri="{9D8B030D-6E8A-4147-A177-3AD203B41FA5}">
                      <a16:colId xmlns:a16="http://schemas.microsoft.com/office/drawing/2014/main" val="2172450717"/>
                    </a:ext>
                  </a:extLst>
                </a:gridCol>
                <a:gridCol w="675831">
                  <a:extLst>
                    <a:ext uri="{9D8B030D-6E8A-4147-A177-3AD203B41FA5}">
                      <a16:colId xmlns:a16="http://schemas.microsoft.com/office/drawing/2014/main" val="2320854996"/>
                    </a:ext>
                  </a:extLst>
                </a:gridCol>
                <a:gridCol w="675831">
                  <a:extLst>
                    <a:ext uri="{9D8B030D-6E8A-4147-A177-3AD203B41FA5}">
                      <a16:colId xmlns:a16="http://schemas.microsoft.com/office/drawing/2014/main" val="2437861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04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-1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74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18317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CEA7D9DD-0ABE-1BAF-F8CB-24C562D7B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982" y="1618083"/>
            <a:ext cx="16209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Vertical Filter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D96EE1E-E612-EC46-5468-634340681054}"/>
              </a:ext>
            </a:extLst>
          </p:cNvPr>
          <p:cNvGraphicFramePr>
            <a:graphicFrameLocks noGrp="1"/>
          </p:cNvGraphicFramePr>
          <p:nvPr/>
        </p:nvGraphicFramePr>
        <p:xfrm>
          <a:off x="9068489" y="1941248"/>
          <a:ext cx="2204538" cy="1280160"/>
        </p:xfrm>
        <a:graphic>
          <a:graphicData uri="http://schemas.openxmlformats.org/drawingml/2006/table">
            <a:tbl>
              <a:tblPr/>
              <a:tblGrid>
                <a:gridCol w="734846">
                  <a:extLst>
                    <a:ext uri="{9D8B030D-6E8A-4147-A177-3AD203B41FA5}">
                      <a16:colId xmlns:a16="http://schemas.microsoft.com/office/drawing/2014/main" val="1470030138"/>
                    </a:ext>
                  </a:extLst>
                </a:gridCol>
                <a:gridCol w="734846">
                  <a:extLst>
                    <a:ext uri="{9D8B030D-6E8A-4147-A177-3AD203B41FA5}">
                      <a16:colId xmlns:a16="http://schemas.microsoft.com/office/drawing/2014/main" val="2844297040"/>
                    </a:ext>
                  </a:extLst>
                </a:gridCol>
                <a:gridCol w="734846">
                  <a:extLst>
                    <a:ext uri="{9D8B030D-6E8A-4147-A177-3AD203B41FA5}">
                      <a16:colId xmlns:a16="http://schemas.microsoft.com/office/drawing/2014/main" val="2439573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-1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-2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92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 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69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  2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 -1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219433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8490C776-BC82-D014-D320-91BFFC9BE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7943" y="1508213"/>
            <a:ext cx="807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-45</a:t>
            </a:r>
            <a:r>
              <a:rPr lang="en-US" altLang="en-US" b="1" baseline="30000" dirty="0"/>
              <a:t>0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484363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38C83-D6BC-66CD-E5D9-538333BDA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8156E5-668C-9624-0FE5-8AC870713AF5}"/>
              </a:ext>
            </a:extLst>
          </p:cNvPr>
          <p:cNvSpPr txBox="1"/>
          <p:nvPr/>
        </p:nvSpPr>
        <p:spPr>
          <a:xfrm>
            <a:off x="3299114" y="0"/>
            <a:ext cx="6099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THRESHOLDING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3FAAD-23A7-D39D-D99A-F8A2CE57F144}"/>
              </a:ext>
            </a:extLst>
          </p:cNvPr>
          <p:cNvSpPr txBox="1"/>
          <p:nvPr/>
        </p:nvSpPr>
        <p:spPr>
          <a:xfrm>
            <a:off x="-3462" y="581891"/>
            <a:ext cx="1219546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Amplitude Thresholding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 are separated based on their intensity compared to a fixed threshold (T).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Thresholding:</a:t>
            </a:r>
          </a:p>
          <a:p>
            <a:pPr algn="l">
              <a:spcBef>
                <a:spcPts val="300"/>
              </a:spcBef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515932-2AEB-ECE2-BCAA-8C41C7FD7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96" y="1500362"/>
            <a:ext cx="3517900" cy="927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673A16-198F-E430-45CD-C14464EC231B}"/>
              </a:ext>
            </a:extLst>
          </p:cNvPr>
          <p:cNvSpPr txBox="1"/>
          <p:nvPr/>
        </p:nvSpPr>
        <p:spPr>
          <a:xfrm>
            <a:off x="-31172" y="2513364"/>
            <a:ext cx="1191837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Thresholding Based on Histogram Statistics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image histogram to determine the threshold.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Peak/Valley Method: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lowest point (valley) between two peaks (foreground &amp; background).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Otsu’s Method: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selects the threshold by maximizing inter-class variance.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AEC142-4EBD-D2D5-B0D0-429951E27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363" y="4767088"/>
            <a:ext cx="4305300" cy="1181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36041B-76D1-8E02-3059-38671E691ADD}"/>
              </a:ext>
            </a:extLst>
          </p:cNvPr>
          <p:cNvSpPr txBox="1"/>
          <p:nvPr/>
        </p:nvSpPr>
        <p:spPr>
          <a:xfrm>
            <a:off x="-3463" y="3949276"/>
            <a:ext cx="10321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Multi-level Thresholding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 binary thresholding to multiple thresholds (e.g., for multiple regions).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DD83DC-7BAB-E7D9-A1B1-817ACE6789BB}"/>
              </a:ext>
            </a:extLst>
          </p:cNvPr>
          <p:cNvSpPr txBox="1"/>
          <p:nvPr/>
        </p:nvSpPr>
        <p:spPr>
          <a:xfrm>
            <a:off x="-3463" y="6119669"/>
            <a:ext cx="9324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images with more than two dominant intensity levels.</a:t>
            </a:r>
          </a:p>
        </p:txBody>
      </p:sp>
    </p:spTree>
    <p:extLst>
      <p:ext uri="{BB962C8B-B14F-4D97-AF65-F5344CB8AC3E}">
        <p14:creationId xmlns:p14="http://schemas.microsoft.com/office/powerpoint/2010/main" val="2236226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0797-3DB3-EE25-695E-FEC0861AD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5F2786-730D-5B77-EE9E-7AA6E52039DC}"/>
              </a:ext>
            </a:extLst>
          </p:cNvPr>
          <p:cNvSpPr txBox="1"/>
          <p:nvPr/>
        </p:nvSpPr>
        <p:spPr>
          <a:xfrm>
            <a:off x="3299114" y="0"/>
            <a:ext cx="6099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THRESHOLDING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26B0B-F79D-7D06-3DE3-C9025EEF3013}"/>
              </a:ext>
            </a:extLst>
          </p:cNvPr>
          <p:cNvSpPr txBox="1"/>
          <p:nvPr/>
        </p:nvSpPr>
        <p:spPr>
          <a:xfrm>
            <a:off x="-3462" y="461665"/>
            <a:ext cx="12195462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Local &amp; Global Thresholding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Thresholding: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threshold is applied to the entire image.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(Adaptive) Thresholding: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varies across the image based on local intensity variations (useful for uneven lighting).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9B25A-0C8C-EDAE-A3F6-A951BA8F8142}"/>
              </a:ext>
            </a:extLst>
          </p:cNvPr>
          <p:cNvSpPr txBox="1"/>
          <p:nvPr/>
        </p:nvSpPr>
        <p:spPr>
          <a:xfrm>
            <a:off x="0" y="1803458"/>
            <a:ext cx="12192000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Optimum Thresholding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statistical methods (e.g., Bayesian decision theory) to minimize classification errors.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probability distributions of object and background intensities.</a:t>
            </a:r>
          </a:p>
        </p:txBody>
      </p:sp>
    </p:spTree>
    <p:extLst>
      <p:ext uri="{BB962C8B-B14F-4D97-AF65-F5344CB8AC3E}">
        <p14:creationId xmlns:p14="http://schemas.microsoft.com/office/powerpoint/2010/main" val="1106885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F36A-BDAD-4459-A78B-C978848E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7814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REGION DESCRIPTION &amp; REPRESENTATION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DEBA-93BB-425C-ADE3-F6C80521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73" y="884720"/>
            <a:ext cx="12138992" cy="59732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Representation: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steps comes after the image segmentation.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turns the image into raw data and pixels deposited along the boundary or region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Representation is a naming process in simple word.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Representation 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Recognition: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Robotics: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Biometrics: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Segmentation:</a:t>
            </a:r>
          </a:p>
          <a:p>
            <a:pPr marL="0" indent="0" algn="just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14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DEBA-93BB-425C-ADE3-F6C80521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46810"/>
            <a:ext cx="7980218" cy="206779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Codes/Crack Codes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Polygon Approximation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Numbers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Descriptors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EA6B20-865F-42FB-ADC3-C5C635524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37"/>
            <a:ext cx="10515600" cy="524964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OF REPRESENTATION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DC7EA-529F-4E28-A65F-78D6901F0FEF}"/>
              </a:ext>
            </a:extLst>
          </p:cNvPr>
          <p:cNvSpPr txBox="1"/>
          <p:nvPr/>
        </p:nvSpPr>
        <p:spPr>
          <a:xfrm>
            <a:off x="139440" y="3894353"/>
            <a:ext cx="100696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code is a method of describing the shape of the boundary of an object in an image.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denoted by either a 4-connected neighbourhood or  8-connected neighbourhood 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56B30B-38C4-40A6-935B-69E8C7370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334" y="4707260"/>
            <a:ext cx="7629994" cy="2104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503B63-C2F3-E0E1-60E1-9673411EB705}"/>
              </a:ext>
            </a:extLst>
          </p:cNvPr>
          <p:cNvSpPr txBox="1"/>
          <p:nvPr/>
        </p:nvSpPr>
        <p:spPr>
          <a:xfrm>
            <a:off x="139440" y="2871478"/>
            <a:ext cx="11384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Code: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edges between pixels rather than the pixels themselves.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94E74-E874-74F5-7AEB-D9C546F68E25}"/>
              </a:ext>
            </a:extLst>
          </p:cNvPr>
          <p:cNvSpPr txBox="1"/>
          <p:nvPr/>
        </p:nvSpPr>
        <p:spPr>
          <a:xfrm>
            <a:off x="139440" y="3438164"/>
            <a:ext cx="1826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Codes: </a:t>
            </a:r>
            <a:endParaRPr lang="en-GB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763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81E6F-4F3A-4FDE-B211-EA5F22D44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2191999" cy="60617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 </a:t>
            </a: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CHAIN CODES AND ITS REMEDY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:</a:t>
            </a:r>
          </a:p>
          <a:p>
            <a:pPr marL="514350" indent="-514350" algn="just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change starting point the whole CC changes</a:t>
            </a:r>
          </a:p>
          <a:p>
            <a:pPr marL="514350" indent="-514350" algn="just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we use reflex image then also the whole CC Changes </a:t>
            </a:r>
          </a:p>
          <a:p>
            <a:pPr marL="514350" indent="-514350" algn="just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we rotate the image then also the whole CC changes </a:t>
            </a:r>
          </a:p>
          <a:p>
            <a:pPr marL="0" indent="0" algn="just">
              <a:buNone/>
            </a:pPr>
            <a:r>
              <a:rPr lang="en-GB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cc</a:t>
            </a: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Finding the Circular First Difference [CFD]</a:t>
            </a: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Finally finding Normalize CC from CFD.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757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3D5C65-9339-405D-BBE1-3ACA5480D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035" y="340921"/>
            <a:ext cx="8224456" cy="1705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53C99E-2FCB-40BC-9459-0A5F6BC7C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035" y="2509709"/>
            <a:ext cx="8224456" cy="1838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3D6A9D-3854-4F61-B729-4926F1DDE7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844" y="4774643"/>
            <a:ext cx="822445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77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PT - Techniques for Object Boundary Representation in Digital Image  Processing PowerPoint Presentation - ID:9648616">
            <a:extLst>
              <a:ext uri="{FF2B5EF4-FFF2-40B4-BE49-F238E27FC236}">
                <a16:creationId xmlns:a16="http://schemas.microsoft.com/office/drawing/2014/main" id="{B60C1F0E-A560-A997-960D-2992B16AF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6"/>
          <a:stretch>
            <a:fillRect/>
          </a:stretch>
        </p:blipFill>
        <p:spPr bwMode="auto">
          <a:xfrm>
            <a:off x="1524000" y="0"/>
            <a:ext cx="9144000" cy="654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387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1B66-BFC2-8E40-9F8F-81F8431D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D972B5-75B9-6766-59E5-E20D22DE2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48" y="1182997"/>
            <a:ext cx="4395932" cy="4387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BEDC23-D2A8-E787-0D22-1B6FE0A2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383" y="1287607"/>
            <a:ext cx="4282786" cy="4282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ABE00A-94A7-56AE-015B-78C8A58FBF1C}"/>
              </a:ext>
            </a:extLst>
          </p:cNvPr>
          <p:cNvSpPr txBox="1"/>
          <p:nvPr/>
        </p:nvSpPr>
        <p:spPr>
          <a:xfrm>
            <a:off x="3299114" y="0"/>
            <a:ext cx="6099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POLYGON APPROXIMATION 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4E137-25C4-4A06-3487-3C8E1F9F1DA1}"/>
              </a:ext>
            </a:extLst>
          </p:cNvPr>
          <p:cNvSpPr txBox="1"/>
          <p:nvPr/>
        </p:nvSpPr>
        <p:spPr>
          <a:xfrm>
            <a:off x="3221182" y="6078682"/>
            <a:ext cx="92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1B691-1CFF-AE25-A1B8-080C08BF1113}"/>
              </a:ext>
            </a:extLst>
          </p:cNvPr>
          <p:cNvSpPr txBox="1"/>
          <p:nvPr/>
        </p:nvSpPr>
        <p:spPr>
          <a:xfrm>
            <a:off x="8473785" y="5902037"/>
            <a:ext cx="934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b</a:t>
            </a:r>
          </a:p>
        </p:txBody>
      </p:sp>
    </p:spTree>
    <p:extLst>
      <p:ext uri="{BB962C8B-B14F-4D97-AF65-F5344CB8AC3E}">
        <p14:creationId xmlns:p14="http://schemas.microsoft.com/office/powerpoint/2010/main" val="429968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9F9B-D870-7107-C303-0C80670B8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22D480-C976-9A74-E97D-4F65AEC73DE9}"/>
              </a:ext>
            </a:extLst>
          </p:cNvPr>
          <p:cNvSpPr txBox="1"/>
          <p:nvPr/>
        </p:nvSpPr>
        <p:spPr>
          <a:xfrm>
            <a:off x="4461811" y="0"/>
            <a:ext cx="3637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Minimum Perimeter Polygon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DFB9E-7607-27A4-8665-7C2313673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1763"/>
            <a:ext cx="3892213" cy="4187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F1D7AE-071A-AAEF-0775-185A99588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270" y="1641763"/>
            <a:ext cx="4198657" cy="417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388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BEF40-6A00-F621-BC72-902C122E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D324FA-A144-E535-3B7A-6DC437F1A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40" y="2130138"/>
            <a:ext cx="3724689" cy="37926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F05F43-7C5E-AE64-4E97-A85052E5E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441" y="2130137"/>
            <a:ext cx="3924068" cy="38239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0098BE-C3A7-BA86-A7A5-951BA62639EB}"/>
              </a:ext>
            </a:extLst>
          </p:cNvPr>
          <p:cNvSpPr txBox="1"/>
          <p:nvPr/>
        </p:nvSpPr>
        <p:spPr>
          <a:xfrm>
            <a:off x="4657080" y="0"/>
            <a:ext cx="4021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Perimeter Polygon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399EB1-6DD3-CD2E-6781-66C32C609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325" y="2130137"/>
            <a:ext cx="3766435" cy="379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241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A15C-15DA-E48C-D0A6-94BCAA36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FEF937-4FB1-5522-CF12-2417DAD98B50}"/>
              </a:ext>
            </a:extLst>
          </p:cNvPr>
          <p:cNvSpPr txBox="1"/>
          <p:nvPr/>
        </p:nvSpPr>
        <p:spPr>
          <a:xfrm>
            <a:off x="4890879" y="-31171"/>
            <a:ext cx="274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Technique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E1895-B9BD-FBF5-F80E-53A011E3A387}"/>
              </a:ext>
            </a:extLst>
          </p:cNvPr>
          <p:cNvSpPr txBox="1"/>
          <p:nvPr/>
        </p:nvSpPr>
        <p:spPr>
          <a:xfrm>
            <a:off x="0" y="715364"/>
            <a:ext cx="348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by plotting Perpendicular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B6274F-DD64-8DE0-F9D9-EDD4FB4C5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22" y="2275609"/>
            <a:ext cx="4750283" cy="3539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288B7E-42A6-F82D-D5C6-CD862084F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109" y="2098964"/>
            <a:ext cx="5197367" cy="387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42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F65DA-D727-540D-284B-292F22980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B9AC0E-7A4A-D134-ACC3-06B32CB4EDA4}"/>
              </a:ext>
            </a:extLst>
          </p:cNvPr>
          <p:cNvSpPr txBox="1"/>
          <p:nvPr/>
        </p:nvSpPr>
        <p:spPr>
          <a:xfrm>
            <a:off x="4395908" y="35336"/>
            <a:ext cx="3170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Technique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550D80-C842-97F6-8FCA-9DFEDBB6E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1159150"/>
            <a:ext cx="6014605" cy="433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42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FB84-1E9C-A6C2-67AB-6138D509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531A6-ECAB-9E08-950F-533A5E94BA5C}"/>
              </a:ext>
            </a:extLst>
          </p:cNvPr>
          <p:cNvSpPr txBox="1"/>
          <p:nvPr/>
        </p:nvSpPr>
        <p:spPr>
          <a:xfrm>
            <a:off x="4890058" y="0"/>
            <a:ext cx="304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Merging Technique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230A7-D56B-2E15-D898-8F448026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6995"/>
            <a:ext cx="5383068" cy="4206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FC6B63-0F86-D69B-529B-B2B714E63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932" y="1539564"/>
            <a:ext cx="5383068" cy="41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698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B9E8F-D13F-6B61-67A8-4605F185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01B638-E8CB-980C-7EFE-BDF3A7BBD656}"/>
              </a:ext>
            </a:extLst>
          </p:cNvPr>
          <p:cNvSpPr txBox="1"/>
          <p:nvPr/>
        </p:nvSpPr>
        <p:spPr>
          <a:xfrm>
            <a:off x="5289366" y="0"/>
            <a:ext cx="2739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Merging Technique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801E64-9D98-3F1F-A0CE-02D12C5A2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1458"/>
            <a:ext cx="5476636" cy="40919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872752-391F-BD68-6040-1B6907144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572" y="1495811"/>
            <a:ext cx="5912427" cy="436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51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5AD3C2-9408-4AA7-B5DD-8716D9C565E7}"/>
              </a:ext>
            </a:extLst>
          </p:cNvPr>
          <p:cNvSpPr txBox="1"/>
          <p:nvPr/>
        </p:nvSpPr>
        <p:spPr>
          <a:xfrm>
            <a:off x="-54797" y="658838"/>
            <a:ext cx="105065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1‐D functional representation of a 2-D closed curved boundary of an object.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is  a plot of distance from the centroid to the boundary as function of angle.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CCC96-D64A-4607-9122-1BC8EB434E58}"/>
              </a:ext>
            </a:extLst>
          </p:cNvPr>
          <p:cNvSpPr txBox="1"/>
          <p:nvPr/>
        </p:nvSpPr>
        <p:spPr>
          <a:xfrm>
            <a:off x="304800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5E673D-5986-4389-AF2B-4D8BBAE08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47" y="1557156"/>
            <a:ext cx="8666922" cy="464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21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5AD3C2-9408-4AA7-B5DD-8716D9C565E7}"/>
              </a:ext>
            </a:extLst>
          </p:cNvPr>
          <p:cNvSpPr txBox="1"/>
          <p:nvPr/>
        </p:nvSpPr>
        <p:spPr>
          <a:xfrm>
            <a:off x="4308764" y="0"/>
            <a:ext cx="4132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 objects Signature's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C68409-C9B2-4D58-8D4C-C95AC1B43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935" y="778133"/>
            <a:ext cx="5721928" cy="53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98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5AD3C2-9408-4AA7-B5DD-8716D9C565E7}"/>
              </a:ext>
            </a:extLst>
          </p:cNvPr>
          <p:cNvSpPr txBox="1"/>
          <p:nvPr/>
        </p:nvSpPr>
        <p:spPr>
          <a:xfrm>
            <a:off x="3408218" y="16048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difference circular chain code.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CCC96-D64A-4607-9122-1BC8EB434E58}"/>
              </a:ext>
            </a:extLst>
          </p:cNvPr>
          <p:cNvSpPr txBox="1"/>
          <p:nvPr/>
        </p:nvSpPr>
        <p:spPr>
          <a:xfrm>
            <a:off x="3048000" y="-3019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DESCRIPTORS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B5AAB-7F8E-4E16-B66F-D64A3F9F31DE}"/>
              </a:ext>
            </a:extLst>
          </p:cNvPr>
          <p:cNvSpPr txBox="1"/>
          <p:nvPr/>
        </p:nvSpPr>
        <p:spPr>
          <a:xfrm>
            <a:off x="0" y="121118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Boundary Descriptors:</a:t>
            </a:r>
          </a:p>
          <a:p>
            <a:pPr marL="457200" indent="-457200">
              <a:buAutoNum type="arabicPeriod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Numbers</a:t>
            </a:r>
          </a:p>
          <a:p>
            <a:pPr marL="457200" indent="-457200">
              <a:buAutoNum type="arabicPeriod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Fourier Descriptors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8F170-0358-41A2-9270-7CF3EB79C290}"/>
              </a:ext>
            </a:extLst>
          </p:cNvPr>
          <p:cNvSpPr txBox="1"/>
          <p:nvPr/>
        </p:nvSpPr>
        <p:spPr>
          <a:xfrm>
            <a:off x="3408218" y="20158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Transformation of Complex Coefficient  values.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043D05-E0F0-F7DD-634E-83C811EC9441}"/>
              </a:ext>
            </a:extLst>
          </p:cNvPr>
          <p:cNvSpPr txBox="1"/>
          <p:nvPr/>
        </p:nvSpPr>
        <p:spPr>
          <a:xfrm>
            <a:off x="0" y="56485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features or characteristics that are extracted from an image to represent its content in a more manageable and meaningful way.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3129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igital Image Processing - ppt video online download">
            <a:extLst>
              <a:ext uri="{FF2B5EF4-FFF2-40B4-BE49-F238E27FC236}">
                <a16:creationId xmlns:a16="http://schemas.microsoft.com/office/drawing/2014/main" id="{0B86C658-9237-4DB0-A8D4-483AD7B3D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9"/>
          <a:stretch/>
        </p:blipFill>
        <p:spPr bwMode="auto">
          <a:xfrm>
            <a:off x="1319134" y="185531"/>
            <a:ext cx="9553731" cy="605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4492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0D7276-7BCF-4664-829B-C1D883B6D7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75"/>
          <a:stretch/>
        </p:blipFill>
        <p:spPr>
          <a:xfrm>
            <a:off x="6776681" y="242638"/>
            <a:ext cx="3944328" cy="39998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008754" y="-216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Descriptors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A9F19A-FC61-9E98-4BA8-5B28CF23A2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01" b="27327"/>
          <a:stretch/>
        </p:blipFill>
        <p:spPr>
          <a:xfrm>
            <a:off x="119269" y="3429000"/>
            <a:ext cx="5555673" cy="29068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543F3D-AF27-A000-512D-336ABE8C7361}"/>
              </a:ext>
            </a:extLst>
          </p:cNvPr>
          <p:cNvSpPr txBox="1"/>
          <p:nvPr/>
        </p:nvSpPr>
        <p:spPr>
          <a:xfrm>
            <a:off x="3841927" y="3745253"/>
            <a:ext cx="3944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For all points in Given Image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C74E5-8422-C80F-48EA-6D8F9C038661}"/>
              </a:ext>
            </a:extLst>
          </p:cNvPr>
          <p:cNvSpPr txBox="1"/>
          <p:nvPr/>
        </p:nvSpPr>
        <p:spPr>
          <a:xfrm>
            <a:off x="5416526" y="4275927"/>
            <a:ext cx="66562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DFT, Where a(u) is a complex coefficient which is called Fourier descriptors</a:t>
            </a:r>
            <a:endParaRPr lang="en-IN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062109-3C68-1D29-ACFA-CEF90368F429}"/>
              </a:ext>
            </a:extLst>
          </p:cNvPr>
          <p:cNvSpPr txBox="1"/>
          <p:nvPr/>
        </p:nvSpPr>
        <p:spPr>
          <a:xfrm>
            <a:off x="5759275" y="5548171"/>
            <a:ext cx="5555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IDFT to restore complex coefficient of s(k)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308458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3150184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Descriptors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BCE5A-84E5-4CAA-A2FD-BB1613A655A2}"/>
              </a:ext>
            </a:extLst>
          </p:cNvPr>
          <p:cNvSpPr txBox="1"/>
          <p:nvPr/>
        </p:nvSpPr>
        <p:spPr>
          <a:xfrm>
            <a:off x="1121500" y="3442207"/>
            <a:ext cx="74537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P is preceding equation for a(u)</a:t>
            </a:r>
          </a:p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=Approximation to S(k)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47AE6-EEE4-4983-BBE8-1202E1E0D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918" y="3803562"/>
            <a:ext cx="687614" cy="40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20C4C4-DC0F-D1ED-6191-588D0BA6C1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85" r="43201"/>
          <a:stretch/>
        </p:blipFill>
        <p:spPr>
          <a:xfrm>
            <a:off x="642511" y="1445383"/>
            <a:ext cx="5555673" cy="11725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3D8FFE-6918-14EF-7640-1AE692A788CE}"/>
              </a:ext>
            </a:extLst>
          </p:cNvPr>
          <p:cNvSpPr txBox="1"/>
          <p:nvPr/>
        </p:nvSpPr>
        <p:spPr>
          <a:xfrm>
            <a:off x="6546574" y="1694607"/>
            <a:ext cx="5555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all a(u) just first p coefficient are used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used to represent the boundary of image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u&gt;p-1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60F6A-F747-7ABC-2460-8849882BA5E4}"/>
              </a:ext>
            </a:extLst>
          </p:cNvPr>
          <p:cNvSpPr txBox="1"/>
          <p:nvPr/>
        </p:nvSpPr>
        <p:spPr>
          <a:xfrm>
            <a:off x="929967" y="4728142"/>
            <a:ext cx="5471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represent the boundary with minimal points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133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1BC1D6-4717-4A8E-9EC0-931BBB264821}"/>
              </a:ext>
            </a:extLst>
          </p:cNvPr>
          <p:cNvSpPr txBox="1"/>
          <p:nvPr/>
        </p:nvSpPr>
        <p:spPr>
          <a:xfrm>
            <a:off x="2790185" y="62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DESCRIPTORS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7A844-11AC-9EEB-8723-06E8474D7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25" y="578519"/>
            <a:ext cx="9123519" cy="570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499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1C75-A8BA-9FB8-00D9-8711002B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8311EB-67CF-A8D8-271E-A0EEEFE697EC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Unit 6</a:t>
            </a:r>
            <a:endParaRPr lang="en-US" alt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7900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2088</Words>
  <Application>Microsoft Macintosh PowerPoint</Application>
  <PresentationFormat>Widescreen</PresentationFormat>
  <Paragraphs>424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Calibri</vt:lpstr>
      <vt:lpstr>Calibri Light</vt:lpstr>
      <vt:lpstr>Nunito</vt:lpstr>
      <vt:lpstr>Times New Roman</vt:lpstr>
      <vt:lpstr>TimesNewRomanPS-BoldMT</vt:lpstr>
      <vt:lpstr>Wingdings</vt:lpstr>
      <vt:lpstr>Office Theme</vt:lpstr>
      <vt:lpstr>PowerPoint Presentation</vt:lpstr>
      <vt:lpstr>OUTLINES</vt:lpstr>
      <vt:lpstr>INTRODUCTION TO IMAGE ANALYSIS</vt:lpstr>
      <vt:lpstr>INTRODUCTION TO IMAGE ANALYSIS</vt:lpstr>
      <vt:lpstr>Feature Extraction &amp; Types of Features, Detection of Discontinuities</vt:lpstr>
      <vt:lpstr>Techniques of Feature Extraction</vt:lpstr>
      <vt:lpstr>Techniques of Feature Extraction</vt:lpstr>
      <vt:lpstr>Techniques of Feature Extraction</vt:lpstr>
      <vt:lpstr>PowerPoint Presentation</vt:lpstr>
      <vt:lpstr>PowerPoint Presentation</vt:lpstr>
      <vt:lpstr>INTRODUCTION TO IMAGE SEGMENTATION</vt:lpstr>
      <vt:lpstr>Introduction to Image Segmentation</vt:lpstr>
      <vt:lpstr>Image Segmentation Based on Similarity Properties</vt:lpstr>
      <vt:lpstr>Image Segmentation Based on Region</vt:lpstr>
      <vt:lpstr>Image Segmentation Based on Region</vt:lpstr>
      <vt:lpstr>Image Segmentation Based on Region Splitting and Merging</vt:lpstr>
      <vt:lpstr>Image Segmentation Based on Dissimilar Properties</vt:lpstr>
      <vt:lpstr>Image Segmentation Based on Dissimilar Properties</vt:lpstr>
      <vt:lpstr>Prewitt operator</vt:lpstr>
      <vt:lpstr>The Sobel operator</vt:lpstr>
      <vt:lpstr>Robert Operator</vt:lpstr>
      <vt:lpstr>II. Template Matching</vt:lpstr>
      <vt:lpstr>III.COMPASS OPERATOR</vt:lpstr>
      <vt:lpstr>III.COMPASS OPERATOR</vt:lpstr>
      <vt:lpstr>Line/Curve and Spot/Point Detection</vt:lpstr>
      <vt:lpstr>PowerPoint Presentation</vt:lpstr>
      <vt:lpstr>PowerPoint Presentation</vt:lpstr>
      <vt:lpstr>REGION DESCRIPTION &amp; REPRESENTATION</vt:lpstr>
      <vt:lpstr>METHODS OF REPRESENTATION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195</cp:revision>
  <dcterms:created xsi:type="dcterms:W3CDTF">2024-09-07T15:35:53Z</dcterms:created>
  <dcterms:modified xsi:type="dcterms:W3CDTF">2025-07-05T11:01:58Z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