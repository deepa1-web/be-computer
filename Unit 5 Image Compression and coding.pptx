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66" r:id="rId5"/>
    <p:sldId id="280" r:id="rId6"/>
    <p:sldId id="281" r:id="rId7"/>
    <p:sldId id="267" r:id="rId8"/>
    <p:sldId id="258" r:id="rId9"/>
    <p:sldId id="268" r:id="rId10"/>
    <p:sldId id="269" r:id="rId11"/>
    <p:sldId id="275" r:id="rId12"/>
    <p:sldId id="270" r:id="rId13"/>
    <p:sldId id="271" r:id="rId14"/>
    <p:sldId id="276" r:id="rId15"/>
    <p:sldId id="272" r:id="rId16"/>
    <p:sldId id="273" r:id="rId17"/>
    <p:sldId id="274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94"/>
  </p:normalViewPr>
  <p:slideViewPr>
    <p:cSldViewPr snapToGrid="0">
      <p:cViewPr>
        <p:scale>
          <a:sx n="120" d="100"/>
          <a:sy n="120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0407-A62C-4F9F-81B0-AD88C14A10BA}" type="datetimeFigureOut">
              <a:rPr lang="en-IN" smtClean="0"/>
              <a:t>21/06/25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427" y="84275"/>
            <a:ext cx="11908465" cy="157916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5</a:t>
            </a:r>
            <a:b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 and Coding</a:t>
            </a: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38804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r>
              <a:rPr lang="en-GB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EF10D-2FE9-3352-F6C0-A0891A8B4AC9}"/>
              </a:ext>
            </a:extLst>
          </p:cNvPr>
          <p:cNvSpPr txBox="1"/>
          <p:nvPr/>
        </p:nvSpPr>
        <p:spPr>
          <a:xfrm>
            <a:off x="10205545" y="223870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Hours:</a:t>
            </a: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 hrs]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sz="6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41116-E8E8-CE2A-B3D6-F9CA3B06C594}"/>
              </a:ext>
            </a:extLst>
          </p:cNvPr>
          <p:cNvSpPr txBox="1"/>
          <p:nvPr/>
        </p:nvSpPr>
        <p:spPr>
          <a:xfrm>
            <a:off x="0" y="1690687"/>
            <a:ext cx="91466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5.1 Need of Compression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5.2 Lossy &amp; Lossless Compression, Issues of Compression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5.3 A generic model of compression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5.4 Element of Information Theory (Self Information, Entropy)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5.5 Data Redundancy, Coding Redundancy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5.6 Types of compression techniques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5.6.1 Entropy Encoding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5.6.1.1 Run Length Encoding (Interpixel Redundancy)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5.6.1.2 Huffman Encoding (Coding Redundancy)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5.6.1.3 LZW coding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5.6.2 Transform Coding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5.6.2.3 Predictive Coding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Image Compression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B37F1-5806-27CD-6949-312CCC7E3C0B}"/>
              </a:ext>
            </a:extLst>
          </p:cNvPr>
          <p:cNvSpPr txBox="1"/>
          <p:nvPr/>
        </p:nvSpPr>
        <p:spPr>
          <a:xfrm>
            <a:off x="0" y="928468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reducing the size of an image file while retaining as much visual quality as possible.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important for efficient storage, transmission, and processing of images.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types of image compression: lossless and lossy.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DE9C0-2937-9762-B070-B5B7BF9F3083}"/>
              </a:ext>
            </a:extLst>
          </p:cNvPr>
          <p:cNvSpPr txBox="1"/>
          <p:nvPr/>
        </p:nvSpPr>
        <p:spPr>
          <a:xfrm>
            <a:off x="464663" y="4666106"/>
            <a:ext cx="60141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Image Compression: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Conferencing: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imagery: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Photography: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1891F-7241-ADB8-023C-9069BD401CCC}"/>
              </a:ext>
            </a:extLst>
          </p:cNvPr>
          <p:cNvSpPr txBox="1"/>
          <p:nvPr/>
        </p:nvSpPr>
        <p:spPr>
          <a:xfrm>
            <a:off x="3049172" y="29567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i="0" dirty="0">
                <a:solidFill>
                  <a:srgbClr val="D1D5DB"/>
                </a:solidFill>
                <a:effectLst/>
                <a:latin typeface="Söhne"/>
              </a:rPr>
            </a:b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F1F11-91BE-D3D1-B646-1CF0D2650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3" y="2239222"/>
            <a:ext cx="10765302" cy="203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E1891F-7241-ADB8-023C-9069BD401CCC}"/>
              </a:ext>
            </a:extLst>
          </p:cNvPr>
          <p:cNvSpPr txBox="1"/>
          <p:nvPr/>
        </p:nvSpPr>
        <p:spPr>
          <a:xfrm>
            <a:off x="3049172" y="29567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i="0" dirty="0">
                <a:solidFill>
                  <a:srgbClr val="D1D5DB"/>
                </a:solidFill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F3874-5C22-CA63-A5C1-3894A05C3A52}"/>
              </a:ext>
            </a:extLst>
          </p:cNvPr>
          <p:cNvSpPr txBox="1"/>
          <p:nvPr/>
        </p:nvSpPr>
        <p:spPr>
          <a:xfrm>
            <a:off x="0" y="653297"/>
            <a:ext cx="115363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Storage Efficiency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Transmission Speed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Cost Reduction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Performance Improvement</a:t>
            </a:r>
          </a:p>
          <a:p>
            <a:pPr algn="l">
              <a:buNone/>
            </a:pP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Compatibility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C922E-9FC0-BAFE-FBA7-C397C7BC39CB}"/>
              </a:ext>
            </a:extLst>
          </p:cNvPr>
          <p:cNvSpPr txBox="1"/>
          <p:nvPr/>
        </p:nvSpPr>
        <p:spPr>
          <a:xfrm>
            <a:off x="2485361" y="130077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of Image Compression 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6B156-E029-0C0A-4A33-376F3E52DF27}"/>
              </a:ext>
            </a:extLst>
          </p:cNvPr>
          <p:cNvSpPr txBox="1"/>
          <p:nvPr/>
        </p:nvSpPr>
        <p:spPr>
          <a:xfrm>
            <a:off x="0" y="2770703"/>
            <a:ext cx="121388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Loss of Quality (in Lossy Compression)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Complexity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Trade-Off Between Quality and Compression Ratio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Standard Compatibility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Error Sensitivity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14882-D7B7-88BC-F808-91461F5E271D}"/>
              </a:ext>
            </a:extLst>
          </p:cNvPr>
          <p:cNvSpPr txBox="1"/>
          <p:nvPr/>
        </p:nvSpPr>
        <p:spPr>
          <a:xfrm>
            <a:off x="2485361" y="2069070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Issues in Image Compression </a:t>
            </a:r>
            <a:endParaRPr lang="en-US" sz="3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12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EB9A-9359-000A-DF2A-1A24804F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44FD92-9320-23FD-25D8-8A2ECAEF0C42}"/>
              </a:ext>
            </a:extLst>
          </p:cNvPr>
          <p:cNvSpPr txBox="1"/>
          <p:nvPr/>
        </p:nvSpPr>
        <p:spPr>
          <a:xfrm>
            <a:off x="3049172" y="29567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i="0" dirty="0">
                <a:solidFill>
                  <a:srgbClr val="D1D5DB"/>
                </a:solidFill>
                <a:effectLst/>
                <a:latin typeface="Söhne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4D62F-B606-9DD5-20E7-393823429B00}"/>
              </a:ext>
            </a:extLst>
          </p:cNvPr>
          <p:cNvSpPr txBox="1"/>
          <p:nvPr/>
        </p:nvSpPr>
        <p:spPr>
          <a:xfrm>
            <a:off x="0" y="130077"/>
            <a:ext cx="120679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of Information Theory (Self Information, Entropy)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201BD-C691-9362-FD54-2C9AB628EE98}"/>
              </a:ext>
            </a:extLst>
          </p:cNvPr>
          <p:cNvSpPr txBox="1"/>
          <p:nvPr/>
        </p:nvSpPr>
        <p:spPr>
          <a:xfrm>
            <a:off x="0" y="714852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founded by Claude Shannon, provides the mathematical foundation for data compression. 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Self Information (Surprisal)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Self-information quantifies the amount of information (or surprise) associated with an event occurring. 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 symbol (like a pixel value) with probability p(x), the self-information is: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I(x) = −log2​(p(x))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 Interpretation in Image Compression: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Rare pixel values (low probability) contain more information (are more surprising).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pixel values (high probability) carry less information.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 Example: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pixel value appears with probability 1/2, its self-information is: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I(x) = −log2(1/2) = 1 bit </a:t>
            </a:r>
          </a:p>
          <a:p>
            <a:endParaRPr lang="en-GB" dirty="0"/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another pixel value appears with probability 1/8: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I(x)= −log2(1/8) =3 bits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rarer values need more bits to encode.</a:t>
            </a:r>
          </a:p>
        </p:txBody>
      </p:sp>
    </p:spTree>
    <p:extLst>
      <p:ext uri="{BB962C8B-B14F-4D97-AF65-F5344CB8AC3E}">
        <p14:creationId xmlns:p14="http://schemas.microsoft.com/office/powerpoint/2010/main" val="694876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AEF11-6BC5-D00B-F13A-205A1C78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1007D4-91D2-D423-A30F-BAFB88930042}"/>
              </a:ext>
            </a:extLst>
          </p:cNvPr>
          <p:cNvSpPr txBox="1"/>
          <p:nvPr/>
        </p:nvSpPr>
        <p:spPr>
          <a:xfrm>
            <a:off x="3049172" y="29567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i="0" dirty="0">
                <a:solidFill>
                  <a:srgbClr val="D1D5DB"/>
                </a:solidFill>
                <a:effectLst/>
                <a:latin typeface="Söhne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C3E3A-1D38-227D-D5E6-F08933BB09BE}"/>
              </a:ext>
            </a:extLst>
          </p:cNvPr>
          <p:cNvSpPr txBox="1"/>
          <p:nvPr/>
        </p:nvSpPr>
        <p:spPr>
          <a:xfrm>
            <a:off x="0" y="130077"/>
            <a:ext cx="120679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of Information Theory (Self Information, Entropy)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2A9696-5480-6E90-6A40-07DFF3FA275F}"/>
              </a:ext>
            </a:extLst>
          </p:cNvPr>
          <p:cNvSpPr txBox="1"/>
          <p:nvPr/>
        </p:nvSpPr>
        <p:spPr>
          <a:xfrm>
            <a:off x="0" y="871870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Entropy (Average Information)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Entropy is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self-information of all possible symbols (pixel values) in the image. 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bound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the number of bits needed per symbol (on average) for optimal lossless encoding.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p(xi): probability of symbol xi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H(X): entropy of the source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in Image Compression: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entropy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means the image is more compressible.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entropy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means the image is more complex and harder to compress.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Entropy helps determine how much redundancy is in the image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7306A1-AD74-E327-7924-7BEFB9B0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521" y="1893029"/>
            <a:ext cx="36576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1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Redundancies in Image Compression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ACF0D-B7EA-26D9-C5CF-28A54048A462}"/>
              </a:ext>
            </a:extLst>
          </p:cNvPr>
          <p:cNvSpPr txBox="1"/>
          <p:nvPr/>
        </p:nvSpPr>
        <p:spPr>
          <a:xfrm>
            <a:off x="-48322" y="928468"/>
            <a:ext cx="122886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Redundancy/Inter-Pixel Redundancy/Intraframe Coding: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similarities or patterns in pixel values within the same image.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techniques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are  Run-Length Encoding (RLE) or predictive coding.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Redundancy/Interframe Coding(in Video Compression):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consecutive frames in a video sequence share similarities.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Technique: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inter-frame prediction and motion compensation.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Redundancy: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arises when there are correlations among Color components in an image.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Technique: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space transformations and chroma subsampling(Less resolution Technique)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Psychovisual Redundancy: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limitations of the human visual system.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Technique: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JPEG compression.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Redundancy: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to the probability distribution of pixel values in an image.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Technique: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Redundancy: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arises when there are correlations in the spatial domain that can be better represented in a transformed domain.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Technique: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JPEG compression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57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E1891F-7241-ADB8-023C-9069BD401CCC}"/>
              </a:ext>
            </a:extLst>
          </p:cNvPr>
          <p:cNvSpPr txBox="1"/>
          <p:nvPr/>
        </p:nvSpPr>
        <p:spPr>
          <a:xfrm>
            <a:off x="3049172" y="29567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i="0" dirty="0">
                <a:solidFill>
                  <a:srgbClr val="D1D5DB"/>
                </a:solidFill>
                <a:effectLst/>
                <a:latin typeface="Söhne"/>
              </a:rPr>
            </a:b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F04C48-DEB3-34C3-35A4-A6090854C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240" y="1425059"/>
            <a:ext cx="9692640" cy="21780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9A78BE-8F16-03DD-2AA7-A1AF46AAA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662" y="3603115"/>
            <a:ext cx="9101797" cy="24196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D0BDCA-6598-B29F-8470-FA2D16CA7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Model of Image Compression</a:t>
            </a:r>
          </a:p>
        </p:txBody>
      </p:sp>
    </p:spTree>
    <p:extLst>
      <p:ext uri="{BB962C8B-B14F-4D97-AF65-F5344CB8AC3E}">
        <p14:creationId xmlns:p14="http://schemas.microsoft.com/office/powerpoint/2010/main" val="4280253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Compression Techniques with LZW method">
            <a:extLst>
              <a:ext uri="{FF2B5EF4-FFF2-40B4-BE49-F238E27FC236}">
                <a16:creationId xmlns:a16="http://schemas.microsoft.com/office/drawing/2014/main" id="{FE14E2FE-CB62-D7BF-3DC7-F9EFFB2DB9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13"/>
          <a:stretch/>
        </p:blipFill>
        <p:spPr bwMode="auto">
          <a:xfrm>
            <a:off x="872197" y="939018"/>
            <a:ext cx="10170942" cy="497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580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E6F2-1A49-5357-9DEF-0B03B52F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5976"/>
            <a:ext cx="11160185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Lossless Predictive Coding /Lossless Compression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DB6F9A-95D9-FDE0-7FA8-71BABA4D9A5E}"/>
              </a:ext>
            </a:extLst>
          </p:cNvPr>
          <p:cNvGrpSpPr/>
          <p:nvPr/>
        </p:nvGrpSpPr>
        <p:grpSpPr>
          <a:xfrm>
            <a:off x="193614" y="1392704"/>
            <a:ext cx="11804771" cy="5143500"/>
            <a:chOff x="387229" y="928468"/>
            <a:chExt cx="11804771" cy="5143500"/>
          </a:xfrm>
        </p:grpSpPr>
        <p:pic>
          <p:nvPicPr>
            <p:cNvPr id="4098" name="Picture 2" descr="Lossless predictive coding model: a Encoder; b Decoder | Download  Scientific Diagram">
              <a:extLst>
                <a:ext uri="{FF2B5EF4-FFF2-40B4-BE49-F238E27FC236}">
                  <a16:creationId xmlns:a16="http://schemas.microsoft.com/office/drawing/2014/main" id="{08AE4D89-B4F1-213C-4C90-E721D98E35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5340" y="928468"/>
              <a:ext cx="7686968" cy="5143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AEB6524-6F03-25AB-8382-A25115075423}"/>
                </a:ext>
              </a:extLst>
            </p:cNvPr>
            <p:cNvSpPr/>
            <p:nvPr/>
          </p:nvSpPr>
          <p:spPr>
            <a:xfrm>
              <a:off x="8792308" y="1005132"/>
              <a:ext cx="1436222" cy="8024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Symbol Encoder</a:t>
              </a:r>
              <a:endParaRPr lang="en-IN" b="1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C5BDD64-0767-E91B-816C-6C4F22FE6B16}"/>
                </a:ext>
              </a:extLst>
            </p:cNvPr>
            <p:cNvCxnSpPr>
              <a:cxnSpLocks/>
            </p:cNvCxnSpPr>
            <p:nvPr/>
          </p:nvCxnSpPr>
          <p:spPr>
            <a:xfrm>
              <a:off x="10228530" y="1406378"/>
              <a:ext cx="565138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EF2B76-2F98-846B-622B-16B844297A7F}"/>
                </a:ext>
              </a:extLst>
            </p:cNvPr>
            <p:cNvSpPr txBox="1"/>
            <p:nvPr/>
          </p:nvSpPr>
          <p:spPr>
            <a:xfrm>
              <a:off x="10793668" y="1083212"/>
              <a:ext cx="13983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/>
                <a:t>Compressed </a:t>
              </a:r>
            </a:p>
            <a:p>
              <a:pPr algn="ctr"/>
              <a:r>
                <a:rPr lang="en-GB" b="1" dirty="0"/>
                <a:t>Image</a:t>
              </a:r>
              <a:endParaRPr lang="en-IN" b="1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812027-A74A-BE7E-8BC6-0E52E81D594D}"/>
                </a:ext>
              </a:extLst>
            </p:cNvPr>
            <p:cNvSpPr/>
            <p:nvPr/>
          </p:nvSpPr>
          <p:spPr>
            <a:xfrm>
              <a:off x="387229" y="3647513"/>
              <a:ext cx="1436222" cy="8024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Symbol Decoder</a:t>
              </a:r>
              <a:endParaRPr lang="en-IN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28EB90-8FED-C528-08B7-128AEA4D4FEA}"/>
                </a:ext>
              </a:extLst>
            </p:cNvPr>
            <p:cNvSpPr txBox="1"/>
            <p:nvPr/>
          </p:nvSpPr>
          <p:spPr>
            <a:xfrm>
              <a:off x="425119" y="2782669"/>
              <a:ext cx="13983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/>
                <a:t>Compressed </a:t>
              </a:r>
            </a:p>
            <a:p>
              <a:pPr algn="ctr"/>
              <a:r>
                <a:rPr lang="en-GB" b="1" dirty="0"/>
                <a:t>Image</a:t>
              </a:r>
              <a:endParaRPr lang="en-IN" b="1" dirty="0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C441C2-D0AF-2F0F-7507-2453EA846C38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11725" y="3893236"/>
            <a:ext cx="18945" cy="21851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2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F3C3E-3426-1A67-B02F-1CAAB5FA4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05D0-48B8-0808-2D7F-917F0210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</a:t>
            </a:r>
          </a:p>
        </p:txBody>
      </p:sp>
      <p:pic>
        <p:nvPicPr>
          <p:cNvPr id="12290" name="Picture 2" descr="huffman coding 6 step">
            <a:extLst>
              <a:ext uri="{FF2B5EF4-FFF2-40B4-BE49-F238E27FC236}">
                <a16:creationId xmlns:a16="http://schemas.microsoft.com/office/drawing/2014/main" id="{5ACF9DD5-11DF-859D-4C02-BADF13697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373" y="1026223"/>
            <a:ext cx="7626355" cy="520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01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92CC1-6136-041C-35CC-C9C669E27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Understanding Run-Length Encoding: Data Compression Simplified&quot;">
            <a:extLst>
              <a:ext uri="{FF2B5EF4-FFF2-40B4-BE49-F238E27FC236}">
                <a16:creationId xmlns:a16="http://schemas.microsoft.com/office/drawing/2014/main" id="{04DCCB8E-7018-248D-3737-4912F315B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31" y="417513"/>
            <a:ext cx="11197884" cy="602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316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3E5B9-5ED0-C9ED-1316-099C02693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C0D538BB-5126-BE17-D697-3054DD121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12156"/>
            <a:ext cx="12192000" cy="283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487077-6421-11C7-E6EE-F39EA17A0E24}"/>
              </a:ext>
            </a:extLst>
          </p:cNvPr>
          <p:cNvSpPr txBox="1"/>
          <p:nvPr/>
        </p:nvSpPr>
        <p:spPr>
          <a:xfrm>
            <a:off x="2890064" y="0"/>
            <a:ext cx="6633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LZW[</a:t>
            </a:r>
            <a:r>
              <a:rPr lang="en-GB" sz="2800" b="1" i="0" u="none" strike="noStrike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Lempel–Ziv–Welch]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</a:p>
        </p:txBody>
      </p:sp>
    </p:spTree>
    <p:extLst>
      <p:ext uri="{BB962C8B-B14F-4D97-AF65-F5344CB8AC3E}">
        <p14:creationId xmlns:p14="http://schemas.microsoft.com/office/powerpoint/2010/main" val="3228025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E6F2-1A49-5357-9DEF-0B03B52F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976"/>
            <a:ext cx="12192000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Lossy Predictive Coding/Lossy Image Compression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DBA4FC16-DDB3-A946-5216-6593E7A0F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20" y="1162049"/>
            <a:ext cx="9397380" cy="504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51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FE94-5548-7D7C-8AF9-448B4664A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xplain with a block diagram about transform coding system. - Bench Partner">
            <a:extLst>
              <a:ext uri="{FF2B5EF4-FFF2-40B4-BE49-F238E27FC236}">
                <a16:creationId xmlns:a16="http://schemas.microsoft.com/office/drawing/2014/main" id="{10CCD027-C98C-4EE4-32AB-D5068CB005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01"/>
          <a:stretch/>
        </p:blipFill>
        <p:spPr bwMode="auto">
          <a:xfrm>
            <a:off x="806450" y="1798134"/>
            <a:ext cx="10579100" cy="309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E96FDE-5E82-994E-65A4-38CB95C89897}"/>
              </a:ext>
            </a:extLst>
          </p:cNvPr>
          <p:cNvSpPr txBox="1"/>
          <p:nvPr/>
        </p:nvSpPr>
        <p:spPr>
          <a:xfrm>
            <a:off x="4170556" y="0"/>
            <a:ext cx="3673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Coding</a:t>
            </a:r>
          </a:p>
        </p:txBody>
      </p:sp>
    </p:spTree>
    <p:extLst>
      <p:ext uri="{BB962C8B-B14F-4D97-AF65-F5344CB8AC3E}">
        <p14:creationId xmlns:p14="http://schemas.microsoft.com/office/powerpoint/2010/main" val="4027394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5FC4-A7E8-FF0A-7E69-6EDF9D50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68CB72-C6F4-8737-A8A7-C2EB82E06619}"/>
              </a:ext>
            </a:extLst>
          </p:cNvPr>
          <p:cNvSpPr txBox="1"/>
          <p:nvPr/>
        </p:nvSpPr>
        <p:spPr>
          <a:xfrm>
            <a:off x="4170555" y="0"/>
            <a:ext cx="4382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Quantization</a:t>
            </a:r>
          </a:p>
        </p:txBody>
      </p:sp>
      <p:pic>
        <p:nvPicPr>
          <p:cNvPr id="7170" name="Picture 2" descr="Vector quantization for image compression purposes | Download Scientific  Diagram">
            <a:extLst>
              <a:ext uri="{FF2B5EF4-FFF2-40B4-BE49-F238E27FC236}">
                <a16:creationId xmlns:a16="http://schemas.microsoft.com/office/drawing/2014/main" id="{F707536A-AE9D-A029-1BF1-A013C2F6E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1428750"/>
            <a:ext cx="9779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714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A8E8-E9CE-8C2C-9C75-159A3940B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37CB5D-B0EF-8127-6219-07408E9737EE}"/>
              </a:ext>
            </a:extLst>
          </p:cNvPr>
          <p:cNvSpPr txBox="1"/>
          <p:nvPr/>
        </p:nvSpPr>
        <p:spPr>
          <a:xfrm>
            <a:off x="4170555" y="0"/>
            <a:ext cx="4382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Fractal Coding</a:t>
            </a:r>
          </a:p>
        </p:txBody>
      </p:sp>
      <p:pic>
        <p:nvPicPr>
          <p:cNvPr id="10242" name="Picture 2" descr="Fractal Color Image Compression Process Fractal Coding: This module... |  Download Scientific Diagram">
            <a:extLst>
              <a:ext uri="{FF2B5EF4-FFF2-40B4-BE49-F238E27FC236}">
                <a16:creationId xmlns:a16="http://schemas.microsoft.com/office/drawing/2014/main" id="{2735405C-F023-05FF-72E9-027793DFA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08" y="702527"/>
            <a:ext cx="10422983" cy="485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700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E6F2-1A49-5357-9DEF-0B03B52F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of Huffman Coding</a:t>
            </a:r>
          </a:p>
        </p:txBody>
      </p:sp>
      <p:pic>
        <p:nvPicPr>
          <p:cNvPr id="11266" name="Picture 2" descr="HUFFMAN CODING IN DIGITAL IMAGE PROCESSING SOLVED EXAMPLE">
            <a:extLst>
              <a:ext uri="{FF2B5EF4-FFF2-40B4-BE49-F238E27FC236}">
                <a16:creationId xmlns:a16="http://schemas.microsoft.com/office/drawing/2014/main" id="{96C2A4AC-8DCF-FE10-7729-FE2C40EF7D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4" b="6814"/>
          <a:stretch/>
        </p:blipFill>
        <p:spPr bwMode="auto">
          <a:xfrm>
            <a:off x="0" y="1282390"/>
            <a:ext cx="12192000" cy="476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89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90" y="2103437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UNIT 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762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9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727</Words>
  <Application>Microsoft Macintosh PowerPoint</Application>
  <PresentationFormat>Widescreen</PresentationFormat>
  <Paragraphs>115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Söhne</vt:lpstr>
      <vt:lpstr>Times New Roman</vt:lpstr>
      <vt:lpstr>Wingdings</vt:lpstr>
      <vt:lpstr>Office Theme</vt:lpstr>
      <vt:lpstr>Unit 5    Image Compression and Coding  </vt:lpstr>
      <vt:lpstr>OUTLINES</vt:lpstr>
      <vt:lpstr>Introduction to Image Compression</vt:lpstr>
      <vt:lpstr>PowerPoint Presentation</vt:lpstr>
      <vt:lpstr>PowerPoint Presentation</vt:lpstr>
      <vt:lpstr>PowerPoint Presentation</vt:lpstr>
      <vt:lpstr>Redundancies in Image Compression</vt:lpstr>
      <vt:lpstr>Generic Model of Image Compression</vt:lpstr>
      <vt:lpstr>PowerPoint Presentation</vt:lpstr>
      <vt:lpstr>Lossless Predictive Coding /Lossless Compression</vt:lpstr>
      <vt:lpstr>HUFFMAN Coding</vt:lpstr>
      <vt:lpstr>PowerPoint Presentation</vt:lpstr>
      <vt:lpstr>PowerPoint Presentation</vt:lpstr>
      <vt:lpstr>Lossy Predictive Coding/Lossy Image Compression</vt:lpstr>
      <vt:lpstr>PowerPoint Presentation</vt:lpstr>
      <vt:lpstr>PowerPoint Presentation</vt:lpstr>
      <vt:lpstr>PowerPoint Presentation</vt:lpstr>
      <vt:lpstr>Numerical of Huffman Coding</vt:lpstr>
      <vt:lpstr>End of UNIT 5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 Pattern Recognition</dc:title>
  <dc:creator>Harendra Bikram Shah</dc:creator>
  <cp:lastModifiedBy>Harendra Bikram Shah</cp:lastModifiedBy>
  <cp:revision>112</cp:revision>
  <dcterms:created xsi:type="dcterms:W3CDTF">2024-09-08T08:46:44Z</dcterms:created>
  <dcterms:modified xsi:type="dcterms:W3CDTF">2025-06-21T15:38:21Z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